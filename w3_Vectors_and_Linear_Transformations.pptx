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1"/>
  </p:notesMasterIdLst>
  <p:handoutMasterIdLst>
    <p:handoutMasterId r:id="rId72"/>
  </p:handoutMasterIdLst>
  <p:sldIdLst>
    <p:sldId id="256" r:id="rId2"/>
    <p:sldId id="271" r:id="rId3"/>
    <p:sldId id="287" r:id="rId4"/>
    <p:sldId id="302" r:id="rId5"/>
    <p:sldId id="304" r:id="rId6"/>
    <p:sldId id="288" r:id="rId7"/>
    <p:sldId id="289" r:id="rId8"/>
    <p:sldId id="290" r:id="rId9"/>
    <p:sldId id="291" r:id="rId10"/>
    <p:sldId id="349" r:id="rId11"/>
    <p:sldId id="292" r:id="rId12"/>
    <p:sldId id="293" r:id="rId13"/>
    <p:sldId id="350" r:id="rId14"/>
    <p:sldId id="294" r:id="rId15"/>
    <p:sldId id="295" r:id="rId16"/>
    <p:sldId id="307" r:id="rId17"/>
    <p:sldId id="351" r:id="rId18"/>
    <p:sldId id="296" r:id="rId19"/>
    <p:sldId id="297" r:id="rId20"/>
    <p:sldId id="353" r:id="rId21"/>
    <p:sldId id="298" r:id="rId22"/>
    <p:sldId id="299" r:id="rId23"/>
    <p:sldId id="300" r:id="rId24"/>
    <p:sldId id="310" r:id="rId25"/>
    <p:sldId id="311" r:id="rId26"/>
    <p:sldId id="312" r:id="rId27"/>
    <p:sldId id="313" r:id="rId28"/>
    <p:sldId id="352" r:id="rId29"/>
    <p:sldId id="318" r:id="rId30"/>
    <p:sldId id="319" r:id="rId31"/>
    <p:sldId id="325" r:id="rId32"/>
    <p:sldId id="320" r:id="rId33"/>
    <p:sldId id="326" r:id="rId34"/>
    <p:sldId id="321" r:id="rId35"/>
    <p:sldId id="354" r:id="rId36"/>
    <p:sldId id="322" r:id="rId37"/>
    <p:sldId id="323" r:id="rId38"/>
    <p:sldId id="328" r:id="rId39"/>
    <p:sldId id="333" r:id="rId40"/>
    <p:sldId id="332" r:id="rId41"/>
    <p:sldId id="334" r:id="rId42"/>
    <p:sldId id="335" r:id="rId43"/>
    <p:sldId id="927" r:id="rId44"/>
    <p:sldId id="928" r:id="rId45"/>
    <p:sldId id="929" r:id="rId46"/>
    <p:sldId id="324" r:id="rId47"/>
    <p:sldId id="355" r:id="rId48"/>
    <p:sldId id="345" r:id="rId49"/>
    <p:sldId id="337" r:id="rId50"/>
    <p:sldId id="344" r:id="rId51"/>
    <p:sldId id="343" r:id="rId52"/>
    <p:sldId id="356" r:id="rId53"/>
    <p:sldId id="338" r:id="rId54"/>
    <p:sldId id="339" r:id="rId55"/>
    <p:sldId id="340" r:id="rId56"/>
    <p:sldId id="341" r:id="rId57"/>
    <p:sldId id="342" r:id="rId58"/>
    <p:sldId id="347" r:id="rId59"/>
    <p:sldId id="348" r:id="rId60"/>
    <p:sldId id="263" r:id="rId61"/>
    <p:sldId id="815" r:id="rId62"/>
    <p:sldId id="816" r:id="rId63"/>
    <p:sldId id="817" r:id="rId64"/>
    <p:sldId id="821" r:id="rId65"/>
    <p:sldId id="357" r:id="rId66"/>
    <p:sldId id="811" r:id="rId67"/>
    <p:sldId id="812" r:id="rId68"/>
    <p:sldId id="909" r:id="rId69"/>
    <p:sldId id="930" r:id="rId7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271"/>
            <p14:sldId id="287"/>
            <p14:sldId id="302"/>
            <p14:sldId id="304"/>
            <p14:sldId id="288"/>
            <p14:sldId id="289"/>
            <p14:sldId id="290"/>
            <p14:sldId id="291"/>
            <p14:sldId id="349"/>
            <p14:sldId id="292"/>
            <p14:sldId id="293"/>
            <p14:sldId id="350"/>
            <p14:sldId id="294"/>
            <p14:sldId id="295"/>
            <p14:sldId id="307"/>
            <p14:sldId id="351"/>
            <p14:sldId id="296"/>
            <p14:sldId id="297"/>
            <p14:sldId id="353"/>
            <p14:sldId id="298"/>
            <p14:sldId id="299"/>
            <p14:sldId id="300"/>
            <p14:sldId id="310"/>
            <p14:sldId id="311"/>
            <p14:sldId id="312"/>
            <p14:sldId id="313"/>
            <p14:sldId id="352"/>
            <p14:sldId id="318"/>
            <p14:sldId id="319"/>
            <p14:sldId id="325"/>
            <p14:sldId id="320"/>
            <p14:sldId id="326"/>
            <p14:sldId id="321"/>
            <p14:sldId id="354"/>
            <p14:sldId id="322"/>
            <p14:sldId id="323"/>
            <p14:sldId id="328"/>
            <p14:sldId id="333"/>
            <p14:sldId id="332"/>
            <p14:sldId id="334"/>
            <p14:sldId id="335"/>
            <p14:sldId id="927"/>
            <p14:sldId id="928"/>
            <p14:sldId id="929"/>
            <p14:sldId id="324"/>
            <p14:sldId id="355"/>
            <p14:sldId id="345"/>
            <p14:sldId id="337"/>
            <p14:sldId id="344"/>
            <p14:sldId id="343"/>
            <p14:sldId id="356"/>
            <p14:sldId id="338"/>
            <p14:sldId id="339"/>
            <p14:sldId id="340"/>
            <p14:sldId id="341"/>
            <p14:sldId id="342"/>
            <p14:sldId id="347"/>
            <p14:sldId id="348"/>
            <p14:sldId id="263"/>
            <p14:sldId id="815"/>
            <p14:sldId id="816"/>
            <p14:sldId id="817"/>
            <p14:sldId id="821"/>
            <p14:sldId id="357"/>
            <p14:sldId id="811"/>
            <p14:sldId id="812"/>
            <p14:sldId id="909"/>
            <p14:sldId id="93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047" autoAdjust="0"/>
    <p:restoredTop sz="94241" autoAdjust="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4954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16945-4C15-7B0E-07C1-B8E9C9D2B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D9A840-DCC9-18ED-FB3A-1FEC6A9EA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E1EDE6-3A10-8686-FE3F-FB1F0D4CA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2B74C-F58F-09CB-D259-2C175C236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8353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25408-75A7-F1C4-3153-A414E984B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65D79D-380B-61C2-4B71-4478854FC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2B5931-4AE6-B694-03DF-E8EB7D1C5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2CCC67-98C7-3220-D866-C7E6576337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35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9E23-0319-AC24-03A5-2B1FFF177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E58DDF-C25E-0F27-7747-2F3D20B65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FCF31-86B8-3DE1-F281-20D13EE29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CDBC0-E514-96D3-A721-4FA2DB85E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338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AEC1A-E211-180D-533F-A8779CE25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9ED565-534E-4002-CB9D-F1BCA964F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7564AC-4A12-EF23-EFA9-04A398FE20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B6CC22-462B-A117-4676-C77764AB01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9351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798CD-FDB3-92A0-211E-5E88E87C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890F6A-3C77-1C22-F404-8ADE3672A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AEB970-679E-49DF-7D3F-3866B696C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75874-AC11-2F3A-3375-1FB1DAA0BC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7542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D1F6-B316-31B5-22B5-19DFE10D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2600D7-E6F6-D69B-86E5-8D7DD1E21C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DE65D7-6A15-FB39-492F-4D20EDF02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3EBF5E-3444-A343-1CED-250BCE716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5769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F306-2BF0-AD12-BA1C-B32AD562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1EF67C-BBF0-8CAF-23A1-9047CCE92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26E17F-CF6E-4B1E-2C4A-DEC16B295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E31BA1-9B28-3D08-09FF-84F38B634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26167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6C8C5-E9BB-5A38-FD2C-62DB9E491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E512B2-70A8-1594-AAC8-3A752B7B7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5E89BE-6F4B-56B0-95FE-8638AD2FB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CE6C9-47CD-8AFA-5745-0F57C5633B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6319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9A068-C6A7-F9FC-3BBC-5B9A91C18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C1326-8F4E-A0F1-3854-D742A358A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A79F6E-E9E5-A805-82BB-160B670B1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2F5239-BDDB-1C92-4DE1-6080B13AB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58669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38608-BAB3-7FC2-4A35-0690B6FC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9F00D2-FFCA-1443-4774-8EEAE29F0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8CE85B-8778-CB8C-8D5A-1F69F6451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151B9-5558-CF90-A8F8-55899B985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25075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D08B4-A4FB-28CA-6176-8349E5130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08F20F-0593-9BF2-764E-D8C8D181E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49C0D9-454B-E1C8-6233-EDB8F8B24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7232B5-9035-D63A-740F-BA01C5207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2323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8FB2D-338D-5313-3E2E-17C372109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EE0160-639E-1489-9314-2D03BEF5F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E5647A-B70D-3CC3-239A-1EB0AF6A5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417DF1-7F92-01A8-B94E-F36F1A85F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240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6EB5B-7491-9E39-F478-836E3A3E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117D5B-B8E9-EC31-A51F-02D0728E1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BFD7FE-943B-EC9B-6400-DF0A95D9D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3F3B5-DCAC-051C-9D18-A1FADEF47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8112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E46F-6513-7CC2-90A8-21B972F08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56EE48-8136-B3CB-EAF6-11AF22616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E0E2AE-9BD6-7C66-AFFF-8289B0C1C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51189F-D92C-26AD-8F92-3761EA111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1719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48D8-5A3A-47A0-08AA-FF264D71D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F39B50-7D15-93EE-ED04-2341B8446B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346CBC-F4DC-C7AE-B38C-957ED7B59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3231E-0B7F-D25F-E985-999BB3819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34387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7BFB5-9CC4-0FC9-880E-F9673EB8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B50D8-6784-9B6A-AE0E-53A98F871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FA6AE3-99BB-1862-FEF6-8969BCC98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865D37-A3C4-803A-EBDB-ABADA6822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36006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F958F-196B-94E0-31A8-9914196D8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986D39-C552-9807-C931-76858E640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F88A5A-4E5C-DF91-7CD6-1C1112281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9269E4-5C82-CD66-6D5B-1086FE5EC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580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DD316-D817-CA86-DAE4-9FA44966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B9CD01-433E-210B-2EC5-A1F4F5499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3D98AD-72E6-5845-A3EC-8629E892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620A7A-7C95-1C27-9BAD-ADBB56B5C2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19575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D380A-62EB-98D8-44FC-E0D684509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785EF-7226-B095-C9DE-F015CD5BB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9E0848-5895-5019-C078-7473B92D3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6BD3CA-7A5F-D03C-E9B3-86ED125F6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06711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A065F-B099-B5CF-1D22-8791FF6D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B431C5-DE49-C65F-3D8F-221B502D6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3C9F20-523E-D612-E90E-07BB5C947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3A0F14-8F25-CC5F-BD78-FF58749801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0319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19E00-385F-C548-A639-09BD678BE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000ADD-627A-B389-945C-75CB35F34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423518-AC90-3328-B05C-3AFD680E0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247027-7661-E86F-18E7-B3216EEF6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16855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B505-D2ED-8112-43E6-4185241B9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7C415E-7741-7FB7-B3C6-256CEC621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7B7459-BC49-0183-3829-3DF180271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4A672-7E2C-D8DE-1048-E7169F77B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66339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BC6A3-5C5E-BB5A-A120-E0C782F1E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D0F2D0-D404-0258-E930-642EA99BD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42E2A1-03BD-51ED-1010-CEC0A1897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97A2AE-4D51-EF43-F3C4-ED38C4253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65761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9FD2-B22E-D51E-B3C9-703533F46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B1CF2B-D339-776F-6B66-62BABA33D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394E1-1A3D-CDED-BF6A-A6E865752A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945542-3144-C023-128A-2E3B8A574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619546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D742-CF84-AF57-950F-50DC4271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0343F8-0353-09FC-8465-60311FD97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0B8D2E-5EDE-BEA6-20AF-7A330993D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968D1D-6DA0-39EE-38AB-0894C8BA1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21927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65589-C6D5-1849-9709-7A00C431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F31494-F81E-52D0-3F07-CCCF12333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BEA719-0C3A-0973-9C2A-16E982E982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6915D-F369-8E37-AA3C-ED9CF3BB5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62798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8621-8FB5-5903-96F4-A3ED9B06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D63619-67C2-6EE1-258E-B374DDE7F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09C356-8423-8F10-2129-10834E731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AF1EB-1D1F-AF1A-46B6-7D73F20987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20720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3CFFE-5149-5B6F-C1BA-78631B904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C8FDB1-2815-4DCD-10E1-84823BC92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52802-8077-0432-63C2-E516471D0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9A5C57-638B-2D56-842E-971FF0C9D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35644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3225C-2154-76A3-A327-9E885800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E232A-2A90-7870-75FE-AFBC5C5BB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28BC6E-87DB-719C-FF7F-53D413BE7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37F632-2E84-E2C9-BC59-9620D4780A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43441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CF7B-8173-49EF-EDFA-37657D166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AFC12-53FD-0153-A545-DD233B603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FD70DF-8935-5D25-6FE6-014875ECC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1B42F-AE86-B9E1-FB28-6DBA969D0B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20294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145C-EFB3-DCE2-AA6B-E3949C379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186877-C011-21C2-3449-8A627607E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2E913B-49D6-5280-249C-EE2570C77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DACF8-9A5A-5DAE-FB56-534E11DC0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1139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AB844-57FD-0837-270A-5DBFFA4A6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599A8B-D1CE-386C-F2BA-D051F6CF6D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0A9429-FBA6-26D3-C239-C89D5EF6C2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6EBC97-8673-91DC-21D9-FC1019C60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81516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3B2A5-C3D5-BD09-73F7-7E0A8C397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FE29D5-1605-BED6-E18F-BECF599EB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80601B-2751-3037-CF3A-9902CA2EA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F87CDE-A77F-8808-B890-A83232A98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56821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D267D-D1AA-7B15-29CB-A528135C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B3A805-AC9C-F0E6-2FA5-18A1F24D4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9C4B9E-9785-1051-2EAC-630608D7C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E122CF-88C7-84DE-EBC0-6A4A52F350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47293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DE266-A0D1-4B71-540C-F87DD8BA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79B2F4-CE6F-322B-5487-BCB8A7379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DB4601-5EAC-E633-E937-9A1B4080A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DF55D-D6D1-B7D3-B42A-88E56AE58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901668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7C0FF-698A-00FC-DDC7-5DAD3E56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B6317B-264D-9D45-0EEB-171620902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B5C3D9-7691-90C7-D04B-52316129C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0163D-CCB5-0B9D-45AA-C75A5B3F8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85999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B88E-7E48-289C-30D7-91E60B6F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02D41-AE5C-E64B-B578-1DA305321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41B04E-6251-AD17-3F6C-FE70BA707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300F5-AC40-C66E-C713-8EB770933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95502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8FEC-6D07-E235-DFC1-F80EAAD19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83C0FE-EC7E-7097-53CB-213B7A354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962DF-ADEE-FEEC-1198-477D79023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D4FC87-B1C5-22A6-5343-E307499FB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572808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121814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2ADFA-2E4B-7526-D804-E507C0004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C2857D-CA2E-B776-059A-075F0EE65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D211B7-9534-37D5-C50A-431B7100B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73DA91-222F-9DB4-B9FC-F64096FC60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913583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D4029-41C4-F0DF-9167-C90D2D86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64C4C1-8DCB-A80C-7870-C195744F7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2E21E2-272D-6404-2DB4-72DF0839E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8D5368-8123-6290-7E0D-89F00DB3EE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930703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821C8-031D-CBD2-6BB0-39F98D22A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36A359-67BC-6BB8-2024-BAA652031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3FDE58-04C1-9601-EC9A-8066B1EEA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6008E2-C13E-36BB-4972-31AC9A8EA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8211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D51D4-7E75-FFF5-2137-1E4C91AB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077453-3F02-2F83-724A-F936A1DB2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91F07-45C7-BC59-5EC3-031876DDC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2A774E-5051-3380-CCA0-299A08AEE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689132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02556-96D7-4789-5515-EFD96B5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79C52-459A-0284-EED9-CE8457EEC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417B60-C7AC-119F-47B9-20C9E9A68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DF1E58-F09A-39D3-0319-EC1BE43A35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700861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5C99B-94AB-6FD7-5DE7-210F7DB65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56ECBC-6196-A411-0B87-66C87FA3EE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34401-22C1-497C-26DE-C7520ED56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4C05D-70A3-607E-288B-80800AE4C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26689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AF3E1-8214-8FC6-7BA6-279709BE1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67CF61-98C9-0F90-93E7-525B919FF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7C09C2-033D-D4D6-7931-98448DEC3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2B8C5A-5A4A-A311-F1F4-EC2950135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114224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3FD0-DC58-051C-AB65-9A2BDDAAF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41BC25-937C-387F-D21D-DC940CE76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40EAD3-3BCA-4D38-6CFD-60C225F6C7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E3F92-3A2C-0F75-250A-6AD4B2C4F7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72397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1D1E-2FDE-FF1F-8DEE-D49DF80A1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9A801-2CA0-1117-B817-2DCE9A9A1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2EF457-C085-607E-218C-112B4B9E1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259CB1-4806-8F7D-9912-5DA344B122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47947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3E0F1-7B21-4F57-A7A5-EE96671F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50521-462A-5006-3D6A-71FFDFBCF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1330A3-44E3-428E-90AC-317DF5586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6BAB-9F39-1449-C6DC-B9C57EBDF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61248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F6BBD-4AD6-43BC-1332-8649FA0F2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2FFEC0-339A-C35A-B0D8-C7842147B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6A544E-6C05-95B3-233B-9B7289516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5D54AA-5EFD-95CB-5333-3ED1D0C9E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636810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DE17A-73EE-6F4B-BA44-E024FC1D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99EF35-0DF1-D8DA-0C78-F72DCF1DC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29A451-5376-A7F3-C56F-22FFA6E3A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B8FF5A-AE60-E1F3-8245-D2652EE44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043101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40557-27D1-6606-CBB8-4876C4191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C75ECF-47FE-F129-74FA-1533B92614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A0A333-0EC1-2743-3D10-556AFA414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F746C8-128B-7887-4119-33934CEE9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9306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207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2026-04-10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35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0.png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jpeg"/><Relationship Id="rId4" Type="http://schemas.microsoft.com/office/2007/relationships/hdphoto" Target="../media/hdphoto1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jpe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2.jpe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2.jpe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10" Type="http://schemas.openxmlformats.org/officeDocument/2006/relationships/image" Target="../media/image55.png"/><Relationship Id="rId4" Type="http://schemas.openxmlformats.org/officeDocument/2006/relationships/image" Target="../media/image48.png"/><Relationship Id="rId9" Type="http://schemas.openxmlformats.org/officeDocument/2006/relationships/image" Target="../media/image54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42.jpe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dium.com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jpe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9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Spring_Data-Management/blob/main/LA/w3/w3_linear_transformation_image.ipynb" TargetMode="External"/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1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Vectors and Linear Transformations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en-US" altLang="ko-KR" sz="2400" dirty="0">
                <a:solidFill>
                  <a:schemeClr val="bg1"/>
                </a:solidFill>
              </a:rPr>
              <a:t>Vectors and their properties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AI generates images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BC5FCE3-9F1D-AE22-79BC-DDCF5A165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337DCDE-FEF5-0F8B-C410-D58DBCCB7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357" y="1956521"/>
            <a:ext cx="7801286" cy="308653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3EA20FE-92B1-260D-D0A7-6DC087B95F6F}"/>
              </a:ext>
            </a:extLst>
          </p:cNvPr>
          <p:cNvSpPr txBox="1"/>
          <p:nvPr/>
        </p:nvSpPr>
        <p:spPr>
          <a:xfrm>
            <a:off x="2275925" y="5331116"/>
            <a:ext cx="810574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6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AI-generated human faces.</a:t>
            </a:r>
          </a:p>
          <a:p>
            <a:pPr algn="l"/>
            <a:endParaRPr lang="en-US" altLang="ko-KR" sz="1600" b="0" i="0" u="none" strike="noStrike" baseline="0" dirty="0">
              <a:solidFill>
                <a:srgbClr val="595959"/>
              </a:solidFill>
              <a:latin typeface="Helvetica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US" altLang="ko-KR" sz="20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Generative learning: Generating realistic looking images.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FCFFE-6975-DA76-4E99-6540340A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625F92-9C55-6C9A-AC80-15BAFDDC0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Text-to-image and image-to-text generation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A65B66-9782-F220-82C1-E983A63C1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F4E135-3091-70F4-1409-97816D386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53" y="1540297"/>
            <a:ext cx="10864493" cy="466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214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8FC-1345-873F-A6C3-D2B0CCFB6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2FC3679-5A6F-B565-1054-5E0280FB9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Math for Machine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41241FB-BBA8-80A9-657D-4E4C09709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58DD3-2217-BA8B-05B1-F405206F1A26}"/>
              </a:ext>
            </a:extLst>
          </p:cNvPr>
          <p:cNvSpPr txBox="1"/>
          <p:nvPr/>
        </p:nvSpPr>
        <p:spPr>
          <a:xfrm>
            <a:off x="2530763" y="2023997"/>
            <a:ext cx="6126057" cy="3244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Vectors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Matrices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Dot product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Matrix multiplication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Linear transformations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9361562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3AE7-002F-94A0-DA15-81A1CE310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9AFE555-A66B-E0EE-1EF0-831B635FB249}"/>
              </a:ext>
            </a:extLst>
          </p:cNvPr>
          <p:cNvSpPr/>
          <p:nvPr/>
        </p:nvSpPr>
        <p:spPr>
          <a:xfrm>
            <a:off x="895927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41AB3BA-A98A-DDCE-D6EA-2DF42D6CE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BA6C3AD-7EE6-C223-FA76-995C4A40A5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C5C255-490D-636C-8D95-CEBDAA0AD5B9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867243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77369-1E15-5F94-FD6C-4893AFE87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4CC8A-A34F-E8DB-36C1-48861498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750F1BC-B3A2-4A2B-32AC-7F76AD12B5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1AD8E8-F92C-B59E-E547-66C8AC4227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927" y="1852703"/>
            <a:ext cx="8891077" cy="41456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0BE70D-4CA4-2CB0-BEC0-19211FCF4328}"/>
              </a:ext>
            </a:extLst>
          </p:cNvPr>
          <p:cNvSpPr txBox="1"/>
          <p:nvPr/>
        </p:nvSpPr>
        <p:spPr>
          <a:xfrm>
            <a:off x="4491719" y="1483371"/>
            <a:ext cx="18472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Magnitude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B40E43-D0F1-86C6-26CC-845A42FD372C}"/>
              </a:ext>
            </a:extLst>
          </p:cNvPr>
          <p:cNvSpPr txBox="1"/>
          <p:nvPr/>
        </p:nvSpPr>
        <p:spPr>
          <a:xfrm>
            <a:off x="6964218" y="1483371"/>
            <a:ext cx="1293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Directions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5646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B8168-B4CB-EDC3-F03B-A7EA0A1CA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A9CAEEF-B27D-AA57-D86C-91DFB021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How to get from point A to point B?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F13B092-AF45-7633-00E2-956F5B47E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4D7549-714E-70B0-F534-DBE9F1401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80" y="2162319"/>
            <a:ext cx="5171440" cy="330560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310DD5-0E4E-DAAD-43B6-BF0E7EC43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1327" y="2162319"/>
            <a:ext cx="5417524" cy="330560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2E2B37-481D-AA28-A78F-6E209973C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9644" y="3861777"/>
            <a:ext cx="1483084" cy="121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406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279D3-EBD3-8C74-6A87-E0A0A666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EDF02BC-5198-B29A-7366-751855F5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Magnitude of a vector : Norms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DEC15DB-D751-1148-56EF-8FA0AA9E84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A4E9B06-5AD2-910C-491C-0EB7C8D1C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545" y="1567861"/>
            <a:ext cx="9107056" cy="429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700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1CE71-45C1-69AD-D1BA-90ED7919D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EE9AF38-CEB4-CE92-FD4A-67DA9635E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Directions of a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1BACD8-7AC3-35DC-08B0-32CA64C14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7F790AF-546F-DDB4-1BCC-B5AE896B5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349" y="1766528"/>
            <a:ext cx="9041302" cy="417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8E97C-2151-1C5E-E09C-A374A85EB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78BB0F6-F150-9C5F-8100-C7AF7EA02D58}"/>
              </a:ext>
            </a:extLst>
          </p:cNvPr>
          <p:cNvSpPr/>
          <p:nvPr/>
        </p:nvSpPr>
        <p:spPr>
          <a:xfrm>
            <a:off x="895927" y="20294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A174B7-C700-2393-D181-5F2F64D74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3AEDFA-2BDC-CABA-3658-3CEF57FFC8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6629F0-7DA5-BA2A-C4E3-4A82AF3D3644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01168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B7438-464C-9871-44EA-A6EF9204B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EFB73B5-99A8-3C72-323F-E0D1BC61D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Sum of 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A7D6C6D-554B-0CE7-B9CB-E64F1202C6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D5E1BE-D3EA-5B94-D9B0-7F5833214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465" y="1673584"/>
            <a:ext cx="8705561" cy="43728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5BFE32-45E4-2A15-928A-9CE131513366}"/>
              </a:ext>
            </a:extLst>
          </p:cNvPr>
          <p:cNvSpPr txBox="1"/>
          <p:nvPr/>
        </p:nvSpPr>
        <p:spPr>
          <a:xfrm>
            <a:off x="6195925" y="4135120"/>
            <a:ext cx="413125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(4,1)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step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                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steps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를 이동하여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(5,4)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</a:t>
            </a:r>
          </a:p>
        </p:txBody>
      </p:sp>
    </p:spTree>
    <p:extLst>
      <p:ext uri="{BB962C8B-B14F-4D97-AF65-F5344CB8AC3E}">
        <p14:creationId xmlns:p14="http://schemas.microsoft.com/office/powerpoint/2010/main" val="82801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58398-53BF-B7C7-C392-13992B34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BA3211-57DC-3892-75C0-8C06C4E49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Difference of 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6328B71-E75F-7656-EDD4-69D5DBDD4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5C51810-18DA-1AA2-AA8B-5FF03366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70" y="1609799"/>
            <a:ext cx="9249803" cy="4483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093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535ED-33D5-2D04-D537-DD2E0190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BAFAD30-5510-B217-B452-B030AF4A5DD9}"/>
              </a:ext>
            </a:extLst>
          </p:cNvPr>
          <p:cNvSpPr/>
          <p:nvPr/>
        </p:nvSpPr>
        <p:spPr>
          <a:xfrm>
            <a:off x="895927" y="25501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7AB27499-2DFD-C511-4A90-C2C5225AF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09B4E0-B8CF-E1D9-1585-996D15AF6E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379D50-8CFD-4AE1-C17B-4958F7D355EF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730133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D5FAD-8A2F-FA96-55D9-B26847367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441D07F-6074-2559-7FEB-2DCF28CFB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4965BC4-F65C-898B-45F8-0D47E2E730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79194DC-5BDD-C84C-779E-73099D501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271" y="1980997"/>
            <a:ext cx="4454268" cy="38578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08F7AB4-C124-7A6B-6533-EB21CAE1E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615" y="1980997"/>
            <a:ext cx="4527113" cy="393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9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7BF06-6587-0F18-C2F8-15FB1D19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1AB74A8-DF66-8FD3-303E-08910ABB4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BDC61F9-64AE-4E76-1FE0-F0B0E21F0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2A6EC3D-149D-7DA0-CD6A-C967F89C1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546" y="1847646"/>
            <a:ext cx="9055909" cy="395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777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D01898-5783-BACA-90B1-5A85C6E33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49" y="1801459"/>
            <a:ext cx="10301258" cy="4402493"/>
          </a:xfrm>
          <a:prstGeom prst="rect">
            <a:avLst/>
          </a:prstGeom>
        </p:spPr>
      </p:pic>
      <p:pic>
        <p:nvPicPr>
          <p:cNvPr id="7" name="그래픽 6" descr="우주비행 접시 단색으로 채워진">
            <a:extLst>
              <a:ext uri="{FF2B5EF4-FFF2-40B4-BE49-F238E27FC236}">
                <a16:creationId xmlns:a16="http://schemas.microsoft.com/office/drawing/2014/main" id="{5192A352-5678-CFF5-44F8-AC65840C6D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57757" y="415924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71C30-309B-6E16-7945-FD240F160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B9765C84-1DB6-3249-216F-C4FC92578286}"/>
              </a:ext>
            </a:extLst>
          </p:cNvPr>
          <p:cNvSpPr/>
          <p:nvPr/>
        </p:nvSpPr>
        <p:spPr>
          <a:xfrm>
            <a:off x="895927" y="31343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49816D8-1868-17C4-A15F-AC9C9C85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D0CDA9-93F3-9323-ED52-61608985A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549AB1-F18D-8E23-7392-47F22663BCE2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202785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4550D-7B1C-DFCD-85C6-B112F08FC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B801C2B-CCD8-061D-3962-61B02A07E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Multiplying a vector by a scalar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A33F796-113F-7B5B-1167-56D83BD7DA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241D609-8E85-3177-27A3-3BC62F19C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5" y="2198042"/>
            <a:ext cx="4929525" cy="295577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05E282A-05EB-E653-0CC7-1AAF91AD2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5741" y="2164700"/>
            <a:ext cx="4601217" cy="296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3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97D7-BCAF-8EB9-802E-453E00DC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3902D77-536E-7832-4DC6-30DDC4DAF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Directions of a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7931B46-1782-200B-70D2-9CA1994399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B5020E-EFA3-1D57-5BEA-0A7B2BAD5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32" y="2178989"/>
            <a:ext cx="4915586" cy="29341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066D514-77E4-64D8-F749-6AC65E7F3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842" y="2159936"/>
            <a:ext cx="4944165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09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CDFFE-7A19-B7EF-66D4-31ED1E0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C53C07E-B958-76C3-D320-ECD3350975E9}"/>
              </a:ext>
            </a:extLst>
          </p:cNvPr>
          <p:cNvSpPr/>
          <p:nvPr/>
        </p:nvSpPr>
        <p:spPr>
          <a:xfrm>
            <a:off x="895927" y="3655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B5EC996E-F39D-2F39-82EA-D4063CF06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0025519-EBC6-1FDC-010A-E01B0936D5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0BE4F5-E28B-3CB5-3C3B-70993EAACC65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318824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F1820-64D6-1542-D441-CB3900E6A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1FA782F-3CAE-1CCB-CBD1-24609C182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A shortcut for linear operations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ECA6E84-964A-72E9-070B-11981F136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5998EA7-E1D8-9700-F5E7-08239392D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044" y="2123893"/>
            <a:ext cx="6716062" cy="261021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2AFB7FD-5242-0658-9A46-C85595516D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302" y="2123893"/>
            <a:ext cx="3381847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644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4E06E-7F13-B0E8-4027-DDB3528C2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48485B-6BB0-0A45-AF2B-39EBEDFC8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E651AA8-F9E0-90A8-8B32-9AE9E06DFF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24BC85-36F4-9EB3-EE41-A473ED022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03" y="1933437"/>
            <a:ext cx="4414655" cy="2590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05E932-3D1F-6D14-E891-380BBA008709}"/>
              </a:ext>
            </a:extLst>
          </p:cNvPr>
          <p:cNvSpPr txBox="1"/>
          <p:nvPr/>
        </p:nvSpPr>
        <p:spPr>
          <a:xfrm>
            <a:off x="3785588" y="4828103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(1 x 3)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99CA3-2E70-2C44-0099-1EB039F0DF22}"/>
              </a:ext>
            </a:extLst>
          </p:cNvPr>
          <p:cNvSpPr txBox="1"/>
          <p:nvPr/>
        </p:nvSpPr>
        <p:spPr>
          <a:xfrm>
            <a:off x="5292575" y="4828103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(3 x 1)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4995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5B3C8-174B-5555-9DEB-F3EBA2B86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07119CE-57BA-F8CC-E55E-76EF84FD0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F0768BA-9E80-AF1E-F43E-85C022C853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5426317-3E10-8715-283C-DD0660791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59" y="2188515"/>
            <a:ext cx="3086531" cy="291505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EBDEE38-DA2F-5C3A-CA17-2A7E7840C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013" y="2188515"/>
            <a:ext cx="3038899" cy="29055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E5B9FC1-DE74-A428-B41C-35D542129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9751" y="5103572"/>
            <a:ext cx="2048161" cy="137179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5FA7B2D-F57E-4AC6-2BAA-F0658B00A3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820" y="2209905"/>
            <a:ext cx="3077004" cy="177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73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534A9-645B-3BD1-F42A-1E5AE05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761283-1E4C-D69C-5CB6-3B2DD2CFD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8384D31-59C7-BA2C-B280-F701BCC029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9E2EF6-251A-A88C-161F-F6BB6CA99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136" y="1866689"/>
            <a:ext cx="7919728" cy="35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4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7A4E6-6E91-37AB-D0BE-14117C766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3E5FE9-7FF9-2A57-C0B7-FDF3FDB29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9FBFBF6-B048-CC20-FD91-C10F1587D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BF5CDC1-955C-D48A-BA6E-8EBE3BFBE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136" y="1866689"/>
            <a:ext cx="7919728" cy="35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526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92FF7-0182-F249-E33C-D2C252C78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1F397B-EC60-363F-6EFE-41E0B0721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3FC1FC6-378E-15A1-36CF-57E2BC3EB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8D29D3-F406-4CB7-E33E-63D0FBC7B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136" y="1866689"/>
            <a:ext cx="7919728" cy="35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717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F4690-6086-A2ED-6913-DE7CDB33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3556207-0A2B-752D-E64F-9B9E18CA8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346568" cy="640080"/>
          </a:xfrm>
        </p:spPr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Variance &amp; Covariance of a vector using dot product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8D25767-53CE-C920-A7E0-92A96B9F3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pic>
        <p:nvPicPr>
          <p:cNvPr id="5" name="Picture 4" descr="테이블 위에 앉아 있는 루빅 큐브">
            <a:extLst>
              <a:ext uri="{FF2B5EF4-FFF2-40B4-BE49-F238E27FC236}">
                <a16:creationId xmlns:a16="http://schemas.microsoft.com/office/drawing/2014/main" id="{BA2748F5-6F4D-18FD-1BCE-23DE76BCF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42CD59-4A2B-6E3E-B1FF-1291C0BC1771}"/>
              </a:ext>
            </a:extLst>
          </p:cNvPr>
          <p:cNvSpPr txBox="1"/>
          <p:nvPr/>
        </p:nvSpPr>
        <p:spPr>
          <a:xfrm>
            <a:off x="521207" y="1426488"/>
            <a:ext cx="11032618" cy="99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각 변수에서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평균차감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(Mean Centering)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한 후에 내적을 이용한 분산과 공분산을 구하라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 [2.5, 2.4], [0.5, 0.7], [2.2, 2.9], [1.9, 2.2], [3.1, 3.0], [2.3, 2.7], [2.0, 1.6], [1.0, 1.1], [1.5, 1.6], [1.1, 0.9] ])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23499E7-1ED4-F0A0-3FF6-F7A55DB34D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768" y="2763640"/>
            <a:ext cx="3290544" cy="3375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04EF1F9-C8F7-A1A6-6B4E-7BAA75973D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053" y="3221455"/>
            <a:ext cx="3068109" cy="57356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E18AFBE-F894-7D1C-1F41-D3BC182F99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053" y="4169616"/>
            <a:ext cx="3450483" cy="664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74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13DF1-6E03-4F16-9134-C864D23A7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AE2D8DA-B69B-3B85-38F7-5B9148B9B6F8}"/>
              </a:ext>
            </a:extLst>
          </p:cNvPr>
          <p:cNvSpPr/>
          <p:nvPr/>
        </p:nvSpPr>
        <p:spPr>
          <a:xfrm>
            <a:off x="895927" y="42392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F9D046EE-FD5C-B162-5149-0BEB537D2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8441AC-93FA-F1F7-6ED6-1055F2DB1D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9C743F-0167-E52F-F043-1A45DC591BC8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4267730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9040-27FC-D037-FD0A-29E15CE1F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8F6FD1D-34A8-1000-1468-64F7A859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Orthogonal vectors have dot product 0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7A97FBE-2E4B-A450-D392-A79B6EC4F3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1D4081-BF8F-4356-7C9A-23902740F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174" y="1785651"/>
            <a:ext cx="4305901" cy="410584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151C354-40DB-147D-E480-95DC3096D2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153" y="1785651"/>
            <a:ext cx="2819794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31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E384D-1BCA-4A59-E959-AE78A2D9B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B59542F-3FB0-23B0-727C-182A5B558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E79E82-A920-AD9B-45C8-AD9129F0F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A95B7F-A55C-7CA4-9772-E369FB2CB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233" y="1936068"/>
            <a:ext cx="5639587" cy="3419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973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6B6AF-8E99-E870-7771-4445E54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D707525-BF5B-10CA-ED06-63047E362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4C6EA8-0778-273F-E2CA-86DC793E5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7254D18-31A2-88D1-0BF3-746EDC9DD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631" y="2217825"/>
            <a:ext cx="6001588" cy="378195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7A30F9F-1156-708A-94F4-04C1539F7C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5" y="4218354"/>
            <a:ext cx="5449060" cy="1781424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B8B17BB-60E6-7F14-D6CE-A31ECE5C53D4}"/>
              </a:ext>
            </a:extLst>
          </p:cNvPr>
          <p:cNvCxnSpPr/>
          <p:nvPr/>
        </p:nvCxnSpPr>
        <p:spPr>
          <a:xfrm>
            <a:off x="5695950" y="4779659"/>
            <a:ext cx="6854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/>
              <p:nvPr/>
            </p:nvSpPr>
            <p:spPr>
              <a:xfrm>
                <a:off x="600075" y="1498140"/>
                <a:ext cx="880638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벡터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크기와 방향이 변함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벡터</a:t>
                </a:r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투영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되었다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endParaRPr lang="ko-KR" altLang="en-US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075" y="1498140"/>
                <a:ext cx="8806385" cy="400110"/>
              </a:xfrm>
              <a:prstGeom prst="rect">
                <a:avLst/>
              </a:prstGeom>
              <a:blipFill>
                <a:blip r:embed="rId5"/>
                <a:stretch>
                  <a:fillRect l="-692" t="-9231" r="-484" b="-2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669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FF3A9-DA07-005D-AA1B-03AF081A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DC4760A-E26A-BC72-7F4A-10363D5CF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287C0EC-E537-21CA-8060-E33FAEE2DB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1A4F65-BCF2-12CC-2198-60473B61D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83" y="1947574"/>
            <a:ext cx="9202434" cy="412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80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3F83-0552-F82F-7B03-1738832D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FDDD879-5D18-29C9-68B7-C3DE1F38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CBF237C-AB0E-F99E-CDCC-14854D5565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48BE910-A271-D9B7-E8BD-092DD625B2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37649" y="1866606"/>
            <a:ext cx="8973802" cy="4210638"/>
          </a:xfrm>
          <a:prstGeom prst="rect">
            <a:avLst/>
          </a:prstGeom>
        </p:spPr>
      </p:pic>
      <p:pic>
        <p:nvPicPr>
          <p:cNvPr id="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69C126D5-6554-F909-3B56-56EB06D67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364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2981-E7F5-BD9E-1EBB-958C1F8A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0C500A8-A0DF-0D2C-C47B-8A4138AC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1B2E616-996B-3727-BC95-522EBCAFB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pic>
        <p:nvPicPr>
          <p:cNvPr id="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CF7B321D-19E7-48F8-D801-C9C165133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624AD68-A456-813C-6081-23E74576B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1019" y="1343024"/>
            <a:ext cx="5771601" cy="2246333"/>
          </a:xfrm>
          <a:prstGeom prst="rect">
            <a:avLst/>
          </a:prstGeom>
        </p:spPr>
      </p:pic>
      <p:pic>
        <p:nvPicPr>
          <p:cNvPr id="17414" name="Picture 6">
            <a:extLst>
              <a:ext uri="{FF2B5EF4-FFF2-40B4-BE49-F238E27FC236}">
                <a16:creationId xmlns:a16="http://schemas.microsoft.com/office/drawing/2014/main" id="{C8007836-D907-5A4F-4B40-5286E0485F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755" y="1343024"/>
            <a:ext cx="5169264" cy="527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0503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AD4F8-9A18-286E-45B8-A222CD86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BB2CBAE-3E14-3D36-DCD3-56DFFEA7CE12}"/>
              </a:ext>
            </a:extLst>
          </p:cNvPr>
          <p:cNvSpPr/>
          <p:nvPr/>
        </p:nvSpPr>
        <p:spPr>
          <a:xfrm>
            <a:off x="895927" y="4798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CBED91F-418A-DCBD-1FD6-45F69A7E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6C6549F-292C-C34A-14BC-E647EF285C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9E448B-AA45-52C3-8EE8-584ED50DE356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447044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4E324-E0CD-5A28-55F8-CB6D72FBE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027950A-8E46-4BBA-E998-576418127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Equations as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447202A-051C-84A2-B587-2FBDE929A6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BC972B1-5E51-B3A3-8024-554DD022C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98" y="2326647"/>
            <a:ext cx="10421804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47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9B61-D7AD-0692-CBCA-EB7EABC5E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26E2484-4DEC-E82D-5626-8A1E435E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Equations as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4CF7A87-3DA4-EC22-1897-43FD34D016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0822F5F-9389-000A-0755-46FF9F7D5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967" y="1904787"/>
            <a:ext cx="9250066" cy="30484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F8D0940-13EC-A9D2-23DD-7F46A6CAC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5954" y="4953212"/>
            <a:ext cx="298174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710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D531-9861-DC11-13C8-402FADE0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56C91DE-18A1-B898-12F7-3C530CFD8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2336735-1E3E-3496-5FE8-5581A7323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7775A8D-3762-E25F-3473-AB40BDD18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70" y="4289517"/>
            <a:ext cx="1800476" cy="17814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4F422DD-B2F0-8C99-6185-6DEB3BEA0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042" y="4289517"/>
            <a:ext cx="1332758" cy="17108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ADD4715-E2CB-D944-BC5E-351C73264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441" y="4289517"/>
            <a:ext cx="1233572" cy="17483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093461E-2E00-52B3-61E2-BC6F6AA15084}"/>
              </a:ext>
            </a:extLst>
          </p:cNvPr>
          <p:cNvSpPr txBox="1"/>
          <p:nvPr/>
        </p:nvSpPr>
        <p:spPr>
          <a:xfrm>
            <a:off x="616457" y="1451425"/>
            <a:ext cx="10746868" cy="26300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랜덤 데이터 생성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np.random.seed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(42)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재현을 위해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고정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np.random.uniform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10, 100) # 0~10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사이의 난수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관계식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y = 3x + 5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여기에 노이즈 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noise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np.random.normal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2, 100)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정규분포 노이즈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3 * x + 5 + noise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154F4078-D4B4-44FA-0A92-D15D7F7E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989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BC28-B060-3C52-383A-9DE21196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9B41543-DC63-5E34-0B3B-D762A2FAE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1698717"/>
            <a:ext cx="5543550" cy="4250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D2B2716-1FE3-3EF6-B984-BF6C72A0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4913F4A-EF69-799E-62CF-68618D05F3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D755DAA4-72C6-B88A-072A-2C17DA737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DBA76C6E-1F8F-2FCC-1329-F9B961492D3F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0FA9058-137F-B412-135A-F902982992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5060343-C130-643A-4F4E-26898B12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458F2B3-F05E-E6C9-7549-65BCD4D1A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818D04B7-3485-B99A-9173-C2DCCE8628D5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BF4E33F2-5881-9AA4-0DE4-7EB7DE930520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25476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4D2FF-CCFF-2D3F-6455-109BDCC6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4439B9E-951D-D2A9-8CCA-E0BCD46F9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9CD7A52-9D3D-AC10-D9C9-479BF1E0EE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919B585-4FCF-74D2-B13A-5DCC3B1EA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891B776-788F-983C-3372-3C1FFE26C810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AC2FBC8-0659-E600-0F6A-6615329BB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107E47C-A069-F155-14B8-C2EB6D2DB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09370505-6899-00F3-2FD3-4E507FFDC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4928C1D8-D31B-C11A-799E-0C0D276A57E8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C4680470-73AD-F8AD-91F2-5D806F4B0131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956E4AF-BB7E-B55C-8050-02CF49309B5E}"/>
              </a:ext>
            </a:extLst>
          </p:cNvPr>
          <p:cNvGrpSpPr/>
          <p:nvPr/>
        </p:nvGrpSpPr>
        <p:grpSpPr>
          <a:xfrm>
            <a:off x="6593586" y="3598550"/>
            <a:ext cx="3454269" cy="1428684"/>
            <a:chOff x="6488811" y="3941141"/>
            <a:chExt cx="3454269" cy="1428684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75512D5-ACFD-B282-9136-6B61B0A9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4017264"/>
              <a:ext cx="1038214" cy="1332743"/>
            </a:xfrm>
            <a:prstGeom prst="rect">
              <a:avLst/>
            </a:pr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8C045F8-51A2-5143-9B44-8960D53E2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498336" y="4407954"/>
              <a:ext cx="274595" cy="39574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3ECD106F-1C33-054A-E0E4-871016A57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938817" y="3988773"/>
              <a:ext cx="557267" cy="1381052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C32C9381-6C7F-8EED-FF0F-80FEF2CE0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00501" y="3941141"/>
              <a:ext cx="1542579" cy="1421434"/>
            </a:xfrm>
            <a:prstGeom prst="rect">
              <a:avLst/>
            </a:prstGeom>
          </p:spPr>
        </p:pic>
        <p:sp>
          <p:nvSpPr>
            <p:cNvPr id="21" name="같음 기호 20">
              <a:extLst>
                <a:ext uri="{FF2B5EF4-FFF2-40B4-BE49-F238E27FC236}">
                  <a16:creationId xmlns:a16="http://schemas.microsoft.com/office/drawing/2014/main" id="{E9F21161-7C22-BA86-8BD5-6D80AC5F2AC5}"/>
                </a:ext>
              </a:extLst>
            </p:cNvPr>
            <p:cNvSpPr/>
            <p:nvPr/>
          </p:nvSpPr>
          <p:spPr>
            <a:xfrm>
              <a:off x="7887006" y="4622299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21506" name="Picture 2">
            <a:extLst>
              <a:ext uri="{FF2B5EF4-FFF2-40B4-BE49-F238E27FC236}">
                <a16:creationId xmlns:a16="http://schemas.microsoft.com/office/drawing/2014/main" id="{1AC7E6FE-79AD-02BE-3EC1-50BB02E3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7F90FF9-A7B6-3E3A-F6A2-2735D1C847CD}"/>
              </a:ext>
            </a:extLst>
          </p:cNvPr>
          <p:cNvSpPr/>
          <p:nvPr/>
        </p:nvSpPr>
        <p:spPr>
          <a:xfrm>
            <a:off x="6460236" y="3514725"/>
            <a:ext cx="3855843" cy="1638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378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5F34-A5D9-A442-CB25-B4CD890A0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98C921F-6D99-8227-CFFE-07588A1A6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AA01EA-D981-EF53-40F1-725F8DDA3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41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A5EAC5E7-4A64-3617-26EF-F78F129BB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6" name="Picture 2">
            <a:extLst>
              <a:ext uri="{FF2B5EF4-FFF2-40B4-BE49-F238E27FC236}">
                <a16:creationId xmlns:a16="http://schemas.microsoft.com/office/drawing/2014/main" id="{911CA780-919C-4357-9D03-8C4797761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D610E4B-6C3B-DD0F-4AB8-AB2E64EBD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84" y="2057357"/>
            <a:ext cx="2449526" cy="48535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D234C4B-1840-E743-5623-7D3CB3C5D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584" y="3042868"/>
            <a:ext cx="4686711" cy="160773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F204F99-EAA6-8131-BB09-5553485C5E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2842" y="4946194"/>
            <a:ext cx="1708943" cy="79265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E3CC373-5A0E-D55F-CA1B-3518B65B0E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785" y="4946194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94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Fitting(learning) linear transformation to </a:t>
            </a:r>
            <a:r>
              <a:rPr lang="en-US" altLang="ko-KR" dirty="0" err="1"/>
              <a:t>data_Cartoon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42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19522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90795" y="5561904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04085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43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02749"/>
            <a:chOff x="2457450" y="1673618"/>
            <a:chExt cx="7934325" cy="330274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3754026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38024902-853C-5F4A-97DD-F81CF8529D00}"/>
                </a:ext>
              </a:extLst>
            </p:cNvPr>
            <p:cNvSpPr/>
            <p:nvPr/>
          </p:nvSpPr>
          <p:spPr>
            <a:xfrm>
              <a:off x="2457450" y="3581400"/>
              <a:ext cx="7464089" cy="13949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8352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44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0362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3305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309B-6B92-D5CE-B080-EFC8D5AE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F813BDC-3CFE-C46F-3F89-04937E9A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Fitting(learning) probability density function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E58D0A3-C994-D7FE-D008-E91D9CD47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46</a:t>
            </a:fld>
            <a:endParaRPr lang="ko-KR" altLang="en-US" noProof="0"/>
          </a:p>
        </p:txBody>
      </p:sp>
      <p:pic>
        <p:nvPicPr>
          <p:cNvPr id="23556" name="Picture 4">
            <a:extLst>
              <a:ext uri="{FF2B5EF4-FFF2-40B4-BE49-F238E27FC236}">
                <a16:creationId xmlns:a16="http://schemas.microsoft.com/office/drawing/2014/main" id="{C2FB5058-E108-20D2-E4F6-CA7540003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0759" y="1514669"/>
            <a:ext cx="7512815" cy="4963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956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895927" y="5306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D3753-8306-57B2-FE48-ECFF49636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60FFE80D-E5F6-620B-9D84-FAF3AE230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782" y="1602468"/>
            <a:ext cx="9974067" cy="436305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1E47F95-F882-478D-F7DF-4C068EC06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782" y="1608815"/>
            <a:ext cx="10040751" cy="4363059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C5C12061-E184-BFAF-6EDC-1062E97BE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B7DEA5-163B-1E9C-B0CC-36AFCF671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48</a:t>
            </a:fld>
            <a:endParaRPr lang="ko-KR" altLang="en-US" noProof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A490703-3E48-BC9A-0C3C-E471879838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782" y="1596121"/>
            <a:ext cx="10097909" cy="434400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1F539E0-9668-0BC9-D169-6C0652A601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782" y="1602468"/>
            <a:ext cx="10097909" cy="424874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4E913F3-5ED0-9921-CB83-2D49023C44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492" y="1583415"/>
            <a:ext cx="10021699" cy="438211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5A0249B8-01A7-7726-05F8-4F03025BA8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9466" y="1589774"/>
            <a:ext cx="10031225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164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53803-2E88-410A-26AB-9D97A5798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D57620C-FEAB-58CD-7DA6-1EC020430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BF795E-892F-3B4F-6456-F3D03FBB6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AF42B6B-6906-5BFA-817F-3E677AE17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271" y="1777702"/>
            <a:ext cx="10078857" cy="426779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457A5F5-CA3C-3CA5-2C19-BEF3A64FD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218" y="1739597"/>
            <a:ext cx="10116962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201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3492-9963-3D52-0947-10B4099C7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E153DBB-56E5-609F-7E49-AA3D7439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A00246E-87D3-A960-C0C5-F8C8FA53DE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8BE07DB-7409-ADC6-8868-51DFD1E2F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87" y="1488330"/>
            <a:ext cx="10212225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807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0EB70-F775-CC00-F3EA-9F1B0C48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2F76C-8226-F9B9-1C28-50DCCA3F5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5A7785E-0842-C1A8-8E9B-DC493704E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ED985E0-21FE-1D2B-19BA-76FEA38E9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085" y="1733244"/>
            <a:ext cx="10069330" cy="438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334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60CC9-200E-6B90-3662-8F05478E5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06E895C-4FD8-FE9E-FD47-BE7B2A0A6867}"/>
              </a:ext>
            </a:extLst>
          </p:cNvPr>
          <p:cNvSpPr/>
          <p:nvPr/>
        </p:nvSpPr>
        <p:spPr>
          <a:xfrm>
            <a:off x="895927" y="58267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723F8E7B-4168-165E-9357-260C3EE6B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414DE3-C0EC-C1BE-3376-F6C6A6320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463D80-3764-3DE2-BF3E-848BCA3F8EBD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910635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282B4-0B1E-426E-F808-4DA4659F6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C3A5648-3DB8-0D5D-F11D-66D2BD93E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Combining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8A1ACEA-9723-88AF-47F1-5EC1C49AD3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BB64D1B-60DD-7BC8-6628-B820CCD99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625" y="1890498"/>
            <a:ext cx="8230749" cy="307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162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23506-F0E4-347E-7CB6-04712972C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FFF17D-123F-ECD4-080C-80C8D3C1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94DBF68-8525-CBA2-202A-F2B2845FA7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08CC3A-F53D-5B19-D9A4-0074BE91A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336" y="1804761"/>
            <a:ext cx="8259328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3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8C6AE-B650-0E5E-3E03-19A29E00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A1C812A-01B6-E203-756F-E51560E9C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DF94F90-956A-5685-B322-183A268F2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86E5005-1548-D274-A913-5ABA38653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835" y="1642813"/>
            <a:ext cx="9888330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61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A531-C904-DB75-4600-4BD48B1D9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0B24E50-EFCF-CB4C-E583-032854E51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85EC5DF-8857-0EF5-B250-7E8A5C29C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56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20D2286-045A-3DE5-14A2-6BF0E457B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440" y="1516909"/>
            <a:ext cx="9993120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15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4C57A-DF1C-BC28-8D65-AEDC45F9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36363FE-BF70-35AB-2B9D-448D98768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5BC6F52-315C-C650-5CAE-63B6854AF3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0CE895-9378-DCE6-1D61-16312F695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061" y="1753891"/>
            <a:ext cx="10050278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571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C8EF4-D5BB-41F9-8899-7ED825A3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D288A56-6BFD-8F25-21E4-884B03147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5E85FA-E083-B420-FBBC-D19DBF3BA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58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736F38-7EF2-1526-EEF9-6E7D618DD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0898" y="1919543"/>
            <a:ext cx="5436804" cy="127215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041ACFB-308D-1021-F734-AD42EE2F2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0248" y="3666300"/>
            <a:ext cx="6115904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93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0C7A9-F0F9-F975-04CA-11B541267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80BCB46-2844-0496-1D12-C031AFBDF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6CC140B-C146-6241-7D3C-9F0DA2D66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AB38199-6FFD-BFDD-4EE8-5FA3C7B80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18" y="1636636"/>
            <a:ext cx="4060970" cy="97091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95A6F3D-0E44-F5DF-162E-EE10460D7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18" y="2732164"/>
            <a:ext cx="5681982" cy="92026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EADB9BF-A005-51AD-670E-6365BBAE1E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09" y="4060528"/>
            <a:ext cx="6106377" cy="2143424"/>
          </a:xfrm>
          <a:prstGeom prst="rect">
            <a:avLst/>
          </a:prstGeom>
        </p:spPr>
      </p:pic>
      <p:pic>
        <p:nvPicPr>
          <p:cNvPr id="11" name="Picture 4" descr="테이블 위에 앉아 있는 루빅 큐브">
            <a:extLst>
              <a:ext uri="{FF2B5EF4-FFF2-40B4-BE49-F238E27FC236}">
                <a16:creationId xmlns:a16="http://schemas.microsoft.com/office/drawing/2014/main" id="{5288409F-D383-A219-2806-6AFDD4374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7418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BEEE75E-D3A2-AE31-D1DA-03C6E905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103121" y="1756243"/>
                <a:ext cx="2610843" cy="4511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ko-KR" altLang="en-US" sz="2000" b="1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121" y="1756243"/>
                <a:ext cx="2610843" cy="451149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3BB6-8F16-AA39-2CFF-F4C6724D4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61</a:t>
            </a:fld>
            <a:endParaRPr lang="en-US" sz="2000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C8BDFF6F-C898-BB3E-AFFB-652BEE892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선형변환</a:t>
            </a:r>
          </a:p>
        </p:txBody>
      </p:sp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BB83E56-18FA-8807-E04C-A0F00222D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DC6248D-35AB-BEDB-0878-BB94F324E32C}"/>
              </a:ext>
            </a:extLst>
          </p:cNvPr>
          <p:cNvSpPr txBox="1">
            <a:spLocks/>
          </p:cNvSpPr>
          <p:nvPr/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dirty="0"/>
              <a:t>2</a:t>
            </a:r>
            <a:r>
              <a:rPr lang="ko-KR" altLang="en-US" dirty="0"/>
              <a:t>차원 </a:t>
            </a:r>
            <a:r>
              <a:rPr lang="en-US" altLang="ko-KR" dirty="0"/>
              <a:t>sheer</a:t>
            </a:r>
            <a:r>
              <a:rPr lang="ko-KR" altLang="en-US" dirty="0"/>
              <a:t> 선형변환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10386F8-BD86-FECD-15ED-10E14DFCF29D}"/>
              </a:ext>
            </a:extLst>
          </p:cNvPr>
          <p:cNvSpPr txBox="1">
            <a:spLocks/>
          </p:cNvSpPr>
          <p:nvPr/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dirty="0"/>
              <a:t>2</a:t>
            </a:r>
            <a:r>
              <a:rPr lang="ko-KR" altLang="en-US" dirty="0"/>
              <a:t>차원 </a:t>
            </a:r>
            <a:r>
              <a:rPr lang="en-US" altLang="ko-KR" dirty="0"/>
              <a:t>sheer &amp; rotate </a:t>
            </a:r>
            <a:r>
              <a:rPr lang="ko-KR" altLang="en-US" dirty="0"/>
              <a:t>선형변환</a:t>
            </a:r>
          </a:p>
        </p:txBody>
      </p:sp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711135" y="1733379"/>
            <a:ext cx="79031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코드를 직접 실행해보고 이미지에 대한 선형변환을 이해하자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3F6728-0768-4865-89D4-71B77938C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D069B5-1ADF-BECA-39FA-F4E87C1A2369}"/>
              </a:ext>
            </a:extLst>
          </p:cNvPr>
          <p:cNvSpPr txBox="1"/>
          <p:nvPr/>
        </p:nvSpPr>
        <p:spPr>
          <a:xfrm>
            <a:off x="1276350" y="2778732"/>
            <a:ext cx="8180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2026_Spring_Data-Management/LA/w3/w3_linear_transformation_image.ipynb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104879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8045" y="304800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66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1345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1234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4010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85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7" y="1277555"/>
            <a:ext cx="3059084" cy="232399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7" y="4083014"/>
            <a:ext cx="3059084" cy="23583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439549"/>
            <a:ext cx="1070263" cy="2026403"/>
          </a:xfrm>
          <a:prstGeom prst="curvedConnector4">
            <a:avLst>
              <a:gd name="adj1" fmla="val -21359"/>
              <a:gd name="adj2" fmla="val 7867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62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EE291-D98D-600A-F6E9-1641F76C5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43F8A6B6-A869-A82F-837D-A37C3AC6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ko-KR" altLang="en-US" dirty="0"/>
              <a:t>과제제출</a:t>
            </a:r>
            <a:r>
              <a:rPr lang="en-US" altLang="ko-KR" dirty="0"/>
              <a:t>_Homework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9A5D677-BFF3-AB7F-5BC0-54FC672C0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237" y="1392346"/>
            <a:ext cx="6759526" cy="4816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8720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340</TotalTime>
  <Words>1889</Words>
  <Application>Microsoft Office PowerPoint</Application>
  <PresentationFormat>와이드스크린</PresentationFormat>
  <Paragraphs>391</Paragraphs>
  <Slides>69</Slides>
  <Notes>56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82" baseType="lpstr">
      <vt:lpstr>맑은 고딕</vt:lpstr>
      <vt:lpstr>맑은 고딕 Semilight</vt:lpstr>
      <vt:lpstr>Batang</vt:lpstr>
      <vt:lpstr>Arial</vt:lpstr>
      <vt:lpstr>Arial Narrow</vt:lpstr>
      <vt:lpstr>Calibri</vt:lpstr>
      <vt:lpstr>Cambria Math</vt:lpstr>
      <vt:lpstr>Helvetica</vt:lpstr>
      <vt:lpstr>Segoe UI Light</vt:lpstr>
      <vt:lpstr>Times New Roman</vt:lpstr>
      <vt:lpstr>Wingdings</vt:lpstr>
      <vt:lpstr>Wingdings 2</vt:lpstr>
      <vt:lpstr>WelcomeDoc</vt:lpstr>
      <vt:lpstr>Vectors and Linear Transformations</vt:lpstr>
      <vt:lpstr>Neural Networks – AI generates images</vt:lpstr>
      <vt:lpstr>Text-to-image and image-to-text generation</vt:lpstr>
      <vt:lpstr>Math for Machine Learning</vt:lpstr>
      <vt:lpstr>Contents</vt:lpstr>
      <vt:lpstr>Vectors</vt:lpstr>
      <vt:lpstr>How to get from point A to point B?</vt:lpstr>
      <vt:lpstr>Magnitude of a vector : Norms</vt:lpstr>
      <vt:lpstr>Directions of a vector</vt:lpstr>
      <vt:lpstr>Contents</vt:lpstr>
      <vt:lpstr>Sum of vectors</vt:lpstr>
      <vt:lpstr>Difference of vectors</vt:lpstr>
      <vt:lpstr>Contents</vt:lpstr>
      <vt:lpstr>Distances</vt:lpstr>
      <vt:lpstr>Distances</vt:lpstr>
      <vt:lpstr>Distances</vt:lpstr>
      <vt:lpstr>Contents</vt:lpstr>
      <vt:lpstr>Multiplying a vector by a scalar</vt:lpstr>
      <vt:lpstr>Directions of a vector</vt:lpstr>
      <vt:lpstr>Contents</vt:lpstr>
      <vt:lpstr>A shortcut for linear operations</vt:lpstr>
      <vt:lpstr>The dot product</vt:lpstr>
      <vt:lpstr>Norm of a vector using dot product</vt:lpstr>
      <vt:lpstr>Norm of a vector using dot product</vt:lpstr>
      <vt:lpstr>Norm of a vector using dot product</vt:lpstr>
      <vt:lpstr>Norm of a vector using dot product</vt:lpstr>
      <vt:lpstr>Variance &amp; Covariance of a vector using dot product</vt:lpstr>
      <vt:lpstr>Contents</vt:lpstr>
      <vt:lpstr>Orthogonal vectors have dot product 0</vt:lpstr>
      <vt:lpstr>The dot product</vt:lpstr>
      <vt:lpstr>The dot product</vt:lpstr>
      <vt:lpstr>Geometric dot product</vt:lpstr>
      <vt:lpstr>Geometric dot product</vt:lpstr>
      <vt:lpstr>Geometric dot product</vt:lpstr>
      <vt:lpstr>Contents</vt:lpstr>
      <vt:lpstr>Equations as dot product</vt:lpstr>
      <vt:lpstr>Equations as dot product</vt:lpstr>
      <vt:lpstr>Linear Regression as dot product form</vt:lpstr>
      <vt:lpstr>Linear Regression as dot product form</vt:lpstr>
      <vt:lpstr>Linear Regression as dot product form</vt:lpstr>
      <vt:lpstr>Linear Regression as dot product form</vt:lpstr>
      <vt:lpstr>Fitting(learning) linear transformation to data_Cartoon</vt:lpstr>
      <vt:lpstr>Regression and Perceptron</vt:lpstr>
      <vt:lpstr>Regression and Perceptron</vt:lpstr>
      <vt:lpstr>Regression and Perceptron</vt:lpstr>
      <vt:lpstr>Fitting(learning) probability density function to data</vt:lpstr>
      <vt:lpstr>Contents</vt:lpstr>
      <vt:lpstr>Matrices as linear transformations</vt:lpstr>
      <vt:lpstr>Matrices as linear transformations</vt:lpstr>
      <vt:lpstr>Matrices as linear transformations</vt:lpstr>
      <vt:lpstr>Matrices as linear transformations</vt:lpstr>
      <vt:lpstr>Contents</vt:lpstr>
      <vt:lpstr>Combining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선형변환</vt:lpstr>
      <vt:lpstr>1차원 선형변환</vt:lpstr>
      <vt:lpstr>2차원 선형변환</vt:lpstr>
      <vt:lpstr>PowerPoint 프레젠테이션</vt:lpstr>
      <vt:lpstr>PowerPoint 프레젠테이션</vt:lpstr>
      <vt:lpstr>실습하기</vt:lpstr>
      <vt:lpstr>Digress : Shear Bradpit Image</vt:lpstr>
      <vt:lpstr>Digress : Kernel Transformation</vt:lpstr>
      <vt:lpstr>Digress : Kernel Transformation</vt:lpstr>
      <vt:lpstr>과제제출_Homework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</cp:revision>
  <dcterms:created xsi:type="dcterms:W3CDTF">2026-04-06T01:00:39Z</dcterms:created>
  <dcterms:modified xsi:type="dcterms:W3CDTF">2026-04-09T21:02:16Z</dcterms:modified>
  <cp:version/>
</cp:coreProperties>
</file>