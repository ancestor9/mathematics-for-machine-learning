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256" r:id="rId2"/>
    <p:sldId id="271" r:id="rId3"/>
    <p:sldId id="287" r:id="rId4"/>
    <p:sldId id="302" r:id="rId5"/>
    <p:sldId id="304" r:id="rId6"/>
    <p:sldId id="288" r:id="rId7"/>
    <p:sldId id="289" r:id="rId8"/>
    <p:sldId id="290" r:id="rId9"/>
    <p:sldId id="291" r:id="rId10"/>
    <p:sldId id="349" r:id="rId11"/>
    <p:sldId id="292" r:id="rId12"/>
    <p:sldId id="293" r:id="rId13"/>
    <p:sldId id="350" r:id="rId14"/>
    <p:sldId id="294" r:id="rId15"/>
    <p:sldId id="295" r:id="rId16"/>
    <p:sldId id="307" r:id="rId17"/>
    <p:sldId id="351" r:id="rId18"/>
    <p:sldId id="296" r:id="rId19"/>
    <p:sldId id="297" r:id="rId20"/>
    <p:sldId id="353" r:id="rId21"/>
    <p:sldId id="298" r:id="rId22"/>
    <p:sldId id="299" r:id="rId23"/>
    <p:sldId id="931" r:id="rId24"/>
    <p:sldId id="300" r:id="rId25"/>
    <p:sldId id="932" r:id="rId26"/>
    <p:sldId id="310" r:id="rId27"/>
    <p:sldId id="311" r:id="rId28"/>
    <p:sldId id="312" r:id="rId29"/>
    <p:sldId id="313" r:id="rId30"/>
    <p:sldId id="917" r:id="rId31"/>
    <p:sldId id="352" r:id="rId32"/>
    <p:sldId id="318" r:id="rId33"/>
    <p:sldId id="319" r:id="rId34"/>
    <p:sldId id="325" r:id="rId35"/>
    <p:sldId id="933" r:id="rId36"/>
    <p:sldId id="320" r:id="rId37"/>
    <p:sldId id="326" r:id="rId38"/>
    <p:sldId id="321" r:id="rId39"/>
    <p:sldId id="354" r:id="rId40"/>
    <p:sldId id="322" r:id="rId41"/>
    <p:sldId id="323" r:id="rId42"/>
    <p:sldId id="355" r:id="rId43"/>
    <p:sldId id="345" r:id="rId44"/>
    <p:sldId id="337" r:id="rId45"/>
    <p:sldId id="344" r:id="rId46"/>
    <p:sldId id="343" r:id="rId47"/>
    <p:sldId id="356" r:id="rId48"/>
    <p:sldId id="338" r:id="rId49"/>
    <p:sldId id="339" r:id="rId50"/>
    <p:sldId id="340" r:id="rId51"/>
    <p:sldId id="341" r:id="rId52"/>
    <p:sldId id="342" r:id="rId53"/>
    <p:sldId id="347" r:id="rId54"/>
    <p:sldId id="348" r:id="rId55"/>
    <p:sldId id="263" r:id="rId56"/>
    <p:sldId id="815" r:id="rId57"/>
    <p:sldId id="816" r:id="rId58"/>
    <p:sldId id="817" r:id="rId59"/>
    <p:sldId id="821" r:id="rId60"/>
    <p:sldId id="357" r:id="rId61"/>
    <p:sldId id="811" r:id="rId62"/>
    <p:sldId id="812" r:id="rId63"/>
    <p:sldId id="909" r:id="rId64"/>
    <p:sldId id="930" r:id="rId6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271"/>
            <p14:sldId id="287"/>
            <p14:sldId id="302"/>
            <p14:sldId id="304"/>
            <p14:sldId id="288"/>
            <p14:sldId id="289"/>
            <p14:sldId id="290"/>
            <p14:sldId id="291"/>
            <p14:sldId id="349"/>
            <p14:sldId id="292"/>
            <p14:sldId id="293"/>
            <p14:sldId id="350"/>
            <p14:sldId id="294"/>
            <p14:sldId id="295"/>
            <p14:sldId id="307"/>
            <p14:sldId id="351"/>
            <p14:sldId id="296"/>
            <p14:sldId id="297"/>
            <p14:sldId id="353"/>
            <p14:sldId id="298"/>
            <p14:sldId id="299"/>
            <p14:sldId id="931"/>
            <p14:sldId id="300"/>
            <p14:sldId id="932"/>
            <p14:sldId id="310"/>
            <p14:sldId id="311"/>
            <p14:sldId id="312"/>
            <p14:sldId id="313"/>
            <p14:sldId id="917"/>
            <p14:sldId id="352"/>
            <p14:sldId id="318"/>
            <p14:sldId id="319"/>
            <p14:sldId id="325"/>
            <p14:sldId id="933"/>
            <p14:sldId id="320"/>
            <p14:sldId id="326"/>
            <p14:sldId id="321"/>
            <p14:sldId id="354"/>
            <p14:sldId id="322"/>
            <p14:sldId id="323"/>
            <p14:sldId id="355"/>
            <p14:sldId id="345"/>
            <p14:sldId id="337"/>
            <p14:sldId id="344"/>
            <p14:sldId id="343"/>
            <p14:sldId id="356"/>
            <p14:sldId id="338"/>
            <p14:sldId id="339"/>
            <p14:sldId id="340"/>
            <p14:sldId id="341"/>
            <p14:sldId id="342"/>
            <p14:sldId id="347"/>
            <p14:sldId id="348"/>
            <p14:sldId id="263"/>
            <p14:sldId id="815"/>
            <p14:sldId id="816"/>
            <p14:sldId id="817"/>
            <p14:sldId id="821"/>
            <p14:sldId id="357"/>
            <p14:sldId id="811"/>
            <p14:sldId id="812"/>
            <p14:sldId id="909"/>
            <p14:sldId id="93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047" autoAdjust="0"/>
    <p:restoredTop sz="94241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344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2026-04-11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9547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16945-4C15-7B0E-07C1-B8E9C9D2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9A840-DCC9-18ED-FB3A-1FEC6A9EA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E1EDE6-3A10-8686-FE3F-FB1F0D4CA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2B74C-F58F-09CB-D259-2C175C236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3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5408-75A7-F1C4-3153-A414E984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65D79D-380B-61C2-4B71-4478854FC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2B5931-4AE6-B694-03DF-E8EB7D1C5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CCC67-98C7-3220-D866-C7E657633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0354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9E23-0319-AC24-03A5-2B1FFF17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E58DDF-C25E-0F27-7747-2F3D20B65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FCF31-86B8-3DE1-F281-20D13EE29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DCDBC0-E514-96D3-A721-4FA2DB85E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338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EC1A-E211-180D-533F-A8779CE2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9ED565-534E-4002-CB9D-F1BCA964F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564AC-4A12-EF23-EFA9-04A398FE2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B6CC22-462B-A117-4676-C77764AB0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351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798CD-FDB3-92A0-211E-5E88E87C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890F6A-3C77-1C22-F404-8ADE3672A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AEB970-679E-49DF-7D3F-3866B696C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75874-AC11-2F3A-3375-1FB1DAA0B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5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D1F6-B316-31B5-22B5-19DFE10D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2600D7-E6F6-D69B-86E5-8D7DD1E21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DE65D7-6A15-FB39-492F-4D20EDF02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3EBF5E-3444-A343-1CED-250BCE716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5769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2F306-2BF0-AD12-BA1C-B32AD5627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1EF67C-BBF0-8CAF-23A1-9047CCE92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26E17F-CF6E-4B1E-2C4A-DEC16B295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E31BA1-9B28-3D08-09FF-84F38B634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2616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6C8C5-E9BB-5A38-FD2C-62DB9E49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7E512B2-70A8-1594-AAC8-3A752B7B7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5E89BE-6F4B-56B0-95FE-8638AD2FB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CE6C9-47CD-8AFA-5745-0F57C5633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6319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A068-C6A7-F9FC-3BBC-5B9A91C18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6C1326-8F4E-A0F1-3854-D742A358A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A79F6E-E9E5-A805-82BB-160B670B1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2F5239-BDDB-1C92-4DE1-6080B13AB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866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38608-BAB3-7FC2-4A35-0690B6FC7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9F00D2-FFCA-1443-4774-8EEAE29F0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8CE85B-8778-CB8C-8D5A-1F69F6451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6151B9-5558-CF90-A8F8-55899B985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250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08B4-A4FB-28CA-6176-8349E513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08F20F-0593-9BF2-764E-D8C8D181E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9C0D9-454B-E1C8-6233-EDB8F8B24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7232B5-9035-D63A-740F-BA01C5207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232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FB2D-338D-5313-3E2E-17C37210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EE0160-639E-1489-9314-2D03BEF5F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5647A-B70D-3CC3-239A-1EB0AF6A5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417DF1-7F92-01A8-B94E-F36F1A85F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40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EB5B-7491-9E39-F478-836E3A3E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117D5B-B8E9-EC31-A51F-02D0728E1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BFD7FE-943B-EC9B-6400-DF0A95D9D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3F3B5-DCAC-051C-9D18-A1FADEF47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8112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7BAA-B1F8-BAA3-8907-DC73D99F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34869-1347-C420-E675-DB42F83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639132-0F93-3BFD-46F6-E0024D13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97547-9225-314A-862E-BB2DCCF13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043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8E46F-6513-7CC2-90A8-21B972F08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56EE48-8136-B3CB-EAF6-11AF2261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E0E2AE-9BD6-7C66-AFFF-8289B0C1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1189F-D92C-26AD-8F92-3761EA111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3171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648D8-5A3A-47A0-08AA-FF264D71D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F39B50-7D15-93EE-ED04-2341B8446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346CBC-F4DC-C7AE-B38C-957ED7B59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B3231E-0B7F-D25F-E985-999BB3819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3438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7BFB5-9CC4-0FC9-880E-F9673EB8F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0B50D8-6784-9B6A-AE0E-53A98F871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FA6AE3-99BB-1862-FEF6-8969BCC98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65D37-A3C4-803A-EBDB-ABADA6822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36006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F958F-196B-94E0-31A8-9914196D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986D39-C552-9807-C931-76858E640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F88A5A-4E5C-DF91-7CD6-1C1112281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269E4-5C82-CD66-6D5B-1086FE5EC2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580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D316-D817-CA86-DAE4-9FA44966B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B9CD01-433E-210B-2EC5-A1F4F5499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3D98AD-72E6-5845-A3EC-8629E892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620A7A-7C95-1C27-9BAD-ADBB56B5C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1957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380A-62EB-98D8-44FC-E0D6845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E785EF-7226-B095-C9DE-F015CD5BB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9E0848-5895-5019-C078-7473B92D3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BD3CA-7A5F-D03C-E9B3-86ED125F6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0671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83F0-EB4B-86E1-0563-D328A298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42A45A-9B8E-03E1-8861-CFBE901FD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A3617-380C-3526-14AD-298855B5B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52208C-1C0F-6004-43C8-8FE4E3861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510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A065F-B099-B5CF-1D22-8791FF6D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B431C5-DE49-C65F-3D8F-221B502D6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3C9F20-523E-D612-E90E-07BB5C947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A0F14-8F25-CC5F-BD78-FF5874980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7031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1407-1EB0-FEA3-8F66-24325B3CF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A16D5A-A628-A551-C51E-307532229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E9F525-F06E-7043-F506-2B04A9E5C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8D94B9-0963-81C1-CCE9-EACCB1EE6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65960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19E00-385F-C548-A639-09BD678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000ADD-627A-B389-945C-75CB35F34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423518-AC90-3328-B05C-3AFD680E0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47027-7661-E86F-18E7-B3216EEF6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685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B505-D2ED-8112-43E6-4185241B9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7C415E-7741-7FB7-B3C6-256CEC621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7B7459-BC49-0183-3829-3DF180271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04A672-7E2C-D8DE-1048-E7169F77B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6633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BC6A3-5C5E-BB5A-A120-E0C782F1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D0F2D0-D404-0258-E930-642EA99BD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2E2A1-03BD-51ED-1010-CEC0A1897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97A2AE-4D51-EF43-F3C4-ED38C4253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5761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69FD2-B22E-D51E-B3C9-703533F4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B1CF2B-D339-776F-6B66-62BABA33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1394E1-1A3D-CDED-BF6A-A6E865752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945542-3144-C023-128A-2E3B8A574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9546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D742-CF84-AF57-950F-50DC42719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0343F8-0353-09FC-8465-60311FD97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0B8D2E-5EDE-BEA6-20AF-7A330993D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968D1D-6DA0-39EE-38AB-0894C8BA1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21927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5589-C6D5-1849-9709-7A00C431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F31494-F81E-52D0-3F07-CCCF12333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BEA719-0C3A-0973-9C2A-16E982E98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6915D-F369-8E37-AA3C-ED9CF3BB5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6279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8621-8FB5-5903-96F4-A3ED9B06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D63619-67C2-6EE1-258E-B374DDE7F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09C356-8423-8F10-2129-10834E731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AF1EB-1D1F-AF1A-46B6-7D73F209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07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3CFFE-5149-5B6F-C1BA-78631B90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C8FDB1-2815-4DCD-10E1-84823BC92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652802-8077-0432-63C2-E516471D0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9A5C57-638B-2D56-842E-971FF0C9DB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35644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7F7E-9BF3-61AF-1FBE-8C63D2E6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BE304C-4950-7A52-886C-9B19D7F54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405655-6AD2-6C7B-4798-76032C956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357D7A-FBC2-EB56-4D40-E2AE95466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8664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3225C-2154-76A3-A327-9E885800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AE232A-2A90-7870-75FE-AFBC5C5BB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28BC6E-87DB-719C-FF7F-53D413BE7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37F632-2E84-E2C9-BC59-9620D4780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43441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9CF7B-8173-49EF-EDFA-37657D166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0AFC12-53FD-0153-A545-DD233B603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FD70DF-8935-5D25-6FE6-014875ECC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1B42F-AE86-B9E1-FB28-6DBA969D0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0294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3145C-EFB3-DCE2-AA6B-E3949C37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186877-C011-21C2-3449-8A627607E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2E913B-49D6-5280-249C-EE2570C7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DACF8-9A5A-5DAE-FB56-534E11DC0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31139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B844-57FD-0837-270A-5DBFFA4A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99A8B-D1CE-386C-F2BA-D051F6CF6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0A9429-FBA6-26D3-C239-C89D5EF6C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6EBC97-8673-91DC-21D9-FC1019C60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81516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B2A5-C3D5-BD09-73F7-7E0A8C397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FE29D5-1605-BED6-E18F-BECF599E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80601B-2751-3037-CF3A-9902CA2EA7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F87CDE-A77F-8808-B890-A83232A98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56821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267D-D1AA-7B15-29CB-A528135C5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B3A805-AC9C-F0E6-2FA5-18A1F24D4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9C4B9E-9785-1051-2EAC-630608D7C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E122CF-88C7-84DE-EBC0-6A4A52F35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72938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26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D4029-41C4-F0DF-9167-C90D2D8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64C4C1-8DCB-A80C-7870-C195744F7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2E21E2-272D-6404-2DB4-72DF0839E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D5368-8123-6290-7E0D-89F00DB3E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3070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821C8-031D-CBD2-6BB0-39F98D22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36A359-67BC-6BB8-2024-BAA6520313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3FDE58-04C1-9601-EC9A-8066B1EEA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008E2-C13E-36BB-4972-31AC9A8EA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211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D51D4-7E75-FFF5-2137-1E4C91AB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077453-3F02-2F83-724A-F936A1DB2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91F07-45C7-BC59-5EC3-031876DDC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A774E-5051-3380-CCA0-299A08AEE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689132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2556-96D7-4789-5515-EFD96B5AA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D79C52-459A-0284-EED9-CE8457EEC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417B60-C7AC-119F-47B9-20C9E9A68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F1E58-F09A-39D3-0319-EC1BE43A3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0086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C99B-94AB-6FD7-5DE7-210F7DB6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56ECBC-6196-A411-0B87-66C87FA3EE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34401-22C1-497C-26DE-C7520ED56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D4C05D-70A3-607E-288B-80800AE4C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668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F3E1-8214-8FC6-7BA6-279709BE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67CF61-98C9-0F90-93E7-525B919FF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C09C2-033D-D4D6-7931-98448DEC3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2B8C5A-5A4A-A311-F1F4-EC295013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114224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43FD0-DC58-051C-AB65-9A2BDDAA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41BC25-937C-387F-D21D-DC940CE76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40EAD3-3BCA-4D38-6CFD-60C225F6C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E3F92-3A2C-0F75-250A-6AD4B2C4F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172397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1D1E-2FDE-FF1F-8DEE-D49DF80A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E9A801-2CA0-1117-B817-2DCE9A9A1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2EF457-C085-607E-218C-112B4B9E1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59CB1-4806-8F7D-9912-5DA344B12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479476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3E0F1-7B21-4F57-A7A5-EE96671FA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D50521-462A-5006-3D6A-71FFDFBCF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330A3-44E3-428E-90AC-317DF5586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36BAB-9F39-1449-C6DC-B9C57EBDF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61248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6BBD-4AD6-43BC-1332-8649FA0F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2FFEC0-339A-C35A-B0D8-C7842147B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A544E-6C05-95B3-233B-9B7289516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5D54AA-5EFD-95CB-5333-3ED1D0C9E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636810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E17A-73EE-6F4B-BA44-E024FC1D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99EF35-0DF1-D8DA-0C78-F72DCF1DC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29A451-5376-A7F3-C56F-22FFA6E3A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8FF5A-AE60-E1F3-8245-D2652EE44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04310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0557-27D1-6606-CBB8-4876C419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C75ECF-47FE-F129-74FA-1533B9261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A0A333-0EC1-2743-3D10-556AFA414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746C8-128B-7887-4119-33934CEE9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9306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2026-04-11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0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E02622F7-B412-D3AE-34CC-44CC99AE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338113"/>
            <a:ext cx="2743200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28A3BAFB-7A40-4072-A7FD-FB0EDC55F13F}" type="datetime1">
              <a:rPr lang="ko-KR" altLang="en-US" smtClean="0"/>
              <a:t>2026-04-11</a:t>
            </a:fld>
            <a:endParaRPr lang="en-US" dirty="0"/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21086B2D-0BBF-7448-422F-0EAD78082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338113"/>
            <a:ext cx="667286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endParaRPr lang="en-US" dirty="0"/>
          </a:p>
        </p:txBody>
      </p:sp>
      <p:sp>
        <p:nvSpPr>
          <p:cNvPr id="14" name="슬라이드 번호 개체 틀 5">
            <a:extLst>
              <a:ext uri="{FF2B5EF4-FFF2-40B4-BE49-F238E27FC236}">
                <a16:creationId xmlns:a16="http://schemas.microsoft.com/office/drawing/2014/main" id="{F2F60889-8102-9290-1B7C-A4994E8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38113"/>
            <a:ext cx="753545" cy="36512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35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2026-04-11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0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0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jpeg"/><Relationship Id="rId4" Type="http://schemas.microsoft.com/office/2007/relationships/hdphoto" Target="../media/hdphoto2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9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15462.courses.cs.cmu.edu/fall2019/lecture/transformations/slide_028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Spring_Data-Management/blob/main/LA/w3/w3_linear_transformation_image.ipynb" TargetMode="External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Vectors and Linear Transformations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n-US" altLang="ko-KR" sz="2400" dirty="0">
                <a:solidFill>
                  <a:schemeClr val="bg1"/>
                </a:solidFill>
              </a:rPr>
              <a:t>Vectors and their properties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AI generates images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BC5FCE3-9F1D-AE22-79BC-DDCF5A165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337DCDE-FEF5-0F8B-C410-D58DBCCB7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357" y="1956521"/>
            <a:ext cx="7801286" cy="30865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3EA20FE-92B1-260D-D0A7-6DC087B95F6F}"/>
              </a:ext>
            </a:extLst>
          </p:cNvPr>
          <p:cNvSpPr txBox="1"/>
          <p:nvPr/>
        </p:nvSpPr>
        <p:spPr>
          <a:xfrm>
            <a:off x="2275925" y="5331116"/>
            <a:ext cx="810574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6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AI-generated human faces.</a:t>
            </a:r>
          </a:p>
          <a:p>
            <a:pPr algn="l"/>
            <a:endParaRPr lang="en-US" altLang="ko-KR" sz="1600" b="0" i="0" u="none" strike="noStrike" baseline="0" dirty="0">
              <a:solidFill>
                <a:srgbClr val="595959"/>
              </a:solidFill>
              <a:latin typeface="Helvetica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altLang="ko-KR" sz="20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Generative learning: Generating realistic looking images.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FCFFE-6975-DA76-4E99-6540340A5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7625F92-9C55-6C9A-AC80-15BAFDDC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Text-to-image and image-to-text generation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3A65B66-9782-F220-82C1-E983A63C1F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F4E135-3091-70F4-1409-97816D38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53" y="1540297"/>
            <a:ext cx="10864493" cy="466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1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DC8FC-1345-873F-A6C3-D2B0CCFB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2FC3679-5A6F-B565-1054-5E0280FB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Math for Machine Learning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41241FB-BBA8-80A9-657D-4E4C0970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58DD3-2217-BA8B-05B1-F405206F1A26}"/>
              </a:ext>
            </a:extLst>
          </p:cNvPr>
          <p:cNvSpPr txBox="1"/>
          <p:nvPr/>
        </p:nvSpPr>
        <p:spPr>
          <a:xfrm>
            <a:off x="2530763" y="2023997"/>
            <a:ext cx="6126057" cy="3244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Vectors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Matrices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Dot product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Matrix multiplication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0" i="0" u="none" strike="noStrike" baseline="0" dirty="0">
                <a:solidFill>
                  <a:srgbClr val="595959"/>
                </a:solidFill>
                <a:latin typeface="Helvetica" panose="020B0604020202020204" pitchFamily="34" charset="0"/>
              </a:rPr>
              <a:t>Linear transformations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36156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D3AE7-002F-94A0-DA15-81A1CE31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9AFE555-A66B-E0EE-1EF0-831B635FB249}"/>
              </a:ext>
            </a:extLst>
          </p:cNvPr>
          <p:cNvSpPr/>
          <p:nvPr/>
        </p:nvSpPr>
        <p:spPr>
          <a:xfrm>
            <a:off x="895927" y="14579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41AB3BA-A98A-DDCE-D6EA-2DF42D6CE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BA6C3AD-7EE6-C223-FA76-995C4A40A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C5C255-490D-636C-8D95-CEBDAA0AD5B9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86724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77369-1E15-5F94-FD6C-4893AFE87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6F4CC8A-A34F-E8DB-36C1-48861498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750F1BC-B3A2-4A2B-32AC-7F76AD12B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1AD8E8-F92C-B59E-E547-66C8AC42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27" y="1852703"/>
            <a:ext cx="8891077" cy="41456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0BE70D-4CA4-2CB0-BEC0-19211FCF4328}"/>
              </a:ext>
            </a:extLst>
          </p:cNvPr>
          <p:cNvSpPr txBox="1"/>
          <p:nvPr/>
        </p:nvSpPr>
        <p:spPr>
          <a:xfrm>
            <a:off x="4491719" y="1483371"/>
            <a:ext cx="184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Magnitude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40E43-D0F1-86C6-26CC-845A42FD372C}"/>
              </a:ext>
            </a:extLst>
          </p:cNvPr>
          <p:cNvSpPr txBox="1"/>
          <p:nvPr/>
        </p:nvSpPr>
        <p:spPr>
          <a:xfrm>
            <a:off x="6964218" y="1483371"/>
            <a:ext cx="1293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Directions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64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8168-B4CB-EDC3-F03B-A7EA0A1C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A9CAEEF-B27D-AA57-D86C-91DFB02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How to get from point A to point B?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13B092-AF45-7633-00E2-956F5B47E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4D7549-714E-70B0-F534-DBE9F1401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80" y="2162319"/>
            <a:ext cx="5171440" cy="330560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310DD5-0E4E-DAAD-43B6-BF0E7EC4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327" y="2162319"/>
            <a:ext cx="5417524" cy="330560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2E2B37-481D-AA28-A78F-6E209973C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644" y="3861777"/>
            <a:ext cx="1483084" cy="12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0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79D3-EBD3-8C74-6A87-E0A0A666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EDF02BC-5198-B29A-7366-751855F5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Magnitude of a vector : Norms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DEC15DB-D751-1148-56EF-8FA0AA9E8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4E9B06-5AD2-910C-491C-0EB7C8D1C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545" y="1567861"/>
            <a:ext cx="9107056" cy="42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0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CE71-45C1-69AD-D1BA-90ED7919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EE9AF38-CEB4-CE92-FD4A-67DA9635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Directions of a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1BACD8-7AC3-35DC-08B0-32CA64C14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7F790AF-546F-DDB4-1BCC-B5AE896B5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349" y="1766528"/>
            <a:ext cx="9041302" cy="417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0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8E97C-2151-1C5E-E09C-A374A85EB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78BB0F6-F150-9C5F-8100-C7AF7EA02D58}"/>
              </a:ext>
            </a:extLst>
          </p:cNvPr>
          <p:cNvSpPr/>
          <p:nvPr/>
        </p:nvSpPr>
        <p:spPr>
          <a:xfrm>
            <a:off x="895927" y="20294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A174B7-C700-2393-D181-5F2F64D7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33AEDFA-2BDC-CABA-3658-3CEF57FFC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6629F0-7DA5-BA2A-C4E3-4A82AF3D3644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01168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7438-464C-9871-44EA-A6EF9204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EFB73B5-99A8-3C72-323F-E0D1BC61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Sum of 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A7D6C6D-554B-0CE7-B9CB-E64F1202C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D5E1BE-D3EA-5B94-D9B0-7F5833214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465" y="1673584"/>
            <a:ext cx="8705561" cy="4372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5BFE32-45E4-2A15-928A-9CE131513366}"/>
              </a:ext>
            </a:extLst>
          </p:cNvPr>
          <p:cNvSpPr txBox="1"/>
          <p:nvPr/>
        </p:nvSpPr>
        <p:spPr>
          <a:xfrm>
            <a:off x="6195925" y="4135120"/>
            <a:ext cx="41312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(4,1)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step</a:t>
            </a:r>
          </a:p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                       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steps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를 이동하여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(5,4)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변환</a:t>
            </a:r>
          </a:p>
        </p:txBody>
      </p:sp>
    </p:spTree>
    <p:extLst>
      <p:ext uri="{BB962C8B-B14F-4D97-AF65-F5344CB8AC3E}">
        <p14:creationId xmlns:p14="http://schemas.microsoft.com/office/powerpoint/2010/main" val="8280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58398-53BF-B7C7-C392-13992B34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BBA3211-57DC-3892-75C0-8C06C4E4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Difference of vectors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6328B71-E75F-7656-EDD4-69D5DBDD4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C51810-18DA-1AA2-AA8B-5FF03366F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70" y="1609799"/>
            <a:ext cx="9249803" cy="448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9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35ED-33D5-2D04-D537-DD2E0190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BAFAD30-5510-B217-B452-B030AF4A5DD9}"/>
              </a:ext>
            </a:extLst>
          </p:cNvPr>
          <p:cNvSpPr/>
          <p:nvPr/>
        </p:nvSpPr>
        <p:spPr>
          <a:xfrm>
            <a:off x="895927" y="25501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7AB27499-2DFD-C511-4A90-C2C5225A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909B4E0-B8CF-E1D9-1585-996D15AF6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379D50-8CFD-4AE1-C17B-4958F7D355EF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73013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D5FAD-8A2F-FA96-55D9-B2684736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441D07F-6074-2559-7FEB-2DCF28CFB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4965BC4-F65C-898B-45F8-0D47E2E73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9194DC-5BDD-C84C-779E-73099D50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271" y="1980997"/>
            <a:ext cx="4454268" cy="38578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08F7AB4-C124-7A6B-6533-EB21CAE1E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615" y="1980997"/>
            <a:ext cx="4527113" cy="393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4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BF06-6587-0F18-C2F8-15FB1D19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1AB74A8-DF66-8FD3-303E-08910ABB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BDC61F9-64AE-4E76-1FE0-F0B0E21F0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A6EC3D-149D-7DA0-CD6A-C967F89C1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6" y="1847646"/>
            <a:ext cx="9055909" cy="395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7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FB1-E1E2-8E62-3792-451CCC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AFAD1A-77BE-E3E5-1484-C0ADD05F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Distances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5552FD-DD84-8A7B-2402-09539384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D01898-5783-BACA-90B1-5A85C6E33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49" y="1801459"/>
            <a:ext cx="10301258" cy="4402493"/>
          </a:xfrm>
          <a:prstGeom prst="rect">
            <a:avLst/>
          </a:prstGeom>
        </p:spPr>
      </p:pic>
      <p:pic>
        <p:nvPicPr>
          <p:cNvPr id="7" name="그래픽 6" descr="우주비행 접시 단색으로 채워진">
            <a:extLst>
              <a:ext uri="{FF2B5EF4-FFF2-40B4-BE49-F238E27FC236}">
                <a16:creationId xmlns:a16="http://schemas.microsoft.com/office/drawing/2014/main" id="{5192A352-5678-CFF5-44F8-AC65840C6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7757" y="41592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4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1C30-309B-6E16-7945-FD240F16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9765C84-1DB6-3249-216F-C4FC92578286}"/>
              </a:ext>
            </a:extLst>
          </p:cNvPr>
          <p:cNvSpPr/>
          <p:nvPr/>
        </p:nvSpPr>
        <p:spPr>
          <a:xfrm>
            <a:off x="895927" y="31343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49816D8-1868-17C4-A15F-AC9C9C85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6D0CDA9-93F3-9323-ED52-61608985A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549AB1-F18D-8E23-7392-47F22663BCE2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20278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550D-7B1C-DFCD-85C6-B112F08F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B801C2B-CCD8-061D-3962-61B02A07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Multiplying a vector by a scalar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A33F796-113F-7B5B-1167-56D83BD7D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241D609-8E85-3177-27A3-3BC62F19C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5" y="2198042"/>
            <a:ext cx="4929525" cy="295577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05E282A-05EB-E653-0CC7-1AAF91AD2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41" y="2164700"/>
            <a:ext cx="4601217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5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D97D7-BCAF-8EB9-802E-453E00DCA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3902D77-536E-7832-4DC6-30DDC4DA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Directions of a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7931B46-1782-200B-70D2-9CA199439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B5020E-EFA3-1D57-5BEA-0A7B2BAD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32" y="2178989"/>
            <a:ext cx="4915586" cy="293410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066D514-77E4-64D8-F749-6AC65E7F3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842" y="2159936"/>
            <a:ext cx="494416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09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DFFE-7A19-B7EF-66D4-31ED1E0F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C53C07E-B958-76C3-D320-ECD3350975E9}"/>
              </a:ext>
            </a:extLst>
          </p:cNvPr>
          <p:cNvSpPr/>
          <p:nvPr/>
        </p:nvSpPr>
        <p:spPr>
          <a:xfrm>
            <a:off x="895927" y="3655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B5EC996E-F39D-2F39-82EA-D4063CF0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0025519-EBC6-1FDC-010A-E01B0936D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0BE4F5-E28B-3CB5-3C3B-70993EAACC65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31882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1820-64D6-1542-D441-CB3900E6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1FA782F-3CAE-1CCB-CBD1-24609C18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A shortcut for linear operations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ECA6E84-964A-72E9-070B-11981F13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998EA7-E1D8-9700-F5E7-08239392D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44" y="2123893"/>
            <a:ext cx="6716062" cy="261021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2AFB7FD-5242-0658-9A46-C85595516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9302" y="2123893"/>
            <a:ext cx="338184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4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E06E-7F13-B0E8-4027-DDB3528C2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748485B-6BB0-0A45-AF2B-39EBEDFC8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E651AA8-F9E0-90A8-8B32-9AE9E06DF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4BC85-36F4-9EB3-EE41-A473ED022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503" y="1933437"/>
            <a:ext cx="4414655" cy="2590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05E932-3D1F-6D14-E891-380BBA008709}"/>
              </a:ext>
            </a:extLst>
          </p:cNvPr>
          <p:cNvSpPr txBox="1"/>
          <p:nvPr/>
        </p:nvSpPr>
        <p:spPr>
          <a:xfrm>
            <a:off x="3785588" y="482810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(1 x 3)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99CA3-2E70-2C44-0099-1EB039F0DF22}"/>
              </a:ext>
            </a:extLst>
          </p:cNvPr>
          <p:cNvSpPr txBox="1"/>
          <p:nvPr/>
        </p:nvSpPr>
        <p:spPr>
          <a:xfrm>
            <a:off x="5292575" y="482810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 x 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499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DC5A-70FB-8825-2873-3AB14C5D4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9B36C0F-7214-988F-F2F8-7D6B3EABC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241918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 calculating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the means of each person using dot product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9112F4-EB4F-CDF5-68F1-8A14BD6CB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37D3AA26-5CD6-2135-0AF4-AC5381388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16F5D-2658-61A4-4865-0E7232C46080}"/>
              </a:ext>
            </a:extLst>
          </p:cNvPr>
          <p:cNvSpPr txBox="1"/>
          <p:nvPr/>
        </p:nvSpPr>
        <p:spPr>
          <a:xfrm>
            <a:off x="521207" y="1426488"/>
            <a:ext cx="1103261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학생의 국어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영어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수학의 점수를 평균이 각각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65, 80, 75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10, 20, 30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가상의 데이터를 생성하고 모든 학생의 평균을 내적을 이용하여 구하라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683A7F-B411-F501-8529-D9F7288DC90E}"/>
              </a:ext>
            </a:extLst>
          </p:cNvPr>
          <p:cNvSpPr txBox="1"/>
          <p:nvPr/>
        </p:nvSpPr>
        <p:spPr>
          <a:xfrm>
            <a:off x="1419225" y="2986162"/>
            <a:ext cx="4333875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국어    영어   수학 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| </a:t>
            </a:r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평균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(</a:t>
            </a:r>
            <a:r>
              <a:rPr lang="ko-KR" altLang="en-US" sz="1600" b="0" i="0" dirty="0">
                <a:effectLst/>
                <a:latin typeface="Courier New" panose="02070309020205020404" pitchFamily="49" charset="0"/>
              </a:rPr>
              <a:t>내적 계산</a:t>
            </a:r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)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66.57 79.38 78.55 | 74.83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69.82 78.95 73.72 | 74.16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69.99 83.43 72.43 | 75.28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66.72 77.93 72.45 | 72.36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65.77 71.44 65.55 | 67.59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63.22 75.47 76.72 | 71.80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62.13 73.68 83.03 | 72.95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64.29 80.30 67.20 | 70.59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63.28 80.50 68.70 | 70.82 </a:t>
            </a:r>
          </a:p>
          <a:p>
            <a:r>
              <a:rPr lang="en-US" altLang="ko-KR" sz="1600" b="0" i="0" dirty="0">
                <a:effectLst/>
                <a:latin typeface="Courier New" panose="02070309020205020404" pitchFamily="49" charset="0"/>
              </a:rPr>
              <a:t>66.19 77.31 73.40 | 72.30</a:t>
            </a:r>
            <a:endParaRPr lang="ko-KR" altLang="en-US" sz="16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94F39E3-A37A-EEF0-6C6E-66EDA231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177" y="2986162"/>
            <a:ext cx="3901778" cy="140982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993212A-5A08-24AE-9807-8FDAD0115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177" y="2698985"/>
            <a:ext cx="1729890" cy="3581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E8D8E4-3D33-33D7-B45D-220ABFC39CDB}"/>
              </a:ext>
            </a:extLst>
          </p:cNvPr>
          <p:cNvSpPr txBox="1"/>
          <p:nvPr/>
        </p:nvSpPr>
        <p:spPr>
          <a:xfrm>
            <a:off x="7286625" y="4562475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(100, 3)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49CFA0-63D9-3513-1F0A-B0A0AC2FA937}"/>
              </a:ext>
            </a:extLst>
          </p:cNvPr>
          <p:cNvSpPr txBox="1"/>
          <p:nvPr/>
        </p:nvSpPr>
        <p:spPr>
          <a:xfrm>
            <a:off x="8839200" y="4533900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46DEA0-99D7-B66F-5806-9E91FC02B908}"/>
              </a:ext>
            </a:extLst>
          </p:cNvPr>
          <p:cNvSpPr txBox="1"/>
          <p:nvPr/>
        </p:nvSpPr>
        <p:spPr>
          <a:xfrm>
            <a:off x="9763125" y="4528246"/>
            <a:ext cx="78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(100, 1)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9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5B3C8-174B-5555-9DEB-F3EBA2B8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A07119CE-57BA-F8CC-E55E-76EF84FD0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dot product of matrix, vector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0768BA-9E80-AF1E-F43E-85C022C85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750CF9-F2D0-89EE-1022-78AA6913F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2" y="3093691"/>
            <a:ext cx="2629128" cy="67061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8C1C89E-E728-B952-F4B4-B8DE0387B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417" y="1572877"/>
            <a:ext cx="3209810" cy="103226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DD1C1C7-A96C-70EA-FF6A-94079BBF4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69" y="1572877"/>
            <a:ext cx="4968671" cy="77730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A09F517-9503-69C3-0CBF-219B00853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2" y="4520851"/>
            <a:ext cx="3741744" cy="104403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692C53E-B2D9-7353-222F-88D8940190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4141" y="4520851"/>
            <a:ext cx="2731776" cy="106954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BC221F1-EF4B-667E-66FA-4AEB211657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7837" y="4520851"/>
            <a:ext cx="2724963" cy="107636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A9FF22-5671-C7E5-7FA4-3CC9A8ED22AD}"/>
              </a:ext>
            </a:extLst>
          </p:cNvPr>
          <p:cNvSpPr txBox="1"/>
          <p:nvPr/>
        </p:nvSpPr>
        <p:spPr>
          <a:xfrm>
            <a:off x="3181350" y="2350184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40244-A176-1617-3689-6171E6062096}"/>
              </a:ext>
            </a:extLst>
          </p:cNvPr>
          <p:cNvSpPr txBox="1"/>
          <p:nvPr/>
        </p:nvSpPr>
        <p:spPr>
          <a:xfrm>
            <a:off x="3711733" y="2350184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E3A75-AA5F-6D6A-CF26-45332F504733}"/>
              </a:ext>
            </a:extLst>
          </p:cNvPr>
          <p:cNvSpPr txBox="1"/>
          <p:nvPr/>
        </p:nvSpPr>
        <p:spPr>
          <a:xfrm>
            <a:off x="4511293" y="2350184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0EF8C3-F886-D40E-3F6C-7E2F57A8FB15}"/>
              </a:ext>
            </a:extLst>
          </p:cNvPr>
          <p:cNvSpPr txBox="1"/>
          <p:nvPr/>
        </p:nvSpPr>
        <p:spPr>
          <a:xfrm>
            <a:off x="7127174" y="2628840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194F4-2A3E-CC7F-4C02-E01ABD59BE16}"/>
              </a:ext>
            </a:extLst>
          </p:cNvPr>
          <p:cNvSpPr txBox="1"/>
          <p:nvPr/>
        </p:nvSpPr>
        <p:spPr>
          <a:xfrm>
            <a:off x="7961817" y="2628840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2D680D-57BF-5487-54A3-B6824FBDDB86}"/>
              </a:ext>
            </a:extLst>
          </p:cNvPr>
          <p:cNvSpPr txBox="1"/>
          <p:nvPr/>
        </p:nvSpPr>
        <p:spPr>
          <a:xfrm>
            <a:off x="9410382" y="2628840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C48A55-E9C8-B557-5E6B-A7D55FC170FE}"/>
              </a:ext>
            </a:extLst>
          </p:cNvPr>
          <p:cNvSpPr txBox="1"/>
          <p:nvPr/>
        </p:nvSpPr>
        <p:spPr>
          <a:xfrm>
            <a:off x="1421699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(3, 3)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25C68F-4B76-774B-7E76-B93A29F13E18}"/>
              </a:ext>
            </a:extLst>
          </p:cNvPr>
          <p:cNvSpPr txBox="1"/>
          <p:nvPr/>
        </p:nvSpPr>
        <p:spPr>
          <a:xfrm>
            <a:off x="3497302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10BA25-342E-F02B-C0B2-02348A7453EA}"/>
              </a:ext>
            </a:extLst>
          </p:cNvPr>
          <p:cNvSpPr txBox="1"/>
          <p:nvPr/>
        </p:nvSpPr>
        <p:spPr>
          <a:xfrm>
            <a:off x="8063341" y="5620919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057AC-9546-6A7A-77E7-DCAFAA4F6EF5}"/>
              </a:ext>
            </a:extLst>
          </p:cNvPr>
          <p:cNvSpPr txBox="1"/>
          <p:nvPr/>
        </p:nvSpPr>
        <p:spPr>
          <a:xfrm>
            <a:off x="1398861" y="3727826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2E7B9F-8527-0CB2-E24B-1E696D95EC53}"/>
              </a:ext>
            </a:extLst>
          </p:cNvPr>
          <p:cNvSpPr txBox="1"/>
          <p:nvPr/>
        </p:nvSpPr>
        <p:spPr>
          <a:xfrm>
            <a:off x="795220" y="3727826"/>
            <a:ext cx="599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(1, 2)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7C9E84-9C3E-AE36-0819-7F107CCA815B}"/>
              </a:ext>
            </a:extLst>
          </p:cNvPr>
          <p:cNvSpPr txBox="1"/>
          <p:nvPr/>
        </p:nvSpPr>
        <p:spPr>
          <a:xfrm>
            <a:off x="2449960" y="3727826"/>
            <a:ext cx="5677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473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0399-5228-2FFC-98DF-7CFD164F7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027CBCC-9297-8C6C-A4DD-D42599C8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Norm of a vector using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317E633-237F-6EDA-1407-D53355B760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521B58D-8E47-5ADC-B735-A83DCC0F1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59" y="2188515"/>
            <a:ext cx="3086531" cy="291505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0A02A3A-471D-A442-0CF1-303E151D1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013" y="2188515"/>
            <a:ext cx="3038899" cy="29055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37AA08-CE70-8335-48BE-9554C7952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9751" y="5103572"/>
            <a:ext cx="2048161" cy="137179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FDEAA1E-1BDE-540D-0595-B1CD0C4E5D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820" y="2209905"/>
            <a:ext cx="3077004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83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34A9-645B-3BD1-F42A-1E5AE05B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761283-1E4C-D69C-5CB6-3B2DD2CF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Norm of a vector using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8384D31-59C7-BA2C-B280-F701BCC02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9E2EF6-251A-A88C-161F-F6BB6CA99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36" y="1866689"/>
            <a:ext cx="7919728" cy="35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A4E6-6E91-37AB-D0BE-14117C766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3E5FE9-7FF9-2A57-C0B7-FDF3FDB2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Norm of a vector using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9FBFBF6-B048-CC20-FD91-C10F1587D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27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F5CDC1-955C-D48A-BA6E-8EBE3BFBE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36" y="1866689"/>
            <a:ext cx="7919728" cy="35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52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92FF7-0182-F249-E33C-D2C252C7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1F397B-EC60-363F-6EFE-41E0B072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Norm of a vector using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3FC1FC6-378E-15A1-36CF-57E2BC3EBF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28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28D29D3-F406-4CB7-E33E-63D0FBC7B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136" y="1866689"/>
            <a:ext cx="7919728" cy="35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1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4690-6086-A2ED-6913-DE7CDB33C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3556207-0A2B-752D-E64F-9B9E18CA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346568" cy="640080"/>
          </a:xfrm>
        </p:spPr>
        <p:txBody>
          <a:bodyPr rtlCol="0">
            <a:normAutofit fontScale="90000"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Variance &amp; Covariance of a vector using dot product</a:t>
            </a:r>
            <a:endParaRPr lang="ko" dirty="0"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8D25767-53CE-C920-A7E0-92A96B9F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29</a:t>
            </a:fld>
            <a:endParaRPr lang="ko-KR" altLang="en-US" noProof="0"/>
          </a:p>
        </p:txBody>
      </p:sp>
      <p:pic>
        <p:nvPicPr>
          <p:cNvPr id="5" name="Picture 4" descr="테이블 위에 앉아 있는 루빅 큐브">
            <a:extLst>
              <a:ext uri="{FF2B5EF4-FFF2-40B4-BE49-F238E27FC236}">
                <a16:creationId xmlns:a16="http://schemas.microsoft.com/office/drawing/2014/main" id="{BA2748F5-6F4D-18FD-1BCE-23DE76BCF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42CD59-4A2B-6E3E-B1FF-1291C0BC1771}"/>
              </a:ext>
            </a:extLst>
          </p:cNvPr>
          <p:cNvSpPr txBox="1"/>
          <p:nvPr/>
        </p:nvSpPr>
        <p:spPr>
          <a:xfrm>
            <a:off x="521207" y="1426488"/>
            <a:ext cx="11032618" cy="9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사용하여 각 변수에서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평균차감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(Mean Centering)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한 후에 내적을 이용한 분산과 공분산을 구하라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data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 [2.5, 2.4], [0.5, 0.7], [2.2, 2.9], [1.9, 2.2], [3.1, 3.0], [2.3, 2.7], [2.0, 1.6], [1.0, 1.1], [1.5, 1.6], [1.1, 0.9] ])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3499E7-1ED4-F0A0-3FF6-F7A55DB34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768" y="2763640"/>
            <a:ext cx="3290544" cy="33754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04EF1F9-C8F7-A1A6-6B4E-7BAA75973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53" y="3221455"/>
            <a:ext cx="3068109" cy="57356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E18AFBE-F894-7D1C-1F41-D3BC182F9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053" y="4169616"/>
            <a:ext cx="3450483" cy="6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DF1D5-A05D-AEED-E98C-0554BDE9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6DE98D62-C4CA-D083-42E1-7177B699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30</a:t>
            </a:fld>
            <a:endParaRPr lang="en-US" sz="2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67647D6-E586-4953-AC23-D502780608A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851" y="2193801"/>
            <a:ext cx="3493480" cy="16903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CCCE8E2-148B-F3D0-98EB-9A973DD2A5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2253348"/>
            <a:ext cx="3852049" cy="150598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555B3B8-885E-712C-52AB-4FCF7DF05CE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2101" y="4503381"/>
            <a:ext cx="3299599" cy="92482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25F1F7-D7B1-B08D-29F3-0FD4E2185785}"/>
              </a:ext>
            </a:extLst>
          </p:cNvPr>
          <p:cNvSpPr txBox="1"/>
          <p:nvPr/>
        </p:nvSpPr>
        <p:spPr>
          <a:xfrm>
            <a:off x="581025" y="1723384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연립선형방정식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(System of Linear Equations)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336A03-1E2E-2809-4249-9EFC05E6C4E5}"/>
              </a:ext>
            </a:extLst>
          </p:cNvPr>
          <p:cNvSpPr txBox="1"/>
          <p:nvPr/>
        </p:nvSpPr>
        <p:spPr>
          <a:xfrm>
            <a:off x="6372225" y="1759253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/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1AAC71A-5047-7A37-F9D5-0326B3C07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5814" y="1723384"/>
                <a:ext cx="2158523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67F56509-EA45-5AA7-1053-C90C622BE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10390"/>
            <a:ext cx="10364451" cy="514958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cs typeface="Segoe UI Light" panose="020B0502040204020203" pitchFamily="34" charset="0"/>
              </a:rPr>
              <a:t>System of Linear Equations </a:t>
            </a:r>
            <a:endParaRPr lang="ko-KR" altLang="en-US" dirty="0">
              <a:solidFill>
                <a:schemeClr val="bg2">
                  <a:lumMod val="25000"/>
                </a:schemeClr>
              </a:solidFill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831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13DF1-6E03-4F16-9134-C864D23A7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AE2D8DA-B69B-3B85-38F7-5B9148B9B6F8}"/>
              </a:ext>
            </a:extLst>
          </p:cNvPr>
          <p:cNvSpPr/>
          <p:nvPr/>
        </p:nvSpPr>
        <p:spPr>
          <a:xfrm>
            <a:off x="895927" y="42392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F9D046EE-FD5C-B162-5149-0BEB537D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8441AC-93FA-F1F7-6ED6-1055F2DB1D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31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9C743F-0167-E52F-F043-1A45DC591BC8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426773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9040-27FC-D037-FD0A-29E15CE1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F6FD1D-34A8-1000-1468-64F7A859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Orthogonal vectors have dot product 0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7A97FBE-2E4B-A450-D392-A79B6EC4F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1D4081-BF8F-4356-7C9A-23902740F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174" y="1785651"/>
            <a:ext cx="4305901" cy="410584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51C354-40DB-147D-E480-95DC3096D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153" y="1785651"/>
            <a:ext cx="2819794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31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384D-1BCA-4A59-E959-AE78A2D9B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B59542F-3FB0-23B0-727C-182A5B558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E79E82-A920-AD9B-45C8-AD9129F0F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33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CA95B7F-A55C-7CA4-9772-E369FB2CB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233" y="1936068"/>
            <a:ext cx="563958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973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B6AF-8E99-E870-7771-4445E54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D707525-BF5B-10CA-ED06-63047E36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4C6EA8-0778-273F-E2CA-86DC793E5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254D18-31A2-88D1-0BF3-746EDC9DD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631" y="2217825"/>
            <a:ext cx="6001588" cy="37819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A30F9F-1156-708A-94F4-04C1539F7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5" y="4218354"/>
            <a:ext cx="5449060" cy="178142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B8B17BB-60E6-7F14-D6CE-A31ECE5C53D4}"/>
              </a:ext>
            </a:extLst>
          </p:cNvPr>
          <p:cNvCxnSpPr/>
          <p:nvPr/>
        </p:nvCxnSpPr>
        <p:spPr>
          <a:xfrm>
            <a:off x="5695950" y="4779659"/>
            <a:ext cx="6854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/>
              <p:nvPr/>
            </p:nvSpPr>
            <p:spPr>
              <a:xfrm>
                <a:off x="600075" y="1498140"/>
                <a:ext cx="88063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벡터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크기와 방향이 변함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로 벡터</a:t>
                </a:r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투영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(projection)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되었다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  <a:endParaRPr lang="ko-KR" altLang="en-US" sz="2000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20219FD-B2B1-ECEE-03A8-C9B04048A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" y="1498140"/>
                <a:ext cx="8806385" cy="400110"/>
              </a:xfrm>
              <a:prstGeom prst="rect">
                <a:avLst/>
              </a:prstGeom>
              <a:blipFill>
                <a:blip r:embed="rId5"/>
                <a:stretch>
                  <a:fillRect l="-692" t="-9231" r="-484" b="-2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69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FED9C-642C-6E7D-13CE-A5CBE78C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C866586-1090-BCE6-24BD-EF368759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The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64BB9C7-B94F-8703-83F3-91E64442B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35</a:t>
            </a:fld>
            <a:endParaRPr lang="ko-KR" altLang="en-US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A97CE9-5B01-4BE8-31BE-514F9A3FA5CF}"/>
              </a:ext>
            </a:extLst>
          </p:cNvPr>
          <p:cNvSpPr txBox="1"/>
          <p:nvPr/>
        </p:nvSpPr>
        <p:spPr>
          <a:xfrm>
            <a:off x="600075" y="1498140"/>
            <a:ext cx="8258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내적을 구하고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cos()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각과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이용한 수식과 비교하라</a:t>
            </a:r>
          </a:p>
        </p:txBody>
      </p:sp>
      <p:pic>
        <p:nvPicPr>
          <p:cNvPr id="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500A6951-0D33-9CF0-C1CB-54740BF93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2C5599D2-5CB2-2D4D-EB27-36F32BB1C176}"/>
              </a:ext>
            </a:extLst>
          </p:cNvPr>
          <p:cNvGrpSpPr/>
          <p:nvPr/>
        </p:nvGrpSpPr>
        <p:grpSpPr>
          <a:xfrm>
            <a:off x="590550" y="2308254"/>
            <a:ext cx="5505450" cy="3895698"/>
            <a:chOff x="590550" y="2308254"/>
            <a:chExt cx="6235605" cy="43129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70ACE0D-40F9-AA36-E971-355B7AD33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075" y="2308254"/>
              <a:ext cx="6226080" cy="354360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CED7419-46BA-2937-2AF0-DAA74BCA7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0550" y="5539060"/>
              <a:ext cx="6226080" cy="1082134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675D88-1DBF-5A46-AE04-D61EDD024110}"/>
              </a:ext>
            </a:extLst>
          </p:cNvPr>
          <p:cNvSpPr txBox="1"/>
          <p:nvPr/>
        </p:nvSpPr>
        <p:spPr>
          <a:xfrm>
            <a:off x="6296025" y="2308254"/>
            <a:ext cx="5543550" cy="393460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([3, 5]); v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np.array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([6, 2])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np.dot(u, v)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(u);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np.linalg.norm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(v)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Calculate the cosine of the angle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/ 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altLang="ko-KR" sz="1200" b="0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f"Vector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u and v: {u} and {v}")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f"Dot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product (u · v): {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dot_product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f"Norm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u (||u||) and v (||v||): {norm_u:.2f} &amp; {norm_v:.2f}")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f"Cosine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the angle (cos(theta)): {cos_theta:.4f}")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print(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f"Result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*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cos_theta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{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norm_u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</a:t>
            </a: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norm_v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* cos_theta:.2f}")</a:t>
            </a:r>
          </a:p>
        </p:txBody>
      </p:sp>
    </p:spTree>
    <p:extLst>
      <p:ext uri="{BB962C8B-B14F-4D97-AF65-F5344CB8AC3E}">
        <p14:creationId xmlns:p14="http://schemas.microsoft.com/office/powerpoint/2010/main" val="31892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FF3A9-DA07-005D-AA1B-03AF081A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DC4760A-E26A-BC72-7F4A-10363D5C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287C0EC-E537-21CA-8060-E33FAEE2D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1A4F65-BCF2-12CC-2198-60473B61D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83" y="1947574"/>
            <a:ext cx="920243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0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3F83-0552-F82F-7B03-1738832D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FDDD879-5D18-29C9-68B7-C3DE1F3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CBF237C-AB0E-F99E-CDCC-14854D556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8BE910-A271-D9B7-E8BD-092DD625B2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7649" y="1866606"/>
            <a:ext cx="8973802" cy="4210638"/>
          </a:xfrm>
          <a:prstGeom prst="rect">
            <a:avLst/>
          </a:prstGeom>
        </p:spPr>
      </p:pic>
      <p:pic>
        <p:nvPicPr>
          <p:cNvPr id="4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69C126D5-6554-F909-3B56-56EB06D67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36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2981-E7F5-BD9E-1EBB-958C1F8A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0C500A8-A0DF-0D2C-C47B-8A4138AC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Geometric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1B2E616-996B-3727-BC95-522EBCAFB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38</a:t>
            </a:fld>
            <a:endParaRPr lang="ko-KR" altLang="en-US" noProof="0"/>
          </a:p>
        </p:txBody>
      </p:sp>
      <p:pic>
        <p:nvPicPr>
          <p:cNvPr id="4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CF7B321D-19E7-48F8-D801-C9C16513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624AD68-A456-813C-6081-23E74576B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019" y="1343024"/>
            <a:ext cx="5771601" cy="2246333"/>
          </a:xfrm>
          <a:prstGeom prst="rect">
            <a:avLst/>
          </a:prstGeom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C8007836-D907-5A4F-4B40-5286E0485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5" y="1343024"/>
            <a:ext cx="5169264" cy="527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50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D4F8-9A18-286E-45B8-A222CD86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B2CBAE-3E14-3D36-DCD3-56DFFEA7CE12}"/>
              </a:ext>
            </a:extLst>
          </p:cNvPr>
          <p:cNvSpPr/>
          <p:nvPr/>
        </p:nvSpPr>
        <p:spPr>
          <a:xfrm>
            <a:off x="895927" y="4798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9CBED91F-418A-DCBD-1FD6-45F69A7E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6C6549F-292C-C34A-14BC-E647EF285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39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E448B-AA45-52C3-8EE8-584ED50DE356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447044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E324-E0CD-5A28-55F8-CB6D72FB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027950A-8E46-4BBA-E998-57641812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Equations as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447202A-051C-84A2-B587-2FBDE929A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C972B1-5E51-B3A3-8024-554DD022C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98" y="2326647"/>
            <a:ext cx="10421804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7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9B61-D7AD-0692-CBCA-EB7EABC5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26E2484-4DEC-E82D-5626-8A1E435E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Equations as dot product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4CF7A87-3DA4-EC22-1897-43FD34D01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822F5F-9389-000A-0755-46FF9F7D5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67" y="1904787"/>
            <a:ext cx="9250066" cy="30484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F8D0940-13EC-A9D2-23DD-7F46A6CAC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954" y="4953212"/>
            <a:ext cx="2981741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1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020723-0294-B282-4C97-3801608209F4}"/>
              </a:ext>
            </a:extLst>
          </p:cNvPr>
          <p:cNvSpPr/>
          <p:nvPr/>
        </p:nvSpPr>
        <p:spPr>
          <a:xfrm>
            <a:off x="895927" y="53060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42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5510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3753-8306-57B2-FE48-ECFF4963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60FFE80D-E5F6-620B-9D84-FAF3AE230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82" y="1602468"/>
            <a:ext cx="9974067" cy="436305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1E47F95-F882-478D-F7DF-4C068EC0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82" y="1608815"/>
            <a:ext cx="10040751" cy="4363059"/>
          </a:xfrm>
          <a:prstGeom prst="rect">
            <a:avLst/>
          </a:prstGeom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C5C12061-E184-BFAF-6EDC-1062E97B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5B7DEA5-163B-1E9C-B0CC-36AFCF671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43</a:t>
            </a:fld>
            <a:endParaRPr lang="ko-KR" altLang="en-US" noProof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490703-3E48-BC9A-0C3C-E47187983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782" y="1596121"/>
            <a:ext cx="10097909" cy="4344006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1F539E0-9668-0BC9-D169-6C0652A601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782" y="1602468"/>
            <a:ext cx="10097909" cy="424874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4E913F3-5ED0-9921-CB83-2D49023C4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492" y="1583415"/>
            <a:ext cx="10021699" cy="438211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0249B8-01A7-7726-05F8-4F03025BA8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9466" y="1589774"/>
            <a:ext cx="10031225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3803-2E88-410A-26AB-9D97A5798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D57620C-FEAB-58CD-7DA6-1EC02043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BF795E-892F-3B4F-6456-F3D03FBB6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F42B6B-6906-5BFA-817F-3E677AE1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71" y="1777702"/>
            <a:ext cx="10078857" cy="42677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457A5F5-CA3C-3CA5-2C19-BEF3A64FD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18" y="1739597"/>
            <a:ext cx="1011696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0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13492-9963-3D52-0947-10B4099C7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E153DBB-56E5-609F-7E49-AA3D74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A00246E-87D3-A960-C0C5-F8C8FA53D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8BE07DB-7409-ADC6-8868-51DFD1E2F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7" y="1488330"/>
            <a:ext cx="10212225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0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0EB70-F775-CC00-F3EA-9F1B0C48D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182F76C-8226-F9B9-1C28-50DCCA3F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5A7785E-0842-C1A8-8E9B-DC493704E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46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D985E0-21FE-1D2B-19BA-76FEA38E9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085" y="1733244"/>
            <a:ext cx="10069330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33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0CC9-200E-6B90-3662-8F05478E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06E895C-4FD8-FE9E-FD47-BE7B2A0A6867}"/>
              </a:ext>
            </a:extLst>
          </p:cNvPr>
          <p:cNvSpPr/>
          <p:nvPr/>
        </p:nvSpPr>
        <p:spPr>
          <a:xfrm>
            <a:off x="895927" y="58267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723F8E7B-4168-165E-9357-260C3EE6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B414DE3-C0EC-C1BE-3376-F6C6A6320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47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63D80-3764-3DE2-BF3E-848BCA3F8EBD}"/>
              </a:ext>
            </a:extLst>
          </p:cNvPr>
          <p:cNvSpPr txBox="1"/>
          <p:nvPr/>
        </p:nvSpPr>
        <p:spPr>
          <a:xfrm>
            <a:off x="1764145" y="1384043"/>
            <a:ext cx="7250546" cy="500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Vectors and their properties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Sum and difference of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Distance between vectors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vector by a scalar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Geometric dot product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Multiplying a matrix by a vector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Matrices as linear transformations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9106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282B4-0B1E-426E-F808-4DA4659F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C3A5648-3DB8-0D5D-F11D-66D2BD93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Combining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8A1ACEA-9723-88AF-47F1-5EC1C49AD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B64D1B-60DD-7BC8-6628-B820CCD99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25" y="1890498"/>
            <a:ext cx="8230749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62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23506-F0E4-347E-7CB6-04712972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3FFF17D-123F-ECD4-080C-80C8D3C1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94DBF68-8525-CBA2-202A-F2B2845FA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E08CC3A-F53D-5B19-D9A4-0074BE91A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336" y="1804761"/>
            <a:ext cx="8259328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C6AE-B650-0E5E-3E03-19A29E00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A1C812A-01B6-E203-756F-E51560E9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DF94F90-956A-5685-B322-183A268F2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6E5005-1548-D274-A913-5ABA38653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35" y="1642813"/>
            <a:ext cx="9888330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1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A531-C904-DB75-4600-4BD48B1D9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0B24E50-EFCF-CB4C-E583-032854E5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85EC5DF-8857-0EF5-B250-7E8A5C29C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20D2286-045A-3DE5-14A2-6BF0E457B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440" y="1516909"/>
            <a:ext cx="9993120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5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4C57A-DF1C-BC28-8D65-AEDC45F9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36363FE-BF70-35AB-2B9D-448D9876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5BC6F52-315C-C650-5CAE-63B6854AF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B0CE895-9378-DCE6-1D61-16312F695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1" y="1753891"/>
            <a:ext cx="1005027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7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C8EF4-D5BB-41F9-8899-7ED825A3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D288A56-6BFD-8F25-21E4-884B0314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5E85FA-E083-B420-FBBC-D19DBF3BA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53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736F38-7EF2-1526-EEF9-6E7D618DD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898" y="1919543"/>
            <a:ext cx="5436804" cy="127215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041ACFB-308D-1021-F734-AD42EE2F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0248" y="3666300"/>
            <a:ext cx="6115904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9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C7A9-F0F9-F975-04CA-11B54126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0BCB46-2844-0496-1D12-C031AFBD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137268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Matrices as linear transformations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6CC140B-C146-6241-7D3C-9F0DA2D66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54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AB38199-6FFD-BFDD-4EE8-5FA3C7B80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8" y="1636636"/>
            <a:ext cx="4060970" cy="9709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95A6F3D-0E44-F5DF-162E-EE10460D7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18" y="2732164"/>
            <a:ext cx="5681982" cy="9202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EADB9BF-A005-51AD-670E-6365BBAE1E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09" y="4060528"/>
            <a:ext cx="6106377" cy="2143424"/>
          </a:xfrm>
          <a:prstGeom prst="rect">
            <a:avLst/>
          </a:prstGeom>
        </p:spPr>
      </p:pic>
      <p:pic>
        <p:nvPicPr>
          <p:cNvPr id="11" name="Picture 4" descr="테이블 위에 앉아 있는 루빅 큐브">
            <a:extLst>
              <a:ext uri="{FF2B5EF4-FFF2-40B4-BE49-F238E27FC236}">
                <a16:creationId xmlns:a16="http://schemas.microsoft.com/office/drawing/2014/main" id="{5288409F-D383-A219-2806-6AFDD4374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55" y="64655"/>
            <a:ext cx="1632204" cy="108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41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4DAF-730F-8F6D-B29D-5CFC43465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F56195-CEFF-90F0-4BC3-62D73132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선형변환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/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𝐴𝑥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706278D-E073-9F29-1EA2-BDDE3586B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54" y="2905780"/>
                <a:ext cx="188051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/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altLang="ko-KR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2AB01C-CBB7-D2A8-A798-338C0C6D7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309" y="5401452"/>
                <a:ext cx="188506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/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선형대수학에서 선형변환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은 </a:t>
                </a:r>
                <a:r>
                  <a:rPr lang="en-US" altLang="ko-KR" sz="2000" dirty="0"/>
                  <a:t>Vector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sz="2000" i="1" smtClean="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가</a:t>
                </a:r>
                <a:r>
                  <a:rPr lang="en-US" altLang="ko-KR" sz="2000" dirty="0"/>
                  <a:t> </a:t>
                </a:r>
                <a:r>
                  <a:rPr lang="ko-KR" altLang="en-US" sz="2000" dirty="0" err="1"/>
                  <a:t>내적하는</a:t>
                </a:r>
                <a:r>
                  <a:rPr lang="ko-KR" altLang="en-US" sz="2000" dirty="0"/>
                  <a:t> 것으로 표현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82EF28-FB02-E5F8-0720-4B25D59C9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775" y="2214694"/>
                <a:ext cx="8974701" cy="509242"/>
              </a:xfrm>
              <a:prstGeom prst="rect">
                <a:avLst/>
              </a:prstGeom>
              <a:blipFill>
                <a:blip r:embed="rId4"/>
                <a:stretch>
                  <a:fillRect l="-611" b="-202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/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sz="2000" dirty="0"/>
                  <a:t>일반적을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ko-KR" altLang="en-US" sz="2000" dirty="0"/>
                  <a:t>에서 </a:t>
                </a:r>
                <a:r>
                  <a:rPr lang="en-US" altLang="ko-KR" sz="2000" dirty="0"/>
                  <a:t> matrix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sz="2000" dirty="0"/>
                  <a:t> 를 통해 </a:t>
                </a:r>
                <a:r>
                  <a:rPr lang="en-US" altLang="ko-KR" sz="2000" dirty="0"/>
                  <a:t>Vector </a:t>
                </a:r>
                <a:r>
                  <a:rPr lang="ko-KR" altLang="en-US" sz="2000" dirty="0"/>
                  <a:t>공간</a:t>
                </a:r>
                <a:r>
                  <a:rPr lang="en-US" altLang="ko-KR" sz="2000" dirty="0"/>
                  <a:t>(</a:t>
                </a:r>
                <a:r>
                  <a:rPr lang="ko-KR" altLang="en-US" sz="2000" dirty="0"/>
                  <a:t>차원</a:t>
                </a:r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ko-KR" altLang="en-US" sz="2000" dirty="0"/>
                  <a:t> 것이 선형변환</a:t>
                </a:r>
                <a:r>
                  <a:rPr lang="en-US" altLang="ko-KR" sz="2000" dirty="0"/>
                  <a:t> (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7E321C-F4AB-9353-29F2-F163826A3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48" y="4557283"/>
                <a:ext cx="9771947" cy="964046"/>
              </a:xfrm>
              <a:prstGeom prst="rect">
                <a:avLst/>
              </a:prstGeom>
              <a:blipFill>
                <a:blip r:embed="rId5"/>
                <a:stretch>
                  <a:fillRect l="-561" b="-1075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3BEEE75E-D3A2-AE31-D1DA-03C6E9055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55</a:t>
            </a:fld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06213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4FEB6-E777-CB4C-BA75-09716C4F4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EA080CCC-DD48-569D-991D-9E45D1F32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958286"/>
            <a:ext cx="6264183" cy="12345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F3D18DD-855A-74E2-813C-86047CEE4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8" y="4245597"/>
            <a:ext cx="6187976" cy="1188823"/>
          </a:xfrm>
          <a:prstGeom prst="rect">
            <a:avLst/>
          </a:prstGeom>
        </p:spPr>
      </p:pic>
      <p:sp>
        <p:nvSpPr>
          <p:cNvPr id="8" name="내용 개체 틀 8">
            <a:extLst>
              <a:ext uri="{FF2B5EF4-FFF2-40B4-BE49-F238E27FC236}">
                <a16:creationId xmlns:a16="http://schemas.microsoft.com/office/drawing/2014/main" id="{B87DB3C8-EE0D-2495-E58F-EE4D67482D9C}"/>
              </a:ext>
            </a:extLst>
          </p:cNvPr>
          <p:cNvSpPr txBox="1">
            <a:spLocks/>
          </p:cNvSpPr>
          <p:nvPr/>
        </p:nvSpPr>
        <p:spPr>
          <a:xfrm>
            <a:off x="8103121" y="2271955"/>
            <a:ext cx="3848734" cy="295582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3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(3)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-0.5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T*x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 2" charset="2"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/>
              <p:nvPr/>
            </p:nvSpPr>
            <p:spPr>
              <a:xfrm>
                <a:off x="8103121" y="1756243"/>
                <a:ext cx="2610843" cy="4511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ko-KR" altLang="en-US" sz="2000" b="1" i="1" smtClean="0">
                          <a:latin typeface="Cambria Math" panose="02040503050406030204" pitchFamily="18" charset="0"/>
                        </a:rPr>
                        <m:t>＝</m:t>
                      </m:r>
                      <m:r>
                        <a:rPr lang="ko-KR" altLang="en-US" sz="2000" b="1" i="1">
                          <a:latin typeface="Cambria Math" panose="02040503050406030204" pitchFamily="18" charset="0"/>
                        </a:rPr>
                        <m:t>　</m:t>
                      </m:r>
                      <m:sSup>
                        <m:sSup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577BEC-31EC-196E-11D3-6E1377BCE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121" y="1756243"/>
                <a:ext cx="2610843" cy="451149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2E3BB6-8F16-AA39-2CFF-F4C6724D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56</a:t>
            </a:fld>
            <a:endParaRPr lang="en-US" sz="20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C8BDFF6F-C898-BB3E-AFFB-652BEE892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차원 선형변환</a:t>
            </a:r>
          </a:p>
        </p:txBody>
      </p:sp>
    </p:spTree>
    <p:extLst>
      <p:ext uri="{BB962C8B-B14F-4D97-AF65-F5344CB8AC3E}">
        <p14:creationId xmlns:p14="http://schemas.microsoft.com/office/powerpoint/2010/main" val="26344593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84C24-8D98-35C3-69D8-8E695978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8">
            <a:extLst>
              <a:ext uri="{FF2B5EF4-FFF2-40B4-BE49-F238E27FC236}">
                <a16:creationId xmlns:a16="http://schemas.microsoft.com/office/drawing/2014/main" id="{8CBA0E20-FB95-AEDD-401A-C2F8641D0A74}"/>
              </a:ext>
            </a:extLst>
          </p:cNvPr>
          <p:cNvSpPr txBox="1">
            <a:spLocks/>
          </p:cNvSpPr>
          <p:nvPr/>
        </p:nvSpPr>
        <p:spPr>
          <a:xfrm>
            <a:off x="7906386" y="2098797"/>
            <a:ext cx="3848734" cy="404479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T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([[-2,0], [0,-2]])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T.shape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x.shape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((2, 2), (2,))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Linear Transformation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T@x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FC8EE8-50BC-C172-F21E-C0453872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098797"/>
            <a:ext cx="5090601" cy="3718882"/>
          </a:xfrm>
          <a:prstGeom prst="rect">
            <a:avLst/>
          </a:prstGeom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BB83E56-18FA-8807-E04C-A0F00222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선형변환</a:t>
            </a:r>
          </a:p>
        </p:txBody>
      </p:sp>
    </p:spTree>
    <p:extLst>
      <p:ext uri="{BB962C8B-B14F-4D97-AF65-F5344CB8AC3E}">
        <p14:creationId xmlns:p14="http://schemas.microsoft.com/office/powerpoint/2010/main" val="20824681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1318A-96C6-CD64-4AF5-DF9BF558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8">
            <a:extLst>
              <a:ext uri="{FF2B5EF4-FFF2-40B4-BE49-F238E27FC236}">
                <a16:creationId xmlns:a16="http://schemas.microsoft.com/office/drawing/2014/main" id="{55F52ACB-3533-2C1E-F706-FC72D1315578}"/>
              </a:ext>
            </a:extLst>
          </p:cNvPr>
          <p:cNvSpPr txBox="1">
            <a:spLocks/>
          </p:cNvSpPr>
          <p:nvPr/>
        </p:nvSpPr>
        <p:spPr>
          <a:xfrm>
            <a:off x="7406640" y="1877127"/>
            <a:ext cx="4348480" cy="440452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x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([[1,10], [0,1]])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x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([1,1])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Shear in y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([[1,0],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</a:rPr>
              <a:t># Arbitrary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</a:rPr>
              <a:t>np.array</a:t>
            </a:r>
            <a:r>
              <a:rPr lang="en-US" altLang="ko-KR" sz="1600" dirty="0">
                <a:solidFill>
                  <a:schemeClr val="tx1"/>
                </a:solidFill>
                <a:effectLst/>
              </a:rPr>
              <a:t>([[1,5], [10,1]])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</a:rPr>
              <a:t>sheer_matrix@x</a:t>
            </a: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96A5AD-95CE-83EA-7800-4AF55653A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00" y="1877127"/>
            <a:ext cx="5735026" cy="3964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E9EF1-73DB-B38D-3CC4-3E0D01A85599}"/>
              </a:ext>
            </a:extLst>
          </p:cNvPr>
          <p:cNvSpPr txBox="1"/>
          <p:nvPr/>
        </p:nvSpPr>
        <p:spPr>
          <a:xfrm>
            <a:off x="600635" y="595118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http://15462.courses.cs.cmu.edu/fall2019/lecture/transformations/slide_028</a:t>
            </a:r>
            <a:r>
              <a:rPr lang="ko-KR" altLang="en-US" sz="1100" dirty="0"/>
              <a:t>　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DC6248D-35AB-BEDB-0878-BB94F324E32C}"/>
              </a:ext>
            </a:extLst>
          </p:cNvPr>
          <p:cNvSpPr txBox="1">
            <a:spLocks/>
          </p:cNvSpPr>
          <p:nvPr/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sheer</a:t>
            </a:r>
            <a:r>
              <a:rPr lang="ko-KR" altLang="en-US" dirty="0"/>
              <a:t> 선형변환</a:t>
            </a:r>
          </a:p>
        </p:txBody>
      </p:sp>
    </p:spTree>
    <p:extLst>
      <p:ext uri="{BB962C8B-B14F-4D97-AF65-F5344CB8AC3E}">
        <p14:creationId xmlns:p14="http://schemas.microsoft.com/office/powerpoint/2010/main" val="26239557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8855-F1C1-DC38-247C-6FC7ADE1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F3AE20F-6629-40E2-8C70-D8FA74A4887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1233" y="1898531"/>
            <a:ext cx="4493709" cy="12781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AD208C2-B568-7964-BFF4-748D44B67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3" y="3176706"/>
            <a:ext cx="9118287" cy="2746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0386F8-BD86-FECD-15ED-10E14DFCF29D}"/>
              </a:ext>
            </a:extLst>
          </p:cNvPr>
          <p:cNvSpPr txBox="1">
            <a:spLocks/>
          </p:cNvSpPr>
          <p:nvPr/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en-US" altLang="ko-KR" dirty="0"/>
              <a:t>2</a:t>
            </a:r>
            <a:r>
              <a:rPr lang="ko-KR" altLang="en-US" dirty="0"/>
              <a:t>차원 </a:t>
            </a:r>
            <a:r>
              <a:rPr lang="en-US" altLang="ko-KR" dirty="0"/>
              <a:t>sheer &amp; rotate </a:t>
            </a:r>
            <a:r>
              <a:rPr lang="ko-KR" altLang="en-US" dirty="0"/>
              <a:t>선형변환</a:t>
            </a:r>
          </a:p>
        </p:txBody>
      </p:sp>
    </p:spTree>
    <p:extLst>
      <p:ext uri="{BB962C8B-B14F-4D97-AF65-F5344CB8AC3E}">
        <p14:creationId xmlns:p14="http://schemas.microsoft.com/office/powerpoint/2010/main" val="2688688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CCB3-4DE8-F539-1DF0-784A9D3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219E6-6789-6F03-2329-ED0ACBF3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663D5-FA49-ABC8-25CC-683BC9FD1FE8}"/>
              </a:ext>
            </a:extLst>
          </p:cNvPr>
          <p:cNvSpPr txBox="1"/>
          <p:nvPr/>
        </p:nvSpPr>
        <p:spPr>
          <a:xfrm>
            <a:off x="711135" y="1733379"/>
            <a:ext cx="7903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코드를 직접 실행해보고 이미지에 대한 선형변환을 이해하자</a:t>
            </a:r>
          </a:p>
        </p:txBody>
      </p:sp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23F6728-0768-4865-89D4-71B77938C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9489" y="66676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D069B5-1ADF-BECA-39FA-F4E87C1A2369}"/>
              </a:ext>
            </a:extLst>
          </p:cNvPr>
          <p:cNvSpPr txBox="1"/>
          <p:nvPr/>
        </p:nvSpPr>
        <p:spPr>
          <a:xfrm>
            <a:off x="1276350" y="2778732"/>
            <a:ext cx="8180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2026_Spring_Data-Management/LA/w3/w3_linear_transformation_image.ipynb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1048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8045" y="304800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Digress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Shear </a:t>
            </a:r>
            <a:r>
              <a:rPr lang="en-US" altLang="ko-K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Bradpit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39"/>
            <a:ext cx="11297920" cy="532646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PIL import Image,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ImageOps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ImageFilter</a:t>
            </a: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Load the image (Brad Pit)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"https://people.com/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thmb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/h67yba4NaGbpnv9DZVZm894kSjo=/1500x0/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filters:no_upscale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max_bytes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(150000):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strip_icc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():focal(979x292:981x294)/Brad-Pitt_1-2000-e8a294b80b034e659785ad813d3f02f2.jpg"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requests.get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image_url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Image.open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BytesIO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response.content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Define the shear factor (adjust as needed)</a:t>
            </a:r>
          </a:p>
          <a:p>
            <a:pPr marL="36900" indent="0">
              <a:buNone/>
            </a:pPr>
            <a:r>
              <a:rPr lang="en-US" altLang="ko-KR" sz="1600" b="1" dirty="0" err="1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b="1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1.2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Create a shear matrix for horizontal shear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(1,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shear_factor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0, 0, 1, 0)</a:t>
            </a:r>
          </a:p>
          <a:p>
            <a:pPr marL="36900" indent="0"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Apply the shear transformation to the image</a:t>
            </a:r>
          </a:p>
          <a:p>
            <a:pPr marL="36900" indent="0"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sheared_image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image.transform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Image.AFFINE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shear_matrix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Image.BICUBIC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None/>
            </a:pPr>
            <a:endParaRPr lang="ko-KR" altLang="ko-KR" sz="240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E02702-71BB-FB7E-187D-40E8D16B9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110" y="3029994"/>
            <a:ext cx="2014485" cy="33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134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9BEA41EB-734E-F0B7-AAFC-ED8EC32908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414760" cy="499308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seed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(0)</a:t>
            </a:r>
          </a:p>
          <a:p>
            <a:pPr marL="36900" indent="0">
              <a:buNone/>
            </a:pPr>
            <a:r>
              <a:rPr lang="en-US" altLang="ko-KR" sz="1400" dirty="0">
                <a:effectLst/>
                <a:latin typeface="Arial Narrow" panose="020B0606020202030204" pitchFamily="34" charset="0"/>
              </a:rPr>
              <a:t>X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random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randn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(500); tr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1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logical_and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X[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np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logical_or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&gt;=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tr, X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&lt;=-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tr)]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0,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('x1',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('x2',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'18');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show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</a:t>
            </a:r>
          </a:p>
          <a:p>
            <a:pPr marL="36900" indent="0">
              <a:buNone/>
            </a:pPr>
            <a:endParaRPr lang="en-US" altLang="ko-KR" sz="1400" dirty="0">
              <a:effectLst/>
              <a:latin typeface="Arial Narrow" panose="020B0606020202030204" pitchFamily="34" charset="0"/>
            </a:endParaRP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X_pos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'r',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'o',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1',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scatter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, 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X_neg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**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2, c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'b', marker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'd', label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'class 0', s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30)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legend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xlabel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(r'$\phi_1$',fontsize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'16');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ylabel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(r'$\phi_2$',fontsize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'16')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title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('Problem solving in Transformed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higer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Space',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fontsize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'18')</a:t>
            </a:r>
          </a:p>
          <a:p>
            <a:pPr marL="36900" indent="0">
              <a:buNone/>
            </a:pP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plt</a:t>
            </a:r>
            <a:r>
              <a:rPr lang="en-US" altLang="ko-KR" sz="1400" b="1" dirty="0" err="1">
                <a:effectLst/>
                <a:latin typeface="Arial Narrow" panose="020B0606020202030204" pitchFamily="34" charset="0"/>
              </a:rPr>
              <a:t>.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axhline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(y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 tr, color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'g', </a:t>
            </a:r>
            <a:r>
              <a:rPr lang="en-US" altLang="ko-KR" sz="1400" dirty="0" err="1">
                <a:effectLst/>
                <a:latin typeface="Arial Narrow" panose="020B0606020202030204" pitchFamily="34" charset="0"/>
              </a:rPr>
              <a:t>linestyle</a:t>
            </a:r>
            <a:r>
              <a:rPr lang="en-US" altLang="ko-KR" sz="1400" b="1" dirty="0">
                <a:effectLst/>
                <a:latin typeface="Arial Narrow" panose="020B0606020202030204" pitchFamily="34" charset="0"/>
              </a:rPr>
              <a:t>=</a:t>
            </a:r>
            <a:r>
              <a:rPr lang="en-US" altLang="ko-KR" sz="1400" dirty="0">
                <a:effectLst/>
                <a:latin typeface="Arial Narrow" panose="020B0606020202030204" pitchFamily="34" charset="0"/>
              </a:rPr>
              <a:t>'-')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7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D472010-BAB6-CD25-7F2C-8B7FB6C8D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036" y="1234954"/>
            <a:ext cx="3595975" cy="253961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7402423-C18E-BCB8-EB00-3647C7011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28" y="4010341"/>
            <a:ext cx="3507083" cy="2539612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F92B326-14DF-461C-1D5D-1809FAB4CE5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816436" y="2244593"/>
            <a:ext cx="1070264" cy="1936881"/>
          </a:xfrm>
          <a:prstGeom prst="curvedConnector4">
            <a:avLst>
              <a:gd name="adj1" fmla="val -21359"/>
              <a:gd name="adj2" fmla="val 8230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6EEEFA36-8D7F-734A-EF6C-5B6BBB0D07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75" y="3230863"/>
            <a:ext cx="1272650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E33A-EAD9-0E64-1001-0C1A3E23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9882A-1D3D-A251-8607-459BD3A5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Digress : Kernel Transformation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66BB72-ABD2-1253-59B1-C7A5F3588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1" name="내용 개체 틀 8">
            <a:extLst>
              <a:ext uri="{FF2B5EF4-FFF2-40B4-BE49-F238E27FC236}">
                <a16:creationId xmlns:a16="http://schemas.microsoft.com/office/drawing/2014/main" id="{615999D5-3A04-9FF7-FF4A-A3C06F0CBCF3}"/>
              </a:ext>
            </a:extLst>
          </p:cNvPr>
          <p:cNvSpPr txBox="1">
            <a:spLocks/>
          </p:cNvSpPr>
          <p:nvPr/>
        </p:nvSpPr>
        <p:spPr>
          <a:xfrm>
            <a:off x="548640" y="1226740"/>
            <a:ext cx="11544748" cy="487822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1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72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02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386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1674000" indent="-21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0146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python code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sklearn.datasets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X, y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make_circles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n_samples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=500,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random_state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=11, noise=0.1)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plt.scatter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(X[:, 0], X[:, 1], c=y, s=20,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’);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pt-BR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=np.exp(-(X ** 2).sum(1))</a:t>
            </a:r>
          </a:p>
          <a:p>
            <a:pPr marL="36900" indent="0">
              <a:lnSpc>
                <a:spcPct val="100000"/>
              </a:lnSpc>
              <a:buNone/>
            </a:pPr>
            <a:endParaRPr lang="en-US" altLang="ko-KR" sz="16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mpl_toolkits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mplot3d</a:t>
            </a:r>
            <a:b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plt.figure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figsize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=(8,6))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 =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plt.axes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(projection='3d')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ax.scatter3D(X[:, 0], X[:, 1], r, c=y, 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cmap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='</a:t>
            </a:r>
            <a:r>
              <a:rPr lang="en-US" altLang="ko-KR" sz="1600" dirty="0" err="1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coolwarm</a:t>
            </a: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’)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ko-KR" sz="1600" dirty="0">
                <a:solidFill>
                  <a:schemeClr val="tx1"/>
                </a:solidFill>
                <a:effectLst/>
                <a:latin typeface="Arial Narrow" panose="020B0606020202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#ax.view_init(10, 250)</a:t>
            </a:r>
          </a:p>
          <a:p>
            <a:pPr>
              <a:lnSpc>
                <a:spcPct val="100000"/>
              </a:lnSpc>
            </a:pPr>
            <a:endParaRPr lang="en-US" altLang="ko-KR" sz="1200" dirty="0">
              <a:solidFill>
                <a:schemeClr val="tx1"/>
              </a:solidFill>
              <a:effectLst/>
              <a:latin typeface="Arial Narrow" panose="020B0606020202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21169E-B090-C7DD-2500-1A35C5CD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437" y="1277555"/>
            <a:ext cx="3059084" cy="23239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D7C9931-639E-A2F5-5F58-B82DE55F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037" y="4083014"/>
            <a:ext cx="3059084" cy="2358398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AA3AF10D-2122-08B5-815F-B739E44E16D1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H="1" flipV="1">
            <a:off x="6816436" y="2439549"/>
            <a:ext cx="1070263" cy="2026403"/>
          </a:xfrm>
          <a:prstGeom prst="curvedConnector4">
            <a:avLst>
              <a:gd name="adj1" fmla="val -21359"/>
              <a:gd name="adj2" fmla="val 786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442230BC-BB3D-82B6-5A26-4B1E81054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778" y="3265156"/>
            <a:ext cx="1196444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2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E291-D98D-600A-F6E9-1641F76C5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3F8A6B6-A869-A82F-837D-A37C3AC6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</p:spPr>
        <p:txBody>
          <a:bodyPr/>
          <a:lstStyle/>
          <a:p>
            <a:r>
              <a:rPr lang="ko-KR" altLang="en-US" dirty="0"/>
              <a:t>과제제출</a:t>
            </a:r>
            <a:r>
              <a:rPr lang="en-US" altLang="ko-KR" dirty="0"/>
              <a:t>_Homework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A5D677-BFF3-AB7F-5BC0-54FC672C0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237" y="1392346"/>
            <a:ext cx="6759526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7205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776</TotalTime>
  <Words>2073</Words>
  <Application>Microsoft Office PowerPoint</Application>
  <PresentationFormat>와이드스크린</PresentationFormat>
  <Paragraphs>402</Paragraphs>
  <Slides>64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8" baseType="lpstr">
      <vt:lpstr>맑은 고딕</vt:lpstr>
      <vt:lpstr>맑은 고딕 Semilight</vt:lpstr>
      <vt:lpstr>Batang</vt:lpstr>
      <vt:lpstr>Arial</vt:lpstr>
      <vt:lpstr>Arial Narrow</vt:lpstr>
      <vt:lpstr>Calibri</vt:lpstr>
      <vt:lpstr>Cambria Math</vt:lpstr>
      <vt:lpstr>Courier New</vt:lpstr>
      <vt:lpstr>Helvetica</vt:lpstr>
      <vt:lpstr>Segoe UI Light</vt:lpstr>
      <vt:lpstr>Times New Roman</vt:lpstr>
      <vt:lpstr>Wingdings</vt:lpstr>
      <vt:lpstr>Wingdings 2</vt:lpstr>
      <vt:lpstr>WelcomeDoc</vt:lpstr>
      <vt:lpstr>Vectors and Linear Transformations</vt:lpstr>
      <vt:lpstr>Neural Networks – AI generates images</vt:lpstr>
      <vt:lpstr>Text-to-image and image-to-text generation</vt:lpstr>
      <vt:lpstr>Math for Machine Learning</vt:lpstr>
      <vt:lpstr>Contents</vt:lpstr>
      <vt:lpstr>Vectors</vt:lpstr>
      <vt:lpstr>How to get from point A to point B?</vt:lpstr>
      <vt:lpstr>Magnitude of a vector : Norms</vt:lpstr>
      <vt:lpstr>Directions of a vector</vt:lpstr>
      <vt:lpstr>Contents</vt:lpstr>
      <vt:lpstr>Sum of vectors</vt:lpstr>
      <vt:lpstr>Difference of vectors</vt:lpstr>
      <vt:lpstr>Contents</vt:lpstr>
      <vt:lpstr>Distances</vt:lpstr>
      <vt:lpstr>Distances</vt:lpstr>
      <vt:lpstr>Distances</vt:lpstr>
      <vt:lpstr>Contents</vt:lpstr>
      <vt:lpstr>Multiplying a vector by a scalar</vt:lpstr>
      <vt:lpstr>Directions of a vector</vt:lpstr>
      <vt:lpstr>Contents</vt:lpstr>
      <vt:lpstr>A shortcut for linear operations</vt:lpstr>
      <vt:lpstr>The dot product</vt:lpstr>
      <vt:lpstr> calculating the means of each person using dot product</vt:lpstr>
      <vt:lpstr>dot product of matrix, vector</vt:lpstr>
      <vt:lpstr>Norm of a vector using dot product</vt:lpstr>
      <vt:lpstr>Norm of a vector using dot product</vt:lpstr>
      <vt:lpstr>Norm of a vector using dot product</vt:lpstr>
      <vt:lpstr>Norm of a vector using dot product</vt:lpstr>
      <vt:lpstr>Variance &amp; Covariance of a vector using dot product</vt:lpstr>
      <vt:lpstr>System of Linear Equations </vt:lpstr>
      <vt:lpstr>Contents</vt:lpstr>
      <vt:lpstr>Orthogonal vectors have dot product 0</vt:lpstr>
      <vt:lpstr>The dot product</vt:lpstr>
      <vt:lpstr>The dot product</vt:lpstr>
      <vt:lpstr>The dot product</vt:lpstr>
      <vt:lpstr>Geometric dot product</vt:lpstr>
      <vt:lpstr>Geometric dot product</vt:lpstr>
      <vt:lpstr>Geometric dot product</vt:lpstr>
      <vt:lpstr>Contents</vt:lpstr>
      <vt:lpstr>Equations as dot product</vt:lpstr>
      <vt:lpstr>Equations as dot product</vt:lpstr>
      <vt:lpstr>Contents</vt:lpstr>
      <vt:lpstr>Matrices as linear transformations</vt:lpstr>
      <vt:lpstr>Matrices as linear transformations</vt:lpstr>
      <vt:lpstr>Matrices as linear transformations</vt:lpstr>
      <vt:lpstr>Matrices as linear transformations</vt:lpstr>
      <vt:lpstr>Contents</vt:lpstr>
      <vt:lpstr>Combining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Matrices as linear transformations</vt:lpstr>
      <vt:lpstr>선형변환</vt:lpstr>
      <vt:lpstr>1차원 선형변환</vt:lpstr>
      <vt:lpstr>2차원 선형변환</vt:lpstr>
      <vt:lpstr>PowerPoint 프레젠테이션</vt:lpstr>
      <vt:lpstr>PowerPoint 프레젠테이션</vt:lpstr>
      <vt:lpstr>실습하기</vt:lpstr>
      <vt:lpstr>Digress : Shear Bradpit Image</vt:lpstr>
      <vt:lpstr>Digress : Kernel Transformation</vt:lpstr>
      <vt:lpstr>Digress : Kernel Transformation</vt:lpstr>
      <vt:lpstr>과제제출_Homework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13</cp:revision>
  <dcterms:created xsi:type="dcterms:W3CDTF">2026-04-06T01:00:39Z</dcterms:created>
  <dcterms:modified xsi:type="dcterms:W3CDTF">2026-04-11T10:24:42Z</dcterms:modified>
  <cp:version/>
</cp:coreProperties>
</file>