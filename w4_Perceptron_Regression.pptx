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1"/>
  </p:notesMasterIdLst>
  <p:handoutMasterIdLst>
    <p:handoutMasterId r:id="rId52"/>
  </p:handoutMasterIdLst>
  <p:sldIdLst>
    <p:sldId id="256" r:id="rId2"/>
    <p:sldId id="355" r:id="rId3"/>
    <p:sldId id="942" r:id="rId4"/>
    <p:sldId id="941" r:id="rId5"/>
    <p:sldId id="940" r:id="rId6"/>
    <p:sldId id="847" r:id="rId7"/>
    <p:sldId id="943" r:id="rId8"/>
    <p:sldId id="944" r:id="rId9"/>
    <p:sldId id="335" r:id="rId10"/>
    <p:sldId id="938" r:id="rId11"/>
    <p:sldId id="871" r:id="rId12"/>
    <p:sldId id="872" r:id="rId13"/>
    <p:sldId id="947" r:id="rId14"/>
    <p:sldId id="931" r:id="rId15"/>
    <p:sldId id="936" r:id="rId16"/>
    <p:sldId id="948" r:id="rId17"/>
    <p:sldId id="873" r:id="rId18"/>
    <p:sldId id="907" r:id="rId19"/>
    <p:sldId id="945" r:id="rId20"/>
    <p:sldId id="946" r:id="rId21"/>
    <p:sldId id="930" r:id="rId22"/>
    <p:sldId id="928" r:id="rId23"/>
    <p:sldId id="851" r:id="rId24"/>
    <p:sldId id="852" r:id="rId25"/>
    <p:sldId id="932" r:id="rId26"/>
    <p:sldId id="908" r:id="rId27"/>
    <p:sldId id="929" r:id="rId28"/>
    <p:sldId id="846" r:id="rId29"/>
    <p:sldId id="950" r:id="rId30"/>
    <p:sldId id="951" r:id="rId31"/>
    <p:sldId id="952" r:id="rId32"/>
    <p:sldId id="953" r:id="rId33"/>
    <p:sldId id="955" r:id="rId34"/>
    <p:sldId id="954" r:id="rId35"/>
    <p:sldId id="927" r:id="rId36"/>
    <p:sldId id="937" r:id="rId37"/>
    <p:sldId id="879" r:id="rId38"/>
    <p:sldId id="881" r:id="rId39"/>
    <p:sldId id="880" r:id="rId40"/>
    <p:sldId id="883" r:id="rId41"/>
    <p:sldId id="882" r:id="rId42"/>
    <p:sldId id="884" r:id="rId43"/>
    <p:sldId id="919" r:id="rId44"/>
    <p:sldId id="886" r:id="rId45"/>
    <p:sldId id="887" r:id="rId46"/>
    <p:sldId id="885" r:id="rId47"/>
    <p:sldId id="949" r:id="rId48"/>
    <p:sldId id="285" r:id="rId49"/>
    <p:sldId id="284" r:id="rId5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36"/>
            <p14:sldId id="948"/>
            <p14:sldId id="873"/>
            <p14:sldId id="907"/>
            <p14:sldId id="945"/>
            <p14:sldId id="946"/>
            <p14:sldId id="930"/>
            <p14:sldId id="928"/>
            <p14:sldId id="851"/>
            <p14:sldId id="852"/>
            <p14:sldId id="932"/>
            <p14:sldId id="908"/>
            <p14:sldId id="929"/>
            <p14:sldId id="846"/>
            <p14:sldId id="950"/>
            <p14:sldId id="951"/>
            <p14:sldId id="952"/>
            <p14:sldId id="953"/>
            <p14:sldId id="955"/>
            <p14:sldId id="954"/>
            <p14:sldId id="927"/>
            <p14:sldId id="937"/>
            <p14:sldId id="879"/>
            <p14:sldId id="881"/>
            <p14:sldId id="880"/>
            <p14:sldId id="883"/>
            <p14:sldId id="882"/>
            <p14:sldId id="884"/>
            <p14:sldId id="919"/>
            <p14:sldId id="886"/>
            <p14:sldId id="887"/>
            <p14:sldId id="885"/>
            <p14:sldId id="949"/>
            <p14:sldId id="285"/>
            <p14:sldId id="28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500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commentAuthors" Target="commentAuthor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gi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4.png"/><Relationship Id="rId4" Type="http://schemas.openxmlformats.org/officeDocument/2006/relationships/image" Target="../media/image65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scripts/w4_perceptron_wt_inputs.ipynb" TargetMode="External"/><Relationship Id="rId4" Type="http://schemas.openxmlformats.org/officeDocument/2006/relationships/image" Target="../media/image3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3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56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20.jpe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68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5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67.png"/><Relationship Id="rId4" Type="http://schemas.openxmlformats.org/officeDocument/2006/relationships/image" Target="../media/image64.png"/><Relationship Id="rId9" Type="http://schemas.microsoft.com/office/2007/relationships/hdphoto" Target="../media/hdphoto6.wdp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www.tensorflow.org/?hl=ko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jpeg"/><Relationship Id="rId4" Type="http://schemas.openxmlformats.org/officeDocument/2006/relationships/image" Target="../media/image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5E0E3B5-B9DB-A121-39C8-5D8833498C7E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85034654-E34D-72B4-9948-0D515D6A8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5DBA-F2A8-999E-4B9A-98141463755C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02C54E-DE49-6AFC-D81F-69C2C5052F16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5D7B16-ABCA-4860-B5E7-A6320FD57B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FE3CA14-06EA-1CA5-994C-AC4D306CCF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32398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449" y="1561098"/>
            <a:ext cx="5542551" cy="465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315076" y="1885936"/>
            <a:ext cx="5542552" cy="11526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782050" y="3190875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315076" y="4293243"/>
            <a:ext cx="51530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A3CACE-DE81-CBDF-798D-06984882A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9E78179-2E09-0355-C041-22C079CFD5A4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F0E4733-A836-DC62-3DDB-852B81B9F73E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E18941F-B0F9-67C5-F662-E6B4EE6F98DF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CA140FD1-229F-BE57-FCAD-4A8ADDB11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1AD573-1CBB-4023-F7C6-802D274C385F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A49041-B721-4B86-3514-E8E380D285C4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5CDB8F-66D5-E0F1-65C3-4434DA3C88CA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10ED7DF1-E89E-94D9-9FB9-80F44B86C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0720B32A-EB97-F165-4582-A6CBBFE5019A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70B4902C-D349-338F-456E-77DC2D0640F1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6715BE0-4A4F-3CF6-4749-616264D56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6503C25-DAD0-3B96-B35F-29886341B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05D92-268B-DABB-1E1B-579B745C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FB1B83-62E1-C7E1-9CFC-2D400506A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F2D720-1537-1283-80A5-499D25D5663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9534738-1DEB-A03A-3137-3F79FC753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16737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27927" y="1346295"/>
            <a:ext cx="7047059" cy="481157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264561" y="1355820"/>
            <a:ext cx="4560425" cy="17338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4986" y="3174458"/>
            <a:ext cx="4177275" cy="2776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891251" y="1655180"/>
            <a:ext cx="3024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dirty="0"/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424" y="2182596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22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8744555" cy="1336676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6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1378781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06403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49" y="66675"/>
            <a:ext cx="1638301" cy="108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618520" y="377208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single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974F3E-A24A-7F3D-1957-B45AA2C8AE54}"/>
              </a:ext>
            </a:extLst>
          </p:cNvPr>
          <p:cNvSpPr txBox="1"/>
          <p:nvPr/>
        </p:nvSpPr>
        <p:spPr>
          <a:xfrm>
            <a:off x="480710" y="1275218"/>
            <a:ext cx="11230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8A90D2-B4D6-7E85-0DA7-99D06EAE6434}"/>
              </a:ext>
            </a:extLst>
          </p:cNvPr>
          <p:cNvSpPr txBox="1"/>
          <p:nvPr/>
        </p:nvSpPr>
        <p:spPr>
          <a:xfrm>
            <a:off x="715182" y="2348935"/>
            <a:ext cx="5237943" cy="116955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882B8B-0565-E636-3826-C19535E49A8B}"/>
              </a:ext>
            </a:extLst>
          </p:cNvPr>
          <p:cNvSpPr txBox="1"/>
          <p:nvPr/>
        </p:nvSpPr>
        <p:spPr>
          <a:xfrm>
            <a:off x="619932" y="3588808"/>
            <a:ext cx="9667067" cy="2514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조건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>
              <a:lnSpc>
                <a:spcPct val="150000"/>
              </a:lnSpc>
            </a:pPr>
            <a:endParaRPr lang="en-US" altLang="ko-KR" sz="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입력 변수와 편향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가진 선형 모델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설계하라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알고리즘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확률적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경사하강법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 매 데이터 샘플마다 가중치를 업데이트하라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제곱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(MSE)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개념을 바탕으로 하되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코드 구현 시에는 각 샘플의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직접 비례하여 가중치를 수정하는 방식을 사용하라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하이퍼파라미터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0.01,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 횟수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회로 설정하라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5F2B-A0E8-5691-0C31-91B05C8B9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6636E5-4C50-0638-168D-F51CAD82C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CD4D984-BA5C-10A8-E208-999D59E8D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6CF074D-DE81-2FE8-4699-C32C81527B4F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single 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508B00F-9004-4C1C-7B1B-E6A061EFD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7304" y="2378661"/>
            <a:ext cx="8020050" cy="374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64BB76A8-1CD9-970D-5800-B6F3B7AE2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48" y="1394922"/>
            <a:ext cx="3204809" cy="1414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DB12A1-1704-4985-D001-A0E8D245D4AF}"/>
              </a:ext>
            </a:extLst>
          </p:cNvPr>
          <p:cNvSpPr txBox="1"/>
          <p:nvPr/>
        </p:nvSpPr>
        <p:spPr>
          <a:xfrm>
            <a:off x="2817304" y="6121986"/>
            <a:ext cx="26645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w4_perceptron_wt_inputs.ipynb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878271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32A8E-E835-6F6B-FB33-FCC19ECC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E7937A-51BB-501F-7C44-044D1E449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C77CC3D-C738-44A9-9F6F-D672879DA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31563BFB-BB0E-5F6D-AB9A-924A993D1CFC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93939A-C52E-9A37-E25C-FBB424EB2415}"/>
              </a:ext>
            </a:extLst>
          </p:cNvPr>
          <p:cNvSpPr txBox="1"/>
          <p:nvPr/>
        </p:nvSpPr>
        <p:spPr>
          <a:xfrm>
            <a:off x="480710" y="1275218"/>
            <a:ext cx="11230580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조건은 지난 문제와 동일함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04D4FC-ED57-9527-0834-D63D07F53D77}"/>
              </a:ext>
            </a:extLst>
          </p:cNvPr>
          <p:cNvSpPr txBox="1"/>
          <p:nvPr/>
        </p:nvSpPr>
        <p:spPr>
          <a:xfrm>
            <a:off x="553257" y="3462642"/>
            <a:ext cx="5237943" cy="147732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5475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195A-C101-932F-8610-4893C4DC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95564-BD97-21C6-6B42-7669417E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1D6D987-08B3-50BA-EA35-05B698C9B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2CB4D1B1-1809-5299-176B-D944B350D241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C684B8-5B90-B3D1-01DC-60A8F11F888D}"/>
              </a:ext>
            </a:extLst>
          </p:cNvPr>
          <p:cNvSpPr/>
          <p:nvPr/>
        </p:nvSpPr>
        <p:spPr>
          <a:xfrm>
            <a:off x="9736637" y="2852488"/>
            <a:ext cx="800188" cy="957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01503E9-78A3-7959-54FA-D30440C958FA}"/>
              </a:ext>
            </a:extLst>
          </p:cNvPr>
          <p:cNvSpPr/>
          <p:nvPr/>
        </p:nvSpPr>
        <p:spPr>
          <a:xfrm>
            <a:off x="6724650" y="3291892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55E13F4-6625-2BB4-2662-0A9CF3F24314}"/>
              </a:ext>
            </a:extLst>
          </p:cNvPr>
          <p:cNvSpPr/>
          <p:nvPr/>
        </p:nvSpPr>
        <p:spPr>
          <a:xfrm>
            <a:off x="6724650" y="40644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F9928928-E5CC-DE86-013A-659A957A3EA7}"/>
              </a:ext>
            </a:extLst>
          </p:cNvPr>
          <p:cNvSpPr/>
          <p:nvPr/>
        </p:nvSpPr>
        <p:spPr>
          <a:xfrm>
            <a:off x="9928783" y="4067979"/>
            <a:ext cx="359611" cy="359611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275A532-72B6-2029-79E5-D2E8FF7025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027116"/>
              </p:ext>
            </p:extLst>
          </p:nvPr>
        </p:nvGraphicFramePr>
        <p:xfrm>
          <a:off x="9927447" y="5389203"/>
          <a:ext cx="418568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054313C-0D5F-7F09-8047-CF7F7A791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539990"/>
              </p:ext>
            </p:extLst>
          </p:nvPr>
        </p:nvGraphicFramePr>
        <p:xfrm>
          <a:off x="7878670" y="4086782"/>
          <a:ext cx="12557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BAF13D76-54DA-560E-A244-0533C954BB60}"/>
              </a:ext>
            </a:extLst>
          </p:cNvPr>
          <p:cNvSpPr txBox="1"/>
          <p:nvPr/>
        </p:nvSpPr>
        <p:spPr>
          <a:xfrm>
            <a:off x="6429272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7B811E-54E0-7F41-CFF2-65898EC5DCA0}"/>
              </a:ext>
            </a:extLst>
          </p:cNvPr>
          <p:cNvSpPr txBox="1"/>
          <p:nvPr/>
        </p:nvSpPr>
        <p:spPr>
          <a:xfrm>
            <a:off x="8047245" y="479211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26EEF5-2CC8-A4A8-7F98-07954DC578DF}"/>
              </a:ext>
            </a:extLst>
          </p:cNvPr>
          <p:cNvSpPr txBox="1"/>
          <p:nvPr/>
        </p:nvSpPr>
        <p:spPr>
          <a:xfrm>
            <a:off x="9672399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1)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259551B-C26A-20B9-7F5F-D4FACE392838}"/>
              </a:ext>
            </a:extLst>
          </p:cNvPr>
          <p:cNvSpPr/>
          <p:nvPr/>
        </p:nvSpPr>
        <p:spPr>
          <a:xfrm>
            <a:off x="6533544" y="2852488"/>
            <a:ext cx="4043315" cy="2424363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03C2E5A-63A7-07DC-2569-69F6C578952C}"/>
              </a:ext>
            </a:extLst>
          </p:cNvPr>
          <p:cNvCxnSpPr/>
          <p:nvPr/>
        </p:nvCxnSpPr>
        <p:spPr>
          <a:xfrm>
            <a:off x="7333732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CCBC0F6-F9D2-58E0-A33E-924C267BB976}"/>
              </a:ext>
            </a:extLst>
          </p:cNvPr>
          <p:cNvCxnSpPr/>
          <p:nvPr/>
        </p:nvCxnSpPr>
        <p:spPr>
          <a:xfrm>
            <a:off x="9314626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7A0CF3FF-E8CE-E2DB-592B-1F203F3B37EB}"/>
              </a:ext>
            </a:extLst>
          </p:cNvPr>
          <p:cNvSpPr/>
          <p:nvPr/>
        </p:nvSpPr>
        <p:spPr>
          <a:xfrm>
            <a:off x="6724649" y="48370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547229B9-69F1-C4C7-90C2-33E651817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86" y="2874390"/>
            <a:ext cx="3730122" cy="2029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A0352CD-D8FB-5996-8B97-248F753AB853}"/>
              </a:ext>
            </a:extLst>
          </p:cNvPr>
          <p:cNvSpPr txBox="1"/>
          <p:nvPr/>
        </p:nvSpPr>
        <p:spPr>
          <a:xfrm>
            <a:off x="552853" y="1169712"/>
            <a:ext cx="11086293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여러 개가 되어도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기반으로 가중치를 수정한다는 본질적인 원리는 변하지 않으며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단지 이를 수학적으로 처리하기 위해 벡터 연산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(Vectorization)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도입될 뿐이다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점을 이해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경우는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np.dot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함수의 사용법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(Broadcasting)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개념을 이해하고 있는지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5AA702-E091-89BA-BC12-1570CF7BC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063012"/>
              </p:ext>
            </p:extLst>
          </p:nvPr>
        </p:nvGraphicFramePr>
        <p:xfrm>
          <a:off x="6533544" y="5389203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/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/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/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91574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53617-861B-138B-AEEA-5D8CCD638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FADCDF-F73F-F93F-FE1C-E024FC90F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D2FFBB3-1CF1-F533-6D52-81A24AD4860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AA3AE6-23DE-224F-9E89-6CB296B5B8F0}"/>
              </a:ext>
            </a:extLst>
          </p:cNvPr>
          <p:cNvSpPr txBox="1"/>
          <p:nvPr/>
        </p:nvSpPr>
        <p:spPr>
          <a:xfrm>
            <a:off x="953019" y="3653166"/>
            <a:ext cx="5666856" cy="22467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 =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digits.data.shape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 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 64) -&gt; 1797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샘플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64(8x8)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특성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(1797,)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 클래스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digits.target_names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    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[0 1 2 3 4 5 6 7 8 9]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A02E7A4-1487-DE0A-E28B-DBAA8D4EE4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60D67E-F82B-2975-E5CC-DDA42A7BDA93}"/>
              </a:ext>
            </a:extLst>
          </p:cNvPr>
          <p:cNvSpPr txBox="1"/>
          <p:nvPr/>
        </p:nvSpPr>
        <p:spPr>
          <a:xfrm>
            <a:off x="552853" y="1313482"/>
            <a:ext cx="11086293" cy="189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손글씨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이미지를 모아놓은 이미지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숫자 정답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(Label),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설명 등이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딕셔너리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형태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숫자 이미지 샘플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 크기는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8x8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픽셀로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계산하기 편하도록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열을 한 줄로 길게 펼쳐서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특징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만든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이미지가 실제로 어떤 숫자인지 적혀 있는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해답지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＇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이미지 개수와 똑같이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정답으로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데이터가 분류하고자 하는 범주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숫자가 타겟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255917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9012B-FDDE-F80E-3CBF-3395C298D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41C7D3-02D8-7E0C-670E-B1E16C28F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2F21DA0-077A-CF2A-C0FF-E5E2C42CEDF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C3BCA55C-5FC1-531A-9875-62947EBE6E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7" name="Picture 5">
            <a:extLst>
              <a:ext uri="{FF2B5EF4-FFF2-40B4-BE49-F238E27FC236}">
                <a16:creationId xmlns:a16="http://schemas.microsoft.com/office/drawing/2014/main" id="{25DD72B2-9FA7-19EE-E8DA-289A366C6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4113" y="1340993"/>
            <a:ext cx="5299751" cy="5188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045B67C-28D8-8F92-D5E1-DCB3CBC8BF35}"/>
              </a:ext>
            </a:extLst>
          </p:cNvPr>
          <p:cNvSpPr txBox="1"/>
          <p:nvPr/>
        </p:nvSpPr>
        <p:spPr>
          <a:xfrm>
            <a:off x="6696075" y="1568938"/>
            <a:ext cx="4485756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Target(Label)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</a:p>
        </p:txBody>
      </p:sp>
    </p:spTree>
    <p:extLst>
      <p:ext uri="{BB962C8B-B14F-4D97-AF65-F5344CB8AC3E}">
        <p14:creationId xmlns:p14="http://schemas.microsoft.com/office/powerpoint/2010/main" val="37615219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 with digits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21256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1908187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1957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(64,1)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(9,1)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505435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@(64,10)=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6030100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@(10,15)=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67266E-49A9-B43B-F9B1-5E459EB7BBE1}"/>
              </a:ext>
            </a:extLst>
          </p:cNvPr>
          <p:cNvSpPr txBox="1"/>
          <p:nvPr/>
        </p:nvSpPr>
        <p:spPr>
          <a:xfrm>
            <a:off x="2794899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C92AA3-36BF-6BF9-B680-42E31DF11212}"/>
              </a:ext>
            </a:extLst>
          </p:cNvPr>
          <p:cNvSpPr txBox="1"/>
          <p:nvPr/>
        </p:nvSpPr>
        <p:spPr>
          <a:xfrm>
            <a:off x="5486514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0E7D32-571C-3FBE-BBF0-59D88B5928BE}"/>
              </a:ext>
            </a:extLst>
          </p:cNvPr>
          <p:cNvSpPr txBox="1"/>
          <p:nvPr/>
        </p:nvSpPr>
        <p:spPr>
          <a:xfrm>
            <a:off x="7935151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692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35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43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r>
              <a:rPr lang="en-US" altLang="ko-KR" sz="200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Tutorials </a:t>
            </a:r>
            <a:r>
              <a:rPr lang="ko-KR" altLang="en-US" sz="200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65B004C-C66E-88A0-8CF7-33281CA27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86C36270-EFBC-B89D-7374-458A2B615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353762" cy="457517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878999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C4D521-46EF-3D1F-71D0-5ACCE5859CDC}"/>
              </a:ext>
            </a:extLst>
          </p:cNvPr>
          <p:cNvSpPr txBox="1"/>
          <p:nvPr/>
        </p:nvSpPr>
        <p:spPr>
          <a:xfrm>
            <a:off x="521207" y="1533236"/>
            <a:ext cx="1862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B8671C2-8C43-29BF-55CE-D04C955A1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672" y="1687124"/>
            <a:ext cx="6066299" cy="432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1339</TotalTime>
  <Words>2686</Words>
  <Application>Microsoft Office PowerPoint</Application>
  <PresentationFormat>와이드스크린</PresentationFormat>
  <Paragraphs>371</Paragraphs>
  <Slides>49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61" baseType="lpstr">
      <vt:lpstr>D2Coding</vt:lpstr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PowerPoint 프레젠테이션</vt:lpstr>
      <vt:lpstr>Neural Networks – text recognition</vt:lpstr>
      <vt:lpstr>Neural Networks – tensorflow playground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38</cp:revision>
  <dcterms:created xsi:type="dcterms:W3CDTF">2026-04-06T01:00:39Z</dcterms:created>
  <dcterms:modified xsi:type="dcterms:W3CDTF">2026-04-18T08:18:49Z</dcterms:modified>
  <cp:version/>
</cp:coreProperties>
</file>