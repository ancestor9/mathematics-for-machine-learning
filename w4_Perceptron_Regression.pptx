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1"/>
  </p:notesMasterIdLst>
  <p:handoutMasterIdLst>
    <p:handoutMasterId r:id="rId52"/>
  </p:handoutMasterIdLst>
  <p:sldIdLst>
    <p:sldId id="256" r:id="rId2"/>
    <p:sldId id="355" r:id="rId3"/>
    <p:sldId id="942" r:id="rId4"/>
    <p:sldId id="941" r:id="rId5"/>
    <p:sldId id="940" r:id="rId6"/>
    <p:sldId id="847" r:id="rId7"/>
    <p:sldId id="943" r:id="rId8"/>
    <p:sldId id="944" r:id="rId9"/>
    <p:sldId id="335" r:id="rId10"/>
    <p:sldId id="938" r:id="rId11"/>
    <p:sldId id="871" r:id="rId12"/>
    <p:sldId id="872" r:id="rId13"/>
    <p:sldId id="947" r:id="rId14"/>
    <p:sldId id="931" r:id="rId15"/>
    <p:sldId id="936" r:id="rId16"/>
    <p:sldId id="948" r:id="rId17"/>
    <p:sldId id="873" r:id="rId18"/>
    <p:sldId id="907" r:id="rId19"/>
    <p:sldId id="945" r:id="rId20"/>
    <p:sldId id="946" r:id="rId21"/>
    <p:sldId id="930" r:id="rId22"/>
    <p:sldId id="928" r:id="rId23"/>
    <p:sldId id="851" r:id="rId24"/>
    <p:sldId id="852" r:id="rId25"/>
    <p:sldId id="932" r:id="rId26"/>
    <p:sldId id="908" r:id="rId27"/>
    <p:sldId id="929" r:id="rId28"/>
    <p:sldId id="846" r:id="rId29"/>
    <p:sldId id="950" r:id="rId30"/>
    <p:sldId id="951" r:id="rId31"/>
    <p:sldId id="952" r:id="rId32"/>
    <p:sldId id="953" r:id="rId33"/>
    <p:sldId id="955" r:id="rId34"/>
    <p:sldId id="954" r:id="rId35"/>
    <p:sldId id="927" r:id="rId36"/>
    <p:sldId id="937" r:id="rId37"/>
    <p:sldId id="879" r:id="rId38"/>
    <p:sldId id="881" r:id="rId39"/>
    <p:sldId id="880" r:id="rId40"/>
    <p:sldId id="883" r:id="rId41"/>
    <p:sldId id="882" r:id="rId42"/>
    <p:sldId id="884" r:id="rId43"/>
    <p:sldId id="919" r:id="rId44"/>
    <p:sldId id="886" r:id="rId45"/>
    <p:sldId id="887" r:id="rId46"/>
    <p:sldId id="885" r:id="rId47"/>
    <p:sldId id="949" r:id="rId48"/>
    <p:sldId id="285" r:id="rId49"/>
    <p:sldId id="284" r:id="rId50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355"/>
            <p14:sldId id="942"/>
            <p14:sldId id="941"/>
            <p14:sldId id="940"/>
            <p14:sldId id="847"/>
            <p14:sldId id="943"/>
            <p14:sldId id="944"/>
            <p14:sldId id="335"/>
            <p14:sldId id="938"/>
            <p14:sldId id="871"/>
            <p14:sldId id="872"/>
            <p14:sldId id="947"/>
            <p14:sldId id="931"/>
            <p14:sldId id="936"/>
            <p14:sldId id="948"/>
            <p14:sldId id="873"/>
            <p14:sldId id="907"/>
            <p14:sldId id="945"/>
            <p14:sldId id="946"/>
            <p14:sldId id="930"/>
            <p14:sldId id="928"/>
            <p14:sldId id="851"/>
            <p14:sldId id="852"/>
            <p14:sldId id="932"/>
            <p14:sldId id="908"/>
            <p14:sldId id="929"/>
            <p14:sldId id="846"/>
            <p14:sldId id="950"/>
            <p14:sldId id="951"/>
            <p14:sldId id="952"/>
            <p14:sldId id="953"/>
            <p14:sldId id="955"/>
            <p14:sldId id="954"/>
            <p14:sldId id="927"/>
            <p14:sldId id="937"/>
            <p14:sldId id="879"/>
            <p14:sldId id="881"/>
            <p14:sldId id="880"/>
            <p14:sldId id="883"/>
            <p14:sldId id="882"/>
            <p14:sldId id="884"/>
            <p14:sldId id="919"/>
            <p14:sldId id="886"/>
            <p14:sldId id="887"/>
            <p14:sldId id="885"/>
            <p14:sldId id="949"/>
            <p14:sldId id="285"/>
            <p14:sldId id="284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D24726"/>
    <a:srgbClr val="404040"/>
    <a:srgbClr val="FF9B45"/>
    <a:srgbClr val="DD462F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3062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874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2026-04-18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2026-04-18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7A59-E5AC-B1ED-DE55-A1BA264B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2D7C13-2961-18D4-1CD0-B19FAFF5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29A1D-2C0B-048A-B0BB-649A20535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A4E76-C07C-A9A8-FD9B-58607D36A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91026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7A59-E5AC-B1ED-DE55-A1BA264B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2D7C13-2961-18D4-1CD0-B19FAFF5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29A1D-2C0B-048A-B0BB-649A20535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A4E76-C07C-A9A8-FD9B-58607D36A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236492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EC7A59-E5AC-B1ED-DE55-A1BA264B7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2D7C13-2961-18D4-1CD0-B19FAFF54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2A29A1D-2C0B-048A-B0BB-649A205358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A4E76-C07C-A9A8-FD9B-58607D36AE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62068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48AC44-DA24-83DE-416D-180E051BF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72C3AAD-4A1D-3766-29DC-6F335154CA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B404C09-64C0-94E9-00AC-FD995ED053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F59243-E4FD-E55D-D5B9-4263ACB881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226759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2A4481-FB67-9A46-3E1F-DE4BFFE5B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EBA0A7-F971-AA60-A7A0-E8C0B4CC6F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4ABA929-AC8F-F2B7-E1A3-F8E65AE412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2BD69C-3A7C-39EA-A02F-8CA92D1F93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60025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22509-A687-85EC-3956-9A0A7F710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479EDB7-56A6-39E2-AD6D-AEE8C09A51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0B3BD2-007D-29AD-630B-B58C7F7740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3F7988-991C-6E3E-0AAD-4AC2004AB9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169496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C81C2-20FB-1249-CB30-821F4CB8A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BA4B1E-E754-15CE-6616-24844628F0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21F0D68-E04D-EBD2-D009-1978D436E6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C1DCAF-B719-AADD-E51F-DCDF8DDCD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551999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D1476B-976D-3B9C-929C-0E6C2ECC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F018413-B452-869B-093F-7FCD8E11B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138A77C-E7F5-2598-FF2B-1405B870E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1E6329-4B53-5B91-7ED8-0902822AE2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48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11568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030A-8C46-08A6-BE42-6D086947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E5C43A-AB99-1868-ABC5-33973A29D6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4CBDB5B-08D5-C381-267F-2F7F812F96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22BDE-E4A5-6756-345E-02C31D4A2D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911495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2026-04-18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98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2026-04-18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hyperlink" Target="https://github.com/ancestor9/mathematics-for-machine-learning/blob/main/excel/random_distribution%26linear_regression.xlsx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hyperlink" Target="https://en.wikipedia.org/wiki/Henrietta_Swan_Leavitt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analytics17.blogspot.com/2017/08/2-1.html" TargetMode="Externa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0.png"/><Relationship Id="rId4" Type="http://schemas.openxmlformats.org/officeDocument/2006/relationships/hyperlink" Target="https://mlu-explain.github.io/linear-regression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1.png"/><Relationship Id="rId4" Type="http://schemas.openxmlformats.org/officeDocument/2006/relationships/hyperlink" Target="https://medium.com/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jpeg"/><Relationship Id="rId7" Type="http://schemas.openxmlformats.org/officeDocument/2006/relationships/image" Target="../media/image37.png"/><Relationship Id="rId2" Type="http://schemas.openxmlformats.org/officeDocument/2006/relationships/hyperlink" Target="https://scikit-learn.org/stable/modules/linear_model.html" TargetMode="External"/><Relationship Id="rId1" Type="http://schemas.openxmlformats.org/officeDocument/2006/relationships/slideLayout" Target="../slideLayouts/slideLayout4.xml"/><Relationship Id="rId10" Type="http://schemas.openxmlformats.org/officeDocument/2006/relationships/image" Target="../media/image21.png"/><Relationship Id="rId9" Type="http://schemas.openxmlformats.org/officeDocument/2006/relationships/hyperlink" Target="https://scikit-learn.org/stable/modules/generated/sklearn.linear_model.LinearRegression.html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scripts/w4_loss_function.ipynb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gif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jpe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scikit-learn.org/stable/modules/generated/sklearn.linear_model.SGDRegressor.html#sklearn.linear_model.SGDRegressor" TargetMode="External"/><Relationship Id="rId4" Type="http://schemas.openxmlformats.org/officeDocument/2006/relationships/image" Target="../media/image20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machine-learning/blob/main/scripts/w4_stochastic_gradient_descent.ipynb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gif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5.xml"/><Relationship Id="rId4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0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5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hyperlink" Target="https://www.101ai.net/nnet/backprop" TargetMode="Externa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t3VBY9OisCo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34.png"/><Relationship Id="rId4" Type="http://schemas.openxmlformats.org/officeDocument/2006/relationships/image" Target="../media/image65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5" Type="http://schemas.openxmlformats.org/officeDocument/2006/relationships/hyperlink" Target="https://github.com/ancestor9/mathematics-for-machine-learning/blob/main/scripts/w4_perceptron_wt_inputs.ipynb" TargetMode="External"/><Relationship Id="rId4" Type="http://schemas.openxmlformats.org/officeDocument/2006/relationships/image" Target="../media/image34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ncestor9/Mathematics-for-Big-Data-Science/blob/main/C1/w3/C1w3_graded_lab/C1_W3_Assignment_Perceptron.ipynb" TargetMode="External"/><Relationship Id="rId2" Type="http://schemas.openxmlformats.org/officeDocument/2006/relationships/hyperlink" Target="https://github.com/ancestor9/Mathematics-for-Big-Data-Science/blob/main/C1/w3/C1w3_graded_lab/C1_W3_Assignment.ipynb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github.com/ancestor9/Mathematics-for-Big-Data-Science/tree/main/C1/w3/C1w3_graded_lab" TargetMode="External"/><Relationship Id="rId5" Type="http://schemas.openxmlformats.org/officeDocument/2006/relationships/hyperlink" Target="https://github.com/ancestor9/Mathematics-for-Big-Data-Science/tree/main" TargetMode="External"/><Relationship Id="rId4" Type="http://schemas.openxmlformats.org/officeDocument/2006/relationships/hyperlink" Target="https://github.com/ancestor9/Mathematics-for-Big-Data-Science/blob/main/C1/w3/C1w3_graded_lab/C1_W3_Assignment_Perceptron_MSE.ipynb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40.png"/><Relationship Id="rId2" Type="http://schemas.openxmlformats.org/officeDocument/2006/relationships/image" Target="../media/image50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3.jpeg"/><Relationship Id="rId5" Type="http://schemas.openxmlformats.org/officeDocument/2006/relationships/image" Target="../media/image520.png"/><Relationship Id="rId4" Type="http://schemas.openxmlformats.org/officeDocument/2006/relationships/hyperlink" Target="https://en.wikipedia.org/wiki/Sign_function" TargetMode="Externa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101ai.net/deeplearn/activation" TargetMode="Externa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nnet/perceptron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0.png"/><Relationship Id="rId13" Type="http://schemas.openxmlformats.org/officeDocument/2006/relationships/image" Target="../media/image80.png"/><Relationship Id="rId18" Type="http://schemas.openxmlformats.org/officeDocument/2006/relationships/image" Target="../media/image85.png"/><Relationship Id="rId3" Type="http://schemas.openxmlformats.org/officeDocument/2006/relationships/image" Target="../media/image700.png"/><Relationship Id="rId7" Type="http://schemas.openxmlformats.org/officeDocument/2006/relationships/image" Target="../media/image740.png"/><Relationship Id="rId12" Type="http://schemas.openxmlformats.org/officeDocument/2006/relationships/image" Target="../media/image79.png"/><Relationship Id="rId17" Type="http://schemas.openxmlformats.org/officeDocument/2006/relationships/image" Target="../media/image56.png"/><Relationship Id="rId16" Type="http://schemas.openxmlformats.org/officeDocument/2006/relationships/image" Target="../media/image83.png"/><Relationship Id="rId20" Type="http://schemas.openxmlformats.org/officeDocument/2006/relationships/image" Target="../media/image8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30.png"/><Relationship Id="rId11" Type="http://schemas.openxmlformats.org/officeDocument/2006/relationships/image" Target="../media/image78.png"/><Relationship Id="rId5" Type="http://schemas.openxmlformats.org/officeDocument/2006/relationships/image" Target="../media/image720.png"/><Relationship Id="rId15" Type="http://schemas.openxmlformats.org/officeDocument/2006/relationships/image" Target="../media/image82.png"/><Relationship Id="rId10" Type="http://schemas.openxmlformats.org/officeDocument/2006/relationships/image" Target="../media/image770.png"/><Relationship Id="rId19" Type="http://schemas.openxmlformats.org/officeDocument/2006/relationships/image" Target="../media/image86.png"/><Relationship Id="rId4" Type="http://schemas.openxmlformats.org/officeDocument/2006/relationships/image" Target="../media/image710.png"/><Relationship Id="rId9" Type="http://schemas.openxmlformats.org/officeDocument/2006/relationships/image" Target="../media/image760.png"/><Relationship Id="rId14" Type="http://schemas.openxmlformats.org/officeDocument/2006/relationships/image" Target="../media/image810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101ai.net/deeplearn/data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0.png"/><Relationship Id="rId7" Type="http://schemas.openxmlformats.org/officeDocument/2006/relationships/image" Target="../media/image20.jpe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10.png"/><Relationship Id="rId5" Type="http://schemas.openxmlformats.org/officeDocument/2006/relationships/image" Target="../media/image600.png"/><Relationship Id="rId4" Type="http://schemas.openxmlformats.org/officeDocument/2006/relationships/image" Target="../media/image590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microsoft.com/office/2007/relationships/hdphoto" Target="../media/hdphoto3.wdp"/><Relationship Id="rId7" Type="http://schemas.microsoft.com/office/2007/relationships/hdphoto" Target="../media/hdphoto5.wdp"/><Relationship Id="rId12" Type="http://schemas.openxmlformats.org/officeDocument/2006/relationships/image" Target="../media/image68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5.png"/><Relationship Id="rId11" Type="http://schemas.microsoft.com/office/2007/relationships/hdphoto" Target="../media/hdphoto7.wdp"/><Relationship Id="rId5" Type="http://schemas.microsoft.com/office/2007/relationships/hdphoto" Target="../media/hdphoto4.wdp"/><Relationship Id="rId10" Type="http://schemas.openxmlformats.org/officeDocument/2006/relationships/image" Target="../media/image67.png"/><Relationship Id="rId4" Type="http://schemas.openxmlformats.org/officeDocument/2006/relationships/image" Target="../media/image64.png"/><Relationship Id="rId9" Type="http://schemas.microsoft.com/office/2007/relationships/hdphoto" Target="../media/hdphoto6.wdp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?hl=ko" TargetMode="External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ikidocs.net/24958" TargetMode="External"/><Relationship Id="rId5" Type="http://schemas.openxmlformats.org/officeDocument/2006/relationships/hyperlink" Target="https://keras.io/" TargetMode="External"/><Relationship Id="rId4" Type="http://schemas.openxmlformats.org/officeDocument/2006/relationships/hyperlink" Target="https://pytorch.org/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hyperlink" Target="https://projector.tensorflow.org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playground.tensorflow.org/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jpe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pPr rtl="0"/>
            <a:r>
              <a:rPr lang="en-US" altLang="ko-KR" sz="4800" dirty="0">
                <a:solidFill>
                  <a:schemeClr val="bg1"/>
                </a:solidFill>
              </a:rPr>
              <a:t>Deep Learning</a:t>
            </a:r>
            <a:endParaRPr lang="ko-KR" altLang="en-US" sz="4800" dirty="0">
              <a:solidFill>
                <a:schemeClr val="bg1"/>
              </a:solidFill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/>
          </a:bodyPr>
          <a:lstStyle/>
          <a:p>
            <a:r>
              <a:rPr lang="en-US" altLang="ko-KR" sz="2400" dirty="0">
                <a:solidFill>
                  <a:schemeClr val="bg1"/>
                </a:solidFill>
              </a:rPr>
              <a:t>Linear Regression and Perceptron </a:t>
            </a:r>
            <a:endParaRPr lang="ko-KR" altLang="en-US" sz="2400" dirty="0">
              <a:solidFill>
                <a:schemeClr val="bg1"/>
              </a:solidFill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</a:rPr>
              <a:t>2026 Spring</a:t>
            </a:r>
          </a:p>
          <a:p>
            <a:r>
              <a:rPr lang="ko-KR" altLang="en-US" sz="2400" dirty="0" err="1">
                <a:solidFill>
                  <a:schemeClr val="bg1"/>
                </a:solidFill>
              </a:rPr>
              <a:t>조상구교수</a:t>
            </a:r>
            <a:endParaRPr lang="en-US" altLang="ko-KR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B8F4-50C0-3F8F-FAC9-DCF66BC6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7CDC162-148D-2721-5DAE-5FEEB0F9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Motivation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3C7BADB-0A8C-CFB0-F75C-10F2A8FE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</a:t>
            </a:fld>
            <a:endParaRPr lang="ko-KR" altLang="en-US" noProof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75E0E3B5-B9DB-A121-39C8-5D8833498C7E}"/>
              </a:ext>
            </a:extLst>
          </p:cNvPr>
          <p:cNvGrpSpPr/>
          <p:nvPr/>
        </p:nvGrpSpPr>
        <p:grpSpPr>
          <a:xfrm>
            <a:off x="5249666" y="2293299"/>
            <a:ext cx="5133814" cy="4026682"/>
            <a:chOff x="5200496" y="2438880"/>
            <a:chExt cx="5133814" cy="4026682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85034654-E34D-72B4-9948-0D515D6A80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00496" y="2438880"/>
              <a:ext cx="5133814" cy="4026682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1505DBA-F2A8-999E-4B9A-98141463755C}"/>
                </a:ext>
              </a:extLst>
            </p:cNvPr>
            <p:cNvSpPr txBox="1"/>
            <p:nvPr/>
          </p:nvSpPr>
          <p:spPr>
            <a:xfrm>
              <a:off x="5793548" y="2438880"/>
              <a:ext cx="15055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400" dirty="0" err="1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linear_regression</a:t>
              </a:r>
              <a:endParaRPr lang="ko-KR" altLang="en-US" sz="14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endParaRP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95958B0C-1BB9-A28C-623E-EB95735D9931}"/>
              </a:ext>
            </a:extLst>
          </p:cNvPr>
          <p:cNvSpPr txBox="1"/>
          <p:nvPr/>
        </p:nvSpPr>
        <p:spPr>
          <a:xfrm>
            <a:off x="521207" y="1335014"/>
            <a:ext cx="1110027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기술통계분석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추정과 검정 등은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‘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무엇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(What)’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일어났는지 보여주는 색안경이라면 회귀분석은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(Why)'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일어났는지 보여주는 렌즈로 무질서해 보이던 데이터의 속에서 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인과관계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수학적 질서와 패턴을 읽어낼 수 있음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02C54E-DE49-6AFC-D81F-69C2C5052F16}"/>
              </a:ext>
            </a:extLst>
          </p:cNvPr>
          <p:cNvSpPr txBox="1"/>
          <p:nvPr/>
        </p:nvSpPr>
        <p:spPr>
          <a:xfrm>
            <a:off x="3072832" y="6365693"/>
            <a:ext cx="108389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</a:t>
            </a:r>
            <a:r>
              <a:rPr lang="en-US" altLang="ko-KR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1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분산 등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55D7B16-ABCA-4860-B5E7-A6320FD57B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98427" y="2257425"/>
            <a:ext cx="1083899" cy="4062556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FE3CA14-06EA-1CA5-994C-AC4D306CCF1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05492" y="2257426"/>
            <a:ext cx="2145613" cy="4108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104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66F61B-7453-135C-8AC4-CA8A5A1E0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63915"/>
            <a:ext cx="6877119" cy="640080"/>
          </a:xfrm>
        </p:spPr>
        <p:txBody>
          <a:bodyPr>
            <a:normAutofit/>
          </a:bodyPr>
          <a:lstStyle/>
          <a:p>
            <a:r>
              <a:rPr lang="en-US" altLang="ko-KR" sz="28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Henrietta_Swan_Leavitt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FC96A3-0E1D-DD20-A553-6DD267BCB1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</a:t>
            </a:fld>
            <a:endParaRPr lang="ko-KR" altLang="en-US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7B46B67-D997-B58E-788E-F3DBFA1A6C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8437" y="1470608"/>
            <a:ext cx="4482333" cy="4733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pper body and face of Henrietta Swan Leavitt">
            <a:extLst>
              <a:ext uri="{FF2B5EF4-FFF2-40B4-BE49-F238E27FC236}">
                <a16:creationId xmlns:a16="http://schemas.microsoft.com/office/drawing/2014/main" id="{10F67AC0-8BED-4C50-0DE3-A07C563834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6371" y="2070100"/>
            <a:ext cx="972845" cy="1291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CD83FD6-0BB3-0EE6-2BBB-6AA7B0C56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8080" y="1545176"/>
            <a:ext cx="6960246" cy="45288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단변량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분석의 한계: "밝기의 분포만 관찰함 (과거의 거울)"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천문학자들은 별의 밝기(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데이터를 보며 "어떤 별은 밝고 어떤 별은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어둡다"는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분포(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Shape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)와 평균만을 논할 수 있었습니다. 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왜 어떤 별은 12등급이고 어떤 별은 16등급인지, 그 흩어짐(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Variance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)의 이유를 밝힐 '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렌즈'가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없었기 때문입니다.</a:t>
            </a:r>
            <a:endParaRPr kumimoji="0" lang="en-US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회귀분석의 도입: "변동성(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Variance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당위성을 부여함 (원인의 렌즈)"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리비트는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별의 밝기가 변하는 주기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Logarithm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of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the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period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)라는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독립 변수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도입했습니다.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현상의 발견: 단순히 흩어져 있던 밝기 데이터들을 주기라는 축 위에 놓자, 놀랍게도 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직선(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Relationship</a:t>
            </a:r>
            <a:r>
              <a:rPr kumimoji="0" lang="ko-KR" altLang="ko-KR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형태가 나타났습니다.</a:t>
            </a:r>
          </a:p>
          <a:p>
            <a:pPr marL="628650" lvl="1" indent="-1714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v"/>
            </a:pP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불확실성의 지식화: "저 별은 왜 저렇게 밝지?“</a:t>
            </a:r>
            <a:r>
              <a:rPr kumimoji="0" lang="en-US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의문에 대해 "주기가 길기 때문(</a:t>
            </a:r>
            <a:r>
              <a:rPr kumimoji="0" lang="ko-KR" altLang="ko-KR" sz="1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x의</a:t>
            </a:r>
            <a:r>
              <a:rPr kumimoji="0" lang="ko-KR" altLang="ko-KR" sz="1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영향)"이라는 수학적 당위성을 부여한 것입니다.</a:t>
            </a:r>
          </a:p>
          <a:p>
            <a:pPr marL="171450" marR="0" lvl="0" indent="-1714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ko-KR" altLang="ko-KR" sz="1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48283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B8F4-50C0-3F8F-FAC9-DCF66BC6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07CDC162-148D-2721-5DAE-5FEEB0F9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Terminology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3C7BADB-0A8C-CFB0-F75C-10F2A8FE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1433E4-C192-2433-A2E9-B5BCAFC7FA01}"/>
              </a:ext>
            </a:extLst>
          </p:cNvPr>
          <p:cNvSpPr txBox="1"/>
          <p:nvPr/>
        </p:nvSpPr>
        <p:spPr>
          <a:xfrm>
            <a:off x="1764145" y="1384043"/>
            <a:ext cx="7250546" cy="36681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Loss Function</a:t>
            </a:r>
          </a:p>
          <a:p>
            <a:pPr marL="971550" lvl="1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MSE(Mean Squared Error)</a:t>
            </a:r>
          </a:p>
          <a:p>
            <a:pPr marL="971550" lvl="1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altLang="ko-KR" sz="2400" b="1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514350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Optimization(minimization, maximization)</a:t>
            </a:r>
          </a:p>
          <a:p>
            <a:pPr marL="971550" lvl="1" indent="-5143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</p:txBody>
      </p:sp>
    </p:spTree>
    <p:extLst>
      <p:ext uri="{BB962C8B-B14F-4D97-AF65-F5344CB8AC3E}">
        <p14:creationId xmlns:p14="http://schemas.microsoft.com/office/powerpoint/2010/main" val="358815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2B8F4-50C0-3F8F-FAC9-DCF66BC6C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F020723-0294-B282-4C97-3801608209F4}"/>
              </a:ext>
            </a:extLst>
          </p:cNvPr>
          <p:cNvSpPr/>
          <p:nvPr/>
        </p:nvSpPr>
        <p:spPr>
          <a:xfrm>
            <a:off x="734002" y="145793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07CDC162-148D-2721-5DAE-5FEEB0F9AD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83C7BADB-0A8C-CFB0-F75C-10F2A8FE4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5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71433E4-C192-2433-A2E9-B5BCAFC7FA01}"/>
              </a:ext>
            </a:extLst>
          </p:cNvPr>
          <p:cNvSpPr txBox="1"/>
          <p:nvPr/>
        </p:nvSpPr>
        <p:spPr>
          <a:xfrm>
            <a:off x="1764145" y="1384043"/>
            <a:ext cx="7250546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Neural Network Architecture</a:t>
            </a:r>
          </a:p>
        </p:txBody>
      </p:sp>
    </p:spTree>
    <p:extLst>
      <p:ext uri="{BB962C8B-B14F-4D97-AF65-F5344CB8AC3E}">
        <p14:creationId xmlns:p14="http://schemas.microsoft.com/office/powerpoint/2010/main" val="3750217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D93EA5-99CC-6B44-83F5-540BF3A6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C4210D-B484-A19F-8777-CF1AE1FF5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22F308-10D7-76DC-330D-AFCF4C314D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945" y="1887499"/>
            <a:ext cx="4797395" cy="422558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</a:t>
            </a:r>
            <a:r>
              <a:rPr lang="en-US" altLang="ko-KR" sz="16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6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함수</a:t>
            </a:r>
            <a:r>
              <a:rPr lang="en-US" altLang="ko-KR" sz="16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데이터와 선형회귀식의 예측 값과의 차이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구하고，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차이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제곱의 모든 합이 최소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(Minimization)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되는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선형회귀식의 파라미터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(Parameter), 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계수</a:t>
            </a:r>
            <a:r>
              <a:rPr lang="en-US" altLang="ko-KR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(coefficients)</a:t>
            </a: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찾는 최적화 과정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평균에 회귀하는 수식함수라 이상치에 민감</a:t>
            </a:r>
            <a:endParaRPr lang="en-US" altLang="ko-KR" sz="16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938662-2B68-DDB0-D5D4-BF2ADA739A97}"/>
              </a:ext>
            </a:extLst>
          </p:cNvPr>
          <p:cNvSpPr txBox="1"/>
          <p:nvPr/>
        </p:nvSpPr>
        <p:spPr>
          <a:xfrm>
            <a:off x="5676900" y="6093649"/>
            <a:ext cx="362902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https://analytics17.blogspot.com/2017/08/2-1.html</a:t>
            </a:r>
            <a:r>
              <a:rPr lang="ko-KR" altLang="en-US" sz="1200" dirty="0"/>
              <a:t> </a:t>
            </a: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7A5554C-B588-F8E2-39C1-0661AA1724C3}"/>
              </a:ext>
            </a:extLst>
          </p:cNvPr>
          <p:cNvGrpSpPr/>
          <p:nvPr/>
        </p:nvGrpSpPr>
        <p:grpSpPr>
          <a:xfrm>
            <a:off x="5781673" y="1924050"/>
            <a:ext cx="5404487" cy="4112211"/>
            <a:chOff x="5781673" y="1924050"/>
            <a:chExt cx="5065245" cy="3762753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77DF77E8-48D8-1C11-E742-2FF576CE1ED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81673" y="1924050"/>
              <a:ext cx="5065245" cy="376275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4B76198-7BDB-2635-FFAD-9401FE5555EA}"/>
                </a:ext>
              </a:extLst>
            </p:cNvPr>
            <p:cNvSpPr/>
            <p:nvPr/>
          </p:nvSpPr>
          <p:spPr>
            <a:xfrm>
              <a:off x="9305925" y="2638199"/>
              <a:ext cx="386715" cy="344974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67AC9867-39BD-55A1-3ED2-5B9D6DA02C32}"/>
                </a:ext>
              </a:extLst>
            </p:cNvPr>
            <p:cNvSpPr/>
            <p:nvPr/>
          </p:nvSpPr>
          <p:spPr>
            <a:xfrm>
              <a:off x="8475345" y="3467390"/>
              <a:ext cx="361315" cy="356461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CA6954AB-B213-A17D-3C1F-85D7A5234449}"/>
                </a:ext>
              </a:extLst>
            </p:cNvPr>
            <p:cNvSpPr/>
            <p:nvPr/>
          </p:nvSpPr>
          <p:spPr>
            <a:xfrm>
              <a:off x="7310754" y="3658405"/>
              <a:ext cx="446406" cy="425915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7B081DE-6B68-1E55-7B58-0C8FA896077E}"/>
              </a:ext>
            </a:extLst>
          </p:cNvPr>
          <p:cNvSpPr txBox="1"/>
          <p:nvPr/>
        </p:nvSpPr>
        <p:spPr>
          <a:xfrm>
            <a:off x="6474470" y="1411845"/>
            <a:ext cx="35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Understanding of linear-regression/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CE937F-706C-6F21-F5A8-22B3129A5FE0}"/>
                  </a:ext>
                </a:extLst>
              </p:cNvPr>
              <p:cNvSpPr txBox="1"/>
              <p:nvPr/>
            </p:nvSpPr>
            <p:spPr>
              <a:xfrm>
                <a:off x="8588426" y="4902855"/>
                <a:ext cx="2308174" cy="461665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ko-KR" altLang="en-US" sz="240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ko-K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ko-KR" alt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ko-KR" altLang="en-US" sz="2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ko-K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ko-KR" altLang="en-US" sz="2400" i="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ko-KR" alt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sSub>
                        <m:sSubPr>
                          <m:ctrlP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ko-KR" alt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ko-KR" alt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0CE937F-706C-6F21-F5A8-22B3129A5F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8426" y="4902855"/>
                <a:ext cx="2308174" cy="461665"/>
              </a:xfrm>
              <a:prstGeom prst="rect">
                <a:avLst/>
              </a:prstGeom>
              <a:blipFill>
                <a:blip r:embed="rId5"/>
                <a:stretch>
                  <a:fillRect t="-3947" b="-171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제목 7">
            <a:extLst>
              <a:ext uri="{FF2B5EF4-FFF2-40B4-BE49-F238E27FC236}">
                <a16:creationId xmlns:a16="http://schemas.microsoft.com/office/drawing/2014/main" id="{42FDDF0F-6EDA-C345-5E1E-A829656B4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</a:t>
            </a:r>
            <a:r>
              <a:rPr lang="ko-KR" altLang="en-US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0544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24992-35A4-8C37-8EE5-9B0C6F751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1A5E7C-7EBA-7B23-6643-670075CF6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제목 7">
            <a:extLst>
              <a:ext uri="{FF2B5EF4-FFF2-40B4-BE49-F238E27FC236}">
                <a16:creationId xmlns:a16="http://schemas.microsoft.com/office/drawing/2014/main" id="{9CCB927E-B895-7B15-8ECF-2288041B2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</a:t>
            </a:r>
            <a:r>
              <a:rPr lang="ko-KR" altLang="en-US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as dot product form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1749C635-04BC-7683-40A3-979E794AB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781" y="1479008"/>
            <a:ext cx="6496708" cy="4653937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2247E886-7E6D-5155-217E-3B9B64C835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5581" y="1535318"/>
            <a:ext cx="3452742" cy="1118721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EBA3757-2B28-6602-82A3-FC13934DDC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6026" y="3044999"/>
            <a:ext cx="2684822" cy="1375851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A92B8496-E773-CA04-F88C-02C76CBC16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6026" y="4804866"/>
            <a:ext cx="2006450" cy="132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7749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92F8F-A4B0-3BC9-D2B1-6376199EF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1D4E63-0F02-CB99-9D75-F5889DDC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제목 7">
            <a:extLst>
              <a:ext uri="{FF2B5EF4-FFF2-40B4-BE49-F238E27FC236}">
                <a16:creationId xmlns:a16="http://schemas.microsoft.com/office/drawing/2014/main" id="{04121093-E765-61EA-FCDD-986F5741E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Linear</a:t>
            </a:r>
            <a:r>
              <a:rPr lang="ko-KR" altLang="en-US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as dot product form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3F376B3-7183-B4E1-CF4D-B0685C11C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0611" y="2922919"/>
            <a:ext cx="2449526" cy="485355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4AB75CA-D344-A44D-2CC6-9FDC2D5FE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422" y="2922919"/>
            <a:ext cx="4686711" cy="16077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8C9CB0-2EF1-D407-9979-1B80825CEFB6}"/>
                  </a:ext>
                </a:extLst>
              </p:cNvPr>
              <p:cNvSpPr txBox="1"/>
              <p:nvPr/>
            </p:nvSpPr>
            <p:spPr>
              <a:xfrm>
                <a:off x="521206" y="1450999"/>
                <a:ext cx="111273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실제 값과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예측값의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차이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dirty="0">
                        <a:latin typeface="Cambria Math" panose="02040503050406030204" pitchFamily="18" charset="0"/>
                      </a:rPr>
                      <m:t>ⅇ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의 제곱 합의 평균인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MSE(Mean Squared Error), 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손실함수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:r>
                  <a:rPr lang="en-US" altLang="ko-KR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LossFunction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설정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8C9CB0-2EF1-D407-9979-1B80825CE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1206" y="1450999"/>
                <a:ext cx="11127319" cy="369332"/>
              </a:xfrm>
              <a:prstGeom prst="rect">
                <a:avLst/>
              </a:prstGeom>
              <a:blipFill>
                <a:blip r:embed="rId4"/>
                <a:stretch>
                  <a:fillRect l="-438" t="-8197" b="-2459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4A4021B1-7EBC-E445-7862-79E9D6F13C0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611" y="4245012"/>
            <a:ext cx="1708943" cy="792658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3024A05-BB04-429F-B20A-E553D4D6273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9554" y="4267669"/>
            <a:ext cx="1085111" cy="740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57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C324B-8D95-E95D-3023-495A2775D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9AEAD823-3A3E-BE0F-C5B8-2B2976E24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39444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Fitting a line to data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13F624C-7EF1-02BD-6478-A25E8DCA51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9</a:t>
            </a:fld>
            <a:endParaRPr lang="ko-KR" altLang="en-US" noProof="0"/>
          </a:p>
        </p:txBody>
      </p:sp>
      <p:pic>
        <p:nvPicPr>
          <p:cNvPr id="23554" name="Picture 2">
            <a:extLst>
              <a:ext uri="{FF2B5EF4-FFF2-40B4-BE49-F238E27FC236}">
                <a16:creationId xmlns:a16="http://schemas.microsoft.com/office/drawing/2014/main" id="{84A11B83-64F8-70E3-AE1B-71439B233C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795" y="2752344"/>
            <a:ext cx="6451093" cy="3521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A197130-6E5F-9D66-5CB9-1198D38CF95D}"/>
              </a:ext>
            </a:extLst>
          </p:cNvPr>
          <p:cNvSpPr txBox="1"/>
          <p:nvPr/>
        </p:nvSpPr>
        <p:spPr>
          <a:xfrm>
            <a:off x="2005070" y="6203952"/>
            <a:ext cx="249821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https://medium.com/</a:t>
            </a:r>
            <a:r>
              <a:rPr lang="ko-KR" altLang="en-US" sz="1200"/>
              <a:t> </a:t>
            </a:r>
            <a:endParaRPr lang="ko-KR" altLang="en-US" sz="1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AB8783-03DD-7D12-9357-AE219CAA886F}"/>
                  </a:ext>
                </a:extLst>
              </p:cNvPr>
              <p:cNvSpPr txBox="1"/>
              <p:nvPr/>
            </p:nvSpPr>
            <p:spPr>
              <a:xfrm>
                <a:off x="616456" y="1286560"/>
                <a:ext cx="10508743" cy="9573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ko-KR" altLang="en-US" sz="2000" dirty="0" smtClean="0">
                        <a:latin typeface="Cambria Math" panose="02040503050406030204" pitchFamily="18" charset="0"/>
                      </a:rPr>
                      <m:t>ⅇ</m:t>
                    </m:r>
                  </m:oMath>
                </a14:m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의 제곱 합의 평균인 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MSE(Mean Squared Error), 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손실함수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(Loss Function)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최소화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(Optimization)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하는 계수</a:t>
                </a:r>
                <a:r>
                  <a:rPr lang="en-US" altLang="ko-KR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(Coefficients)</a:t>
                </a:r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</a:t>
                </a:r>
                <a14:m>
                  <m:oMath xmlns:m="http://schemas.openxmlformats.org/officeDocument/2006/math">
                    <m:r>
                      <a:rPr lang="ko-KR" altLang="en-US" sz="2000" i="1" dirty="0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ko-KR" altLang="en-US" sz="2000" i="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sz="2000" b="0" i="0" dirty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ko-KR" altLang="en-US" sz="2000" i="0" dirty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ko-KR" altLang="en-US" sz="2000" i="0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,  </m:t>
                    </m:r>
                    <m:sSub>
                      <m:sSub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ko-KR" altLang="en-US" sz="2000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,  …...</m:t>
                    </m:r>
                    <m:r>
                      <a:rPr lang="ko-KR" altLang="en-US" sz="2000" i="0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ko-KR" alt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ko-KR" altLang="en-US" sz="20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sz="2000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ko-KR" altLang="en-US" sz="2000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을 찾아내라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BAB8783-03DD-7D12-9357-AE219CAA88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456" y="1286560"/>
                <a:ext cx="10508743" cy="957378"/>
              </a:xfrm>
              <a:prstGeom prst="rect">
                <a:avLst/>
              </a:prstGeom>
              <a:blipFill>
                <a:blip r:embed="rId5"/>
                <a:stretch>
                  <a:fillRect l="-580" b="-101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6983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1FC14-9AB2-5C2C-C823-CB3077735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6A99E8-30D0-8408-F941-F453B2CBA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70" y="396258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Matrix Formulation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9DBF7D-1F4C-F6E7-D9F8-E4267EC0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B8E1880-0EE2-7E95-B978-FFBA25E40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795" y="2291326"/>
            <a:ext cx="6624926" cy="21019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808319F-6940-D88F-0A15-5533635BD384}"/>
              </a:ext>
            </a:extLst>
          </p:cNvPr>
          <p:cNvSpPr txBox="1"/>
          <p:nvPr/>
        </p:nvSpPr>
        <p:spPr>
          <a:xfrm>
            <a:off x="7538721" y="2291326"/>
            <a:ext cx="4348479" cy="210198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p) @ (p, 1) + (n,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p) @ (p,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(n, 1) = (n, 1) – (n, 1) = (n,1) - (n, p) @ (p, 1)</a:t>
            </a:r>
          </a:p>
          <a:p>
            <a:pPr>
              <a:lnSpc>
                <a:spcPct val="200000"/>
              </a:lnSpc>
            </a:pPr>
            <a:r>
              <a:rPr lang="en-US" altLang="ko-KR" sz="17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1) = 1/n * (1, n)@(n, 1)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1534F1F3-D829-72EE-41EC-A1C576D61F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308439"/>
            <a:ext cx="10706705" cy="529886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선형회귀식</a:t>
            </a:r>
            <a:r>
              <a:rPr lang="en-US" altLang="ko-KR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(Linear regression)</a:t>
            </a:r>
            <a:r>
              <a:rPr lang="ko-KR" altLang="en-US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행렬</a:t>
            </a:r>
            <a:r>
              <a:rPr lang="en-US" altLang="ko-KR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</a:t>
            </a:r>
            <a:r>
              <a:rPr lang="en-US" altLang="ko-KR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스칼라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등의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내적으로 </a:t>
            </a:r>
            <a:r>
              <a:rPr lang="ko-KR" altLang="en-US" sz="1800" cap="none" dirty="0">
                <a:effectLst/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표현</a:t>
            </a:r>
            <a:endParaRPr lang="en-US" altLang="ko-KR" sz="1800" cap="none" dirty="0">
              <a:effectLst/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249895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4D5C5-D1C0-2EAC-D146-0F2AC0629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B88C44-EEF5-724D-88A2-AA6DAE6DA4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70" y="396258"/>
            <a:ext cx="10353762" cy="766439"/>
          </a:xfrm>
        </p:spPr>
        <p:txBody>
          <a:bodyPr>
            <a:normAutofit/>
          </a:bodyPr>
          <a:lstStyle/>
          <a:p>
            <a:r>
              <a:rPr lang="en-US" altLang="ko-KR" sz="2800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Ordinary Least Squares</a:t>
            </a:r>
            <a:endParaRPr lang="ko-KR" altLang="en-US" sz="2800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270557-E1CB-D333-5F7F-F4856E8DD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74EE4-EFF9-A751-C20A-954270309BEB}"/>
                  </a:ext>
                </a:extLst>
              </p:cNvPr>
              <p:cNvSpPr txBox="1"/>
              <p:nvPr/>
            </p:nvSpPr>
            <p:spPr>
              <a:xfrm>
                <a:off x="582447" y="1216852"/>
                <a:ext cx="11009478" cy="87055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원 자료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선형식으로 이루어졌다고 모델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설정하고 실제 값과 모델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예측값의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차이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ko-KR" altLang="en-US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ko-KR" alt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- </a:t>
                </a:r>
                <a14:m>
                  <m:oMath xmlns:m="http://schemas.openxmlformats.org/officeDocument/2006/math"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인 </a:t>
                </a:r>
                <a14:m>
                  <m:oMath xmlns:m="http://schemas.openxmlformats.org/officeDocument/2006/math">
                    <m:r>
                      <a:rPr lang="ko-KR" alt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최소화하는 과정으로 </a:t>
                </a:r>
                <a14:m>
                  <m:oMath xmlns:m="http://schemas.openxmlformats.org/officeDocument/2006/math">
                    <m:r>
                      <a:rPr lang="ko-KR" altLang="en-US" dirty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벡터 의 </a:t>
                </a:r>
                <a:r>
                  <a:rPr lang="ko-KR" altLang="en-US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Norm의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제곱을 최소화하는 과정과 동일하다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.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B0174EE4-EFF9-A751-C20A-954270309B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47" y="1216852"/>
                <a:ext cx="11009478" cy="870559"/>
              </a:xfrm>
              <a:prstGeom prst="rect">
                <a:avLst/>
              </a:prstGeom>
              <a:blipFill>
                <a:blip r:embed="rId7"/>
                <a:stretch>
                  <a:fillRect l="-498" b="-1056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81CFE5D-23C1-7AB0-C7C8-BC837AA8C7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6"/>
            <a:ext cx="1548244" cy="1024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24E9B6-4961-D2F5-200B-7BC82C4E864F}"/>
              </a:ext>
            </a:extLst>
          </p:cNvPr>
          <p:cNvSpPr txBox="1"/>
          <p:nvPr/>
        </p:nvSpPr>
        <p:spPr>
          <a:xfrm>
            <a:off x="5401684" y="3053638"/>
            <a:ext cx="5275552" cy="1285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왼쪽 데이터를 사용하여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scikit-learn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의 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  <a:hlinkClick r:id="rId9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150000"/>
              </a:lnSpc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LinearRegression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으로 회귀식을 구해 계수를 서로 비교하라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9F24BF1-3898-6B9C-89C6-2B7B1B3ABD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96208" y="2410682"/>
            <a:ext cx="2222821" cy="4177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4084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4E4F8-12B7-84F6-67FE-741845805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9F2E29C-09FA-E082-C55F-9585B7A8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AA6105E-4140-477B-7DCF-2A2E711672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7DD94376-4403-4C5C-2798-FEA60EA6400C}"/>
              </a:ext>
            </a:extLst>
          </p:cNvPr>
          <p:cNvSpPr txBox="1">
            <a:spLocks/>
          </p:cNvSpPr>
          <p:nvPr/>
        </p:nvSpPr>
        <p:spPr>
          <a:xfrm>
            <a:off x="537021" y="602339"/>
            <a:ext cx="10353762" cy="556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대수학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(Project)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01DCA9-D8DE-A682-34B7-BD2842C0B192}"/>
              </a:ext>
            </a:extLst>
          </p:cNvPr>
          <p:cNvSpPr txBox="1"/>
          <p:nvPr/>
        </p:nvSpPr>
        <p:spPr>
          <a:xfrm>
            <a:off x="1441896" y="2787549"/>
            <a:ext cx="4349304" cy="332398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import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sympy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as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# 1.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기호 변수 및 데이터 정의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w, b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sp.symbols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('w b')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x_vals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= [1, 2, 3, 4, 5]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y_vals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= [2.1, 3.9, 6.2, 8.1, 10.1]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len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x_vals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)</a:t>
            </a:r>
          </a:p>
          <a:p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# 2.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손실 함수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(MSE)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수식화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loss = 0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for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in range(n):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    prediction = w *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x_vals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[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] + b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    loss += (prediction -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y_vals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[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i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])**2</a:t>
            </a:r>
          </a:p>
          <a:p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loss = loss / n    # MSE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2CB4E6-E15F-62DE-AE9B-422EB6956C75}"/>
              </a:ext>
            </a:extLst>
          </p:cNvPr>
          <p:cNvSpPr txBox="1"/>
          <p:nvPr/>
        </p:nvSpPr>
        <p:spPr>
          <a:xfrm>
            <a:off x="6171058" y="2787549"/>
            <a:ext cx="5062501" cy="267765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# 3.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기울기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(w)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와 절편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(b)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에 대한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편미분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sp.diff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(loss, w)</a:t>
            </a:r>
          </a:p>
          <a:p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sp.diff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(loss, b)</a:t>
            </a:r>
          </a:p>
          <a:p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f"w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에 대한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미분식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f"b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에 대한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미분식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: {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}")</a:t>
            </a:r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</a:b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# 4.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미분값이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이 되는 연립 방정식 풀이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solution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sp.solve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diff_w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diff_b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), (w, b))</a:t>
            </a:r>
          </a:p>
          <a:p>
            <a:b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</a:b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최적의 기울기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(w): {solution[w]:.4f}")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print(f"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최적의 절편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Dubai Medium" panose="020B0603030403030204" pitchFamily="34" charset="-78"/>
              </a:rPr>
              <a:t>(b): {solution[b]:.4f}")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Dubai Medium" panose="020B0603030403030204" pitchFamily="34" charset="-78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DE6C56-8C04-C821-C062-22787CF3C890}"/>
              </a:ext>
            </a:extLst>
          </p:cNvPr>
          <p:cNvSpPr txBox="1"/>
          <p:nvPr/>
        </p:nvSpPr>
        <p:spPr>
          <a:xfrm>
            <a:off x="537021" y="1396721"/>
            <a:ext cx="11268075" cy="11526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단순회귀식의 손실함수를 정의하고 대수학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모듈인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sympy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작성한 코드이다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diff_w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diff_b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미분방정식은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선형연립방정식으로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모두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될 때 손실함수가 가장 적다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선형방정식의 해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(w,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행렬식으로 변환하여 역행렬을 이용하여 구하고 아래 결과와 동일한지 확인하라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w4_loss_function.ipynb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코드 참고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645827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0F436-6053-FD89-1446-89B8C57BE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DA4FAE3-4AC5-2FA0-0D54-956F0333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BE53A998-A58D-FA2C-6620-C333A654B0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C394F579-8FE9-23E0-8239-B37344AFA494}"/>
              </a:ext>
            </a:extLst>
          </p:cNvPr>
          <p:cNvSpPr txBox="1">
            <a:spLocks/>
          </p:cNvSpPr>
          <p:nvPr/>
        </p:nvSpPr>
        <p:spPr>
          <a:xfrm>
            <a:off x="537021" y="602339"/>
            <a:ext cx="10353762" cy="556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대수학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(Project)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F323F81-3CF7-4939-B4DB-0F665B131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449" y="1561098"/>
            <a:ext cx="5542551" cy="465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D2B8666-8C0D-C4C5-9352-5B1143B83C12}"/>
              </a:ext>
            </a:extLst>
          </p:cNvPr>
          <p:cNvSpPr txBox="1"/>
          <p:nvPr/>
        </p:nvSpPr>
        <p:spPr>
          <a:xfrm>
            <a:off x="6315076" y="1885936"/>
            <a:ext cx="5542552" cy="11526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# Equations are at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Optimal point(w, b):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diff_w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22*w + 6*b - 44.56 = 0  =&gt;  22*w + 6*b = 44.56</a:t>
            </a:r>
          </a:p>
          <a:p>
            <a:pPr>
              <a:lnSpc>
                <a:spcPct val="150000"/>
              </a:lnSpc>
            </a:pP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diff_b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= 6*w + 2*b - 12.16 = 0  =&gt;   6*w + 2*b = 12.16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58E7B21F-0BE0-9A81-484F-6CA16EC53759}"/>
              </a:ext>
            </a:extLst>
          </p:cNvPr>
          <p:cNvCxnSpPr/>
          <p:nvPr/>
        </p:nvCxnSpPr>
        <p:spPr>
          <a:xfrm>
            <a:off x="8782050" y="3190875"/>
            <a:ext cx="0" cy="838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93F1C0D-3A98-56DD-D8A9-D5BC8F75F446}"/>
              </a:ext>
            </a:extLst>
          </p:cNvPr>
          <p:cNvSpPr txBox="1"/>
          <p:nvPr/>
        </p:nvSpPr>
        <p:spPr>
          <a:xfrm>
            <a:off x="6315076" y="4293243"/>
            <a:ext cx="515302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행렬식으로 변환하여 역행렬로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w, b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구하라</a:t>
            </a:r>
          </a:p>
        </p:txBody>
      </p:sp>
    </p:spTree>
    <p:extLst>
      <p:ext uri="{BB962C8B-B14F-4D97-AF65-F5344CB8AC3E}">
        <p14:creationId xmlns:p14="http://schemas.microsoft.com/office/powerpoint/2010/main" val="2694032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F959B-9F8A-E278-5C4A-F76AA547C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8B76A31-430E-4AFE-FC1A-725748E9B71C}"/>
              </a:ext>
            </a:extLst>
          </p:cNvPr>
          <p:cNvSpPr/>
          <p:nvPr/>
        </p:nvSpPr>
        <p:spPr>
          <a:xfrm>
            <a:off x="734002" y="1983448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5F4B479B-CED5-9339-49A4-664509216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2E25E364-035C-85C6-18BE-3B7D366475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14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D696C0E-3F45-288C-7A19-C7EEA5031C2B}"/>
              </a:ext>
            </a:extLst>
          </p:cNvPr>
          <p:cNvSpPr txBox="1"/>
          <p:nvPr/>
        </p:nvSpPr>
        <p:spPr>
          <a:xfrm>
            <a:off x="1764145" y="1384043"/>
            <a:ext cx="7250546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</a:p>
        </p:txBody>
      </p:sp>
    </p:spTree>
    <p:extLst>
      <p:ext uri="{BB962C8B-B14F-4D97-AF65-F5344CB8AC3E}">
        <p14:creationId xmlns:p14="http://schemas.microsoft.com/office/powerpoint/2010/main" val="4183007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48A9D-80A6-605A-D534-425E76531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98F20E-8EE0-78A5-D0EA-4B644EEC1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79B03C88-270A-EE2C-3233-714AAFEC9BE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Stochastic Gradient Descent Algorithm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A3CACE-DE81-CBDF-798D-06984882AC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495" y="1604437"/>
            <a:ext cx="5381131" cy="3984803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49E78179-2E09-0355-C041-22C079CFD5A4}"/>
              </a:ext>
            </a:extLst>
          </p:cNvPr>
          <p:cNvSpPr/>
          <p:nvPr/>
        </p:nvSpPr>
        <p:spPr>
          <a:xfrm>
            <a:off x="2905919" y="2156425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" name="구부러진 연결선 11">
            <a:extLst>
              <a:ext uri="{FF2B5EF4-FFF2-40B4-BE49-F238E27FC236}">
                <a16:creationId xmlns:a16="http://schemas.microsoft.com/office/drawing/2014/main" id="{BF0E4733-A836-DC62-3DDB-852B81B9F73E}"/>
              </a:ext>
            </a:extLst>
          </p:cNvPr>
          <p:cNvCxnSpPr>
            <a:cxnSpLocks/>
            <a:stCxn id="9" idx="2"/>
            <a:endCxn id="16" idx="1"/>
          </p:cNvCxnSpPr>
          <p:nvPr/>
        </p:nvCxnSpPr>
        <p:spPr>
          <a:xfrm rot="16200000" flipH="1">
            <a:off x="3124616" y="2458456"/>
            <a:ext cx="2896815" cy="2758145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E18941F-B0F9-67C5-F662-E6B4EE6F98DF}"/>
              </a:ext>
            </a:extLst>
          </p:cNvPr>
          <p:cNvSpPr txBox="1"/>
          <p:nvPr/>
        </p:nvSpPr>
        <p:spPr>
          <a:xfrm>
            <a:off x="7620514" y="1434004"/>
            <a:ext cx="2648935" cy="888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Let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α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=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β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=0,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y_hat =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α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 + </a:t>
            </a:r>
            <a:r>
              <a:rPr lang="el-GR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β</a:t>
            </a:r>
            <a:r>
              <a:rPr lang="ko-KR" altLang="en-US" sz="1200">
                <a:latin typeface="Arial Narrow" panose="020B0606020202030204" pitchFamily="34" charset="0"/>
                <a:ea typeface="맑은 고딕" panose="020B0503020000020004" pitchFamily="50" charset="-127"/>
              </a:rPr>
              <a:t>* </a:t>
            </a: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X(instance)   </a:t>
            </a:r>
          </a:p>
          <a:p>
            <a:pPr>
              <a:lnSpc>
                <a:spcPct val="150000"/>
              </a:lnSpc>
            </a:pPr>
            <a:r>
              <a:rPr lang="en-US" altLang="ko-KR" sz="1200">
                <a:latin typeface="Arial Narrow" panose="020B0606020202030204" pitchFamily="34" charset="0"/>
                <a:ea typeface="맑은 고딕" panose="020B0503020000020004" pitchFamily="50" charset="-127"/>
              </a:rPr>
              <a:t>error = y_hat - y</a:t>
            </a:r>
            <a:endParaRPr lang="ko-KR" altLang="en-US" sz="1200">
              <a:latin typeface="Arial Narrow" panose="020B0606020202030204" pitchFamily="34" charset="0"/>
            </a:endParaRPr>
          </a:p>
        </p:txBody>
      </p:sp>
      <p:pic>
        <p:nvPicPr>
          <p:cNvPr id="12" name="_x422600552" descr="DRW00004be805ca">
            <a:extLst>
              <a:ext uri="{FF2B5EF4-FFF2-40B4-BE49-F238E27FC236}">
                <a16:creationId xmlns:a16="http://schemas.microsoft.com/office/drawing/2014/main" id="{CA140FD1-229F-BE57-FCAD-4A8ADDB11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52501" y="1604437"/>
            <a:ext cx="2362060" cy="547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1AD573-1CBB-4023-F7C6-802D274C385F}"/>
              </a:ext>
            </a:extLst>
          </p:cNvPr>
          <p:cNvSpPr/>
          <p:nvPr/>
        </p:nvSpPr>
        <p:spPr>
          <a:xfrm>
            <a:off x="6200911" y="2414721"/>
            <a:ext cx="147829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>
                <a:latin typeface="Arial Narrow" panose="020B0606020202030204" pitchFamily="34" charset="0"/>
                <a:ea typeface="맑은 고딕" panose="020B0503020000020004" pitchFamily="50" charset="-127"/>
              </a:rPr>
              <a:t>Recursive iterations</a:t>
            </a:r>
            <a:endParaRPr lang="ko-KR" altLang="en-US" sz="1400" u="sng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64A49041-B721-4B86-3514-E8E380D285C4}"/>
              </a:ext>
            </a:extLst>
          </p:cNvPr>
          <p:cNvSpPr/>
          <p:nvPr/>
        </p:nvSpPr>
        <p:spPr>
          <a:xfrm>
            <a:off x="6266634" y="1266956"/>
            <a:ext cx="13468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400" u="sng">
                <a:latin typeface="Arial Narrow" panose="020B0606020202030204" pitchFamily="34" charset="0"/>
                <a:ea typeface="맑은 고딕" panose="020B0503020000020004" pitchFamily="50" charset="-127"/>
              </a:rPr>
              <a:t>Initialized settings</a:t>
            </a:r>
            <a:endParaRPr lang="ko-KR" altLang="en-US" sz="1400" u="sng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805CDB8F-66D5-E0F1-65C3-4434DA3C88CA}"/>
              </a:ext>
            </a:extLst>
          </p:cNvPr>
          <p:cNvCxnSpPr>
            <a:stCxn id="14" idx="2"/>
            <a:endCxn id="13" idx="0"/>
          </p:cNvCxnSpPr>
          <p:nvPr/>
        </p:nvCxnSpPr>
        <p:spPr>
          <a:xfrm>
            <a:off x="6940056" y="1574733"/>
            <a:ext cx="0" cy="8399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그림 15">
            <a:extLst>
              <a:ext uri="{FF2B5EF4-FFF2-40B4-BE49-F238E27FC236}">
                <a16:creationId xmlns:a16="http://schemas.microsoft.com/office/drawing/2014/main" id="{10ED7DF1-E89E-94D9-9FB9-80F44B86C7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2096" y="4535612"/>
            <a:ext cx="5346757" cy="1500649"/>
          </a:xfrm>
          <a:prstGeom prst="rect">
            <a:avLst/>
          </a:prstGeom>
        </p:spPr>
      </p:pic>
      <p:sp>
        <p:nvSpPr>
          <p:cNvPr id="17" name="직사각형 16">
            <a:extLst>
              <a:ext uri="{FF2B5EF4-FFF2-40B4-BE49-F238E27FC236}">
                <a16:creationId xmlns:a16="http://schemas.microsoft.com/office/drawing/2014/main" id="{0720B32A-EB97-F165-4582-A6CBBFE5019A}"/>
              </a:ext>
            </a:extLst>
          </p:cNvPr>
          <p:cNvSpPr/>
          <p:nvPr/>
        </p:nvSpPr>
        <p:spPr>
          <a:xfrm>
            <a:off x="3588200" y="2136863"/>
            <a:ext cx="576064" cy="232697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8" name="구부러진 연결선 24">
            <a:extLst>
              <a:ext uri="{FF2B5EF4-FFF2-40B4-BE49-F238E27FC236}">
                <a16:creationId xmlns:a16="http://schemas.microsoft.com/office/drawing/2014/main" id="{70B4902C-D349-338F-456E-77DC2D0640F1}"/>
              </a:ext>
            </a:extLst>
          </p:cNvPr>
          <p:cNvCxnSpPr>
            <a:cxnSpLocks/>
            <a:stCxn id="17" idx="2"/>
            <a:endCxn id="19" idx="1"/>
          </p:cNvCxnSpPr>
          <p:nvPr/>
        </p:nvCxnSpPr>
        <p:spPr>
          <a:xfrm rot="16200000" flipH="1">
            <a:off x="4533700" y="1712092"/>
            <a:ext cx="1241319" cy="2556254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그림 18">
            <a:extLst>
              <a:ext uri="{FF2B5EF4-FFF2-40B4-BE49-F238E27FC236}">
                <a16:creationId xmlns:a16="http://schemas.microsoft.com/office/drawing/2014/main" id="{86715BE0-4A4F-3CF6-4749-616264D565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2486" y="2864884"/>
            <a:ext cx="5254874" cy="1491989"/>
          </a:xfrm>
          <a:prstGeom prst="rect">
            <a:avLst/>
          </a:prstGeom>
        </p:spPr>
      </p:pic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46503C25-DAD0-3B96-B35F-29886341B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961" y="93209"/>
            <a:ext cx="1585190" cy="104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15179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05D92-268B-DABB-1E1B-579B745C8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FB1B83-62E1-C7E1-9CFC-2D400506A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55F2D720-1537-1283-80A5-499D25D5663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Stochastic Gradient Descent Algorithm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19534738-1DEB-A03A-3137-3F79FC753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4961" y="93209"/>
            <a:ext cx="1585190" cy="1048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6737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F9AB3-E6B8-28DD-5097-6AFE1CE060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C51754-C061-4C8D-DF7E-CB156A83B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A65FD1D8-F992-7ABC-9406-5942C3F347FD}"/>
              </a:ext>
            </a:extLst>
          </p:cNvPr>
          <p:cNvSpPr txBox="1">
            <a:spLocks/>
          </p:cNvSpPr>
          <p:nvPr/>
        </p:nvSpPr>
        <p:spPr>
          <a:xfrm>
            <a:off x="447070" y="400132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Descending Mount Everest(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Errorest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AutoShape 4" descr="Gradient Ascent">
            <a:extLst>
              <a:ext uri="{FF2B5EF4-FFF2-40B4-BE49-F238E27FC236}">
                <a16:creationId xmlns:a16="http://schemas.microsoft.com/office/drawing/2014/main" id="{A5361D08-032E-C069-60DE-3ECECBDA58F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554D3919-B9A5-4428-552C-028371B40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819" y="2527576"/>
            <a:ext cx="5644596" cy="3549946"/>
          </a:xfrm>
          <a:prstGeom prst="rect">
            <a:avLst/>
          </a:prstGeom>
        </p:spPr>
      </p:pic>
      <p:pic>
        <p:nvPicPr>
          <p:cNvPr id="9" name="Picture 2" descr="What Is Gradient Descent? | Built In">
            <a:extLst>
              <a:ext uri="{FF2B5EF4-FFF2-40B4-BE49-F238E27FC236}">
                <a16:creationId xmlns:a16="http://schemas.microsoft.com/office/drawing/2014/main" id="{98328970-324B-9F2F-1BB2-C6082D5EB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2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464" y="2527576"/>
            <a:ext cx="5409396" cy="3532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FBB124D-42BE-A943-8D3C-848A6685895A}"/>
              </a:ext>
            </a:extLst>
          </p:cNvPr>
          <p:cNvSpPr txBox="1"/>
          <p:nvPr/>
        </p:nvSpPr>
        <p:spPr>
          <a:xfrm>
            <a:off x="1026160" y="1276221"/>
            <a:ext cx="8585200" cy="876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 그림에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차 함수 형태인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sse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(sum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of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squared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errors), d_w0, d_w1(</a:t>
            </a:r>
            <a:r>
              <a:rPr lang="ko-KR" altLang="en-US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편미분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),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기울기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= 0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J(w, b)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등의 모든 용어의 의미가 무엇인지 토론하자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BE7AED-8858-744A-5A7B-924A10F1C090}"/>
              </a:ext>
            </a:extLst>
          </p:cNvPr>
          <p:cNvSpPr txBox="1"/>
          <p:nvPr/>
        </p:nvSpPr>
        <p:spPr>
          <a:xfrm>
            <a:off x="701040" y="6082702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출처 </a:t>
            </a:r>
            <a:r>
              <a:rPr lang="en-US" altLang="ko-KR" sz="12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en-US" altLang="ko-KR" sz="12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coursera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56290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89DC4-4AF3-EC4A-C1AC-743B8433B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E01BFB-6514-033B-616C-9C8CB0D62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91515F74-0FD2-1243-A016-EC019A90AF2D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SDG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0527367-2BF7-B9CF-4C78-B2540D83A7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B2DC23-4C8B-435B-8A73-504DE1E932CB}"/>
              </a:ext>
            </a:extLst>
          </p:cNvPr>
          <p:cNvSpPr txBox="1"/>
          <p:nvPr/>
        </p:nvSpPr>
        <p:spPr>
          <a:xfrm>
            <a:off x="627927" y="1346295"/>
            <a:ext cx="7047059" cy="481157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numpy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as np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pandas as pd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matplotlib.pyplot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as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from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sklearn.datasets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import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_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   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=1, noise=50, 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   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X.squeeze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y.squeeze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alpha, beta, data = 0, 0, []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for _ in range(50):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for row in range(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len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(X)):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alpha + beta * X[row]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error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- y[row]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alpha -= 0.01 * error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beta  -= 0.01 * error * X[row]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       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data.append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([alpha, beta,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, y[row], error])</a:t>
            </a:r>
          </a:p>
          <a:p>
            <a:pPr>
              <a:lnSpc>
                <a:spcPts val="1575"/>
              </a:lnSpc>
              <a:buNone/>
            </a:pPr>
            <a:endParaRPr lang="en-US" altLang="ko-KR" sz="1400" b="0" dirty="0">
              <a:effectLst/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data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pd.DataFrame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(data, columns=['alpha', 'beta', '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', 'y', 'error'])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last_epoch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data.iloc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[-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len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(X):].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reset_index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(drop=True) # </a:t>
            </a:r>
            <a:r>
              <a:rPr lang="ko-KR" altLang="en-US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마지막 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epoch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final =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last_epoch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[['y', '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', 'error']]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56586A-5C67-F31B-6E9E-7B51AC9B2FBB}"/>
              </a:ext>
            </a:extLst>
          </p:cNvPr>
          <p:cNvSpPr txBox="1"/>
          <p:nvPr/>
        </p:nvSpPr>
        <p:spPr>
          <a:xfrm>
            <a:off x="7264561" y="1355820"/>
            <a:ext cx="4560425" cy="173380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plt.figure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figsize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=(8, 5))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plt.scatter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(X, y, s=30, label='Actual')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plt.scatter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(X, final['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y_hat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'], s=30, color='orange', label='Predicted')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plt.xlabel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("x"); </a:t>
            </a: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plt.ylabel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("y")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plt.legend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plt.title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("Gradient Descent: Actual vs Predicted")</a:t>
            </a:r>
          </a:p>
          <a:p>
            <a:pPr>
              <a:lnSpc>
                <a:spcPts val="1575"/>
              </a:lnSpc>
              <a:buNone/>
            </a:pPr>
            <a:r>
              <a:rPr lang="en-US" altLang="ko-KR" sz="1400" b="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plt.show</a:t>
            </a:r>
            <a:r>
              <a:rPr lang="en-US" altLang="ko-KR" sz="1400" b="0" dirty="0">
                <a:effectLst/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03D4D55-7EC0-4818-8686-AE606713B1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74986" y="3174458"/>
            <a:ext cx="4177275" cy="27769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4725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D12BA-E7E9-4AD8-34D9-71875CEC4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1F01046-B443-129D-1749-9AAE7647BB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D46AE84-6CEB-CDA0-F1B8-7632CD8F1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9642" y="1457088"/>
            <a:ext cx="3544813" cy="233903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A328910-7602-C31B-29DF-E7E34E5E69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445" y="4004787"/>
            <a:ext cx="3599209" cy="2339033"/>
          </a:xfrm>
          <a:prstGeom prst="rect">
            <a:avLst/>
          </a:prstGeom>
        </p:spPr>
      </p:pic>
      <p:sp>
        <p:nvSpPr>
          <p:cNvPr id="15" name="제목 1">
            <a:extLst>
              <a:ext uri="{FF2B5EF4-FFF2-40B4-BE49-F238E27FC236}">
                <a16:creationId xmlns:a16="http://schemas.microsoft.com/office/drawing/2014/main" id="{D715F2C9-E57D-90B9-8182-2EE006944564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scikit-learn SDG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5ABFCE8-C42A-DE33-7DBF-0CBFE36A71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7CB008-32E0-CED4-4B8E-FFC4F76FE152}"/>
              </a:ext>
            </a:extLst>
          </p:cNvPr>
          <p:cNvSpPr txBox="1"/>
          <p:nvPr/>
        </p:nvSpPr>
        <p:spPr>
          <a:xfrm>
            <a:off x="537021" y="1457088"/>
            <a:ext cx="5702340" cy="871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/>
              </a:rPr>
              <a:t>SGDRegressor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알고리즘으로 아래 데이터의 단순회귀식을 구하라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21A7CB-429F-7722-5BD7-E4F04E6F4138}"/>
              </a:ext>
            </a:extLst>
          </p:cNvPr>
          <p:cNvSpPr txBox="1"/>
          <p:nvPr/>
        </p:nvSpPr>
        <p:spPr>
          <a:xfrm>
            <a:off x="858057" y="2721688"/>
            <a:ext cx="5237943" cy="132343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w =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noise=15,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</a:p>
          <a:p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69606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CC0AD-3AB3-5407-547E-AEDB97A5BE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9EACAD-2DA9-7882-C5FE-170D57459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15" name="제목 1">
            <a:extLst>
              <a:ext uri="{FF2B5EF4-FFF2-40B4-BE49-F238E27FC236}">
                <a16:creationId xmlns:a16="http://schemas.microsoft.com/office/drawing/2014/main" id="{CE437DBA-F9C0-72D0-8FCB-9F1F8774153F}"/>
              </a:ext>
            </a:extLst>
          </p:cNvPr>
          <p:cNvSpPr txBox="1">
            <a:spLocks/>
          </p:cNvSpPr>
          <p:nvPr/>
        </p:nvSpPr>
        <p:spPr>
          <a:xfrm>
            <a:off x="537021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Hands-on Linear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Regression with </a:t>
            </a:r>
            <a:r>
              <a:rPr lang="en-US" altLang="ko-KR" sz="2800" cap="none" dirty="0" err="1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tensorflow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SDG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2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25CD999-B5E5-C01B-A34F-FE4AC704C9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775" y="9236"/>
            <a:ext cx="1677554" cy="11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AF72B0-F5E5-AE3C-97C3-695C729CF417}"/>
              </a:ext>
            </a:extLst>
          </p:cNvPr>
          <p:cNvSpPr txBox="1"/>
          <p:nvPr/>
        </p:nvSpPr>
        <p:spPr>
          <a:xfrm>
            <a:off x="891251" y="1655180"/>
            <a:ext cx="302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stochastic_gradient_descent</a:t>
            </a:r>
            <a:endParaRPr lang="ko-KR" altLang="en-US" dirty="0"/>
          </a:p>
        </p:txBody>
      </p:sp>
      <p:pic>
        <p:nvPicPr>
          <p:cNvPr id="2050" name="Picture 2" descr="Fitting a line batch by batch. The loss decreases and the weights approach their true values.">
            <a:extLst>
              <a:ext uri="{FF2B5EF4-FFF2-40B4-BE49-F238E27FC236}">
                <a16:creationId xmlns:a16="http://schemas.microsoft.com/office/drawing/2014/main" id="{FFD30AC7-690D-B68B-FBDA-E352845E23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424" y="2182596"/>
            <a:ext cx="9999532" cy="3749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973235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F3867-2510-7649-E7B5-1E72CAE61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9646AB6A-240F-F6E1-0407-4133B0FC9540}"/>
              </a:ext>
            </a:extLst>
          </p:cNvPr>
          <p:cNvSpPr/>
          <p:nvPr/>
        </p:nvSpPr>
        <p:spPr>
          <a:xfrm>
            <a:off x="734002" y="252998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3E9B65AA-C3F3-147A-EBE3-ECA929015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AA23A0F-5651-9A9E-2053-9E41643662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21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B60CF9-92EE-44B5-F8B8-0506E0067B62}"/>
              </a:ext>
            </a:extLst>
          </p:cNvPr>
          <p:cNvSpPr txBox="1"/>
          <p:nvPr/>
        </p:nvSpPr>
        <p:spPr>
          <a:xfrm>
            <a:off x="1764145" y="1384043"/>
            <a:ext cx="7250546" cy="16829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</a:p>
        </p:txBody>
      </p:sp>
    </p:spTree>
    <p:extLst>
      <p:ext uri="{BB962C8B-B14F-4D97-AF65-F5344CB8AC3E}">
        <p14:creationId xmlns:p14="http://schemas.microsoft.com/office/powerpoint/2010/main" val="3346367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49DF67-D844-9263-578F-AEA0DDF40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751DE29D-F9D5-F4CB-637D-335343EE5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22</a:t>
            </a:fld>
            <a:endParaRPr lang="en-US" sz="2000" dirty="0"/>
          </a:p>
        </p:txBody>
      </p:sp>
      <p:pic>
        <p:nvPicPr>
          <p:cNvPr id="16386" name="Picture 2">
            <a:extLst>
              <a:ext uri="{FF2B5EF4-FFF2-40B4-BE49-F238E27FC236}">
                <a16:creationId xmlns:a16="http://schemas.microsoft.com/office/drawing/2014/main" id="{37153B1E-FE77-9A3F-9534-09E1085ED4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1881" y="2542047"/>
            <a:ext cx="4017820" cy="17739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388" name="Picture 4">
            <a:extLst>
              <a:ext uri="{FF2B5EF4-FFF2-40B4-BE49-F238E27FC236}">
                <a16:creationId xmlns:a16="http://schemas.microsoft.com/office/drawing/2014/main" id="{E35F42B8-7ECF-02CE-A7E8-685DE5B269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52613"/>
            <a:ext cx="5536049" cy="3012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제목 7">
            <a:extLst>
              <a:ext uri="{FF2B5EF4-FFF2-40B4-BE49-F238E27FC236}">
                <a16:creationId xmlns:a16="http://schemas.microsoft.com/office/drawing/2014/main" id="{B5E3B9F4-5DC7-A211-5F12-52F46993E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39444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Regression and Perceptron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034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C774A-FBC4-2837-ADCA-FEB8629CE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BE44AB-C056-17FD-C251-4668DEBBE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81D2E564-5A67-2191-8947-A738C145604F}"/>
              </a:ext>
            </a:extLst>
          </p:cNvPr>
          <p:cNvSpPr txBox="1">
            <a:spLocks/>
          </p:cNvSpPr>
          <p:nvPr/>
        </p:nvSpPr>
        <p:spPr>
          <a:xfrm>
            <a:off x="523270" y="653433"/>
            <a:ext cx="10353762" cy="519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Perceptron with single feature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B7DCEA7-54A6-B15D-05C9-0627756675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511" y="3104579"/>
            <a:ext cx="5805481" cy="2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628945E9-11C3-FF31-7062-26217F2120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2647" y="1414776"/>
                <a:ext cx="10706705" cy="1092188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Simple Linear Regression</a:t>
                </a:r>
              </a:p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단일변수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 single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18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628945E9-11C3-FF31-7062-26217F2120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2647" y="1414776"/>
                <a:ext cx="10706705" cy="1092188"/>
              </a:xfrm>
              <a:blipFill>
                <a:blip r:embed="rId3"/>
                <a:stretch>
                  <a:fillRect l="-399" t="-279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AC721B09-7985-FB30-C02C-CDB0F3FFC5C8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bg1">
                <a:lumMod val="95000"/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888379" y="3380613"/>
            <a:ext cx="1824265" cy="43564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F45D2DDE-ED31-970A-8F32-829DACE28F6E}"/>
              </a:ext>
            </a:extLst>
          </p:cNvPr>
          <p:cNvGrpSpPr/>
          <p:nvPr/>
        </p:nvGrpSpPr>
        <p:grpSpPr>
          <a:xfrm>
            <a:off x="5960736" y="2976946"/>
            <a:ext cx="5303753" cy="2942019"/>
            <a:chOff x="6513186" y="2510221"/>
            <a:chExt cx="5303753" cy="2942019"/>
          </a:xfrm>
        </p:grpSpPr>
        <p:grpSp>
          <p:nvGrpSpPr>
            <p:cNvPr id="43" name="그룹 42">
              <a:extLst>
                <a:ext uri="{FF2B5EF4-FFF2-40B4-BE49-F238E27FC236}">
                  <a16:creationId xmlns:a16="http://schemas.microsoft.com/office/drawing/2014/main" id="{2349E664-7C0D-0A6F-DA46-783EB35CA6F4}"/>
                </a:ext>
              </a:extLst>
            </p:cNvPr>
            <p:cNvGrpSpPr/>
            <p:nvPr/>
          </p:nvGrpSpPr>
          <p:grpSpPr>
            <a:xfrm>
              <a:off x="6513186" y="3349535"/>
              <a:ext cx="5288289" cy="2102705"/>
              <a:chOff x="4608186" y="4222810"/>
              <a:chExt cx="5288289" cy="2102705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9182A04B-D395-1DFA-D4A5-FA95694198F3}"/>
                  </a:ext>
                </a:extLst>
              </p:cNvPr>
              <p:cNvSpPr txBox="1"/>
              <p:nvPr/>
            </p:nvSpPr>
            <p:spPr>
              <a:xfrm>
                <a:off x="7009199" y="5986961"/>
                <a:ext cx="2887276" cy="338554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>
                <a:spAutoFit/>
              </a:bodyPr>
              <a:lstStyle/>
              <a:p>
                <a:r>
                  <a:rPr lang="en-US" altLang="ko-KR" sz="1600" dirty="0">
                    <a:latin typeface="+mj-ea"/>
                  </a:rPr>
                  <a:t>(n, 1) = (n, 1) @ (1, 1) + (n,1)</a:t>
                </a:r>
                <a:endParaRPr lang="ko-KR" altLang="en-US" sz="1600" dirty="0">
                  <a:latin typeface="+mj-ea"/>
                  <a:ea typeface="+mj-ea"/>
                </a:endParaRPr>
              </a:p>
            </p:txBody>
          </p:sp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662C1E02-B87A-DEDD-3BC5-2C00C5141498}"/>
                  </a:ext>
                </a:extLst>
              </p:cNvPr>
              <p:cNvGrpSpPr/>
              <p:nvPr/>
            </p:nvGrpSpPr>
            <p:grpSpPr>
              <a:xfrm>
                <a:off x="4608186" y="4222810"/>
                <a:ext cx="5288289" cy="1822532"/>
                <a:chOff x="4961700" y="4115748"/>
                <a:chExt cx="4509666" cy="1554191"/>
              </a:xfrm>
            </p:grpSpPr>
            <p:pic>
              <p:nvPicPr>
                <p:cNvPr id="34" name="그림 33">
                  <a:extLst>
                    <a:ext uri="{FF2B5EF4-FFF2-40B4-BE49-F238E27FC236}">
                      <a16:creationId xmlns:a16="http://schemas.microsoft.com/office/drawing/2014/main" id="{9A6BDC3D-A4CC-D6F5-EB1A-C74E4C7B2FA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009199" y="4115748"/>
                  <a:ext cx="2462167" cy="1554191"/>
                </a:xfrm>
                <a:prstGeom prst="rect">
                  <a:avLst/>
                </a:prstGeom>
              </p:spPr>
            </p:pic>
            <p:pic>
              <p:nvPicPr>
                <p:cNvPr id="41" name="그림 40">
                  <a:extLst>
                    <a:ext uri="{FF2B5EF4-FFF2-40B4-BE49-F238E27FC236}">
                      <a16:creationId xmlns:a16="http://schemas.microsoft.com/office/drawing/2014/main" id="{8058C60F-E1F1-BF72-C7F4-F9EF89B9287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961700" y="4636720"/>
                  <a:ext cx="1917954" cy="256124"/>
                </a:xfrm>
                <a:prstGeom prst="rect">
                  <a:avLst/>
                </a:prstGeom>
              </p:spPr>
            </p:pic>
          </p:grp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73032DFD-B8AA-1AB7-E55F-89A8F8BD220A}"/>
                </a:ext>
              </a:extLst>
            </p:cNvPr>
            <p:cNvSpPr txBox="1"/>
            <p:nvPr/>
          </p:nvSpPr>
          <p:spPr>
            <a:xfrm>
              <a:off x="9149744" y="2510221"/>
              <a:ext cx="266719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Matrix Formulation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18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D7270-A613-BE98-819E-33BAE7981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23AD91-9546-54D2-90A5-EBC109034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DDADF338-872C-BF9C-68A7-5537D71ED3F3}"/>
              </a:ext>
            </a:extLst>
          </p:cNvPr>
          <p:cNvSpPr txBox="1">
            <a:spLocks/>
          </p:cNvSpPr>
          <p:nvPr/>
        </p:nvSpPr>
        <p:spPr>
          <a:xfrm>
            <a:off x="561370" y="615334"/>
            <a:ext cx="10353762" cy="5371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Perceptron with multiple features</a:t>
            </a:r>
            <a:endParaRPr lang="ko-KR" altLang="en-US" sz="2800" cap="none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742647" y="1427893"/>
                <a:ext cx="10706705" cy="1377273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Single Perceptron Neural Networks = </a:t>
                </a:r>
                <a:r>
                  <a:rPr lang="en-US" altLang="ko-KR" sz="1800" cap="none" dirty="0" err="1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Mutiple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Linear Regression</a:t>
                </a:r>
              </a:p>
              <a:p>
                <a:pPr marL="342900" indent="-342900">
                  <a:lnSpc>
                    <a:spcPct val="10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n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개의 다중변수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(multiple input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에 선형변환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0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w</m:t>
                    </m:r>
                    <m:r>
                      <m:rPr>
                        <m:sty m:val="p"/>
                      </m:rPr>
                      <a:rPr lang="en-US" altLang="ko-KR" sz="1800" i="1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x</m:t>
                    </m:r>
                    <m: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 +</m:t>
                    </m:r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b</m:t>
                    </m:r>
                  </m:oMath>
                </a14:m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한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 b="0" i="1" cap="none" smtClean="0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생성하는 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Perceptron</a:t>
                </a: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B8A4F658-6D9D-07A5-F5AD-7783B226C8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42647" y="1427893"/>
                <a:ext cx="10706705" cy="1377273"/>
              </a:xfrm>
              <a:blipFill>
                <a:blip r:embed="rId2"/>
                <a:stretch>
                  <a:fillRect l="-399" t="-221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>
            <a:extLst>
              <a:ext uri="{FF2B5EF4-FFF2-40B4-BE49-F238E27FC236}">
                <a16:creationId xmlns:a16="http://schemas.microsoft.com/office/drawing/2014/main" id="{052D6F70-4FDF-23ED-F1D3-92D182B79D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1928" y="2624259"/>
            <a:ext cx="6054374" cy="3294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A2954695-EC8A-4B49-2BC8-B84F0379CE77}"/>
              </a:ext>
            </a:extLst>
          </p:cNvPr>
          <p:cNvGrpSpPr/>
          <p:nvPr/>
        </p:nvGrpSpPr>
        <p:grpSpPr>
          <a:xfrm>
            <a:off x="7850179" y="2624259"/>
            <a:ext cx="4172517" cy="2805848"/>
            <a:chOff x="7850179" y="2624259"/>
            <a:chExt cx="4172517" cy="2805848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65B00755-4DB1-2290-0D18-9768794AE216}"/>
                </a:ext>
              </a:extLst>
            </p:cNvPr>
            <p:cNvSpPr txBox="1"/>
            <p:nvPr/>
          </p:nvSpPr>
          <p:spPr>
            <a:xfrm>
              <a:off x="8533199" y="5091553"/>
              <a:ext cx="2887276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-US" altLang="ko-KR" sz="1600" dirty="0">
                  <a:latin typeface="+mj-ea"/>
                </a:rPr>
                <a:t>(n, 1) = (n, 3) @ (3, 1) + (n,1)</a:t>
              </a:r>
              <a:endParaRPr lang="ko-KR" altLang="en-US" sz="1600" dirty="0">
                <a:latin typeface="+mj-ea"/>
                <a:ea typeface="+mj-ea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90AF9DB-ABDC-0C64-5932-6FEDD3D030B8}"/>
                </a:ext>
              </a:extLst>
            </p:cNvPr>
            <p:cNvSpPr txBox="1"/>
            <p:nvPr/>
          </p:nvSpPr>
          <p:spPr>
            <a:xfrm>
              <a:off x="8790862" y="2624259"/>
              <a:ext cx="247669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dirty="0"/>
                <a:t>Matrix Formulation</a:t>
              </a:r>
              <a:endParaRPr lang="ko-KR" altLang="en-US" dirty="0"/>
            </a:p>
          </p:txBody>
        </p:sp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A45D8B4D-97A1-8C20-11EB-B9303DFAC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50179" y="3573619"/>
              <a:ext cx="4172517" cy="1555134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879EF01-D57D-603E-DF74-20AFD06028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23045" y="3170262"/>
              <a:ext cx="3021634" cy="40335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728738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AEA1B-A0FA-5534-230F-40BF4FB6C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9A6CEE-8B03-8434-BA64-2B488CE14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B97EA6D6-8D0D-66DB-6F02-6DCE59D1B2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20" y="1320799"/>
            <a:ext cx="8744555" cy="1336676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Backpropagation</a:t>
            </a:r>
            <a:r>
              <a:rPr lang="en-US" altLang="ko-KR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: </a:t>
            </a:r>
            <a:r>
              <a:rPr lang="ko-KR" altLang="en-US" sz="18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력변수가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XOR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문제를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단층구조 네트워크로 만들고 엑셀로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parameter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back propagation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구하라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9CC69B6-865A-9308-9FC3-96B0A1E5CA4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Backpropagation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A48D627-DB6B-37D0-763C-BD40D9FFF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C6389EEB-3EE9-A340-DA7D-22ACB0D194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9950" y="2371725"/>
            <a:ext cx="5778139" cy="421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9106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374E8-82B3-D847-F7E8-EF04D487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61781C-D05A-B519-20BE-DBE65D41BB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DEBBEECA-7208-58A6-BAAE-4D2303EBA9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F2C9450F-B441-3F20-44D9-4580F732A108}"/>
              </a:ext>
            </a:extLst>
          </p:cNvPr>
          <p:cNvSpPr txBox="1">
            <a:spLocks/>
          </p:cNvSpPr>
          <p:nvPr/>
        </p:nvSpPr>
        <p:spPr>
          <a:xfrm>
            <a:off x="437545" y="502356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Backpropagation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16D3317-9D82-5C29-5B4D-23A68081DE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86344" y="1813025"/>
            <a:ext cx="11118079" cy="39012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01DA442-0A02-35E1-5924-E2BF51A7DDF7}"/>
              </a:ext>
            </a:extLst>
          </p:cNvPr>
          <p:cNvSpPr txBox="1"/>
          <p:nvPr/>
        </p:nvSpPr>
        <p:spPr>
          <a:xfrm>
            <a:off x="924443" y="1378781"/>
            <a:ext cx="27025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 Network using Excel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CB480A6-A0B3-0246-44AD-75B302A6D0B8}"/>
              </a:ext>
            </a:extLst>
          </p:cNvPr>
          <p:cNvSpPr/>
          <p:nvPr/>
        </p:nvSpPr>
        <p:spPr>
          <a:xfrm>
            <a:off x="2362200" y="4819650"/>
            <a:ext cx="1066800" cy="9906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4A570F2-2DB4-7E00-450D-D41338F92653}"/>
              </a:ext>
            </a:extLst>
          </p:cNvPr>
          <p:cNvSpPr/>
          <p:nvPr/>
        </p:nvSpPr>
        <p:spPr>
          <a:xfrm>
            <a:off x="6915149" y="4819650"/>
            <a:ext cx="2295525" cy="9906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806403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1E7B0-7803-9D29-32C0-9698CF4491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내용 개체 틀 23">
            <a:extLst>
              <a:ext uri="{FF2B5EF4-FFF2-40B4-BE49-F238E27FC236}">
                <a16:creationId xmlns:a16="http://schemas.microsoft.com/office/drawing/2014/main" id="{1E2CC3F1-BCA1-50B2-98C7-41CFEACD45E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duotone>
              <a:prstClr val="black"/>
              <a:srgbClr val="D9C3A5">
                <a:tint val="50000"/>
                <a:satMod val="180000"/>
              </a:srgbClr>
            </a:duotone>
          </a:blip>
          <a:stretch>
            <a:fillRect/>
          </a:stretch>
        </p:blipFill>
        <p:spPr>
          <a:xfrm>
            <a:off x="575310" y="2301623"/>
            <a:ext cx="7821115" cy="33812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FEB521-F0C2-BD86-F32E-B3E47E9AFAC3}"/>
                  </a:ext>
                </a:extLst>
              </p:cNvPr>
              <p:cNvSpPr txBox="1"/>
              <p:nvPr/>
            </p:nvSpPr>
            <p:spPr>
              <a:xfrm>
                <a:off x="8493854" y="2173134"/>
                <a:ext cx="131792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ko-KR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ko-K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𝑎𝑋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DFEB521-F0C2-BD86-F32E-B3E47E9AFA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3854" y="2173134"/>
                <a:ext cx="1317925" cy="307777"/>
              </a:xfrm>
              <a:prstGeom prst="rect">
                <a:avLst/>
              </a:prstGeom>
              <a:blipFill>
                <a:blip r:embed="rId3"/>
                <a:stretch>
                  <a:fillRect l="-3687" t="-17647" r="-3226" b="-2745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28C044-B491-582D-396E-6945C1162491}"/>
                  </a:ext>
                </a:extLst>
              </p:cNvPr>
              <p:cNvSpPr txBox="1"/>
              <p:nvPr/>
            </p:nvSpPr>
            <p:spPr>
              <a:xfrm>
                <a:off x="708546" y="1325937"/>
                <a:ext cx="9990035" cy="4550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회귀생성</a:t>
                </a:r>
                <a:r>
                  <a:rPr lang="en-US" altLang="ko-KR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(Regression)</a:t>
                </a:r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데이터 벡터 </a:t>
                </a:r>
                <a14:m>
                  <m:oMath xmlns:m="http://schemas.openxmlformats.org/officeDocument/2006/math">
                    <m:r>
                      <a:rPr lang="ko-KR" altLang="en-US" b="1">
                        <a:latin typeface="Cambria Math" panose="02040503050406030204" pitchFamily="18" charset="0"/>
                      </a:rPr>
                      <m:t>𝐲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행렬 </a:t>
                </a:r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ko-KR" altLang="en-US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가 만드는 선형공간에 가장 가깝게 투영하는 문제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328C044-B491-582D-396E-6945C11624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546" y="1325937"/>
                <a:ext cx="9990035" cy="455061"/>
              </a:xfrm>
              <a:prstGeom prst="rect">
                <a:avLst/>
              </a:prstGeom>
              <a:blipFill>
                <a:blip r:embed="rId4"/>
                <a:stretch>
                  <a:fillRect l="-488" r="-122" b="-216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DE0A39D8-D271-9144-FCDC-875386FFFC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3854" y="2555172"/>
            <a:ext cx="3254916" cy="14370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제목 7">
            <a:extLst>
              <a:ext uri="{FF2B5EF4-FFF2-40B4-BE49-F238E27FC236}">
                <a16:creationId xmlns:a16="http://schemas.microsoft.com/office/drawing/2014/main" id="{9C28995B-3134-30CE-3901-48560B1C4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39444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Regression and Perceptron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079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3647D6-8297-E662-1ECD-E88CEFF170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F6D69ED-B91B-A858-B2E5-19E620F5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28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6EF0ECB-1F76-78F8-15CE-364DFA4286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82249" y="66675"/>
            <a:ext cx="1638301" cy="1084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78FA17CC-76E0-9904-2189-F27BDFAB0391}"/>
              </a:ext>
            </a:extLst>
          </p:cNvPr>
          <p:cNvSpPr txBox="1">
            <a:spLocks/>
          </p:cNvSpPr>
          <p:nvPr/>
        </p:nvSpPr>
        <p:spPr>
          <a:xfrm>
            <a:off x="618520" y="377208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 with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single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input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974F3E-A24A-7F3D-1957-B45AA2C8AE54}"/>
              </a:ext>
            </a:extLst>
          </p:cNvPr>
          <p:cNvSpPr txBox="1"/>
          <p:nvPr/>
        </p:nvSpPr>
        <p:spPr>
          <a:xfrm>
            <a:off x="480710" y="1275218"/>
            <a:ext cx="1123058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주어진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make_regression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데이터를 바탕으로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별도의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라이브러리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(Scikit-learn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모델 등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사용하지 않고 </a:t>
            </a:r>
            <a:r>
              <a:rPr lang="en-US" altLang="ko-KR" sz="1600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ko-KR" altLang="en-US" sz="16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만을 활용하여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선형 회귀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퍼셉트론을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구현하여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w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값과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8A90D2-B4D6-7E85-0DA7-99D06EAE6434}"/>
              </a:ext>
            </a:extLst>
          </p:cNvPr>
          <p:cNvSpPr txBox="1"/>
          <p:nvPr/>
        </p:nvSpPr>
        <p:spPr>
          <a:xfrm>
            <a:off x="715182" y="2348935"/>
            <a:ext cx="5237943" cy="11695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w =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noise=15,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</a:p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D882B8B-0565-E636-3826-C19535E49A8B}"/>
              </a:ext>
            </a:extLst>
          </p:cNvPr>
          <p:cNvSpPr txBox="1"/>
          <p:nvPr/>
        </p:nvSpPr>
        <p:spPr>
          <a:xfrm>
            <a:off x="619932" y="3588808"/>
            <a:ext cx="9667067" cy="25145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Optimization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조건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</a:p>
          <a:p>
            <a:pPr>
              <a:lnSpc>
                <a:spcPct val="150000"/>
              </a:lnSpc>
            </a:pPr>
            <a:endParaRPr lang="en-US" altLang="ko-KR" sz="9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 구조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단일 입력 변수와 편향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가진 선형 모델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y = 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wx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+ b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설계하라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최적화 알고리즘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확률적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경사하강법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(SGD)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사용하여 매 데이터 샘플마다 가중치를 업데이트하라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손실 함수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평균 제곱 오차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(MSE)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개념을 바탕으로 하되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코드 구현 시에는 각 샘플의 오차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 직접 비례하여 가중치를 수정하는 방식을 사용하라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하이퍼파라미터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학습률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en-US" altLang="ko-KR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learning_rate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0.01,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학습 횟수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(epochs)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회로 설정하라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endParaRPr lang="ko-KR" altLang="en-US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092546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E5F2B-A0E8-5691-0C31-91B05C8B9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6636E5-4C50-0638-168D-F51CAD82C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8CD4D984-BA5C-10A8-E208-999D59E8D9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F6CF074D-DE81-2FE8-4699-C32C81527B4F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 with single input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508B00F-9004-4C1C-7B1B-E6A061EFDB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7304" y="2378661"/>
            <a:ext cx="8020050" cy="3743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>
            <a:extLst>
              <a:ext uri="{FF2B5EF4-FFF2-40B4-BE49-F238E27FC236}">
                <a16:creationId xmlns:a16="http://schemas.microsoft.com/office/drawing/2014/main" id="{64BB76A8-1CD9-970D-5800-B6F3B7AE2E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948" y="1394922"/>
            <a:ext cx="3204809" cy="14149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6DB12A1-1704-4985-D001-A0E8D245D4AF}"/>
              </a:ext>
            </a:extLst>
          </p:cNvPr>
          <p:cNvSpPr txBox="1"/>
          <p:nvPr/>
        </p:nvSpPr>
        <p:spPr>
          <a:xfrm>
            <a:off x="2817304" y="6121986"/>
            <a:ext cx="26645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w4_perceptron_wt_inputs.ipynb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5878271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32A8E-E835-6F6B-FB33-FCC19ECC8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E7937A-51BB-501F-7C44-044D1E449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30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AC77CC3D-C738-44A9-9F6F-D672879DA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299" y="66675"/>
            <a:ext cx="1619251" cy="107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31563BFB-BB0E-5F6D-AB9A-924A993D1CFC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 with multiple inputs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93939A-C52E-9A37-E25C-FBB424EB2415}"/>
              </a:ext>
            </a:extLst>
          </p:cNvPr>
          <p:cNvSpPr txBox="1"/>
          <p:nvPr/>
        </p:nvSpPr>
        <p:spPr>
          <a:xfrm>
            <a:off x="480710" y="1275218"/>
            <a:ext cx="11230580" cy="12852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주어진 </a:t>
            </a:r>
            <a:r>
              <a:rPr lang="en-US" altLang="ko-KR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make_regression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데이터를 바탕으로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별도의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머신러닝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라이브러리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(Scikit-learn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모델 등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사용하지 않고 </a:t>
            </a:r>
            <a:r>
              <a:rPr lang="en-US" altLang="ko-KR" b="1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Numpy</a:t>
            </a:r>
            <a:r>
              <a:rPr lang="ko-KR" altLang="en-US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만을 활용하여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선형 회귀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퍼셉트론을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구현하여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w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b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값과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MSE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구하라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최적화 조건은 지난 문제와 동일함</a:t>
            </a:r>
            <a:endParaRPr lang="en-US" altLang="ko-KR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04D4FC-ED57-9527-0834-D63D07F53D77}"/>
              </a:ext>
            </a:extLst>
          </p:cNvPr>
          <p:cNvSpPr txBox="1"/>
          <p:nvPr/>
        </p:nvSpPr>
        <p:spPr>
          <a:xfrm>
            <a:off x="553257" y="3462642"/>
            <a:ext cx="5237943" cy="147732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X, y, w =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make_regression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n_samples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=50,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b="1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n_features</a:t>
            </a:r>
            <a:r>
              <a:rPr lang="en-US" altLang="ko-KR" b="1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=3,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noise=15,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coef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=True, </a:t>
            </a:r>
          </a:p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			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random_state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cs typeface="맑은 고딕 Semilight" panose="020B0502040204020203" pitchFamily="50" charset="-127"/>
              </a:rPr>
              <a:t>=11)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854752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E2195A-C101-932F-8610-4893C4DC8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995564-BD97-21C6-6B42-7669417E5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51D6D987-08B3-50BA-EA35-05B698C9B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299" y="66675"/>
            <a:ext cx="1619251" cy="107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2CB4D1B1-1809-5299-176B-D944B350D241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Perceptron with multiple inputs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5C684B8-5B90-B3D1-01DC-60A8F11F888D}"/>
              </a:ext>
            </a:extLst>
          </p:cNvPr>
          <p:cNvSpPr/>
          <p:nvPr/>
        </p:nvSpPr>
        <p:spPr>
          <a:xfrm>
            <a:off x="9736637" y="2852488"/>
            <a:ext cx="800188" cy="9575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401503E9-78A3-7959-54FA-D30440C958FA}"/>
              </a:ext>
            </a:extLst>
          </p:cNvPr>
          <p:cNvSpPr/>
          <p:nvPr/>
        </p:nvSpPr>
        <p:spPr>
          <a:xfrm>
            <a:off x="6724650" y="3291892"/>
            <a:ext cx="359611" cy="3596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655E13F4-6625-2BB4-2662-0A9CF3F24314}"/>
              </a:ext>
            </a:extLst>
          </p:cNvPr>
          <p:cNvSpPr/>
          <p:nvPr/>
        </p:nvSpPr>
        <p:spPr>
          <a:xfrm>
            <a:off x="6724650" y="4064491"/>
            <a:ext cx="359611" cy="3596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F9928928-E5CC-DE86-013A-659A957A3EA7}"/>
              </a:ext>
            </a:extLst>
          </p:cNvPr>
          <p:cNvSpPr/>
          <p:nvPr/>
        </p:nvSpPr>
        <p:spPr>
          <a:xfrm>
            <a:off x="9928783" y="4067979"/>
            <a:ext cx="359611" cy="359611"/>
          </a:xfrm>
          <a:prstGeom prst="ellips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7275A532-72B6-2029-79E5-D2E8FF7025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027116"/>
              </p:ext>
            </p:extLst>
          </p:nvPr>
        </p:nvGraphicFramePr>
        <p:xfrm>
          <a:off x="9927447" y="5389203"/>
          <a:ext cx="418568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1605265231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536081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4054313C-0D5F-7F09-8047-CF7F7A791A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1539990"/>
              </p:ext>
            </p:extLst>
          </p:nvPr>
        </p:nvGraphicFramePr>
        <p:xfrm>
          <a:off x="7878670" y="4086782"/>
          <a:ext cx="1255704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693896945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825580151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741967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663700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BAF13D76-54DA-560E-A244-0533C954BB60}"/>
              </a:ext>
            </a:extLst>
          </p:cNvPr>
          <p:cNvSpPr txBox="1"/>
          <p:nvPr/>
        </p:nvSpPr>
        <p:spPr>
          <a:xfrm>
            <a:off x="6429272" y="5805438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(1, 3)</a:t>
            </a:r>
            <a:endParaRPr lang="ko-KR" alt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7B811E-54E0-7F41-CFF2-65898EC5DCA0}"/>
              </a:ext>
            </a:extLst>
          </p:cNvPr>
          <p:cNvSpPr txBox="1"/>
          <p:nvPr/>
        </p:nvSpPr>
        <p:spPr>
          <a:xfrm>
            <a:off x="8047245" y="479211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B26EEF5-2CC8-A4A8-7F98-07954DC578DF}"/>
              </a:ext>
            </a:extLst>
          </p:cNvPr>
          <p:cNvSpPr txBox="1"/>
          <p:nvPr/>
        </p:nvSpPr>
        <p:spPr>
          <a:xfrm>
            <a:off x="9672399" y="5805438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1)</a:t>
            </a:r>
            <a:endParaRPr lang="ko-KR" altLang="en-US" dirty="0"/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5259551B-C26A-20B9-7F5F-D4FACE392838}"/>
              </a:ext>
            </a:extLst>
          </p:cNvPr>
          <p:cNvSpPr/>
          <p:nvPr/>
        </p:nvSpPr>
        <p:spPr>
          <a:xfrm>
            <a:off x="6533544" y="2852488"/>
            <a:ext cx="4043315" cy="2424363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003C2E5A-63A7-07DC-2569-69F6C578952C}"/>
              </a:ext>
            </a:extLst>
          </p:cNvPr>
          <p:cNvCxnSpPr/>
          <p:nvPr/>
        </p:nvCxnSpPr>
        <p:spPr>
          <a:xfrm>
            <a:off x="7333732" y="424815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7CCBC0F6-F9D2-58E0-A33E-924C267BB976}"/>
              </a:ext>
            </a:extLst>
          </p:cNvPr>
          <p:cNvCxnSpPr/>
          <p:nvPr/>
        </p:nvCxnSpPr>
        <p:spPr>
          <a:xfrm>
            <a:off x="9314626" y="424815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타원 47">
            <a:extLst>
              <a:ext uri="{FF2B5EF4-FFF2-40B4-BE49-F238E27FC236}">
                <a16:creationId xmlns:a16="http://schemas.microsoft.com/office/drawing/2014/main" id="{7A0CF3FF-E8CE-E2DB-592B-1F203F3B37EB}"/>
              </a:ext>
            </a:extLst>
          </p:cNvPr>
          <p:cNvSpPr/>
          <p:nvPr/>
        </p:nvSpPr>
        <p:spPr>
          <a:xfrm>
            <a:off x="6724649" y="4837091"/>
            <a:ext cx="359611" cy="359611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547229B9-69F1-C4C7-90C2-33E651817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986" y="2874390"/>
            <a:ext cx="3730122" cy="2029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0A0352CD-D8FB-5996-8B97-248F753AB853}"/>
              </a:ext>
            </a:extLst>
          </p:cNvPr>
          <p:cNvSpPr txBox="1"/>
          <p:nvPr/>
        </p:nvSpPr>
        <p:spPr>
          <a:xfrm>
            <a:off x="552853" y="1169712"/>
            <a:ext cx="11086293" cy="115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입력값이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여러 개가 되어도 오차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(Error)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기반으로 가중치를 수정한다는 본질적인 원리는 변하지 않으며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단지 이를 수학적으로 처리하기 위해 벡터 연산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(Vectorization)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도입될 뿐이다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"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라는 점을 이해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경우는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np.dot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함수의 사용법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브로드캐스팅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(Broadcasting)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개념을 이해하고 있는지 확인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aphicFrame>
        <p:nvGraphicFramePr>
          <p:cNvPr id="51" name="표 50">
            <a:extLst>
              <a:ext uri="{FF2B5EF4-FFF2-40B4-BE49-F238E27FC236}">
                <a16:creationId xmlns:a16="http://schemas.microsoft.com/office/drawing/2014/main" id="{9C5AA702-E091-89BA-BC12-1570CF7BC6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063012"/>
              </p:ext>
            </p:extLst>
          </p:nvPr>
        </p:nvGraphicFramePr>
        <p:xfrm>
          <a:off x="6533544" y="5389203"/>
          <a:ext cx="1255704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939671243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2414763620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605265231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8536081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20A0735-AEE3-886D-DA14-6E47F6196B7C}"/>
                  </a:ext>
                </a:extLst>
              </p:cNvPr>
              <p:cNvSpPr txBox="1"/>
              <p:nvPr/>
            </p:nvSpPr>
            <p:spPr>
              <a:xfrm>
                <a:off x="6690964" y="2858322"/>
                <a:ext cx="39921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20A0735-AEE3-886D-DA14-6E47F6196B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964" y="2858322"/>
                <a:ext cx="39921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9C3FF16-9362-36FF-9D84-F885DA3293FF}"/>
                  </a:ext>
                </a:extLst>
              </p:cNvPr>
              <p:cNvSpPr txBox="1"/>
              <p:nvPr/>
            </p:nvSpPr>
            <p:spPr>
              <a:xfrm>
                <a:off x="8289981" y="2858322"/>
                <a:ext cx="446789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D9C3FF16-9362-36FF-9D84-F885DA329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9981" y="2858322"/>
                <a:ext cx="44678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E2D4F01-4FCC-6991-D0D5-A9DE9B94D7D8}"/>
                  </a:ext>
                </a:extLst>
              </p:cNvPr>
              <p:cNvSpPr txBox="1"/>
              <p:nvPr/>
            </p:nvSpPr>
            <p:spPr>
              <a:xfrm>
                <a:off x="9950583" y="2858322"/>
                <a:ext cx="40382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o-KR" altLang="en-US" sz="200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4E2D4F01-4FCC-6991-D0D5-A9DE9B94D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50583" y="2858322"/>
                <a:ext cx="403828" cy="400110"/>
              </a:xfrm>
              <a:prstGeom prst="rect">
                <a:avLst/>
              </a:prstGeom>
              <a:blipFill>
                <a:blip r:embed="rId6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91574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53617-861B-138B-AEEA-5D8CCD638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FADCDF-F73F-F93F-FE1C-E024FC90F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5D2FFBB3-1CF1-F533-6D52-81A24AD4860B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Digits Data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AA3AE6-23DE-224F-9E89-6CB296B5B8F0}"/>
              </a:ext>
            </a:extLst>
          </p:cNvPr>
          <p:cNvSpPr txBox="1"/>
          <p:nvPr/>
        </p:nvSpPr>
        <p:spPr>
          <a:xfrm>
            <a:off x="953019" y="3653166"/>
            <a:ext cx="5666856" cy="224676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from 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sklearn.datasets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import 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load_digits</a:t>
            </a:r>
            <a:endParaRPr lang="en-US" altLang="ko-KR" sz="14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import 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matplotlib.pyplot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as 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plt</a:t>
            </a:r>
            <a:endParaRPr lang="en-US" altLang="ko-KR" sz="14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 불러오기</a:t>
            </a:r>
            <a:endParaRPr lang="en-US" altLang="ko-KR" sz="14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digits = 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load_digits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</a:p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print(f”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데이터 크기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digits.data.shape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}”) 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(1797, 64) -&gt; 1797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개의 샘플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각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64(8x8)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개의 특성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endParaRPr lang="ko-KR" altLang="en-US" sz="1400" dirty="0">
              <a:effectLst/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print(f”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타겟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정답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크기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digits.target.shape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}”)</a:t>
            </a:r>
          </a:p>
          <a:p>
            <a:pPr>
              <a:buNone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# (1797,)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print(f”</a:t>
            </a:r>
            <a:r>
              <a:rPr lang="ko-KR" altLang="en-US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타겟 클래스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: {</a:t>
            </a:r>
            <a:r>
              <a:rPr lang="en-US" altLang="ko-KR" sz="1400" dirty="0" err="1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digits.target_names</a:t>
            </a: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}")     </a:t>
            </a:r>
          </a:p>
          <a:p>
            <a:pPr>
              <a:buNone/>
            </a:pPr>
            <a:r>
              <a:rPr lang="en-US" altLang="ko-KR" sz="1400" dirty="0">
                <a:effectLst/>
                <a:latin typeface="D2Coding" panose="020B0609020101020101" pitchFamily="49" charset="-127"/>
                <a:ea typeface="D2Coding" panose="020B0609020101020101" pitchFamily="49" charset="-127"/>
              </a:rPr>
              <a:t># [0 1 2 3 4 5 6 7 8 9]</a:t>
            </a:r>
          </a:p>
        </p:txBody>
      </p:sp>
      <p:sp>
        <p:nvSpPr>
          <p:cNvPr id="5" name="AutoShape 2" descr=", AI generated">
            <a:extLst>
              <a:ext uri="{FF2B5EF4-FFF2-40B4-BE49-F238E27FC236}">
                <a16:creationId xmlns:a16="http://schemas.microsoft.com/office/drawing/2014/main" id="{8A02E7A4-1487-DE0A-E28B-DBAA8D4EE44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20250" y="6086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60D67E-F82B-2975-E5CC-DDA42A7BDA93}"/>
              </a:ext>
            </a:extLst>
          </p:cNvPr>
          <p:cNvSpPr txBox="1"/>
          <p:nvPr/>
        </p:nvSpPr>
        <p:spPr>
          <a:xfrm>
            <a:off x="552853" y="1313482"/>
            <a:ext cx="11086293" cy="1891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까지의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손글씨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이미지를 모아놓은 이미지 데이터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실제 숫자 정답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(Label),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 설명 등이 </a:t>
            </a:r>
            <a:r>
              <a:rPr lang="ko-KR" altLang="en-US" sz="1600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딕셔너리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형태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총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1,797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숫자 이미지 샘플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이미지 크기는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8x8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픽셀로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컴퓨터가 계산하기 편하도록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8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열을 한 줄로 길게 펼쳐서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64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특징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으로 만든 것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 이미지가 실제로 어떤 숫자인지 적혀 있는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해답지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＇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이미지 개수와 똑같이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1,797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개의 정답으로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이 데이터가 분류하고자 하는 범주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(Class)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로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0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부터 </a:t>
            </a:r>
            <a:r>
              <a:rPr lang="en-US" altLang="ko-KR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9</a:t>
            </a:r>
            <a:r>
              <a:rPr lang="ko-KR" altLang="en-US" sz="16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까지의 숫자가 타겟</a:t>
            </a:r>
            <a:endParaRPr lang="en-US" altLang="ko-KR" sz="16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55917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9012B-FDDE-F80E-3CBF-3395C298D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41C7D3-02D8-7E0C-670E-B1E16C28F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2F21DA0-077A-CF2A-C0FF-E5E2C42CEDFB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Digits Data</a:t>
            </a:r>
            <a:r>
              <a:rPr lang="ko-KR" altLang="en-US" cap="none" dirty="0">
                <a:latin typeface="ADLaM Display" panose="02010000000000000000" pitchFamily="2" charset="0"/>
                <a:cs typeface="ADLaM Display" panose="02010000000000000000" pitchFamily="2" charset="0"/>
              </a:rPr>
              <a:t> </a:t>
            </a:r>
          </a:p>
        </p:txBody>
      </p:sp>
      <p:sp>
        <p:nvSpPr>
          <p:cNvPr id="5" name="AutoShape 2" descr=", AI generated">
            <a:extLst>
              <a:ext uri="{FF2B5EF4-FFF2-40B4-BE49-F238E27FC236}">
                <a16:creationId xmlns:a16="http://schemas.microsoft.com/office/drawing/2014/main" id="{C3BCA55C-5FC1-531A-9875-62947EBE6E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620250" y="608647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25DD72B2-9FA7-19EE-E8DA-289A366C68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4113" y="1340993"/>
            <a:ext cx="5299751" cy="5188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045B67C-28D8-8F92-D5E1-DCB3CBC8BF35}"/>
              </a:ext>
            </a:extLst>
          </p:cNvPr>
          <p:cNvSpPr txBox="1"/>
          <p:nvPr/>
        </p:nvSpPr>
        <p:spPr>
          <a:xfrm>
            <a:off x="6696075" y="1568938"/>
            <a:ext cx="4485756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Features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는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Matrix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형태</a:t>
            </a:r>
            <a:endParaRPr lang="en-US" altLang="ko-KR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Target(Label)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은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Vector 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형태</a:t>
            </a:r>
          </a:p>
        </p:txBody>
      </p:sp>
    </p:spTree>
    <p:extLst>
      <p:ext uri="{BB962C8B-B14F-4D97-AF65-F5344CB8AC3E}">
        <p14:creationId xmlns:p14="http://schemas.microsoft.com/office/powerpoint/2010/main" val="37615219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988F4-6748-E841-E0E3-483933AD2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2EE7AD4-7BCA-95C3-7C88-BC8155EAA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34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3B515A5C-DA20-BC13-5438-4B1150B646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299" y="66675"/>
            <a:ext cx="1619251" cy="1071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E924BA77-E126-365B-1D98-17E2D890614A}"/>
              </a:ext>
            </a:extLst>
          </p:cNvPr>
          <p:cNvSpPr txBox="1">
            <a:spLocks/>
          </p:cNvSpPr>
          <p:nvPr/>
        </p:nvSpPr>
        <p:spPr>
          <a:xfrm>
            <a:off x="732820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deep learning with digits</a:t>
            </a:r>
            <a:r>
              <a:rPr lang="ko-KR" altLang="en-US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data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" name="AutoShape 2" descr=", AI generated">
            <a:extLst>
              <a:ext uri="{FF2B5EF4-FFF2-40B4-BE49-F238E27FC236}">
                <a16:creationId xmlns:a16="http://schemas.microsoft.com/office/drawing/2014/main" id="{82618558-9150-3E19-1792-361A6085A7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2942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70EA1D-911F-24B8-8E6F-96DA98BB8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5114" y="1428036"/>
            <a:ext cx="8103909" cy="4420314"/>
          </a:xfrm>
          <a:prstGeom prst="rect">
            <a:avLst/>
          </a:prstGeom>
        </p:spPr>
      </p:pic>
      <p:sp>
        <p:nvSpPr>
          <p:cNvPr id="12" name="타원 11">
            <a:extLst>
              <a:ext uri="{FF2B5EF4-FFF2-40B4-BE49-F238E27FC236}">
                <a16:creationId xmlns:a16="http://schemas.microsoft.com/office/drawing/2014/main" id="{9447872B-B3C5-94D3-7C72-301489D8F589}"/>
              </a:ext>
            </a:extLst>
          </p:cNvPr>
          <p:cNvSpPr/>
          <p:nvPr/>
        </p:nvSpPr>
        <p:spPr>
          <a:xfrm>
            <a:off x="5151121" y="2125611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DDFE2DA-C3BD-251B-198F-2B1990842850}"/>
              </a:ext>
            </a:extLst>
          </p:cNvPr>
          <p:cNvSpPr/>
          <p:nvPr/>
        </p:nvSpPr>
        <p:spPr>
          <a:xfrm>
            <a:off x="2477136" y="1908187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3FC9D2F0-B4E0-EC80-CF75-E660D41D3532}"/>
              </a:ext>
            </a:extLst>
          </p:cNvPr>
          <p:cNvSpPr/>
          <p:nvPr/>
        </p:nvSpPr>
        <p:spPr>
          <a:xfrm>
            <a:off x="2473072" y="2195715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3B7EBFA9-E6D4-E650-A98E-7740DF72FB9D}"/>
              </a:ext>
            </a:extLst>
          </p:cNvPr>
          <p:cNvSpPr/>
          <p:nvPr/>
        </p:nvSpPr>
        <p:spPr>
          <a:xfrm>
            <a:off x="2472056" y="2458351"/>
            <a:ext cx="162938" cy="1639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E08BE5-1402-7A84-2942-DE3F8A5E5406}"/>
              </a:ext>
            </a:extLst>
          </p:cNvPr>
          <p:cNvSpPr txBox="1"/>
          <p:nvPr/>
        </p:nvSpPr>
        <p:spPr>
          <a:xfrm>
            <a:off x="2230075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(64,1)</a:t>
            </a:r>
            <a:endParaRPr lang="ko-KR" altLang="en-US" sz="16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9BCBBB-7271-38B8-8212-7FBBFDFE103B}"/>
              </a:ext>
            </a:extLst>
          </p:cNvPr>
          <p:cNvSpPr txBox="1"/>
          <p:nvPr/>
        </p:nvSpPr>
        <p:spPr>
          <a:xfrm>
            <a:off x="4909140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(10,1)</a:t>
            </a:r>
            <a:endParaRPr lang="ko-KR" altLang="en-US" sz="16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935A2DD-ED2E-AF9A-0043-6F6B40CF4801}"/>
              </a:ext>
            </a:extLst>
          </p:cNvPr>
          <p:cNvSpPr txBox="1"/>
          <p:nvPr/>
        </p:nvSpPr>
        <p:spPr>
          <a:xfrm>
            <a:off x="7339103" y="5959169"/>
            <a:ext cx="8002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(15,1)</a:t>
            </a:r>
            <a:endParaRPr lang="ko-KR" altLang="en-US" sz="16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2FA1407-8DBE-204F-4F08-DABAE4BD3137}"/>
              </a:ext>
            </a:extLst>
          </p:cNvPr>
          <p:cNvSpPr txBox="1"/>
          <p:nvPr/>
        </p:nvSpPr>
        <p:spPr>
          <a:xfrm>
            <a:off x="9110753" y="5959169"/>
            <a:ext cx="6976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(9,1)</a:t>
            </a:r>
            <a:endParaRPr lang="ko-KR" altLang="en-US" sz="1600" dirty="0">
              <a:solidFill>
                <a:schemeClr val="accent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7815398-2B94-0D7E-99AA-75C0407E8C3A}"/>
              </a:ext>
            </a:extLst>
          </p:cNvPr>
          <p:cNvSpPr txBox="1"/>
          <p:nvPr/>
        </p:nvSpPr>
        <p:spPr>
          <a:xfrm>
            <a:off x="3505435" y="5959169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@(64,10)=</a:t>
            </a:r>
            <a:endParaRPr lang="ko-KR" altLang="en-US" sz="16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1D6A35-1376-424B-B677-B4EA4E6E0DE2}"/>
              </a:ext>
            </a:extLst>
          </p:cNvPr>
          <p:cNvSpPr txBox="1"/>
          <p:nvPr/>
        </p:nvSpPr>
        <p:spPr>
          <a:xfrm>
            <a:off x="6030100" y="5959169"/>
            <a:ext cx="11079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@(10,15)=</a:t>
            </a:r>
            <a:endParaRPr lang="ko-KR" altLang="en-US" sz="16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2E4FFF-8581-2131-CF06-3882FD7FD06F}"/>
              </a:ext>
            </a:extLst>
          </p:cNvPr>
          <p:cNvSpPr txBox="1"/>
          <p:nvPr/>
        </p:nvSpPr>
        <p:spPr>
          <a:xfrm>
            <a:off x="8159116" y="5959169"/>
            <a:ext cx="10054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rgbClr val="00B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@(15,9)=</a:t>
            </a:r>
            <a:endParaRPr lang="ko-KR" altLang="en-US" sz="1600" dirty="0">
              <a:solidFill>
                <a:srgbClr val="00B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67266E-49A9-B43B-F9B1-5E459EB7BBE1}"/>
              </a:ext>
            </a:extLst>
          </p:cNvPr>
          <p:cNvSpPr txBox="1"/>
          <p:nvPr/>
        </p:nvSpPr>
        <p:spPr>
          <a:xfrm>
            <a:off x="2794899" y="5827992"/>
            <a:ext cx="255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C92AA3-36BF-6BF9-B680-42E31DF11212}"/>
              </a:ext>
            </a:extLst>
          </p:cNvPr>
          <p:cNvSpPr txBox="1"/>
          <p:nvPr/>
        </p:nvSpPr>
        <p:spPr>
          <a:xfrm>
            <a:off x="5486514" y="5827992"/>
            <a:ext cx="255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00E7D32-571C-3FBE-BBF0-59D88B5928BE}"/>
              </a:ext>
            </a:extLst>
          </p:cNvPr>
          <p:cNvSpPr txBox="1"/>
          <p:nvPr/>
        </p:nvSpPr>
        <p:spPr>
          <a:xfrm>
            <a:off x="7935151" y="5827992"/>
            <a:ext cx="25519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600" dirty="0">
                <a:solidFill>
                  <a:srgbClr val="00B0F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</a:t>
            </a:r>
            <a:endParaRPr lang="ko-KR" altLang="en-US" sz="1600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6924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/>
      <p:bldP spid="17" grpId="0"/>
      <p:bldP spid="18" grpId="0"/>
      <p:bldP spid="19" grpId="0"/>
      <p:bldP spid="20" grpId="0"/>
      <p:bldP spid="21" grpId="0"/>
      <p:bldP spid="22" grpId="0"/>
      <p:bldP spid="24" grpId="0"/>
      <p:bldP spid="25" grpId="0"/>
      <p:bldP spid="26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2AD09-0992-FC39-4F80-31C5E7117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2642CE7F-AED1-D598-8D78-62E5A6A1A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35</a:t>
            </a:fld>
            <a:endParaRPr lang="en-US" sz="2000" dirty="0"/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F58BC8A7-7BBD-54EA-B0BF-9A8146648D9A}"/>
              </a:ext>
            </a:extLst>
          </p:cNvPr>
          <p:cNvGrpSpPr/>
          <p:nvPr/>
        </p:nvGrpSpPr>
        <p:grpSpPr>
          <a:xfrm>
            <a:off x="2128837" y="2317001"/>
            <a:ext cx="7934325" cy="3318063"/>
            <a:chOff x="2457450" y="1673618"/>
            <a:chExt cx="7934325" cy="33180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12FC99F-4F29-FE0D-34B5-9AC7CDA4BCC8}"/>
                </a:ext>
              </a:extLst>
            </p:cNvPr>
            <p:cNvSpPr txBox="1"/>
            <p:nvPr/>
          </p:nvSpPr>
          <p:spPr>
            <a:xfrm>
              <a:off x="5555536" y="4068351"/>
              <a:ext cx="483623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hlinkClick r:id="rId2" tooltip="C1_W3_Assignment.ipynb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C1_W3_Assignment.ipynb</a:t>
              </a:r>
              <a:endParaRPr lang="en-US" altLang="ko-KR" dirty="0"/>
            </a:p>
            <a:p>
              <a:r>
                <a:rPr lang="fr-FR" altLang="ko-KR" dirty="0">
                  <a:hlinkClick r:id="rId3" tooltip="C1_W3_Assignment_Perceptron.ipynb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C1_W3_Assignment_Perceptron.ipynb</a:t>
              </a:r>
              <a:endParaRPr lang="fr-FR" altLang="ko-KR" dirty="0"/>
            </a:p>
            <a:p>
              <a:r>
                <a:rPr lang="fr-FR" altLang="ko-KR" dirty="0">
                  <a:hlinkClick r:id="rId4" tooltip="C1_W3_Assignment_Perceptron_MSE.ipynb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C1_W3_Assignment_Perceptron_MSE.ipynb</a:t>
              </a:r>
              <a:endParaRPr lang="fr-FR" altLang="ko-KR" dirty="0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5851D627-41E9-D33A-A72C-D38EF5B9F8AF}"/>
                </a:ext>
              </a:extLst>
            </p:cNvPr>
            <p:cNvSpPr txBox="1"/>
            <p:nvPr/>
          </p:nvSpPr>
          <p:spPr>
            <a:xfrm>
              <a:off x="2457450" y="1673618"/>
              <a:ext cx="4366003" cy="24006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2400" dirty="0">
                  <a:hlinkClick r:id="rId5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Mathematics-for-Big-Data-Science</a:t>
              </a:r>
              <a:endParaRPr lang="en-US" altLang="ko-KR" sz="2400" dirty="0"/>
            </a:p>
            <a:p>
              <a:endParaRPr lang="en-US" altLang="ko-KR" dirty="0"/>
            </a:p>
            <a:p>
              <a:r>
                <a:rPr lang="en-US" altLang="ko-KR" dirty="0"/>
                <a:t>C1 </a:t>
              </a:r>
            </a:p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	w1</a:t>
              </a:r>
            </a:p>
            <a:p>
              <a:r>
                <a:rPr lang="en-US" altLang="ko-KR" dirty="0">
                  <a:solidFill>
                    <a:schemeClr val="bg1">
                      <a:lumMod val="50000"/>
                    </a:schemeClr>
                  </a:solidFill>
                </a:rPr>
                <a:t>	w2</a:t>
              </a:r>
            </a:p>
            <a:p>
              <a:r>
                <a:rPr lang="en-US" altLang="ko-KR" dirty="0"/>
                <a:t>	w3 </a:t>
              </a:r>
            </a:p>
            <a:p>
              <a:r>
                <a:rPr lang="en-US" altLang="ko-KR" dirty="0"/>
                <a:t>				</a:t>
              </a:r>
            </a:p>
            <a:p>
              <a:r>
                <a:rPr lang="en-US" altLang="ko-KR" dirty="0"/>
                <a:t>		</a:t>
              </a:r>
              <a:r>
                <a:rPr lang="en-US" altLang="ko-KR" dirty="0">
                  <a:hlinkClick r:id="rId6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C1w3_graded_lab</a:t>
              </a:r>
              <a:endParaRPr lang="ko-KR" alt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319C6CB4-31F7-6803-5396-4484BB83E572}"/>
              </a:ext>
            </a:extLst>
          </p:cNvPr>
          <p:cNvSpPr txBox="1"/>
          <p:nvPr/>
        </p:nvSpPr>
        <p:spPr>
          <a:xfrm>
            <a:off x="1114425" y="1238250"/>
            <a:ext cx="655179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회귀식과 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동질성을 이해하고 실습한다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 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sp>
        <p:nvSpPr>
          <p:cNvPr id="10" name="제목 7">
            <a:extLst>
              <a:ext uri="{FF2B5EF4-FFF2-40B4-BE49-F238E27FC236}">
                <a16:creationId xmlns:a16="http://schemas.microsoft.com/office/drawing/2014/main" id="{06FEC23C-9768-0CF0-9999-F078BBDB7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0394443" cy="640080"/>
          </a:xfrm>
        </p:spPr>
        <p:txBody>
          <a:bodyPr rtlCol="0">
            <a:noAutofit/>
          </a:bodyPr>
          <a:lstStyle/>
          <a:p>
            <a:r>
              <a:rPr lang="en-US" altLang="ko-KR" dirty="0"/>
              <a:t>Regression and Perceptron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76247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4DBFD-E35C-4B0C-7644-3EF344FF4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>
            <a:extLst>
              <a:ext uri="{FF2B5EF4-FFF2-40B4-BE49-F238E27FC236}">
                <a16:creationId xmlns:a16="http://schemas.microsoft.com/office/drawing/2014/main" id="{36122894-6B44-50FD-A9F6-BFEEEEC21321}"/>
              </a:ext>
            </a:extLst>
          </p:cNvPr>
          <p:cNvSpPr/>
          <p:nvPr/>
        </p:nvSpPr>
        <p:spPr>
          <a:xfrm>
            <a:off x="734002" y="3115281"/>
            <a:ext cx="5948218" cy="54866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제목 7">
            <a:extLst>
              <a:ext uri="{FF2B5EF4-FFF2-40B4-BE49-F238E27FC236}">
                <a16:creationId xmlns:a16="http://schemas.microsoft.com/office/drawing/2014/main" id="{5DD6DC20-69FA-F69A-9991-1E8F8C18C0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Contents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3F105E9E-C4A3-4441-3A06-006B70370A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36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DA969B-4A8C-CDBB-5DF9-6C3855931BB7}"/>
              </a:ext>
            </a:extLst>
          </p:cNvPr>
          <p:cNvSpPr txBox="1"/>
          <p:nvPr/>
        </p:nvSpPr>
        <p:spPr>
          <a:xfrm>
            <a:off x="1764145" y="1384043"/>
            <a:ext cx="7250546" cy="22369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Linear regression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Stochastic Gradient Descent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</a:p>
          <a:p>
            <a:pPr marL="514350" indent="-514350">
              <a:lnSpc>
                <a:spcPct val="150000"/>
              </a:lnSpc>
              <a:buAutoNum type="arabicPeriod"/>
            </a:pPr>
            <a:r>
              <a:rPr lang="en-US" altLang="ko-KR" sz="2400" b="1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Neural Network Architecture</a:t>
            </a:r>
          </a:p>
        </p:txBody>
      </p:sp>
    </p:spTree>
    <p:extLst>
      <p:ext uri="{BB962C8B-B14F-4D97-AF65-F5344CB8AC3E}">
        <p14:creationId xmlns:p14="http://schemas.microsoft.com/office/powerpoint/2010/main" val="2324342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2F4DD-3183-DC87-A058-2B2E5E006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D11D27-CD88-A5DA-A2C9-B8ED92ADE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37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0A2B623F-9C78-161A-FD9F-97B8315E33E0}"/>
              </a:ext>
            </a:extLst>
          </p:cNvPr>
          <p:cNvSpPr txBox="1">
            <a:spLocks/>
          </p:cNvSpPr>
          <p:nvPr/>
        </p:nvSpPr>
        <p:spPr>
          <a:xfrm>
            <a:off x="506700" y="460581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Neural Network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0BBCD5E2-0217-2EB7-EEB3-1C30A79157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3794" y="1260814"/>
                <a:ext cx="10706705" cy="995151"/>
              </a:xfrm>
            </p:spPr>
            <p:txBody>
              <a:bodyPr>
                <a:normAutofit/>
              </a:bodyPr>
              <a:lstStyle/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§"/>
                </a:pP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Inputs(x)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 받아 가중치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(w)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반영한 가중치 합계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(z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은 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weighted sum)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활성화함수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8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𝑓</m:t>
                    </m:r>
                    <m:r>
                      <a:rPr lang="en-US" altLang="ko-KR" sz="18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sz="18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z</m:t>
                    </m:r>
                    <m:r>
                      <a:rPr lang="en-US" altLang="ko-KR" sz="1800" cap="none">
                        <a:latin typeface="Cambria Math" panose="02040503050406030204" pitchFamily="18" charset="0"/>
                        <a:ea typeface="맑은 고딕 Semilight" panose="020B0502040204020203" pitchFamily="50" charset="-127"/>
                        <a:cs typeface="맑은 고딕 Semilight" panose="020B0502040204020203" pitchFamily="50" charset="-127"/>
                      </a:rPr>
                      <m:t>)</m:t>
                    </m:r>
                  </m:oMath>
                </a14:m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를 거쳐 반응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(1, 0, -1)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을</a:t>
                </a:r>
                <a:r>
                  <a:rPr lang="en-US" altLang="ko-KR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 </a:t>
                </a:r>
                <a:r>
                  <a:rPr lang="ko-KR" altLang="en-US" sz="1800" cap="none" dirty="0">
                    <a:latin typeface="맑은 고딕 Semilight" panose="020B0502040204020203" pitchFamily="50" charset="-127"/>
                    <a:ea typeface="맑은 고딕 Semilight" panose="020B0502040204020203" pitchFamily="50" charset="-127"/>
                    <a:cs typeface="맑은 고딕 Semilight" panose="020B0502040204020203" pitchFamily="50" charset="-127"/>
                  </a:rPr>
                  <a:t>하는 네트워크 구조</a:t>
                </a:r>
                <a:endParaRPr lang="en-US" altLang="ko-KR" sz="1800" cap="none" dirty="0">
                  <a:latin typeface="맑은 고딕 Semilight" panose="020B0502040204020203" pitchFamily="50" charset="-127"/>
                  <a:ea typeface="맑은 고딕 Semilight" panose="020B0502040204020203" pitchFamily="50" charset="-127"/>
                  <a:cs typeface="맑은 고딕 Semilight" panose="020B0502040204020203" pitchFamily="50" charset="-127"/>
                </a:endParaRPr>
              </a:p>
            </p:txBody>
          </p:sp>
        </mc:Choice>
        <mc:Fallback xmlns="">
          <p:sp>
            <p:nvSpPr>
              <p:cNvPr id="5" name="내용 개체 틀 2">
                <a:extLst>
                  <a:ext uri="{FF2B5EF4-FFF2-40B4-BE49-F238E27FC236}">
                    <a16:creationId xmlns:a16="http://schemas.microsoft.com/office/drawing/2014/main" id="{0BBCD5E2-0217-2EB7-EEB3-1C30A79157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3794" y="1260814"/>
                <a:ext cx="10706705" cy="995151"/>
              </a:xfrm>
              <a:blipFill>
                <a:blip r:embed="rId2"/>
                <a:stretch>
                  <a:fillRect l="-3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18" name="Picture 2">
            <a:extLst>
              <a:ext uri="{FF2B5EF4-FFF2-40B4-BE49-F238E27FC236}">
                <a16:creationId xmlns:a16="http://schemas.microsoft.com/office/drawing/2014/main" id="{5BB5F102-81AC-096E-A5A7-E104091347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250" y="2821385"/>
            <a:ext cx="4023780" cy="323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38091E3-1E1C-83D9-CD62-BBA14245814F}"/>
              </a:ext>
            </a:extLst>
          </p:cNvPr>
          <p:cNvSpPr txBox="1"/>
          <p:nvPr/>
        </p:nvSpPr>
        <p:spPr>
          <a:xfrm>
            <a:off x="7884968" y="2384466"/>
            <a:ext cx="2299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Sign Activation function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F19882-95A0-C76B-E9B9-FE3D76F62273}"/>
                  </a:ext>
                </a:extLst>
              </p:cNvPr>
              <p:cNvSpPr txBox="1"/>
              <p:nvPr/>
            </p:nvSpPr>
            <p:spPr>
              <a:xfrm>
                <a:off x="8021372" y="2956559"/>
                <a:ext cx="809624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𝑓</m:t>
                      </m:r>
                      <m: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z</m:t>
                      </m:r>
                      <m: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)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43F19882-95A0-C76B-E9B9-FE3D76F62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1372" y="2956559"/>
                <a:ext cx="809624" cy="400110"/>
              </a:xfrm>
              <a:prstGeom prst="rect">
                <a:avLst/>
              </a:prstGeom>
              <a:blipFill>
                <a:blip r:embed="rId5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220" name="Picture 4" descr="Activation function in Neural Networks">
            <a:extLst>
              <a:ext uri="{FF2B5EF4-FFF2-40B4-BE49-F238E27FC236}">
                <a16:creationId xmlns:a16="http://schemas.microsoft.com/office/drawing/2014/main" id="{F5590D0D-2E03-5203-CB79-38ED815C7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7381" y="2410346"/>
            <a:ext cx="5227666" cy="392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501ADB-B43C-8A1F-363C-C76FE57C9AE7}"/>
                  </a:ext>
                </a:extLst>
              </p:cNvPr>
              <p:cNvSpPr txBox="1"/>
              <p:nvPr/>
            </p:nvSpPr>
            <p:spPr>
              <a:xfrm>
                <a:off x="10368344" y="4507575"/>
                <a:ext cx="809624" cy="400110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sz="2000" b="0" i="1" cap="none" smtClean="0">
                          <a:latin typeface="Cambria Math" panose="02040503050406030204" pitchFamily="18" charset="0"/>
                          <a:ea typeface="맑은 고딕 Semilight" panose="020B0502040204020203" pitchFamily="50" charset="-127"/>
                          <a:cs typeface="맑은 고딕 Semilight" panose="020B0502040204020203" pitchFamily="50" charset="-127"/>
                        </a:rPr>
                        <m:t>z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4501ADB-B43C-8A1F-363C-C76FE57C9A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68344" y="4507575"/>
                <a:ext cx="809624" cy="40011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6185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483D93-7637-7C5E-BB4E-92B8DE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266840-5B84-ED6C-269F-E9A3C6DE3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3A2896C1-2712-4A10-2E30-384F1B95FD8A}"/>
              </a:ext>
            </a:extLst>
          </p:cNvPr>
          <p:cNvSpPr txBox="1">
            <a:spLocks/>
          </p:cNvSpPr>
          <p:nvPr/>
        </p:nvSpPr>
        <p:spPr>
          <a:xfrm>
            <a:off x="562526" y="5709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Activation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function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0242" name="Picture 2" descr="Neural Network Activation Functions: Cheat Sheet">
            <a:extLst>
              <a:ext uri="{FF2B5EF4-FFF2-40B4-BE49-F238E27FC236}">
                <a16:creationId xmlns:a16="http://schemas.microsoft.com/office/drawing/2014/main" id="{BD1C19EB-28D3-EE39-23C2-44D46F28110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87057" y="1321566"/>
            <a:ext cx="3932834" cy="51490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How Activation Function works in Neural Networks">
            <a:extLst>
              <a:ext uri="{FF2B5EF4-FFF2-40B4-BE49-F238E27FC236}">
                <a16:creationId xmlns:a16="http://schemas.microsoft.com/office/drawing/2014/main" id="{1CF8A3D6-A242-4AEA-8E25-67B6718A17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814" y="2219972"/>
            <a:ext cx="4783393" cy="3587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57200C4-D722-0DFB-71FB-520B5B1158AD}"/>
              </a:ext>
            </a:extLst>
          </p:cNvPr>
          <p:cNvSpPr txBox="1"/>
          <p:nvPr/>
        </p:nvSpPr>
        <p:spPr>
          <a:xfrm>
            <a:off x="528282" y="1668583"/>
            <a:ext cx="225254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activation function</a:t>
            </a:r>
            <a:endParaRPr lang="ko-KR" altLang="en-US" sz="2000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5066926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441F2-358C-E450-F072-DDA82D587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C07EB3C-2B1D-CC66-3F2B-1B061BD0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39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5C55EFC-E3D3-936C-FD13-B8B4B3B36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9CA1E0D0-48F4-0136-ACB1-9BAE230E83EC}"/>
              </a:ext>
            </a:extLst>
          </p:cNvPr>
          <p:cNvSpPr txBox="1">
            <a:spLocks/>
          </p:cNvSpPr>
          <p:nvPr/>
        </p:nvSpPr>
        <p:spPr>
          <a:xfrm>
            <a:off x="456595" y="456614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Hands-on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C45D0520-885A-0B96-6203-3F5CD2FD6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87061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입력변수가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개인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perceptron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네트워크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Perceptron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만들고 아래에 대해 정답을 생성하는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parameter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확인하라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AND gate with Step Function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OR gate with Step Function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AND gate with Sigmoid Function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Or gate with Sigmoid Function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719104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5FF96-AFFC-CB97-69B7-FCC1654175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61450C-758E-5DB8-ECB4-A2C14D85B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677AF110-24A1-8FC5-BE25-6FC4F14B084D}"/>
              </a:ext>
            </a:extLst>
          </p:cNvPr>
          <p:cNvSpPr txBox="1">
            <a:spLocks/>
          </p:cNvSpPr>
          <p:nvPr/>
        </p:nvSpPr>
        <p:spPr>
          <a:xfrm>
            <a:off x="537021" y="45274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Artificial Neural Network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EB543BC5-EFBD-D448-8727-31DEFAAE453E}"/>
              </a:ext>
            </a:extLst>
          </p:cNvPr>
          <p:cNvGrpSpPr/>
          <p:nvPr/>
        </p:nvGrpSpPr>
        <p:grpSpPr>
          <a:xfrm>
            <a:off x="1197855" y="1981201"/>
            <a:ext cx="10316619" cy="4469792"/>
            <a:chOff x="1350255" y="2204864"/>
            <a:chExt cx="9430539" cy="41584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0BA022F1-8FD0-4A5E-B71C-3CC805BC1E2A}"/>
                    </a:ext>
                  </a:extLst>
                </p:cNvPr>
                <p:cNvSpPr/>
                <p:nvPr/>
              </p:nvSpPr>
              <p:spPr>
                <a:xfrm>
                  <a:off x="1836737" y="3131669"/>
                  <a:ext cx="479279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" name="직사각형 2">
                  <a:extLst>
                    <a:ext uri="{FF2B5EF4-FFF2-40B4-BE49-F238E27FC236}">
                      <a16:creationId xmlns:a16="http://schemas.microsoft.com/office/drawing/2014/main" id="{0BA022F1-8FD0-4A5E-B71C-3CC805BC1E2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3131669"/>
                  <a:ext cx="479279" cy="372238"/>
                </a:xfrm>
                <a:prstGeom prst="rect">
                  <a:avLst/>
                </a:prstGeom>
                <a:blipFill>
                  <a:blip r:embed="rId3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A5557686-AD94-E110-230C-C46FFBE83A57}"/>
                    </a:ext>
                  </a:extLst>
                </p:cNvPr>
                <p:cNvSpPr/>
                <p:nvPr/>
              </p:nvSpPr>
              <p:spPr>
                <a:xfrm>
                  <a:off x="1836737" y="3451964"/>
                  <a:ext cx="484729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5" name="직사각형 4">
                  <a:extLst>
                    <a:ext uri="{FF2B5EF4-FFF2-40B4-BE49-F238E27FC236}">
                      <a16:creationId xmlns:a16="http://schemas.microsoft.com/office/drawing/2014/main" id="{A5557686-AD94-E110-230C-C46FFBE83A5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3451964"/>
                  <a:ext cx="484729" cy="372238"/>
                </a:xfrm>
                <a:prstGeom prst="rect">
                  <a:avLst/>
                </a:prstGeom>
                <a:blipFill>
                  <a:blip r:embed="rId4"/>
                  <a:stretch>
                    <a:fillRect b="-1515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AB7E4F7F-0241-B573-E80F-D5CAAE74F6B4}"/>
                    </a:ext>
                  </a:extLst>
                </p:cNvPr>
                <p:cNvSpPr/>
                <p:nvPr/>
              </p:nvSpPr>
              <p:spPr>
                <a:xfrm>
                  <a:off x="1836737" y="5161355"/>
                  <a:ext cx="499382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6" name="직사각형 5">
                  <a:extLst>
                    <a:ext uri="{FF2B5EF4-FFF2-40B4-BE49-F238E27FC236}">
                      <a16:creationId xmlns:a16="http://schemas.microsoft.com/office/drawing/2014/main" id="{AB7E4F7F-0241-B573-E80F-D5CAAE74F6B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36737" y="5161355"/>
                  <a:ext cx="499382" cy="37223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65127C1-AFC0-DCA5-920B-9EB79DB3402F}"/>
                    </a:ext>
                  </a:extLst>
                </p:cNvPr>
                <p:cNvSpPr/>
                <p:nvPr/>
              </p:nvSpPr>
              <p:spPr>
                <a:xfrm>
                  <a:off x="1880697" y="3769967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7" name="직사각형 6">
                  <a:extLst>
                    <a:ext uri="{FF2B5EF4-FFF2-40B4-BE49-F238E27FC236}">
                      <a16:creationId xmlns:a16="http://schemas.microsoft.com/office/drawing/2014/main" id="{765127C1-AFC0-DCA5-920B-9EB79DB340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80697" y="3769967"/>
                  <a:ext cx="363693" cy="48677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A02A834B-BF33-8BF1-8B8C-FD7D9BCB2573}"/>
                    </a:ext>
                  </a:extLst>
                </p:cNvPr>
                <p:cNvSpPr/>
                <p:nvPr/>
              </p:nvSpPr>
              <p:spPr>
                <a:xfrm>
                  <a:off x="1874834" y="4109200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8" name="직사각형 7">
                  <a:extLst>
                    <a:ext uri="{FF2B5EF4-FFF2-40B4-BE49-F238E27FC236}">
                      <a16:creationId xmlns:a16="http://schemas.microsoft.com/office/drawing/2014/main" id="{A02A834B-BF33-8BF1-8B8C-FD7D9BCB257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4834" y="4109200"/>
                  <a:ext cx="363693" cy="486773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6CD8DFA-6CD0-F1F7-488F-544797BA94D3}"/>
                    </a:ext>
                  </a:extLst>
                </p:cNvPr>
                <p:cNvSpPr/>
                <p:nvPr/>
              </p:nvSpPr>
              <p:spPr>
                <a:xfrm>
                  <a:off x="1879359" y="4838960"/>
                  <a:ext cx="363693" cy="486773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8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9" name="직사각형 8">
                  <a:extLst>
                    <a:ext uri="{FF2B5EF4-FFF2-40B4-BE49-F238E27FC236}">
                      <a16:creationId xmlns:a16="http://schemas.microsoft.com/office/drawing/2014/main" id="{D6CD8DFA-6CD0-F1F7-488F-544797BA94D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9359" y="4838960"/>
                  <a:ext cx="363693" cy="486773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" name="순서도: 가산 접합 9">
              <a:extLst>
                <a:ext uri="{FF2B5EF4-FFF2-40B4-BE49-F238E27FC236}">
                  <a16:creationId xmlns:a16="http://schemas.microsoft.com/office/drawing/2014/main" id="{0F64D008-769D-7306-6D0B-03CB6D1A5CF2}"/>
                </a:ext>
              </a:extLst>
            </p:cNvPr>
            <p:cNvSpPr/>
            <p:nvPr/>
          </p:nvSpPr>
          <p:spPr bwMode="auto">
            <a:xfrm>
              <a:off x="3721080" y="3196809"/>
              <a:ext cx="239660" cy="239660"/>
            </a:xfrm>
            <a:prstGeom prst="flowChartSummingJuncti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11" name="순서도: 가산 접합 10">
              <a:extLst>
                <a:ext uri="{FF2B5EF4-FFF2-40B4-BE49-F238E27FC236}">
                  <a16:creationId xmlns:a16="http://schemas.microsoft.com/office/drawing/2014/main" id="{00BA48F0-4BB3-0BA3-DA8E-666758CAB44F}"/>
                </a:ext>
              </a:extLst>
            </p:cNvPr>
            <p:cNvSpPr/>
            <p:nvPr/>
          </p:nvSpPr>
          <p:spPr bwMode="auto">
            <a:xfrm>
              <a:off x="3721080" y="3731768"/>
              <a:ext cx="239660" cy="239660"/>
            </a:xfrm>
            <a:prstGeom prst="flowChartSummingJuncti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12" name="순서도: 가산 접합 11">
              <a:extLst>
                <a:ext uri="{FF2B5EF4-FFF2-40B4-BE49-F238E27FC236}">
                  <a16:creationId xmlns:a16="http://schemas.microsoft.com/office/drawing/2014/main" id="{E3C9CA5A-281B-B879-F18C-A775762C250F}"/>
                </a:ext>
              </a:extLst>
            </p:cNvPr>
            <p:cNvSpPr/>
            <p:nvPr/>
          </p:nvSpPr>
          <p:spPr bwMode="auto">
            <a:xfrm>
              <a:off x="3721080" y="5189069"/>
              <a:ext cx="239660" cy="239660"/>
            </a:xfrm>
            <a:prstGeom prst="flowChartSummingJunction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cxnSp>
          <p:nvCxnSpPr>
            <p:cNvPr id="13" name="구부러진 연결선 42">
              <a:extLst>
                <a:ext uri="{FF2B5EF4-FFF2-40B4-BE49-F238E27FC236}">
                  <a16:creationId xmlns:a16="http://schemas.microsoft.com/office/drawing/2014/main" id="{50841188-01D3-E4E6-137B-CFB73F38D28A}"/>
                </a:ext>
              </a:extLst>
            </p:cNvPr>
            <p:cNvCxnSpPr>
              <a:stCxn id="3" idx="3"/>
              <a:endCxn id="10" idx="3"/>
            </p:cNvCxnSpPr>
            <p:nvPr/>
          </p:nvCxnSpPr>
          <p:spPr bwMode="auto">
            <a:xfrm>
              <a:off x="2316016" y="3317788"/>
              <a:ext cx="1440161" cy="83585"/>
            </a:xfrm>
            <a:prstGeom prst="curvedConnector4">
              <a:avLst>
                <a:gd name="adj1" fmla="val 48781"/>
                <a:gd name="adj2" fmla="val 354444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4" name="구부러진 연결선 43">
              <a:extLst>
                <a:ext uri="{FF2B5EF4-FFF2-40B4-BE49-F238E27FC236}">
                  <a16:creationId xmlns:a16="http://schemas.microsoft.com/office/drawing/2014/main" id="{3FF70D99-D749-9F13-5511-F2A78F86D774}"/>
                </a:ext>
              </a:extLst>
            </p:cNvPr>
            <p:cNvCxnSpPr>
              <a:stCxn id="5" idx="3"/>
              <a:endCxn id="11" idx="3"/>
            </p:cNvCxnSpPr>
            <p:nvPr/>
          </p:nvCxnSpPr>
          <p:spPr bwMode="auto">
            <a:xfrm>
              <a:off x="2321465" y="3638084"/>
              <a:ext cx="1434712" cy="298247"/>
            </a:xfrm>
            <a:prstGeom prst="curvedConnector4">
              <a:avLst>
                <a:gd name="adj1" fmla="val 48777"/>
                <a:gd name="adj2" fmla="val 171308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5" name="구부러진 연결선 44">
              <a:extLst>
                <a:ext uri="{FF2B5EF4-FFF2-40B4-BE49-F238E27FC236}">
                  <a16:creationId xmlns:a16="http://schemas.microsoft.com/office/drawing/2014/main" id="{F929EBCB-93A1-CCC5-C4E9-762F65D233D6}"/>
                </a:ext>
              </a:extLst>
            </p:cNvPr>
            <p:cNvCxnSpPr>
              <a:stCxn id="6" idx="3"/>
              <a:endCxn id="12" idx="1"/>
            </p:cNvCxnSpPr>
            <p:nvPr/>
          </p:nvCxnSpPr>
          <p:spPr bwMode="auto">
            <a:xfrm flipV="1">
              <a:off x="2336119" y="5224166"/>
              <a:ext cx="1420058" cy="123307"/>
            </a:xfrm>
            <a:prstGeom prst="curvedConnector4">
              <a:avLst>
                <a:gd name="adj1" fmla="val 48764"/>
                <a:gd name="adj2" fmla="val 323416"/>
              </a:avLst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CA988A9C-97DC-CF1F-008D-2B82CB1E30B1}"/>
                    </a:ext>
                  </a:extLst>
                </p:cNvPr>
                <p:cNvSpPr/>
                <p:nvPr/>
              </p:nvSpPr>
              <p:spPr>
                <a:xfrm>
                  <a:off x="3683433" y="4085735"/>
                  <a:ext cx="335852" cy="4295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16" name="직사각형 15">
                  <a:extLst>
                    <a:ext uri="{FF2B5EF4-FFF2-40B4-BE49-F238E27FC236}">
                      <a16:creationId xmlns:a16="http://schemas.microsoft.com/office/drawing/2014/main" id="{CA988A9C-97DC-CF1F-008D-2B82CB1E30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3433" y="4085735"/>
                  <a:ext cx="335852" cy="42950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3FC42BDE-F8D7-BA93-7AC7-498EA4FE4FDF}"/>
                    </a:ext>
                  </a:extLst>
                </p:cNvPr>
                <p:cNvSpPr/>
                <p:nvPr/>
              </p:nvSpPr>
              <p:spPr>
                <a:xfrm>
                  <a:off x="3687958" y="4815495"/>
                  <a:ext cx="335852" cy="42950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2400" b="0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⋮</m:t>
                        </m:r>
                      </m:oMath>
                    </m:oMathPara>
                  </a14:m>
                  <a:endParaRPr kumimoji="0" lang="ko-KR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17" name="직사각형 16">
                  <a:extLst>
                    <a:ext uri="{FF2B5EF4-FFF2-40B4-BE49-F238E27FC236}">
                      <a16:creationId xmlns:a16="http://schemas.microsoft.com/office/drawing/2014/main" id="{3FC42BDE-F8D7-BA93-7AC7-498EA4FE4FD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7958" y="4815495"/>
                  <a:ext cx="335852" cy="429505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구부러진 연결선 48">
              <a:extLst>
                <a:ext uri="{FF2B5EF4-FFF2-40B4-BE49-F238E27FC236}">
                  <a16:creationId xmlns:a16="http://schemas.microsoft.com/office/drawing/2014/main" id="{3EE8D7C1-70B2-DCD2-5375-E1D2B0D1C102}"/>
                </a:ext>
              </a:extLst>
            </p:cNvPr>
            <p:cNvCxnSpPr>
              <a:stCxn id="10" idx="6"/>
            </p:cNvCxnSpPr>
            <p:nvPr/>
          </p:nvCxnSpPr>
          <p:spPr bwMode="auto">
            <a:xfrm>
              <a:off x="3960740" y="3316639"/>
              <a:ext cx="1106394" cy="799195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19" name="구부러진 연결선 49">
              <a:extLst>
                <a:ext uri="{FF2B5EF4-FFF2-40B4-BE49-F238E27FC236}">
                  <a16:creationId xmlns:a16="http://schemas.microsoft.com/office/drawing/2014/main" id="{FDD4B62A-0F4E-E32A-3047-FF2D47788CE3}"/>
                </a:ext>
              </a:extLst>
            </p:cNvPr>
            <p:cNvCxnSpPr/>
            <p:nvPr/>
          </p:nvCxnSpPr>
          <p:spPr bwMode="auto">
            <a:xfrm>
              <a:off x="4018232" y="3931168"/>
              <a:ext cx="1025302" cy="282602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cxnSp>
          <p:nvCxnSpPr>
            <p:cNvPr id="20" name="구부러진 연결선 50">
              <a:extLst>
                <a:ext uri="{FF2B5EF4-FFF2-40B4-BE49-F238E27FC236}">
                  <a16:creationId xmlns:a16="http://schemas.microsoft.com/office/drawing/2014/main" id="{3FCB277F-BE1B-CF65-D449-699DF35B2C00}"/>
                </a:ext>
              </a:extLst>
            </p:cNvPr>
            <p:cNvCxnSpPr>
              <a:stCxn id="12" idx="6"/>
            </p:cNvCxnSpPr>
            <p:nvPr/>
          </p:nvCxnSpPr>
          <p:spPr bwMode="auto">
            <a:xfrm flipV="1">
              <a:off x="3960740" y="4515451"/>
              <a:ext cx="1100531" cy="793448"/>
            </a:xfrm>
            <a:prstGeom prst="curvedConnector3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</p:cxn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4D2B819-BF22-6A6D-06CA-3078CBC06CAF}"/>
                </a:ext>
              </a:extLst>
            </p:cNvPr>
            <p:cNvSpPr/>
            <p:nvPr/>
          </p:nvSpPr>
          <p:spPr>
            <a:xfrm>
              <a:off x="3683433" y="4517878"/>
              <a:ext cx="857507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NanumGothicExtraBold" pitchFamily="2" charset="-127"/>
                  <a:ea typeface="NanumGothicExtraBold" pitchFamily="2" charset="-127"/>
                </a:rPr>
                <a:t>multiply</a:t>
              </a: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590E1639-7D7E-6712-FF30-CB83F617C535}"/>
                </a:ext>
              </a:extLst>
            </p:cNvPr>
            <p:cNvSpPr/>
            <p:nvPr/>
          </p:nvSpPr>
          <p:spPr bwMode="auto">
            <a:xfrm>
              <a:off x="5213736" y="3847869"/>
              <a:ext cx="1143001" cy="955008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NanumGothicExtraBold" pitchFamily="2" charset="-127"/>
                <a:ea typeface="NanumGothicExtraBold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A50B49F-C157-0126-A490-361220004B5D}"/>
                    </a:ext>
                  </a:extLst>
                </p:cNvPr>
                <p:cNvSpPr/>
                <p:nvPr/>
              </p:nvSpPr>
              <p:spPr>
                <a:xfrm>
                  <a:off x="4271284" y="3211201"/>
                  <a:ext cx="729965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3" name="직사각형 22">
                  <a:extLst>
                    <a:ext uri="{FF2B5EF4-FFF2-40B4-BE49-F238E27FC236}">
                      <a16:creationId xmlns:a16="http://schemas.microsoft.com/office/drawing/2014/main" id="{5A50B49F-C157-0126-A490-361220004B5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71284" y="3211201"/>
                  <a:ext cx="729965" cy="372238"/>
                </a:xfrm>
                <a:prstGeom prst="rect">
                  <a:avLst/>
                </a:prstGeom>
                <a:blipFill>
                  <a:blip r:embed="rId11"/>
                  <a:stretch>
                    <a:fillRect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673C766-9F9B-C9AA-47F6-429BFD243E1C}"/>
                    </a:ext>
                  </a:extLst>
                </p:cNvPr>
                <p:cNvSpPr txBox="1"/>
                <p:nvPr/>
              </p:nvSpPr>
              <p:spPr>
                <a:xfrm>
                  <a:off x="5394593" y="3977991"/>
                  <a:ext cx="781286" cy="78176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kumimoji="0" lang="pt-BR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kumimoji="0" lang="pt-BR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kumimoji="0" lang="en-US" altLang="ko-KR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kumimoji="0" lang="en-US" altLang="ko-KR" sz="2000" b="0" i="1" u="none" strike="noStrike" kern="1200" cap="none" spc="0" normalizeH="0" baseline="0" noProof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kumimoji="0" lang="en-US" altLang="ko-KR" sz="2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prstClr val="black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8673C766-9F9B-C9AA-47F6-429BFD243E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593" y="3977991"/>
                  <a:ext cx="781286" cy="78176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D31C287D-8A01-9D77-04EF-C7AD720660CD}"/>
                    </a:ext>
                  </a:extLst>
                </p:cNvPr>
                <p:cNvSpPr/>
                <p:nvPr/>
              </p:nvSpPr>
              <p:spPr>
                <a:xfrm>
                  <a:off x="3228015" y="2858255"/>
                  <a:ext cx="308435" cy="3722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5" name="직사각형 24">
                  <a:extLst>
                    <a:ext uri="{FF2B5EF4-FFF2-40B4-BE49-F238E27FC236}">
                      <a16:creationId xmlns:a16="http://schemas.microsoft.com/office/drawing/2014/main" id="{D31C287D-8A01-9D77-04EF-C7AD720660C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28015" y="2858255"/>
                  <a:ext cx="308435" cy="372238"/>
                </a:xfrm>
                <a:prstGeom prst="rect">
                  <a:avLst/>
                </a:prstGeom>
                <a:blipFill>
                  <a:blip r:embed="rId13"/>
                  <a:stretch>
                    <a:fillRect r="-26786" b="-303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2D8134EE-E7DF-5E0E-831A-A504730F9ECE}"/>
                    </a:ext>
                  </a:extLst>
                </p:cNvPr>
                <p:cNvSpPr/>
                <p:nvPr/>
              </p:nvSpPr>
              <p:spPr>
                <a:xfrm>
                  <a:off x="3195530" y="5439637"/>
                  <a:ext cx="339326" cy="3722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6" name="직사각형 25">
                  <a:extLst>
                    <a:ext uri="{FF2B5EF4-FFF2-40B4-BE49-F238E27FC236}">
                      <a16:creationId xmlns:a16="http://schemas.microsoft.com/office/drawing/2014/main" id="{2D8134EE-E7DF-5E0E-831A-A504730F9E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5530" y="5439637"/>
                  <a:ext cx="339326" cy="372238"/>
                </a:xfrm>
                <a:prstGeom prst="rect">
                  <a:avLst/>
                </a:prstGeom>
                <a:blipFill>
                  <a:blip r:embed="rId14"/>
                  <a:stretch>
                    <a:fillRect r="-147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구부러진 연결선 57">
              <a:extLst>
                <a:ext uri="{FF2B5EF4-FFF2-40B4-BE49-F238E27FC236}">
                  <a16:creationId xmlns:a16="http://schemas.microsoft.com/office/drawing/2014/main" id="{5C4B62FE-1BB2-01D6-82B6-95D45450CA87}"/>
                </a:ext>
              </a:extLst>
            </p:cNvPr>
            <p:cNvCxnSpPr>
              <a:stCxn id="25" idx="3"/>
              <a:endCxn id="10" idx="0"/>
            </p:cNvCxnSpPr>
            <p:nvPr/>
          </p:nvCxnSpPr>
          <p:spPr bwMode="auto">
            <a:xfrm>
              <a:off x="3536450" y="3044374"/>
              <a:ext cx="304459" cy="152435"/>
            </a:xfrm>
            <a:prstGeom prst="curvedConnector2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p:cxnSp>
          <p:nvCxnSpPr>
            <p:cNvPr id="28" name="구부러진 연결선 58">
              <a:extLst>
                <a:ext uri="{FF2B5EF4-FFF2-40B4-BE49-F238E27FC236}">
                  <a16:creationId xmlns:a16="http://schemas.microsoft.com/office/drawing/2014/main" id="{A1EF489C-9CAC-6D46-19EC-229547969917}"/>
                </a:ext>
              </a:extLst>
            </p:cNvPr>
            <p:cNvCxnSpPr>
              <a:stCxn id="26" idx="3"/>
              <a:endCxn id="12" idx="4"/>
            </p:cNvCxnSpPr>
            <p:nvPr/>
          </p:nvCxnSpPr>
          <p:spPr bwMode="auto">
            <a:xfrm flipV="1">
              <a:off x="3534856" y="5428730"/>
              <a:ext cx="306054" cy="197026"/>
            </a:xfrm>
            <a:prstGeom prst="curvedConnector2">
              <a:avLst/>
            </a:prstGeom>
            <a:ln>
              <a:headEnd type="none" w="med" len="med"/>
              <a:tailEnd type="triangle"/>
            </a:ln>
          </p:spPr>
          <p:style>
            <a:lnRef idx="1">
              <a:schemeClr val="accent5"/>
            </a:lnRef>
            <a:fillRef idx="0">
              <a:schemeClr val="accent5"/>
            </a:fillRef>
            <a:effectRef idx="0">
              <a:schemeClr val="accent5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BB956F26-98D0-99CD-A8EA-F48BE61F0415}"/>
                    </a:ext>
                  </a:extLst>
                </p:cNvPr>
                <p:cNvSpPr/>
                <p:nvPr/>
              </p:nvSpPr>
              <p:spPr>
                <a:xfrm>
                  <a:off x="4186130" y="5054889"/>
                  <a:ext cx="763081" cy="3722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2000" b="0" i="1" u="none" strike="noStrike" kern="1200" cap="none" spc="0" normalizeH="0" baseline="0" noProof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kumimoji="0" lang="en-US" altLang="ko-KR" sz="20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oMath>
                    </m:oMathPara>
                  </a14:m>
                  <a:endParaRPr kumimoji="0" lang="ko-KR" alt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BB956F26-98D0-99CD-A8EA-F48BE61F04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86130" y="5054889"/>
                  <a:ext cx="763081" cy="372238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09B29A9B-0AD6-641A-907A-06863BC86DE1}"/>
                </a:ext>
              </a:extLst>
            </p:cNvPr>
            <p:cNvCxnSpPr>
              <a:stCxn id="22" idx="3"/>
            </p:cNvCxnSpPr>
            <p:nvPr/>
          </p:nvCxnSpPr>
          <p:spPr bwMode="auto">
            <a:xfrm>
              <a:off x="6356737" y="4325373"/>
              <a:ext cx="418645" cy="20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9C5A4AE2-DDF5-F4BA-DFD0-CF0888919C7D}"/>
                    </a:ext>
                  </a:extLst>
                </p:cNvPr>
                <p:cNvSpPr/>
                <p:nvPr/>
              </p:nvSpPr>
              <p:spPr>
                <a:xfrm>
                  <a:off x="1476053" y="5819251"/>
                  <a:ext cx="1281815" cy="54404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~ </m:t>
                        </m:r>
                        <m:d>
                          <m:dPr>
                            <m:ctrlP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0" lang="en-US" altLang="ko-KR" sz="16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prstClr val="black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kumimoji="0" lang="en-US" altLang="ko-KR" sz="16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𝑠𝑡𝑎𝑛𝑑𝑎𝑟𝑑</m:t>
                        </m:r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kumimoji="0" lang="en-US" altLang="ko-KR" sz="16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</a:rPr>
                          <m:t>𝑠𝑐𝑎𝑙𝑖𝑛𝑔</m:t>
                        </m:r>
                      </m:oMath>
                    </m:oMathPara>
                  </a14:m>
                  <a:endParaRPr kumimoji="0" lang="ko-KR" altLang="en-US" sz="16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9C5A4AE2-DDF5-F4BA-DFD0-CF0888919C7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6053" y="5819251"/>
                  <a:ext cx="1281815" cy="544040"/>
                </a:xfrm>
                <a:prstGeom prst="rect">
                  <a:avLst/>
                </a:prstGeom>
                <a:blipFill>
                  <a:blip r:embed="rId16"/>
                  <a:stretch>
                    <a:fillRect r="-24783" b="-7292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2" name="직선 화살표 연결선 31">
              <a:extLst>
                <a:ext uri="{FF2B5EF4-FFF2-40B4-BE49-F238E27FC236}">
                  <a16:creationId xmlns:a16="http://schemas.microsoft.com/office/drawing/2014/main" id="{2EA1297B-E0B6-FD29-42F2-BB5D2AB89E92}"/>
                </a:ext>
              </a:extLst>
            </p:cNvPr>
            <p:cNvCxnSpPr/>
            <p:nvPr/>
          </p:nvCxnSpPr>
          <p:spPr bwMode="auto">
            <a:xfrm flipV="1">
              <a:off x="8219653" y="4325373"/>
              <a:ext cx="457200" cy="2085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  <p:pic>
          <p:nvPicPr>
            <p:cNvPr id="34" name="그림 33">
              <a:extLst>
                <a:ext uri="{FF2B5EF4-FFF2-40B4-BE49-F238E27FC236}">
                  <a16:creationId xmlns:a16="http://schemas.microsoft.com/office/drawing/2014/main" id="{490696ED-F8C8-2749-2824-C1B42D6746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956239" y="3821059"/>
              <a:ext cx="1143001" cy="898684"/>
            </a:xfrm>
            <a:prstGeom prst="rect">
              <a:avLst/>
            </a:prstGeom>
          </p:spPr>
        </p:pic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078073E4-7B4A-F8DF-321C-6BAD6A17AA43}"/>
                </a:ext>
              </a:extLst>
            </p:cNvPr>
            <p:cNvSpPr/>
            <p:nvPr/>
          </p:nvSpPr>
          <p:spPr>
            <a:xfrm>
              <a:off x="6816657" y="2204864"/>
              <a:ext cx="1631596" cy="54404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Activation </a:t>
              </a:r>
            </a:p>
            <a:p>
              <a:pPr marR="0" lvl="0" algn="ctr" defTabSz="914400" rtl="0" eaLnBrk="1" fontAlgn="base" latinLnBrk="1" hangingPunct="1">
                <a:spcBef>
                  <a:spcPts val="0"/>
                </a:spcBef>
                <a:spcAft>
                  <a:spcPts val="0"/>
                </a:spcAft>
                <a:buClrTx/>
                <a:buSzTx/>
                <a:tabLst/>
                <a:defRPr/>
              </a:pPr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function</a:t>
              </a:r>
              <a:endParaRPr lang="en-US" altLang="ko-KR" sz="1600" b="1" dirty="0">
                <a:solidFill>
                  <a:prstClr val="black"/>
                </a:solidFill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36" name="직사각형 35">
              <a:extLst>
                <a:ext uri="{FF2B5EF4-FFF2-40B4-BE49-F238E27FC236}">
                  <a16:creationId xmlns:a16="http://schemas.microsoft.com/office/drawing/2014/main" id="{34FE26FD-6DCD-33DF-8448-274AFE6ADA09}"/>
                </a:ext>
              </a:extLst>
            </p:cNvPr>
            <p:cNvSpPr/>
            <p:nvPr/>
          </p:nvSpPr>
          <p:spPr>
            <a:xfrm>
              <a:off x="1350255" y="2695573"/>
              <a:ext cx="9430539" cy="3627474"/>
            </a:xfrm>
            <a:prstGeom prst="rect">
              <a:avLst/>
            </a:prstGeom>
            <a:noFill/>
            <a:ln w="127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400">
                <a:latin typeface="NanumGothicExtraBold" pitchFamily="2" charset="-127"/>
                <a:ea typeface="NanumGothicExtraBold" pitchFamily="2" charset="-127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669BD5D-EA24-1B59-C72E-8E7D0000D900}"/>
                    </a:ext>
                  </a:extLst>
                </p:cNvPr>
                <p:cNvSpPr txBox="1"/>
                <p:nvPr/>
              </p:nvSpPr>
              <p:spPr>
                <a:xfrm>
                  <a:off x="8789768" y="2299660"/>
                  <a:ext cx="1570357" cy="22906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r>
                    <a:rPr lang="en-US" altLang="ko-KR" sz="1600" b="1">
                      <a:solidFill>
                        <a:prstClr val="black"/>
                      </a:solidFill>
                      <a:latin typeface="NanumGothicExtraBold" pitchFamily="2" charset="-127"/>
                      <a:ea typeface="NanumGothicExtraBold" pitchFamily="2" charset="-127"/>
                    </a:rPr>
                    <a:t>Output: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𝐲</m:t>
                          </m:r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𝐡</m:t>
                          </m:r>
                        </m:e>
                        <m:sub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𝐰</m:t>
                          </m:r>
                        </m:sub>
                      </m:sSub>
                      <m:d>
                        <m:dPr>
                          <m:ctrlPr>
                            <a:rPr lang="en-US" altLang="ko-KR" sz="1600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1600" b="1" i="0" smtClean="0">
                              <a:latin typeface="Cambria Math" panose="02040503050406030204" pitchFamily="18" charset="0"/>
                            </a:rPr>
                            <m:t>𝐱</m:t>
                          </m:r>
                        </m:e>
                      </m:d>
                    </m:oMath>
                  </a14:m>
                  <a:endParaRPr lang="ko-KR" altLang="en-US" sz="1600" b="1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B669BD5D-EA24-1B59-C72E-8E7D0000D90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89768" y="2299660"/>
                  <a:ext cx="1570357" cy="229069"/>
                </a:xfrm>
                <a:prstGeom prst="rect">
                  <a:avLst/>
                </a:prstGeom>
                <a:blipFill>
                  <a:blip r:embed="rId18"/>
                  <a:stretch>
                    <a:fillRect l="-7473" t="-25000" b="-52500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322F38A2-BD85-521C-A046-DBF25BBD1296}"/>
                    </a:ext>
                  </a:extLst>
                </p:cNvPr>
                <p:cNvSpPr/>
                <p:nvPr/>
              </p:nvSpPr>
              <p:spPr>
                <a:xfrm>
                  <a:off x="8653437" y="4143507"/>
                  <a:ext cx="2127357" cy="34819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activation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T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lang="en-US" altLang="ko-KR">
                            <a:latin typeface="Cambria Math" panose="02040503050406030204" pitchFamily="18" charset="0"/>
                          </a:rPr>
                          <m:t>) </m:t>
                        </m:r>
                      </m:oMath>
                    </m:oMathPara>
                  </a14:m>
                  <a:endParaRPr lang="ko-KR" altLang="en-US" dirty="0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38" name="직사각형 37">
                  <a:extLst>
                    <a:ext uri="{FF2B5EF4-FFF2-40B4-BE49-F238E27FC236}">
                      <a16:creationId xmlns:a16="http://schemas.microsoft.com/office/drawing/2014/main" id="{322F38A2-BD85-521C-A046-DBF25BBD129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53437" y="4143507"/>
                  <a:ext cx="2127357" cy="348198"/>
                </a:xfrm>
                <a:prstGeom prst="rect">
                  <a:avLst/>
                </a:prstGeom>
                <a:blipFill>
                  <a:blip r:embed="rId19"/>
                  <a:stretch>
                    <a:fillRect b="-1475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0F4AB18C-266A-4FE9-9B99-F92C03FDDAB3}"/>
                    </a:ext>
                  </a:extLst>
                </p:cNvPr>
                <p:cNvSpPr/>
                <p:nvPr/>
              </p:nvSpPr>
              <p:spPr>
                <a:xfrm>
                  <a:off x="4595473" y="2299660"/>
                  <a:ext cx="2307357" cy="31908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ko-KR" sz="1600" b="1">
                      <a:solidFill>
                        <a:prstClr val="black"/>
                      </a:solidFill>
                      <a:latin typeface="NanumGothicExtraBold" pitchFamily="2" charset="-127"/>
                      <a:ea typeface="NanumGothicExtraBold" pitchFamily="2" charset="-127"/>
                    </a:rPr>
                    <a:t>Weighted sum</a:t>
                  </a:r>
                  <a:r>
                    <a:rPr lang="en-US" altLang="ko-KR" sz="1600" b="1">
                      <a:latin typeface="NanumGothicExtraBold" pitchFamily="2" charset="-127"/>
                      <a:ea typeface="NanumGothicExtraBold" pitchFamily="2" charset="-127"/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𝒛</m:t>
                      </m:r>
                      <m:r>
                        <a:rPr lang="en-US" altLang="ko-KR" sz="1600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ko-KR" sz="1600" b="1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  <m:sup>
                          <m:r>
                            <a:rPr lang="en-US" altLang="ko-KR" sz="1600" b="1" i="1">
                              <a:latin typeface="Cambria Math" panose="02040503050406030204" pitchFamily="18" charset="0"/>
                            </a:rPr>
                            <m:t>𝑻</m:t>
                          </m:r>
                        </m:sup>
                      </m:sSup>
                      <m:r>
                        <a:rPr lang="en-US" altLang="ko-KR" sz="1600" b="1" i="1">
                          <a:latin typeface="Cambria Math" panose="02040503050406030204" pitchFamily="18" charset="0"/>
                        </a:rPr>
                        <m:t>𝐰</m:t>
                      </m:r>
                      <m:r>
                        <a:rPr lang="en-US" altLang="ko-KR" sz="1600" b="1"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endParaRPr lang="ko-KR" altLang="en-US" sz="1600" b="1">
                    <a:latin typeface="NanumGothicExtraBold" pitchFamily="2" charset="-127"/>
                    <a:ea typeface="NanumGothicExtraBold" pitchFamily="2" charset="-127"/>
                  </a:endParaRPr>
                </a:p>
              </p:txBody>
            </p:sp>
          </mc:Choice>
          <mc:Fallback xmlns="">
            <p:sp>
              <p:nvSpPr>
                <p:cNvPr id="40" name="직사각형 39">
                  <a:extLst>
                    <a:ext uri="{FF2B5EF4-FFF2-40B4-BE49-F238E27FC236}">
                      <a16:creationId xmlns:a16="http://schemas.microsoft.com/office/drawing/2014/main" id="{0F4AB18C-266A-4FE9-9B99-F92C03FDDAB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5473" y="2299660"/>
                  <a:ext cx="2307357" cy="319087"/>
                </a:xfrm>
                <a:prstGeom prst="rect">
                  <a:avLst/>
                </a:prstGeom>
                <a:blipFill>
                  <a:blip r:embed="rId20"/>
                  <a:stretch>
                    <a:fillRect l="-1449" t="-3571" b="-23214"/>
                  </a:stretch>
                </a:blipFill>
              </p:spPr>
              <p:txBody>
                <a:bodyPr/>
                <a:lstStyle/>
                <a:p>
                  <a:r>
                    <a:rPr lang="ko-KR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9A4CFD56-4840-D304-AFC4-6A63FA5A86CD}"/>
                </a:ext>
              </a:extLst>
            </p:cNvPr>
            <p:cNvSpPr/>
            <p:nvPr/>
          </p:nvSpPr>
          <p:spPr>
            <a:xfrm>
              <a:off x="3095195" y="2299660"/>
              <a:ext cx="885349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Weights</a:t>
              </a:r>
              <a:endParaRPr lang="ko-KR" altLang="en-US" sz="1600" b="1">
                <a:latin typeface="NanumGothicExtraBold" pitchFamily="2" charset="-127"/>
                <a:ea typeface="NanumGothicExtraBold" pitchFamily="2" charset="-127"/>
              </a:endParaRPr>
            </a:p>
          </p:txBody>
        </p:sp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46B89BC8-2606-8C67-C7C7-D25251028FC1}"/>
                </a:ext>
              </a:extLst>
            </p:cNvPr>
            <p:cNvSpPr/>
            <p:nvPr/>
          </p:nvSpPr>
          <p:spPr>
            <a:xfrm>
              <a:off x="1657531" y="2299660"/>
              <a:ext cx="624521" cy="31497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sz="1600" b="1">
                  <a:solidFill>
                    <a:prstClr val="black"/>
                  </a:solidFill>
                  <a:latin typeface="NanumGothicExtraBold" pitchFamily="2" charset="-127"/>
                  <a:ea typeface="NanumGothicExtraBold" pitchFamily="2" charset="-127"/>
                </a:rPr>
                <a:t>Input</a:t>
              </a:r>
              <a:endParaRPr lang="ko-KR" altLang="en-US" sz="1600" b="1">
                <a:latin typeface="NanumGothicExtraBold" pitchFamily="2" charset="-127"/>
                <a:ea typeface="NanumGothicExtraBold" pitchFamily="2" charset="-127"/>
              </a:endParaRPr>
            </a:p>
          </p:txBody>
        </p:sp>
      </p:grpSp>
      <p:sp>
        <p:nvSpPr>
          <p:cNvPr id="44" name="내용 개체 틀 2">
            <a:extLst>
              <a:ext uri="{FF2B5EF4-FFF2-40B4-BE49-F238E27FC236}">
                <a16:creationId xmlns:a16="http://schemas.microsoft.com/office/drawing/2014/main" id="{559855AA-45D0-1CBE-CF10-7BE857C500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242481"/>
            <a:ext cx="11034365" cy="746738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단일 뉴런의 수학식은 다중회귀분석의 함수식과 동일하다</a:t>
            </a:r>
            <a:r>
              <a:rPr lang="en-US" altLang="ko-KR" sz="2000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.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649602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078076-D70D-47AD-1AED-75E19C2BD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89B271-5192-2F15-5D59-382800A9A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2ABE30C-8E3D-1211-EEE6-CFC56729DE3B}"/>
              </a:ext>
            </a:extLst>
          </p:cNvPr>
          <p:cNvSpPr txBox="1">
            <a:spLocks/>
          </p:cNvSpPr>
          <p:nvPr/>
        </p:nvSpPr>
        <p:spPr>
          <a:xfrm>
            <a:off x="537021" y="477852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Artificial Neural Network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pic>
        <p:nvPicPr>
          <p:cNvPr id="11266" name="Picture 2" descr="Artificial Neural Network Architecture">
            <a:extLst>
              <a:ext uri="{FF2B5EF4-FFF2-40B4-BE49-F238E27FC236}">
                <a16:creationId xmlns:a16="http://schemas.microsoft.com/office/drawing/2014/main" id="{0559266C-556E-C20E-726A-EF66A638682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399" y="1772883"/>
            <a:ext cx="6203101" cy="4717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69EBA6B-BE2D-894D-8A52-21457E8B9BC5}"/>
              </a:ext>
            </a:extLst>
          </p:cNvPr>
          <p:cNvSpPr txBox="1">
            <a:spLocks/>
          </p:cNvSpPr>
          <p:nvPr/>
        </p:nvSpPr>
        <p:spPr>
          <a:xfrm>
            <a:off x="8425528" y="2791472"/>
            <a:ext cx="3375947" cy="233297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1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0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8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6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1400" kern="1200" cap="all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Regression,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Classification, dimension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reduction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모델의 </a:t>
            </a:r>
            <a:r>
              <a:rPr lang="en-US" altLang="ko-KR" sz="2100" b="1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 layer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 어떻게 생겼는가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?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고민해보고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다음</a:t>
            </a:r>
            <a:r>
              <a:rPr lang="en-US" altLang="ko-KR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1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슬라이드를 실습하여 체험하라</a:t>
            </a: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21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22697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99493-D270-9E19-158F-438CCBA1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432790B-445E-7EC1-FA97-DBE87F9A5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42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E630B377-4167-3B15-6B1D-EF3F23415A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97606737-1778-1890-4DC9-1B0DB71118E4}"/>
              </a:ext>
            </a:extLst>
          </p:cNvPr>
          <p:cNvSpPr txBox="1">
            <a:spLocks/>
          </p:cNvSpPr>
          <p:nvPr/>
        </p:nvSpPr>
        <p:spPr>
          <a:xfrm>
            <a:off x="537021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Hands-on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483C2E72-F9E7-891D-5A0E-1AD445444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200401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deep learning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에서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Iris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와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California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houseprice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2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가지 경우의 입력과 출력데이터로 인공지능망을 사용하여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target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예측하라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각각의 경우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output layer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의 노드의 개수를 확인하라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Deep Learning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메뉴의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Overview 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메뉴 탭에서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Intro ✓, Data for Training ✓, Activation ✓, Optimizers, Loss Functions ✓, Visual Demo ✓, Manage Model ✓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을 학습하라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8677015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56E815-8EE0-6D4F-49BA-C6278346B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Machine learning diagram">
            <a:extLst>
              <a:ext uri="{FF2B5EF4-FFF2-40B4-BE49-F238E27FC236}">
                <a16:creationId xmlns:a16="http://schemas.microsoft.com/office/drawing/2014/main" id="{31270F37-CD94-038F-97E6-AE82E6BD2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4214" y="2509570"/>
            <a:ext cx="7863572" cy="4048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슬라이드 번호 개체 틀 3">
            <a:extLst>
              <a:ext uri="{FF2B5EF4-FFF2-40B4-BE49-F238E27FC236}">
                <a16:creationId xmlns:a16="http://schemas.microsoft.com/office/drawing/2014/main" id="{4DB45C27-D83E-EE3E-E745-CF19291C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84337" y="6273707"/>
            <a:ext cx="753349" cy="365030"/>
          </a:xfrm>
        </p:spPr>
        <p:txBody>
          <a:bodyPr/>
          <a:lstStyle/>
          <a:p>
            <a:fld id="{D57F1E4F-1CFF-5643-939E-217C01CDF565}" type="slidenum">
              <a:rPr lang="en-US" sz="2000" smtClean="0"/>
              <a:pPr/>
              <a:t>43</a:t>
            </a:fld>
            <a:endParaRPr lang="en-US" sz="20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1F2B967-4D3A-6B9F-38C9-F2A6A2228496}"/>
              </a:ext>
            </a:extLst>
          </p:cNvPr>
          <p:cNvSpPr txBox="1"/>
          <p:nvPr/>
        </p:nvSpPr>
        <p:spPr>
          <a:xfrm>
            <a:off x="900982" y="1358354"/>
            <a:ext cx="88145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아래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그림의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인공지능망을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벡터의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shape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과 내적으로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표현하라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행렬 </a:t>
            </a:r>
            <a:r>
              <a:rPr lang="ko-KR" altLang="en-US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재변환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형태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(Representation of Matrix Form)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57AEF1-25C0-B3CE-02E0-5D8B8A57783D}"/>
                  </a:ext>
                </a:extLst>
              </p:cNvPr>
              <p:cNvSpPr txBox="1"/>
              <p:nvPr/>
            </p:nvSpPr>
            <p:spPr>
              <a:xfrm>
                <a:off x="8146350" y="2128510"/>
                <a:ext cx="1062533" cy="40011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𝐴𝑘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3F57AEF1-25C0-B3CE-02E0-5D8B8A5778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46350" y="2128510"/>
                <a:ext cx="1062533" cy="400110"/>
              </a:xfrm>
              <a:prstGeom prst="rect">
                <a:avLst/>
              </a:prstGeom>
              <a:blipFill>
                <a:blip r:embed="rId3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제목 1">
            <a:extLst>
              <a:ext uri="{FF2B5EF4-FFF2-40B4-BE49-F238E27FC236}">
                <a16:creationId xmlns:a16="http://schemas.microsoft.com/office/drawing/2014/main" id="{01B753E0-A9F7-C1CD-878C-99AD89CDA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198" y="566397"/>
            <a:ext cx="10364451" cy="514958"/>
          </a:xfrm>
        </p:spPr>
        <p:txBody>
          <a:bodyPr>
            <a:normAutofit fontScale="90000"/>
          </a:bodyPr>
          <a:lstStyle/>
          <a:p>
            <a:pPr algn="ctr"/>
            <a:r>
              <a:rPr lang="en-US" altLang="ko-KR" cap="none" dirty="0"/>
              <a:t>Deep learning </a:t>
            </a:r>
            <a:endParaRPr lang="ko-KR" altLang="en-US" cap="non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74F41C-ACA8-BC68-D537-75F1A153ECFB}"/>
                  </a:ext>
                </a:extLst>
              </p:cNvPr>
              <p:cNvSpPr txBox="1"/>
              <p:nvPr/>
            </p:nvSpPr>
            <p:spPr>
              <a:xfrm>
                <a:off x="6292628" y="2128510"/>
                <a:ext cx="1130064" cy="40011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𝐵𝑧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C74F41C-ACA8-BC68-D537-75F1A153EC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2628" y="2128510"/>
                <a:ext cx="1130064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60FEA2-D7E8-7C24-AE89-3CF0ED6080C8}"/>
                  </a:ext>
                </a:extLst>
              </p:cNvPr>
              <p:cNvSpPr txBox="1"/>
              <p:nvPr/>
            </p:nvSpPr>
            <p:spPr>
              <a:xfrm>
                <a:off x="2664307" y="2128510"/>
                <a:ext cx="796075" cy="40011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60FEA2-D7E8-7C24-AE89-3CF0ED608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307" y="2128510"/>
                <a:ext cx="79607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E7DBA2-42ED-882B-39DC-76331AFEBB83}"/>
                  </a:ext>
                </a:extLst>
              </p:cNvPr>
              <p:cNvSpPr txBox="1"/>
              <p:nvPr/>
            </p:nvSpPr>
            <p:spPr>
              <a:xfrm>
                <a:off x="4438905" y="2128510"/>
                <a:ext cx="1130064" cy="400110"/>
              </a:xfrm>
              <a:prstGeom prst="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20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altLang="ko-KR" sz="200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ko-KR" altLang="en-US" sz="2000" i="1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FE7DBA2-42ED-882B-39DC-76331AFEBB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8905" y="2128510"/>
                <a:ext cx="1130064" cy="40011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2A50C10B-59E2-9EBB-D19C-0BBDE76D4F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290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" grpId="0" animBg="1"/>
      <p:bldP spid="6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3545-2B0E-A249-D80C-9F7679C5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직사각형 56">
            <a:extLst>
              <a:ext uri="{FF2B5EF4-FFF2-40B4-BE49-F238E27FC236}">
                <a16:creationId xmlns:a16="http://schemas.microsoft.com/office/drawing/2014/main" id="{ABCEC355-4532-C994-A3FD-57D5B514B728}"/>
              </a:ext>
            </a:extLst>
          </p:cNvPr>
          <p:cNvSpPr/>
          <p:nvPr/>
        </p:nvSpPr>
        <p:spPr>
          <a:xfrm>
            <a:off x="7330819" y="192856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34082105-B0E0-25B4-F0AA-982C2E099761}"/>
              </a:ext>
            </a:extLst>
          </p:cNvPr>
          <p:cNvSpPr/>
          <p:nvPr/>
        </p:nvSpPr>
        <p:spPr>
          <a:xfrm>
            <a:off x="4116887" y="1928563"/>
            <a:ext cx="800188" cy="281139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CE8608-C2CE-46D1-90F0-F1280F959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44</a:t>
            </a:fld>
            <a:endParaRPr lang="en-US" dirty="0"/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0870C28-593A-45A8-E777-9FCA0A33F057}"/>
              </a:ext>
            </a:extLst>
          </p:cNvPr>
          <p:cNvSpPr txBox="1">
            <a:spLocks/>
          </p:cNvSpPr>
          <p:nvPr/>
        </p:nvSpPr>
        <p:spPr>
          <a:xfrm>
            <a:off x="913794" y="3873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Matrix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Formulation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312DEB9-2540-E23E-AC49-D83D2A795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194140"/>
            <a:ext cx="10706705" cy="766440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네트워크 구조를 행렬식으로 표현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968F6BA9-1AD0-FF0D-E49C-0A6F0029F512}"/>
              </a:ext>
            </a:extLst>
          </p:cNvPr>
          <p:cNvGrpSpPr/>
          <p:nvPr/>
        </p:nvGrpSpPr>
        <p:grpSpPr>
          <a:xfrm>
            <a:off x="1104900" y="2777542"/>
            <a:ext cx="359611" cy="1195090"/>
            <a:chOff x="1847850" y="2436106"/>
            <a:chExt cx="359611" cy="1195090"/>
          </a:xfrm>
        </p:grpSpPr>
        <p:sp>
          <p:nvSpPr>
            <p:cNvPr id="2" name="타원 1">
              <a:extLst>
                <a:ext uri="{FF2B5EF4-FFF2-40B4-BE49-F238E27FC236}">
                  <a16:creationId xmlns:a16="http://schemas.microsoft.com/office/drawing/2014/main" id="{36CA5553-4E01-04D5-0F73-87D04CAACDEF}"/>
                </a:ext>
              </a:extLst>
            </p:cNvPr>
            <p:cNvSpPr/>
            <p:nvPr/>
          </p:nvSpPr>
          <p:spPr>
            <a:xfrm>
              <a:off x="1847850" y="2436106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타원 2">
              <a:extLst>
                <a:ext uri="{FF2B5EF4-FFF2-40B4-BE49-F238E27FC236}">
                  <a16:creationId xmlns:a16="http://schemas.microsoft.com/office/drawing/2014/main" id="{ECEF51E4-E843-BB8D-3B50-CD68A38D33DF}"/>
                </a:ext>
              </a:extLst>
            </p:cNvPr>
            <p:cNvSpPr/>
            <p:nvPr/>
          </p:nvSpPr>
          <p:spPr>
            <a:xfrm>
              <a:off x="1847850" y="3271585"/>
              <a:ext cx="359611" cy="359611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08EDB37-7360-D473-E49F-83BC099F27E2}"/>
              </a:ext>
            </a:extLst>
          </p:cNvPr>
          <p:cNvGrpSpPr/>
          <p:nvPr/>
        </p:nvGrpSpPr>
        <p:grpSpPr>
          <a:xfrm>
            <a:off x="4325074" y="2247628"/>
            <a:ext cx="359611" cy="2254919"/>
            <a:chOff x="4562921" y="2019028"/>
            <a:chExt cx="359611" cy="2254919"/>
          </a:xfrm>
        </p:grpSpPr>
        <p:sp>
          <p:nvSpPr>
            <p:cNvPr id="6" name="타원 5">
              <a:extLst>
                <a:ext uri="{FF2B5EF4-FFF2-40B4-BE49-F238E27FC236}">
                  <a16:creationId xmlns:a16="http://schemas.microsoft.com/office/drawing/2014/main" id="{EB783135-C882-4DAA-AE08-7C417401323F}"/>
                </a:ext>
              </a:extLst>
            </p:cNvPr>
            <p:cNvSpPr/>
            <p:nvPr/>
          </p:nvSpPr>
          <p:spPr>
            <a:xfrm>
              <a:off x="4562921" y="2019028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CE4468BB-2600-85EC-06B0-8C1611999753}"/>
                </a:ext>
              </a:extLst>
            </p:cNvPr>
            <p:cNvSpPr/>
            <p:nvPr/>
          </p:nvSpPr>
          <p:spPr>
            <a:xfrm>
              <a:off x="4562921" y="2966682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2A113F6A-F51D-9F1F-2E7B-ED7F22CA9DA9}"/>
                </a:ext>
              </a:extLst>
            </p:cNvPr>
            <p:cNvSpPr/>
            <p:nvPr/>
          </p:nvSpPr>
          <p:spPr>
            <a:xfrm>
              <a:off x="4562921" y="3914336"/>
              <a:ext cx="359611" cy="359611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9CAAE21E-89F3-723F-ED8C-4B384E0173B1}"/>
              </a:ext>
            </a:extLst>
          </p:cNvPr>
          <p:cNvGrpSpPr/>
          <p:nvPr/>
        </p:nvGrpSpPr>
        <p:grpSpPr>
          <a:xfrm>
            <a:off x="7545248" y="2247628"/>
            <a:ext cx="367633" cy="2254919"/>
            <a:chOff x="7478016" y="2019028"/>
            <a:chExt cx="367633" cy="2254919"/>
          </a:xfrm>
        </p:grpSpPr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A9C24CB1-536C-3F52-651C-A017E898A879}"/>
                </a:ext>
              </a:extLst>
            </p:cNvPr>
            <p:cNvSpPr/>
            <p:nvPr/>
          </p:nvSpPr>
          <p:spPr>
            <a:xfrm>
              <a:off x="7478016" y="2650797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37C0FCED-4886-7D86-A314-DEF940409413}"/>
                </a:ext>
              </a:extLst>
            </p:cNvPr>
            <p:cNvSpPr/>
            <p:nvPr/>
          </p:nvSpPr>
          <p:spPr>
            <a:xfrm>
              <a:off x="7486038" y="328256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D3F6B6C6-4080-9D15-2811-714BB8B2560F}"/>
                </a:ext>
              </a:extLst>
            </p:cNvPr>
            <p:cNvSpPr/>
            <p:nvPr/>
          </p:nvSpPr>
          <p:spPr>
            <a:xfrm>
              <a:off x="7486038" y="3914336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9057C09-D53B-721C-3FFC-325CC3C294B3}"/>
                </a:ext>
              </a:extLst>
            </p:cNvPr>
            <p:cNvSpPr/>
            <p:nvPr/>
          </p:nvSpPr>
          <p:spPr>
            <a:xfrm>
              <a:off x="7478017" y="2019028"/>
              <a:ext cx="359611" cy="359611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D9C08F2-1574-209F-65D6-723769045731}"/>
              </a:ext>
            </a:extLst>
          </p:cNvPr>
          <p:cNvGrpSpPr/>
          <p:nvPr/>
        </p:nvGrpSpPr>
        <p:grpSpPr>
          <a:xfrm>
            <a:off x="10773443" y="2777542"/>
            <a:ext cx="367632" cy="1195090"/>
            <a:chOff x="10033668" y="2436106"/>
            <a:chExt cx="367632" cy="1195090"/>
          </a:xfrm>
        </p:grpSpPr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CD7420D1-4A5A-4997-8F38-B6D1B95E3FAE}"/>
                </a:ext>
              </a:extLst>
            </p:cNvPr>
            <p:cNvSpPr/>
            <p:nvPr/>
          </p:nvSpPr>
          <p:spPr>
            <a:xfrm>
              <a:off x="10041689" y="3271585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C4D5F89C-18F2-0C39-E6CC-6E7984ED407A}"/>
                </a:ext>
              </a:extLst>
            </p:cNvPr>
            <p:cNvSpPr/>
            <p:nvPr/>
          </p:nvSpPr>
          <p:spPr>
            <a:xfrm>
              <a:off x="10033668" y="2436106"/>
              <a:ext cx="359611" cy="3596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FD888255-4994-1FCA-F8EA-3F0CDC1C85F3}"/>
              </a:ext>
            </a:extLst>
          </p:cNvPr>
          <p:cNvGraphicFramePr>
            <a:graphicFrameLocks noGrp="1"/>
          </p:cNvGraphicFramePr>
          <p:nvPr/>
        </p:nvGraphicFramePr>
        <p:xfrm>
          <a:off x="889000" y="5153236"/>
          <a:ext cx="82498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91">
                  <a:extLst>
                    <a:ext uri="{9D8B030D-6E8A-4147-A177-3AD203B41FA5}">
                      <a16:colId xmlns:a16="http://schemas.microsoft.com/office/drawing/2014/main" val="3159189123"/>
                    </a:ext>
                  </a:extLst>
                </a:gridCol>
                <a:gridCol w="412491">
                  <a:extLst>
                    <a:ext uri="{9D8B030D-6E8A-4147-A177-3AD203B41FA5}">
                      <a16:colId xmlns:a16="http://schemas.microsoft.com/office/drawing/2014/main" val="3158959229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395207"/>
                  </a:ext>
                </a:extLst>
              </a:tr>
            </a:tbl>
          </a:graphicData>
        </a:graphic>
      </p:graphicFrame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2B68121E-F8B7-620D-EABC-307022609FD5}"/>
              </a:ext>
            </a:extLst>
          </p:cNvPr>
          <p:cNvGraphicFramePr>
            <a:graphicFrameLocks noGrp="1"/>
          </p:cNvGraphicFramePr>
          <p:nvPr/>
        </p:nvGraphicFramePr>
        <p:xfrm>
          <a:off x="3895419" y="5153236"/>
          <a:ext cx="1255704" cy="3657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939671243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2414763620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605265231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536081"/>
                  </a:ext>
                </a:extLst>
              </a:tr>
            </a:tbl>
          </a:graphicData>
        </a:graphic>
      </p:graphicFrame>
      <p:graphicFrame>
        <p:nvGraphicFramePr>
          <p:cNvPr id="43" name="표 42">
            <a:extLst>
              <a:ext uri="{FF2B5EF4-FFF2-40B4-BE49-F238E27FC236}">
                <a16:creationId xmlns:a16="http://schemas.microsoft.com/office/drawing/2014/main" id="{D8DC5B0A-15AE-B264-F684-117D8D903ACE}"/>
              </a:ext>
            </a:extLst>
          </p:cNvPr>
          <p:cNvGraphicFramePr>
            <a:graphicFrameLocks noGrp="1"/>
          </p:cNvGraphicFramePr>
          <p:nvPr/>
        </p:nvGraphicFramePr>
        <p:xfrm>
          <a:off x="10537825" y="5153236"/>
          <a:ext cx="824982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491">
                  <a:extLst>
                    <a:ext uri="{9D8B030D-6E8A-4147-A177-3AD203B41FA5}">
                      <a16:colId xmlns:a16="http://schemas.microsoft.com/office/drawing/2014/main" val="3349704126"/>
                    </a:ext>
                  </a:extLst>
                </a:gridCol>
                <a:gridCol w="412491">
                  <a:extLst>
                    <a:ext uri="{9D8B030D-6E8A-4147-A177-3AD203B41FA5}">
                      <a16:colId xmlns:a16="http://schemas.microsoft.com/office/drawing/2014/main" val="2808135352"/>
                    </a:ext>
                  </a:extLst>
                </a:gridCol>
              </a:tblGrid>
              <a:tr h="175312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827078"/>
                  </a:ext>
                </a:extLst>
              </a:tr>
            </a:tbl>
          </a:graphicData>
        </a:graphic>
      </p:graphicFrame>
      <p:graphicFrame>
        <p:nvGraphicFramePr>
          <p:cNvPr id="44" name="표 43">
            <a:extLst>
              <a:ext uri="{FF2B5EF4-FFF2-40B4-BE49-F238E27FC236}">
                <a16:creationId xmlns:a16="http://schemas.microsoft.com/office/drawing/2014/main" id="{F38EAA0B-A059-9FCB-EA7B-949345116397}"/>
              </a:ext>
            </a:extLst>
          </p:cNvPr>
          <p:cNvGraphicFramePr>
            <a:graphicFrameLocks noGrp="1"/>
          </p:cNvGraphicFramePr>
          <p:nvPr/>
        </p:nvGraphicFramePr>
        <p:xfrm>
          <a:off x="6905522" y="5153236"/>
          <a:ext cx="176847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119">
                  <a:extLst>
                    <a:ext uri="{9D8B030D-6E8A-4147-A177-3AD203B41FA5}">
                      <a16:colId xmlns:a16="http://schemas.microsoft.com/office/drawing/2014/main" val="3408541164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771415720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4212758754"/>
                    </a:ext>
                  </a:extLst>
                </a:gridCol>
                <a:gridCol w="442119">
                  <a:extLst>
                    <a:ext uri="{9D8B030D-6E8A-4147-A177-3AD203B41FA5}">
                      <a16:colId xmlns:a16="http://schemas.microsoft.com/office/drawing/2014/main" val="23890892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7820539"/>
                  </a:ext>
                </a:extLst>
              </a:tr>
            </a:tbl>
          </a:graphicData>
        </a:graphic>
      </p:graphicFrame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43851069-C2D2-B638-1BE7-61FE12E7317F}"/>
              </a:ext>
            </a:extLst>
          </p:cNvPr>
          <p:cNvGraphicFramePr>
            <a:graphicFrameLocks noGrp="1"/>
          </p:cNvGraphicFramePr>
          <p:nvPr/>
        </p:nvGraphicFramePr>
        <p:xfrm>
          <a:off x="2258920" y="3039032"/>
          <a:ext cx="125570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568">
                  <a:extLst>
                    <a:ext uri="{9D8B030D-6E8A-4147-A177-3AD203B41FA5}">
                      <a16:colId xmlns:a16="http://schemas.microsoft.com/office/drawing/2014/main" val="2693896945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1825580151"/>
                    </a:ext>
                  </a:extLst>
                </a:gridCol>
                <a:gridCol w="418568">
                  <a:extLst>
                    <a:ext uri="{9D8B030D-6E8A-4147-A177-3AD203B41FA5}">
                      <a16:colId xmlns:a16="http://schemas.microsoft.com/office/drawing/2014/main" val="7419674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6637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978202"/>
                  </a:ext>
                </a:extLst>
              </a:tr>
            </a:tbl>
          </a:graphicData>
        </a:graphic>
      </p:graphicFrame>
      <p:graphicFrame>
        <p:nvGraphicFramePr>
          <p:cNvPr id="46" name="표 45">
            <a:extLst>
              <a:ext uri="{FF2B5EF4-FFF2-40B4-BE49-F238E27FC236}">
                <a16:creationId xmlns:a16="http://schemas.microsoft.com/office/drawing/2014/main" id="{231033F0-706B-415C-BB2D-F30BAA42D801}"/>
              </a:ext>
            </a:extLst>
          </p:cNvPr>
          <p:cNvGraphicFramePr>
            <a:graphicFrameLocks noGrp="1"/>
          </p:cNvGraphicFramePr>
          <p:nvPr/>
        </p:nvGraphicFramePr>
        <p:xfrm>
          <a:off x="5258243" y="2867063"/>
          <a:ext cx="177015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539">
                  <a:extLst>
                    <a:ext uri="{9D8B030D-6E8A-4147-A177-3AD203B41FA5}">
                      <a16:colId xmlns:a16="http://schemas.microsoft.com/office/drawing/2014/main" val="3464882294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3109326110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3213285567"/>
                    </a:ext>
                  </a:extLst>
                </a:gridCol>
                <a:gridCol w="442539">
                  <a:extLst>
                    <a:ext uri="{9D8B030D-6E8A-4147-A177-3AD203B41FA5}">
                      <a16:colId xmlns:a16="http://schemas.microsoft.com/office/drawing/2014/main" val="191135521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02912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105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729911"/>
                  </a:ext>
                </a:extLst>
              </a:tr>
            </a:tbl>
          </a:graphicData>
        </a:graphic>
      </p:graphicFrame>
      <p:graphicFrame>
        <p:nvGraphicFramePr>
          <p:cNvPr id="47" name="표 46">
            <a:extLst>
              <a:ext uri="{FF2B5EF4-FFF2-40B4-BE49-F238E27FC236}">
                <a16:creationId xmlns:a16="http://schemas.microsoft.com/office/drawing/2014/main" id="{4C14BC51-A89C-0C08-BCBF-38E35CDB74A1}"/>
              </a:ext>
            </a:extLst>
          </p:cNvPr>
          <p:cNvGraphicFramePr>
            <a:graphicFrameLocks noGrp="1"/>
          </p:cNvGraphicFramePr>
          <p:nvPr/>
        </p:nvGraphicFramePr>
        <p:xfrm>
          <a:off x="9019668" y="2607239"/>
          <a:ext cx="88868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4344">
                  <a:extLst>
                    <a:ext uri="{9D8B030D-6E8A-4147-A177-3AD203B41FA5}">
                      <a16:colId xmlns:a16="http://schemas.microsoft.com/office/drawing/2014/main" val="456541388"/>
                    </a:ext>
                  </a:extLst>
                </a:gridCol>
                <a:gridCol w="444344">
                  <a:extLst>
                    <a:ext uri="{9D8B030D-6E8A-4147-A177-3AD203B41FA5}">
                      <a16:colId xmlns:a16="http://schemas.microsoft.com/office/drawing/2014/main" val="177534905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55013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73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181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7708776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CB9E2FD1-E9A9-09A9-6394-CF8EFB867B8D}"/>
              </a:ext>
            </a:extLst>
          </p:cNvPr>
          <p:cNvSpPr txBox="1"/>
          <p:nvPr/>
        </p:nvSpPr>
        <p:spPr>
          <a:xfrm>
            <a:off x="809522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CD39B9D-5C5C-9A76-9FA3-B7D5F2A9FCF4}"/>
              </a:ext>
            </a:extLst>
          </p:cNvPr>
          <p:cNvSpPr txBox="1"/>
          <p:nvPr/>
        </p:nvSpPr>
        <p:spPr>
          <a:xfrm>
            <a:off x="2427495" y="3868188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(2, 3)</a:t>
            </a:r>
            <a:endParaRPr lang="ko-KR" altLang="en-US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013415D-8214-9522-94DE-1F6323A05771}"/>
              </a:ext>
            </a:extLst>
          </p:cNvPr>
          <p:cNvSpPr txBox="1"/>
          <p:nvPr/>
        </p:nvSpPr>
        <p:spPr>
          <a:xfrm>
            <a:off x="4052649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(1, 3)</a:t>
            </a:r>
            <a:endParaRPr lang="ko-KR" altLang="en-US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26D194A-8ED8-A222-57D7-0A72C366118F}"/>
              </a:ext>
            </a:extLst>
          </p:cNvPr>
          <p:cNvSpPr txBox="1"/>
          <p:nvPr/>
        </p:nvSpPr>
        <p:spPr>
          <a:xfrm>
            <a:off x="5691091" y="4116751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(3, 4)</a:t>
            </a:r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A6946AC-A922-C213-AF08-FE45C68B701C}"/>
              </a:ext>
            </a:extLst>
          </p:cNvPr>
          <p:cNvSpPr txBox="1"/>
          <p:nvPr/>
        </p:nvSpPr>
        <p:spPr>
          <a:xfrm>
            <a:off x="7337530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</a:t>
            </a:r>
            <a:endParaRPr lang="ko-KR" altLang="en-US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F75D844-D316-B0C0-42BB-5BF05177F0D7}"/>
              </a:ext>
            </a:extLst>
          </p:cNvPr>
          <p:cNvSpPr txBox="1"/>
          <p:nvPr/>
        </p:nvSpPr>
        <p:spPr>
          <a:xfrm>
            <a:off x="9019668" y="4237520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(4, </a:t>
            </a:r>
            <a:r>
              <a:rPr lang="en-US" altLang="ko-KR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2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  <a:endParaRPr lang="ko-KR" altLang="en-US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85A9622-072E-EF32-6CFA-DA442C3FEFEA}"/>
              </a:ext>
            </a:extLst>
          </p:cNvPr>
          <p:cNvSpPr txBox="1"/>
          <p:nvPr/>
        </p:nvSpPr>
        <p:spPr>
          <a:xfrm>
            <a:off x="10559338" y="5624463"/>
            <a:ext cx="904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(1, 4)</a:t>
            </a:r>
            <a:endParaRPr lang="ko-KR" altLang="en-US" dirty="0"/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3110BF7A-D40A-9C35-D312-56455BF7A289}"/>
              </a:ext>
            </a:extLst>
          </p:cNvPr>
          <p:cNvSpPr/>
          <p:nvPr/>
        </p:nvSpPr>
        <p:spPr>
          <a:xfrm>
            <a:off x="913794" y="1762125"/>
            <a:ext cx="10454754" cy="3259121"/>
          </a:xfrm>
          <a:prstGeom prst="rect">
            <a:avLst/>
          </a:prstGeom>
          <a:noFill/>
          <a:ln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694B855F-902F-2FDD-C505-F5F030704E5E}"/>
              </a:ext>
            </a:extLst>
          </p:cNvPr>
          <p:cNvCxnSpPr/>
          <p:nvPr/>
        </p:nvCxnSpPr>
        <p:spPr>
          <a:xfrm>
            <a:off x="1713982" y="3324225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8B3C84C-B20A-83DC-F853-78C3947A6CA1}"/>
              </a:ext>
            </a:extLst>
          </p:cNvPr>
          <p:cNvCxnSpPr/>
          <p:nvPr/>
        </p:nvCxnSpPr>
        <p:spPr>
          <a:xfrm>
            <a:off x="3694876" y="3324225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DDD5ADB-7D3B-8096-3E2E-A658A91911DE}"/>
              </a:ext>
            </a:extLst>
          </p:cNvPr>
          <p:cNvCxnSpPr/>
          <p:nvPr/>
        </p:nvCxnSpPr>
        <p:spPr>
          <a:xfrm>
            <a:off x="8511249" y="340995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9FDC7CE7-DBED-ADBA-B928-DA0594621939}"/>
              </a:ext>
            </a:extLst>
          </p:cNvPr>
          <p:cNvCxnSpPr/>
          <p:nvPr/>
        </p:nvCxnSpPr>
        <p:spPr>
          <a:xfrm>
            <a:off x="10199168" y="3390900"/>
            <a:ext cx="31484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17" name="그림 9216">
            <a:extLst>
              <a:ext uri="{FF2B5EF4-FFF2-40B4-BE49-F238E27FC236}">
                <a16:creationId xmlns:a16="http://schemas.microsoft.com/office/drawing/2014/main" id="{A06CB6E9-29F6-DB9B-673B-41CB5F5F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981" y="2454826"/>
            <a:ext cx="341640" cy="297078"/>
          </a:xfrm>
          <a:prstGeom prst="rect">
            <a:avLst/>
          </a:prstGeom>
        </p:spPr>
      </p:pic>
      <p:pic>
        <p:nvPicPr>
          <p:cNvPr id="9223" name="그림 9222">
            <a:extLst>
              <a:ext uri="{FF2B5EF4-FFF2-40B4-BE49-F238E27FC236}">
                <a16:creationId xmlns:a16="http://schemas.microsoft.com/office/drawing/2014/main" id="{E005E7C0-EB6C-7392-B2B4-4CF943517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9300" y="2436482"/>
            <a:ext cx="350550" cy="289585"/>
          </a:xfrm>
          <a:prstGeom prst="rect">
            <a:avLst/>
          </a:prstGeom>
        </p:spPr>
      </p:pic>
      <p:pic>
        <p:nvPicPr>
          <p:cNvPr id="9225" name="그림 9224">
            <a:extLst>
              <a:ext uri="{FF2B5EF4-FFF2-40B4-BE49-F238E27FC236}">
                <a16:creationId xmlns:a16="http://schemas.microsoft.com/office/drawing/2014/main" id="{F25A77D9-6CA8-EBB1-32C2-CE60ED807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7341" y="2230741"/>
            <a:ext cx="320068" cy="320068"/>
          </a:xfrm>
          <a:prstGeom prst="rect">
            <a:avLst/>
          </a:prstGeom>
        </p:spPr>
      </p:pic>
      <p:pic>
        <p:nvPicPr>
          <p:cNvPr id="9231" name="그림 9230">
            <a:extLst>
              <a:ext uri="{FF2B5EF4-FFF2-40B4-BE49-F238E27FC236}">
                <a16:creationId xmlns:a16="http://schemas.microsoft.com/office/drawing/2014/main" id="{94B2481D-E98C-DA55-0841-B1DD31951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3154" y="2299322"/>
            <a:ext cx="1524132" cy="586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74451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98F57-6188-E26B-9396-E0B2A453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A059C10-D295-2336-F094-4C2FF4396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45</a:t>
            </a:fld>
            <a:endParaRPr lang="en-US" dirty="0"/>
          </a:p>
        </p:txBody>
      </p:sp>
      <p:pic>
        <p:nvPicPr>
          <p:cNvPr id="18" name="그림 17">
            <a:extLst>
              <a:ext uri="{FF2B5EF4-FFF2-40B4-BE49-F238E27FC236}">
                <a16:creationId xmlns:a16="http://schemas.microsoft.com/office/drawing/2014/main" id="{A589D1AB-A7EA-A13D-A66C-047538B0B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095" y="1524826"/>
            <a:ext cx="6576630" cy="1196444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92EDE67-B548-74E9-CEEB-1E466EB7A9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095" y="3369896"/>
            <a:ext cx="7430144" cy="1127858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1C075147-3363-0723-E9A2-DBEB1EC07F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-2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095" y="3087932"/>
            <a:ext cx="1524132" cy="281964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F6B102B5-B19B-355D-6B62-8B58AE6BDB4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7744" y="4973903"/>
            <a:ext cx="5342083" cy="1432684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81A2A448-85FB-B47B-1612-8A4222CE382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47095" y="4756719"/>
            <a:ext cx="1539373" cy="320068"/>
          </a:xfrm>
          <a:prstGeom prst="rect">
            <a:avLst/>
          </a:prstGeom>
        </p:spPr>
      </p:pic>
      <p:pic>
        <p:nvPicPr>
          <p:cNvPr id="9242" name="그림 9241">
            <a:extLst>
              <a:ext uri="{FF2B5EF4-FFF2-40B4-BE49-F238E27FC236}">
                <a16:creationId xmlns:a16="http://schemas.microsoft.com/office/drawing/2014/main" id="{389C9D37-088D-D449-A58A-7D41E06759E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23725" y="1533093"/>
            <a:ext cx="4596800" cy="1209232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F25AFFB-DA44-EBB1-6C12-4AE1F199DDD3}"/>
              </a:ext>
            </a:extLst>
          </p:cNvPr>
          <p:cNvSpPr txBox="1">
            <a:spLocks/>
          </p:cNvSpPr>
          <p:nvPr/>
        </p:nvSpPr>
        <p:spPr>
          <a:xfrm>
            <a:off x="913794" y="3873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Matrix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Formulation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935690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62381-3972-869E-B311-851346C88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42E03F-B582-8FE9-524B-E033E86758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46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0F2F0F76-653C-E126-EB6E-A7E4FC7B99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07623FCE-2234-98BA-A6C8-AB07B6BDF561}"/>
              </a:ext>
            </a:extLst>
          </p:cNvPr>
          <p:cNvSpPr txBox="1">
            <a:spLocks/>
          </p:cNvSpPr>
          <p:nvPr/>
        </p:nvSpPr>
        <p:spPr>
          <a:xfrm>
            <a:off x="590464" y="395619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 Light" panose="020B0502040204020203" pitchFamily="34" charset="0"/>
              </a:rPr>
              <a:t>Hands-on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 Light" panose="020B0502040204020203" pitchFamily="34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73E8ACEE-D388-F7CA-6A08-DE923D42A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8095" y="1777999"/>
            <a:ext cx="10353762" cy="3200401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Iris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데이터를 사용하여 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Hidden layer 2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개가 각각 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4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개와 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3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개로 구성된 인공지능망으로 품종을 예측하는 코드를 만들고 손실함수를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정의하고 예측의 성능지표를 토론하자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성능지표 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: 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정확도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recall, precision, f1-score 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등</a:t>
            </a:r>
            <a:endParaRPr lang="en-US" altLang="ko-KR" sz="20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5536409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E42FB-EF10-31D4-2362-600F33B96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B60F8C-DF3A-97BB-52A4-40A63FF31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47</a:t>
            </a:fld>
            <a:endParaRPr lang="en-US" dirty="0"/>
          </a:p>
        </p:txBody>
      </p:sp>
      <p:pic>
        <p:nvPicPr>
          <p:cNvPr id="37" name="Picture 2" descr="한 여자가 노트북 컴퓨터에 타이핑을 하고 있다">
            <a:extLst>
              <a:ext uri="{FF2B5EF4-FFF2-40B4-BE49-F238E27FC236}">
                <a16:creationId xmlns:a16="http://schemas.microsoft.com/office/drawing/2014/main" id="{C65B004C-C66E-88A0-8CF7-33281CA27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67901" y="66675"/>
            <a:ext cx="2152650" cy="1424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제목 1">
            <a:extLst>
              <a:ext uri="{FF2B5EF4-FFF2-40B4-BE49-F238E27FC236}">
                <a16:creationId xmlns:a16="http://schemas.microsoft.com/office/drawing/2014/main" id="{C3230382-766E-AADE-75F1-79B0E6571958}"/>
              </a:ext>
            </a:extLst>
          </p:cNvPr>
          <p:cNvSpPr txBox="1">
            <a:spLocks/>
          </p:cNvSpPr>
          <p:nvPr/>
        </p:nvSpPr>
        <p:spPr>
          <a:xfrm>
            <a:off x="913795" y="1390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cap="none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Hands-on</a:t>
            </a:r>
            <a:endParaRPr lang="ko-KR" altLang="en-US" cap="none" dirty="0">
              <a:latin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2" name="내용 개체 틀 2">
            <a:extLst>
              <a:ext uri="{FF2B5EF4-FFF2-40B4-BE49-F238E27FC236}">
                <a16:creationId xmlns:a16="http://schemas.microsoft.com/office/drawing/2014/main" id="{86C36270-EFBC-B89D-7374-458A2B6155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1358900"/>
            <a:ext cx="10353762" cy="4575176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0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sns.load_dataset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(“diamonds")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데이터로 </a:t>
            </a:r>
            <a:r>
              <a:rPr lang="en-US" altLang="ko-KR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“price“</a:t>
            </a:r>
            <a:r>
              <a:rPr lang="ko-KR" altLang="en-US" sz="20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를 예측하라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입력변수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(Features)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'carat’ : 1 feature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'carat’. ‘depth', 'table’ : 3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features</a:t>
            </a: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'carat’. ‘depth', 'table’, 'cut', 'color', 'clarity’ : 6 feature</a:t>
            </a: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딥러닝 라이브러리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2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tensorflow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pytorch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, </a:t>
            </a:r>
            <a:r>
              <a:rPr lang="en-US" altLang="ko-KR" sz="1800" cap="none" dirty="0" err="1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keras</a:t>
            </a:r>
            <a:endParaRPr lang="en-US" altLang="ko-KR" sz="1800" cap="none" dirty="0">
              <a:latin typeface="맑은 고딕 Semilight" panose="020B0502040204020203" pitchFamily="50" charset="-127"/>
              <a:ea typeface="맑은 고딕 Semilight" panose="020B0502040204020203" pitchFamily="50" charset="-127"/>
              <a:cs typeface="맑은 고딕 Semilight" panose="020B0502040204020203" pitchFamily="50" charset="-127"/>
            </a:endParaRPr>
          </a:p>
          <a:p>
            <a:pPr lvl="1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딥 러닝을 이용한 자연어 처리 입문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 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(</a:t>
            </a:r>
            <a:r>
              <a:rPr lang="ko-KR" altLang="en-US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참고</a:t>
            </a:r>
            <a:r>
              <a:rPr lang="en-US" altLang="ko-KR" sz="1800" cap="none" dirty="0">
                <a:latin typeface="맑은 고딕 Semilight" panose="020B0502040204020203" pitchFamily="50" charset="-127"/>
                <a:ea typeface="맑은 고딕 Semilight" panose="020B0502040204020203" pitchFamily="50" charset="-127"/>
                <a:cs typeface="맑은 고딕 Semilight" panose="020B0502040204020203" pitchFamily="50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878999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F2C86-DA16-D101-F00A-B2C9BD45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1C3CD4D-CFE1-3FF5-FA51-F72D7FE59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Neural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Networks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–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text recognition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D16E9F8-1A59-5EE7-D461-0839167D51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48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C4D521-46EF-3D1F-71D0-5ACCE5859CDC}"/>
              </a:ext>
            </a:extLst>
          </p:cNvPr>
          <p:cNvSpPr txBox="1"/>
          <p:nvPr/>
        </p:nvSpPr>
        <p:spPr>
          <a:xfrm>
            <a:off x="521207" y="1533236"/>
            <a:ext cx="18624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Embedding projector</a:t>
            </a:r>
            <a:endParaRPr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B8671C2-8C43-29BF-55CE-D04C955A1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1672" y="1687124"/>
            <a:ext cx="6066299" cy="432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186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41D2F-EAB1-4A92-8867-6B4C4AEFA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>
            <a:extLst>
              <a:ext uri="{FF2B5EF4-FFF2-40B4-BE49-F238E27FC236}">
                <a16:creationId xmlns:a16="http://schemas.microsoft.com/office/drawing/2014/main" id="{33E49DB6-DAB3-D953-28ED-408E2277F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8135613" cy="640080"/>
          </a:xfrm>
        </p:spPr>
        <p:txBody>
          <a:bodyPr rtlCol="0">
            <a:noAutofit/>
          </a:bodyPr>
          <a:lstStyle/>
          <a:p>
            <a:pPr rtl="0"/>
            <a:r>
              <a:rPr lang="en-US" altLang="ko-KR" dirty="0">
                <a:cs typeface="Segoe UI Light" panose="020B0502040204020203" pitchFamily="34" charset="0"/>
              </a:rPr>
              <a:t>Neural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Networks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>
                <a:cs typeface="Segoe UI Light" panose="020B0502040204020203" pitchFamily="34" charset="0"/>
              </a:rPr>
              <a:t>–</a:t>
            </a:r>
            <a:r>
              <a:rPr lang="ko-KR" altLang="en-US" dirty="0">
                <a:cs typeface="Segoe UI Light" panose="020B0502040204020203" pitchFamily="34" charset="0"/>
              </a:rPr>
              <a:t> </a:t>
            </a:r>
            <a:r>
              <a:rPr lang="en-US" altLang="ko-KR" dirty="0" err="1">
                <a:cs typeface="Segoe UI Light" panose="020B0502040204020203" pitchFamily="34" charset="0"/>
              </a:rPr>
              <a:t>tensorflow</a:t>
            </a:r>
            <a:r>
              <a:rPr lang="en-US" altLang="ko-KR" dirty="0">
                <a:cs typeface="Segoe UI Light" panose="020B0502040204020203" pitchFamily="34" charset="0"/>
              </a:rPr>
              <a:t> playground</a:t>
            </a:r>
            <a:endParaRPr lang="ko-KR" altLang="en-US" dirty="0">
              <a:cs typeface="Segoe UI Light" panose="020B0502040204020203" pitchFamily="34" charset="0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CDC4E536-A3F9-1C9F-45A5-4E8F7C6145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860EDB8-5305-433F-BE41-D7A86D811DB3}" type="slidenum">
              <a:rPr lang="en-US" altLang="ko-KR" noProof="0" smtClean="0"/>
              <a:pPr/>
              <a:t>49</a:t>
            </a:fld>
            <a:endParaRPr lang="ko-KR" altLang="en-US" noProof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0B5905-966B-98B8-0663-09744EF741D6}"/>
              </a:ext>
            </a:extLst>
          </p:cNvPr>
          <p:cNvSpPr txBox="1"/>
          <p:nvPr/>
        </p:nvSpPr>
        <p:spPr>
          <a:xfrm>
            <a:off x="521207" y="1533236"/>
            <a:ext cx="231537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Neural Network in Browser</a:t>
            </a:r>
            <a:endParaRPr lang="ko-KR" altLang="en-US" sz="14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B5DEB5-B8CF-951A-D24C-641B270EF0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2909" y="2188345"/>
            <a:ext cx="7666182" cy="3847647"/>
          </a:xfrm>
          <a:prstGeom prst="rect">
            <a:avLst/>
          </a:prstGeom>
        </p:spPr>
      </p:pic>
      <p:pic>
        <p:nvPicPr>
          <p:cNvPr id="2052" name="Picture 4" descr="도자기 작업장. 성인과 어린이의 손이 도자기를 만들고 젖은 점토 근접 촬영으로 작업합니다. 더러운 손으로 바퀴에 점토로 그릇을 만드는 과정. 여름 공원의 수제 축제">
            <a:extLst>
              <a:ext uri="{FF2B5EF4-FFF2-40B4-BE49-F238E27FC236}">
                <a16:creationId xmlns:a16="http://schemas.microsoft.com/office/drawing/2014/main" id="{76937F52-9FE7-AD4F-8080-9B9CDF694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2899" y="55419"/>
            <a:ext cx="1633682" cy="1089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4821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1337</TotalTime>
  <Words>2711</Words>
  <Application>Microsoft Office PowerPoint</Application>
  <PresentationFormat>와이드스크린</PresentationFormat>
  <Paragraphs>372</Paragraphs>
  <Slides>49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49</vt:i4>
      </vt:variant>
    </vt:vector>
  </HeadingPairs>
  <TitlesOfParts>
    <vt:vector size="61" baseType="lpstr">
      <vt:lpstr>D2Coding</vt:lpstr>
      <vt:lpstr>NanumGothicExtraBold</vt:lpstr>
      <vt:lpstr>맑은 고딕</vt:lpstr>
      <vt:lpstr>맑은 고딕 Semilight</vt:lpstr>
      <vt:lpstr>바탕</vt:lpstr>
      <vt:lpstr>ADLaM Display</vt:lpstr>
      <vt:lpstr>Arial</vt:lpstr>
      <vt:lpstr>Arial Narrow</vt:lpstr>
      <vt:lpstr>Cambria Math</vt:lpstr>
      <vt:lpstr>Segoe UI Light</vt:lpstr>
      <vt:lpstr>Wingdings</vt:lpstr>
      <vt:lpstr>WelcomeDoc</vt:lpstr>
      <vt:lpstr>Deep Learning</vt:lpstr>
      <vt:lpstr>Motivation</vt:lpstr>
      <vt:lpstr>Henrietta_Swan_Leavitt</vt:lpstr>
      <vt:lpstr>Terminology</vt:lpstr>
      <vt:lpstr>Contents</vt:lpstr>
      <vt:lpstr>Linear Regression</vt:lpstr>
      <vt:lpstr>Linear Regression as dot product form</vt:lpstr>
      <vt:lpstr>Linear Regression as dot product form</vt:lpstr>
      <vt:lpstr>Fitting a line to data</vt:lpstr>
      <vt:lpstr>Matrix Formulation</vt:lpstr>
      <vt:lpstr>Ordinary Least Squares</vt:lpstr>
      <vt:lpstr>PowerPoint 프레젠테이션</vt:lpstr>
      <vt:lpstr>PowerPoint 프레젠테이션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Contents</vt:lpstr>
      <vt:lpstr>Regression and Perceptron</vt:lpstr>
      <vt:lpstr>PowerPoint 프레젠테이션</vt:lpstr>
      <vt:lpstr>PowerPoint 프레젠테이션</vt:lpstr>
      <vt:lpstr>PowerPoint 프레젠테이션</vt:lpstr>
      <vt:lpstr>PowerPoint 프레젠테이션</vt:lpstr>
      <vt:lpstr>Regression and Perceptron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Regression and Perceptron</vt:lpstr>
      <vt:lpstr>Contents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Deep learning </vt:lpstr>
      <vt:lpstr>PowerPoint 프레젠테이션</vt:lpstr>
      <vt:lpstr>PowerPoint 프레젠테이션</vt:lpstr>
      <vt:lpstr>PowerPoint 프레젠테이션</vt:lpstr>
      <vt:lpstr>PowerPoint 프레젠테이션</vt:lpstr>
      <vt:lpstr>Neural Networks – text recognition</vt:lpstr>
      <vt:lpstr>Neural Networks – tensorflow playground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37</cp:revision>
  <dcterms:created xsi:type="dcterms:W3CDTF">2026-04-06T01:00:39Z</dcterms:created>
  <dcterms:modified xsi:type="dcterms:W3CDTF">2026-04-18T07:37:50Z</dcterms:modified>
  <cp:version/>
</cp:coreProperties>
</file>