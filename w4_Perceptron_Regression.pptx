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2"/>
  </p:notesMasterIdLst>
  <p:handoutMasterIdLst>
    <p:handoutMasterId r:id="rId43"/>
  </p:handoutMasterIdLst>
  <p:sldIdLst>
    <p:sldId id="256" r:id="rId2"/>
    <p:sldId id="355" r:id="rId3"/>
    <p:sldId id="847" r:id="rId4"/>
    <p:sldId id="328" r:id="rId5"/>
    <p:sldId id="333" r:id="rId6"/>
    <p:sldId id="332" r:id="rId7"/>
    <p:sldId id="334" r:id="rId8"/>
    <p:sldId id="870" r:id="rId9"/>
    <p:sldId id="335" r:id="rId10"/>
    <p:sldId id="871" r:id="rId11"/>
    <p:sldId id="848" r:id="rId12"/>
    <p:sldId id="874" r:id="rId13"/>
    <p:sldId id="872" r:id="rId14"/>
    <p:sldId id="931" r:id="rId15"/>
    <p:sldId id="936" r:id="rId16"/>
    <p:sldId id="873" r:id="rId17"/>
    <p:sldId id="907" r:id="rId18"/>
    <p:sldId id="932" r:id="rId19"/>
    <p:sldId id="908" r:id="rId20"/>
    <p:sldId id="930" r:id="rId21"/>
    <p:sldId id="928" r:id="rId22"/>
    <p:sldId id="851" r:id="rId23"/>
    <p:sldId id="852" r:id="rId24"/>
    <p:sldId id="929" r:id="rId25"/>
    <p:sldId id="846" r:id="rId26"/>
    <p:sldId id="927" r:id="rId27"/>
    <p:sldId id="937" r:id="rId28"/>
    <p:sldId id="876" r:id="rId29"/>
    <p:sldId id="879" r:id="rId30"/>
    <p:sldId id="881" r:id="rId31"/>
    <p:sldId id="880" r:id="rId32"/>
    <p:sldId id="883" r:id="rId33"/>
    <p:sldId id="882" r:id="rId34"/>
    <p:sldId id="884" r:id="rId35"/>
    <p:sldId id="919" r:id="rId36"/>
    <p:sldId id="886" r:id="rId37"/>
    <p:sldId id="887" r:id="rId38"/>
    <p:sldId id="885" r:id="rId39"/>
    <p:sldId id="285" r:id="rId40"/>
    <p:sldId id="284" r:id="rId4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847"/>
            <p14:sldId id="328"/>
            <p14:sldId id="333"/>
            <p14:sldId id="332"/>
            <p14:sldId id="334"/>
            <p14:sldId id="870"/>
            <p14:sldId id="335"/>
            <p14:sldId id="871"/>
            <p14:sldId id="848"/>
            <p14:sldId id="874"/>
            <p14:sldId id="872"/>
            <p14:sldId id="931"/>
            <p14:sldId id="936"/>
            <p14:sldId id="873"/>
            <p14:sldId id="907"/>
            <p14:sldId id="932"/>
            <p14:sldId id="908"/>
            <p14:sldId id="930"/>
            <p14:sldId id="928"/>
            <p14:sldId id="851"/>
            <p14:sldId id="852"/>
            <p14:sldId id="929"/>
            <p14:sldId id="846"/>
            <p14:sldId id="927"/>
            <p14:sldId id="937"/>
            <p14:sldId id="876"/>
            <p14:sldId id="879"/>
            <p14:sldId id="881"/>
            <p14:sldId id="880"/>
            <p14:sldId id="883"/>
            <p14:sldId id="882"/>
            <p14:sldId id="884"/>
            <p14:sldId id="919"/>
            <p14:sldId id="886"/>
            <p14:sldId id="887"/>
            <p14:sldId id="885"/>
            <p14:sldId id="285"/>
            <p14:sldId id="284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DE266-A0D1-4B71-540C-F87DD8BAB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79B2F4-CE6F-322B-5487-BCB8A7379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DB4601-5EAC-E633-E937-9A1B4080A1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EDF55D-D6D1-B7D3-B42A-88E56AE58C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74114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7C0FF-698A-00FC-DDC7-5DAD3E563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B6317B-264D-9D45-0EEB-171620902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5B5C3D9-7691-90C7-D04B-52316129C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10163D-CCB5-0B9D-45AA-C75A5B3F88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9355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B88E-7E48-289C-30D7-91E60B6F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B02D41-AE5C-E64B-B578-1DA305321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41B04E-6251-AD17-3F6C-FE70BA707D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2300F5-AC40-C66E-C713-8EB770933F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75267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98FEC-6D07-E235-DFC1-F80EAAD19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83C0FE-EC7E-7097-53CB-213B7A354E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4962DF-ADEE-FEEC-1198-477D79023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D4FC87-B1C5-22A6-5343-E307499FB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88277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476B-976D-3B9C-929C-0E6C2ECC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18413-B452-869B-093F-7FCD8E11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8A77C-E7F5-2598-FF2B-1405B870E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6329-4B53-5B91-7ED8-0902822A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5684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030A-8C46-08A6-BE42-6D086947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5C43A-AB99-1868-ABC5-33973A29D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CBDB5B-08D5-C381-267F-2F7F812F9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22BDE-E4A5-6756-345E-02C31D4A2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149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7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png"/><Relationship Id="rId5" Type="http://schemas.microsoft.com/office/2007/relationships/hdphoto" Target="../media/hdphoto1.wdp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edium.com/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gif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2.wdp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t3VBY9OisCo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Relationship Id="rId4" Type="http://schemas.microsoft.com/office/2007/relationships/hdphoto" Target="../media/hdphoto3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9.png"/><Relationship Id="rId4" Type="http://schemas.openxmlformats.org/officeDocument/2006/relationships/image" Target="../media/image65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54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2.jpeg"/><Relationship Id="rId5" Type="http://schemas.openxmlformats.org/officeDocument/2006/relationships/image" Target="../media/image52.png"/><Relationship Id="rId4" Type="http://schemas.openxmlformats.org/officeDocument/2006/relationships/hyperlink" Target="https://en.wikipedia.org/wiki/Sign_function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101ai.net/deeplearn/activation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55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25.jpe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microsoft.com/office/2007/relationships/hdphoto" Target="../media/hdphoto4.wdp"/><Relationship Id="rId7" Type="http://schemas.microsoft.com/office/2007/relationships/hdphoto" Target="../media/hdphoto6.wdp"/><Relationship Id="rId12" Type="http://schemas.openxmlformats.org/officeDocument/2006/relationships/image" Target="../media/image71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8.png"/><Relationship Id="rId11" Type="http://schemas.microsoft.com/office/2007/relationships/hdphoto" Target="../media/hdphoto8.wdp"/><Relationship Id="rId5" Type="http://schemas.microsoft.com/office/2007/relationships/hdphoto" Target="../media/hdphoto5.wdp"/><Relationship Id="rId10" Type="http://schemas.openxmlformats.org/officeDocument/2006/relationships/image" Target="../media/image70.png"/><Relationship Id="rId4" Type="http://schemas.openxmlformats.org/officeDocument/2006/relationships/image" Target="../media/image67.png"/><Relationship Id="rId9" Type="http://schemas.microsoft.com/office/2007/relationships/hdphoto" Target="../media/hdphoto7.wdp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ctor.tensorflow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ground.tensorflow.org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7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Perceptron and Regression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994239"/>
            <a:ext cx="4658330" cy="376275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D531-9861-DC11-13C8-402FADE0A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56C91DE-18A1-B898-12F7-3C530CFD8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2336735-1E3E-3496-5FE8-5581A7323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7775A8D-3762-E25F-3473-AB40BDD18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70" y="4289517"/>
            <a:ext cx="1800476" cy="178142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4F422DD-B2F0-8C99-6185-6DEB3BEA0A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042" y="4289517"/>
            <a:ext cx="1332758" cy="171084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ADD4715-E2CB-D944-BC5E-351C732644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441" y="4289517"/>
            <a:ext cx="1233572" cy="174836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093461E-2E00-52B3-61E2-BC6F6AA15084}"/>
              </a:ext>
            </a:extLst>
          </p:cNvPr>
          <p:cNvSpPr txBox="1"/>
          <p:nvPr/>
        </p:nvSpPr>
        <p:spPr>
          <a:xfrm>
            <a:off x="616457" y="1451425"/>
            <a:ext cx="10746868" cy="263001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랜덤 데이터 생성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np.random.seed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(42) 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재현을 위해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고정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np.random.uniform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(0, 10, 100) # 0~10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사이의 난수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관계식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y = 3x + 5 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여기에 노이즈 추가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noise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np.random.normal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(0, 2, 100) 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정규분포 노이즈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3 * x + 5 + noise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154F4078-D4B4-44FA-0A92-D15D7F7E8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9693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BBC28-B060-3C52-383A-9DE21196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2">
            <a:extLst>
              <a:ext uri="{FF2B5EF4-FFF2-40B4-BE49-F238E27FC236}">
                <a16:creationId xmlns:a16="http://schemas.microsoft.com/office/drawing/2014/main" id="{C9B41543-DC63-5E34-0B3B-D762A2FAE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1698717"/>
            <a:ext cx="5543550" cy="4250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D2B2716-1FE3-3EF6-B984-BF6C72A03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4913F4A-EF69-799E-62CF-68618D05F3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D755DAA4-72C6-B88A-072A-2C17DA7378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DBA76C6E-1F8F-2FCC-1329-F9B961492D3F}"/>
              </a:ext>
            </a:extLst>
          </p:cNvPr>
          <p:cNvGrpSpPr/>
          <p:nvPr/>
        </p:nvGrpSpPr>
        <p:grpSpPr>
          <a:xfrm>
            <a:off x="6488811" y="1766690"/>
            <a:ext cx="5225140" cy="1387726"/>
            <a:chOff x="6488811" y="1766690"/>
            <a:chExt cx="5225140" cy="138772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0FA9058-137F-B412-135A-F9029829926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61171" y="1766690"/>
              <a:ext cx="1402567" cy="1387726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5060343-C130-643A-4F4E-26898B126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88811" y="1766690"/>
              <a:ext cx="1038214" cy="1332743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F458F2B3-F05E-E6C9-7549-65BCD4D1A7F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753002" y="1766691"/>
              <a:ext cx="960949" cy="1361974"/>
            </a:xfrm>
            <a:prstGeom prst="rect">
              <a:avLst/>
            </a:prstGeom>
          </p:spPr>
        </p:pic>
        <p:sp>
          <p:nvSpPr>
            <p:cNvPr id="2" name="같음 기호 1">
              <a:extLst>
                <a:ext uri="{FF2B5EF4-FFF2-40B4-BE49-F238E27FC236}">
                  <a16:creationId xmlns:a16="http://schemas.microsoft.com/office/drawing/2014/main" id="{818D04B7-3485-B99A-9173-C2DCCE8628D5}"/>
                </a:ext>
              </a:extLst>
            </p:cNvPr>
            <p:cNvSpPr/>
            <p:nvPr/>
          </p:nvSpPr>
          <p:spPr>
            <a:xfrm>
              <a:off x="7837916" y="2405062"/>
              <a:ext cx="256785" cy="153429"/>
            </a:xfrm>
            <a:prstGeom prst="mathEqual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" name="더하기 기호 2">
              <a:extLst>
                <a:ext uri="{FF2B5EF4-FFF2-40B4-BE49-F238E27FC236}">
                  <a16:creationId xmlns:a16="http://schemas.microsoft.com/office/drawing/2014/main" id="{BF4E33F2-5881-9AA4-0DE4-7EB7DE930520}"/>
                </a:ext>
              </a:extLst>
            </p:cNvPr>
            <p:cNvSpPr/>
            <p:nvPr/>
          </p:nvSpPr>
          <p:spPr>
            <a:xfrm>
              <a:off x="10210801" y="2371725"/>
              <a:ext cx="238628" cy="209955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198853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4D2FF-CCFF-2D3F-6455-109BDCC69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4439B9E-951D-D2A9-8CCA-E0BCD46F9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9CD7A52-9D3D-AC10-D9C9-479BF1E0EE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9919B585-4FCF-74D2-B13A-5DCC3B1EA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891B776-788F-983C-3372-3C1FFE26C810}"/>
              </a:ext>
            </a:extLst>
          </p:cNvPr>
          <p:cNvGrpSpPr/>
          <p:nvPr/>
        </p:nvGrpSpPr>
        <p:grpSpPr>
          <a:xfrm>
            <a:off x="6488811" y="1766690"/>
            <a:ext cx="5225140" cy="1387726"/>
            <a:chOff x="6488811" y="1766690"/>
            <a:chExt cx="5225140" cy="138772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AC2FBC8-0659-E600-0F6A-6615329BB2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461171" y="1766690"/>
              <a:ext cx="1402567" cy="1387726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107E47C-A069-F155-14B8-C2EB6D2DB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88811" y="1766690"/>
              <a:ext cx="1038214" cy="1332743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09370505-6899-00F3-2FD3-4E507FFDC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753002" y="1766691"/>
              <a:ext cx="960949" cy="1361974"/>
            </a:xfrm>
            <a:prstGeom prst="rect">
              <a:avLst/>
            </a:prstGeom>
          </p:spPr>
        </p:pic>
        <p:sp>
          <p:nvSpPr>
            <p:cNvPr id="2" name="같음 기호 1">
              <a:extLst>
                <a:ext uri="{FF2B5EF4-FFF2-40B4-BE49-F238E27FC236}">
                  <a16:creationId xmlns:a16="http://schemas.microsoft.com/office/drawing/2014/main" id="{4928C1D8-D31B-C11A-799E-0C0D276A57E8}"/>
                </a:ext>
              </a:extLst>
            </p:cNvPr>
            <p:cNvSpPr/>
            <p:nvPr/>
          </p:nvSpPr>
          <p:spPr>
            <a:xfrm>
              <a:off x="7837916" y="2405062"/>
              <a:ext cx="256785" cy="153429"/>
            </a:xfrm>
            <a:prstGeom prst="mathEqual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" name="더하기 기호 2">
              <a:extLst>
                <a:ext uri="{FF2B5EF4-FFF2-40B4-BE49-F238E27FC236}">
                  <a16:creationId xmlns:a16="http://schemas.microsoft.com/office/drawing/2014/main" id="{C4680470-73AD-F8AD-91F2-5D806F4B0131}"/>
                </a:ext>
              </a:extLst>
            </p:cNvPr>
            <p:cNvSpPr/>
            <p:nvPr/>
          </p:nvSpPr>
          <p:spPr>
            <a:xfrm>
              <a:off x="10210801" y="2371725"/>
              <a:ext cx="238628" cy="209955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0956E4AF-BB7E-B55C-8050-02CF49309B5E}"/>
              </a:ext>
            </a:extLst>
          </p:cNvPr>
          <p:cNvGrpSpPr/>
          <p:nvPr/>
        </p:nvGrpSpPr>
        <p:grpSpPr>
          <a:xfrm>
            <a:off x="6593586" y="3598550"/>
            <a:ext cx="3454269" cy="1428684"/>
            <a:chOff x="6488811" y="3941141"/>
            <a:chExt cx="3454269" cy="1428684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675512D5-ACFD-B282-9136-6B61B0A93B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88811" y="4017264"/>
              <a:ext cx="1038214" cy="1332743"/>
            </a:xfrm>
            <a:prstGeom prst="rect">
              <a:avLst/>
            </a:prstGeom>
          </p:spPr>
        </p:pic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8C045F8-51A2-5143-9B44-8960D53E2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498336" y="4407954"/>
              <a:ext cx="274595" cy="39574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3ECD106F-1C33-054A-E0E4-871016A57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938817" y="3988773"/>
              <a:ext cx="557267" cy="1381052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C32C9381-6C7F-8EED-FF0F-80FEF2CE01E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400501" y="3941141"/>
              <a:ext cx="1542579" cy="1421434"/>
            </a:xfrm>
            <a:prstGeom prst="rect">
              <a:avLst/>
            </a:prstGeom>
          </p:spPr>
        </p:pic>
        <p:sp>
          <p:nvSpPr>
            <p:cNvPr id="21" name="같음 기호 20">
              <a:extLst>
                <a:ext uri="{FF2B5EF4-FFF2-40B4-BE49-F238E27FC236}">
                  <a16:creationId xmlns:a16="http://schemas.microsoft.com/office/drawing/2014/main" id="{E9F21161-7C22-BA86-8BD5-6D80AC5F2AC5}"/>
                </a:ext>
              </a:extLst>
            </p:cNvPr>
            <p:cNvSpPr/>
            <p:nvPr/>
          </p:nvSpPr>
          <p:spPr>
            <a:xfrm>
              <a:off x="7887006" y="4622299"/>
              <a:ext cx="256785" cy="153429"/>
            </a:xfrm>
            <a:prstGeom prst="mathEqual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21506" name="Picture 2">
            <a:extLst>
              <a:ext uri="{FF2B5EF4-FFF2-40B4-BE49-F238E27FC236}">
                <a16:creationId xmlns:a16="http://schemas.microsoft.com/office/drawing/2014/main" id="{1AC7E6FE-79AD-02BE-3EC1-50BB02E35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841" y="1742236"/>
            <a:ext cx="5496682" cy="4405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37F90FF9-A7B6-3E3A-F6A2-2735D1C847CD}"/>
              </a:ext>
            </a:extLst>
          </p:cNvPr>
          <p:cNvSpPr/>
          <p:nvPr/>
        </p:nvSpPr>
        <p:spPr>
          <a:xfrm>
            <a:off x="6460236" y="3514725"/>
            <a:ext cx="3855843" cy="16386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3187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5F34-A5D9-A442-CB25-B4CD890A0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98C921F-6D99-8227-CFFE-07588A1A6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AAA01EA-D981-EF53-40F1-725F8DDA3D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A5EAC5E7-4A64-3617-26EF-F78F129BB6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06" name="Picture 2">
            <a:extLst>
              <a:ext uri="{FF2B5EF4-FFF2-40B4-BE49-F238E27FC236}">
                <a16:creationId xmlns:a16="http://schemas.microsoft.com/office/drawing/2014/main" id="{911CA780-919C-4357-9D03-8C4797761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841" y="1742236"/>
            <a:ext cx="5496682" cy="4405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D610E4B-6C3B-DD0F-4AB8-AB2E64EBD2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7584" y="2057357"/>
            <a:ext cx="2449526" cy="48535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D234C4B-1840-E743-5623-7D3CB3C5D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7584" y="3042868"/>
            <a:ext cx="4686711" cy="160773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F204F99-EAA6-8131-BB09-5553485C5E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2842" y="4946194"/>
            <a:ext cx="1708943" cy="792658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E3CC373-5A0E-D55F-CA1B-3518B65B0E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1785" y="4946194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620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A4E62-DE40-FBB4-3740-698D55447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A808B9-8204-349A-86A5-630054163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420" y="310533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MSE(Mean Squared Error)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01ACFD-5BA0-889B-23C7-3025E298E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2B84053F-541D-D14A-2461-2401B413B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26" y="1619776"/>
            <a:ext cx="4553722" cy="199941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1B0B8A50-B2AC-8C53-65CB-DA63F38686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167711" y="1624762"/>
            <a:ext cx="3783180" cy="195494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8811D67-C7B0-5C9B-24C0-E86977743F6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71877" y="4701290"/>
            <a:ext cx="3200677" cy="1638442"/>
          </a:xfrm>
          <a:prstGeom prst="rect">
            <a:avLst/>
          </a:prstGeom>
        </p:spPr>
      </p:pic>
      <p:sp>
        <p:nvSpPr>
          <p:cNvPr id="37" name="오른쪽 중괄호 36">
            <a:extLst>
              <a:ext uri="{FF2B5EF4-FFF2-40B4-BE49-F238E27FC236}">
                <a16:creationId xmlns:a16="http://schemas.microsoft.com/office/drawing/2014/main" id="{3D299CA6-819A-997A-F600-531F5A6C1641}"/>
              </a:ext>
            </a:extLst>
          </p:cNvPr>
          <p:cNvSpPr/>
          <p:nvPr/>
        </p:nvSpPr>
        <p:spPr>
          <a:xfrm rot="5400000">
            <a:off x="5407959" y="1860037"/>
            <a:ext cx="404251" cy="4219575"/>
          </a:xfrm>
          <a:prstGeom prst="rightBrace">
            <a:avLst>
              <a:gd name="adj1" fmla="val 57265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/>
              <p:nvPr/>
            </p:nvSpPr>
            <p:spPr>
              <a:xfrm>
                <a:off x="1332895" y="4216317"/>
                <a:ext cx="4676775" cy="3539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에러는 실제와 예측 값의 차이</a:t>
                </a:r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𝜖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y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− </m:t>
                    </m:r>
                    <m:acc>
                      <m:accPr>
                        <m:chr m:val="̂"/>
                        <m:ctrlPr>
                          <a:rPr lang="ko-KR" altLang="en-US" sz="1700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ko-KR" sz="170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y</m:t>
                        </m:r>
                      </m:e>
                    </m:acc>
                  </m:oMath>
                </a14:m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895" y="4216317"/>
                <a:ext cx="4676775" cy="353943"/>
              </a:xfrm>
              <a:prstGeom prst="rect">
                <a:avLst/>
              </a:prstGeom>
              <a:blipFill>
                <a:blip r:embed="rId6"/>
                <a:stretch>
                  <a:fillRect l="-913" t="-6897" b="-224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414D2ACF-EDDF-1AB0-44AF-6EF356311A17}"/>
              </a:ext>
            </a:extLst>
          </p:cNvPr>
          <p:cNvSpPr txBox="1"/>
          <p:nvPr/>
        </p:nvSpPr>
        <p:spPr>
          <a:xfrm>
            <a:off x="811360" y="1255430"/>
            <a:ext cx="1409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1E307C-EACC-51E4-DD9F-8EE98C51964A}"/>
              </a:ext>
            </a:extLst>
          </p:cNvPr>
          <p:cNvSpPr txBox="1"/>
          <p:nvPr/>
        </p:nvSpPr>
        <p:spPr>
          <a:xfrm>
            <a:off x="7155042" y="1255430"/>
            <a:ext cx="19889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BA5809DB-C0E9-5D79-51D1-26D791083115}"/>
              </a:ext>
            </a:extLst>
          </p:cNvPr>
          <p:cNvGrpSpPr/>
          <p:nvPr/>
        </p:nvGrpSpPr>
        <p:grpSpPr>
          <a:xfrm>
            <a:off x="7924800" y="4106543"/>
            <a:ext cx="2824480" cy="1189493"/>
            <a:chOff x="8575040" y="3851111"/>
            <a:chExt cx="2824480" cy="1189493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D19109A4-492F-5FCA-F1D4-896C84870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4329815"/>
              <a:ext cx="2220300" cy="710789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87AC92C-032C-C967-C231-4ED2755AB069}"/>
                </a:ext>
              </a:extLst>
            </p:cNvPr>
            <p:cNvSpPr txBox="1"/>
            <p:nvPr/>
          </p:nvSpPr>
          <p:spPr>
            <a:xfrm>
              <a:off x="8575040" y="3851111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모델의 성능지표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(metric)</a:t>
              </a:r>
              <a:endPara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0E65D59E-6B20-48D6-060D-EDE9FEB86AEE}"/>
              </a:ext>
            </a:extLst>
          </p:cNvPr>
          <p:cNvGrpSpPr/>
          <p:nvPr/>
        </p:nvGrpSpPr>
        <p:grpSpPr>
          <a:xfrm>
            <a:off x="8020243" y="5462958"/>
            <a:ext cx="2824480" cy="1001698"/>
            <a:chOff x="8650279" y="5116220"/>
            <a:chExt cx="2824480" cy="1001698"/>
          </a:xfrm>
        </p:grpSpPr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A0AC1168-EDFF-93B3-9765-389C48B54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5470163"/>
              <a:ext cx="2575411" cy="647755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0E2E1CB-8BD0-9CBA-C134-C3EA19017FC6}"/>
                </a:ext>
              </a:extLst>
            </p:cNvPr>
            <p:cNvSpPr txBox="1"/>
            <p:nvPr/>
          </p:nvSpPr>
          <p:spPr>
            <a:xfrm>
              <a:off x="8650279" y="5116220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분산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내적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유클리드 거리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5222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9" grpId="0"/>
      <p:bldP spid="4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19522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90795" y="5561904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F1DC974-0213-762D-DA9B-996F89AD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A7676C-C191-A8AC-AF32-140354371AD5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9B85837-F508-0C94-9CF0-8BC26C9BA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수식 연산 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8108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C0163-15BA-B9B1-CCC9-DE6AAB400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41706-50DB-4E7F-A770-EC62EB6E7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B42B101-56A2-19C5-76E1-CE7BD021E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B04C50D8-B70B-4E30-23FF-1BB14F9A85CC}"/>
              </a:ext>
            </a:extLst>
          </p:cNvPr>
          <p:cNvSpPr txBox="1">
            <a:spLocks/>
          </p:cNvSpPr>
          <p:nvPr/>
        </p:nvSpPr>
        <p:spPr>
          <a:xfrm>
            <a:off x="537021" y="610541"/>
            <a:ext cx="10353762" cy="5515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455A37F-3231-1A41-AE78-15F0E8AEB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3200" y="1747802"/>
            <a:ext cx="5467352" cy="3179798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대수학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(Algebra)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단순회귀식을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FA417F-8E04-9153-94A2-338997BEF6C8}"/>
              </a:ext>
            </a:extLst>
          </p:cNvPr>
          <p:cNvSpPr txBox="1"/>
          <p:nvPr/>
        </p:nvSpPr>
        <p:spPr>
          <a:xfrm>
            <a:off x="913795" y="1309966"/>
            <a:ext cx="5323840" cy="501675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심볼 정의</a:t>
            </a: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w0, w1, x, 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('w0 w1 x y')</a:t>
            </a: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잔차제곱합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(SSE)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[(1, 1), (2, 3), (4, 3), (3, 2), (5, 5)]</a:t>
            </a: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sum((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– (w0 + w1 *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))**2 for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in data)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통해 최소값 찾기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d_w0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w0)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d_w1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w1)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연립방정식 풀기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solution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([d_w0, d_w1], [w0, w1])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최적의 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{solution}")</a:t>
            </a:r>
          </a:p>
          <a:p>
            <a:pPr>
              <a:buNone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의미해석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</a:p>
        </p:txBody>
      </p:sp>
    </p:spTree>
    <p:extLst>
      <p:ext uri="{BB962C8B-B14F-4D97-AF65-F5344CB8AC3E}">
        <p14:creationId xmlns:p14="http://schemas.microsoft.com/office/powerpoint/2010/main" val="31956492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5003E-BEDD-42D4-4CBF-A63561644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F0F06A-63C2-DF81-DD67-8ABD6DBB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7277938-3F89-0A4B-FD6F-6C3A60E027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5963AB-9938-2FCF-579C-1601FF0C9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4" y="1563412"/>
            <a:ext cx="10343112" cy="1482914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사용하여 에러를 최소화하는 함수를 만들어 회귀식을 구하여 비교하라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E29396D-00A5-B113-4D30-096C403C8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621" y="2888271"/>
            <a:ext cx="4127687" cy="3330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9FF7C63E-80DF-8535-A0BE-D755DEC0CD6B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9603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EF1BC567-8CF8-0F01-3159-1111B5C86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308" y="1419224"/>
            <a:ext cx="10034891" cy="4617037"/>
          </a:xfrm>
        </p:spPr>
        <p:txBody>
          <a:bodyPr>
            <a:noAutofit/>
          </a:bodyPr>
          <a:lstStyle/>
          <a:p>
            <a:pPr marL="171450" indent="-1714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대상으로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사용하여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 상관관계를 산출하여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(Target)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상관관계가 높은 변수를 검토하고 수치형 변수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'carat', 'depth', 'table’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가격을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'cut', 'color', 'clarity’,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추가하여 총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입력변수로 가격을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및 범주형 변수와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변수와의 상관관계를 확인하는 방법을 토론하라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indent="-1714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범주형 변수를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one-hot-encoding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dummy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변수로 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의미는 무엇인가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Symson’s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paradox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관련되어 이해하라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statsmodels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라이브러리를 사용하여 통계적 요약 보고서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(Summary)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변수의 유의성을 판단하도록 하라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8A9D-80A6-605A-D534-425E7653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8F20E-8EE0-78A5-D0EA-4B644EEC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B03C88-270A-EE2C-3233-714AAFEC9B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A3CACE-DE81-CBDF-798D-06984882A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9E78179-2E09-0355-C041-22C079CFD5A4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BF0E4733-A836-DC62-3DDB-852B81B9F73E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E18941F-B0F9-67C5-F662-E6B4EE6F98DF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CA140FD1-229F-BE57-FCAD-4A8ADDB11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1AD573-1CBB-4023-F7C6-802D274C385F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4A49041-B721-4B86-3514-E8E380D285C4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05CDB8F-66D5-E0F1-65C3-4434DA3C88CA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10ED7DF1-E89E-94D9-9FB9-80F44B86C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0720B32A-EB97-F165-4582-A6CBBFE5019A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70B4902C-D349-338F-456E-77DC2D0640F1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6715BE0-4A4F-3CF6-4749-616264D56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5179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51A519D-6530-EE2C-2EF8-DAD2B15AF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E64A05-EC9A-7A18-276B-BAE1ACCEF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44" y="1248422"/>
            <a:ext cx="3599209" cy="533293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54E6098-1902-C2B9-D42B-B9F5D7D5B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3197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F3A0907-AE0A-B055-AB47-80AD866702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530349"/>
            <a:ext cx="10868630" cy="133667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823BA1C6-278D-12C3-6549-782ACC6199C7}"/>
              </a:ext>
            </a:extLst>
          </p:cNvPr>
          <p:cNvGrpSpPr/>
          <p:nvPr/>
        </p:nvGrpSpPr>
        <p:grpSpPr>
          <a:xfrm>
            <a:off x="1449579" y="2923303"/>
            <a:ext cx="3284345" cy="2585323"/>
            <a:chOff x="2383030" y="2885975"/>
            <a:chExt cx="3725892" cy="296490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0CE7DA-3074-6AFC-EEDA-A141F7393A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83030" y="2885975"/>
              <a:ext cx="3725892" cy="296490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8AFDB8AF-ED88-9564-8F5F-FCE90C4664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5743305" y="3817589"/>
              <a:ext cx="358398" cy="925861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BE37ACC-2FC0-0549-4E18-391B6A893B24}"/>
              </a:ext>
            </a:extLst>
          </p:cNvPr>
          <p:cNvSpPr txBox="1"/>
          <p:nvPr/>
        </p:nvSpPr>
        <p:spPr>
          <a:xfrm>
            <a:off x="5423677" y="2949574"/>
            <a:ext cx="6096000" cy="25853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dirty="0"/>
              <a:t>        X0 (=1, </a:t>
            </a:r>
            <a:r>
              <a:rPr lang="ko-KR" altLang="en-US" dirty="0" err="1"/>
              <a:t>bias</a:t>
            </a:r>
            <a:r>
              <a:rPr lang="ko-KR" altLang="en-US" dirty="0"/>
              <a:t>)</a:t>
            </a:r>
          </a:p>
          <a:p>
            <a:r>
              <a:rPr lang="ko-KR" altLang="en-US" dirty="0"/>
              <a:t>             │</a:t>
            </a:r>
          </a:p>
          <a:p>
            <a:r>
              <a:rPr lang="ko-KR" altLang="en-US" dirty="0"/>
              <a:t>             │ w0</a:t>
            </a:r>
          </a:p>
          <a:p>
            <a:r>
              <a:rPr lang="ko-KR" altLang="en-US" dirty="0"/>
              <a:t>             ▼</a:t>
            </a:r>
          </a:p>
          <a:p>
            <a:r>
              <a:rPr lang="ko-KR" altLang="en-US" dirty="0"/>
              <a:t>        ┌─────────┐</a:t>
            </a:r>
          </a:p>
          <a:p>
            <a:r>
              <a:rPr lang="ko-KR" altLang="en-US" dirty="0"/>
              <a:t>X1 ──w1▶│         │</a:t>
            </a:r>
          </a:p>
          <a:p>
            <a:r>
              <a:rPr lang="ko-KR" altLang="en-US" dirty="0"/>
              <a:t>        │             </a:t>
            </a:r>
            <a:r>
              <a:rPr lang="ko-KR" altLang="en-US" dirty="0" err="1"/>
              <a:t>Σ</a:t>
            </a:r>
            <a:r>
              <a:rPr lang="ko-KR" altLang="en-US" dirty="0"/>
              <a:t>    │───▶ </a:t>
            </a:r>
            <a:r>
              <a:rPr lang="ko-KR" altLang="en-US" dirty="0" err="1"/>
              <a:t>Activation</a:t>
            </a:r>
            <a:r>
              <a:rPr lang="ko-KR" altLang="en-US" dirty="0"/>
              <a:t> (</a:t>
            </a:r>
            <a:r>
              <a:rPr lang="ko-KR" altLang="en-US" dirty="0" err="1"/>
              <a:t>Step</a:t>
            </a:r>
            <a:r>
              <a:rPr lang="ko-KR" altLang="en-US" dirty="0"/>
              <a:t>) ───▶ </a:t>
            </a:r>
            <a:r>
              <a:rPr lang="ko-KR" altLang="en-US" dirty="0" err="1"/>
              <a:t>y</a:t>
            </a:r>
            <a:endParaRPr lang="ko-KR" altLang="en-US" dirty="0"/>
          </a:p>
          <a:p>
            <a:r>
              <a:rPr lang="ko-KR" altLang="en-US" dirty="0"/>
              <a:t>X2 ──w2▶│ (</a:t>
            </a:r>
            <a:r>
              <a:rPr lang="ko-KR" altLang="en-US" dirty="0" err="1"/>
              <a:t>sum</a:t>
            </a:r>
            <a:r>
              <a:rPr lang="ko-KR" altLang="en-US" dirty="0"/>
              <a:t>) │</a:t>
            </a:r>
          </a:p>
          <a:p>
            <a:r>
              <a:rPr lang="ko-KR" altLang="en-US" dirty="0"/>
              <a:t>        └─────────┘</a:t>
            </a: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62537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1378781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42424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21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2542047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52613"/>
            <a:ext cx="5536049" cy="3012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58900"/>
            <a:ext cx="10353762" cy="457517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26</a:t>
            </a:fld>
            <a:endParaRPr lang="en-US" sz="2000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18063"/>
            <a:chOff x="2457450" y="1673618"/>
            <a:chExt cx="7934325" cy="33180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4068351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76247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27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504220" y="615334"/>
            <a:ext cx="10353762" cy="5181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Tensors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879939"/>
            <a:ext cx="10706705" cy="2530136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506700" y="460581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250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7884968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562526" y="5709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057" y="1321566"/>
            <a:ext cx="3932834" cy="5149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14" y="221997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528282" y="1668583"/>
            <a:ext cx="2252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456595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8706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537021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6E815-8EE0-6D4F-49BA-C6278346B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Machine learning diagram">
            <a:extLst>
              <a:ext uri="{FF2B5EF4-FFF2-40B4-BE49-F238E27FC236}">
                <a16:creationId xmlns:a16="http://schemas.microsoft.com/office/drawing/2014/main" id="{31270F37-CD94-038F-97E6-AE82E6BD2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4214" y="2509570"/>
            <a:ext cx="7863572" cy="404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DB45C27-D83E-EE3E-E745-CF19291C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35</a:t>
            </a:fld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2B967-4D3A-6B9F-38C9-F2A6A2228496}"/>
              </a:ext>
            </a:extLst>
          </p:cNvPr>
          <p:cNvSpPr txBox="1"/>
          <p:nvPr/>
        </p:nvSpPr>
        <p:spPr>
          <a:xfrm>
            <a:off x="900982" y="1358354"/>
            <a:ext cx="88145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shape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내적으로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재변환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(Representation of Matrix Form)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/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𝐴𝑘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blipFill>
                <a:blip r:embed="rId3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01B753E0-A9F7-C1CD-878C-99AD89CD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98" y="566397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ko-KR" cap="none" dirty="0"/>
              <a:t>Deep learning </a:t>
            </a:r>
            <a:endParaRPr lang="ko-KR" altLang="en-US" cap="non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/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𝐵𝑧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/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/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50C10B-59E2-9EBB-D19C-0BBDE76D4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90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" grpId="0" animBg="1"/>
      <p:bldP spid="6" grpId="0" animBg="1"/>
      <p:bldP spid="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25" y="1533093"/>
            <a:ext cx="4596800" cy="120923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recall, precision, f1-score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2C86-DA16-D101-F00A-B2C9BD45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1C3CD4D-CFE1-3FF5-FA51-F72D7FE5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text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6E9F8-1A59-5EE7-D461-0839167D5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C4D521-46EF-3D1F-71D0-5ACCE5859CDC}"/>
              </a:ext>
            </a:extLst>
          </p:cNvPr>
          <p:cNvSpPr txBox="1"/>
          <p:nvPr/>
        </p:nvSpPr>
        <p:spPr>
          <a:xfrm>
            <a:off x="521207" y="1533236"/>
            <a:ext cx="1862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B8671C2-8C43-29BF-55CE-D04C955A11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672" y="1687124"/>
            <a:ext cx="6066299" cy="432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186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41D2F-EAB1-4A92-8867-6B4C4AEFA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E49DB6-DAB3-D953-28ED-408E2277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 err="1">
                <a:cs typeface="Segoe UI Light" panose="020B0502040204020203" pitchFamily="34" charset="0"/>
              </a:rPr>
              <a:t>tensorflow</a:t>
            </a:r>
            <a:r>
              <a:rPr lang="en-US" altLang="ko-KR" dirty="0">
                <a:cs typeface="Segoe UI Light" panose="020B0502040204020203" pitchFamily="34" charset="0"/>
              </a:rPr>
              <a:t> playground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4E536-A3F9-1C9F-45A5-4E8F7C614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0B5905-966B-98B8-0663-09744EF741D6}"/>
              </a:ext>
            </a:extLst>
          </p:cNvPr>
          <p:cNvSpPr txBox="1"/>
          <p:nvPr/>
        </p:nvSpPr>
        <p:spPr>
          <a:xfrm>
            <a:off x="521207" y="1533236"/>
            <a:ext cx="23153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in Browser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5DEB5-B8CF-951A-D24C-641B270EF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909" y="2188345"/>
            <a:ext cx="7666182" cy="3847647"/>
          </a:xfrm>
          <a:prstGeom prst="rect">
            <a:avLst/>
          </a:prstGeom>
        </p:spPr>
      </p:pic>
      <p:pic>
        <p:nvPicPr>
          <p:cNvPr id="205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76937F52-9FE7-AD4F-8080-9B9CDF694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82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749</TotalTime>
  <Words>1569</Words>
  <Application>Microsoft Office PowerPoint</Application>
  <PresentationFormat>와이드스크린</PresentationFormat>
  <Paragraphs>272</Paragraphs>
  <Slides>40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51" baseType="lpstr">
      <vt:lpstr>NanumGothicExtraBold</vt:lpstr>
      <vt:lpstr>맑은 고딕</vt:lpstr>
      <vt:lpstr>맑은 고딕 Semilight</vt:lpstr>
      <vt:lpstr>Batang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Contents</vt:lpstr>
      <vt:lpstr>Linear Regression</vt:lpstr>
      <vt:lpstr>Linear Regression as dot product form</vt:lpstr>
      <vt:lpstr>Linear Regression as dot product form</vt:lpstr>
      <vt:lpstr>Linear Regression as dot product form</vt:lpstr>
      <vt:lpstr>Linear Regression as dot product form</vt:lpstr>
      <vt:lpstr>MSE(Mean Squared Error)</vt:lpstr>
      <vt:lpstr>Fitting a line to data</vt:lpstr>
      <vt:lpstr>Matrix Formulation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Regression and Perceptron</vt:lpstr>
      <vt:lpstr>PowerPoint 프레젠테이션</vt:lpstr>
      <vt:lpstr>PowerPoint 프레젠테이션</vt:lpstr>
      <vt:lpstr>Regression and Perceptron</vt:lpstr>
      <vt:lpstr>PowerPoint 프레젠테이션</vt:lpstr>
      <vt:lpstr>Regression and Perceptron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 </vt:lpstr>
      <vt:lpstr>PowerPoint 프레젠테이션</vt:lpstr>
      <vt:lpstr>PowerPoint 프레젠테이션</vt:lpstr>
      <vt:lpstr>PowerPoint 프레젠테이션</vt:lpstr>
      <vt:lpstr>Neural Networks – text recognition</vt:lpstr>
      <vt:lpstr>Neural Networks – tensorflow playground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19</cp:revision>
  <dcterms:created xsi:type="dcterms:W3CDTF">2026-04-06T01:00:39Z</dcterms:created>
  <dcterms:modified xsi:type="dcterms:W3CDTF">2026-04-11T10:24:58Z</dcterms:modified>
  <cp:version/>
</cp:coreProperties>
</file>