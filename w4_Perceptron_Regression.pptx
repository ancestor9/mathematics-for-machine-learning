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355" r:id="rId3"/>
    <p:sldId id="847" r:id="rId4"/>
    <p:sldId id="328" r:id="rId5"/>
    <p:sldId id="333" r:id="rId6"/>
    <p:sldId id="332" r:id="rId7"/>
    <p:sldId id="334" r:id="rId8"/>
    <p:sldId id="870" r:id="rId9"/>
    <p:sldId id="335" r:id="rId10"/>
    <p:sldId id="938" r:id="rId11"/>
    <p:sldId id="871" r:id="rId12"/>
    <p:sldId id="848" r:id="rId13"/>
    <p:sldId id="874" r:id="rId14"/>
    <p:sldId id="872" r:id="rId15"/>
    <p:sldId id="931" r:id="rId16"/>
    <p:sldId id="936" r:id="rId17"/>
    <p:sldId id="873" r:id="rId18"/>
    <p:sldId id="907" r:id="rId19"/>
    <p:sldId id="932" r:id="rId20"/>
    <p:sldId id="939" r:id="rId21"/>
    <p:sldId id="908" r:id="rId22"/>
    <p:sldId id="930" r:id="rId23"/>
    <p:sldId id="928" r:id="rId24"/>
    <p:sldId id="851" r:id="rId25"/>
    <p:sldId id="852" r:id="rId26"/>
    <p:sldId id="929" r:id="rId27"/>
    <p:sldId id="846" r:id="rId28"/>
    <p:sldId id="927" r:id="rId29"/>
    <p:sldId id="937" r:id="rId30"/>
    <p:sldId id="876" r:id="rId31"/>
    <p:sldId id="879" r:id="rId32"/>
    <p:sldId id="881" r:id="rId33"/>
    <p:sldId id="880" r:id="rId34"/>
    <p:sldId id="883" r:id="rId35"/>
    <p:sldId id="882" r:id="rId36"/>
    <p:sldId id="884" r:id="rId37"/>
    <p:sldId id="919" r:id="rId38"/>
    <p:sldId id="886" r:id="rId39"/>
    <p:sldId id="887" r:id="rId40"/>
    <p:sldId id="885" r:id="rId41"/>
    <p:sldId id="285" r:id="rId42"/>
    <p:sldId id="284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847"/>
            <p14:sldId id="328"/>
            <p14:sldId id="333"/>
            <p14:sldId id="332"/>
            <p14:sldId id="334"/>
            <p14:sldId id="870"/>
            <p14:sldId id="335"/>
            <p14:sldId id="938"/>
            <p14:sldId id="871"/>
            <p14:sldId id="848"/>
            <p14:sldId id="874"/>
            <p14:sldId id="872"/>
            <p14:sldId id="931"/>
            <p14:sldId id="936"/>
            <p14:sldId id="873"/>
            <p14:sldId id="907"/>
            <p14:sldId id="932"/>
            <p14:sldId id="939"/>
            <p14:sldId id="908"/>
            <p14:sldId id="930"/>
            <p14:sldId id="928"/>
            <p14:sldId id="851"/>
            <p14:sldId id="852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3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DE266-A0D1-4B71-540C-F87DD8B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79B2F4-CE6F-322B-5487-BCB8A7379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DB4601-5EAC-E633-E937-9A1B4080A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F55D-D6D1-B7D3-B42A-88E56AE58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74114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7C0FF-698A-00FC-DDC7-5DAD3E56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B6317B-264D-9D45-0EEB-171620902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B5C3D9-7691-90C7-D04B-52316129C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0163D-CCB5-0B9D-45AA-C75A5B3F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9355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B88E-7E48-289C-30D7-91E60B6F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02D41-AE5C-E64B-B578-1DA305321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41B04E-6251-AD17-3F6C-FE70BA707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300F5-AC40-C66E-C713-8EB770933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7526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8FEC-6D07-E235-DFC1-F80EAAD19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83C0FE-EC7E-7097-53CB-213B7A354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962DF-ADEE-FEEC-1198-477D79023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D4FC87-B1C5-22A6-5343-E307499FB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827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3.png"/><Relationship Id="rId5" Type="http://schemas.openxmlformats.org/officeDocument/2006/relationships/image" Target="../media/image4.png"/><Relationship Id="rId10" Type="http://schemas.openxmlformats.org/officeDocument/2006/relationships/image" Target="../media/image12.png"/><Relationship Id="rId4" Type="http://schemas.openxmlformats.org/officeDocument/2006/relationships/image" Target="../media/image7.jpe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8.png"/><Relationship Id="rId3" Type="http://schemas.openxmlformats.org/officeDocument/2006/relationships/image" Target="../media/image7.jpeg"/><Relationship Id="rId7" Type="http://schemas.openxmlformats.org/officeDocument/2006/relationships/image" Target="../media/image16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9.png"/><Relationship Id="rId5" Type="http://schemas.openxmlformats.org/officeDocument/2006/relationships/image" Target="../media/image14.png"/><Relationship Id="rId10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7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5.png"/><Relationship Id="rId7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0.png"/><Relationship Id="rId5" Type="http://schemas.microsoft.com/office/2007/relationships/hdphoto" Target="../media/hdphoto1.wdp"/><Relationship Id="rId4" Type="http://schemas.openxmlformats.org/officeDocument/2006/relationships/image" Target="../media/image26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gif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4.png"/><Relationship Id="rId5" Type="http://schemas.openxmlformats.org/officeDocument/2006/relationships/image" Target="../media/image39.jpeg"/><Relationship Id="rId4" Type="http://schemas.openxmlformats.org/officeDocument/2006/relationships/image" Target="../media/image5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Relationship Id="rId4" Type="http://schemas.microsoft.com/office/2007/relationships/hdphoto" Target="../media/hdphoto3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6.png"/><Relationship Id="rId4" Type="http://schemas.openxmlformats.org/officeDocument/2006/relationships/image" Target="../media/image6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6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69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39.jpe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microsoft.com/office/2007/relationships/hdphoto" Target="../media/hdphoto4.wdp"/><Relationship Id="rId7" Type="http://schemas.microsoft.com/office/2007/relationships/hdphoto" Target="../media/hdphoto6.wdp"/><Relationship Id="rId12" Type="http://schemas.openxmlformats.org/officeDocument/2006/relationships/image" Target="../media/image8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1.png"/><Relationship Id="rId11" Type="http://schemas.microsoft.com/office/2007/relationships/hdphoto" Target="../media/hdphoto8.wdp"/><Relationship Id="rId5" Type="http://schemas.microsoft.com/office/2007/relationships/hdphoto" Target="../media/hdphoto5.wdp"/><Relationship Id="rId10" Type="http://schemas.openxmlformats.org/officeDocument/2006/relationships/image" Target="../media/image88.png"/><Relationship Id="rId4" Type="http://schemas.openxmlformats.org/officeDocument/2006/relationships/image" Target="../media/image77.png"/><Relationship Id="rId9" Type="http://schemas.microsoft.com/office/2007/relationships/hdphoto" Target="../media/hdphoto7.wdp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D531-9861-DC11-13C8-402FADE0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56C91DE-18A1-B898-12F7-3C530CFD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2336735-1E3E-3496-5FE8-5581A7323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7775A8D-3762-E25F-3473-AB40BDD18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124" y="2872233"/>
            <a:ext cx="1761872" cy="17432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4F422DD-B2F0-8C99-6185-6DEB3BEA0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877" y="2906765"/>
            <a:ext cx="1304183" cy="167416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ADD4715-E2CB-D944-BC5E-351C73264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4110" y="2888406"/>
            <a:ext cx="1207123" cy="17108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093461E-2E00-52B3-61E2-BC6F6AA15084}"/>
              </a:ext>
            </a:extLst>
          </p:cNvPr>
          <p:cNvSpPr txBox="1"/>
          <p:nvPr/>
        </p:nvSpPr>
        <p:spPr>
          <a:xfrm>
            <a:off x="6118002" y="2906765"/>
            <a:ext cx="5921598" cy="29993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랜덤 데이터 생성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np.random.seed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(42)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재현을 위해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고정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np.random.uniform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10, 100) # 0~10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사이의 난수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관계식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y = 3x + 5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여기에 노이즈 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정규분포 노이즈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noise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np.random.normal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(0, 2, 100)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3 * x + 5 + noise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154F4078-D4B4-44FA-0A92-D15D7F7E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B94F69-17BC-7EE0-39C5-3DA92FF72EE2}"/>
                  </a:ext>
                </a:extLst>
              </p:cNvPr>
              <p:cNvSpPr txBox="1"/>
              <p:nvPr/>
            </p:nvSpPr>
            <p:spPr>
              <a:xfrm>
                <a:off x="521206" y="1324916"/>
                <a:ext cx="11127319" cy="8697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선형결합과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Error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이루어진 가상 데이터를 생성하여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numpy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사용하여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회귀분석식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계수를 구하라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B94F69-17BC-7EE0-39C5-3DA92FF72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324916"/>
                <a:ext cx="11127319" cy="869790"/>
              </a:xfrm>
              <a:prstGeom prst="rect">
                <a:avLst/>
              </a:prstGeom>
              <a:blipFill>
                <a:blip r:embed="rId7"/>
                <a:stretch>
                  <a:fillRect l="-438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래픽 2" descr="추가">
            <a:extLst>
              <a:ext uri="{FF2B5EF4-FFF2-40B4-BE49-F238E27FC236}">
                <a16:creationId xmlns:a16="http://schemas.microsoft.com/office/drawing/2014/main" id="{6B812D5D-EEF2-FAF0-B77C-DF1C0B8F7C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70680" y="3553839"/>
            <a:ext cx="346086" cy="346086"/>
          </a:xfrm>
          <a:prstGeom prst="rect">
            <a:avLst/>
          </a:prstGeom>
        </p:spPr>
      </p:pic>
      <p:sp>
        <p:nvSpPr>
          <p:cNvPr id="5" name="같음 기호 4">
            <a:extLst>
              <a:ext uri="{FF2B5EF4-FFF2-40B4-BE49-F238E27FC236}">
                <a16:creationId xmlns:a16="http://schemas.microsoft.com/office/drawing/2014/main" id="{48578BC6-55FA-1264-F6B2-EC9EA18841C1}"/>
              </a:ext>
            </a:extLst>
          </p:cNvPr>
          <p:cNvSpPr/>
          <p:nvPr/>
        </p:nvSpPr>
        <p:spPr>
          <a:xfrm>
            <a:off x="1781104" y="3621927"/>
            <a:ext cx="375869" cy="176591"/>
          </a:xfrm>
          <a:prstGeom prst="mathEqual">
            <a:avLst>
              <a:gd name="adj1" fmla="val 12582"/>
              <a:gd name="adj2" fmla="val 3253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9693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BC28-B060-3C52-383A-9DE21196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9B41543-DC63-5E34-0B3B-D762A2FAE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251167"/>
            <a:ext cx="5543550" cy="4250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D2B2716-1FE3-3EF6-B984-BF6C72A0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4913F4A-EF69-799E-62CF-68618D05F3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D755DAA4-72C6-B88A-072A-2C17DA737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9F55B951-104E-336D-C30D-45AF9E71E7B5}"/>
              </a:ext>
            </a:extLst>
          </p:cNvPr>
          <p:cNvGrpSpPr/>
          <p:nvPr/>
        </p:nvGrpSpPr>
        <p:grpSpPr>
          <a:xfrm>
            <a:off x="6488811" y="2319140"/>
            <a:ext cx="5225140" cy="1387726"/>
            <a:chOff x="6488811" y="1766690"/>
            <a:chExt cx="5225140" cy="1387726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38011E3-B515-2CCE-363E-5147FC5085BD}"/>
                </a:ext>
              </a:extLst>
            </p:cNvPr>
            <p:cNvGrpSpPr/>
            <p:nvPr/>
          </p:nvGrpSpPr>
          <p:grpSpPr>
            <a:xfrm>
              <a:off x="6488811" y="1766690"/>
              <a:ext cx="5225140" cy="1387726"/>
              <a:chOff x="6488811" y="1766690"/>
              <a:chExt cx="5225140" cy="1387726"/>
            </a:xfrm>
          </p:grpSpPr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517EC781-6124-1D77-0C72-998610A1A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61171" y="1766690"/>
                <a:ext cx="1402567" cy="1387726"/>
              </a:xfrm>
              <a:prstGeom prst="rect">
                <a:avLst/>
              </a:prstGeom>
            </p:spPr>
          </p:pic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88F0FCAC-8148-3C00-7310-5338EC3A6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88811" y="1766690"/>
                <a:ext cx="1038214" cy="1332743"/>
              </a:xfrm>
              <a:prstGeom prst="rect">
                <a:avLst/>
              </a:prstGeom>
            </p:spPr>
          </p:pic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6D9582FD-87A6-B33A-8EC4-06463F7C51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753002" y="1766691"/>
                <a:ext cx="960949" cy="1361974"/>
              </a:xfrm>
              <a:prstGeom prst="rect">
                <a:avLst/>
              </a:prstGeom>
            </p:spPr>
          </p:pic>
        </p:grpSp>
        <p:pic>
          <p:nvPicPr>
            <p:cNvPr id="9" name="그래픽 8" descr="추가">
              <a:extLst>
                <a:ext uri="{FF2B5EF4-FFF2-40B4-BE49-F238E27FC236}">
                  <a16:creationId xmlns:a16="http://schemas.microsoft.com/office/drawing/2014/main" id="{FE4E8BD3-23DB-F844-55B4-602CBC4FC6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126050" y="2247133"/>
              <a:ext cx="380017" cy="380017"/>
            </a:xfrm>
            <a:prstGeom prst="rect">
              <a:avLst/>
            </a:prstGeom>
          </p:spPr>
        </p:pic>
        <p:sp>
          <p:nvSpPr>
            <p:cNvPr id="11" name="같음 기호 10">
              <a:extLst>
                <a:ext uri="{FF2B5EF4-FFF2-40B4-BE49-F238E27FC236}">
                  <a16:creationId xmlns:a16="http://schemas.microsoft.com/office/drawing/2014/main" id="{9BD147E2-E058-4C5C-2EFB-44EA55B32B56}"/>
                </a:ext>
              </a:extLst>
            </p:cNvPr>
            <p:cNvSpPr/>
            <p:nvPr/>
          </p:nvSpPr>
          <p:spPr>
            <a:xfrm>
              <a:off x="7762875" y="2305050"/>
              <a:ext cx="412720" cy="243840"/>
            </a:xfrm>
            <a:prstGeom prst="mathEqual">
              <a:avLst>
                <a:gd name="adj1" fmla="val 12582"/>
                <a:gd name="adj2" fmla="val 32536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5470A2D-8B93-1AD9-28F7-946111333D5C}"/>
                  </a:ext>
                </a:extLst>
              </p:cNvPr>
              <p:cNvSpPr txBox="1"/>
              <p:nvPr/>
            </p:nvSpPr>
            <p:spPr>
              <a:xfrm>
                <a:off x="521207" y="1450999"/>
                <a:ext cx="94895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선형결합 형태로 이루어졌다고 가정하여 행렬식을 구성한다</a:t>
                </a:r>
                <a:r>
                  <a:rPr lang="en-US" altLang="ko-KR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5470A2D-8B93-1AD9-28F7-946111333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7" y="1450999"/>
                <a:ext cx="9489568" cy="369332"/>
              </a:xfrm>
              <a:prstGeom prst="rect">
                <a:avLst/>
              </a:prstGeom>
              <a:blipFill>
                <a:blip r:embed="rId10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림 19">
            <a:extLst>
              <a:ext uri="{FF2B5EF4-FFF2-40B4-BE49-F238E27FC236}">
                <a16:creationId xmlns:a16="http://schemas.microsoft.com/office/drawing/2014/main" id="{471266D2-F197-012A-212A-7BB8412600A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88810" y="3681115"/>
            <a:ext cx="2012973" cy="2820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853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4D2FF-CCFF-2D3F-6455-109BDCC6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4439B9E-951D-D2A9-8CCA-E0BCD46F9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9CD7A52-9D3D-AC10-D9C9-479BF1E0EE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919B585-4FCF-74D2-B13A-5DCC3B1EA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0956E4AF-BB7E-B55C-8050-02CF49309B5E}"/>
              </a:ext>
            </a:extLst>
          </p:cNvPr>
          <p:cNvGrpSpPr/>
          <p:nvPr/>
        </p:nvGrpSpPr>
        <p:grpSpPr>
          <a:xfrm>
            <a:off x="6593586" y="4008125"/>
            <a:ext cx="3454269" cy="1428684"/>
            <a:chOff x="6488811" y="3941141"/>
            <a:chExt cx="3454269" cy="142868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75512D5-ACFD-B282-9136-6B61B0A9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88811" y="4017264"/>
              <a:ext cx="1038214" cy="1332743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8C045F8-51A2-5143-9B44-8960D53E2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98336" y="4407954"/>
              <a:ext cx="274595" cy="39574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3ECD106F-1C33-054A-E0E4-871016A57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38817" y="3988773"/>
              <a:ext cx="557267" cy="1381052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C32C9381-6C7F-8EED-FF0F-80FEF2CE0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00501" y="3941141"/>
              <a:ext cx="1542579" cy="1421434"/>
            </a:xfrm>
            <a:prstGeom prst="rect">
              <a:avLst/>
            </a:prstGeom>
          </p:spPr>
        </p:pic>
      </p:grpSp>
      <p:pic>
        <p:nvPicPr>
          <p:cNvPr id="21506" name="Picture 2">
            <a:extLst>
              <a:ext uri="{FF2B5EF4-FFF2-40B4-BE49-F238E27FC236}">
                <a16:creationId xmlns:a16="http://schemas.microsoft.com/office/drawing/2014/main" id="{1AC7E6FE-79AD-02BE-3EC1-50BB02E3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2151811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7F90FF9-A7B6-3E3A-F6A2-2735D1C847CD}"/>
              </a:ext>
            </a:extLst>
          </p:cNvPr>
          <p:cNvSpPr/>
          <p:nvPr/>
        </p:nvSpPr>
        <p:spPr>
          <a:xfrm>
            <a:off x="6460236" y="3924300"/>
            <a:ext cx="3855843" cy="1638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3964133-9091-9FFC-8C84-1A406F5B7F7A}"/>
              </a:ext>
            </a:extLst>
          </p:cNvPr>
          <p:cNvGrpSpPr/>
          <p:nvPr/>
        </p:nvGrpSpPr>
        <p:grpSpPr>
          <a:xfrm>
            <a:off x="6488811" y="2176265"/>
            <a:ext cx="5225140" cy="1387726"/>
            <a:chOff x="6488811" y="1766690"/>
            <a:chExt cx="5225140" cy="1387726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E891B776-788F-983C-3372-3C1FFE26C810}"/>
                </a:ext>
              </a:extLst>
            </p:cNvPr>
            <p:cNvGrpSpPr/>
            <p:nvPr/>
          </p:nvGrpSpPr>
          <p:grpSpPr>
            <a:xfrm>
              <a:off x="6488811" y="1766690"/>
              <a:ext cx="5225140" cy="1387726"/>
              <a:chOff x="6488811" y="1766690"/>
              <a:chExt cx="5225140" cy="1387726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3AC2FBC8-0659-E600-0F6A-6615329BB2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461171" y="1766690"/>
                <a:ext cx="1402567" cy="1387726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2107E47C-A069-F155-14B8-C2EB6D2DBF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88811" y="1766690"/>
                <a:ext cx="1038214" cy="1332743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09370505-6899-00F3-2FD3-4E507FFDCF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753002" y="1766691"/>
                <a:ext cx="960949" cy="1361974"/>
              </a:xfrm>
              <a:prstGeom prst="rect">
                <a:avLst/>
              </a:prstGeom>
            </p:spPr>
          </p:pic>
        </p:grpSp>
        <p:pic>
          <p:nvPicPr>
            <p:cNvPr id="6" name="그래픽 5" descr="추가">
              <a:extLst>
                <a:ext uri="{FF2B5EF4-FFF2-40B4-BE49-F238E27FC236}">
                  <a16:creationId xmlns:a16="http://schemas.microsoft.com/office/drawing/2014/main" id="{B054A926-1F30-F2AD-F13A-E24922C857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126050" y="2247133"/>
              <a:ext cx="380017" cy="380017"/>
            </a:xfrm>
            <a:prstGeom prst="rect">
              <a:avLst/>
            </a:prstGeom>
          </p:spPr>
        </p:pic>
        <p:sp>
          <p:nvSpPr>
            <p:cNvPr id="9" name="같음 기호 8">
              <a:extLst>
                <a:ext uri="{FF2B5EF4-FFF2-40B4-BE49-F238E27FC236}">
                  <a16:creationId xmlns:a16="http://schemas.microsoft.com/office/drawing/2014/main" id="{B64A20E0-5E75-798A-A032-F1E1B5DC5B67}"/>
                </a:ext>
              </a:extLst>
            </p:cNvPr>
            <p:cNvSpPr/>
            <p:nvPr/>
          </p:nvSpPr>
          <p:spPr>
            <a:xfrm>
              <a:off x="7762875" y="2305050"/>
              <a:ext cx="412720" cy="243840"/>
            </a:xfrm>
            <a:prstGeom prst="mathEqual">
              <a:avLst>
                <a:gd name="adj1" fmla="val 12582"/>
                <a:gd name="adj2" fmla="val 32536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1" name="같음 기호 10">
            <a:extLst>
              <a:ext uri="{FF2B5EF4-FFF2-40B4-BE49-F238E27FC236}">
                <a16:creationId xmlns:a16="http://schemas.microsoft.com/office/drawing/2014/main" id="{F66A715A-D90F-6CCE-EE71-125F6D9BF5B6}"/>
              </a:ext>
            </a:extLst>
          </p:cNvPr>
          <p:cNvSpPr/>
          <p:nvPr/>
        </p:nvSpPr>
        <p:spPr>
          <a:xfrm>
            <a:off x="7762875" y="4627469"/>
            <a:ext cx="412720" cy="243840"/>
          </a:xfrm>
          <a:prstGeom prst="mathEqual">
            <a:avLst>
              <a:gd name="adj1" fmla="val 12582"/>
              <a:gd name="adj2" fmla="val 3253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9E4ECA-50FB-6AE8-E340-8D9D8F262459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76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선형결합형태로 이루어졌다고 가정하여 행렬식을 만들고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i="1" dirty="0" err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 dirty="0" err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선형연립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방정식을 만들기 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9E4ECA-50FB-6AE8-E340-8D9D8F262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76770"/>
              </a:xfrm>
              <a:prstGeom prst="rect">
                <a:avLst/>
              </a:prstGeom>
              <a:blipFill>
                <a:blip r:embed="rId13"/>
                <a:stretch>
                  <a:fillRect t="-6452" b="-241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187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5F34-A5D9-A442-CB25-B4CD890A0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98C921F-6D99-8227-CFFE-07588A1A6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AA01EA-D981-EF53-40F1-725F8DDA3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A5EAC5E7-4A64-3617-26EF-F78F129BB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6" name="Picture 2">
            <a:extLst>
              <a:ext uri="{FF2B5EF4-FFF2-40B4-BE49-F238E27FC236}">
                <a16:creationId xmlns:a16="http://schemas.microsoft.com/office/drawing/2014/main" id="{911CA780-919C-4357-9D03-8C479776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218038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D610E4B-6C3B-DD0F-4AB8-AB2E64EBD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84" y="2495507"/>
            <a:ext cx="2449526" cy="48535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D234C4B-1840-E743-5623-7D3CB3C5D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584" y="3481018"/>
            <a:ext cx="4686711" cy="16077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F204F99-EAA6-8131-BB09-5553485C5E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2842" y="5384344"/>
            <a:ext cx="1708943" cy="7926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E3CC373-5A0E-D55F-CA1B-3518B65B0E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785" y="5407001"/>
            <a:ext cx="1085111" cy="7402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B0F49E-C747-980E-D3D9-F9E6511EF968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B0F49E-C747-980E-D3D9-F9E6511EF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9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462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420" y="31053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MSE(Mean Squared Error)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7626" y="1619776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624762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701290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860037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1255430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1255430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372350" y="4106543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7467792" y="5462958"/>
            <a:ext cx="4619433" cy="1001698"/>
            <a:chOff x="8650278" y="5116220"/>
            <a:chExt cx="4619433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3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0E2E1CB-8BD0-9CBA-C134-C3EA19017FC6}"/>
                    </a:ext>
                  </a:extLst>
                </p:cNvPr>
                <p:cNvSpPr txBox="1"/>
                <p:nvPr/>
              </p:nvSpPr>
              <p:spPr>
                <a:xfrm>
                  <a:off x="8650278" y="5116220"/>
                  <a:ext cx="4619433" cy="35394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ko-KR" altLang="en-US" sz="170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𝜖</m:t>
                      </m:r>
                    </m:oMath>
                  </a14:m>
                  <a:r>
                    <a:rPr lang="ko-KR" altLang="en-US" sz="17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벡터의 </a:t>
                  </a:r>
                  <a:r>
                    <a:rPr lang="en-US" altLang="ko-KR" sz="17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Norm</a:t>
                  </a:r>
                  <a:r>
                    <a:rPr lang="ko-KR" altLang="en-US" sz="17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의 제곱 </a:t>
                  </a:r>
                  <a:r>
                    <a:rPr lang="en-US" altLang="ko-KR" sz="17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: 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분산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, 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내적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, L2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거리</a:t>
                  </a:r>
                  <a:endPara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endParaRPr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0E2E1CB-8BD0-9CBA-C134-C3EA19017F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0278" y="5116220"/>
                  <a:ext cx="4619433" cy="353943"/>
                </a:xfrm>
                <a:prstGeom prst="rect">
                  <a:avLst/>
                </a:prstGeom>
                <a:blipFill>
                  <a:blip r:embed="rId9"/>
                  <a:stretch>
                    <a:fillRect t="-5172" b="-224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AAD9710-D665-4AB7-AAC7-B42291B09D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303" y="3993215"/>
            <a:ext cx="4244708" cy="72396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CBAD8D0-6361-BF24-D5E1-21A8E9BE0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263" y="2732785"/>
            <a:ext cx="3696020" cy="48010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F036219-1FCE-6D21-B20F-FF44D4B8FB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270" y="2732785"/>
            <a:ext cx="5746033" cy="325775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C2C9A567-5A6E-3EF4-3586-C18A141C28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03" y="3267742"/>
            <a:ext cx="5570703" cy="6706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그림 32">
            <a:extLst>
              <a:ext uri="{FF2B5EF4-FFF2-40B4-BE49-F238E27FC236}">
                <a16:creationId xmlns:a16="http://schemas.microsoft.com/office/drawing/2014/main" id="{114A7820-73E5-7EBA-DFAA-C527A884B4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9303" y="4772034"/>
            <a:ext cx="5105842" cy="12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537021" y="610541"/>
            <a:ext cx="10353762" cy="5515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0" y="1747802"/>
            <a:ext cx="5467352" cy="317979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3099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308" y="1590674"/>
            <a:ext cx="10034891" cy="4617037"/>
          </a:xfrm>
        </p:spPr>
        <p:txBody>
          <a:bodyPr>
            <a:noAutofit/>
          </a:bodyPr>
          <a:lstStyle/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 수치형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E64A05-EC9A-7A18-276B-BAE1ACCE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248422"/>
            <a:ext cx="3599209" cy="53329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54E6098-1902-C2B9-D42B-B9F5D7D5B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197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3A0907-AE0A-B055-AB47-80AD86670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62537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9A151-7373-CD39-9538-1D8CF01BD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DA3A58-9B6C-C122-F65E-F4C87A6A2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내용 개체 틀 2">
                <a:extLst>
                  <a:ext uri="{FF2B5EF4-FFF2-40B4-BE49-F238E27FC236}">
                    <a16:creationId xmlns:a16="http://schemas.microsoft.com/office/drawing/2014/main" id="{C987CD9F-DDA2-E059-B7FD-CEDE34F0F3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047" y="1349373"/>
                <a:ext cx="11245678" cy="1990725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입력변수가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개인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XOR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문제를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단층구조 네트워크로 만들고 엑셀로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parameter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 propagation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구하라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514350" lvl="1" indent="-285750"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회귀분석 모델의 최적화 과정과 동일한 알고리즘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예측 값의 차이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1600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sz="1600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sz="16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2" name="내용 개체 틀 2">
                <a:extLst>
                  <a:ext uri="{FF2B5EF4-FFF2-40B4-BE49-F238E27FC236}">
                    <a16:creationId xmlns:a16="http://schemas.microsoft.com/office/drawing/2014/main" id="{C987CD9F-DDA2-E059-B7FD-CEDE34F0F3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047" y="1349373"/>
                <a:ext cx="11245678" cy="1990725"/>
              </a:xfrm>
              <a:blipFill>
                <a:blip r:embed="rId2"/>
                <a:stretch>
                  <a:fillRect l="-379" t="-1529" r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제목 1">
            <a:extLst>
              <a:ext uri="{FF2B5EF4-FFF2-40B4-BE49-F238E27FC236}">
                <a16:creationId xmlns:a16="http://schemas.microsoft.com/office/drawing/2014/main" id="{E635AD1D-E5B1-9BEC-AE88-F51A144158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0A9C883-3E2B-C8E8-B453-F0D11ADDAB96}"/>
              </a:ext>
            </a:extLst>
          </p:cNvPr>
          <p:cNvGrpSpPr/>
          <p:nvPr/>
        </p:nvGrpSpPr>
        <p:grpSpPr>
          <a:xfrm>
            <a:off x="1449579" y="3313828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DDC744F-2E30-CC4C-1850-61EAD6366A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620CE9F-ECAC-8FB5-7FDC-CA819B737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C865416-24DB-97B1-FEBE-E254A6F0D7FF}"/>
              </a:ext>
            </a:extLst>
          </p:cNvPr>
          <p:cNvSpPr txBox="1"/>
          <p:nvPr/>
        </p:nvSpPr>
        <p:spPr>
          <a:xfrm>
            <a:off x="5423677" y="3340099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221B50A-AF02-6A2D-14CA-B23A30635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599" y="66676"/>
            <a:ext cx="1885951" cy="124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B6474F-AEA9-3CBE-E181-AE95CE6D6B2E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72408" y="2848227"/>
            <a:ext cx="1610979" cy="46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1731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23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28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37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843</TotalTime>
  <Words>1786</Words>
  <Application>Microsoft Office PowerPoint</Application>
  <PresentationFormat>와이드스크린</PresentationFormat>
  <Paragraphs>285</Paragraphs>
  <Slides>42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3" baseType="lpstr">
      <vt:lpstr>NanumGothicExtraBold</vt:lpstr>
      <vt:lpstr>맑은 고딕</vt:lpstr>
      <vt:lpstr>맑은 고딕 Semilight</vt:lpstr>
      <vt:lpstr>바탕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Contents</vt:lpstr>
      <vt:lpstr>Linear Regression</vt:lpstr>
      <vt:lpstr>Linear Regression as dot product form</vt:lpstr>
      <vt:lpstr>Linear Regression as dot product form</vt:lpstr>
      <vt:lpstr>Linear Regression as dot product form</vt:lpstr>
      <vt:lpstr>Linear Regression as dot product form</vt:lpstr>
      <vt:lpstr>MSE(Mean Squared Error)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23</cp:revision>
  <dcterms:created xsi:type="dcterms:W3CDTF">2026-04-06T01:00:39Z</dcterms:created>
  <dcterms:modified xsi:type="dcterms:W3CDTF">2026-04-16T12:57:57Z</dcterms:modified>
  <cp:version/>
</cp:coreProperties>
</file>