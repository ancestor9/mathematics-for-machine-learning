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256" r:id="rId2"/>
    <p:sldId id="355" r:id="rId3"/>
    <p:sldId id="847" r:id="rId4"/>
    <p:sldId id="328" r:id="rId5"/>
    <p:sldId id="333" r:id="rId6"/>
    <p:sldId id="332" r:id="rId7"/>
    <p:sldId id="334" r:id="rId8"/>
    <p:sldId id="870" r:id="rId9"/>
    <p:sldId id="335" r:id="rId10"/>
    <p:sldId id="871" r:id="rId11"/>
    <p:sldId id="848" r:id="rId12"/>
    <p:sldId id="874" r:id="rId13"/>
    <p:sldId id="872" r:id="rId14"/>
    <p:sldId id="931" r:id="rId15"/>
    <p:sldId id="936" r:id="rId16"/>
    <p:sldId id="873" r:id="rId17"/>
    <p:sldId id="907" r:id="rId18"/>
    <p:sldId id="932" r:id="rId19"/>
    <p:sldId id="908" r:id="rId20"/>
    <p:sldId id="930" r:id="rId21"/>
    <p:sldId id="928" r:id="rId22"/>
    <p:sldId id="851" r:id="rId23"/>
    <p:sldId id="852" r:id="rId24"/>
    <p:sldId id="929" r:id="rId25"/>
    <p:sldId id="846" r:id="rId26"/>
    <p:sldId id="927" r:id="rId27"/>
    <p:sldId id="937" r:id="rId28"/>
    <p:sldId id="876" r:id="rId29"/>
    <p:sldId id="879" r:id="rId30"/>
    <p:sldId id="881" r:id="rId31"/>
    <p:sldId id="880" r:id="rId32"/>
    <p:sldId id="883" r:id="rId33"/>
    <p:sldId id="882" r:id="rId34"/>
    <p:sldId id="884" r:id="rId35"/>
    <p:sldId id="886" r:id="rId36"/>
    <p:sldId id="887" r:id="rId37"/>
    <p:sldId id="885" r:id="rId38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355"/>
            <p14:sldId id="847"/>
            <p14:sldId id="328"/>
            <p14:sldId id="333"/>
            <p14:sldId id="332"/>
            <p14:sldId id="334"/>
            <p14:sldId id="870"/>
            <p14:sldId id="335"/>
            <p14:sldId id="871"/>
            <p14:sldId id="848"/>
            <p14:sldId id="874"/>
            <p14:sldId id="872"/>
            <p14:sldId id="931"/>
            <p14:sldId id="936"/>
            <p14:sldId id="873"/>
            <p14:sldId id="907"/>
            <p14:sldId id="932"/>
            <p14:sldId id="908"/>
            <p14:sldId id="930"/>
            <p14:sldId id="928"/>
            <p14:sldId id="851"/>
            <p14:sldId id="852"/>
            <p14:sldId id="929"/>
            <p14:sldId id="846"/>
            <p14:sldId id="927"/>
            <p14:sldId id="937"/>
            <p14:sldId id="876"/>
            <p14:sldId id="879"/>
            <p14:sldId id="881"/>
            <p14:sldId id="880"/>
            <p14:sldId id="883"/>
            <p14:sldId id="882"/>
            <p14:sldId id="884"/>
            <p14:sldId id="886"/>
            <p14:sldId id="887"/>
            <p14:sldId id="885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D24726"/>
    <a:srgbClr val="404040"/>
    <a:srgbClr val="FF9B45"/>
    <a:srgbClr val="DD462F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75" d="100"/>
        <a:sy n="75" d="100"/>
      </p:scale>
      <p:origin x="0" y="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handoutMaster" Target="handoutMasters/handoutMaster1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2026-04-11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2026-04-11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91026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4DE266-A0D1-4B71-540C-F87DD8BAB9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E79B2F4-CE6F-322B-5487-BCB8A7379A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ADB4601-5EAC-E633-E937-9A1B4080A1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0EDF55D-D6D1-B7D3-B42A-88E56AE58C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374114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07C0FF-698A-00FC-DDC7-5DAD3E563F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EB6317B-264D-9D45-0EEB-1716209020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5B5C3D9-7691-90C7-D04B-52316129C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10163D-CCB5-0B9D-45AA-C75A5B3F88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4935588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61B88E-7E48-289C-30D7-91E60B6F26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4B02D41-AE5C-E64B-B578-1DA3053217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541B04E-6251-AD17-3F6C-FE70BA707D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D2300F5-AC40-C66E-C713-8EB770933F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8752678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598FEC-6D07-E235-DFC1-F80EAAD19D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383C0FE-EC7E-7097-53CB-213B7A354E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B4962DF-ADEE-FEEC-1198-477D79023C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5D4FC87-B1C5-22A6-5343-E307499FB3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8882779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48AC44-DA24-83DE-416D-180E051BF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72C3AAD-4A1D-3766-29DC-6F335154CA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B404C09-64C0-94E9-00AC-FD995ED053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EF59243-E4FD-E55D-D5B9-4263ACB881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2267596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A4481-FB67-9A46-3E1F-DE4BFFE5B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4EBA0A7-F971-AA60-A7A0-E8C0B4CC6F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4ABA929-AC8F-F2B7-E1A3-F8E65AE412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2BD69C-3A7C-39EA-A02F-8CA92D1F93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6002538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E22509-A687-85EC-3956-9A0A7F7106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479EDB7-56A6-39E2-AD6D-AEE8C09A51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20B3BD2-007D-29AD-630B-B58C7F7740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3F7988-991C-6E3E-0AAD-4AC2004AB9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1694962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3C81C2-20FB-1249-CB30-821F4CB8A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FBA4B1E-E754-15CE-6616-24844628F0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21F0D68-E04D-EBD2-D009-1978D436E6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C1DCAF-B719-AADD-E51F-DCDF8DDCD3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551999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2026-04-11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4/11/2026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59800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2026-04-11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  <p:sldLayoutId id="2147483666" r:id="rId5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analytics17.blogspot.com/2017/08/2-1.html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20.png"/><Relationship Id="rId4" Type="http://schemas.openxmlformats.org/officeDocument/2006/relationships/hyperlink" Target="https://mlu-explain.github.io/linear-regression/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jpe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7.jpe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7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openxmlformats.org/officeDocument/2006/relationships/image" Target="../media/image12.png"/><Relationship Id="rId4" Type="http://schemas.openxmlformats.org/officeDocument/2006/relationships/image" Target="../media/image4.png"/><Relationship Id="rId9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7.jpe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8.png"/><Relationship Id="rId7" Type="http://schemas.openxmlformats.org/officeDocument/2006/relationships/image" Target="../media/image21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0.png"/><Relationship Id="rId5" Type="http://schemas.microsoft.com/office/2007/relationships/hdphoto" Target="../media/hdphoto1.wdp"/><Relationship Id="rId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medium.com/" TargetMode="Externa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generated/sklearn.linear_model.LinearRegression.html" TargetMode="External"/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generated/sklearn.linear_model.LinearRegression.html" TargetMode="External"/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gif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4.xml"/><Relationship Id="rId5" Type="http://schemas.microsoft.com/office/2007/relationships/hdphoto" Target="../media/hdphoto2.wdp"/><Relationship Id="rId4" Type="http://schemas.openxmlformats.org/officeDocument/2006/relationships/image" Target="../media/image3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5.jpe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youtube.com/watch?v=t3VBY9OisCo" TargetMode="Externa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5.xml"/><Relationship Id="rId4" Type="http://schemas.microsoft.com/office/2007/relationships/hdphoto" Target="../media/hdphoto3.wdp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39.png"/><Relationship Id="rId4" Type="http://schemas.openxmlformats.org/officeDocument/2006/relationships/image" Target="../media/image65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nsorflow.org/?hl=ko" TargetMode="External"/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wikidocs.net/24958" TargetMode="External"/><Relationship Id="rId5" Type="http://schemas.openxmlformats.org/officeDocument/2006/relationships/hyperlink" Target="https://keras.io/" TargetMode="External"/><Relationship Id="rId4" Type="http://schemas.openxmlformats.org/officeDocument/2006/relationships/hyperlink" Target="https://pytorch.org/" TargetMode="Externa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Big-Data-Science/blob/main/C1/w3/C1w3_graded_lab/C1_W3_Assignment_Perceptron.ipynb" TargetMode="External"/><Relationship Id="rId2" Type="http://schemas.openxmlformats.org/officeDocument/2006/relationships/hyperlink" Target="https://github.com/ancestor9/Mathematics-for-Big-Data-Science/blob/main/C1/w3/C1w3_graded_lab/C1_W3_Assignment.ipynb" TargetMode="External"/><Relationship Id="rId1" Type="http://schemas.openxmlformats.org/officeDocument/2006/relationships/slideLayout" Target="../slideLayouts/slideLayout5.xml"/><Relationship Id="rId6" Type="http://schemas.openxmlformats.org/officeDocument/2006/relationships/hyperlink" Target="https://github.com/ancestor9/Mathematics-for-Big-Data-Science/tree/main/C1/w3/C1w3_graded_lab" TargetMode="External"/><Relationship Id="rId5" Type="http://schemas.openxmlformats.org/officeDocument/2006/relationships/hyperlink" Target="https://github.com/ancestor9/Mathematics-for-Big-Data-Science/tree/main" TargetMode="External"/><Relationship Id="rId4" Type="http://schemas.openxmlformats.org/officeDocument/2006/relationships/hyperlink" Target="https://github.com/ancestor9/Mathematics-for-Big-Data-Science/blob/main/C1/w3/C1w3_graded_lab/C1_W3_Assignment_Perceptron_MSE.ipynb" TargetMode="Externa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orch.org/tutorials/beginner/basics/quickstart_tutorial.html" TargetMode="External"/><Relationship Id="rId2" Type="http://schemas.openxmlformats.org/officeDocument/2006/relationships/hyperlink" Target="https://www.101ai.net/basics/https:/www.101ai.net/basics/tensors" TargetMode="External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playground.tensorflow.org/#activation=tanh&amp;batchSize=10&amp;dataset=circle&amp;regDataset=reg-plane&amp;learningRate=0.03&amp;regularizationRate=0&amp;noise=0&amp;networkShape=4,2&amp;seed=0.70624&amp;showTestData=false&amp;discretize=false&amp;percTrainData=50&amp;x=true&amp;y=true&amp;xTimesY=false&amp;xSquared=false&amp;ySquared=false&amp;cosX=false&amp;sinX=false&amp;cosY=false&amp;sinY=false&amp;collectStats=false&amp;problem=classification&amp;initZero=false&amp;hideText=false" TargetMode="External"/><Relationship Id="rId4" Type="http://schemas.openxmlformats.org/officeDocument/2006/relationships/hyperlink" Target="https://www.tensorflow.org/tutorials/customization/basics?hl=ko" TargetMode="Externa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7" Type="http://schemas.openxmlformats.org/officeDocument/2006/relationships/image" Target="../media/image54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3.jpeg"/><Relationship Id="rId5" Type="http://schemas.openxmlformats.org/officeDocument/2006/relationships/image" Target="../media/image52.png"/><Relationship Id="rId4" Type="http://schemas.openxmlformats.org/officeDocument/2006/relationships/hyperlink" Target="https://en.wikipedia.org/wiki/Sign_function" TargetMode="Externa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jpeg"/><Relationship Id="rId2" Type="http://schemas.openxmlformats.org/officeDocument/2006/relationships/image" Target="../media/image55.jpe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101ai.net/deeplearn/activation" TargetMode="Externa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nnet/perceptron" TargetMode="External"/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50.png"/><Relationship Id="rId13" Type="http://schemas.openxmlformats.org/officeDocument/2006/relationships/image" Target="../media/image80.png"/><Relationship Id="rId18" Type="http://schemas.openxmlformats.org/officeDocument/2006/relationships/image" Target="../media/image85.png"/><Relationship Id="rId3" Type="http://schemas.openxmlformats.org/officeDocument/2006/relationships/image" Target="../media/image700.png"/><Relationship Id="rId7" Type="http://schemas.openxmlformats.org/officeDocument/2006/relationships/image" Target="../media/image740.png"/><Relationship Id="rId12" Type="http://schemas.openxmlformats.org/officeDocument/2006/relationships/image" Target="../media/image79.png"/><Relationship Id="rId17" Type="http://schemas.openxmlformats.org/officeDocument/2006/relationships/image" Target="../media/image57.png"/><Relationship Id="rId16" Type="http://schemas.openxmlformats.org/officeDocument/2006/relationships/image" Target="../media/image83.png"/><Relationship Id="rId20" Type="http://schemas.openxmlformats.org/officeDocument/2006/relationships/image" Target="../media/image87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30.png"/><Relationship Id="rId11" Type="http://schemas.openxmlformats.org/officeDocument/2006/relationships/image" Target="../media/image78.png"/><Relationship Id="rId5" Type="http://schemas.openxmlformats.org/officeDocument/2006/relationships/image" Target="../media/image720.png"/><Relationship Id="rId15" Type="http://schemas.openxmlformats.org/officeDocument/2006/relationships/image" Target="../media/image82.png"/><Relationship Id="rId10" Type="http://schemas.openxmlformats.org/officeDocument/2006/relationships/image" Target="../media/image770.png"/><Relationship Id="rId19" Type="http://schemas.openxmlformats.org/officeDocument/2006/relationships/image" Target="../media/image86.png"/><Relationship Id="rId4" Type="http://schemas.openxmlformats.org/officeDocument/2006/relationships/image" Target="../media/image710.png"/><Relationship Id="rId9" Type="http://schemas.openxmlformats.org/officeDocument/2006/relationships/image" Target="../media/image760.png"/><Relationship Id="rId14" Type="http://schemas.openxmlformats.org/officeDocument/2006/relationships/image" Target="../media/image810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jpe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deeplearn/data" TargetMode="External"/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6.png"/><Relationship Id="rId3" Type="http://schemas.microsoft.com/office/2007/relationships/hdphoto" Target="../media/hdphoto4.wdp"/><Relationship Id="rId7" Type="http://schemas.microsoft.com/office/2007/relationships/hdphoto" Target="../media/hdphoto6.wdp"/><Relationship Id="rId12" Type="http://schemas.openxmlformats.org/officeDocument/2006/relationships/image" Target="../media/image68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5.png"/><Relationship Id="rId11" Type="http://schemas.microsoft.com/office/2007/relationships/hdphoto" Target="../media/hdphoto8.wdp"/><Relationship Id="rId5" Type="http://schemas.microsoft.com/office/2007/relationships/hdphoto" Target="../media/hdphoto5.wdp"/><Relationship Id="rId10" Type="http://schemas.openxmlformats.org/officeDocument/2006/relationships/image" Target="../media/image67.png"/><Relationship Id="rId4" Type="http://schemas.openxmlformats.org/officeDocument/2006/relationships/image" Target="../media/image64.png"/><Relationship Id="rId9" Type="http://schemas.microsoft.com/office/2007/relationships/hdphoto" Target="../media/hdphoto7.wdp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Deep Learning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1137793"/>
          </a:xfrm>
        </p:spPr>
        <p:txBody>
          <a:bodyPr rtlCol="0">
            <a:normAutofit/>
          </a:bodyPr>
          <a:lstStyle/>
          <a:p>
            <a:r>
              <a:rPr lang="en-US" altLang="ko-KR" sz="2400" dirty="0">
                <a:solidFill>
                  <a:schemeClr val="bg1"/>
                </a:solidFill>
              </a:rPr>
              <a:t>Perceptron and Regression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Spring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F020723-0294-B282-4C97-3801608209F4}"/>
              </a:ext>
            </a:extLst>
          </p:cNvPr>
          <p:cNvSpPr/>
          <p:nvPr/>
        </p:nvSpPr>
        <p:spPr>
          <a:xfrm>
            <a:off x="734002" y="145793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1433E4-C192-2433-A2E9-B5BCAFC7FA01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35510428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93EA5-99CC-6B44-83F5-540BF3A62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C4210D-B484-A19F-8777-CF1AE1FF57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922F308-10D7-76DC-330D-AFCF4C314D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945" y="1994239"/>
            <a:ext cx="4658330" cy="3762753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50000"/>
              </a:lnSpc>
            </a:pPr>
            <a:r>
              <a:rPr lang="ko-KR" altLang="en-US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</a:t>
            </a:r>
            <a:r>
              <a:rPr lang="en-US" altLang="ko-KR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</a:t>
            </a:r>
            <a:r>
              <a:rPr lang="en-US" altLang="ko-KR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데이터와 선형회귀식의 예측 값과의 차이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구하고，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차이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제곱의 모든 합이 최소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(Minimization)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되는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선형회귀식의 파라미터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(Parameter),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계수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(coefficients)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찾는 최적화 과정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평균에 회귀하는 수식함수라 이상치에 민감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938662-2B68-DDB0-D5D4-BF2ADA739A97}"/>
              </a:ext>
            </a:extLst>
          </p:cNvPr>
          <p:cNvSpPr txBox="1"/>
          <p:nvPr/>
        </p:nvSpPr>
        <p:spPr>
          <a:xfrm>
            <a:off x="5676900" y="6093649"/>
            <a:ext cx="362902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https://analytics17.blogspot.com/2017/08/2-1.html</a:t>
            </a:r>
            <a:r>
              <a:rPr lang="ko-KR" altLang="en-US" sz="1200" dirty="0"/>
              <a:t> 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E7A5554C-B588-F8E2-39C1-0661AA1724C3}"/>
              </a:ext>
            </a:extLst>
          </p:cNvPr>
          <p:cNvGrpSpPr/>
          <p:nvPr/>
        </p:nvGrpSpPr>
        <p:grpSpPr>
          <a:xfrm>
            <a:off x="5781673" y="1924050"/>
            <a:ext cx="5404487" cy="4112211"/>
            <a:chOff x="5781673" y="1924050"/>
            <a:chExt cx="5065245" cy="3762753"/>
          </a:xfrm>
        </p:grpSpPr>
        <p:pic>
          <p:nvPicPr>
            <p:cNvPr id="5122" name="Picture 2">
              <a:extLst>
                <a:ext uri="{FF2B5EF4-FFF2-40B4-BE49-F238E27FC236}">
                  <a16:creationId xmlns:a16="http://schemas.microsoft.com/office/drawing/2014/main" id="{77DF77E8-48D8-1C11-E742-2FF576CE1ED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81673" y="1924050"/>
              <a:ext cx="5065245" cy="37627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C4B76198-7BDB-2635-FFAD-9401FE5555EA}"/>
                </a:ext>
              </a:extLst>
            </p:cNvPr>
            <p:cNvSpPr/>
            <p:nvPr/>
          </p:nvSpPr>
          <p:spPr>
            <a:xfrm>
              <a:off x="9305925" y="2638199"/>
              <a:ext cx="386715" cy="344974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67AC9867-39BD-55A1-3ED2-5B9D6DA02C32}"/>
                </a:ext>
              </a:extLst>
            </p:cNvPr>
            <p:cNvSpPr/>
            <p:nvPr/>
          </p:nvSpPr>
          <p:spPr>
            <a:xfrm>
              <a:off x="8475345" y="3467390"/>
              <a:ext cx="361315" cy="356461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CA6954AB-B213-A17D-3C1F-85D7A5234449}"/>
                </a:ext>
              </a:extLst>
            </p:cNvPr>
            <p:cNvSpPr/>
            <p:nvPr/>
          </p:nvSpPr>
          <p:spPr>
            <a:xfrm>
              <a:off x="7310754" y="3658405"/>
              <a:ext cx="446406" cy="425915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87B081DE-6B68-1E55-7B58-0C8FA896077E}"/>
              </a:ext>
            </a:extLst>
          </p:cNvPr>
          <p:cNvSpPr txBox="1"/>
          <p:nvPr/>
        </p:nvSpPr>
        <p:spPr>
          <a:xfrm>
            <a:off x="6474470" y="1411845"/>
            <a:ext cx="35862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Understanding of linear-regression/</a:t>
            </a:r>
            <a:endParaRPr lang="ko-KR" alt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CE937F-706C-6F21-F5A8-22B3129A5FE0}"/>
                  </a:ext>
                </a:extLst>
              </p:cNvPr>
              <p:cNvSpPr txBox="1"/>
              <p:nvPr/>
            </p:nvSpPr>
            <p:spPr>
              <a:xfrm>
                <a:off x="8588426" y="4902855"/>
                <a:ext cx="2308174" cy="46166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24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ko-KR" altLang="en-US" sz="2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ko-KR" altLang="en-US" sz="2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ko-KR" altLang="en-US" sz="2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ko-KR" altLang="en-US" sz="2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ko-KR" alt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sSub>
                        <m:sSubPr>
                          <m:ctrlP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ko-KR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CE937F-706C-6F21-F5A8-22B3129A5F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88426" y="4902855"/>
                <a:ext cx="2308174" cy="461665"/>
              </a:xfrm>
              <a:prstGeom prst="rect">
                <a:avLst/>
              </a:prstGeom>
              <a:blipFill>
                <a:blip r:embed="rId5"/>
                <a:stretch>
                  <a:fillRect t="-3947" b="-1710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제목 7">
            <a:extLst>
              <a:ext uri="{FF2B5EF4-FFF2-40B4-BE49-F238E27FC236}">
                <a16:creationId xmlns:a16="http://schemas.microsoft.com/office/drawing/2014/main" id="{42FDDF0F-6EDA-C345-5E1E-A829656B4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405444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35D531-9861-DC11-13C8-402FADE0AB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B56C91DE-18A1-B898-12F7-3C530CFD81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Linear</a:t>
            </a:r>
            <a:r>
              <a:rPr lang="ko-KR" altLang="en-US" dirty="0"/>
              <a:t> </a:t>
            </a:r>
            <a:r>
              <a:rPr lang="en-US" altLang="ko-KR" dirty="0"/>
              <a:t>Regression as dot product form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2336735-1E3E-3496-5FE8-5581A7323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</a:t>
            </a:fld>
            <a:endParaRPr lang="ko-KR" altLang="en-US" noProof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57775A8D-3762-E25F-3473-AB40BDD188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570" y="4289517"/>
            <a:ext cx="1800476" cy="1781424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34F422DD-B2F0-8C99-6185-6DEB3BEA0A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0042" y="4289517"/>
            <a:ext cx="1332758" cy="1710846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0ADD4715-E2CB-D944-BC5E-351C732644F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55441" y="4289517"/>
            <a:ext cx="1233572" cy="174836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093461E-2E00-52B3-61E2-BC6F6AA15084}"/>
              </a:ext>
            </a:extLst>
          </p:cNvPr>
          <p:cNvSpPr txBox="1"/>
          <p:nvPr/>
        </p:nvSpPr>
        <p:spPr>
          <a:xfrm>
            <a:off x="616457" y="1451425"/>
            <a:ext cx="10746868" cy="263001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numpy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as np </a:t>
            </a: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1.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랜덤 데이터 생성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(100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</a:p>
          <a:p>
            <a:pPr>
              <a:lnSpc>
                <a:spcPct val="150000"/>
              </a:lnSpc>
            </a:pP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np.random.seed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(42) #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결과 재현을 위해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시드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고정 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 =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np.random.uniform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(0, 10, 100) # 0~10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사이의 난수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관계식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y = 3x + 5 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여기에 노이즈 추가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noise =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np.random.normal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(0, 2, 100) #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표준편차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 정규분포 노이즈 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 = 3 * x + 5 + noise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4" name="Picture 4" descr="도자기 작업장. 성인과 어린이의 손이 도자기를 만들고 젖은 점토 근접 촬영으로 작업합니다. 더러운 손으로 바퀴에 점토로 그릇을 만드는 과정. 여름 공원의 수제 축제">
            <a:extLst>
              <a:ext uri="{FF2B5EF4-FFF2-40B4-BE49-F238E27FC236}">
                <a16:creationId xmlns:a16="http://schemas.microsoft.com/office/drawing/2014/main" id="{154F4078-D4B4-44FA-0A92-D15D7F7E8C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2899" y="55419"/>
            <a:ext cx="1633682" cy="10891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796939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FBBC28-B060-3C52-383A-9DE2119682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58" name="Picture 2">
            <a:extLst>
              <a:ext uri="{FF2B5EF4-FFF2-40B4-BE49-F238E27FC236}">
                <a16:creationId xmlns:a16="http://schemas.microsoft.com/office/drawing/2014/main" id="{C9B41543-DC63-5E34-0B3B-D762A2FAE2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7225" y="1698717"/>
            <a:ext cx="5543550" cy="42500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제목 7">
            <a:extLst>
              <a:ext uri="{FF2B5EF4-FFF2-40B4-BE49-F238E27FC236}">
                <a16:creationId xmlns:a16="http://schemas.microsoft.com/office/drawing/2014/main" id="{BD2B2716-1FE3-3EF6-B984-BF6C72A03E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Linear</a:t>
            </a:r>
            <a:r>
              <a:rPr lang="ko-KR" altLang="en-US" dirty="0"/>
              <a:t> </a:t>
            </a:r>
            <a:r>
              <a:rPr lang="en-US" altLang="ko-KR" dirty="0"/>
              <a:t>Regression as dot product form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54913F4A-EF69-799E-62CF-68618D05F3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</a:t>
            </a:fld>
            <a:endParaRPr lang="ko-KR" altLang="en-US" noProof="0"/>
          </a:p>
        </p:txBody>
      </p:sp>
      <p:pic>
        <p:nvPicPr>
          <p:cNvPr id="14" name="Picture 4" descr="도자기 작업장. 성인과 어린이의 손이 도자기를 만들고 젖은 점토 근접 촬영으로 작업합니다. 더러운 손으로 바퀴에 점토로 그릇을 만드는 과정. 여름 공원의 수제 축제">
            <a:extLst>
              <a:ext uri="{FF2B5EF4-FFF2-40B4-BE49-F238E27FC236}">
                <a16:creationId xmlns:a16="http://schemas.microsoft.com/office/drawing/2014/main" id="{D755DAA4-72C6-B88A-072A-2C17DA7378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2899" y="55419"/>
            <a:ext cx="1633682" cy="10891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2" name="그룹 21">
            <a:extLst>
              <a:ext uri="{FF2B5EF4-FFF2-40B4-BE49-F238E27FC236}">
                <a16:creationId xmlns:a16="http://schemas.microsoft.com/office/drawing/2014/main" id="{DBA76C6E-1F8F-2FCC-1329-F9B961492D3F}"/>
              </a:ext>
            </a:extLst>
          </p:cNvPr>
          <p:cNvGrpSpPr/>
          <p:nvPr/>
        </p:nvGrpSpPr>
        <p:grpSpPr>
          <a:xfrm>
            <a:off x="6488811" y="1766690"/>
            <a:ext cx="5225140" cy="1387726"/>
            <a:chOff x="6488811" y="1766690"/>
            <a:chExt cx="5225140" cy="1387726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60FA9058-137F-B412-135A-F9029829926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461171" y="1766690"/>
              <a:ext cx="1402567" cy="1387726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E5060343-C130-643A-4F4E-26898B12666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488811" y="1766690"/>
              <a:ext cx="1038214" cy="1332743"/>
            </a:xfrm>
            <a:prstGeom prst="rect">
              <a:avLst/>
            </a:prstGeom>
          </p:spPr>
        </p:pic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F458F2B3-F05E-E6C9-7549-65BCD4D1A7F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0753002" y="1766691"/>
              <a:ext cx="960949" cy="1361974"/>
            </a:xfrm>
            <a:prstGeom prst="rect">
              <a:avLst/>
            </a:prstGeom>
          </p:spPr>
        </p:pic>
        <p:sp>
          <p:nvSpPr>
            <p:cNvPr id="2" name="같음 기호 1">
              <a:extLst>
                <a:ext uri="{FF2B5EF4-FFF2-40B4-BE49-F238E27FC236}">
                  <a16:creationId xmlns:a16="http://schemas.microsoft.com/office/drawing/2014/main" id="{818D04B7-3485-B99A-9173-C2DCCE8628D5}"/>
                </a:ext>
              </a:extLst>
            </p:cNvPr>
            <p:cNvSpPr/>
            <p:nvPr/>
          </p:nvSpPr>
          <p:spPr>
            <a:xfrm>
              <a:off x="7837916" y="2405062"/>
              <a:ext cx="256785" cy="153429"/>
            </a:xfrm>
            <a:prstGeom prst="mathEqual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3" name="더하기 기호 2">
              <a:extLst>
                <a:ext uri="{FF2B5EF4-FFF2-40B4-BE49-F238E27FC236}">
                  <a16:creationId xmlns:a16="http://schemas.microsoft.com/office/drawing/2014/main" id="{BF4E33F2-5881-9AA4-0DE4-7EB7DE930520}"/>
                </a:ext>
              </a:extLst>
            </p:cNvPr>
            <p:cNvSpPr/>
            <p:nvPr/>
          </p:nvSpPr>
          <p:spPr>
            <a:xfrm>
              <a:off x="10210801" y="2371725"/>
              <a:ext cx="238628" cy="209955"/>
            </a:xfrm>
            <a:prstGeom prst="mathPlus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1988534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84D2FF-CCFF-2D3F-6455-109BDCC696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4439B9E-951D-D2A9-8CCA-E0BCD46F97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Linear</a:t>
            </a:r>
            <a:r>
              <a:rPr lang="ko-KR" altLang="en-US" dirty="0"/>
              <a:t> </a:t>
            </a:r>
            <a:r>
              <a:rPr lang="en-US" altLang="ko-KR" dirty="0"/>
              <a:t>Regression as dot product form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E9CD7A52-9D3D-AC10-D9C9-479BF1E0EE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6</a:t>
            </a:fld>
            <a:endParaRPr lang="ko-KR" altLang="en-US" noProof="0"/>
          </a:p>
        </p:txBody>
      </p:sp>
      <p:pic>
        <p:nvPicPr>
          <p:cNvPr id="14" name="Picture 4" descr="도자기 작업장. 성인과 어린이의 손이 도자기를 만들고 젖은 점토 근접 촬영으로 작업합니다. 더러운 손으로 바퀴에 점토로 그릇을 만드는 과정. 여름 공원의 수제 축제">
            <a:extLst>
              <a:ext uri="{FF2B5EF4-FFF2-40B4-BE49-F238E27FC236}">
                <a16:creationId xmlns:a16="http://schemas.microsoft.com/office/drawing/2014/main" id="{9919B585-4FCF-74D2-B13A-5DCC3B1EA1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2899" y="55419"/>
            <a:ext cx="1633682" cy="10891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2" name="그룹 21">
            <a:extLst>
              <a:ext uri="{FF2B5EF4-FFF2-40B4-BE49-F238E27FC236}">
                <a16:creationId xmlns:a16="http://schemas.microsoft.com/office/drawing/2014/main" id="{E891B776-788F-983C-3372-3C1FFE26C810}"/>
              </a:ext>
            </a:extLst>
          </p:cNvPr>
          <p:cNvGrpSpPr/>
          <p:nvPr/>
        </p:nvGrpSpPr>
        <p:grpSpPr>
          <a:xfrm>
            <a:off x="6488811" y="1766690"/>
            <a:ext cx="5225140" cy="1387726"/>
            <a:chOff x="6488811" y="1766690"/>
            <a:chExt cx="5225140" cy="1387726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3AC2FBC8-0659-E600-0F6A-6615329BB2F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461171" y="1766690"/>
              <a:ext cx="1402567" cy="1387726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2107E47C-A069-F155-14B8-C2EB6D2DBF0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488811" y="1766690"/>
              <a:ext cx="1038214" cy="1332743"/>
            </a:xfrm>
            <a:prstGeom prst="rect">
              <a:avLst/>
            </a:prstGeom>
          </p:spPr>
        </p:pic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09370505-6899-00F3-2FD3-4E507FFDCF4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0753002" y="1766691"/>
              <a:ext cx="960949" cy="1361974"/>
            </a:xfrm>
            <a:prstGeom prst="rect">
              <a:avLst/>
            </a:prstGeom>
          </p:spPr>
        </p:pic>
        <p:sp>
          <p:nvSpPr>
            <p:cNvPr id="2" name="같음 기호 1">
              <a:extLst>
                <a:ext uri="{FF2B5EF4-FFF2-40B4-BE49-F238E27FC236}">
                  <a16:creationId xmlns:a16="http://schemas.microsoft.com/office/drawing/2014/main" id="{4928C1D8-D31B-C11A-799E-0C0D276A57E8}"/>
                </a:ext>
              </a:extLst>
            </p:cNvPr>
            <p:cNvSpPr/>
            <p:nvPr/>
          </p:nvSpPr>
          <p:spPr>
            <a:xfrm>
              <a:off x="7837916" y="2405062"/>
              <a:ext cx="256785" cy="153429"/>
            </a:xfrm>
            <a:prstGeom prst="mathEqual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3" name="더하기 기호 2">
              <a:extLst>
                <a:ext uri="{FF2B5EF4-FFF2-40B4-BE49-F238E27FC236}">
                  <a16:creationId xmlns:a16="http://schemas.microsoft.com/office/drawing/2014/main" id="{C4680470-73AD-F8AD-91F2-5D806F4B0131}"/>
                </a:ext>
              </a:extLst>
            </p:cNvPr>
            <p:cNvSpPr/>
            <p:nvPr/>
          </p:nvSpPr>
          <p:spPr>
            <a:xfrm>
              <a:off x="10210801" y="2371725"/>
              <a:ext cx="238628" cy="209955"/>
            </a:xfrm>
            <a:prstGeom prst="mathPlus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0956E4AF-BB7E-B55C-8050-02CF49309B5E}"/>
              </a:ext>
            </a:extLst>
          </p:cNvPr>
          <p:cNvGrpSpPr/>
          <p:nvPr/>
        </p:nvGrpSpPr>
        <p:grpSpPr>
          <a:xfrm>
            <a:off x="6593586" y="3598550"/>
            <a:ext cx="3454269" cy="1428684"/>
            <a:chOff x="6488811" y="3941141"/>
            <a:chExt cx="3454269" cy="1428684"/>
          </a:xfrm>
        </p:grpSpPr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675512D5-ACFD-B282-9136-6B61B0A93B1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488811" y="4017264"/>
              <a:ext cx="1038214" cy="1332743"/>
            </a:xfrm>
            <a:prstGeom prst="rect">
              <a:avLst/>
            </a:prstGeom>
          </p:spPr>
        </p:pic>
        <p:pic>
          <p:nvPicPr>
            <p:cNvPr id="16" name="그림 15">
              <a:extLst>
                <a:ext uri="{FF2B5EF4-FFF2-40B4-BE49-F238E27FC236}">
                  <a16:creationId xmlns:a16="http://schemas.microsoft.com/office/drawing/2014/main" id="{A8C045F8-51A2-5143-9B44-8960D53E281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498336" y="4407954"/>
              <a:ext cx="274595" cy="395740"/>
            </a:xfrm>
            <a:prstGeom prst="rect">
              <a:avLst/>
            </a:prstGeom>
          </p:spPr>
        </p:pic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3ECD106F-1C33-054A-E0E4-871016A57DF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938817" y="3988773"/>
              <a:ext cx="557267" cy="1381052"/>
            </a:xfrm>
            <a:prstGeom prst="rect">
              <a:avLst/>
            </a:prstGeom>
          </p:spPr>
        </p:pic>
        <p:pic>
          <p:nvPicPr>
            <p:cNvPr id="20" name="그림 19">
              <a:extLst>
                <a:ext uri="{FF2B5EF4-FFF2-40B4-BE49-F238E27FC236}">
                  <a16:creationId xmlns:a16="http://schemas.microsoft.com/office/drawing/2014/main" id="{C32C9381-6C7F-8EED-FF0F-80FEF2CE01E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8400501" y="3941141"/>
              <a:ext cx="1542579" cy="1421434"/>
            </a:xfrm>
            <a:prstGeom prst="rect">
              <a:avLst/>
            </a:prstGeom>
          </p:spPr>
        </p:pic>
        <p:sp>
          <p:nvSpPr>
            <p:cNvPr id="21" name="같음 기호 20">
              <a:extLst>
                <a:ext uri="{FF2B5EF4-FFF2-40B4-BE49-F238E27FC236}">
                  <a16:creationId xmlns:a16="http://schemas.microsoft.com/office/drawing/2014/main" id="{E9F21161-7C22-BA86-8BD5-6D80AC5F2AC5}"/>
                </a:ext>
              </a:extLst>
            </p:cNvPr>
            <p:cNvSpPr/>
            <p:nvPr/>
          </p:nvSpPr>
          <p:spPr>
            <a:xfrm>
              <a:off x="7887006" y="4622299"/>
              <a:ext cx="256785" cy="153429"/>
            </a:xfrm>
            <a:prstGeom prst="mathEqual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</p:grpSp>
      <p:pic>
        <p:nvPicPr>
          <p:cNvPr id="21506" name="Picture 2">
            <a:extLst>
              <a:ext uri="{FF2B5EF4-FFF2-40B4-BE49-F238E27FC236}">
                <a16:creationId xmlns:a16="http://schemas.microsoft.com/office/drawing/2014/main" id="{1AC7E6FE-79AD-02BE-3EC1-50BB02E35B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841" y="1742236"/>
            <a:ext cx="5496682" cy="4405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직사각형 23">
            <a:extLst>
              <a:ext uri="{FF2B5EF4-FFF2-40B4-BE49-F238E27FC236}">
                <a16:creationId xmlns:a16="http://schemas.microsoft.com/office/drawing/2014/main" id="{37F90FF9-A7B6-3E3A-F6A2-2735D1C847CD}"/>
              </a:ext>
            </a:extLst>
          </p:cNvPr>
          <p:cNvSpPr/>
          <p:nvPr/>
        </p:nvSpPr>
        <p:spPr>
          <a:xfrm>
            <a:off x="6460236" y="3514725"/>
            <a:ext cx="3855843" cy="163861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831875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0D5F34-A5D9-A442-CB25-B4CD890A0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F98C921F-6D99-8227-CFFE-07588A1A6D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Linear</a:t>
            </a:r>
            <a:r>
              <a:rPr lang="ko-KR" altLang="en-US" dirty="0"/>
              <a:t> </a:t>
            </a:r>
            <a:r>
              <a:rPr lang="en-US" altLang="ko-KR" dirty="0"/>
              <a:t>Regression as dot product form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3AAA01EA-D981-EF53-40F1-725F8DDA3D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7</a:t>
            </a:fld>
            <a:endParaRPr lang="ko-KR" altLang="en-US" noProof="0"/>
          </a:p>
        </p:txBody>
      </p:sp>
      <p:pic>
        <p:nvPicPr>
          <p:cNvPr id="14" name="Picture 4" descr="도자기 작업장. 성인과 어린이의 손이 도자기를 만들고 젖은 점토 근접 촬영으로 작업합니다. 더러운 손으로 바퀴에 점토로 그릇을 만드는 과정. 여름 공원의 수제 축제">
            <a:extLst>
              <a:ext uri="{FF2B5EF4-FFF2-40B4-BE49-F238E27FC236}">
                <a16:creationId xmlns:a16="http://schemas.microsoft.com/office/drawing/2014/main" id="{A5EAC5E7-4A64-3617-26EF-F78F129BB6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2899" y="55419"/>
            <a:ext cx="1633682" cy="10891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506" name="Picture 2">
            <a:extLst>
              <a:ext uri="{FF2B5EF4-FFF2-40B4-BE49-F238E27FC236}">
                <a16:creationId xmlns:a16="http://schemas.microsoft.com/office/drawing/2014/main" id="{911CA780-919C-4357-9D03-8C47977614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841" y="1742236"/>
            <a:ext cx="5496682" cy="4405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4D610E4B-6C3B-DD0F-4AB8-AB2E64EBD2D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7584" y="2057357"/>
            <a:ext cx="2449526" cy="485355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4D234C4B-1840-E743-5623-7D3CB3C5D67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7584" y="3042868"/>
            <a:ext cx="4686711" cy="1607739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9F204F99-EAA6-8131-BB09-5553485C5E2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72842" y="4946194"/>
            <a:ext cx="1708943" cy="792658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5E3CC373-5A0E-D55F-CA1B-3518B65B0E9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81785" y="4946194"/>
            <a:ext cx="1085111" cy="740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46201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A4E62-DE40-FBB4-3740-698D55447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3A808B9-8204-349A-86A5-6300541633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0420" y="310533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MSE(Mean Squared Error)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D01ACFD-5BA0-889B-23C7-3025E298E5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pic>
        <p:nvPicPr>
          <p:cNvPr id="30" name="그림 29">
            <a:extLst>
              <a:ext uri="{FF2B5EF4-FFF2-40B4-BE49-F238E27FC236}">
                <a16:creationId xmlns:a16="http://schemas.microsoft.com/office/drawing/2014/main" id="{2B84053F-541D-D14A-2461-2401B413BF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626" y="1619776"/>
            <a:ext cx="4553722" cy="1999410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1B0B8A50-B2AC-8C53-65CB-DA63F386867C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3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7167711" y="1624762"/>
            <a:ext cx="3783180" cy="1954945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F8811D67-C7B0-5C9B-24C0-E86977743F6B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5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571877" y="4701290"/>
            <a:ext cx="3200677" cy="1638442"/>
          </a:xfrm>
          <a:prstGeom prst="rect">
            <a:avLst/>
          </a:prstGeom>
        </p:spPr>
      </p:pic>
      <p:sp>
        <p:nvSpPr>
          <p:cNvPr id="37" name="오른쪽 중괄호 36">
            <a:extLst>
              <a:ext uri="{FF2B5EF4-FFF2-40B4-BE49-F238E27FC236}">
                <a16:creationId xmlns:a16="http://schemas.microsoft.com/office/drawing/2014/main" id="{3D299CA6-819A-997A-F600-531F5A6C1641}"/>
              </a:ext>
            </a:extLst>
          </p:cNvPr>
          <p:cNvSpPr/>
          <p:nvPr/>
        </p:nvSpPr>
        <p:spPr>
          <a:xfrm rot="5400000">
            <a:off x="5407959" y="1860037"/>
            <a:ext cx="404251" cy="4219575"/>
          </a:xfrm>
          <a:prstGeom prst="rightBrace">
            <a:avLst>
              <a:gd name="adj1" fmla="val 57265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2E00AC0C-9A02-D235-CB95-D8E493AFBD5A}"/>
                  </a:ext>
                </a:extLst>
              </p:cNvPr>
              <p:cNvSpPr txBox="1"/>
              <p:nvPr/>
            </p:nvSpPr>
            <p:spPr>
              <a:xfrm>
                <a:off x="1332895" y="4216317"/>
                <a:ext cx="4676775" cy="35394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에러는 실제와 예측 값의 차이</a:t>
                </a:r>
                <a:r>
                  <a:rPr lang="en-US" altLang="ko-KR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ko-KR" altLang="en-US" sz="170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𝜖</m:t>
                    </m:r>
                    <m:r>
                      <a:rPr lang="en-US" altLang="ko-KR" sz="170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=</m:t>
                    </m:r>
                    <m:r>
                      <m:rPr>
                        <m:sty m:val="p"/>
                      </m:rPr>
                      <a:rPr lang="en-US" altLang="ko-KR" sz="170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y</m:t>
                    </m:r>
                    <m:r>
                      <a:rPr lang="en-US" altLang="ko-KR" sz="170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− </m:t>
                    </m:r>
                    <m:acc>
                      <m:accPr>
                        <m:chr m:val="̂"/>
                        <m:ctrlPr>
                          <a:rPr lang="ko-KR" altLang="en-US" sz="1700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en-US" altLang="ko-KR" sz="170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y</m:t>
                        </m:r>
                      </m:e>
                    </m:acc>
                  </m:oMath>
                </a14:m>
                <a:r>
                  <a:rPr lang="en-US" altLang="ko-KR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endParaRPr lang="ko-KR" altLang="en-US" sz="17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2E00AC0C-9A02-D235-CB95-D8E493AFBD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2895" y="4216317"/>
                <a:ext cx="4676775" cy="353943"/>
              </a:xfrm>
              <a:prstGeom prst="rect">
                <a:avLst/>
              </a:prstGeom>
              <a:blipFill>
                <a:blip r:embed="rId6"/>
                <a:stretch>
                  <a:fillRect l="-913" t="-6897" b="-2241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TextBox 40">
            <a:extLst>
              <a:ext uri="{FF2B5EF4-FFF2-40B4-BE49-F238E27FC236}">
                <a16:creationId xmlns:a16="http://schemas.microsoft.com/office/drawing/2014/main" id="{414D2ACF-EDDF-1AB0-44AF-6EF356311A17}"/>
              </a:ext>
            </a:extLst>
          </p:cNvPr>
          <p:cNvSpPr txBox="1"/>
          <p:nvPr/>
        </p:nvSpPr>
        <p:spPr>
          <a:xfrm>
            <a:off x="811360" y="1255430"/>
            <a:ext cx="14097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Actual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</a:t>
            </a:r>
            <a:endParaRPr lang="ko-KR" altLang="en-US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71E307C-EACC-51E4-DD9F-8EE98C51964A}"/>
              </a:ext>
            </a:extLst>
          </p:cNvPr>
          <p:cNvSpPr txBox="1"/>
          <p:nvPr/>
        </p:nvSpPr>
        <p:spPr>
          <a:xfrm>
            <a:off x="7155042" y="1255430"/>
            <a:ext cx="19889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Predict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</a:t>
            </a:r>
            <a:endParaRPr lang="ko-KR" altLang="en-US" dirty="0"/>
          </a:p>
        </p:txBody>
      </p: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BA5809DB-C0E9-5D79-51D1-26D791083115}"/>
              </a:ext>
            </a:extLst>
          </p:cNvPr>
          <p:cNvGrpSpPr/>
          <p:nvPr/>
        </p:nvGrpSpPr>
        <p:grpSpPr>
          <a:xfrm>
            <a:off x="7924800" y="4106543"/>
            <a:ext cx="2824480" cy="1189493"/>
            <a:chOff x="8575040" y="3851111"/>
            <a:chExt cx="2824480" cy="1189493"/>
          </a:xfrm>
        </p:grpSpPr>
        <p:pic>
          <p:nvPicPr>
            <p:cNvPr id="47" name="그림 46">
              <a:extLst>
                <a:ext uri="{FF2B5EF4-FFF2-40B4-BE49-F238E27FC236}">
                  <a16:creationId xmlns:a16="http://schemas.microsoft.com/office/drawing/2014/main" id="{D19109A4-492F-5FCA-F1D4-896C8487056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8670483" y="4329815"/>
              <a:ext cx="2220300" cy="710789"/>
            </a:xfrm>
            <a:prstGeom prst="rect">
              <a:avLst/>
            </a:prstGeom>
          </p:spPr>
        </p:pic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187AC92C-032C-C967-C231-4ED2755AB069}"/>
                </a:ext>
              </a:extLst>
            </p:cNvPr>
            <p:cNvSpPr txBox="1"/>
            <p:nvPr/>
          </p:nvSpPr>
          <p:spPr>
            <a:xfrm>
              <a:off x="8575040" y="3851111"/>
              <a:ext cx="2824480" cy="3539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17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모델의 성능지표</a:t>
              </a:r>
              <a:r>
                <a:rPr lang="en-US" altLang="ko-KR" sz="17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(metric)</a:t>
              </a:r>
              <a:endPara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endParaRPr>
            </a:p>
          </p:txBody>
        </p:sp>
      </p:grp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0E65D59E-6B20-48D6-060D-EDE9FEB86AEE}"/>
              </a:ext>
            </a:extLst>
          </p:cNvPr>
          <p:cNvGrpSpPr/>
          <p:nvPr/>
        </p:nvGrpSpPr>
        <p:grpSpPr>
          <a:xfrm>
            <a:off x="8020243" y="5462958"/>
            <a:ext cx="2824480" cy="1001698"/>
            <a:chOff x="8650279" y="5116220"/>
            <a:chExt cx="2824480" cy="1001698"/>
          </a:xfrm>
        </p:grpSpPr>
        <p:pic>
          <p:nvPicPr>
            <p:cNvPr id="45" name="그림 44">
              <a:extLst>
                <a:ext uri="{FF2B5EF4-FFF2-40B4-BE49-F238E27FC236}">
                  <a16:creationId xmlns:a16="http://schemas.microsoft.com/office/drawing/2014/main" id="{A0AC1168-EDFF-93B3-9765-389C48B5487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8670483" y="5470163"/>
              <a:ext cx="2575411" cy="647755"/>
            </a:xfrm>
            <a:prstGeom prst="rect">
              <a:avLst/>
            </a:prstGeom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B0E2E1CB-8BD0-9CBA-C134-C3EA19017FC6}"/>
                </a:ext>
              </a:extLst>
            </p:cNvPr>
            <p:cNvSpPr txBox="1"/>
            <p:nvPr/>
          </p:nvSpPr>
          <p:spPr>
            <a:xfrm>
              <a:off x="8650279" y="5116220"/>
              <a:ext cx="2824480" cy="3539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17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분산</a:t>
              </a:r>
              <a:r>
                <a:rPr lang="en-US" altLang="ko-KR" sz="17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, </a:t>
              </a:r>
              <a:r>
                <a:rPr lang="ko-KR" altLang="en-US" sz="17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내적</a:t>
              </a:r>
              <a:r>
                <a:rPr lang="en-US" altLang="ko-KR" sz="17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, </a:t>
              </a:r>
              <a:r>
                <a:rPr lang="ko-KR" altLang="en-US" sz="17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유클리드 거리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452221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9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4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 animBg="1"/>
      <p:bldP spid="39" grpId="0"/>
      <p:bldP spid="4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FC324B-8D95-E95D-3023-495A2775D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9AEAD823-3A3E-BE0F-C5B8-2B2976E24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Fitting a line to data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13F624C-7EF1-02BD-6478-A25E8DCA51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9</a:t>
            </a:fld>
            <a:endParaRPr lang="ko-KR" altLang="en-US" noProof="0"/>
          </a:p>
        </p:txBody>
      </p:sp>
      <p:pic>
        <p:nvPicPr>
          <p:cNvPr id="23554" name="Picture 2">
            <a:extLst>
              <a:ext uri="{FF2B5EF4-FFF2-40B4-BE49-F238E27FC236}">
                <a16:creationId xmlns:a16="http://schemas.microsoft.com/office/drawing/2014/main" id="{84A11B83-64F8-70E3-AE1B-71439B233C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90795" y="1952244"/>
            <a:ext cx="6451093" cy="35216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A197130-6E5F-9D66-5CB9-1198D38CF95D}"/>
              </a:ext>
            </a:extLst>
          </p:cNvPr>
          <p:cNvSpPr txBox="1"/>
          <p:nvPr/>
        </p:nvSpPr>
        <p:spPr>
          <a:xfrm>
            <a:off x="2090795" y="5561904"/>
            <a:ext cx="24982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https://medium.com/</a:t>
            </a:r>
            <a:r>
              <a:rPr lang="ko-KR" altLang="en-US" sz="12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669834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4D5C5-D1C0-2EAC-D146-0F2AC06291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B88C44-EEF5-724D-88A2-AA6DAE6DA4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270" y="396258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Matrix Formulation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270557-E1CB-D333-5F7F-F4856E8DDA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6F1DC974-0213-762D-DA9B-996F89ADE8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795" y="2291326"/>
            <a:ext cx="6624926" cy="210198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BA7676C-C191-A8AC-AF32-140354371AD5}"/>
              </a:ext>
            </a:extLst>
          </p:cNvPr>
          <p:cNvSpPr txBox="1"/>
          <p:nvPr/>
        </p:nvSpPr>
        <p:spPr>
          <a:xfrm>
            <a:off x="7538721" y="2291326"/>
            <a:ext cx="4348479" cy="2101986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(n, 1) = (n, p) @ (p, 1) + (n, 1)</a:t>
            </a:r>
          </a:p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(n, 1) = (n, p) @ (p, 1)</a:t>
            </a:r>
          </a:p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(n, 1) = (n, 1) – (n, 1) = (n,1) - (n, p) @ (p, 1)</a:t>
            </a:r>
          </a:p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1) = 1/n * (1, n)@(n, 1)</a:t>
            </a:r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19B85837-F508-0C94-9CF0-8BC26C9BAE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308439"/>
            <a:ext cx="10706705" cy="529886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선형회귀식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 regression)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행렬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스칼라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등의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수식 연산 표현</a:t>
            </a:r>
            <a:endParaRPr lang="en-US" altLang="ko-KR" sz="1800" cap="none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081087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4C0163-15BA-B9B1-CCC9-DE6AAB400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5641706-50DB-4E7F-A770-EC62EB6E7C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CB42B101-56A2-19C5-76E1-CE7BD021E8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B04C50D8-B70B-4E30-23FF-1BB14F9A85CC}"/>
              </a:ext>
            </a:extLst>
          </p:cNvPr>
          <p:cNvSpPr txBox="1">
            <a:spLocks/>
          </p:cNvSpPr>
          <p:nvPr/>
        </p:nvSpPr>
        <p:spPr>
          <a:xfrm>
            <a:off x="537021" y="610541"/>
            <a:ext cx="10353762" cy="5515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A455A37F-3231-1A41-AE78-15F0E8AEBF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53200" y="1747802"/>
            <a:ext cx="5467352" cy="3179798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파이썬의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대수학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(Algebra)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모듈인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사용하여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단순회귀식을 구하라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 함수 형태인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(sum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of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squared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errors)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의미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print(d_w0, d_w1)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편미분의미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0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의미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FA417F-8E04-9153-94A2-338997BEF6C8}"/>
              </a:ext>
            </a:extLst>
          </p:cNvPr>
          <p:cNvSpPr txBox="1"/>
          <p:nvPr/>
        </p:nvSpPr>
        <p:spPr>
          <a:xfrm>
            <a:off x="913795" y="1309966"/>
            <a:ext cx="5323840" cy="5016758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as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sp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1.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심볼 정의</a:t>
            </a:r>
          </a:p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w0, w1, x, y =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sp.symbols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('w0 w1 x y')</a:t>
            </a:r>
          </a:p>
          <a:p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2.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잔차제곱합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(SSE)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정의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 = [(1, 1), (2, 3), (4, 3), (3, 2), (5, 5)]</a:t>
            </a:r>
          </a:p>
          <a:p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sum((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y_i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– (w0 + w1 *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x_i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))**2 for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x_i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y_i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in data)</a:t>
            </a:r>
            <a:b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</a:b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3.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편미분을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통해 최소값 찾기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0)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d_w0 =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sp.diff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w0)</a:t>
            </a: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d_w1 =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sp.diff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w1)</a:t>
            </a:r>
            <a:b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</a:b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4.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연립방정식 풀기</a:t>
            </a: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solution =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sp.solve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([d_w0, d_w1], [w0, w1])</a:t>
            </a: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print(f"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최적의 가중치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{solution}")</a:t>
            </a:r>
          </a:p>
          <a:p>
            <a:pPr>
              <a:buNone/>
            </a:pP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5.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의미해석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print(d_w0, d_w1)</a:t>
            </a:r>
          </a:p>
        </p:txBody>
      </p:sp>
    </p:spTree>
    <p:extLst>
      <p:ext uri="{BB962C8B-B14F-4D97-AF65-F5344CB8AC3E}">
        <p14:creationId xmlns:p14="http://schemas.microsoft.com/office/powerpoint/2010/main" val="31956492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75003E-BEDD-42D4-4CBF-A635616448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DF0F06A-63C2-DF81-DD67-8ABD6DBB26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7277938-3F89-0A4B-FD6F-6C3A60E027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125963AB-9938-2FCF-579C-1601FF0C90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4444" y="1563412"/>
            <a:ext cx="10343112" cy="1482914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LinearRegression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으로 회귀식을 구해 비교하라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numpy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 사용하여 에러를 최소화하는 함수를 만들어 회귀식을 구하여 비교하라</a:t>
            </a: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AE29396D-00A5-B113-4D30-096C403C81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5621" y="2888271"/>
            <a:ext cx="4127687" cy="33301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제목 1">
            <a:extLst>
              <a:ext uri="{FF2B5EF4-FFF2-40B4-BE49-F238E27FC236}">
                <a16:creationId xmlns:a16="http://schemas.microsoft.com/office/drawing/2014/main" id="{9FF7C63E-80DF-8535-A0BE-D755DEC0CD6B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496031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4E4F8-12B7-84F6-67FE-7418458056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F2E29C-09FA-E082-C55F-9585B7A83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AA6105E-4140-477B-7DCF-2A2E711672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7DD94376-4403-4C5C-2798-FEA60EA6400C}"/>
              </a:ext>
            </a:extLst>
          </p:cNvPr>
          <p:cNvSpPr txBox="1">
            <a:spLocks/>
          </p:cNvSpPr>
          <p:nvPr/>
        </p:nvSpPr>
        <p:spPr>
          <a:xfrm>
            <a:off x="537021" y="602339"/>
            <a:ext cx="10353762" cy="5562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(Project)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EF1BC567-8CF8-0F01-3159-1111B5C86B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9308" y="1419224"/>
            <a:ext cx="10034891" cy="4617037"/>
          </a:xfrm>
        </p:spPr>
        <p:txBody>
          <a:bodyPr>
            <a:noAutofit/>
          </a:bodyPr>
          <a:lstStyle/>
          <a:p>
            <a:pPr marL="171450" indent="-171450">
              <a:lnSpc>
                <a:spcPct val="12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sns.load_dataset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(“diamonds")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데이터를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대상으로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LinearRegression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사용하여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변수간 상관관계를 산출하여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price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변수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(Target)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가장 상관관계가 높은 변수를 검토하고 수치형 변수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'carat', 'depth', 'table’ 3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입력변수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(Input)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가격을 예측하라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2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범주형 변수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'cut', 'color', 'clarity’, 3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추가하여 총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6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입력변수로 가격을 예측하라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2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수치형 및 범주형 변수와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price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변수와의 상관관계를 확인하는 방법을 토론하라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171450" indent="-171450">
              <a:lnSpc>
                <a:spcPct val="12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범주형 변수를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one-hot-encoding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하거나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dummy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변수로 </a:t>
            </a:r>
            <a:r>
              <a:rPr lang="ko-KR" altLang="en-US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전처리하는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의미는 무엇인가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</a:p>
          <a:p>
            <a:pPr lvl="1">
              <a:lnSpc>
                <a:spcPct val="12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Symson’s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paradox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관련되어 이해하라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2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statsmodels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라이브러리를 사용하여 통계적 요약 보고서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(Summary)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변수의 유의성을 판단하도록 하라</a:t>
            </a:r>
          </a:p>
        </p:txBody>
      </p:sp>
    </p:spTree>
    <p:extLst>
      <p:ext uri="{BB962C8B-B14F-4D97-AF65-F5344CB8AC3E}">
        <p14:creationId xmlns:p14="http://schemas.microsoft.com/office/powerpoint/2010/main" val="9645827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0F959B-9F8A-E278-5C4A-F76AA547C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8B76A31-430E-4AFE-FC1A-725748E9B71C}"/>
              </a:ext>
            </a:extLst>
          </p:cNvPr>
          <p:cNvSpPr/>
          <p:nvPr/>
        </p:nvSpPr>
        <p:spPr>
          <a:xfrm>
            <a:off x="734002" y="1983448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5F4B479B-CED5-9339-49A4-664509216C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2E25E364-035C-85C6-18BE-3B7D366475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14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D696C0E-3F45-288C-7A19-C7EEA5031C2B}"/>
              </a:ext>
            </a:extLst>
          </p:cNvPr>
          <p:cNvSpPr txBox="1"/>
          <p:nvPr/>
        </p:nvSpPr>
        <p:spPr>
          <a:xfrm>
            <a:off x="1764145" y="1384043"/>
            <a:ext cx="7250546" cy="16829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</p:txBody>
      </p:sp>
    </p:spTree>
    <p:extLst>
      <p:ext uri="{BB962C8B-B14F-4D97-AF65-F5344CB8AC3E}">
        <p14:creationId xmlns:p14="http://schemas.microsoft.com/office/powerpoint/2010/main" val="41830070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A48A9D-80A6-605A-D534-425E76531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998F20E-8EE0-78A5-D0EA-4B644EEC16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9B03C88-270A-EE2C-3233-714AAFEC9BE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Stochastic Gradient Descent Algorithm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0A3CACE-DE81-CBDF-798D-06984882AC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495" y="1604437"/>
            <a:ext cx="5381131" cy="3984803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49E78179-2E09-0355-C041-22C079CFD5A4}"/>
              </a:ext>
            </a:extLst>
          </p:cNvPr>
          <p:cNvSpPr/>
          <p:nvPr/>
        </p:nvSpPr>
        <p:spPr>
          <a:xfrm>
            <a:off x="2905919" y="2156425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구부러진 연결선 11">
            <a:extLst>
              <a:ext uri="{FF2B5EF4-FFF2-40B4-BE49-F238E27FC236}">
                <a16:creationId xmlns:a16="http://schemas.microsoft.com/office/drawing/2014/main" id="{BF0E4733-A836-DC62-3DDB-852B81B9F73E}"/>
              </a:ext>
            </a:extLst>
          </p:cNvPr>
          <p:cNvCxnSpPr>
            <a:cxnSpLocks/>
            <a:stCxn id="9" idx="2"/>
            <a:endCxn id="16" idx="1"/>
          </p:cNvCxnSpPr>
          <p:nvPr/>
        </p:nvCxnSpPr>
        <p:spPr>
          <a:xfrm rot="16200000" flipH="1">
            <a:off x="3124616" y="2458456"/>
            <a:ext cx="2896815" cy="2758145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AE18941F-B0F9-67C5-F662-E6B4EE6F98DF}"/>
              </a:ext>
            </a:extLst>
          </p:cNvPr>
          <p:cNvSpPr txBox="1"/>
          <p:nvPr/>
        </p:nvSpPr>
        <p:spPr>
          <a:xfrm>
            <a:off x="7620514" y="1434004"/>
            <a:ext cx="2648935" cy="8883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Let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α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=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β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=0,</a:t>
            </a:r>
          </a:p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y_hat =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α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 +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β</a:t>
            </a:r>
            <a:r>
              <a:rPr lang="ko-KR" altLang="en-US" sz="1200">
                <a:latin typeface="Arial Narrow" panose="020B0606020202030204" pitchFamily="34" charset="0"/>
                <a:ea typeface="맑은 고딕" panose="020B0503020000020004" pitchFamily="50" charset="-127"/>
              </a:rPr>
              <a:t>* 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X(instance)   </a:t>
            </a:r>
          </a:p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error = y_hat - y</a:t>
            </a:r>
            <a:endParaRPr lang="ko-KR" altLang="en-US" sz="1200">
              <a:latin typeface="Arial Narrow" panose="020B0606020202030204" pitchFamily="34" charset="0"/>
            </a:endParaRPr>
          </a:p>
        </p:txBody>
      </p:sp>
      <p:pic>
        <p:nvPicPr>
          <p:cNvPr id="12" name="_x422600552" descr="DRW00004be805ca">
            <a:extLst>
              <a:ext uri="{FF2B5EF4-FFF2-40B4-BE49-F238E27FC236}">
                <a16:creationId xmlns:a16="http://schemas.microsoft.com/office/drawing/2014/main" id="{CA140FD1-229F-BE57-FCAD-4A8ADDB11E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52501" y="1604437"/>
            <a:ext cx="2362060" cy="5475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EF1AD573-1CBB-4023-F7C6-802D274C385F}"/>
              </a:ext>
            </a:extLst>
          </p:cNvPr>
          <p:cNvSpPr/>
          <p:nvPr/>
        </p:nvSpPr>
        <p:spPr>
          <a:xfrm>
            <a:off x="6200911" y="2414721"/>
            <a:ext cx="147829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>
                <a:latin typeface="Arial Narrow" panose="020B0606020202030204" pitchFamily="34" charset="0"/>
                <a:ea typeface="맑은 고딕" panose="020B0503020000020004" pitchFamily="50" charset="-127"/>
              </a:rPr>
              <a:t>Recursive iterations</a:t>
            </a:r>
            <a:endParaRPr lang="ko-KR" altLang="en-US" sz="1400" u="sng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4A49041-B721-4B86-3514-E8E380D285C4}"/>
              </a:ext>
            </a:extLst>
          </p:cNvPr>
          <p:cNvSpPr/>
          <p:nvPr/>
        </p:nvSpPr>
        <p:spPr>
          <a:xfrm>
            <a:off x="6266634" y="1266956"/>
            <a:ext cx="134684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>
                <a:latin typeface="Arial Narrow" panose="020B0606020202030204" pitchFamily="34" charset="0"/>
                <a:ea typeface="맑은 고딕" panose="020B0503020000020004" pitchFamily="50" charset="-127"/>
              </a:rPr>
              <a:t>Initialized settings</a:t>
            </a:r>
            <a:endParaRPr lang="ko-KR" altLang="en-US" sz="1400" u="sng"/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805CDB8F-66D5-E0F1-65C3-4434DA3C88CA}"/>
              </a:ext>
            </a:extLst>
          </p:cNvPr>
          <p:cNvCxnSpPr>
            <a:stCxn id="14" idx="2"/>
            <a:endCxn id="13" idx="0"/>
          </p:cNvCxnSpPr>
          <p:nvPr/>
        </p:nvCxnSpPr>
        <p:spPr>
          <a:xfrm>
            <a:off x="6940056" y="1574733"/>
            <a:ext cx="0" cy="8399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6" name="그림 15">
            <a:extLst>
              <a:ext uri="{FF2B5EF4-FFF2-40B4-BE49-F238E27FC236}">
                <a16:creationId xmlns:a16="http://schemas.microsoft.com/office/drawing/2014/main" id="{10ED7DF1-E89E-94D9-9FB9-80F44B86C7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2096" y="4535612"/>
            <a:ext cx="5346757" cy="1500649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0720B32A-EB97-F165-4582-A6CBBFE5019A}"/>
              </a:ext>
            </a:extLst>
          </p:cNvPr>
          <p:cNvSpPr/>
          <p:nvPr/>
        </p:nvSpPr>
        <p:spPr>
          <a:xfrm>
            <a:off x="3588200" y="2136863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" name="구부러진 연결선 24">
            <a:extLst>
              <a:ext uri="{FF2B5EF4-FFF2-40B4-BE49-F238E27FC236}">
                <a16:creationId xmlns:a16="http://schemas.microsoft.com/office/drawing/2014/main" id="{70B4902C-D349-338F-456E-77DC2D0640F1}"/>
              </a:ext>
            </a:extLst>
          </p:cNvPr>
          <p:cNvCxnSpPr>
            <a:cxnSpLocks/>
            <a:stCxn id="17" idx="2"/>
            <a:endCxn id="19" idx="1"/>
          </p:cNvCxnSpPr>
          <p:nvPr/>
        </p:nvCxnSpPr>
        <p:spPr>
          <a:xfrm rot="16200000" flipH="1">
            <a:off x="4533700" y="1712092"/>
            <a:ext cx="1241319" cy="255625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9" name="그림 18">
            <a:extLst>
              <a:ext uri="{FF2B5EF4-FFF2-40B4-BE49-F238E27FC236}">
                <a16:creationId xmlns:a16="http://schemas.microsoft.com/office/drawing/2014/main" id="{86715BE0-4A4F-3CF6-4749-616264D565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2486" y="2864884"/>
            <a:ext cx="5254874" cy="1491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15179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1F9AB3-E6B8-28DD-5097-6AFE1CE06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C51754-C061-4C8D-DF7E-CB156A83B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451A519D-6530-EE2C-2EF8-DAD2B15AF5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A65FD1D8-F992-7ABC-9406-5942C3F347FD}"/>
              </a:ext>
            </a:extLst>
          </p:cNvPr>
          <p:cNvSpPr txBox="1">
            <a:spLocks/>
          </p:cNvSpPr>
          <p:nvPr/>
        </p:nvSpPr>
        <p:spPr>
          <a:xfrm>
            <a:off x="447070" y="400132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Descending Mount Everest(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Errorest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AutoShape 4" descr="Gradient Ascent">
            <a:extLst>
              <a:ext uri="{FF2B5EF4-FFF2-40B4-BE49-F238E27FC236}">
                <a16:creationId xmlns:a16="http://schemas.microsoft.com/office/drawing/2014/main" id="{A5361D08-032E-C069-60DE-3ECECBDA58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54D3919-B9A5-4428-552C-028371B403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819" y="2527576"/>
            <a:ext cx="5644596" cy="3549946"/>
          </a:xfrm>
          <a:prstGeom prst="rect">
            <a:avLst/>
          </a:prstGeom>
        </p:spPr>
      </p:pic>
      <p:pic>
        <p:nvPicPr>
          <p:cNvPr id="9" name="Picture 2" descr="What Is Gradient Descent? | Built In">
            <a:extLst>
              <a:ext uri="{FF2B5EF4-FFF2-40B4-BE49-F238E27FC236}">
                <a16:creationId xmlns:a16="http://schemas.microsoft.com/office/drawing/2014/main" id="{98328970-324B-9F2F-1BB2-C6082D5EB9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6464" y="2527576"/>
            <a:ext cx="5409396" cy="35328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FBB124D-42BE-A943-8D3C-848A6685895A}"/>
              </a:ext>
            </a:extLst>
          </p:cNvPr>
          <p:cNvSpPr txBox="1"/>
          <p:nvPr/>
        </p:nvSpPr>
        <p:spPr>
          <a:xfrm>
            <a:off x="1026160" y="1276221"/>
            <a:ext cx="8585200" cy="876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그림에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 함수 형태인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(sum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of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squared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errors), d_w0, d_w1(</a:t>
            </a:r>
            <a:r>
              <a:rPr lang="ko-KR" altLang="en-US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편미분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),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0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J(w, b)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등의 모든 용어의 의미가 무엇인지 토론하자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6BE7AED-8858-744A-5A7B-924A10F1C090}"/>
              </a:ext>
            </a:extLst>
          </p:cNvPr>
          <p:cNvSpPr txBox="1"/>
          <p:nvPr/>
        </p:nvSpPr>
        <p:spPr>
          <a:xfrm>
            <a:off x="701040" y="6082702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출처 </a:t>
            </a:r>
            <a:r>
              <a:rPr lang="en-US" altLang="ko-KR" sz="12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en-US" altLang="ko-KR" sz="12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coursera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8562906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89DC4-4AF3-EC4A-C1AC-743B8433B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E01BFB-6514-033B-616C-9C8CB0D62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FE64A05-EC9A-7A18-276B-BAE1ACCEF4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4444" y="1248422"/>
            <a:ext cx="3599209" cy="533293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954E6098-1902-C2B9-D42B-B9F5D7D5B6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3197" y="1457088"/>
            <a:ext cx="3544813" cy="2339033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7F3A0907-AE0A-B055-AB47-80AD866702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4004787"/>
            <a:ext cx="3599209" cy="2339033"/>
          </a:xfrm>
          <a:prstGeom prst="rect">
            <a:avLst/>
          </a:prstGeom>
        </p:spPr>
      </p:pic>
      <p:sp>
        <p:nvSpPr>
          <p:cNvPr id="15" name="제목 1">
            <a:extLst>
              <a:ext uri="{FF2B5EF4-FFF2-40B4-BE49-F238E27FC236}">
                <a16:creationId xmlns:a16="http://schemas.microsoft.com/office/drawing/2014/main" id="{91515F74-0FD2-1243-A016-EC019A90AF2D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494725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AEA1B-A0FA-5534-230F-40BF4FB6C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59A6CEE-8B03-8434-BA64-2B488CE146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B97EA6D6-8D0D-66DB-6F02-6DCE59D1B2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530349"/>
            <a:ext cx="10868630" cy="1336676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입력변수가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개인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XOR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문제를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단층구조 네트워크로 만들고 엑셀로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parameter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 propagation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구하라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9CC69B6-865A-9308-9FC3-96B0A1E5CA4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Backpropagation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823BA1C6-278D-12C3-6549-782ACC6199C7}"/>
              </a:ext>
            </a:extLst>
          </p:cNvPr>
          <p:cNvGrpSpPr/>
          <p:nvPr/>
        </p:nvGrpSpPr>
        <p:grpSpPr>
          <a:xfrm>
            <a:off x="1449579" y="2923303"/>
            <a:ext cx="3284345" cy="2585323"/>
            <a:chOff x="2383030" y="2885975"/>
            <a:chExt cx="3725892" cy="2964901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710CE7DA-3074-6AFC-EEDA-A141F7393A0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383030" y="2885975"/>
              <a:ext cx="3725892" cy="2964901"/>
            </a:xfrm>
            <a:prstGeom prst="rect">
              <a:avLst/>
            </a:prstGeom>
          </p:spPr>
        </p:pic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8AFDB8AF-ED88-9564-8F5F-FCE90C4664C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flipH="1">
              <a:off x="5743305" y="3817589"/>
              <a:ext cx="358398" cy="925861"/>
            </a:xfrm>
            <a:prstGeom prst="rect">
              <a:avLst/>
            </a:prstGeom>
          </p:spPr>
        </p:pic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5BE37ACC-2FC0-0549-4E18-391B6A893B24}"/>
              </a:ext>
            </a:extLst>
          </p:cNvPr>
          <p:cNvSpPr txBox="1"/>
          <p:nvPr/>
        </p:nvSpPr>
        <p:spPr>
          <a:xfrm>
            <a:off x="5423677" y="2949574"/>
            <a:ext cx="6096000" cy="258532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r>
              <a:rPr lang="ko-KR" altLang="en-US" dirty="0"/>
              <a:t>        X0 (=1, </a:t>
            </a:r>
            <a:r>
              <a:rPr lang="ko-KR" altLang="en-US" dirty="0" err="1"/>
              <a:t>bias</a:t>
            </a:r>
            <a:r>
              <a:rPr lang="ko-KR" altLang="en-US" dirty="0"/>
              <a:t>)</a:t>
            </a:r>
          </a:p>
          <a:p>
            <a:r>
              <a:rPr lang="ko-KR" altLang="en-US" dirty="0"/>
              <a:t>             │</a:t>
            </a:r>
          </a:p>
          <a:p>
            <a:r>
              <a:rPr lang="ko-KR" altLang="en-US" dirty="0"/>
              <a:t>             │ w0</a:t>
            </a:r>
          </a:p>
          <a:p>
            <a:r>
              <a:rPr lang="ko-KR" altLang="en-US" dirty="0"/>
              <a:t>             ▼</a:t>
            </a:r>
          </a:p>
          <a:p>
            <a:r>
              <a:rPr lang="ko-KR" altLang="en-US" dirty="0"/>
              <a:t>        ┌─────────┐</a:t>
            </a:r>
          </a:p>
          <a:p>
            <a:r>
              <a:rPr lang="ko-KR" altLang="en-US" dirty="0"/>
              <a:t>X1 ──w1▶│         │</a:t>
            </a:r>
          </a:p>
          <a:p>
            <a:r>
              <a:rPr lang="ko-KR" altLang="en-US" dirty="0"/>
              <a:t>        │             </a:t>
            </a:r>
            <a:r>
              <a:rPr lang="ko-KR" altLang="en-US" dirty="0" err="1"/>
              <a:t>Σ</a:t>
            </a:r>
            <a:r>
              <a:rPr lang="ko-KR" altLang="en-US" dirty="0"/>
              <a:t>    │───▶ </a:t>
            </a:r>
            <a:r>
              <a:rPr lang="ko-KR" altLang="en-US" dirty="0" err="1"/>
              <a:t>Activation</a:t>
            </a:r>
            <a:r>
              <a:rPr lang="ko-KR" altLang="en-US" dirty="0"/>
              <a:t> (</a:t>
            </a:r>
            <a:r>
              <a:rPr lang="ko-KR" altLang="en-US" dirty="0" err="1"/>
              <a:t>Step</a:t>
            </a:r>
            <a:r>
              <a:rPr lang="ko-KR" altLang="en-US" dirty="0"/>
              <a:t>) ───▶ </a:t>
            </a:r>
            <a:r>
              <a:rPr lang="ko-KR" altLang="en-US" dirty="0" err="1"/>
              <a:t>y</a:t>
            </a:r>
            <a:endParaRPr lang="ko-KR" altLang="en-US" dirty="0"/>
          </a:p>
          <a:p>
            <a:r>
              <a:rPr lang="ko-KR" altLang="en-US" dirty="0"/>
              <a:t>X2 ──w2▶│ (</a:t>
            </a:r>
            <a:r>
              <a:rPr lang="ko-KR" altLang="en-US" dirty="0" err="1"/>
              <a:t>sum</a:t>
            </a:r>
            <a:r>
              <a:rPr lang="ko-KR" altLang="en-US" dirty="0"/>
              <a:t>) │</a:t>
            </a:r>
          </a:p>
          <a:p>
            <a:r>
              <a:rPr lang="ko-KR" altLang="en-US" dirty="0"/>
              <a:t>        └─────────┘</a:t>
            </a:r>
          </a:p>
        </p:txBody>
      </p:sp>
      <p:pic>
        <p:nvPicPr>
          <p:cNvPr id="14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A48D627-DB6B-37D0-763C-BD40D9FFFD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862537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6374E8-82B3-D847-F7E8-EF04D487C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61781C-D05A-B519-20BE-DBE65D41B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EBBEECA-7208-58A6-BAAE-4D2303EBA9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F2C9450F-B441-3F20-44D9-4580F732A108}"/>
              </a:ext>
            </a:extLst>
          </p:cNvPr>
          <p:cNvSpPr txBox="1">
            <a:spLocks/>
          </p:cNvSpPr>
          <p:nvPr/>
        </p:nvSpPr>
        <p:spPr>
          <a:xfrm>
            <a:off x="437545" y="502356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Backpropagation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716D3317-9D82-5C29-5B4D-23A68081DE1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86344" y="1813025"/>
            <a:ext cx="11118079" cy="390121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01DA442-0A02-35E1-5924-E2BF51A7DDF7}"/>
              </a:ext>
            </a:extLst>
          </p:cNvPr>
          <p:cNvSpPr txBox="1"/>
          <p:nvPr/>
        </p:nvSpPr>
        <p:spPr>
          <a:xfrm>
            <a:off x="924443" y="1378781"/>
            <a:ext cx="2702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 Network using Excel</a:t>
            </a:r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CB480A6-A0B3-0246-44AD-75B302A6D0B8}"/>
              </a:ext>
            </a:extLst>
          </p:cNvPr>
          <p:cNvSpPr/>
          <p:nvPr/>
        </p:nvSpPr>
        <p:spPr>
          <a:xfrm>
            <a:off x="2362200" y="4819650"/>
            <a:ext cx="1066800" cy="990600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4A570F2-2DB4-7E00-450D-D41338F92653}"/>
              </a:ext>
            </a:extLst>
          </p:cNvPr>
          <p:cNvSpPr/>
          <p:nvPr/>
        </p:nvSpPr>
        <p:spPr>
          <a:xfrm>
            <a:off x="6915149" y="4819650"/>
            <a:ext cx="2295525" cy="990600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1424243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F3867-2510-7649-E7B5-1E72CAE61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646AB6A-240F-F6E1-0407-4133B0FC9540}"/>
              </a:ext>
            </a:extLst>
          </p:cNvPr>
          <p:cNvSpPr/>
          <p:nvPr/>
        </p:nvSpPr>
        <p:spPr>
          <a:xfrm>
            <a:off x="734002" y="252998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3E9B65AA-C3F3-147A-EBE3-ECA929015C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AA23A0F-5651-9A9E-2053-9E41643662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20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FB60CF9-92EE-44B5-F8B8-0506E0067B62}"/>
              </a:ext>
            </a:extLst>
          </p:cNvPr>
          <p:cNvSpPr txBox="1"/>
          <p:nvPr/>
        </p:nvSpPr>
        <p:spPr>
          <a:xfrm>
            <a:off x="1764145" y="1384043"/>
            <a:ext cx="7250546" cy="16829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</p:txBody>
      </p:sp>
    </p:spTree>
    <p:extLst>
      <p:ext uri="{BB962C8B-B14F-4D97-AF65-F5344CB8AC3E}">
        <p14:creationId xmlns:p14="http://schemas.microsoft.com/office/powerpoint/2010/main" val="33463679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49DF67-D844-9263-578F-AEA0DDF40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751DE29D-F9D5-F4CB-637D-335343EE58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21</a:t>
            </a:fld>
            <a:endParaRPr lang="en-US" sz="2000" dirty="0"/>
          </a:p>
        </p:txBody>
      </p:sp>
      <p:pic>
        <p:nvPicPr>
          <p:cNvPr id="16386" name="Picture 2">
            <a:extLst>
              <a:ext uri="{FF2B5EF4-FFF2-40B4-BE49-F238E27FC236}">
                <a16:creationId xmlns:a16="http://schemas.microsoft.com/office/drawing/2014/main" id="{37153B1E-FE77-9A3F-9534-09E1085ED4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1881" y="2542047"/>
            <a:ext cx="4017820" cy="17739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388" name="Picture 4">
            <a:extLst>
              <a:ext uri="{FF2B5EF4-FFF2-40B4-BE49-F238E27FC236}">
                <a16:creationId xmlns:a16="http://schemas.microsoft.com/office/drawing/2014/main" id="{E35F42B8-7ECF-02CE-A7E8-685DE5B269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1852613"/>
            <a:ext cx="5536049" cy="30126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제목 7">
            <a:extLst>
              <a:ext uri="{FF2B5EF4-FFF2-40B4-BE49-F238E27FC236}">
                <a16:creationId xmlns:a16="http://schemas.microsoft.com/office/drawing/2014/main" id="{B5E3B9F4-5DC7-A211-5F12-52F46993ED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Regression and Perceptron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8603443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C774A-FBC4-2837-ADCA-FEB8629CE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BE44AB-C056-17FD-C251-4668DEBBE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81D2E564-5A67-2191-8947-A738C145604F}"/>
              </a:ext>
            </a:extLst>
          </p:cNvPr>
          <p:cNvSpPr txBox="1">
            <a:spLocks/>
          </p:cNvSpPr>
          <p:nvPr/>
        </p:nvSpPr>
        <p:spPr>
          <a:xfrm>
            <a:off x="523270" y="653433"/>
            <a:ext cx="10353762" cy="5198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Perceptron with single feature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B7DCEA7-54A6-B15D-05C9-0627756675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7511" y="3104579"/>
            <a:ext cx="5805481" cy="2563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628945E9-11C3-FF31-7062-26217F2120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2647" y="1414776"/>
                <a:ext cx="10706705" cy="1092188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Simple Linear Regression</a:t>
                </a:r>
              </a:p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단일변수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 single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18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628945E9-11C3-FF31-7062-26217F2120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2647" y="1414776"/>
                <a:ext cx="10706705" cy="1092188"/>
              </a:xfrm>
              <a:blipFill>
                <a:blip r:embed="rId3"/>
                <a:stretch>
                  <a:fillRect l="-399" t="-279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>
            <a:extLst>
              <a:ext uri="{FF2B5EF4-FFF2-40B4-BE49-F238E27FC236}">
                <a16:creationId xmlns:a16="http://schemas.microsoft.com/office/drawing/2014/main" id="{AC721B09-7985-FB30-C02C-CDB0F3FFC5C8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bg1">
                <a:lumMod val="95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8888379" y="3380613"/>
            <a:ext cx="1824265" cy="43564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</p:pic>
      <p:grpSp>
        <p:nvGrpSpPr>
          <p:cNvPr id="46" name="그룹 45">
            <a:extLst>
              <a:ext uri="{FF2B5EF4-FFF2-40B4-BE49-F238E27FC236}">
                <a16:creationId xmlns:a16="http://schemas.microsoft.com/office/drawing/2014/main" id="{F45D2DDE-ED31-970A-8F32-829DACE28F6E}"/>
              </a:ext>
            </a:extLst>
          </p:cNvPr>
          <p:cNvGrpSpPr/>
          <p:nvPr/>
        </p:nvGrpSpPr>
        <p:grpSpPr>
          <a:xfrm>
            <a:off x="5960736" y="2976946"/>
            <a:ext cx="5303753" cy="2942019"/>
            <a:chOff x="6513186" y="2510221"/>
            <a:chExt cx="5303753" cy="2942019"/>
          </a:xfrm>
        </p:grpSpPr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2349E664-7C0D-0A6F-DA46-783EB35CA6F4}"/>
                </a:ext>
              </a:extLst>
            </p:cNvPr>
            <p:cNvGrpSpPr/>
            <p:nvPr/>
          </p:nvGrpSpPr>
          <p:grpSpPr>
            <a:xfrm>
              <a:off x="6513186" y="3349535"/>
              <a:ext cx="5288289" cy="2102705"/>
              <a:chOff x="4608186" y="4222810"/>
              <a:chExt cx="5288289" cy="2102705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182A04B-D395-1DFA-D4A5-FA95694198F3}"/>
                  </a:ext>
                </a:extLst>
              </p:cNvPr>
              <p:cNvSpPr txBox="1"/>
              <p:nvPr/>
            </p:nvSpPr>
            <p:spPr>
              <a:xfrm>
                <a:off x="7009199" y="5986961"/>
                <a:ext cx="2887276" cy="33855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r>
                  <a:rPr lang="en-US" altLang="ko-KR" sz="1600" dirty="0">
                    <a:latin typeface="+mj-ea"/>
                  </a:rPr>
                  <a:t>(n, 1) = (n, 1) @ (1, 1) + (n,1)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  <p:grpSp>
            <p:nvGrpSpPr>
              <p:cNvPr id="42" name="그룹 41">
                <a:extLst>
                  <a:ext uri="{FF2B5EF4-FFF2-40B4-BE49-F238E27FC236}">
                    <a16:creationId xmlns:a16="http://schemas.microsoft.com/office/drawing/2014/main" id="{662C1E02-B87A-DEDD-3BC5-2C00C5141498}"/>
                  </a:ext>
                </a:extLst>
              </p:cNvPr>
              <p:cNvGrpSpPr/>
              <p:nvPr/>
            </p:nvGrpSpPr>
            <p:grpSpPr>
              <a:xfrm>
                <a:off x="4608186" y="4222810"/>
                <a:ext cx="5288289" cy="1822532"/>
                <a:chOff x="4961700" y="4115748"/>
                <a:chExt cx="4509666" cy="1554191"/>
              </a:xfrm>
            </p:grpSpPr>
            <p:pic>
              <p:nvPicPr>
                <p:cNvPr id="34" name="그림 33">
                  <a:extLst>
                    <a:ext uri="{FF2B5EF4-FFF2-40B4-BE49-F238E27FC236}">
                      <a16:creationId xmlns:a16="http://schemas.microsoft.com/office/drawing/2014/main" id="{9A6BDC3D-A4CC-D6F5-EB1A-C74E4C7B2FA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009199" y="4115748"/>
                  <a:ext cx="2462167" cy="1554191"/>
                </a:xfrm>
                <a:prstGeom prst="rect">
                  <a:avLst/>
                </a:prstGeom>
              </p:spPr>
            </p:pic>
            <p:pic>
              <p:nvPicPr>
                <p:cNvPr id="41" name="그림 40">
                  <a:extLst>
                    <a:ext uri="{FF2B5EF4-FFF2-40B4-BE49-F238E27FC236}">
                      <a16:creationId xmlns:a16="http://schemas.microsoft.com/office/drawing/2014/main" id="{8058C60F-E1F1-BF72-C7F4-F9EF89B9287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4961700" y="4636720"/>
                  <a:ext cx="1917954" cy="256124"/>
                </a:xfrm>
                <a:prstGeom prst="rect">
                  <a:avLst/>
                </a:prstGeom>
              </p:spPr>
            </p:pic>
          </p:grp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73032DFD-B8AA-1AB7-E55F-89A8F8BD220A}"/>
                </a:ext>
              </a:extLst>
            </p:cNvPr>
            <p:cNvSpPr txBox="1"/>
            <p:nvPr/>
          </p:nvSpPr>
          <p:spPr>
            <a:xfrm>
              <a:off x="9149744" y="2510221"/>
              <a:ext cx="266719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Matrix Formulation</a:t>
              </a:r>
              <a:endParaRPr lang="ko-KR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471897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9D7270-A613-BE98-819E-33BAE7981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23AD91-9546-54D2-90A5-EBC109034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DDADF338-872C-BF9C-68A7-5537D71ED3F3}"/>
              </a:ext>
            </a:extLst>
          </p:cNvPr>
          <p:cNvSpPr txBox="1">
            <a:spLocks/>
          </p:cNvSpPr>
          <p:nvPr/>
        </p:nvSpPr>
        <p:spPr>
          <a:xfrm>
            <a:off x="561370" y="615334"/>
            <a:ext cx="10353762" cy="5371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Perceptron with multiple features</a:t>
            </a:r>
            <a:endParaRPr lang="ko-KR" altLang="en-US" sz="2800" cap="none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2647" y="1427893"/>
                <a:ext cx="10706705" cy="1377273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</a:t>
                </a:r>
                <a:r>
                  <a:rPr lang="en-US" altLang="ko-KR" sz="1800" cap="none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Mutiple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Linear Regression</a:t>
                </a:r>
              </a:p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다중변수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(multiple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18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2647" y="1427893"/>
                <a:ext cx="10706705" cy="1377273"/>
              </a:xfrm>
              <a:blipFill>
                <a:blip r:embed="rId2"/>
                <a:stretch>
                  <a:fillRect l="-399" t="-221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>
            <a:extLst>
              <a:ext uri="{FF2B5EF4-FFF2-40B4-BE49-F238E27FC236}">
                <a16:creationId xmlns:a16="http://schemas.microsoft.com/office/drawing/2014/main" id="{052D6F70-4FDF-23ED-F1D3-92D182B79D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1928" y="2624259"/>
            <a:ext cx="6054374" cy="3294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그룹 7">
            <a:extLst>
              <a:ext uri="{FF2B5EF4-FFF2-40B4-BE49-F238E27FC236}">
                <a16:creationId xmlns:a16="http://schemas.microsoft.com/office/drawing/2014/main" id="{A2954695-EC8A-4B49-2BC8-B84F0379CE77}"/>
              </a:ext>
            </a:extLst>
          </p:cNvPr>
          <p:cNvGrpSpPr/>
          <p:nvPr/>
        </p:nvGrpSpPr>
        <p:grpSpPr>
          <a:xfrm>
            <a:off x="7850179" y="2624259"/>
            <a:ext cx="4172517" cy="2805848"/>
            <a:chOff x="7850179" y="2624259"/>
            <a:chExt cx="4172517" cy="2805848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5B00755-4DB1-2290-0D18-9768794AE216}"/>
                </a:ext>
              </a:extLst>
            </p:cNvPr>
            <p:cNvSpPr txBox="1"/>
            <p:nvPr/>
          </p:nvSpPr>
          <p:spPr>
            <a:xfrm>
              <a:off x="8533199" y="5091553"/>
              <a:ext cx="2887276" cy="338554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r>
                <a:rPr lang="en-US" altLang="ko-KR" sz="1600" dirty="0">
                  <a:latin typeface="+mj-ea"/>
                </a:rPr>
                <a:t>(n, 1) = (n, 3) @ (3, 1) + (n,1)</a:t>
              </a:r>
              <a:endParaRPr lang="ko-KR" altLang="en-US" sz="1600" dirty="0">
                <a:latin typeface="+mj-ea"/>
                <a:ea typeface="+mj-ea"/>
              </a:endParaRP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090AF9DB-ABDC-0C64-5932-6FEDD3D030B8}"/>
                </a:ext>
              </a:extLst>
            </p:cNvPr>
            <p:cNvSpPr txBox="1"/>
            <p:nvPr/>
          </p:nvSpPr>
          <p:spPr>
            <a:xfrm>
              <a:off x="8790862" y="2624259"/>
              <a:ext cx="247669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Matrix Formulation</a:t>
              </a:r>
              <a:endParaRPr lang="ko-KR" altLang="en-US" dirty="0"/>
            </a:p>
          </p:txBody>
        </p:sp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A45D8B4D-97A1-8C20-11EB-B9303DFACF7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850179" y="3573619"/>
              <a:ext cx="4172517" cy="1555134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2879EF01-D57D-603E-DF74-20AFD060281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423045" y="3170262"/>
              <a:ext cx="3021634" cy="40335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28738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E1E7B0-7803-9D29-32C0-9698CF449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내용 개체 틀 23">
            <a:extLst>
              <a:ext uri="{FF2B5EF4-FFF2-40B4-BE49-F238E27FC236}">
                <a16:creationId xmlns:a16="http://schemas.microsoft.com/office/drawing/2014/main" id="{1E2CC3F1-BCA1-50B2-98C7-41CFEACD45EA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>
            <a:duotone>
              <a:prstClr val="black"/>
              <a:srgbClr val="D9C3A5">
                <a:tint val="50000"/>
                <a:satMod val="180000"/>
              </a:srgbClr>
            </a:duotone>
          </a:blip>
          <a:stretch>
            <a:fillRect/>
          </a:stretch>
        </p:blipFill>
        <p:spPr>
          <a:xfrm>
            <a:off x="575310" y="2301623"/>
            <a:ext cx="7821115" cy="338125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DFEB521-F0C2-BD86-F32E-B3E47E9AFAC3}"/>
                  </a:ext>
                </a:extLst>
              </p:cNvPr>
              <p:cNvSpPr txBox="1"/>
              <p:nvPr/>
            </p:nvSpPr>
            <p:spPr>
              <a:xfrm>
                <a:off x="8493854" y="2173134"/>
                <a:ext cx="1317925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𝑎𝑋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DFEB521-F0C2-BD86-F32E-B3E47E9AFA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93854" y="2173134"/>
                <a:ext cx="1317925" cy="307777"/>
              </a:xfrm>
              <a:prstGeom prst="rect">
                <a:avLst/>
              </a:prstGeom>
              <a:blipFill>
                <a:blip r:embed="rId3"/>
                <a:stretch>
                  <a:fillRect l="-3687" t="-17647" r="-3226" b="-2745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328C044-B491-582D-396E-6945C1162491}"/>
                  </a:ext>
                </a:extLst>
              </p:cNvPr>
              <p:cNvSpPr txBox="1"/>
              <p:nvPr/>
            </p:nvSpPr>
            <p:spPr>
              <a:xfrm>
                <a:off x="708546" y="1325937"/>
                <a:ext cx="9990035" cy="45506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회귀생성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(Regression)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은 데이터 벡터 </a:t>
                </a:r>
                <a14:m>
                  <m:oMath xmlns:m="http://schemas.openxmlformats.org/officeDocument/2006/math">
                    <m:r>
                      <a:rPr lang="ko-KR" altLang="en-US" b="1">
                        <a:latin typeface="Cambria Math" panose="02040503050406030204" pitchFamily="18" charset="0"/>
                      </a:rPr>
                      <m:t>𝐲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행렬 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만드는 선형공간에 가장 가깝게 투영하는 문제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328C044-B491-582D-396E-6945C11624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8546" y="1325937"/>
                <a:ext cx="9990035" cy="455061"/>
              </a:xfrm>
              <a:prstGeom prst="rect">
                <a:avLst/>
              </a:prstGeom>
              <a:blipFill>
                <a:blip r:embed="rId4"/>
                <a:stretch>
                  <a:fillRect l="-488" r="-122" b="-2162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DE0A39D8-D271-9144-FCDC-875386FFFC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3854" y="2555172"/>
            <a:ext cx="3254916" cy="14370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제목 7">
            <a:extLst>
              <a:ext uri="{FF2B5EF4-FFF2-40B4-BE49-F238E27FC236}">
                <a16:creationId xmlns:a16="http://schemas.microsoft.com/office/drawing/2014/main" id="{9C28995B-3134-30CE-3901-48560B1C4E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Regression and Perceptron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20792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3647D6-8297-E662-1ECD-E88CEFF17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F6D69ED-B91B-A858-B2E5-19E620F5B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25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86EF0ECB-1F76-78F8-15CE-364DFA4286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78FA17CC-76E0-9904-2189-F27BDFAB0391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Perceptron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7FFFF4F0-7DB3-AABE-D6D5-2193C90BF2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358900"/>
            <a:ext cx="10353762" cy="4575176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</a:pPr>
            <a:r>
              <a:rPr lang="en-US" altLang="ko-KR" sz="20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sns.load_dataset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(“diamonds")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데이터로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“price“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예측하라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입력변수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(Features)</a:t>
            </a:r>
          </a:p>
          <a:p>
            <a:pPr lvl="2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'carat’ : 1 feature</a:t>
            </a:r>
          </a:p>
          <a:p>
            <a:pPr lvl="2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'carat’. ‘depth', 'table’ : 3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features</a:t>
            </a:r>
          </a:p>
          <a:p>
            <a:pPr lvl="2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'carat’. ‘depth', 'table’, 'cut', 'color', 'clarity’ : 6 feature</a:t>
            </a:r>
          </a:p>
          <a:p>
            <a:pPr lvl="1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딥러닝 라이브러리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tensorflow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keras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딥 러닝을 이용한 자연어 처리 입문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참고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0092546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C2AD09-0992-FC39-4F80-31C5E7117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2642CE7F-AED1-D598-8D78-62E5A6A1A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26</a:t>
            </a:fld>
            <a:endParaRPr lang="en-US" sz="2000" dirty="0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F58BC8A7-7BBD-54EA-B0BF-9A8146648D9A}"/>
              </a:ext>
            </a:extLst>
          </p:cNvPr>
          <p:cNvGrpSpPr/>
          <p:nvPr/>
        </p:nvGrpSpPr>
        <p:grpSpPr>
          <a:xfrm>
            <a:off x="2128837" y="2317001"/>
            <a:ext cx="7934325" cy="3318063"/>
            <a:chOff x="2457450" y="1673618"/>
            <a:chExt cx="7934325" cy="3318063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12FC99F-4F29-FE0D-34B5-9AC7CDA4BCC8}"/>
                </a:ext>
              </a:extLst>
            </p:cNvPr>
            <p:cNvSpPr txBox="1"/>
            <p:nvPr/>
          </p:nvSpPr>
          <p:spPr>
            <a:xfrm>
              <a:off x="5555536" y="4068351"/>
              <a:ext cx="4836239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dirty="0">
                  <a:hlinkClick r:id="rId2" tooltip="C1_W3_Assignment.ipynb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C1_W3_Assignment.ipynb</a:t>
              </a:r>
              <a:endParaRPr lang="en-US" altLang="ko-KR" dirty="0"/>
            </a:p>
            <a:p>
              <a:r>
                <a:rPr lang="fr-FR" altLang="ko-KR" dirty="0">
                  <a:hlinkClick r:id="rId3" tooltip="C1_W3_Assignment_Perceptron.ipynb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C1_W3_Assignment_Perceptron.ipynb</a:t>
              </a:r>
              <a:endParaRPr lang="fr-FR" altLang="ko-KR" dirty="0"/>
            </a:p>
            <a:p>
              <a:r>
                <a:rPr lang="fr-FR" altLang="ko-KR" dirty="0">
                  <a:hlinkClick r:id="rId4" tooltip="C1_W3_Assignment_Perceptron_MSE.ipynb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C1_W3_Assignment_Perceptron_MSE.ipynb</a:t>
              </a:r>
              <a:endParaRPr lang="fr-FR" altLang="ko-KR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851D627-41E9-D33A-A72C-D38EF5B9F8AF}"/>
                </a:ext>
              </a:extLst>
            </p:cNvPr>
            <p:cNvSpPr txBox="1"/>
            <p:nvPr/>
          </p:nvSpPr>
          <p:spPr>
            <a:xfrm>
              <a:off x="2457450" y="1673618"/>
              <a:ext cx="4366003" cy="24006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dirty="0">
                  <a:hlinkClick r:id="rId5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Mathematics-for-Big-Data-Science</a:t>
              </a:r>
              <a:endParaRPr lang="en-US" altLang="ko-KR" sz="2400" dirty="0"/>
            </a:p>
            <a:p>
              <a:endParaRPr lang="en-US" altLang="ko-KR" dirty="0"/>
            </a:p>
            <a:p>
              <a:r>
                <a:rPr lang="en-US" altLang="ko-KR" dirty="0"/>
                <a:t>C1 </a:t>
              </a:r>
            </a:p>
            <a:p>
              <a:r>
                <a:rPr lang="en-US" altLang="ko-KR" dirty="0">
                  <a:solidFill>
                    <a:schemeClr val="bg1">
                      <a:lumMod val="50000"/>
                    </a:schemeClr>
                  </a:solidFill>
                </a:rPr>
                <a:t>	w1</a:t>
              </a:r>
            </a:p>
            <a:p>
              <a:r>
                <a:rPr lang="en-US" altLang="ko-KR" dirty="0">
                  <a:solidFill>
                    <a:schemeClr val="bg1">
                      <a:lumMod val="50000"/>
                    </a:schemeClr>
                  </a:solidFill>
                </a:rPr>
                <a:t>	w2</a:t>
              </a:r>
            </a:p>
            <a:p>
              <a:r>
                <a:rPr lang="en-US" altLang="ko-KR" dirty="0"/>
                <a:t>	w3 </a:t>
              </a:r>
            </a:p>
            <a:p>
              <a:r>
                <a:rPr lang="en-US" altLang="ko-KR" dirty="0"/>
                <a:t>				</a:t>
              </a:r>
            </a:p>
            <a:p>
              <a:r>
                <a:rPr lang="en-US" altLang="ko-KR" dirty="0"/>
                <a:t>		</a:t>
              </a:r>
              <a:r>
                <a:rPr lang="en-US" altLang="ko-KR" dirty="0">
                  <a:hlinkClick r:id="rId6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C1w3_graded_lab</a:t>
              </a:r>
              <a:endParaRPr lang="ko-KR" altLang="en-US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319C6CB4-31F7-6803-5396-4484BB83E572}"/>
              </a:ext>
            </a:extLst>
          </p:cNvPr>
          <p:cNvSpPr txBox="1"/>
          <p:nvPr/>
        </p:nvSpPr>
        <p:spPr>
          <a:xfrm>
            <a:off x="1114425" y="1238250"/>
            <a:ext cx="655179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회귀식과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동질성을 이해하고 실습한다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0" name="제목 7">
            <a:extLst>
              <a:ext uri="{FF2B5EF4-FFF2-40B4-BE49-F238E27FC236}">
                <a16:creationId xmlns:a16="http://schemas.microsoft.com/office/drawing/2014/main" id="{06FEC23C-9768-0CF0-9999-F078BBDB77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Regression and Perceptron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762476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4DBFD-E35C-4B0C-7644-3EF344FF46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36122894-6B44-50FD-A9F6-BFEEEEC21321}"/>
              </a:ext>
            </a:extLst>
          </p:cNvPr>
          <p:cNvSpPr/>
          <p:nvPr/>
        </p:nvSpPr>
        <p:spPr>
          <a:xfrm>
            <a:off x="734002" y="311528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5DD6DC20-69FA-F69A-9991-1E8F8C18C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3F105E9E-C4A3-4441-3A06-006B70370A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27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7DA969B-4A8C-CDBB-5DF9-6C3855931BB7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23243425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03EAD3-0C6D-4A32-6FEE-8F79EC6ED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7FABE37-667B-DB2B-DD82-35B58E752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33CEEA0B-D51C-B098-845C-0403C7357090}"/>
              </a:ext>
            </a:extLst>
          </p:cNvPr>
          <p:cNvSpPr txBox="1">
            <a:spLocks/>
          </p:cNvSpPr>
          <p:nvPr/>
        </p:nvSpPr>
        <p:spPr>
          <a:xfrm>
            <a:off x="504220" y="615334"/>
            <a:ext cx="10353762" cy="5181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Tensors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823259F9-A875-6E4B-90BF-6F1E094EBF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879939"/>
            <a:ext cx="10706705" cy="2530136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tensors </a:t>
            </a:r>
            <a:r>
              <a:rPr lang="en-US" altLang="ko-KR" sz="20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visulalization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개념 익히기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tensor flow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tensors 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익히기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tensorflow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playground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deep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learning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실습하기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7743511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2F4DD-3183-DC87-A058-2B2E5E006B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8D11D27-CD88-A5DA-A2C9-B8ED92ADE9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0A2B623F-9C78-161A-FD9F-97B8315E33E0}"/>
              </a:ext>
            </a:extLst>
          </p:cNvPr>
          <p:cNvSpPr txBox="1">
            <a:spLocks/>
          </p:cNvSpPr>
          <p:nvPr/>
        </p:nvSpPr>
        <p:spPr>
          <a:xfrm>
            <a:off x="506700" y="460581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0BBCD5E2-0217-2EB7-EEB3-1C30A79157C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3794" y="1260814"/>
                <a:ext cx="10706705" cy="995151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Inputs(x)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받아 가중치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(w)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반영한 가중치 합계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(z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은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weighted sum)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활성화함수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14:m>
                  <m:oMath xmlns:m="http://schemas.openxmlformats.org/officeDocument/2006/math">
                    <m:r>
                      <a:rPr lang="en-US" altLang="ko-KR" sz="1800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𝑓</m:t>
                    </m:r>
                    <m:r>
                      <a:rPr lang="en-US" altLang="ko-KR" sz="1800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(</m:t>
                    </m:r>
                    <m:r>
                      <m:rPr>
                        <m:sty m:val="p"/>
                      </m:rPr>
                      <a:rPr lang="en-US" altLang="ko-KR" sz="1800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  <m:r>
                      <a:rPr lang="en-US" altLang="ko-KR" sz="1800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)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거쳐 반응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(1, 0, -1)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하는 네트워크 구조</a:t>
                </a:r>
                <a:endParaRPr lang="en-US" altLang="ko-KR" sz="18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0BBCD5E2-0217-2EB7-EEB3-1C30A79157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3794" y="1260814"/>
                <a:ext cx="10706705" cy="995151"/>
              </a:xfrm>
              <a:blipFill>
                <a:blip r:embed="rId2"/>
                <a:stretch>
                  <a:fillRect l="-39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218" name="Picture 2">
            <a:extLst>
              <a:ext uri="{FF2B5EF4-FFF2-40B4-BE49-F238E27FC236}">
                <a16:creationId xmlns:a16="http://schemas.microsoft.com/office/drawing/2014/main" id="{5BB5F102-81AC-096E-A5A7-E104091347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59250" y="2821385"/>
            <a:ext cx="4023780" cy="32351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38091E3-1E1C-83D9-CD62-BBA14245814F}"/>
              </a:ext>
            </a:extLst>
          </p:cNvPr>
          <p:cNvSpPr txBox="1"/>
          <p:nvPr/>
        </p:nvSpPr>
        <p:spPr>
          <a:xfrm>
            <a:off x="7884968" y="2384466"/>
            <a:ext cx="22992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Sign Activation function</a:t>
            </a:r>
            <a:endParaRPr lang="ko-KR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3F19882-95A0-C76B-E9B9-FE3D76F62273}"/>
                  </a:ext>
                </a:extLst>
              </p:cNvPr>
              <p:cNvSpPr txBox="1"/>
              <p:nvPr/>
            </p:nvSpPr>
            <p:spPr>
              <a:xfrm>
                <a:off x="8021372" y="2956559"/>
                <a:ext cx="809624" cy="40011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𝑓</m:t>
                      </m:r>
                      <m: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z</m:t>
                      </m:r>
                      <m: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)</m:t>
                      </m:r>
                    </m:oMath>
                  </m:oMathPara>
                </a14:m>
                <a:endParaRPr lang="ko-KR" altLang="en-US" sz="2000" i="1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3F19882-95A0-C76B-E9B9-FE3D76F622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1372" y="2956559"/>
                <a:ext cx="809624" cy="400110"/>
              </a:xfrm>
              <a:prstGeom prst="rect">
                <a:avLst/>
              </a:prstGeom>
              <a:blipFill>
                <a:blip r:embed="rId5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220" name="Picture 4" descr="Activation function in Neural Networks">
            <a:extLst>
              <a:ext uri="{FF2B5EF4-FFF2-40B4-BE49-F238E27FC236}">
                <a16:creationId xmlns:a16="http://schemas.microsoft.com/office/drawing/2014/main" id="{F5590D0D-2E03-5203-CB79-38ED815C7E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7381" y="2410346"/>
            <a:ext cx="5227666" cy="3920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4501ADB-B43C-8A1F-363C-C76FE57C9AE7}"/>
                  </a:ext>
                </a:extLst>
              </p:cNvPr>
              <p:cNvSpPr txBox="1"/>
              <p:nvPr/>
            </p:nvSpPr>
            <p:spPr>
              <a:xfrm>
                <a:off x="10368344" y="4507575"/>
                <a:ext cx="809624" cy="40011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z</m:t>
                      </m:r>
                    </m:oMath>
                  </m:oMathPara>
                </a14:m>
                <a:endParaRPr lang="ko-KR" altLang="en-US" sz="2000" i="1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4501ADB-B43C-8A1F-363C-C76FE57C9A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68344" y="4507575"/>
                <a:ext cx="809624" cy="40011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4618545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483D93-7637-7C5E-BB4E-92B8DECB9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266840-5B84-ED6C-269F-E9A3C6DE39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3A2896C1-2712-4A10-2E30-384F1B95FD8A}"/>
              </a:ext>
            </a:extLst>
          </p:cNvPr>
          <p:cNvSpPr txBox="1">
            <a:spLocks/>
          </p:cNvSpPr>
          <p:nvPr/>
        </p:nvSpPr>
        <p:spPr>
          <a:xfrm>
            <a:off x="562526" y="5709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function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0242" name="Picture 2" descr="Neural Network Activation Functions: Cheat Sheet">
            <a:extLst>
              <a:ext uri="{FF2B5EF4-FFF2-40B4-BE49-F238E27FC236}">
                <a16:creationId xmlns:a16="http://schemas.microsoft.com/office/drawing/2014/main" id="{BD1C19EB-28D3-EE39-23C2-44D46F281103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87057" y="1321566"/>
            <a:ext cx="3932834" cy="51490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4" name="Picture 4" descr="How Activation Function works in Neural Networks">
            <a:extLst>
              <a:ext uri="{FF2B5EF4-FFF2-40B4-BE49-F238E27FC236}">
                <a16:creationId xmlns:a16="http://schemas.microsoft.com/office/drawing/2014/main" id="{1CF8A3D6-A242-4AEA-8E25-67B6718A17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2814" y="2219972"/>
            <a:ext cx="4783393" cy="35875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57200C4-D722-0DFB-71FB-520B5B1158AD}"/>
              </a:ext>
            </a:extLst>
          </p:cNvPr>
          <p:cNvSpPr txBox="1"/>
          <p:nvPr/>
        </p:nvSpPr>
        <p:spPr>
          <a:xfrm>
            <a:off x="528282" y="1668583"/>
            <a:ext cx="225254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activation function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5066926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441F2-358C-E450-F072-DDA82D5878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C07EB3C-2B1D-CC66-3F2B-1B061BD0D1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31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5C55EFC-E3D3-936C-FD13-B8B4B3B360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9CA1E0D0-48F4-0136-ACB1-9BAE230E83EC}"/>
              </a:ext>
            </a:extLst>
          </p:cNvPr>
          <p:cNvSpPr txBox="1">
            <a:spLocks/>
          </p:cNvSpPr>
          <p:nvPr/>
        </p:nvSpPr>
        <p:spPr>
          <a:xfrm>
            <a:off x="456595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Hands-on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C45D0520-885A-0B96-6203-3F5CD2FD65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777999"/>
            <a:ext cx="10353762" cy="3870615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입력변수가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개인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네트워크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Perceptron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만들고 아래에 대해 정답을 생성하는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확인하라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2"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AND gate with Step Function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OR gate with Step Function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AND gate with Sigmoid Function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Or gate with Sigmoid Function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7191042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25FF96-AFFC-CB97-69B7-FCC1654175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61450C-758E-5DB8-ECB4-A2C14D85B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677AF110-24A1-8FC5-BE25-6FC4F14B084D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Artificial 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EB543BC5-EFBD-D448-8727-31DEFAAE453E}"/>
              </a:ext>
            </a:extLst>
          </p:cNvPr>
          <p:cNvGrpSpPr/>
          <p:nvPr/>
        </p:nvGrpSpPr>
        <p:grpSpPr>
          <a:xfrm>
            <a:off x="1197855" y="1981201"/>
            <a:ext cx="10316619" cy="4469792"/>
            <a:chOff x="1350255" y="2204864"/>
            <a:chExt cx="9430539" cy="415842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직사각형 2">
                  <a:extLst>
                    <a:ext uri="{FF2B5EF4-FFF2-40B4-BE49-F238E27FC236}">
                      <a16:creationId xmlns:a16="http://schemas.microsoft.com/office/drawing/2014/main" id="{0BA022F1-8FD0-4A5E-B71C-3CC805BC1E2A}"/>
                    </a:ext>
                  </a:extLst>
                </p:cNvPr>
                <p:cNvSpPr/>
                <p:nvPr/>
              </p:nvSpPr>
              <p:spPr>
                <a:xfrm>
                  <a:off x="1836737" y="3131669"/>
                  <a:ext cx="479279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" name="직사각형 2">
                  <a:extLst>
                    <a:ext uri="{FF2B5EF4-FFF2-40B4-BE49-F238E27FC236}">
                      <a16:creationId xmlns:a16="http://schemas.microsoft.com/office/drawing/2014/main" id="{0BA022F1-8FD0-4A5E-B71C-3CC805BC1E2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6737" y="3131669"/>
                  <a:ext cx="479279" cy="372238"/>
                </a:xfrm>
                <a:prstGeom prst="rect">
                  <a:avLst/>
                </a:prstGeom>
                <a:blipFill>
                  <a:blip r:embed="rId3"/>
                  <a:stretch>
                    <a:fillRect b="-30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직사각형 4">
                  <a:extLst>
                    <a:ext uri="{FF2B5EF4-FFF2-40B4-BE49-F238E27FC236}">
                      <a16:creationId xmlns:a16="http://schemas.microsoft.com/office/drawing/2014/main" id="{A5557686-AD94-E110-230C-C46FFBE83A57}"/>
                    </a:ext>
                  </a:extLst>
                </p:cNvPr>
                <p:cNvSpPr/>
                <p:nvPr/>
              </p:nvSpPr>
              <p:spPr>
                <a:xfrm>
                  <a:off x="1836737" y="3451964"/>
                  <a:ext cx="484729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5" name="직사각형 4">
                  <a:extLst>
                    <a:ext uri="{FF2B5EF4-FFF2-40B4-BE49-F238E27FC236}">
                      <a16:creationId xmlns:a16="http://schemas.microsoft.com/office/drawing/2014/main" id="{A5557686-AD94-E110-230C-C46FFBE83A5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6737" y="3451964"/>
                  <a:ext cx="484729" cy="372238"/>
                </a:xfrm>
                <a:prstGeom prst="rect">
                  <a:avLst/>
                </a:prstGeom>
                <a:blipFill>
                  <a:blip r:embed="rId4"/>
                  <a:stretch>
                    <a:fillRect b="-1515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직사각형 5">
                  <a:extLst>
                    <a:ext uri="{FF2B5EF4-FFF2-40B4-BE49-F238E27FC236}">
                      <a16:creationId xmlns:a16="http://schemas.microsoft.com/office/drawing/2014/main" id="{AB7E4F7F-0241-B573-E80F-D5CAAE74F6B4}"/>
                    </a:ext>
                  </a:extLst>
                </p:cNvPr>
                <p:cNvSpPr/>
                <p:nvPr/>
              </p:nvSpPr>
              <p:spPr>
                <a:xfrm>
                  <a:off x="1836737" y="5161355"/>
                  <a:ext cx="499382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6" name="직사각형 5">
                  <a:extLst>
                    <a:ext uri="{FF2B5EF4-FFF2-40B4-BE49-F238E27FC236}">
                      <a16:creationId xmlns:a16="http://schemas.microsoft.com/office/drawing/2014/main" id="{AB7E4F7F-0241-B573-E80F-D5CAAE74F6B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6737" y="5161355"/>
                  <a:ext cx="499382" cy="372238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직사각형 6">
                  <a:extLst>
                    <a:ext uri="{FF2B5EF4-FFF2-40B4-BE49-F238E27FC236}">
                      <a16:creationId xmlns:a16="http://schemas.microsoft.com/office/drawing/2014/main" id="{765127C1-AFC0-DCA5-920B-9EB79DB3402F}"/>
                    </a:ext>
                  </a:extLst>
                </p:cNvPr>
                <p:cNvSpPr/>
                <p:nvPr/>
              </p:nvSpPr>
              <p:spPr>
                <a:xfrm>
                  <a:off x="1880697" y="3769967"/>
                  <a:ext cx="363693" cy="48677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7" name="직사각형 6">
                  <a:extLst>
                    <a:ext uri="{FF2B5EF4-FFF2-40B4-BE49-F238E27FC236}">
                      <a16:creationId xmlns:a16="http://schemas.microsoft.com/office/drawing/2014/main" id="{765127C1-AFC0-DCA5-920B-9EB79DB3402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80697" y="3769967"/>
                  <a:ext cx="363693" cy="486773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직사각형 7">
                  <a:extLst>
                    <a:ext uri="{FF2B5EF4-FFF2-40B4-BE49-F238E27FC236}">
                      <a16:creationId xmlns:a16="http://schemas.microsoft.com/office/drawing/2014/main" id="{A02A834B-BF33-8BF1-8B8C-FD7D9BCB2573}"/>
                    </a:ext>
                  </a:extLst>
                </p:cNvPr>
                <p:cNvSpPr/>
                <p:nvPr/>
              </p:nvSpPr>
              <p:spPr>
                <a:xfrm>
                  <a:off x="1874834" y="4109200"/>
                  <a:ext cx="363693" cy="48677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8" name="직사각형 7">
                  <a:extLst>
                    <a:ext uri="{FF2B5EF4-FFF2-40B4-BE49-F238E27FC236}">
                      <a16:creationId xmlns:a16="http://schemas.microsoft.com/office/drawing/2014/main" id="{A02A834B-BF33-8BF1-8B8C-FD7D9BCB257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74834" y="4109200"/>
                  <a:ext cx="363693" cy="486773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직사각형 8">
                  <a:extLst>
                    <a:ext uri="{FF2B5EF4-FFF2-40B4-BE49-F238E27FC236}">
                      <a16:creationId xmlns:a16="http://schemas.microsoft.com/office/drawing/2014/main" id="{D6CD8DFA-6CD0-F1F7-488F-544797BA94D3}"/>
                    </a:ext>
                  </a:extLst>
                </p:cNvPr>
                <p:cNvSpPr/>
                <p:nvPr/>
              </p:nvSpPr>
              <p:spPr>
                <a:xfrm>
                  <a:off x="1879359" y="4838960"/>
                  <a:ext cx="363693" cy="48677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9" name="직사각형 8">
                  <a:extLst>
                    <a:ext uri="{FF2B5EF4-FFF2-40B4-BE49-F238E27FC236}">
                      <a16:creationId xmlns:a16="http://schemas.microsoft.com/office/drawing/2014/main" id="{D6CD8DFA-6CD0-F1F7-488F-544797BA94D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79359" y="4838960"/>
                  <a:ext cx="363693" cy="486773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" name="순서도: 가산 접합 9">
              <a:extLst>
                <a:ext uri="{FF2B5EF4-FFF2-40B4-BE49-F238E27FC236}">
                  <a16:creationId xmlns:a16="http://schemas.microsoft.com/office/drawing/2014/main" id="{0F64D008-769D-7306-6D0B-03CB6D1A5CF2}"/>
                </a:ext>
              </a:extLst>
            </p:cNvPr>
            <p:cNvSpPr/>
            <p:nvPr/>
          </p:nvSpPr>
          <p:spPr bwMode="auto">
            <a:xfrm>
              <a:off x="3721080" y="3196809"/>
              <a:ext cx="239660" cy="239660"/>
            </a:xfrm>
            <a:prstGeom prst="flowChartSummingJunction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11" name="순서도: 가산 접합 10">
              <a:extLst>
                <a:ext uri="{FF2B5EF4-FFF2-40B4-BE49-F238E27FC236}">
                  <a16:creationId xmlns:a16="http://schemas.microsoft.com/office/drawing/2014/main" id="{00BA48F0-4BB3-0BA3-DA8E-666758CAB44F}"/>
                </a:ext>
              </a:extLst>
            </p:cNvPr>
            <p:cNvSpPr/>
            <p:nvPr/>
          </p:nvSpPr>
          <p:spPr bwMode="auto">
            <a:xfrm>
              <a:off x="3721080" y="3731768"/>
              <a:ext cx="239660" cy="239660"/>
            </a:xfrm>
            <a:prstGeom prst="flowChartSummingJunction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12" name="순서도: 가산 접합 11">
              <a:extLst>
                <a:ext uri="{FF2B5EF4-FFF2-40B4-BE49-F238E27FC236}">
                  <a16:creationId xmlns:a16="http://schemas.microsoft.com/office/drawing/2014/main" id="{E3C9CA5A-281B-B879-F18C-A775762C250F}"/>
                </a:ext>
              </a:extLst>
            </p:cNvPr>
            <p:cNvSpPr/>
            <p:nvPr/>
          </p:nvSpPr>
          <p:spPr bwMode="auto">
            <a:xfrm>
              <a:off x="3721080" y="5189069"/>
              <a:ext cx="239660" cy="239660"/>
            </a:xfrm>
            <a:prstGeom prst="flowChartSummingJunction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cxnSp>
          <p:nvCxnSpPr>
            <p:cNvPr id="13" name="구부러진 연결선 42">
              <a:extLst>
                <a:ext uri="{FF2B5EF4-FFF2-40B4-BE49-F238E27FC236}">
                  <a16:creationId xmlns:a16="http://schemas.microsoft.com/office/drawing/2014/main" id="{50841188-01D3-E4E6-137B-CFB73F38D28A}"/>
                </a:ext>
              </a:extLst>
            </p:cNvPr>
            <p:cNvCxnSpPr>
              <a:stCxn id="3" idx="3"/>
              <a:endCxn id="10" idx="3"/>
            </p:cNvCxnSpPr>
            <p:nvPr/>
          </p:nvCxnSpPr>
          <p:spPr bwMode="auto">
            <a:xfrm>
              <a:off x="2316016" y="3317788"/>
              <a:ext cx="1440161" cy="83585"/>
            </a:xfrm>
            <a:prstGeom prst="curvedConnector4">
              <a:avLst>
                <a:gd name="adj1" fmla="val 48781"/>
                <a:gd name="adj2" fmla="val 354444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14" name="구부러진 연결선 43">
              <a:extLst>
                <a:ext uri="{FF2B5EF4-FFF2-40B4-BE49-F238E27FC236}">
                  <a16:creationId xmlns:a16="http://schemas.microsoft.com/office/drawing/2014/main" id="{3FF70D99-D749-9F13-5511-F2A78F86D774}"/>
                </a:ext>
              </a:extLst>
            </p:cNvPr>
            <p:cNvCxnSpPr>
              <a:stCxn id="5" idx="3"/>
              <a:endCxn id="11" idx="3"/>
            </p:cNvCxnSpPr>
            <p:nvPr/>
          </p:nvCxnSpPr>
          <p:spPr bwMode="auto">
            <a:xfrm>
              <a:off x="2321465" y="3638084"/>
              <a:ext cx="1434712" cy="298247"/>
            </a:xfrm>
            <a:prstGeom prst="curvedConnector4">
              <a:avLst>
                <a:gd name="adj1" fmla="val 48777"/>
                <a:gd name="adj2" fmla="val 171308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15" name="구부러진 연결선 44">
              <a:extLst>
                <a:ext uri="{FF2B5EF4-FFF2-40B4-BE49-F238E27FC236}">
                  <a16:creationId xmlns:a16="http://schemas.microsoft.com/office/drawing/2014/main" id="{F929EBCB-93A1-CCC5-C4E9-762F65D233D6}"/>
                </a:ext>
              </a:extLst>
            </p:cNvPr>
            <p:cNvCxnSpPr>
              <a:stCxn id="6" idx="3"/>
              <a:endCxn id="12" idx="1"/>
            </p:cNvCxnSpPr>
            <p:nvPr/>
          </p:nvCxnSpPr>
          <p:spPr bwMode="auto">
            <a:xfrm flipV="1">
              <a:off x="2336119" y="5224166"/>
              <a:ext cx="1420058" cy="123307"/>
            </a:xfrm>
            <a:prstGeom prst="curvedConnector4">
              <a:avLst>
                <a:gd name="adj1" fmla="val 48764"/>
                <a:gd name="adj2" fmla="val 323416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직사각형 15">
                  <a:extLst>
                    <a:ext uri="{FF2B5EF4-FFF2-40B4-BE49-F238E27FC236}">
                      <a16:creationId xmlns:a16="http://schemas.microsoft.com/office/drawing/2014/main" id="{CA988A9C-97DC-CF1F-008D-2B82CB1E30B1}"/>
                    </a:ext>
                  </a:extLst>
                </p:cNvPr>
                <p:cNvSpPr/>
                <p:nvPr/>
              </p:nvSpPr>
              <p:spPr>
                <a:xfrm>
                  <a:off x="3683433" y="4085735"/>
                  <a:ext cx="335852" cy="42950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16" name="직사각형 15">
                  <a:extLst>
                    <a:ext uri="{FF2B5EF4-FFF2-40B4-BE49-F238E27FC236}">
                      <a16:creationId xmlns:a16="http://schemas.microsoft.com/office/drawing/2014/main" id="{CA988A9C-97DC-CF1F-008D-2B82CB1E30B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83433" y="4085735"/>
                  <a:ext cx="335852" cy="429505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직사각형 16">
                  <a:extLst>
                    <a:ext uri="{FF2B5EF4-FFF2-40B4-BE49-F238E27FC236}">
                      <a16:creationId xmlns:a16="http://schemas.microsoft.com/office/drawing/2014/main" id="{3FC42BDE-F8D7-BA93-7AC7-498EA4FE4FDF}"/>
                    </a:ext>
                  </a:extLst>
                </p:cNvPr>
                <p:cNvSpPr/>
                <p:nvPr/>
              </p:nvSpPr>
              <p:spPr>
                <a:xfrm>
                  <a:off x="3687958" y="4815495"/>
                  <a:ext cx="335852" cy="42950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17" name="직사각형 16">
                  <a:extLst>
                    <a:ext uri="{FF2B5EF4-FFF2-40B4-BE49-F238E27FC236}">
                      <a16:creationId xmlns:a16="http://schemas.microsoft.com/office/drawing/2014/main" id="{3FC42BDE-F8D7-BA93-7AC7-498EA4FE4FD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87958" y="4815495"/>
                  <a:ext cx="335852" cy="429505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구부러진 연결선 48">
              <a:extLst>
                <a:ext uri="{FF2B5EF4-FFF2-40B4-BE49-F238E27FC236}">
                  <a16:creationId xmlns:a16="http://schemas.microsoft.com/office/drawing/2014/main" id="{3EE8D7C1-70B2-DCD2-5375-E1D2B0D1C102}"/>
                </a:ext>
              </a:extLst>
            </p:cNvPr>
            <p:cNvCxnSpPr>
              <a:stCxn id="10" idx="6"/>
            </p:cNvCxnSpPr>
            <p:nvPr/>
          </p:nvCxnSpPr>
          <p:spPr bwMode="auto">
            <a:xfrm>
              <a:off x="3960740" y="3316639"/>
              <a:ext cx="1106394" cy="799195"/>
            </a:xfrm>
            <a:prstGeom prst="curvedConnector3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19" name="구부러진 연결선 49">
              <a:extLst>
                <a:ext uri="{FF2B5EF4-FFF2-40B4-BE49-F238E27FC236}">
                  <a16:creationId xmlns:a16="http://schemas.microsoft.com/office/drawing/2014/main" id="{FDD4B62A-0F4E-E32A-3047-FF2D47788CE3}"/>
                </a:ext>
              </a:extLst>
            </p:cNvPr>
            <p:cNvCxnSpPr/>
            <p:nvPr/>
          </p:nvCxnSpPr>
          <p:spPr bwMode="auto">
            <a:xfrm>
              <a:off x="4018232" y="3931168"/>
              <a:ext cx="1025302" cy="282602"/>
            </a:xfrm>
            <a:prstGeom prst="curvedConnector3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20" name="구부러진 연결선 50">
              <a:extLst>
                <a:ext uri="{FF2B5EF4-FFF2-40B4-BE49-F238E27FC236}">
                  <a16:creationId xmlns:a16="http://schemas.microsoft.com/office/drawing/2014/main" id="{3FCB277F-BE1B-CF65-D449-699DF35B2C00}"/>
                </a:ext>
              </a:extLst>
            </p:cNvPr>
            <p:cNvCxnSpPr>
              <a:stCxn id="12" idx="6"/>
            </p:cNvCxnSpPr>
            <p:nvPr/>
          </p:nvCxnSpPr>
          <p:spPr bwMode="auto">
            <a:xfrm flipV="1">
              <a:off x="3960740" y="4515451"/>
              <a:ext cx="1100531" cy="793448"/>
            </a:xfrm>
            <a:prstGeom prst="curvedConnector3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74D2B819-BF22-6A6D-06CA-3078CBC06CAF}"/>
                </a:ext>
              </a:extLst>
            </p:cNvPr>
            <p:cNvSpPr/>
            <p:nvPr/>
          </p:nvSpPr>
          <p:spPr>
            <a:xfrm>
              <a:off x="3683433" y="4517878"/>
              <a:ext cx="857507" cy="31497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6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rPr>
                <a:t>multiply</a:t>
              </a:r>
              <a:endPara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590E1639-7D7E-6712-FF30-CB83F617C535}"/>
                </a:ext>
              </a:extLst>
            </p:cNvPr>
            <p:cNvSpPr/>
            <p:nvPr/>
          </p:nvSpPr>
          <p:spPr bwMode="auto">
            <a:xfrm>
              <a:off x="5213736" y="3847869"/>
              <a:ext cx="1143001" cy="955008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직사각형 22">
                  <a:extLst>
                    <a:ext uri="{FF2B5EF4-FFF2-40B4-BE49-F238E27FC236}">
                      <a16:creationId xmlns:a16="http://schemas.microsoft.com/office/drawing/2014/main" id="{5A50B49F-C157-0126-A490-361220004B5D}"/>
                    </a:ext>
                  </a:extLst>
                </p:cNvPr>
                <p:cNvSpPr/>
                <p:nvPr/>
              </p:nvSpPr>
              <p:spPr>
                <a:xfrm>
                  <a:off x="4271284" y="3211201"/>
                  <a:ext cx="729965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3" name="직사각형 22">
                  <a:extLst>
                    <a:ext uri="{FF2B5EF4-FFF2-40B4-BE49-F238E27FC236}">
                      <a16:creationId xmlns:a16="http://schemas.microsoft.com/office/drawing/2014/main" id="{5A50B49F-C157-0126-A490-361220004B5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1284" y="3211201"/>
                  <a:ext cx="729965" cy="372238"/>
                </a:xfrm>
                <a:prstGeom prst="rect">
                  <a:avLst/>
                </a:prstGeom>
                <a:blipFill>
                  <a:blip r:embed="rId11"/>
                  <a:stretch>
                    <a:fillRect b="-30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8673C766-9F9B-C9AA-47F6-429BFD243E1C}"/>
                    </a:ext>
                  </a:extLst>
                </p:cNvPr>
                <p:cNvSpPr txBox="1"/>
                <p:nvPr/>
              </p:nvSpPr>
              <p:spPr>
                <a:xfrm>
                  <a:off x="5394593" y="3977991"/>
                  <a:ext cx="781286" cy="78176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nary>
                          <m:naryPr>
                            <m:chr m:val="∑"/>
                            <m:ctrlPr>
                              <a:rPr kumimoji="0" lang="pt-BR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kumimoji="0" lang="pt-BR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  <m:e>
                            <m:sSub>
                              <m:sSubPr>
                                <m:ctrlP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kumimoji="0" lang="en-US" altLang="ko-KR" sz="20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0" lang="en-US" altLang="ko-KR" sz="20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nary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8673C766-9F9B-C9AA-47F6-429BFD243E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94593" y="3977991"/>
                  <a:ext cx="781286" cy="781760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직사각형 24">
                  <a:extLst>
                    <a:ext uri="{FF2B5EF4-FFF2-40B4-BE49-F238E27FC236}">
                      <a16:creationId xmlns:a16="http://schemas.microsoft.com/office/drawing/2014/main" id="{D31C287D-8A01-9D77-04EF-C7AD720660CD}"/>
                    </a:ext>
                  </a:extLst>
                </p:cNvPr>
                <p:cNvSpPr/>
                <p:nvPr/>
              </p:nvSpPr>
              <p:spPr>
                <a:xfrm>
                  <a:off x="3228015" y="2858255"/>
                  <a:ext cx="308435" cy="372238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5" name="직사각형 24">
                  <a:extLst>
                    <a:ext uri="{FF2B5EF4-FFF2-40B4-BE49-F238E27FC236}">
                      <a16:creationId xmlns:a16="http://schemas.microsoft.com/office/drawing/2014/main" id="{D31C287D-8A01-9D77-04EF-C7AD720660C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28015" y="2858255"/>
                  <a:ext cx="308435" cy="372238"/>
                </a:xfrm>
                <a:prstGeom prst="rect">
                  <a:avLst/>
                </a:prstGeom>
                <a:blipFill>
                  <a:blip r:embed="rId13"/>
                  <a:stretch>
                    <a:fillRect r="-26786" b="-30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직사각형 25">
                  <a:extLst>
                    <a:ext uri="{FF2B5EF4-FFF2-40B4-BE49-F238E27FC236}">
                      <a16:creationId xmlns:a16="http://schemas.microsoft.com/office/drawing/2014/main" id="{2D8134EE-E7DF-5E0E-831A-A504730F9ECE}"/>
                    </a:ext>
                  </a:extLst>
                </p:cNvPr>
                <p:cNvSpPr/>
                <p:nvPr/>
              </p:nvSpPr>
              <p:spPr>
                <a:xfrm>
                  <a:off x="3195530" y="5439637"/>
                  <a:ext cx="339326" cy="372238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6" name="직사각형 25">
                  <a:extLst>
                    <a:ext uri="{FF2B5EF4-FFF2-40B4-BE49-F238E27FC236}">
                      <a16:creationId xmlns:a16="http://schemas.microsoft.com/office/drawing/2014/main" id="{2D8134EE-E7DF-5E0E-831A-A504730F9EC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95530" y="5439637"/>
                  <a:ext cx="339326" cy="372238"/>
                </a:xfrm>
                <a:prstGeom prst="rect">
                  <a:avLst/>
                </a:prstGeom>
                <a:blipFill>
                  <a:blip r:embed="rId14"/>
                  <a:stretch>
                    <a:fillRect r="-14754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7" name="구부러진 연결선 57">
              <a:extLst>
                <a:ext uri="{FF2B5EF4-FFF2-40B4-BE49-F238E27FC236}">
                  <a16:creationId xmlns:a16="http://schemas.microsoft.com/office/drawing/2014/main" id="{5C4B62FE-1BB2-01D6-82B6-95D45450CA87}"/>
                </a:ext>
              </a:extLst>
            </p:cNvPr>
            <p:cNvCxnSpPr>
              <a:stCxn id="25" idx="3"/>
              <a:endCxn id="10" idx="0"/>
            </p:cNvCxnSpPr>
            <p:nvPr/>
          </p:nvCxnSpPr>
          <p:spPr bwMode="auto">
            <a:xfrm>
              <a:off x="3536450" y="3044374"/>
              <a:ext cx="304459" cy="152435"/>
            </a:xfrm>
            <a:prstGeom prst="curvedConnector2">
              <a:avLst/>
            </a:prstGeom>
            <a:ln>
              <a:headEnd type="none" w="med" len="med"/>
              <a:tailEnd type="triangle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28" name="구부러진 연결선 58">
              <a:extLst>
                <a:ext uri="{FF2B5EF4-FFF2-40B4-BE49-F238E27FC236}">
                  <a16:creationId xmlns:a16="http://schemas.microsoft.com/office/drawing/2014/main" id="{A1EF489C-9CAC-6D46-19EC-229547969917}"/>
                </a:ext>
              </a:extLst>
            </p:cNvPr>
            <p:cNvCxnSpPr>
              <a:stCxn id="26" idx="3"/>
              <a:endCxn id="12" idx="4"/>
            </p:cNvCxnSpPr>
            <p:nvPr/>
          </p:nvCxnSpPr>
          <p:spPr bwMode="auto">
            <a:xfrm flipV="1">
              <a:off x="3534856" y="5428730"/>
              <a:ext cx="306054" cy="197026"/>
            </a:xfrm>
            <a:prstGeom prst="curvedConnector2">
              <a:avLst/>
            </a:prstGeom>
            <a:ln>
              <a:headEnd type="none" w="med" len="med"/>
              <a:tailEnd type="triangle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직사각형 28">
                  <a:extLst>
                    <a:ext uri="{FF2B5EF4-FFF2-40B4-BE49-F238E27FC236}">
                      <a16:creationId xmlns:a16="http://schemas.microsoft.com/office/drawing/2014/main" id="{BB956F26-98D0-99CD-A8EA-F48BE61F0415}"/>
                    </a:ext>
                  </a:extLst>
                </p:cNvPr>
                <p:cNvSpPr/>
                <p:nvPr/>
              </p:nvSpPr>
              <p:spPr>
                <a:xfrm>
                  <a:off x="4186130" y="5054889"/>
                  <a:ext cx="763081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9" name="직사각형 28">
                  <a:extLst>
                    <a:ext uri="{FF2B5EF4-FFF2-40B4-BE49-F238E27FC236}">
                      <a16:creationId xmlns:a16="http://schemas.microsoft.com/office/drawing/2014/main" id="{BB956F26-98D0-99CD-A8EA-F48BE61F041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86130" y="5054889"/>
                  <a:ext cx="763081" cy="372238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직선 화살표 연결선 29">
              <a:extLst>
                <a:ext uri="{FF2B5EF4-FFF2-40B4-BE49-F238E27FC236}">
                  <a16:creationId xmlns:a16="http://schemas.microsoft.com/office/drawing/2014/main" id="{09B29A9B-0AD6-641A-907A-06863BC86DE1}"/>
                </a:ext>
              </a:extLst>
            </p:cNvPr>
            <p:cNvCxnSpPr>
              <a:stCxn id="22" idx="3"/>
            </p:cNvCxnSpPr>
            <p:nvPr/>
          </p:nvCxnSpPr>
          <p:spPr bwMode="auto">
            <a:xfrm>
              <a:off x="6356737" y="4325373"/>
              <a:ext cx="418645" cy="2085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직사각형 30">
                  <a:extLst>
                    <a:ext uri="{FF2B5EF4-FFF2-40B4-BE49-F238E27FC236}">
                      <a16:creationId xmlns:a16="http://schemas.microsoft.com/office/drawing/2014/main" id="{9C5A4AE2-DDF5-F4BA-DFD0-CF0888919C7D}"/>
                    </a:ext>
                  </a:extLst>
                </p:cNvPr>
                <p:cNvSpPr/>
                <p:nvPr/>
              </p:nvSpPr>
              <p:spPr>
                <a:xfrm>
                  <a:off x="1476053" y="5819251"/>
                  <a:ext cx="1281815" cy="544040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 ~ </m:t>
                        </m:r>
                        <m:d>
                          <m:dPr>
                            <m:ctrlP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kumimoji="0" lang="en-US" altLang="ko-KR" sz="1600" b="0" i="1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𝑠𝑡𝑎𝑛𝑑𝑎𝑟𝑑</m:t>
                        </m:r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𝑠𝑐𝑎𝑙𝑖𝑛𝑔</m:t>
                        </m:r>
                      </m:oMath>
                    </m:oMathPara>
                  </a14:m>
                  <a:endParaRPr kumimoji="0" lang="ko-KR" altLang="en-US" sz="1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1" name="직사각형 30">
                  <a:extLst>
                    <a:ext uri="{FF2B5EF4-FFF2-40B4-BE49-F238E27FC236}">
                      <a16:creationId xmlns:a16="http://schemas.microsoft.com/office/drawing/2014/main" id="{9C5A4AE2-DDF5-F4BA-DFD0-CF0888919C7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76053" y="5819251"/>
                  <a:ext cx="1281815" cy="544040"/>
                </a:xfrm>
                <a:prstGeom prst="rect">
                  <a:avLst/>
                </a:prstGeom>
                <a:blipFill>
                  <a:blip r:embed="rId16"/>
                  <a:stretch>
                    <a:fillRect r="-24783" b="-7292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직선 화살표 연결선 31">
              <a:extLst>
                <a:ext uri="{FF2B5EF4-FFF2-40B4-BE49-F238E27FC236}">
                  <a16:creationId xmlns:a16="http://schemas.microsoft.com/office/drawing/2014/main" id="{2EA1297B-E0B6-FD29-42F2-BB5D2AB89E92}"/>
                </a:ext>
              </a:extLst>
            </p:cNvPr>
            <p:cNvCxnSpPr/>
            <p:nvPr/>
          </p:nvCxnSpPr>
          <p:spPr bwMode="auto">
            <a:xfrm flipV="1">
              <a:off x="8219653" y="4325373"/>
              <a:ext cx="457200" cy="2085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pic>
          <p:nvPicPr>
            <p:cNvPr id="34" name="그림 33">
              <a:extLst>
                <a:ext uri="{FF2B5EF4-FFF2-40B4-BE49-F238E27FC236}">
                  <a16:creationId xmlns:a16="http://schemas.microsoft.com/office/drawing/2014/main" id="{490696ED-F8C8-2749-2824-C1B42D674688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6956239" y="3821059"/>
              <a:ext cx="1143001" cy="898684"/>
            </a:xfrm>
            <a:prstGeom prst="rect">
              <a:avLst/>
            </a:prstGeom>
          </p:spPr>
        </p:pic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078073E4-7B4A-F8DF-321C-6BAD6A17AA43}"/>
                </a:ext>
              </a:extLst>
            </p:cNvPr>
            <p:cNvSpPr/>
            <p:nvPr/>
          </p:nvSpPr>
          <p:spPr>
            <a:xfrm>
              <a:off x="6816657" y="2204864"/>
              <a:ext cx="1631596" cy="54404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R="0" lvl="0" algn="ctr" defTabSz="914400" rtl="0" eaLnBrk="1" fontAlgn="base" latinLnBrk="1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Activation </a:t>
              </a:r>
            </a:p>
            <a:p>
              <a:pPr marR="0" lvl="0" algn="ctr" defTabSz="914400" rtl="0" eaLnBrk="1" fontAlgn="base" latinLnBrk="1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function</a:t>
              </a:r>
              <a:endParaRPr lang="en-US" altLang="ko-KR" sz="1600" b="1" dirty="0">
                <a:solidFill>
                  <a:prstClr val="black"/>
                </a:solidFill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34FE26FD-6DCD-33DF-8448-274AFE6ADA09}"/>
                </a:ext>
              </a:extLst>
            </p:cNvPr>
            <p:cNvSpPr/>
            <p:nvPr/>
          </p:nvSpPr>
          <p:spPr>
            <a:xfrm>
              <a:off x="1350255" y="2695573"/>
              <a:ext cx="9430539" cy="3627474"/>
            </a:xfrm>
            <a:prstGeom prst="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>
                <a:latin typeface="NanumGothicExtraBold" pitchFamily="2" charset="-127"/>
                <a:ea typeface="NanumGothicExtraBold" pitchFamily="2" charset="-127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669BD5D-EA24-1B59-C72E-8E7D0000D900}"/>
                    </a:ext>
                  </a:extLst>
                </p:cNvPr>
                <p:cNvSpPr txBox="1"/>
                <p:nvPr/>
              </p:nvSpPr>
              <p:spPr>
                <a:xfrm>
                  <a:off x="8789768" y="2299660"/>
                  <a:ext cx="1570357" cy="22906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en-US" altLang="ko-KR" sz="1600" b="1">
                      <a:solidFill>
                        <a:prstClr val="black"/>
                      </a:solidFill>
                      <a:latin typeface="NanumGothicExtraBold" pitchFamily="2" charset="-127"/>
                      <a:ea typeface="NanumGothicExtraBold" pitchFamily="2" charset="-127"/>
                    </a:rPr>
                    <a:t>Output: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ko-KR" sz="16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𝐲</m:t>
                          </m:r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𝐡</m:t>
                          </m:r>
                        </m:e>
                        <m:sub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𝐰</m:t>
                          </m:r>
                        </m:sub>
                      </m:sSub>
                      <m:d>
                        <m:dPr>
                          <m:ctrlPr>
                            <a:rPr lang="en-US" altLang="ko-KR" sz="16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𝐱</m:t>
                          </m:r>
                        </m:e>
                      </m:d>
                    </m:oMath>
                  </a14:m>
                  <a:endParaRPr lang="ko-KR" altLang="en-US" sz="1600" b="1"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669BD5D-EA24-1B59-C72E-8E7D0000D9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89768" y="2299660"/>
                  <a:ext cx="1570357" cy="229069"/>
                </a:xfrm>
                <a:prstGeom prst="rect">
                  <a:avLst/>
                </a:prstGeom>
                <a:blipFill>
                  <a:blip r:embed="rId18"/>
                  <a:stretch>
                    <a:fillRect l="-7473" t="-25000" b="-5250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직사각형 37">
                  <a:extLst>
                    <a:ext uri="{FF2B5EF4-FFF2-40B4-BE49-F238E27FC236}">
                      <a16:creationId xmlns:a16="http://schemas.microsoft.com/office/drawing/2014/main" id="{322F38A2-BD85-521C-A046-DBF25BBD1296}"/>
                    </a:ext>
                  </a:extLst>
                </p:cNvPr>
                <p:cNvSpPr/>
                <p:nvPr/>
              </p:nvSpPr>
              <p:spPr>
                <a:xfrm>
                  <a:off x="8653437" y="4143507"/>
                  <a:ext cx="2127357" cy="34819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ko-KR" b="0" i="0" smtClean="0">
                            <a:latin typeface="Cambria Math" panose="02040503050406030204" pitchFamily="18" charset="0"/>
                          </a:rPr>
                          <m:t>y</m:t>
                        </m:r>
                        <m:r>
                          <a:rPr lang="en-US" altLang="ko-KR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</a:rPr>
                          <m:t>activation</m:t>
                        </m:r>
                        <m:r>
                          <a:rPr lang="en-US" altLang="ko-KR"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ko-KR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en-US" altLang="ko-KR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</a:rPr>
                          <m:t>w</m:t>
                        </m:r>
                        <m:r>
                          <a:rPr lang="en-US" altLang="ko-KR">
                            <a:latin typeface="Cambria Math" panose="02040503050406030204" pitchFamily="18" charset="0"/>
                          </a:rPr>
                          <m:t>) </m:t>
                        </m:r>
                      </m:oMath>
                    </m:oMathPara>
                  </a14:m>
                  <a:endParaRPr lang="ko-KR" altLang="en-US" dirty="0"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8" name="직사각형 37">
                  <a:extLst>
                    <a:ext uri="{FF2B5EF4-FFF2-40B4-BE49-F238E27FC236}">
                      <a16:creationId xmlns:a16="http://schemas.microsoft.com/office/drawing/2014/main" id="{322F38A2-BD85-521C-A046-DBF25BBD129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53437" y="4143507"/>
                  <a:ext cx="2127357" cy="348198"/>
                </a:xfrm>
                <a:prstGeom prst="rect">
                  <a:avLst/>
                </a:prstGeom>
                <a:blipFill>
                  <a:blip r:embed="rId19"/>
                  <a:stretch>
                    <a:fillRect b="-14754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직사각형 39">
                  <a:extLst>
                    <a:ext uri="{FF2B5EF4-FFF2-40B4-BE49-F238E27FC236}">
                      <a16:creationId xmlns:a16="http://schemas.microsoft.com/office/drawing/2014/main" id="{0F4AB18C-266A-4FE9-9B99-F92C03FDDAB3}"/>
                    </a:ext>
                  </a:extLst>
                </p:cNvPr>
                <p:cNvSpPr/>
                <p:nvPr/>
              </p:nvSpPr>
              <p:spPr>
                <a:xfrm>
                  <a:off x="4595473" y="2299660"/>
                  <a:ext cx="2307357" cy="31908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r>
                    <a:rPr lang="en-US" altLang="ko-KR" sz="1600" b="1">
                      <a:solidFill>
                        <a:prstClr val="black"/>
                      </a:solidFill>
                      <a:latin typeface="NanumGothicExtraBold" pitchFamily="2" charset="-127"/>
                      <a:ea typeface="NanumGothicExtraBold" pitchFamily="2" charset="-127"/>
                    </a:rPr>
                    <a:t>Weighted sum</a:t>
                  </a:r>
                  <a:r>
                    <a:rPr lang="en-US" altLang="ko-KR" sz="1600" b="1">
                      <a:latin typeface="NanumGothicExtraBold" pitchFamily="2" charset="-127"/>
                      <a:ea typeface="NanumGothicExtraBold" pitchFamily="2" charset="-127"/>
                    </a:rPr>
                    <a:t>: </a:t>
                  </a:r>
                  <a14:m>
                    <m:oMath xmlns:m="http://schemas.openxmlformats.org/officeDocument/2006/math">
                      <m:r>
                        <a:rPr lang="en-US" altLang="ko-KR" sz="1600" b="1" i="1" smtClean="0">
                          <a:latin typeface="Cambria Math" panose="02040503050406030204" pitchFamily="18" charset="0"/>
                        </a:rPr>
                        <m:t>𝒛</m:t>
                      </m:r>
                      <m:r>
                        <a:rPr lang="en-US" altLang="ko-KR" sz="1600" b="1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ko-KR" sz="1600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600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en-US" altLang="ko-KR" sz="1600" b="1" i="1">
                              <a:latin typeface="Cambria Math" panose="02040503050406030204" pitchFamily="18" charset="0"/>
                            </a:rPr>
                            <m:t>𝑻</m:t>
                          </m:r>
                        </m:sup>
                      </m:sSup>
                      <m:r>
                        <a:rPr lang="en-US" altLang="ko-KR" sz="1600" b="1" i="1">
                          <a:latin typeface="Cambria Math" panose="02040503050406030204" pitchFamily="18" charset="0"/>
                        </a:rPr>
                        <m:t>𝐰</m:t>
                      </m:r>
                      <m:r>
                        <a:rPr lang="en-US" altLang="ko-KR" sz="1600" b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endParaRPr lang="ko-KR" altLang="en-US" sz="1600" b="1"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40" name="직사각형 39">
                  <a:extLst>
                    <a:ext uri="{FF2B5EF4-FFF2-40B4-BE49-F238E27FC236}">
                      <a16:creationId xmlns:a16="http://schemas.microsoft.com/office/drawing/2014/main" id="{0F4AB18C-266A-4FE9-9B99-F92C03FDDAB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95473" y="2299660"/>
                  <a:ext cx="2307357" cy="319087"/>
                </a:xfrm>
                <a:prstGeom prst="rect">
                  <a:avLst/>
                </a:prstGeom>
                <a:blipFill>
                  <a:blip r:embed="rId20"/>
                  <a:stretch>
                    <a:fillRect l="-1449" t="-3571" b="-23214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9A4CFD56-4840-D304-AFC4-6A63FA5A86CD}"/>
                </a:ext>
              </a:extLst>
            </p:cNvPr>
            <p:cNvSpPr/>
            <p:nvPr/>
          </p:nvSpPr>
          <p:spPr>
            <a:xfrm>
              <a:off x="3095195" y="2299660"/>
              <a:ext cx="885349" cy="31497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Weights</a:t>
              </a:r>
              <a:endParaRPr lang="ko-KR" altLang="en-US" sz="1600" b="1"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46B89BC8-2606-8C67-C7C7-D25251028FC1}"/>
                </a:ext>
              </a:extLst>
            </p:cNvPr>
            <p:cNvSpPr/>
            <p:nvPr/>
          </p:nvSpPr>
          <p:spPr>
            <a:xfrm>
              <a:off x="1657531" y="2299660"/>
              <a:ext cx="624521" cy="31497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Input</a:t>
              </a:r>
              <a:endParaRPr lang="ko-KR" altLang="en-US" sz="1600" b="1">
                <a:latin typeface="NanumGothicExtraBold" pitchFamily="2" charset="-127"/>
                <a:ea typeface="NanumGothicExtraBold" pitchFamily="2" charset="-127"/>
              </a:endParaRPr>
            </a:p>
          </p:txBody>
        </p:sp>
      </p:grpSp>
      <p:sp>
        <p:nvSpPr>
          <p:cNvPr id="44" name="내용 개체 틀 2">
            <a:extLst>
              <a:ext uri="{FF2B5EF4-FFF2-40B4-BE49-F238E27FC236}">
                <a16:creationId xmlns:a16="http://schemas.microsoft.com/office/drawing/2014/main" id="{559855AA-45D0-1CBE-CF10-7BE857C500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242481"/>
            <a:ext cx="11034365" cy="746738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단일 뉴런의 수학식은 다중회귀분석의 함수식과 동일하다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6496022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078076-D70D-47AD-1AED-75E19C2BD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89B271-5192-2F15-5D59-382800A9A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22ABE30C-8E3D-1211-EEE6-CFC56729DE3B}"/>
              </a:ext>
            </a:extLst>
          </p:cNvPr>
          <p:cNvSpPr txBox="1">
            <a:spLocks/>
          </p:cNvSpPr>
          <p:nvPr/>
        </p:nvSpPr>
        <p:spPr>
          <a:xfrm>
            <a:off x="537021" y="477852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Artificial 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1266" name="Picture 2" descr="Artificial Neural Network Architecture">
            <a:extLst>
              <a:ext uri="{FF2B5EF4-FFF2-40B4-BE49-F238E27FC236}">
                <a16:creationId xmlns:a16="http://schemas.microsoft.com/office/drawing/2014/main" id="{0559266C-556E-C20E-726A-EF66A638682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6399" y="1772883"/>
            <a:ext cx="6203101" cy="47175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169EBA6B-BE2D-894D-8A52-21457E8B9BC5}"/>
              </a:ext>
            </a:extLst>
          </p:cNvPr>
          <p:cNvSpPr txBox="1">
            <a:spLocks/>
          </p:cNvSpPr>
          <p:nvPr/>
        </p:nvSpPr>
        <p:spPr>
          <a:xfrm>
            <a:off x="8425528" y="2791472"/>
            <a:ext cx="3375947" cy="2332978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Regression,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Classification, dimension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reduction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모델의 </a:t>
            </a:r>
            <a:r>
              <a:rPr lang="en-US" altLang="ko-KR" sz="21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 layer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어떻게 생겼는가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고민해보고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다음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슬라이드를 실습하여 체험하라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3226979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799493-D270-9E19-158F-438CCBA1C9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432790B-445E-7EC1-FA97-DBE87F9A5A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34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E630B377-4167-3B15-6B1D-EF3F23415A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97606737-1778-1890-4DC9-1B0DB71118E4}"/>
              </a:ext>
            </a:extLst>
          </p:cNvPr>
          <p:cNvSpPr txBox="1">
            <a:spLocks/>
          </p:cNvSpPr>
          <p:nvPr/>
        </p:nvSpPr>
        <p:spPr>
          <a:xfrm>
            <a:off x="537021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Hands-on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483C2E72-F9E7-891D-5A0E-1AD4454446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777999"/>
            <a:ext cx="10353762" cy="3200401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deep learning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Iris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California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houseprice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가지 경우의 입력과 출력데이터로 인공지능망을 사용하여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target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예측하라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각각의 경우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 layer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노드의 개수를 확인하라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Deep Learning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메뉴의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Overview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메뉴 탭에서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Intro ✓, Data for Training ✓, Activation ✓, Optimizers, Loss Functions ✓, Visual Demo ✓, Manage Model ✓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학습하라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8677015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33545-2B0E-A249-D80C-9F7679C59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직사각형 56">
            <a:extLst>
              <a:ext uri="{FF2B5EF4-FFF2-40B4-BE49-F238E27FC236}">
                <a16:creationId xmlns:a16="http://schemas.microsoft.com/office/drawing/2014/main" id="{ABCEC355-4532-C994-A3FD-57D5B514B728}"/>
              </a:ext>
            </a:extLst>
          </p:cNvPr>
          <p:cNvSpPr/>
          <p:nvPr/>
        </p:nvSpPr>
        <p:spPr>
          <a:xfrm>
            <a:off x="7330819" y="1928563"/>
            <a:ext cx="800188" cy="28113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34082105-B0E0-25B4-F0AA-982C2E099761}"/>
              </a:ext>
            </a:extLst>
          </p:cNvPr>
          <p:cNvSpPr/>
          <p:nvPr/>
        </p:nvSpPr>
        <p:spPr>
          <a:xfrm>
            <a:off x="4116887" y="1928563"/>
            <a:ext cx="800188" cy="28113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CE8608-C2CE-46D1-90F0-F1280F959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0870C28-593A-45A8-E777-9FCA0A33F057}"/>
              </a:ext>
            </a:extLst>
          </p:cNvPr>
          <p:cNvSpPr txBox="1">
            <a:spLocks/>
          </p:cNvSpPr>
          <p:nvPr/>
        </p:nvSpPr>
        <p:spPr>
          <a:xfrm>
            <a:off x="913794" y="3873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Matrix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Formulation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0312DEB9-2540-E23E-AC49-D83D2A7956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194140"/>
            <a:ext cx="10706705" cy="766440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네트워크 구조를 행렬식으로 표현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968F6BA9-1AD0-FF0D-E49C-0A6F0029F512}"/>
              </a:ext>
            </a:extLst>
          </p:cNvPr>
          <p:cNvGrpSpPr/>
          <p:nvPr/>
        </p:nvGrpSpPr>
        <p:grpSpPr>
          <a:xfrm>
            <a:off x="1104900" y="2777542"/>
            <a:ext cx="359611" cy="1195090"/>
            <a:chOff x="1847850" y="2436106"/>
            <a:chExt cx="359611" cy="1195090"/>
          </a:xfrm>
        </p:grpSpPr>
        <p:sp>
          <p:nvSpPr>
            <p:cNvPr id="2" name="타원 1">
              <a:extLst>
                <a:ext uri="{FF2B5EF4-FFF2-40B4-BE49-F238E27FC236}">
                  <a16:creationId xmlns:a16="http://schemas.microsoft.com/office/drawing/2014/main" id="{36CA5553-4E01-04D5-0F73-87D04CAACDEF}"/>
                </a:ext>
              </a:extLst>
            </p:cNvPr>
            <p:cNvSpPr/>
            <p:nvPr/>
          </p:nvSpPr>
          <p:spPr>
            <a:xfrm>
              <a:off x="1847850" y="2436106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" name="타원 2">
              <a:extLst>
                <a:ext uri="{FF2B5EF4-FFF2-40B4-BE49-F238E27FC236}">
                  <a16:creationId xmlns:a16="http://schemas.microsoft.com/office/drawing/2014/main" id="{ECEF51E4-E843-BB8D-3B50-CD68A38D33DF}"/>
                </a:ext>
              </a:extLst>
            </p:cNvPr>
            <p:cNvSpPr/>
            <p:nvPr/>
          </p:nvSpPr>
          <p:spPr>
            <a:xfrm>
              <a:off x="1847850" y="3271585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08EDB37-7360-D473-E49F-83BC099F27E2}"/>
              </a:ext>
            </a:extLst>
          </p:cNvPr>
          <p:cNvGrpSpPr/>
          <p:nvPr/>
        </p:nvGrpSpPr>
        <p:grpSpPr>
          <a:xfrm>
            <a:off x="4325074" y="2247628"/>
            <a:ext cx="359611" cy="2254919"/>
            <a:chOff x="4562921" y="2019028"/>
            <a:chExt cx="359611" cy="2254919"/>
          </a:xfrm>
        </p:grpSpPr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EB783135-C882-4DAA-AE08-7C417401323F}"/>
                </a:ext>
              </a:extLst>
            </p:cNvPr>
            <p:cNvSpPr/>
            <p:nvPr/>
          </p:nvSpPr>
          <p:spPr>
            <a:xfrm>
              <a:off x="4562921" y="2019028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CE4468BB-2600-85EC-06B0-8C1611999753}"/>
                </a:ext>
              </a:extLst>
            </p:cNvPr>
            <p:cNvSpPr/>
            <p:nvPr/>
          </p:nvSpPr>
          <p:spPr>
            <a:xfrm>
              <a:off x="4562921" y="2966682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2A113F6A-F51D-9F1F-2E7B-ED7F22CA9DA9}"/>
                </a:ext>
              </a:extLst>
            </p:cNvPr>
            <p:cNvSpPr/>
            <p:nvPr/>
          </p:nvSpPr>
          <p:spPr>
            <a:xfrm>
              <a:off x="4562921" y="3914336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9CAAE21E-89F3-723F-ED8C-4B384E0173B1}"/>
              </a:ext>
            </a:extLst>
          </p:cNvPr>
          <p:cNvGrpSpPr/>
          <p:nvPr/>
        </p:nvGrpSpPr>
        <p:grpSpPr>
          <a:xfrm>
            <a:off x="7545248" y="2247628"/>
            <a:ext cx="367633" cy="2254919"/>
            <a:chOff x="7478016" y="2019028"/>
            <a:chExt cx="367633" cy="2254919"/>
          </a:xfrm>
        </p:grpSpPr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A9C24CB1-536C-3F52-651C-A017E898A879}"/>
                </a:ext>
              </a:extLst>
            </p:cNvPr>
            <p:cNvSpPr/>
            <p:nvPr/>
          </p:nvSpPr>
          <p:spPr>
            <a:xfrm>
              <a:off x="7478016" y="2650797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37C0FCED-4886-7D86-A314-DEF940409413}"/>
                </a:ext>
              </a:extLst>
            </p:cNvPr>
            <p:cNvSpPr/>
            <p:nvPr/>
          </p:nvSpPr>
          <p:spPr>
            <a:xfrm>
              <a:off x="7486038" y="328256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D3F6B6C6-4080-9D15-2811-714BB8B2560F}"/>
                </a:ext>
              </a:extLst>
            </p:cNvPr>
            <p:cNvSpPr/>
            <p:nvPr/>
          </p:nvSpPr>
          <p:spPr>
            <a:xfrm>
              <a:off x="7486038" y="391433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F9057C09-D53B-721C-3FFC-325CC3C294B3}"/>
                </a:ext>
              </a:extLst>
            </p:cNvPr>
            <p:cNvSpPr/>
            <p:nvPr/>
          </p:nvSpPr>
          <p:spPr>
            <a:xfrm>
              <a:off x="7478017" y="2019028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3D9C08F2-1574-209F-65D6-723769045731}"/>
              </a:ext>
            </a:extLst>
          </p:cNvPr>
          <p:cNvGrpSpPr/>
          <p:nvPr/>
        </p:nvGrpSpPr>
        <p:grpSpPr>
          <a:xfrm>
            <a:off x="10773443" y="2777542"/>
            <a:ext cx="367632" cy="1195090"/>
            <a:chOff x="10033668" y="2436106"/>
            <a:chExt cx="367632" cy="1195090"/>
          </a:xfrm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CD7420D1-4A5A-4997-8F38-B6D1B95E3FAE}"/>
                </a:ext>
              </a:extLst>
            </p:cNvPr>
            <p:cNvSpPr/>
            <p:nvPr/>
          </p:nvSpPr>
          <p:spPr>
            <a:xfrm>
              <a:off x="10041689" y="3271585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C4D5F89C-18F2-0C39-E6CC-6E7984ED407A}"/>
                </a:ext>
              </a:extLst>
            </p:cNvPr>
            <p:cNvSpPr/>
            <p:nvPr/>
          </p:nvSpPr>
          <p:spPr>
            <a:xfrm>
              <a:off x="10033668" y="2436106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aphicFrame>
        <p:nvGraphicFramePr>
          <p:cNvPr id="38" name="표 37">
            <a:extLst>
              <a:ext uri="{FF2B5EF4-FFF2-40B4-BE49-F238E27FC236}">
                <a16:creationId xmlns:a16="http://schemas.microsoft.com/office/drawing/2014/main" id="{FD888255-4994-1FCA-F8EA-3F0CDC1C85F3}"/>
              </a:ext>
            </a:extLst>
          </p:cNvPr>
          <p:cNvGraphicFramePr>
            <a:graphicFrameLocks noGrp="1"/>
          </p:cNvGraphicFramePr>
          <p:nvPr/>
        </p:nvGraphicFramePr>
        <p:xfrm>
          <a:off x="889000" y="5153236"/>
          <a:ext cx="824982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2491">
                  <a:extLst>
                    <a:ext uri="{9D8B030D-6E8A-4147-A177-3AD203B41FA5}">
                      <a16:colId xmlns:a16="http://schemas.microsoft.com/office/drawing/2014/main" val="3159189123"/>
                    </a:ext>
                  </a:extLst>
                </a:gridCol>
                <a:gridCol w="412491">
                  <a:extLst>
                    <a:ext uri="{9D8B030D-6E8A-4147-A177-3AD203B41FA5}">
                      <a16:colId xmlns:a16="http://schemas.microsoft.com/office/drawing/2014/main" val="3158959229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395207"/>
                  </a:ext>
                </a:extLst>
              </a:tr>
            </a:tbl>
          </a:graphicData>
        </a:graphic>
      </p:graphicFrame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2B68121E-F8B7-620D-EABC-307022609FD5}"/>
              </a:ext>
            </a:extLst>
          </p:cNvPr>
          <p:cNvGraphicFramePr>
            <a:graphicFrameLocks noGrp="1"/>
          </p:cNvGraphicFramePr>
          <p:nvPr/>
        </p:nvGraphicFramePr>
        <p:xfrm>
          <a:off x="3895419" y="5153236"/>
          <a:ext cx="1255704" cy="36576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418568">
                  <a:extLst>
                    <a:ext uri="{9D8B030D-6E8A-4147-A177-3AD203B41FA5}">
                      <a16:colId xmlns:a16="http://schemas.microsoft.com/office/drawing/2014/main" val="2939671243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2414763620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1605265231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8536081"/>
                  </a:ext>
                </a:extLst>
              </a:tr>
            </a:tbl>
          </a:graphicData>
        </a:graphic>
      </p:graphicFrame>
      <p:graphicFrame>
        <p:nvGraphicFramePr>
          <p:cNvPr id="43" name="표 42">
            <a:extLst>
              <a:ext uri="{FF2B5EF4-FFF2-40B4-BE49-F238E27FC236}">
                <a16:creationId xmlns:a16="http://schemas.microsoft.com/office/drawing/2014/main" id="{D8DC5B0A-15AE-B264-F684-117D8D903ACE}"/>
              </a:ext>
            </a:extLst>
          </p:cNvPr>
          <p:cNvGraphicFramePr>
            <a:graphicFrameLocks noGrp="1"/>
          </p:cNvGraphicFramePr>
          <p:nvPr/>
        </p:nvGraphicFramePr>
        <p:xfrm>
          <a:off x="10537825" y="5153236"/>
          <a:ext cx="824982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2491">
                  <a:extLst>
                    <a:ext uri="{9D8B030D-6E8A-4147-A177-3AD203B41FA5}">
                      <a16:colId xmlns:a16="http://schemas.microsoft.com/office/drawing/2014/main" val="3349704126"/>
                    </a:ext>
                  </a:extLst>
                </a:gridCol>
                <a:gridCol w="412491">
                  <a:extLst>
                    <a:ext uri="{9D8B030D-6E8A-4147-A177-3AD203B41FA5}">
                      <a16:colId xmlns:a16="http://schemas.microsoft.com/office/drawing/2014/main" val="2808135352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8827078"/>
                  </a:ext>
                </a:extLst>
              </a:tr>
            </a:tbl>
          </a:graphicData>
        </a:graphic>
      </p:graphicFrame>
      <p:graphicFrame>
        <p:nvGraphicFramePr>
          <p:cNvPr id="44" name="표 43">
            <a:extLst>
              <a:ext uri="{FF2B5EF4-FFF2-40B4-BE49-F238E27FC236}">
                <a16:creationId xmlns:a16="http://schemas.microsoft.com/office/drawing/2014/main" id="{F38EAA0B-A059-9FCB-EA7B-949345116397}"/>
              </a:ext>
            </a:extLst>
          </p:cNvPr>
          <p:cNvGraphicFramePr>
            <a:graphicFrameLocks noGrp="1"/>
          </p:cNvGraphicFramePr>
          <p:nvPr/>
        </p:nvGraphicFramePr>
        <p:xfrm>
          <a:off x="6905522" y="5153236"/>
          <a:ext cx="1768476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2119">
                  <a:extLst>
                    <a:ext uri="{9D8B030D-6E8A-4147-A177-3AD203B41FA5}">
                      <a16:colId xmlns:a16="http://schemas.microsoft.com/office/drawing/2014/main" val="3408541164"/>
                    </a:ext>
                  </a:extLst>
                </a:gridCol>
                <a:gridCol w="442119">
                  <a:extLst>
                    <a:ext uri="{9D8B030D-6E8A-4147-A177-3AD203B41FA5}">
                      <a16:colId xmlns:a16="http://schemas.microsoft.com/office/drawing/2014/main" val="771415720"/>
                    </a:ext>
                  </a:extLst>
                </a:gridCol>
                <a:gridCol w="442119">
                  <a:extLst>
                    <a:ext uri="{9D8B030D-6E8A-4147-A177-3AD203B41FA5}">
                      <a16:colId xmlns:a16="http://schemas.microsoft.com/office/drawing/2014/main" val="4212758754"/>
                    </a:ext>
                  </a:extLst>
                </a:gridCol>
                <a:gridCol w="442119">
                  <a:extLst>
                    <a:ext uri="{9D8B030D-6E8A-4147-A177-3AD203B41FA5}">
                      <a16:colId xmlns:a16="http://schemas.microsoft.com/office/drawing/2014/main" val="238908926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7820539"/>
                  </a:ext>
                </a:extLst>
              </a:tr>
            </a:tbl>
          </a:graphicData>
        </a:graphic>
      </p:graphicFrame>
      <p:graphicFrame>
        <p:nvGraphicFramePr>
          <p:cNvPr id="45" name="표 44">
            <a:extLst>
              <a:ext uri="{FF2B5EF4-FFF2-40B4-BE49-F238E27FC236}">
                <a16:creationId xmlns:a16="http://schemas.microsoft.com/office/drawing/2014/main" id="{43851069-C2D2-B638-1BE7-61FE12E7317F}"/>
              </a:ext>
            </a:extLst>
          </p:cNvPr>
          <p:cNvGraphicFramePr>
            <a:graphicFrameLocks noGrp="1"/>
          </p:cNvGraphicFramePr>
          <p:nvPr/>
        </p:nvGraphicFramePr>
        <p:xfrm>
          <a:off x="2258920" y="3039032"/>
          <a:ext cx="1255704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8568">
                  <a:extLst>
                    <a:ext uri="{9D8B030D-6E8A-4147-A177-3AD203B41FA5}">
                      <a16:colId xmlns:a16="http://schemas.microsoft.com/office/drawing/2014/main" val="2693896945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1825580151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7419674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66637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4978202"/>
                  </a:ext>
                </a:extLst>
              </a:tr>
            </a:tbl>
          </a:graphicData>
        </a:graphic>
      </p:graphicFrame>
      <p:graphicFrame>
        <p:nvGraphicFramePr>
          <p:cNvPr id="46" name="표 45">
            <a:extLst>
              <a:ext uri="{FF2B5EF4-FFF2-40B4-BE49-F238E27FC236}">
                <a16:creationId xmlns:a16="http://schemas.microsoft.com/office/drawing/2014/main" id="{231033F0-706B-415C-BB2D-F30BAA42D801}"/>
              </a:ext>
            </a:extLst>
          </p:cNvPr>
          <p:cNvGraphicFramePr>
            <a:graphicFrameLocks noGrp="1"/>
          </p:cNvGraphicFramePr>
          <p:nvPr/>
        </p:nvGraphicFramePr>
        <p:xfrm>
          <a:off x="5258243" y="2867063"/>
          <a:ext cx="1770156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2539">
                  <a:extLst>
                    <a:ext uri="{9D8B030D-6E8A-4147-A177-3AD203B41FA5}">
                      <a16:colId xmlns:a16="http://schemas.microsoft.com/office/drawing/2014/main" val="3464882294"/>
                    </a:ext>
                  </a:extLst>
                </a:gridCol>
                <a:gridCol w="442539">
                  <a:extLst>
                    <a:ext uri="{9D8B030D-6E8A-4147-A177-3AD203B41FA5}">
                      <a16:colId xmlns:a16="http://schemas.microsoft.com/office/drawing/2014/main" val="3109326110"/>
                    </a:ext>
                  </a:extLst>
                </a:gridCol>
                <a:gridCol w="442539">
                  <a:extLst>
                    <a:ext uri="{9D8B030D-6E8A-4147-A177-3AD203B41FA5}">
                      <a16:colId xmlns:a16="http://schemas.microsoft.com/office/drawing/2014/main" val="3213285567"/>
                    </a:ext>
                  </a:extLst>
                </a:gridCol>
                <a:gridCol w="442539">
                  <a:extLst>
                    <a:ext uri="{9D8B030D-6E8A-4147-A177-3AD203B41FA5}">
                      <a16:colId xmlns:a16="http://schemas.microsoft.com/office/drawing/2014/main" val="19113552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02912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1050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1729911"/>
                  </a:ext>
                </a:extLst>
              </a:tr>
            </a:tbl>
          </a:graphicData>
        </a:graphic>
      </p:graphicFrame>
      <p:graphicFrame>
        <p:nvGraphicFramePr>
          <p:cNvPr id="47" name="표 46">
            <a:extLst>
              <a:ext uri="{FF2B5EF4-FFF2-40B4-BE49-F238E27FC236}">
                <a16:creationId xmlns:a16="http://schemas.microsoft.com/office/drawing/2014/main" id="{4C14BC51-A89C-0C08-BCBF-38E35CDB74A1}"/>
              </a:ext>
            </a:extLst>
          </p:cNvPr>
          <p:cNvGraphicFramePr>
            <a:graphicFrameLocks noGrp="1"/>
          </p:cNvGraphicFramePr>
          <p:nvPr/>
        </p:nvGraphicFramePr>
        <p:xfrm>
          <a:off x="9019668" y="2607239"/>
          <a:ext cx="888688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4344">
                  <a:extLst>
                    <a:ext uri="{9D8B030D-6E8A-4147-A177-3AD203B41FA5}">
                      <a16:colId xmlns:a16="http://schemas.microsoft.com/office/drawing/2014/main" val="456541388"/>
                    </a:ext>
                  </a:extLst>
                </a:gridCol>
                <a:gridCol w="444344">
                  <a:extLst>
                    <a:ext uri="{9D8B030D-6E8A-4147-A177-3AD203B41FA5}">
                      <a16:colId xmlns:a16="http://schemas.microsoft.com/office/drawing/2014/main" val="17753490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55013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73734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918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7708776"/>
                  </a:ext>
                </a:extLst>
              </a:tr>
            </a:tbl>
          </a:graphicData>
        </a:graphic>
      </p:graphicFrame>
      <p:sp>
        <p:nvSpPr>
          <p:cNvPr id="49" name="TextBox 48">
            <a:extLst>
              <a:ext uri="{FF2B5EF4-FFF2-40B4-BE49-F238E27FC236}">
                <a16:creationId xmlns:a16="http://schemas.microsoft.com/office/drawing/2014/main" id="{CB9E2FD1-E9A9-09A9-6394-CF8EFB867B8D}"/>
              </a:ext>
            </a:extLst>
          </p:cNvPr>
          <p:cNvSpPr txBox="1"/>
          <p:nvPr/>
        </p:nvSpPr>
        <p:spPr>
          <a:xfrm>
            <a:off x="809522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CD39B9D-5C5C-9A76-9FA3-B7D5F2A9FCF4}"/>
              </a:ext>
            </a:extLst>
          </p:cNvPr>
          <p:cNvSpPr txBox="1"/>
          <p:nvPr/>
        </p:nvSpPr>
        <p:spPr>
          <a:xfrm>
            <a:off x="2427495" y="3868188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(2, 3)</a:t>
            </a:r>
            <a:endParaRPr lang="ko-KR" alt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013415D-8214-9522-94DE-1F6323A05771}"/>
              </a:ext>
            </a:extLst>
          </p:cNvPr>
          <p:cNvSpPr txBox="1"/>
          <p:nvPr/>
        </p:nvSpPr>
        <p:spPr>
          <a:xfrm>
            <a:off x="4052649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(1, 3)</a:t>
            </a:r>
            <a:endParaRPr lang="ko-KR" altLang="en-US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26D194A-8ED8-A222-57D7-0A72C366118F}"/>
              </a:ext>
            </a:extLst>
          </p:cNvPr>
          <p:cNvSpPr txBox="1"/>
          <p:nvPr/>
        </p:nvSpPr>
        <p:spPr>
          <a:xfrm>
            <a:off x="5691091" y="4116751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(3, 4)</a:t>
            </a:r>
            <a:endParaRPr lang="ko-KR" altLang="en-US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A6946AC-A922-C213-AF08-FE45C68B701C}"/>
              </a:ext>
            </a:extLst>
          </p:cNvPr>
          <p:cNvSpPr txBox="1"/>
          <p:nvPr/>
        </p:nvSpPr>
        <p:spPr>
          <a:xfrm>
            <a:off x="7337530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(1, 4)</a:t>
            </a:r>
            <a:endParaRPr lang="ko-KR" altLang="en-US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F75D844-D316-B0C0-42BB-5BF05177F0D7}"/>
              </a:ext>
            </a:extLst>
          </p:cNvPr>
          <p:cNvSpPr txBox="1"/>
          <p:nvPr/>
        </p:nvSpPr>
        <p:spPr>
          <a:xfrm>
            <a:off x="9019668" y="4237520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(4,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85A9622-072E-EF32-6CFA-DA442C3FEFEA}"/>
              </a:ext>
            </a:extLst>
          </p:cNvPr>
          <p:cNvSpPr txBox="1"/>
          <p:nvPr/>
        </p:nvSpPr>
        <p:spPr>
          <a:xfrm>
            <a:off x="10559338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(1, 4)</a:t>
            </a:r>
            <a:endParaRPr lang="ko-KR" altLang="en-US" dirty="0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3110BF7A-D40A-9C35-D312-56455BF7A289}"/>
              </a:ext>
            </a:extLst>
          </p:cNvPr>
          <p:cNvSpPr/>
          <p:nvPr/>
        </p:nvSpPr>
        <p:spPr>
          <a:xfrm>
            <a:off x="913794" y="1762125"/>
            <a:ext cx="10454754" cy="3259121"/>
          </a:xfrm>
          <a:prstGeom prst="rect">
            <a:avLst/>
          </a:prstGeom>
          <a:noFill/>
          <a:ln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694B855F-902F-2FDD-C505-F5F030704E5E}"/>
              </a:ext>
            </a:extLst>
          </p:cNvPr>
          <p:cNvCxnSpPr/>
          <p:nvPr/>
        </p:nvCxnSpPr>
        <p:spPr>
          <a:xfrm>
            <a:off x="1713982" y="3324225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28B3C84C-B20A-83DC-F853-78C3947A6CA1}"/>
              </a:ext>
            </a:extLst>
          </p:cNvPr>
          <p:cNvCxnSpPr/>
          <p:nvPr/>
        </p:nvCxnSpPr>
        <p:spPr>
          <a:xfrm>
            <a:off x="3694876" y="3324225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EDDD5ADB-7D3B-8096-3E2E-A658A91911DE}"/>
              </a:ext>
            </a:extLst>
          </p:cNvPr>
          <p:cNvCxnSpPr/>
          <p:nvPr/>
        </p:nvCxnSpPr>
        <p:spPr>
          <a:xfrm>
            <a:off x="8511249" y="3409950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9FDC7CE7-DBED-ADBA-B928-DA0594621939}"/>
              </a:ext>
            </a:extLst>
          </p:cNvPr>
          <p:cNvCxnSpPr/>
          <p:nvPr/>
        </p:nvCxnSpPr>
        <p:spPr>
          <a:xfrm>
            <a:off x="10199168" y="3390900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217" name="그림 9216">
            <a:extLst>
              <a:ext uri="{FF2B5EF4-FFF2-40B4-BE49-F238E27FC236}">
                <a16:creationId xmlns:a16="http://schemas.microsoft.com/office/drawing/2014/main" id="{A06CB6E9-29F6-DB9B-673B-41CB5F5F75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2981" y="2454826"/>
            <a:ext cx="341640" cy="297078"/>
          </a:xfrm>
          <a:prstGeom prst="rect">
            <a:avLst/>
          </a:prstGeom>
        </p:spPr>
      </p:pic>
      <p:pic>
        <p:nvPicPr>
          <p:cNvPr id="9223" name="그림 9222">
            <a:extLst>
              <a:ext uri="{FF2B5EF4-FFF2-40B4-BE49-F238E27FC236}">
                <a16:creationId xmlns:a16="http://schemas.microsoft.com/office/drawing/2014/main" id="{E005E7C0-EB6C-7392-B2B4-4CF9435177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9300" y="2436482"/>
            <a:ext cx="350550" cy="289585"/>
          </a:xfrm>
          <a:prstGeom prst="rect">
            <a:avLst/>
          </a:prstGeom>
        </p:spPr>
      </p:pic>
      <p:pic>
        <p:nvPicPr>
          <p:cNvPr id="9225" name="그림 9224">
            <a:extLst>
              <a:ext uri="{FF2B5EF4-FFF2-40B4-BE49-F238E27FC236}">
                <a16:creationId xmlns:a16="http://schemas.microsoft.com/office/drawing/2014/main" id="{F25A77D9-6CA8-EBB1-32C2-CE60ED807B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7341" y="2230741"/>
            <a:ext cx="320068" cy="320068"/>
          </a:xfrm>
          <a:prstGeom prst="rect">
            <a:avLst/>
          </a:prstGeom>
        </p:spPr>
      </p:pic>
      <p:pic>
        <p:nvPicPr>
          <p:cNvPr id="9231" name="그림 9230">
            <a:extLst>
              <a:ext uri="{FF2B5EF4-FFF2-40B4-BE49-F238E27FC236}">
                <a16:creationId xmlns:a16="http://schemas.microsoft.com/office/drawing/2014/main" id="{94B2481D-E98C-DA55-0841-B1DD319519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23154" y="2299322"/>
            <a:ext cx="1524132" cy="586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174451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98F57-6188-E26B-9396-E0B2A453F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A059C10-D295-2336-F094-4C2FF4396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36</a:t>
            </a:fld>
            <a:endParaRPr lang="en-US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A589D1AB-A7EA-A13D-A66C-047538B0B3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7095" y="1524826"/>
            <a:ext cx="6576630" cy="1196444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792EDE67-B548-74E9-CEEB-1E466EB7A9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7095" y="3369896"/>
            <a:ext cx="7430144" cy="1127858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1C075147-3363-0723-E9A2-DBEB1EC07F0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7095" y="3087932"/>
            <a:ext cx="1524132" cy="281964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F6B102B5-B19B-355D-6B62-8B58AE6BDB4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bright="-2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57744" y="4973903"/>
            <a:ext cx="5342083" cy="1432684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81A2A448-85FB-B47B-1612-8A4222CE382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rightnessContrast bright="-2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7095" y="4756719"/>
            <a:ext cx="1539373" cy="320068"/>
          </a:xfrm>
          <a:prstGeom prst="rect">
            <a:avLst/>
          </a:prstGeom>
        </p:spPr>
      </p:pic>
      <p:pic>
        <p:nvPicPr>
          <p:cNvPr id="9242" name="그림 9241">
            <a:extLst>
              <a:ext uri="{FF2B5EF4-FFF2-40B4-BE49-F238E27FC236}">
                <a16:creationId xmlns:a16="http://schemas.microsoft.com/office/drawing/2014/main" id="{389C9D37-088D-D449-A58A-7D41E06759E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223725" y="1533093"/>
            <a:ext cx="4596800" cy="120923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F25AFFB-DA44-EBB1-6C12-4AE1F199DDD3}"/>
              </a:ext>
            </a:extLst>
          </p:cNvPr>
          <p:cNvSpPr txBox="1">
            <a:spLocks/>
          </p:cNvSpPr>
          <p:nvPr/>
        </p:nvSpPr>
        <p:spPr>
          <a:xfrm>
            <a:off x="913794" y="3873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Matrix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Formulation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6935690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862381-3972-869E-B311-851346C88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742E03F-B582-8FE9-524B-E033E8675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37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F2F0F76-653C-E126-EB6E-A7E4FC7B99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07623FCE-2234-98BA-A6C8-AB07B6BDF561}"/>
              </a:ext>
            </a:extLst>
          </p:cNvPr>
          <p:cNvSpPr txBox="1">
            <a:spLocks/>
          </p:cNvSpPr>
          <p:nvPr/>
        </p:nvSpPr>
        <p:spPr>
          <a:xfrm>
            <a:off x="590464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Hands-on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73E8ACEE-D388-F7CA-6A08-DE923D42AC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777999"/>
            <a:ext cx="10353762" cy="3200401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Iris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데이터를 사용하여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Hidden layer 2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개가 각각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4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개와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개로 구성된 인공지능망으로 품종을 예측하는 코드를 만들고 손실함수를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정의하고 예측의 성능지표를 토론하자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성능지표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정확도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recall, precision, f1-score 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55364097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727</TotalTime>
  <Words>1518</Words>
  <Application>Microsoft Office PowerPoint</Application>
  <PresentationFormat>와이드스크린</PresentationFormat>
  <Paragraphs>256</Paragraphs>
  <Slides>37</Slides>
  <Notes>10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37</vt:i4>
      </vt:variant>
    </vt:vector>
  </HeadingPairs>
  <TitlesOfParts>
    <vt:vector size="48" baseType="lpstr">
      <vt:lpstr>NanumGothicExtraBold</vt:lpstr>
      <vt:lpstr>맑은 고딕</vt:lpstr>
      <vt:lpstr>맑은 고딕 Semilight</vt:lpstr>
      <vt:lpstr>Batang</vt:lpstr>
      <vt:lpstr>ADLaM Display</vt:lpstr>
      <vt:lpstr>Arial</vt:lpstr>
      <vt:lpstr>Arial Narrow</vt:lpstr>
      <vt:lpstr>Cambria Math</vt:lpstr>
      <vt:lpstr>Segoe UI Light</vt:lpstr>
      <vt:lpstr>Wingdings</vt:lpstr>
      <vt:lpstr>WelcomeDoc</vt:lpstr>
      <vt:lpstr>Deep Learning</vt:lpstr>
      <vt:lpstr>Contents</vt:lpstr>
      <vt:lpstr>Linear Regression</vt:lpstr>
      <vt:lpstr>Linear Regression as dot product form</vt:lpstr>
      <vt:lpstr>Linear Regression as dot product form</vt:lpstr>
      <vt:lpstr>Linear Regression as dot product form</vt:lpstr>
      <vt:lpstr>Linear Regression as dot product form</vt:lpstr>
      <vt:lpstr>MSE(Mean Squared Error)</vt:lpstr>
      <vt:lpstr>Fitting a line to data</vt:lpstr>
      <vt:lpstr>Matrix Formulation</vt:lpstr>
      <vt:lpstr>PowerPoint 프레젠테이션</vt:lpstr>
      <vt:lpstr>PowerPoint 프레젠테이션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Contents</vt:lpstr>
      <vt:lpstr>Regression and Perceptron</vt:lpstr>
      <vt:lpstr>PowerPoint 프레젠테이션</vt:lpstr>
      <vt:lpstr>PowerPoint 프레젠테이션</vt:lpstr>
      <vt:lpstr>Regression and Perceptron</vt:lpstr>
      <vt:lpstr>PowerPoint 프레젠테이션</vt:lpstr>
      <vt:lpstr>Regression and Perceptron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17</cp:revision>
  <dcterms:created xsi:type="dcterms:W3CDTF">2026-04-06T01:00:39Z</dcterms:created>
  <dcterms:modified xsi:type="dcterms:W3CDTF">2026-04-11T09:54:07Z</dcterms:modified>
  <cp:version/>
</cp:coreProperties>
</file>