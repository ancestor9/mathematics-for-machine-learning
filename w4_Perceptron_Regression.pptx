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handoutMasterIdLst>
    <p:handoutMasterId r:id="rId44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873" r:id="rId18"/>
    <p:sldId id="907" r:id="rId19"/>
    <p:sldId id="945" r:id="rId20"/>
    <p:sldId id="946" r:id="rId21"/>
    <p:sldId id="930" r:id="rId22"/>
    <p:sldId id="928" r:id="rId23"/>
    <p:sldId id="851" r:id="rId24"/>
    <p:sldId id="852" r:id="rId25"/>
    <p:sldId id="932" r:id="rId26"/>
    <p:sldId id="957" r:id="rId27"/>
    <p:sldId id="956" r:id="rId28"/>
    <p:sldId id="908" r:id="rId29"/>
    <p:sldId id="950" r:id="rId30"/>
    <p:sldId id="951" r:id="rId31"/>
    <p:sldId id="952" r:id="rId32"/>
    <p:sldId id="937" r:id="rId33"/>
    <p:sldId id="883" r:id="rId34"/>
    <p:sldId id="879" r:id="rId35"/>
    <p:sldId id="969" r:id="rId36"/>
    <p:sldId id="954" r:id="rId37"/>
    <p:sldId id="886" r:id="rId38"/>
    <p:sldId id="887" r:id="rId39"/>
    <p:sldId id="971" r:id="rId40"/>
    <p:sldId id="972" r:id="rId41"/>
    <p:sldId id="885" r:id="rId4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32"/>
            <p14:sldId id="957"/>
            <p14:sldId id="956"/>
            <p14:sldId id="908"/>
            <p14:sldId id="950"/>
            <p14:sldId id="951"/>
            <p14:sldId id="952"/>
            <p14:sldId id="937"/>
            <p14:sldId id="883"/>
            <p14:sldId id="879"/>
            <p14:sldId id="969"/>
            <p14:sldId id="954"/>
            <p14:sldId id="886"/>
            <p14:sldId id="887"/>
            <p14:sldId id="971"/>
            <p14:sldId id="972"/>
            <p14:sldId id="88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D24726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357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gi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9.png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mathematics-for-machine-learning/blob/main/excel/XOR_perceptron_optimization_backprpagation_sgd.xlsx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perceptron_wt_inputs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21" Type="http://schemas.openxmlformats.org/officeDocument/2006/relationships/image" Target="../media/image52.png"/><Relationship Id="rId7" Type="http://schemas.openxmlformats.org/officeDocument/2006/relationships/image" Target="../media/image740.png"/><Relationship Id="rId12" Type="http://schemas.openxmlformats.org/officeDocument/2006/relationships/image" Target="../media/image51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7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66.png"/><Relationship Id="rId4" Type="http://schemas.openxmlformats.org/officeDocument/2006/relationships/image" Target="../media/image63.png"/><Relationship Id="rId9" Type="http://schemas.microsoft.com/office/2007/relationships/hdphoto" Target="../media/hdphoto6.wdp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882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손실함수를 최적화하는 알고리즘을 이해하고 파이썬 코딩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구조와 손실함수를 최소화하는 알고리즘을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순전파와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구글 시트의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22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11192480" cy="766439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550" y="1959415"/>
            <a:ext cx="6325177" cy="4612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7057691" y="1342668"/>
            <a:ext cx="4535863" cy="46935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3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342668"/>
            <a:ext cx="6225311" cy="5093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endParaRPr lang="en-US" altLang="ko-KR" sz="13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6348605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39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082568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5870731"/>
            <a:ext cx="45331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4162753" y="1627055"/>
            <a:ext cx="30091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600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ED08CC-B511-75A4-C475-75C88313E945}"/>
              </a:ext>
            </a:extLst>
          </p:cNvPr>
          <p:cNvSpPr txBox="1"/>
          <p:nvPr/>
        </p:nvSpPr>
        <p:spPr>
          <a:xfrm>
            <a:off x="6194753" y="3462642"/>
            <a:ext cx="30091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600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54292" y="45349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30" grpId="0"/>
      <p:bldP spid="31" grpId="0"/>
      <p:bldP spid="32" grpId="0"/>
      <p:bldP spid="4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타원 32">
            <a:extLst>
              <a:ext uri="{FF2B5EF4-FFF2-40B4-BE49-F238E27FC236}">
                <a16:creationId xmlns:a16="http://schemas.microsoft.com/office/drawing/2014/main" id="{2E902B4D-3FBA-8CBC-9CF6-915F2B9DD769}"/>
              </a:ext>
            </a:extLst>
          </p:cNvPr>
          <p:cNvSpPr/>
          <p:nvPr/>
        </p:nvSpPr>
        <p:spPr>
          <a:xfrm>
            <a:off x="5487749" y="2659852"/>
            <a:ext cx="3211643" cy="3211643"/>
          </a:xfrm>
          <a:prstGeom prst="ellipse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Artificial Neural Network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424809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605666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5666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516980" y="4355757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301380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F6217461-FD08-B09E-4672-A16E1548E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2142" y="3747228"/>
            <a:ext cx="1298305" cy="1026514"/>
          </a:xfrm>
          <a:prstGeom prst="rect">
            <a:avLst/>
          </a:prstGeom>
          <a:noFill/>
          <a:ln w="2857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타원 44">
            <a:extLst>
              <a:ext uri="{FF2B5EF4-FFF2-40B4-BE49-F238E27FC236}">
                <a16:creationId xmlns:a16="http://schemas.microsoft.com/office/drawing/2014/main" id="{6DA04E05-B2CB-A527-DBF3-19979C98E7F0}"/>
              </a:ext>
            </a:extLst>
          </p:cNvPr>
          <p:cNvSpPr/>
          <p:nvPr/>
        </p:nvSpPr>
        <p:spPr>
          <a:xfrm>
            <a:off x="2159273" y="2969375"/>
            <a:ext cx="381717" cy="381717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C35B3FF4-2786-38FD-F694-B81FFF4C5308}"/>
              </a:ext>
            </a:extLst>
          </p:cNvPr>
          <p:cNvSpPr/>
          <p:nvPr/>
        </p:nvSpPr>
        <p:spPr>
          <a:xfrm>
            <a:off x="2168509" y="3426568"/>
            <a:ext cx="381717" cy="381717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53ECB9F0-24CE-B376-2E38-464B84A41D84}"/>
              </a:ext>
            </a:extLst>
          </p:cNvPr>
          <p:cNvSpPr/>
          <p:nvPr/>
        </p:nvSpPr>
        <p:spPr>
          <a:xfrm>
            <a:off x="2159273" y="5187504"/>
            <a:ext cx="381717" cy="381717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51397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DB7A13A-895E-F8E2-6FED-9C3CA4F91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4306" y="2410346"/>
            <a:ext cx="4420313" cy="3494953"/>
          </a:xfrm>
          <a:prstGeom prst="rect">
            <a:avLst/>
          </a:prstGeom>
          <a:noFill/>
          <a:ln w="28575">
            <a:solidFill>
              <a:srgbClr val="DD462F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E688646-C26B-1213-E3B6-E22A142910F2}"/>
              </a:ext>
            </a:extLst>
          </p:cNvPr>
          <p:cNvSpPr/>
          <p:nvPr/>
        </p:nvSpPr>
        <p:spPr>
          <a:xfrm>
            <a:off x="4396509" y="4370721"/>
            <a:ext cx="424872" cy="3691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533998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4013960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99149" y="5781305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1533998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4013960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8)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2426858" y="5394996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471" y="1407678"/>
            <a:ext cx="8103909" cy="442031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23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208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208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90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337342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Formulation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810387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739685" cy="3259121"/>
          </a:xfrm>
          <a:prstGeom prst="rect">
            <a:avLst/>
          </a:prstGeom>
          <a:noFill/>
          <a:ln w="19050">
            <a:solidFill>
              <a:srgbClr val="40404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BE8A9C98-D755-6316-F9CD-799540C21A1B}"/>
              </a:ext>
            </a:extLst>
          </p:cNvPr>
          <p:cNvSpPr/>
          <p:nvPr/>
        </p:nvSpPr>
        <p:spPr>
          <a:xfrm>
            <a:off x="4157787" y="1762125"/>
            <a:ext cx="739685" cy="3259121"/>
          </a:xfrm>
          <a:prstGeom prst="rect">
            <a:avLst/>
          </a:prstGeom>
          <a:noFill/>
          <a:ln w="19050">
            <a:solidFill>
              <a:srgbClr val="40404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4570E84-E3EA-2B09-E5EB-3560B18148FD}"/>
              </a:ext>
            </a:extLst>
          </p:cNvPr>
          <p:cNvSpPr/>
          <p:nvPr/>
        </p:nvSpPr>
        <p:spPr>
          <a:xfrm>
            <a:off x="7401780" y="1762125"/>
            <a:ext cx="739685" cy="3259121"/>
          </a:xfrm>
          <a:prstGeom prst="rect">
            <a:avLst/>
          </a:prstGeom>
          <a:noFill/>
          <a:ln w="19050">
            <a:solidFill>
              <a:srgbClr val="40404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5687F9A-93FA-D731-B74C-E07CCF3B9EDA}"/>
              </a:ext>
            </a:extLst>
          </p:cNvPr>
          <p:cNvSpPr/>
          <p:nvPr/>
        </p:nvSpPr>
        <p:spPr>
          <a:xfrm>
            <a:off x="10645772" y="1762125"/>
            <a:ext cx="739685" cy="3259121"/>
          </a:xfrm>
          <a:prstGeom prst="rect">
            <a:avLst/>
          </a:prstGeom>
          <a:noFill/>
          <a:ln w="19050">
            <a:solidFill>
              <a:srgbClr val="40404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03515" y="1533093"/>
            <a:ext cx="3617010" cy="95148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Formulation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A0F314B-E46C-DD67-133F-5D5C78A361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03515" y="3412621"/>
            <a:ext cx="3617010" cy="95148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64BD46F-2758-9F94-2A51-4032D123C3F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03515" y="5102890"/>
            <a:ext cx="3617010" cy="951489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91A1847-1E45-9B6F-DDC3-BDF5A86E3AAC}"/>
              </a:ext>
            </a:extLst>
          </p:cNvPr>
          <p:cNvSpPr/>
          <p:nvPr/>
        </p:nvSpPr>
        <p:spPr>
          <a:xfrm>
            <a:off x="9217890" y="1350165"/>
            <a:ext cx="424873" cy="131734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9E7CFF-C56C-ACE2-4ECA-FDD3F93E99CC}"/>
              </a:ext>
            </a:extLst>
          </p:cNvPr>
          <p:cNvSpPr/>
          <p:nvPr/>
        </p:nvSpPr>
        <p:spPr>
          <a:xfrm>
            <a:off x="10392935" y="3275153"/>
            <a:ext cx="424873" cy="1317343"/>
          </a:xfrm>
          <a:prstGeom prst="rect">
            <a:avLst/>
          </a:prstGeom>
          <a:noFill/>
          <a:ln w="2857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4605832-FC1F-946C-2A1D-0FC34C46B11C}"/>
              </a:ext>
            </a:extLst>
          </p:cNvPr>
          <p:cNvSpPr/>
          <p:nvPr/>
        </p:nvSpPr>
        <p:spPr>
          <a:xfrm>
            <a:off x="11459700" y="4919962"/>
            <a:ext cx="424873" cy="13173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E2189-542A-B7B0-5B9B-BBE2901FB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AFBE30-8F5C-EDE5-641F-FBDBB03B4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D85B8C-D608-B0D1-95F6-49FCD4DE7E4C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D7D8D8-027A-E694-C739-6FA07F332D02}"/>
              </a:ext>
            </a:extLst>
          </p:cNvPr>
          <p:cNvSpPr txBox="1"/>
          <p:nvPr/>
        </p:nvSpPr>
        <p:spPr>
          <a:xfrm>
            <a:off x="591127" y="16810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8C4C66-EA64-CA22-63FE-57BF090A0AC6}"/>
              </a:ext>
            </a:extLst>
          </p:cNvPr>
          <p:cNvSpPr txBox="1"/>
          <p:nvPr/>
        </p:nvSpPr>
        <p:spPr>
          <a:xfrm>
            <a:off x="591127" y="1419613"/>
            <a:ext cx="5190837" cy="50475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torch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torch.nn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torch.optim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가짜 데이터 생성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클러스터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torch.manual_seed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(42)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torch.randn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(100, 2)  # 100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(x, y)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좌표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x+y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클래스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작으면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레이블 생성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(X[:, 0] + X[:, 1] &gt; 0).float().view(-1, 1)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아주 단순한 모델 정의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nn.Sequential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4),   #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좌표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-&gt;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은닉층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nn.ReLU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        #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1),   #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은닉층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-&gt;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출력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       # 0~1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 확률로 변환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함수와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옵티마이저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 #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분류용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 Entropy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model.parameters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FF48A2-EB32-B751-D98F-9700D6F82E33}"/>
              </a:ext>
            </a:extLst>
          </p:cNvPr>
          <p:cNvSpPr txBox="1"/>
          <p:nvPr/>
        </p:nvSpPr>
        <p:spPr>
          <a:xfrm>
            <a:off x="6013982" y="1419613"/>
            <a:ext cx="5817799" cy="461664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(Training)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range(200):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#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 = model(X)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loss = criterion(pred, y)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#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및 최적화</a:t>
            </a: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if (epoch + 1) % 50 == 0: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print(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f"Epoch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{epoch+1}, Loss: {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loss.item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():.4f}")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확인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with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torch.no_grad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test_data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([[1.0, 1.0], [-1.0, -1.0]])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prediction = model(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test_data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print("\n[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 결과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]")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print(f"[1.0, 1.0]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클래스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확률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{prediction[0].item():.4f}")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print(f"[-1.0, -1.0]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클래스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확률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{prediction[1].item():.4f}")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29883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0228-9036-2A05-6B03-B825D46AD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905A46-7085-1335-D93B-86F696A5D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071F69-849F-DC6D-A101-D3E4CCD32F94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Summary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BBB5AF-99B6-592F-62D9-7E63FD9E4CCA}"/>
              </a:ext>
            </a:extLst>
          </p:cNvPr>
          <p:cNvSpPr txBox="1"/>
          <p:nvPr/>
        </p:nvSpPr>
        <p:spPr>
          <a:xfrm>
            <a:off x="591127" y="16810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CCFA8E-8A11-196B-9D01-77796CC99EEE}"/>
              </a:ext>
            </a:extLst>
          </p:cNvPr>
          <p:cNvSpPr txBox="1"/>
          <p:nvPr/>
        </p:nvSpPr>
        <p:spPr>
          <a:xfrm>
            <a:off x="591127" y="1559586"/>
            <a:ext cx="9568873" cy="44766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print(model)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가능한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(Trainable)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파라미터 수만 계산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trainable_params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p.numel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 for p in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model.parameters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 if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p.requires_grad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f"Trainable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Parameters: {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trainable_params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:,}")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단계별 파라미터 상세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name, param in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model.named_parameters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():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if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param.requires_grad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f"Layer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{name} | Size: {list(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param.size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())} | Values: {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param.numel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()}")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f"Values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:\n{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param.data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}\n")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summary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torchsummary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import summary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summary(model,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input_size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=(2,))</a:t>
            </a:r>
          </a:p>
        </p:txBody>
      </p:sp>
    </p:spTree>
    <p:extLst>
      <p:ext uri="{BB962C8B-B14F-4D97-AF65-F5344CB8AC3E}">
        <p14:creationId xmlns:p14="http://schemas.microsoft.com/office/powerpoint/2010/main" val="33142861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5565198" y="5879983"/>
            <a:ext cx="2793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1649</TotalTime>
  <Words>3143</Words>
  <Application>Microsoft Office PowerPoint</Application>
  <PresentationFormat>와이드스크린</PresentationFormat>
  <Paragraphs>415</Paragraphs>
  <Slides>41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3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54</cp:revision>
  <dcterms:created xsi:type="dcterms:W3CDTF">2026-04-06T01:00:39Z</dcterms:created>
  <dcterms:modified xsi:type="dcterms:W3CDTF">2026-04-22T09:35:44Z</dcterms:modified>
  <cp:version/>
</cp:coreProperties>
</file>