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1"/>
  </p:notesMasterIdLst>
  <p:handoutMasterIdLst>
    <p:handoutMasterId r:id="rId42"/>
  </p:handoutMasterIdLst>
  <p:sldIdLst>
    <p:sldId id="256" r:id="rId2"/>
    <p:sldId id="355" r:id="rId3"/>
    <p:sldId id="942" r:id="rId4"/>
    <p:sldId id="941" r:id="rId5"/>
    <p:sldId id="940" r:id="rId6"/>
    <p:sldId id="847" r:id="rId7"/>
    <p:sldId id="943" r:id="rId8"/>
    <p:sldId id="944" r:id="rId9"/>
    <p:sldId id="335" r:id="rId10"/>
    <p:sldId id="938" r:id="rId11"/>
    <p:sldId id="871" r:id="rId12"/>
    <p:sldId id="872" r:id="rId13"/>
    <p:sldId id="931" r:id="rId14"/>
    <p:sldId id="936" r:id="rId15"/>
    <p:sldId id="873" r:id="rId16"/>
    <p:sldId id="907" r:id="rId17"/>
    <p:sldId id="930" r:id="rId18"/>
    <p:sldId id="928" r:id="rId19"/>
    <p:sldId id="851" r:id="rId20"/>
    <p:sldId id="852" r:id="rId21"/>
    <p:sldId id="932" r:id="rId22"/>
    <p:sldId id="908" r:id="rId23"/>
    <p:sldId id="929" r:id="rId24"/>
    <p:sldId id="846" r:id="rId25"/>
    <p:sldId id="927" r:id="rId26"/>
    <p:sldId id="937" r:id="rId27"/>
    <p:sldId id="876" r:id="rId28"/>
    <p:sldId id="879" r:id="rId29"/>
    <p:sldId id="881" r:id="rId30"/>
    <p:sldId id="880" r:id="rId31"/>
    <p:sldId id="883" r:id="rId32"/>
    <p:sldId id="882" r:id="rId33"/>
    <p:sldId id="884" r:id="rId34"/>
    <p:sldId id="919" r:id="rId35"/>
    <p:sldId id="886" r:id="rId36"/>
    <p:sldId id="887" r:id="rId37"/>
    <p:sldId id="885" r:id="rId38"/>
    <p:sldId id="285" r:id="rId39"/>
    <p:sldId id="284" r:id="rId4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31"/>
            <p14:sldId id="936"/>
            <p14:sldId id="873"/>
            <p14:sldId id="907"/>
            <p14:sldId id="930"/>
            <p14:sldId id="928"/>
            <p14:sldId id="851"/>
            <p14:sldId id="852"/>
            <p14:sldId id="932"/>
            <p14:sldId id="908"/>
            <p14:sldId id="929"/>
            <p14:sldId id="846"/>
            <p14:sldId id="927"/>
            <p14:sldId id="937"/>
            <p14:sldId id="876"/>
            <p14:sldId id="879"/>
            <p14:sldId id="881"/>
            <p14:sldId id="880"/>
            <p14:sldId id="883"/>
            <p14:sldId id="882"/>
            <p14:sldId id="884"/>
            <p14:sldId id="919"/>
            <p14:sldId id="886"/>
            <p14:sldId id="887"/>
            <p14:sldId id="885"/>
            <p14:sldId id="285"/>
            <p14:sldId id="284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404040"/>
    <a:srgbClr val="FF9B45"/>
    <a:srgbClr val="DD462F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2026-04-17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1476B-976D-3B9C-929C-0E6C2ECC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018413-B452-869B-093F-7FCD8E11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38A77C-E7F5-2598-FF2B-1405B870E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E6329-4B53-5B91-7ED8-0902822AE2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15684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0030A-8C46-08A6-BE42-6D086947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E5C43A-AB99-1868-ABC5-33973A29D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CBDB5B-08D5-C381-267F-2F7F812F96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22BDE-E4A5-6756-345E-02C31D4A2D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91149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2026-04-17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80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2026-04-17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  <p:sldLayoutId id="2147483666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1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jpe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jpe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Relationship Id="rId4" Type="http://schemas.microsoft.com/office/2007/relationships/hdphoto" Target="../media/hdphoto2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t3VBY9OisCo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0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2.png"/><Relationship Id="rId4" Type="http://schemas.openxmlformats.org/officeDocument/2006/relationships/image" Target="../media/image65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?hl=ko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keras.io/" TargetMode="External"/><Relationship Id="rId4" Type="http://schemas.openxmlformats.org/officeDocument/2006/relationships/hyperlink" Target="https://pytorch.org/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Big-Data-Science/blob/main/C1/w3/C1w3_graded_lab/C1_W3_Assignment_Perceptron.ipynb" TargetMode="External"/><Relationship Id="rId2" Type="http://schemas.openxmlformats.org/officeDocument/2006/relationships/hyperlink" Target="https://github.com/ancestor9/Mathematics-for-Big-Data-Science/blob/main/C1/w3/C1w3_graded_lab/C1_W3_Assignment.ipynb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github.com/ancestor9/Mathematics-for-Big-Data-Science/tree/main/C1/w3/C1w3_graded_lab" TargetMode="External"/><Relationship Id="rId5" Type="http://schemas.openxmlformats.org/officeDocument/2006/relationships/hyperlink" Target="https://github.com/ancestor9/Mathematics-for-Big-Data-Science/tree/main" TargetMode="External"/><Relationship Id="rId4" Type="http://schemas.openxmlformats.org/officeDocument/2006/relationships/hyperlink" Target="https://github.com/ancestor9/Mathematics-for-Big-Data-Science/blob/main/C1/w3/C1w3_graded_lab/C1_W3_Assignment_Perceptron_MSE.ipynb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orch.org/tutorials/beginner/basics/quickstart_tutorial.html" TargetMode="External"/><Relationship Id="rId2" Type="http://schemas.openxmlformats.org/officeDocument/2006/relationships/hyperlink" Target="https://www.101ai.net/basics/https:/www.101ai.net/basics/tensors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playground.tensorflow.org/#activation=tanh&amp;batchSize=10&amp;dataset=circle&amp;regDataset=reg-plane&amp;learningRate=0.03&amp;regularizationRate=0&amp;noise=0&amp;networkShape=4,2&amp;seed=0.70624&amp;showTestData=false&amp;discretize=false&amp;percTrainData=50&amp;x=true&amp;y=true&amp;xTimesY=false&amp;xSquared=false&amp;ySquared=false&amp;cosX=false&amp;sinX=false&amp;cosY=false&amp;sinY=false&amp;collectStats=false&amp;problem=classification&amp;initZero=false&amp;hideText=false" TargetMode="External"/><Relationship Id="rId4" Type="http://schemas.openxmlformats.org/officeDocument/2006/relationships/hyperlink" Target="https://www.tensorflow.org/tutorials/customization/basics?hl=ko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540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5.jpeg"/><Relationship Id="rId5" Type="http://schemas.openxmlformats.org/officeDocument/2006/relationships/image" Target="../media/image520.png"/><Relationship Id="rId4" Type="http://schemas.openxmlformats.org/officeDocument/2006/relationships/hyperlink" Target="https://en.wikipedia.org/wiki/Sign_function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101ai.net/deeplearn/activation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0.png"/><Relationship Id="rId7" Type="http://schemas.openxmlformats.org/officeDocument/2006/relationships/image" Target="../media/image740.png"/><Relationship Id="rId12" Type="http://schemas.openxmlformats.org/officeDocument/2006/relationships/image" Target="../media/image79.png"/><Relationship Id="rId17" Type="http://schemas.openxmlformats.org/officeDocument/2006/relationships/image" Target="../media/image48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30.png"/><Relationship Id="rId11" Type="http://schemas.openxmlformats.org/officeDocument/2006/relationships/image" Target="../media/image78.png"/><Relationship Id="rId5" Type="http://schemas.openxmlformats.org/officeDocument/2006/relationships/image" Target="../media/image720.png"/><Relationship Id="rId15" Type="http://schemas.openxmlformats.org/officeDocument/2006/relationships/image" Target="../media/image82.png"/><Relationship Id="rId10" Type="http://schemas.openxmlformats.org/officeDocument/2006/relationships/image" Target="../media/image770.png"/><Relationship Id="rId19" Type="http://schemas.openxmlformats.org/officeDocument/2006/relationships/image" Target="../media/image86.png"/><Relationship Id="rId4" Type="http://schemas.openxmlformats.org/officeDocument/2006/relationships/image" Target="../media/image710.png"/><Relationship Id="rId9" Type="http://schemas.openxmlformats.org/officeDocument/2006/relationships/image" Target="../media/image760.png"/><Relationship Id="rId14" Type="http://schemas.openxmlformats.org/officeDocument/2006/relationships/image" Target="../media/image81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7" Type="http://schemas.openxmlformats.org/officeDocument/2006/relationships/image" Target="../media/image20.jpe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10.png"/><Relationship Id="rId5" Type="http://schemas.openxmlformats.org/officeDocument/2006/relationships/image" Target="../media/image600.png"/><Relationship Id="rId4" Type="http://schemas.openxmlformats.org/officeDocument/2006/relationships/image" Target="../media/image59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6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7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59.png"/><Relationship Id="rId4" Type="http://schemas.openxmlformats.org/officeDocument/2006/relationships/image" Target="../media/image56.png"/><Relationship Id="rId9" Type="http://schemas.microsoft.com/office/2007/relationships/hdphoto" Target="../media/hdphoto6.wdp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ctor.tensorflow.org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ground.tensorflow.org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Perceptron and Regression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85034654-E34D-72B4-9948-0D515D6A80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496" y="2438880"/>
            <a:ext cx="5133814" cy="4026682"/>
          </a:xfrm>
          <a:prstGeom prst="rect">
            <a:avLst/>
          </a:prstGeom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505DBA-F2A8-999E-4B9A-98141463755C}"/>
              </a:ext>
            </a:extLst>
          </p:cNvPr>
          <p:cNvSpPr txBox="1"/>
          <p:nvPr/>
        </p:nvSpPr>
        <p:spPr>
          <a:xfrm>
            <a:off x="5793548" y="2438880"/>
            <a:ext cx="15055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linear_regression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02C54E-DE49-6AFC-D81F-69C2C5052F16}"/>
              </a:ext>
            </a:extLst>
          </p:cNvPr>
          <p:cNvSpPr txBox="1"/>
          <p:nvPr/>
        </p:nvSpPr>
        <p:spPr>
          <a:xfrm>
            <a:off x="2925745" y="6203952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5D7B16-ABCA-4860-B5E7-A6320FD57B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4059" y="2513172"/>
            <a:ext cx="968757" cy="363099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FE3CA14-06EA-1CA5-994C-AC4D306CCF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57690" y="2495212"/>
            <a:ext cx="1905728" cy="3648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3668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6" y="2890889"/>
            <a:ext cx="5769350" cy="3149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291326"/>
            <a:ext cx="6624926" cy="21019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08319F-6940-D88F-0A15-5533635BD384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EF1BC567-8CF8-0F01-3159-1111B5C86B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890" y="1955799"/>
            <a:ext cx="11214837" cy="3018271"/>
          </a:xfrm>
        </p:spPr>
        <p:txBody>
          <a:bodyPr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대상으로 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indent="-1714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사용하여 수치형 변수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'carat', 'depth', 'table’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입력변수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가격을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 변수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'cut', 'color', 'clarity’,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추가하여 총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입력변수로 가격을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 변수를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one-hot-encoding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dummy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변수로 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의미는 무엇인가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statsmodels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라이브러리를 사용하여 통계적 요약 보고서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(Summary)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변수의 유의성을 판단하도록 하라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48A9D-80A6-605A-D534-425E7653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8F20E-8EE0-78A5-D0EA-4B644EEC1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9B03C88-270A-EE2C-3233-714AAFEC9BE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0A3CACE-DE81-CBDF-798D-06984882A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9E78179-2E09-0355-C041-22C079CFD5A4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BF0E4733-A836-DC62-3DDB-852B81B9F73E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E18941F-B0F9-67C5-F662-E6B4EE6F98DF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CA140FD1-229F-BE57-FCAD-4A8ADDB11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1AD573-1CBB-4023-F7C6-802D274C385F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4A49041-B721-4B86-3514-E8E380D285C4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05CDB8F-66D5-E0F1-65C3-4434DA3C88CA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10ED7DF1-E89E-94D9-9FB9-80F44B86C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0720B32A-EB97-F165-4582-A6CBBFE5019A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70B4902C-D349-338F-456E-77DC2D0640F1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6715BE0-4A4F-3CF6-4749-616264D565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6503C25-DAD0-3B96-B35F-29886341B6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15179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8585200" cy="876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FE64A05-EC9A-7A18-276B-BAE1ACCEF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444" y="1248422"/>
            <a:ext cx="3599209" cy="533293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54E6098-1902-C2B9-D42B-B9F5D7D5B6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3197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F3A0907-AE0A-B055-AB47-80AD866702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18</a:t>
            </a:fld>
            <a:endParaRPr lang="en-US" sz="20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2542047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52613"/>
            <a:ext cx="5536049" cy="3012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5E3B9F4-5DC7-A211-5F12-52F46993E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60344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149744" y="2510221"/>
              <a:ext cx="26671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4766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EA6D6-8D0D-66DB-6F02-6DCE59D1B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720" y="1320799"/>
            <a:ext cx="8744555" cy="1336676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48D627-DB6B-37D0-763C-BD40D9FF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C6389EEB-3EE9-A340-DA7D-22ACB0D19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9950" y="2371725"/>
            <a:ext cx="5778139" cy="4213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91069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86344" y="1813025"/>
            <a:ext cx="11118079" cy="3901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924443" y="1378781"/>
            <a:ext cx="2702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using Excel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CB480A6-A0B3-0246-44AD-75B302A6D0B8}"/>
              </a:ext>
            </a:extLst>
          </p:cNvPr>
          <p:cNvSpPr/>
          <p:nvPr/>
        </p:nvSpPr>
        <p:spPr>
          <a:xfrm>
            <a:off x="2362200" y="4819650"/>
            <a:ext cx="1066800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4A570F2-2DB4-7E00-450D-D41338F92653}"/>
              </a:ext>
            </a:extLst>
          </p:cNvPr>
          <p:cNvSpPr/>
          <p:nvPr/>
        </p:nvSpPr>
        <p:spPr>
          <a:xfrm>
            <a:off x="6915149" y="4819650"/>
            <a:ext cx="2295525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806403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575310" y="2301623"/>
            <a:ext cx="7821115" cy="33812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17647" r="-3226" b="-274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회귀생성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(Regression)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행렬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blipFill>
                <a:blip r:embed="rId4"/>
                <a:stretch>
                  <a:fillRect l="-488" r="-122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E0A39D8-D271-9144-FCDC-875386FFF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3854" y="2555172"/>
            <a:ext cx="3254916" cy="1437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7">
            <a:extLst>
              <a:ext uri="{FF2B5EF4-FFF2-40B4-BE49-F238E27FC236}">
                <a16:creationId xmlns:a16="http://schemas.microsoft.com/office/drawing/2014/main" id="{9C28995B-3134-30CE-3901-48560B1C4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07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FFF4F0-7DB3-AABE-D6D5-2193C90BF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58900"/>
            <a:ext cx="10353762" cy="4575176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AD09-0992-FC39-4F80-31C5E7117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2642CE7F-AED1-D598-8D78-62E5A6A1A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25</a:t>
            </a:fld>
            <a:endParaRPr lang="en-US" sz="2000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8BC8A7-7BBD-54EA-B0BF-9A8146648D9A}"/>
              </a:ext>
            </a:extLst>
          </p:cNvPr>
          <p:cNvGrpSpPr/>
          <p:nvPr/>
        </p:nvGrpSpPr>
        <p:grpSpPr>
          <a:xfrm>
            <a:off x="2128837" y="2317001"/>
            <a:ext cx="7934325" cy="3318063"/>
            <a:chOff x="2457450" y="1673618"/>
            <a:chExt cx="7934325" cy="331806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12FC99F-4F29-FE0D-34B5-9AC7CDA4BCC8}"/>
                </a:ext>
              </a:extLst>
            </p:cNvPr>
            <p:cNvSpPr txBox="1"/>
            <p:nvPr/>
          </p:nvSpPr>
          <p:spPr>
            <a:xfrm>
              <a:off x="5555536" y="4068351"/>
              <a:ext cx="48362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>
                  <a:hlinkClick r:id="rId2" tooltip="C1_W3_Assignment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C1_W3_Assignment.ipynb</a:t>
              </a:r>
              <a:endParaRPr lang="en-US" altLang="ko-KR" dirty="0"/>
            </a:p>
            <a:p>
              <a:r>
                <a:rPr lang="fr-FR" altLang="ko-KR" dirty="0">
                  <a:hlinkClick r:id="rId3" tooltip="C1_W3_Assignment_Perceptron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C1_W3_Assignment_Perceptron.ipynb</a:t>
              </a:r>
              <a:endParaRPr lang="fr-FR" altLang="ko-KR" dirty="0"/>
            </a:p>
            <a:p>
              <a:r>
                <a:rPr lang="fr-FR" altLang="ko-KR" dirty="0">
                  <a:hlinkClick r:id="rId4" tooltip="C1_W3_Assignment_Perceptron_MSE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C1_W3_Assignment_Perceptron_MSE.ipynb</a:t>
              </a:r>
              <a:endParaRPr lang="fr-FR" altLang="ko-KR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851D627-41E9-D33A-A72C-D38EF5B9F8AF}"/>
                </a:ext>
              </a:extLst>
            </p:cNvPr>
            <p:cNvSpPr txBox="1"/>
            <p:nvPr/>
          </p:nvSpPr>
          <p:spPr>
            <a:xfrm>
              <a:off x="2457450" y="1673618"/>
              <a:ext cx="4366003" cy="24006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Mathematics-for-Big-Data-Science</a:t>
              </a:r>
              <a:endParaRPr lang="en-US" altLang="ko-KR" sz="2400" dirty="0"/>
            </a:p>
            <a:p>
              <a:endParaRPr lang="en-US" altLang="ko-KR" dirty="0"/>
            </a:p>
            <a:p>
              <a:r>
                <a:rPr lang="en-US" altLang="ko-KR" dirty="0"/>
                <a:t>C1 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w1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w2</a:t>
              </a:r>
            </a:p>
            <a:p>
              <a:r>
                <a:rPr lang="en-US" altLang="ko-KR" dirty="0"/>
                <a:t>	w3 </a:t>
              </a:r>
            </a:p>
            <a:p>
              <a:r>
                <a:rPr lang="en-US" altLang="ko-KR" dirty="0"/>
                <a:t>				</a:t>
              </a:r>
            </a:p>
            <a:p>
              <a:r>
                <a:rPr lang="en-US" altLang="ko-KR" dirty="0"/>
                <a:t>		</a:t>
              </a:r>
              <a:r>
                <a:rPr lang="en-US" altLang="ko-KR" dirty="0"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C1w3_graded_lab</a:t>
              </a:r>
              <a:endParaRPr lang="ko-KR" altLang="en-US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19C6CB4-31F7-6803-5396-4484BB83E572}"/>
              </a:ext>
            </a:extLst>
          </p:cNvPr>
          <p:cNvSpPr txBox="1"/>
          <p:nvPr/>
        </p:nvSpPr>
        <p:spPr>
          <a:xfrm>
            <a:off x="1114425" y="1238250"/>
            <a:ext cx="65517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회귀식과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동질성을 이해하고 실습한다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06FEC23C-9768-0CF0-9999-F078BBDB7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76247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3EAD3-0C6D-4A32-6FEE-8F79EC6E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FABE37-667B-DB2B-DD82-35B58E752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3CEEA0B-D51C-B098-845C-0403C7357090}"/>
              </a:ext>
            </a:extLst>
          </p:cNvPr>
          <p:cNvSpPr txBox="1">
            <a:spLocks/>
          </p:cNvSpPr>
          <p:nvPr/>
        </p:nvSpPr>
        <p:spPr>
          <a:xfrm>
            <a:off x="504220" y="615334"/>
            <a:ext cx="10353762" cy="5181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Tensors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23259F9-A875-6E4B-90BF-6F1E094EB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879939"/>
            <a:ext cx="10706705" cy="2530136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tensors </a:t>
            </a: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visulalization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개념 익히기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 flow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tensors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익히기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playground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deep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실습하기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74351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506700" y="460581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  <a:blipFill>
                <a:blip r:embed="rId2"/>
                <a:stretch>
                  <a:fillRect l="-3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9250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7884968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562526" y="5709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7057" y="1321566"/>
            <a:ext cx="3932834" cy="5149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14" y="221997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528282" y="1668583"/>
            <a:ext cx="2252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456595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87061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19104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673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49602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399" y="1772883"/>
            <a:ext cx="6203101" cy="4717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537021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6E815-8EE0-6D4F-49BA-C6278346B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Machine learning diagram">
            <a:extLst>
              <a:ext uri="{FF2B5EF4-FFF2-40B4-BE49-F238E27FC236}">
                <a16:creationId xmlns:a16="http://schemas.microsoft.com/office/drawing/2014/main" id="{31270F37-CD94-038F-97E6-AE82E6BD2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4214" y="2509570"/>
            <a:ext cx="7863572" cy="404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4DB45C27-D83E-EE3E-E745-CF19291C4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34</a:t>
            </a:fld>
            <a:endParaRPr lang="en-US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F2B967-4D3A-6B9F-38C9-F2A6A2228496}"/>
              </a:ext>
            </a:extLst>
          </p:cNvPr>
          <p:cNvSpPr txBox="1"/>
          <p:nvPr/>
        </p:nvSpPr>
        <p:spPr>
          <a:xfrm>
            <a:off x="900982" y="1358354"/>
            <a:ext cx="88145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shape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내적으로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재변환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(Representation of 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/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𝐴𝑘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blipFill>
                <a:blip r:embed="rId3"/>
                <a:stretch>
                  <a:fillRect b="-106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01B753E0-A9F7-C1CD-878C-99AD89CDA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198" y="566397"/>
            <a:ext cx="10364451" cy="514958"/>
          </a:xfrm>
        </p:spPr>
        <p:txBody>
          <a:bodyPr>
            <a:normAutofit fontScale="90000"/>
          </a:bodyPr>
          <a:lstStyle/>
          <a:p>
            <a:pPr algn="ctr"/>
            <a:r>
              <a:rPr lang="en-US" altLang="ko-KR" cap="none" dirty="0"/>
              <a:t>Deep learning </a:t>
            </a:r>
            <a:endParaRPr lang="ko-KR" altLang="en-US" cap="non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/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𝐵𝑧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/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/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50C10B-59E2-9EBB-D19C-0BBDE76D4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2903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" grpId="0" animBg="1"/>
      <p:bldP spid="6" grpId="0" animBg="1"/>
      <p:bldP spid="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/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/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/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/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/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/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/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1524826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369896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087932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7744" y="4973903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4756719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23725" y="1533093"/>
            <a:ext cx="4596800" cy="120923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25AFFB-DA44-EBB1-6C12-4AE1F199DDD3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사용하여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개가 각각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개와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구성된 인공지능망으로 품종을 예측하는 코드를 만들고 손실함수를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정의하고 예측의 성능지표를 토론하자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성능지표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정확도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recall, precision, f1-score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F2C86-DA16-D101-F00A-B2C9BD45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1C3CD4D-CFE1-3FF5-FA51-F72D7FE59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text recognition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16E9F8-1A59-5EE7-D461-0839167D51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38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C4D521-46EF-3D1F-71D0-5ACCE5859CDC}"/>
              </a:ext>
            </a:extLst>
          </p:cNvPr>
          <p:cNvSpPr txBox="1"/>
          <p:nvPr/>
        </p:nvSpPr>
        <p:spPr>
          <a:xfrm>
            <a:off x="521207" y="1533236"/>
            <a:ext cx="18624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Embedding projector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B8671C2-8C43-29BF-55CE-D04C955A11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672" y="1687124"/>
            <a:ext cx="6066299" cy="432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186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41D2F-EAB1-4A92-8867-6B4C4AEFA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3E49DB6-DAB3-D953-28ED-408E2277F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 err="1">
                <a:cs typeface="Segoe UI Light" panose="020B0502040204020203" pitchFamily="34" charset="0"/>
              </a:rPr>
              <a:t>tensorflow</a:t>
            </a:r>
            <a:r>
              <a:rPr lang="en-US" altLang="ko-KR" dirty="0">
                <a:cs typeface="Segoe UI Light" panose="020B0502040204020203" pitchFamily="34" charset="0"/>
              </a:rPr>
              <a:t> playground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DC4E536-A3F9-1C9F-45A5-4E8F7C6145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0B5905-966B-98B8-0663-09744EF741D6}"/>
              </a:ext>
            </a:extLst>
          </p:cNvPr>
          <p:cNvSpPr txBox="1"/>
          <p:nvPr/>
        </p:nvSpPr>
        <p:spPr>
          <a:xfrm>
            <a:off x="521207" y="1533236"/>
            <a:ext cx="23153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in Browser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B5DEB5-B8CF-951A-D24C-641B270EF0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909" y="2188345"/>
            <a:ext cx="7666182" cy="3847647"/>
          </a:xfrm>
          <a:prstGeom prst="rect">
            <a:avLst/>
          </a:prstGeom>
        </p:spPr>
      </p:pic>
      <p:pic>
        <p:nvPicPr>
          <p:cNvPr id="205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76937F52-9FE7-AD4F-8080-9B9CDF694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4821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938</TotalTime>
  <Words>1441</Words>
  <Application>Microsoft Office PowerPoint</Application>
  <PresentationFormat>와이드스크린</PresentationFormat>
  <Paragraphs>243</Paragraphs>
  <Slides>39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50" baseType="lpstr">
      <vt:lpstr>NanumGothicExtraBold</vt:lpstr>
      <vt:lpstr>맑은 고딕</vt:lpstr>
      <vt:lpstr>맑은 고딕 Semilight</vt:lpstr>
      <vt:lpstr>Batang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Contents</vt:lpstr>
      <vt:lpstr>Regression and Perceptron</vt:lpstr>
      <vt:lpstr>PowerPoint 프레젠테이션</vt:lpstr>
      <vt:lpstr>PowerPoint 프레젠테이션</vt:lpstr>
      <vt:lpstr>PowerPoint 프레젠테이션</vt:lpstr>
      <vt:lpstr>PowerPoint 프레젠테이션</vt:lpstr>
      <vt:lpstr>Regression and Perceptron</vt:lpstr>
      <vt:lpstr>PowerPoint 프레젠테이션</vt:lpstr>
      <vt:lpstr>Regression and Perceptron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learning </vt:lpstr>
      <vt:lpstr>PowerPoint 프레젠테이션</vt:lpstr>
      <vt:lpstr>PowerPoint 프레젠테이션</vt:lpstr>
      <vt:lpstr>PowerPoint 프레젠테이션</vt:lpstr>
      <vt:lpstr>Neural Networks – text recognition</vt:lpstr>
      <vt:lpstr>Neural Networks – tensorflow playground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28</cp:revision>
  <dcterms:created xsi:type="dcterms:W3CDTF">2026-04-06T01:00:39Z</dcterms:created>
  <dcterms:modified xsi:type="dcterms:W3CDTF">2026-04-17T08:56:02Z</dcterms:modified>
  <cp:version/>
</cp:coreProperties>
</file>