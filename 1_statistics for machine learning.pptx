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55"/>
  </p:notesMasterIdLst>
  <p:handoutMasterIdLst>
    <p:handoutMasterId r:id="rId56"/>
  </p:handoutMasterIdLst>
  <p:sldIdLst>
    <p:sldId id="256" r:id="rId5"/>
    <p:sldId id="270" r:id="rId6"/>
    <p:sldId id="271" r:id="rId7"/>
    <p:sldId id="282" r:id="rId8"/>
    <p:sldId id="279" r:id="rId9"/>
    <p:sldId id="280" r:id="rId10"/>
    <p:sldId id="281" r:id="rId11"/>
    <p:sldId id="299" r:id="rId12"/>
    <p:sldId id="300" r:id="rId13"/>
    <p:sldId id="272" r:id="rId14"/>
    <p:sldId id="301" r:id="rId15"/>
    <p:sldId id="273" r:id="rId16"/>
    <p:sldId id="274" r:id="rId17"/>
    <p:sldId id="275" r:id="rId18"/>
    <p:sldId id="277" r:id="rId19"/>
    <p:sldId id="278" r:id="rId20"/>
    <p:sldId id="283" r:id="rId21"/>
    <p:sldId id="284" r:id="rId22"/>
    <p:sldId id="285" r:id="rId23"/>
    <p:sldId id="319" r:id="rId24"/>
    <p:sldId id="320" r:id="rId25"/>
    <p:sldId id="292" r:id="rId26"/>
    <p:sldId id="318" r:id="rId27"/>
    <p:sldId id="276" r:id="rId28"/>
    <p:sldId id="304" r:id="rId29"/>
    <p:sldId id="289" r:id="rId30"/>
    <p:sldId id="290" r:id="rId31"/>
    <p:sldId id="316" r:id="rId32"/>
    <p:sldId id="317" r:id="rId33"/>
    <p:sldId id="293" r:id="rId34"/>
    <p:sldId id="294" r:id="rId35"/>
    <p:sldId id="321" r:id="rId36"/>
    <p:sldId id="295" r:id="rId37"/>
    <p:sldId id="296" r:id="rId38"/>
    <p:sldId id="297" r:id="rId39"/>
    <p:sldId id="298" r:id="rId40"/>
    <p:sldId id="303" r:id="rId41"/>
    <p:sldId id="308" r:id="rId42"/>
    <p:sldId id="310" r:id="rId43"/>
    <p:sldId id="313" r:id="rId44"/>
    <p:sldId id="311" r:id="rId45"/>
    <p:sldId id="312" r:id="rId46"/>
    <p:sldId id="309" r:id="rId47"/>
    <p:sldId id="314" r:id="rId48"/>
    <p:sldId id="288" r:id="rId49"/>
    <p:sldId id="287" r:id="rId50"/>
    <p:sldId id="323" r:id="rId51"/>
    <p:sldId id="302" r:id="rId52"/>
    <p:sldId id="305" r:id="rId53"/>
    <p:sldId id="322" r:id="rId54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7589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viewProps" Target="viewProp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presProps" Target="pres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2026-03-18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37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2406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12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76264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5669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5654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7DACE-676E-EE7D-4489-0639BF654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970EBA-85AC-C86A-802E-95C40DF11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62820-CC7D-57C3-8FFF-E03C09D0E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4FAD6A-CE9A-4DC2-EC6C-6C654F6B09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8589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0011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38823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26272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90036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26083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03264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008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04877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7A8AF-9E5E-3394-BC04-626E0BB50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CC0C92-7541-B437-EBE7-B8829572F4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E69EF6-4E45-F915-CC1B-9A4F77077F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68F2F4-5791-BD5C-CFFF-7338D406E9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49180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4399F-C8D0-0EAC-D919-356C64415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7225B6-9690-D9B6-0A11-43410349C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852A550-D1DF-43A5-8A4E-37DA4B103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0149AC-DBFC-153F-AE44-2601B81704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234545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6491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3843-DBDB-7C80-D392-C8D84E244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E8C125-2926-E2DD-D847-E0D929AD3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A64AD8-D833-1140-E24D-52003816FE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D482C3-637F-FE61-4C4A-AFAAE38987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96291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25011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EB22-843F-B334-E6A0-A4DF0CDD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E72359-A2CB-B71F-2F8E-4B88FCD5E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BA1003-C340-051A-B8F2-D9A16BA016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E94B1B-A1A1-EC21-AC3C-ED2837BE8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123759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140781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94226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663A3-DFCF-20E2-B630-F332D3877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51B7D16-7EF3-A550-2ECD-D16605074C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8EAFF9-91CE-E532-948F-AB8189DAF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C4095-620E-5176-AEAA-E971AE0529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33366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35C42-7D5E-0953-C73B-C57962A5C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860B52-4A68-5D31-1C25-0802582521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401F7B-2F69-01F8-DDB3-8EF848D551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ECF495-A05C-054A-0C7D-0E8D26E849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267631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495464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55778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9C429-3F08-5437-7CAF-EA5B071FE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5705F8-B153-7F81-D272-F7A3BB266D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077074-B7D1-2A05-353A-122E4FF6C4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BE948C-6064-30B9-5337-121A19FB41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8849818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82335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64318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3591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118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455EC-C9C7-8459-A356-01E08837C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DAF36B-9643-470F-6133-67D4307CE8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8D66C9-8E60-55C5-864F-FE774C395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97AF4-1C79-62BE-E662-CE646AF420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87523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1111-0F2C-72CD-1A8C-DE20D134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D0A8F7-D3A7-3B77-DA76-D13BEAE2D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0989BA-EE78-7BC1-B768-664079BC9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AB258-08B6-57BF-2449-3EC2E44E8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2516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A194A-847B-6F14-07F2-38D05F416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0567891-8706-81FD-F2D9-2CC0D70E4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21A2CA-7CA6-CB34-3461-8A5A650C9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08AB1B-9C0A-3FA6-14A1-50D9AF282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291561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3BBD-A9D1-EAD0-4ABD-EF3EE595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41FB98-6E70-56DE-D99C-6C67CCB160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1D7A4F-F09B-9B32-85C0-40088E9A5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9C65BD-8C7A-8503-3490-EB8170B098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953745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7E520-FF7F-20A8-E377-78305AF96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AE50F1-693B-0691-2048-B3C5FAFE5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21687F-E7B6-0FDE-EB52-8F958A348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CF5345-3860-C129-6BFC-83F6901FF4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4858613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B38D4-2033-D269-92E2-472DD489A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FF330B-E197-FC28-0494-06EAABC3F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58F670-6DD6-E601-1D5C-5E78E0C02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59EA6E-ACE1-35DA-C0A0-227592EE1A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403125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0063C-CFE3-17F5-0A6B-13894E49F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1BD372-58F3-74D3-962C-62D6166EC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5D5C3F-35B9-22A4-141C-0742E72F7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E03DE3-F8A2-5FC5-4D16-A7E29C51C2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929636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468406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34521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1D426-7F08-A270-FD1B-0DBF69126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C10AEC9-6413-1805-1E0E-D1C833AFBF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D28960-12C8-5E5B-9327-7A4F09549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70EBDB-1A88-3B3B-853C-514CF4B9A3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4167597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87794-7F4C-FBBC-7428-7C4A74582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A9AF46-C1E7-9C2F-5BD3-50E4E5C7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690E3-75E4-E1B2-ED5A-033983FA5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442F9-0B07-43B1-2110-481AFC0327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739529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451BE-CFE1-1378-57AE-7DC4819F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E0D8CB-E1FF-24B6-CF17-E3AD25851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F935C3-89CA-E305-E702-F54A39A60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5DE317-9F1E-A83E-1D98-7EB86D5587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4867337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699A7-9651-763F-95B0-3355F3F80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CDB124-DB40-1925-903E-E41801E7FC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EDD6A4-59A8-6490-0D35-A480D3A301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09409A-88BB-4954-A646-444C4FA8F2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93662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2026-03-18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2026-03-18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t.co.kr/opinion/2019/04/09/2019040811152977932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data/blob/main/customers.csv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.autodesk.com/publications/same-stats-different-graphs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8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ikidocs.net/145262" TargetMode="External"/><Relationship Id="rId5" Type="http://schemas.openxmlformats.org/officeDocument/2006/relationships/hyperlink" Target="https://scikit-learn.org/stable/modules/preprocessing.html" TargetMode="External"/><Relationship Id="rId10" Type="http://schemas.openxmlformats.org/officeDocument/2006/relationships/image" Target="../media/image32.png"/><Relationship Id="rId4" Type="http://schemas.openxmlformats.org/officeDocument/2006/relationships/hyperlink" Target="https://github.com/ancestor9/data/blob/main/human_data.csv" TargetMode="External"/><Relationship Id="rId9" Type="http://schemas.openxmlformats.org/officeDocument/2006/relationships/image" Target="../media/image31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preprocessing/plot_all_scaling.html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eaborn.pydata.org/examples/histogram_stacked.html" TargetMode="External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scatter_bubbles.html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.autodesk.com/publications/same-stats-different-graphs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scatterplot_matrix.html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multiple_regression.html" TargetMode="External"/><Relationship Id="rId5" Type="http://schemas.openxmlformats.org/officeDocument/2006/relationships/image" Target="../media/image50.png"/><Relationship Id="rId4" Type="http://schemas.openxmlformats.org/officeDocument/2006/relationships/hyperlink" Target="https://seaborn.pydata.org/examples/multiple_bivariate_kde.html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joint_kde.html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hyperlink" Target="https://informationisbeautiful.net/" TargetMode="External"/><Relationship Id="rId4" Type="http://schemas.openxmlformats.org/officeDocument/2006/relationships/hyperlink" Target="https://www.tableau.com/ko-kr/learn/articles/best-beautiful-data-visualization-examples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hyperlink" Target="https://www.kaggle.com/code/shakedzy/alone-in-the-woods-using-theil-s-u-for-surviva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ancestor9/data/blob/main/customers.csv" TargetMode="External"/><Relationship Id="rId4" Type="http://schemas.openxmlformats.org/officeDocument/2006/relationships/image" Target="../media/image58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ml.org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/>
              <a:t>기술 통계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268760"/>
            <a:ext cx="8890594" cy="4622186"/>
          </a:xfrm>
          <a:prstGeom prst="rect">
            <a:avLst/>
          </a:prstGeom>
        </p:spPr>
      </p:pic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908720"/>
            <a:ext cx="8556891" cy="5104724"/>
          </a:xfrm>
          <a:prstGeom prst="rect">
            <a:avLst/>
          </a:prstGeom>
        </p:spPr>
      </p:pic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01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1026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1916832"/>
            <a:ext cx="7304389" cy="424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33772" y="426325"/>
            <a:ext cx="8280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전수조사</a:t>
            </a:r>
            <a:r>
              <a:rPr lang="en-US" altLang="ko-KR" sz="2000" b="1" dirty="0"/>
              <a:t>(Census)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표본조사</a:t>
            </a:r>
            <a:r>
              <a:rPr lang="en-US" altLang="ko-KR" sz="2000" b="1" dirty="0"/>
              <a:t>(Sampling)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1053852" y="4581128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</a:t>
            </a:r>
            <a:r>
              <a:rPr lang="en-US" altLang="ko-KR" sz="1600" b="1" dirty="0">
                <a:solidFill>
                  <a:srgbClr val="0070C0"/>
                </a:solidFill>
              </a:rPr>
              <a:t> </a:t>
            </a:r>
            <a:r>
              <a:rPr lang="ko-KR" altLang="en-US" sz="1600" b="1" dirty="0">
                <a:solidFill>
                  <a:srgbClr val="0070C0"/>
                </a:solidFill>
              </a:rPr>
              <a:t>분산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982844" y="3284984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분산 등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6778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476672"/>
            <a:ext cx="9748245" cy="5605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692696"/>
            <a:ext cx="9838746" cy="5326966"/>
          </a:xfrm>
          <a:prstGeom prst="rect">
            <a:avLst/>
          </a:prstGeom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A024606-6906-5C69-50C6-9C14C607C158}"/>
              </a:ext>
            </a:extLst>
          </p:cNvPr>
          <p:cNvSpPr/>
          <p:nvPr/>
        </p:nvSpPr>
        <p:spPr>
          <a:xfrm>
            <a:off x="7894612" y="5505817"/>
            <a:ext cx="1944216" cy="850534"/>
          </a:xfrm>
          <a:prstGeom prst="wedgeEllipseCallout">
            <a:avLst>
              <a:gd name="adj1" fmla="val -67667"/>
              <a:gd name="adj2" fmla="val -694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균등 층화</a:t>
            </a:r>
            <a:r>
              <a:rPr lang="en-US" altLang="ko-KR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</a:p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비례 층화 </a:t>
            </a:r>
          </a:p>
        </p:txBody>
      </p:sp>
    </p:spTree>
    <p:extLst>
      <p:ext uri="{BB962C8B-B14F-4D97-AF65-F5344CB8AC3E}">
        <p14:creationId xmlns:p14="http://schemas.microsoft.com/office/powerpoint/2010/main" val="2455660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908720"/>
            <a:ext cx="9046658" cy="36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9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30322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seaborn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tips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모집단으로 가정하고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tip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값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평균과 분산을 설명하라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평균의 함정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(the pitfall of mean)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seaborn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tips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모집단에서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표본추출방법을 파이썬 코드로 제시하라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표본과 모집단과의 평균과 분산을 비교한 후 어떤 표본추출방법이 가장 적합한지 토론하라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396372-435D-01F1-308C-E5EFFE043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394" y="1919399"/>
            <a:ext cx="8640960" cy="1197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1C135-780A-D855-FC3F-601039C32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C395D1-45E4-42FD-D66D-18A4FFB3B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620688"/>
            <a:ext cx="7956375" cy="530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9F0C6-43A9-D111-BC6D-8E8DCE050C89}"/>
              </a:ext>
            </a:extLst>
          </p:cNvPr>
          <p:cNvSpPr txBox="1"/>
          <p:nvPr/>
        </p:nvSpPr>
        <p:spPr>
          <a:xfrm>
            <a:off x="1269195" y="6083423"/>
            <a:ext cx="64442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https://www.mt.co.kr/opinion/2019/04/09/2019040811152977932</a:t>
            </a:r>
            <a:r>
              <a:rPr lang="ko-KR" alt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06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슬라이드 번호 개체 틀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507050"/>
            <a:ext cx="7667569" cy="60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21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D2E6-5BC7-CAB3-2C0E-BC7A94E5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0B742-A325-A1D7-3871-5E6D2734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ECDB0-CB65-5095-E5F1-4DBAE2D472C4}"/>
              </a:ext>
            </a:extLst>
          </p:cNvPr>
          <p:cNvSpPr txBox="1"/>
          <p:nvPr/>
        </p:nvSpPr>
        <p:spPr>
          <a:xfrm>
            <a:off x="765820" y="1196752"/>
            <a:ext cx="11233248" cy="9988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https://github.com/ancestor9/data/blob/main/customers.csv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데이터셋으로 읽은 후 컴퓨터가 인식할 수 있도록 모든 데이터를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수치화하는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데이터전처리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(Data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Preprocessing)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수행하라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02541C-2872-A95A-EE57-431C02DDCF2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E2A028-0B51-A118-8E7B-4E624F2A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19" y="2788229"/>
            <a:ext cx="9345995" cy="3568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704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993" y="330079"/>
            <a:ext cx="8841742" cy="620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631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764704"/>
            <a:ext cx="7920880" cy="547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910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691942"/>
            <a:ext cx="7993330" cy="5664409"/>
          </a:xfrm>
          <a:prstGeom prst="rect">
            <a:avLst/>
          </a:prstGeom>
        </p:spPr>
      </p:pic>
      <p:pic>
        <p:nvPicPr>
          <p:cNvPr id="2050" name="Picture 2" descr="통계 상식] 상자 그림 (Box Plot) : 네이버 블로그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13" y="4052095"/>
            <a:ext cx="4608512" cy="2304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38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171" y="692696"/>
            <a:ext cx="8285378" cy="557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6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764704"/>
            <a:ext cx="9325163" cy="515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8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32656"/>
            <a:ext cx="9009202" cy="628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18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01296"/>
            <a:ext cx="9241668" cy="605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9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641" y="476672"/>
            <a:ext cx="8950072" cy="606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22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EB71D-AD34-917F-4F79-FEF3D87C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8DA2497-A9F1-B7B6-5C36-488687E0E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903C2E-0DC6-A406-F545-811EFC489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796" y="1844824"/>
            <a:ext cx="11253343" cy="3024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9C1644-22FE-039F-2194-31AEC401255A}"/>
              </a:ext>
            </a:extLst>
          </p:cNvPr>
          <p:cNvSpPr txBox="1"/>
          <p:nvPr/>
        </p:nvSpPr>
        <p:spPr>
          <a:xfrm>
            <a:off x="405780" y="561597"/>
            <a:ext cx="45736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Histogram &amp; Box Plot(1/2)</a:t>
            </a:r>
            <a:endParaRPr lang="ko-KR" altLang="en-US" sz="2800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9165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8F2BD-1AAE-83E0-3B2A-DF912E807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505270B-239A-B556-98F4-9AD8F0FBE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201D3C6-93BD-DF2A-836F-A535865E00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545" y="1844824"/>
            <a:ext cx="10887075" cy="3609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1A7FEF-454E-0BCB-7039-1D080AC990DC}"/>
              </a:ext>
            </a:extLst>
          </p:cNvPr>
          <p:cNvSpPr txBox="1"/>
          <p:nvPr/>
        </p:nvSpPr>
        <p:spPr>
          <a:xfrm>
            <a:off x="981844" y="5805264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https://www.research.autodesk.com/publications/same-stats-different-graphs/</a:t>
            </a:r>
            <a:r>
              <a:rPr lang="ko-KR" altLang="en-US" sz="12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26EB9D-F055-BC68-5F1F-817C25C8FEF2}"/>
              </a:ext>
            </a:extLst>
          </p:cNvPr>
          <p:cNvSpPr txBox="1"/>
          <p:nvPr/>
        </p:nvSpPr>
        <p:spPr>
          <a:xfrm>
            <a:off x="405780" y="561597"/>
            <a:ext cx="45736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Histogram &amp; Box Plot(2/2)</a:t>
            </a:r>
            <a:endParaRPr lang="ko-KR" altLang="en-US" sz="2800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9587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FFEE547-E62B-6766-D0A8-401CFEB1A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788" y="1484784"/>
            <a:ext cx="6264696" cy="4120745"/>
          </a:xfrm>
          <a:prstGeom prst="rect">
            <a:avLst/>
          </a:prstGeom>
        </p:spPr>
      </p:pic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99566"/>
              </p:ext>
            </p:extLst>
          </p:nvPr>
        </p:nvGraphicFramePr>
        <p:xfrm>
          <a:off x="7030516" y="3170174"/>
          <a:ext cx="4968553" cy="2435355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925773">
                  <a:extLst>
                    <a:ext uri="{9D8B030D-6E8A-4147-A177-3AD203B41FA5}">
                      <a16:colId xmlns:a16="http://schemas.microsoft.com/office/drawing/2014/main" val="1244400802"/>
                    </a:ext>
                  </a:extLst>
                </a:gridCol>
                <a:gridCol w="1810531">
                  <a:extLst>
                    <a:ext uri="{9D8B030D-6E8A-4147-A177-3AD203B41FA5}">
                      <a16:colId xmlns:a16="http://schemas.microsoft.com/office/drawing/2014/main" val="1653387009"/>
                    </a:ext>
                  </a:extLst>
                </a:gridCol>
                <a:gridCol w="2232249">
                  <a:extLst>
                    <a:ext uri="{9D8B030D-6E8A-4147-A177-3AD203B41FA5}">
                      <a16:colId xmlns:a16="http://schemas.microsoft.com/office/drawing/2014/main" val="1356363407"/>
                    </a:ext>
                  </a:extLst>
                </a:gridCol>
              </a:tblGrid>
              <a:tr h="487071">
                <a:tc>
                  <a:txBody>
                    <a:bodyPr/>
                    <a:lstStyle/>
                    <a:p>
                      <a:pPr algn="ctr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bg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구분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bg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막대그래프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bg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히스토그램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82737"/>
                  </a:ext>
                </a:extLst>
              </a:tr>
              <a:tr h="487071">
                <a:tc>
                  <a:txBody>
                    <a:bodyPr/>
                    <a:lstStyle/>
                    <a:p>
                      <a:pPr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데이터 유형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0" indent="0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 범주적</a:t>
                      </a: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(</a:t>
                      </a: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종교</a:t>
                      </a: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, </a:t>
                      </a: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직업 등</a:t>
                      </a: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)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0" indent="0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 연속적</a:t>
                      </a: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(</a:t>
                      </a: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몸무게</a:t>
                      </a: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, </a:t>
                      </a: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키</a:t>
                      </a: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,</a:t>
                      </a: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나아 등</a:t>
                      </a: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)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062187749"/>
                  </a:ext>
                </a:extLst>
              </a:tr>
              <a:tr h="487071">
                <a:tc>
                  <a:txBody>
                    <a:bodyPr/>
                    <a:lstStyle/>
                    <a:p>
                      <a:pPr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막대 순서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0" indent="0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 임의적으로 변경 가능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0" indent="0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 변경 불가능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2984857083"/>
                  </a:ext>
                </a:extLst>
              </a:tr>
              <a:tr h="487071">
                <a:tc>
                  <a:txBody>
                    <a:bodyPr/>
                    <a:lstStyle/>
                    <a:p>
                      <a:pPr rtl="0" fontAlgn="b">
                        <a:buFontTx/>
                        <a:buNone/>
                      </a:pPr>
                      <a:r>
                        <a:rPr lang="ko-KR" altLang="en-US" sz="1300" b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막대 간격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0" indent="0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 일정한 간격 유지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0" indent="0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 간격 없이 표현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1216552190"/>
                  </a:ext>
                </a:extLst>
              </a:tr>
              <a:tr h="487071">
                <a:tc>
                  <a:txBody>
                    <a:bodyPr/>
                    <a:lstStyle/>
                    <a:p>
                      <a:pPr rtl="0" fontAlgn="b">
                        <a:buFontTx/>
                        <a:buNone/>
                      </a:pPr>
                      <a:r>
                        <a:rPr lang="ko-KR" altLang="en-US" sz="1300" b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용도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0" indent="0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 범주의 비교</a:t>
                      </a: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, </a:t>
                      </a: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순위 표시 등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0" indent="0" rtl="0" fontAlgn="b">
                        <a:buFontTx/>
                        <a:buNone/>
                      </a:pP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effectLst/>
                          <a:latin typeface="한컴 말랑말랑 Regular" panose="020F0303000000000000" pitchFamily="50" charset="-127"/>
                          <a:ea typeface="한컴 말랑말랑 Regular" panose="020F0303000000000000" pitchFamily="50" charset="-127"/>
                        </a:rPr>
                        <a:t> 데이터 분포 표현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9854538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05780" y="561597"/>
            <a:ext cx="4293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막대그래프 </a:t>
            </a:r>
            <a:r>
              <a:rPr lang="en-US" altLang="ko-KR" sz="2800" b="1" dirty="0"/>
              <a:t>vs. </a:t>
            </a:r>
            <a:r>
              <a:rPr lang="ko-KR" altLang="en-US" sz="2800" b="1" dirty="0"/>
              <a:t>히스토그램</a:t>
            </a:r>
          </a:p>
        </p:txBody>
      </p:sp>
    </p:spTree>
    <p:extLst>
      <p:ext uri="{BB962C8B-B14F-4D97-AF65-F5344CB8AC3E}">
        <p14:creationId xmlns:p14="http://schemas.microsoft.com/office/powerpoint/2010/main" val="4159755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F9257-07AF-5D24-2DA9-17EDAB6FC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4494BF6-DDC3-BBD0-ADEE-C832DA4DE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C9F1DC-4695-D812-628F-1D3D9476AD7D}"/>
              </a:ext>
            </a:extLst>
          </p:cNvPr>
          <p:cNvSpPr txBox="1"/>
          <p:nvPr/>
        </p:nvSpPr>
        <p:spPr>
          <a:xfrm>
            <a:off x="487656" y="1046300"/>
            <a:ext cx="11213512" cy="88299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("diamonds")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바탕으로 막대그래프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chart)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도수분포도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(Histogram)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시각화하고 설명하라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수치형데이터의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시각화 방법에 대해 토론하라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79F8B2-33EB-2982-8C16-8655A9A54F9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AFDCE40-17B5-853D-7389-3CF3698413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8816" y="2708920"/>
            <a:ext cx="5960252" cy="193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16E0D06-4FC3-0BE0-CD7B-89C1161E1F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8816" y="4421662"/>
            <a:ext cx="5960252" cy="193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6147501-2C6B-DE5C-C0CC-72A4260C3F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656" y="2708920"/>
            <a:ext cx="5458865" cy="261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670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586" y="3177009"/>
            <a:ext cx="4248472" cy="3231744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>
            <a:off x="3430116" y="4828848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479E9B6-AEDE-A09F-991A-84F0FB1AE6B6}"/>
              </a:ext>
            </a:extLst>
          </p:cNvPr>
          <p:cNvSpPr txBox="1"/>
          <p:nvPr/>
        </p:nvSpPr>
        <p:spPr>
          <a:xfrm>
            <a:off x="693812" y="2916962"/>
            <a:ext cx="24919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0399B9-AF54-C910-A13C-D40D1153F65A}"/>
              </a:ext>
            </a:extLst>
          </p:cNvPr>
          <p:cNvSpPr txBox="1"/>
          <p:nvPr/>
        </p:nvSpPr>
        <p:spPr>
          <a:xfrm>
            <a:off x="539248" y="817140"/>
            <a:ext cx="11233248" cy="175759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데이터소스에서 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몸무게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수입의 값을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표준화하여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https://scikit-learn.org/stable/modules/preprocessing.html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표준화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(standardization):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관측치에서 평균을 차감한 값을 표준편차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분산의 제곱루트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나는 값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표준화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(standardization)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이유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변수의 값이 동일해지는 것 아닌가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이래야 하는지 설명하라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위키독스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85A69-A12C-9BEB-2306-1F039B9994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F042584-37CF-E8F0-E53C-E8A550C362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812" y="3464749"/>
            <a:ext cx="2641204" cy="2891593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0F822045-5C69-3DF5-D27B-6F822789838B}"/>
              </a:ext>
            </a:extLst>
          </p:cNvPr>
          <p:cNvCxnSpPr/>
          <p:nvPr/>
        </p:nvCxnSpPr>
        <p:spPr>
          <a:xfrm>
            <a:off x="9368043" y="4880522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그래픽 12" descr="도움말">
            <a:extLst>
              <a:ext uri="{FF2B5EF4-FFF2-40B4-BE49-F238E27FC236}">
                <a16:creationId xmlns:a16="http://schemas.microsoft.com/office/drawing/2014/main" id="{D4166B54-35A6-F4CD-2E9B-497A51D6EF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87245" y="4387364"/>
            <a:ext cx="986315" cy="98631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A7F065-FAAF-842D-5620-B0BD87E8C3CA}"/>
                  </a:ext>
                </a:extLst>
              </p:cNvPr>
              <p:cNvSpPr txBox="1"/>
              <p:nvPr/>
            </p:nvSpPr>
            <p:spPr>
              <a:xfrm>
                <a:off x="9267333" y="4179511"/>
                <a:ext cx="1181414" cy="5185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𝒁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altLang="ko-KR" b="1" i="1" smtClean="0"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ko-KR" altLang="en-US" b="1" i="1" smtClean="0">
                              <a:latin typeface="Cambria Math" panose="02040503050406030204" pitchFamily="18" charset="0"/>
                            </a:rPr>
                            <m:t>𝝁</m:t>
                          </m:r>
                        </m:num>
                        <m:den>
                          <m:r>
                            <a:rPr lang="ko-KR" altLang="en-US" b="1" i="1" smtClean="0">
                              <a:latin typeface="Cambria Math" panose="02040503050406030204" pitchFamily="18" charset="0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b="1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A7F065-FAAF-842D-5620-B0BD87E8C3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7333" y="4179511"/>
                <a:ext cx="1181414" cy="5185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9303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0ABB7-015C-EA60-AE67-EB5B7EFA2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2588D0C-D165-B12D-75F2-1D842BABD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4C18F-0BF4-B8CD-C528-D6B8CA38FA96}"/>
              </a:ext>
            </a:extLst>
          </p:cNvPr>
          <p:cNvSpPr txBox="1"/>
          <p:nvPr/>
        </p:nvSpPr>
        <p:spPr>
          <a:xfrm>
            <a:off x="765820" y="1196752"/>
            <a:ext cx="11233248" cy="134338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변수 값의 서로 크기가 다른 경우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scaling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방법과 그 이유를 토론하라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(Data scaling)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fetch_california_housing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데이터의 변수 중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MedInc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", "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AveOccup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joinplot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https://scikit-learn.org/stable/auto_examples/preprocessing/plot_all_scaling.html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자료원을 이해하고 평균과 분산이 각각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형태로 표준화한 후 시각화 코드를 만들어라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AF701-284C-70AF-92CD-BC198F2692B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3FDC10D-0ECC-61AF-BAA4-FDDE182E73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8191" y="3123294"/>
            <a:ext cx="7338745" cy="3228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0312638-28F9-BF4D-6E96-78C8B376D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09" y="3135035"/>
            <a:ext cx="3240360" cy="3313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709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28091" cy="5919689"/>
          </a:xfrm>
          <a:prstGeom prst="rect">
            <a:avLst/>
          </a:prstGeom>
        </p:spPr>
      </p:pic>
      <p:sp>
        <p:nvSpPr>
          <p:cNvPr id="2" name="생각 풍선: 구름 모양 1">
            <a:extLst>
              <a:ext uri="{FF2B5EF4-FFF2-40B4-BE49-F238E27FC236}">
                <a16:creationId xmlns:a16="http://schemas.microsoft.com/office/drawing/2014/main" id="{56BC5627-DFAA-4A07-6F45-923AA7F59A88}"/>
              </a:ext>
            </a:extLst>
          </p:cNvPr>
          <p:cNvSpPr/>
          <p:nvPr/>
        </p:nvSpPr>
        <p:spPr>
          <a:xfrm>
            <a:off x="8578688" y="1916832"/>
            <a:ext cx="1512168" cy="864096"/>
          </a:xfrm>
          <a:prstGeom prst="cloudCallout">
            <a:avLst>
              <a:gd name="adj1" fmla="val -30623"/>
              <a:gd name="adj2" fmla="val 1108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평균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중간값의</a:t>
            </a:r>
            <a:r>
              <a:rPr lang="ko-KR" altLang="en-US" sz="1200" dirty="0"/>
              <a:t> 위치</a:t>
            </a:r>
            <a:r>
              <a:rPr lang="en-US" altLang="ko-KR" sz="1200" dirty="0"/>
              <a:t>?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9745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620688"/>
            <a:ext cx="8719541" cy="60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82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0C8F4-ACB5-D764-4229-50485C412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704507-8996-3F3A-2B6F-B4E86FC9C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2FD54A-62EA-C6E5-C9D6-AA28A8766C76}"/>
              </a:ext>
            </a:extLst>
          </p:cNvPr>
          <p:cNvSpPr txBox="1"/>
          <p:nvPr/>
        </p:nvSpPr>
        <p:spPr>
          <a:xfrm>
            <a:off x="487656" y="1046300"/>
            <a:ext cx="11213512" cy="15799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값이 크게 차이가 나는 경우 혹은 왜곡된 경우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방법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통해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만들기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① 로그 변환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(Log Transformation)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② 루트 변환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(Square Root Transformation)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③ 박스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콕스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(Box-Cox Transformation)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1580FCC-6D86-55BD-9876-FC8AC3F21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796" y="3138223"/>
            <a:ext cx="10575308" cy="2874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D117EF-D423-A957-7C8C-07C3BF7452F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15E193-F3D6-3FC1-1AB7-E85A781F85E1}"/>
              </a:ext>
            </a:extLst>
          </p:cNvPr>
          <p:cNvSpPr txBox="1"/>
          <p:nvPr/>
        </p:nvSpPr>
        <p:spPr>
          <a:xfrm>
            <a:off x="487656" y="2809269"/>
            <a:ext cx="11017224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("diamonds")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변수 값의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skew()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를 구하고 위의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가지 방법으로 변환하고 히스토그램을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610D05-5DDF-8F3C-55CA-D53BF74D8B87}"/>
              </a:ext>
            </a:extLst>
          </p:cNvPr>
          <p:cNvSpPr txBox="1"/>
          <p:nvPr/>
        </p:nvSpPr>
        <p:spPr>
          <a:xfrm>
            <a:off x="487656" y="6165304"/>
            <a:ext cx="1934348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skewness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=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1.62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F9E923-254B-29E9-9C92-030BB66D065D}"/>
              </a:ext>
            </a:extLst>
          </p:cNvPr>
          <p:cNvSpPr txBox="1"/>
          <p:nvPr/>
        </p:nvSpPr>
        <p:spPr>
          <a:xfrm>
            <a:off x="4611490" y="6165303"/>
            <a:ext cx="1934348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skewness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=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55D490-1D04-A210-6112-94790B6687A5}"/>
              </a:ext>
            </a:extLst>
          </p:cNvPr>
          <p:cNvSpPr txBox="1"/>
          <p:nvPr/>
        </p:nvSpPr>
        <p:spPr>
          <a:xfrm>
            <a:off x="8038628" y="6165303"/>
            <a:ext cx="1934348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skewness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=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0.84</a:t>
            </a:r>
          </a:p>
        </p:txBody>
      </p:sp>
    </p:spTree>
    <p:extLst>
      <p:ext uri="{BB962C8B-B14F-4D97-AF65-F5344CB8AC3E}">
        <p14:creationId xmlns:p14="http://schemas.microsoft.com/office/powerpoint/2010/main" val="844311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B45AD-237B-94E9-6725-8379F6AB3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07F2DAF-3F49-77F5-0D61-64F1475C6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A475091-E7D0-66D2-8C9B-E0C7A6472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803" y="2527542"/>
            <a:ext cx="5066444" cy="3626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B430F1F-5A33-3F5D-FBBE-51C28E31C0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4592" y="2527542"/>
            <a:ext cx="5066443" cy="3626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2D1375-F53D-1902-27B9-C8E2CC54F590}"/>
              </a:ext>
            </a:extLst>
          </p:cNvPr>
          <p:cNvSpPr txBox="1"/>
          <p:nvPr/>
        </p:nvSpPr>
        <p:spPr>
          <a:xfrm>
            <a:off x="453331" y="2108550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price </a:t>
            </a:r>
            <a:r>
              <a:rPr lang="ko-KR" altLang="en-US" dirty="0" err="1"/>
              <a:t>원자료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0E12D7-EA9B-7CDA-6F34-34487FCD9AAF}"/>
              </a:ext>
            </a:extLst>
          </p:cNvPr>
          <p:cNvSpPr txBox="1"/>
          <p:nvPr/>
        </p:nvSpPr>
        <p:spPr>
          <a:xfrm>
            <a:off x="487656" y="1046300"/>
            <a:ext cx="11213512" cy="4669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seaborn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histogram_stacked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변환에 대해 설명하고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분산의 산술식과 비교하라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80369B-8AF5-5C66-C39A-3928A21EF86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FFDBF3-6C5B-842D-7D68-C4C18FAE116F}"/>
              </a:ext>
            </a:extLst>
          </p:cNvPr>
          <p:cNvSpPr txBox="1"/>
          <p:nvPr/>
        </p:nvSpPr>
        <p:spPr>
          <a:xfrm>
            <a:off x="6598468" y="2093161"/>
            <a:ext cx="2177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price </a:t>
            </a:r>
            <a:r>
              <a:rPr lang="ko-KR" altLang="en-US" dirty="0"/>
              <a:t>로그변환 자료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50692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1052736"/>
            <a:ext cx="7484337" cy="18906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4FC484-5BB5-9B69-79F6-68BC7DC90471}"/>
              </a:ext>
            </a:extLst>
          </p:cNvPr>
          <p:cNvSpPr txBox="1"/>
          <p:nvPr/>
        </p:nvSpPr>
        <p:spPr>
          <a:xfrm>
            <a:off x="1989956" y="3573016"/>
            <a:ext cx="8928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Multivariate</a:t>
            </a:r>
            <a:r>
              <a:rPr lang="ko-KR" altLang="en-US" sz="4000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Analysis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  <a:cs typeface="ADLaM Display" panose="02010000000000000000" pitchFamily="2" charset="0"/>
              </a:rPr>
              <a:t>(</a:t>
            </a:r>
            <a:r>
              <a:rPr lang="ko-KR" altLang="en-US" sz="2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ADLaM Display" panose="02010000000000000000" pitchFamily="2" charset="0"/>
              </a:rPr>
              <a:t>다변량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  <a:cs typeface="ADLaM Display" panose="02010000000000000000" pitchFamily="2" charset="0"/>
              </a:rPr>
              <a:t> 분석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  <a:cs typeface="ADLaM Display" panose="02010000000000000000" pitchFamily="2" charset="0"/>
              </a:rPr>
              <a:t>)</a:t>
            </a:r>
            <a:endParaRPr lang="ko-KR" altLang="en-US" sz="4000" dirty="0">
              <a:latin typeface="휴먼모음T" panose="02030504000101010101" pitchFamily="18" charset="-127"/>
              <a:ea typeface="휴먼모음T" panose="02030504000101010101" pitchFamily="18" charset="-127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1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76672"/>
            <a:ext cx="8932152" cy="576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25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3BD25-7CD9-6524-F231-4D453559D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4929150-E079-F685-23BA-60CF7BD24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740D92B9-34AF-0523-C3AB-179AE91AA3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772" y="1484784"/>
            <a:ext cx="5606479" cy="47775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2D4EE7A-8A41-577E-51E9-68B3F0F089B3}"/>
              </a:ext>
            </a:extLst>
          </p:cNvPr>
          <p:cNvSpPr txBox="1"/>
          <p:nvPr/>
        </p:nvSpPr>
        <p:spPr>
          <a:xfrm>
            <a:off x="6094412" y="1484784"/>
            <a:ext cx="5914801" cy="477053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seaborn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sns</a:t>
            </a:r>
            <a:endParaRPr lang="ko-KR" alt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sns.set_theme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style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="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white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")</a:t>
            </a:r>
          </a:p>
          <a:p>
            <a:endParaRPr lang="ko-KR" alt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#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Load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mpg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dataset</a:t>
            </a:r>
            <a:endParaRPr lang="ko-KR" alt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mpg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sns.load_dataset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("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mpg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")</a:t>
            </a:r>
          </a:p>
          <a:p>
            <a:endParaRPr lang="ko-KR" alt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#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Plot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miles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per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gallon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against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horsepower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other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semantics</a:t>
            </a:r>
            <a:endParaRPr lang="ko-KR" alt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sns.relplot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="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horsepower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", 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="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mpg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", 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hue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="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origin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", 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size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="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weight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",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sizes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=(40, 400), 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alpha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=.5, 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palette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="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muted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",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height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=6, 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ko-KR" alt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mpg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sz="16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ko-KR" alt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altLang="ko-KR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ko-KR" alt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61EA96-CDCC-D524-AFD0-A7DA83D32203}"/>
              </a:ext>
            </a:extLst>
          </p:cNvPr>
          <p:cNvSpPr txBox="1"/>
          <p:nvPr/>
        </p:nvSpPr>
        <p:spPr>
          <a:xfrm>
            <a:off x="4534624" y="1466111"/>
            <a:ext cx="1415772" cy="307777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scatter_bubbles</a:t>
            </a:r>
            <a:endParaRPr lang="ko-KR" altLang="en-US" sz="1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5C3820-E6F8-A1C8-D36F-89FF5FB0F990}"/>
              </a:ext>
            </a:extLst>
          </p:cNvPr>
          <p:cNvSpPr txBox="1"/>
          <p:nvPr/>
        </p:nvSpPr>
        <p:spPr>
          <a:xfrm>
            <a:off x="405780" y="561597"/>
            <a:ext cx="28392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Scatter Plot(1/2)</a:t>
            </a:r>
            <a:endParaRPr lang="ko-KR" altLang="en-US" sz="2800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074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620688"/>
            <a:ext cx="8992459" cy="568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83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71014"/>
            <a:ext cx="8751898" cy="600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2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93380"/>
            <a:ext cx="8737599" cy="606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987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484784"/>
            <a:ext cx="10115376" cy="3816424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66947" y="764704"/>
            <a:ext cx="1088557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same-stats-different-graphs</a:t>
            </a:r>
            <a:r>
              <a:rPr lang="ko-KR" altLang="en-US" sz="24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8695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FDEC9-FA2F-7CCE-CE59-AE80A24B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1897282-23D0-A72E-342F-8E7999F1E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F0685-BBD1-E592-25B3-B4F5567F4086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colab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ancombe.json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파일을 사용하여 각 그룹별로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X,Y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평균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상관계수를 구하라 　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B0648-AB52-0AAA-34D3-9C941014D91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F82E8F-3482-730A-992D-6C02C324B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76088"/>
            <a:ext cx="6768752" cy="4206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773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DCE2-17C1-A611-9B45-2FD6CF81B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76F4523-1057-C68A-630F-8E420669D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6F71B-9CAC-A913-6B18-46452EB8146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EFABEB-78B2-B23E-2790-1B3F29C1E80E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통계량</a:t>
            </a:r>
            <a:r>
              <a:rPr lang="en-US" altLang="ko-KR" dirty="0"/>
              <a:t>(Statistic)</a:t>
            </a:r>
            <a:r>
              <a:rPr lang="ko-KR" altLang="en-US" dirty="0"/>
              <a:t>을 이해하지 못하면 시각화는 하지 마라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252B00A0-9CCA-2DC8-5D52-7E4F521D4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1503630"/>
            <a:ext cx="6005581" cy="5301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007407D-3A2F-D569-3261-4544F333AD66}"/>
              </a:ext>
            </a:extLst>
          </p:cNvPr>
          <p:cNvSpPr txBox="1"/>
          <p:nvPr/>
        </p:nvSpPr>
        <p:spPr>
          <a:xfrm>
            <a:off x="8398668" y="2132856"/>
            <a:ext cx="3600400" cy="17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scatterplot_matrix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팽귄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종류를 분류하기에 가장 적합한 변수는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ko-KR" altLang="en-US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5585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D16F6-7474-0121-A593-4FFCAB276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9F9F47C-27FD-9CEF-3979-F65879F2E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F220C-21BC-1459-94F6-3A6F69259CD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63C7418-EE55-3D57-35E0-08BCF0C87E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0" y="1767262"/>
            <a:ext cx="2880320" cy="4307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5D30F-E506-07F9-234A-D3315788FF0A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seaborn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gallery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시각화 예제 중에서 아래 그림을 평균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 등의 관점으로 설명하라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E569E3-FF38-E843-B65D-8620B27A6958}"/>
              </a:ext>
            </a:extLst>
          </p:cNvPr>
          <p:cNvSpPr txBox="1"/>
          <p:nvPr/>
        </p:nvSpPr>
        <p:spPr>
          <a:xfrm>
            <a:off x="1478577" y="6062681"/>
            <a:ext cx="244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multiple_bivariate_kde</a:t>
            </a:r>
            <a:endParaRPr lang="ko-KR" altLang="en-US" sz="12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7B773A7-108D-FBA2-F491-2BAE9A5FB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4372" y="1767263"/>
            <a:ext cx="4792045" cy="3874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0EEF0A-F549-0076-BF6F-BC261F9085FC}"/>
              </a:ext>
            </a:extLst>
          </p:cNvPr>
          <p:cNvSpPr txBox="1"/>
          <p:nvPr/>
        </p:nvSpPr>
        <p:spPr>
          <a:xfrm>
            <a:off x="5740007" y="5768228"/>
            <a:ext cx="14478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multiple_regression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26870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51A57-7963-F069-6B19-C29EE8FDC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B301409-FC0B-93A1-E3C6-44BC7892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30D26D-A9D0-2236-36E0-A89E242D0C0C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9087298-9315-D2FD-7110-FBB0AC9CF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868" y="1412775"/>
            <a:ext cx="5112568" cy="5147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A7B01D-0855-07B6-72C7-06A99023DDC7}"/>
              </a:ext>
            </a:extLst>
          </p:cNvPr>
          <p:cNvSpPr txBox="1"/>
          <p:nvPr/>
        </p:nvSpPr>
        <p:spPr>
          <a:xfrm>
            <a:off x="1169518" y="1043443"/>
            <a:ext cx="55009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https://seaborn.pydata.org/examples/joint_kde.html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19D07-2A4F-882B-ECB2-939FE65B77D8}"/>
              </a:ext>
            </a:extLst>
          </p:cNvPr>
          <p:cNvSpPr txBox="1"/>
          <p:nvPr/>
        </p:nvSpPr>
        <p:spPr>
          <a:xfrm>
            <a:off x="6814492" y="1517966"/>
            <a:ext cx="5256584" cy="4245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“species”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범주형 값을 기준으로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축의 각각 변수의 평균과 분산을 구하라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변수간의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공분산을 구하라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분산이나 공분산이 커지면 모양새는 어떻게 변하나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낙도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(remote island)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무엇인가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팽권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3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(species)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분류하기에 가장 좋은 변수는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중에서 무엇인지 결정하라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분류를 결정하는 변수의 어떤 특정 값이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(species)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분류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하는데 최적인가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5708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764D3-A67A-791D-965C-7310444EC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8513452-4DAF-C356-4425-F660DCC7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F19938-A90F-375E-27C2-72092386179F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36D5AE-6B05-6BD7-F072-47EF5DA8845E}"/>
              </a:ext>
            </a:extLst>
          </p:cNvPr>
          <p:cNvSpPr txBox="1"/>
          <p:nvPr/>
        </p:nvSpPr>
        <p:spPr>
          <a:xfrm>
            <a:off x="693811" y="1052736"/>
            <a:ext cx="10945216" cy="506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1, 2, 3, 4, 5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각각의 데이터는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Cluster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 어디에 속할까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시각화 그림에 대해 토론하라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ADED97D-C059-95E9-07DA-83222A58FF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1" y="2132856"/>
            <a:ext cx="5174579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5116981-B925-82D4-DCF6-0327245A3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8060" y="2132856"/>
            <a:ext cx="4152856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68EFD0E-4783-C6CA-E610-AAA578315B5F}"/>
              </a:ext>
            </a:extLst>
          </p:cNvPr>
          <p:cNvSpPr txBox="1"/>
          <p:nvPr/>
        </p:nvSpPr>
        <p:spPr>
          <a:xfrm>
            <a:off x="1172929" y="2428146"/>
            <a:ext cx="268923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from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scipy.stats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 import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1: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(1, 1),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원형 분포 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rv1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([1, 1], [[0.5, 0], [0, 0.5]])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2: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(3, 3),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타원 분포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공분산 활용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rv2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([3, 3], [[1.5, 0.8], [0.8, 0.6]]) </a:t>
            </a:r>
            <a:endParaRPr lang="ko-KR" altLang="en-US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5459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FE7E-2B7D-A71D-4FD2-830B605E6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880AE1D-BFBF-DF84-0F66-5CF026310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AF0CA0-5595-AC6D-B083-3EBAE23A961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CB6E98-D7DF-2326-D250-C71DB2B73F1C}"/>
              </a:ext>
            </a:extLst>
          </p:cNvPr>
          <p:cNvSpPr txBox="1"/>
          <p:nvPr/>
        </p:nvSpPr>
        <p:spPr>
          <a:xfrm>
            <a:off x="909836" y="875966"/>
            <a:ext cx="10945216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1,2, 3, 4, 5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각각의 데이터는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Cluster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 어디에 속할까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시각화 그림에 대해 토론하라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경우 어디에 속하는지 수자로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확률로 제시할 수 있을까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62ADCD0-BC77-3149-39F3-DCDB65091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64" y="2276872"/>
            <a:ext cx="4939310" cy="3973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0163F9-90B9-A8F1-5718-71EF8A59C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2364" y="2319014"/>
            <a:ext cx="6351438" cy="2982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F4117D-32C9-4924-938F-DAEAFD3031F0}"/>
              </a:ext>
            </a:extLst>
          </p:cNvPr>
          <p:cNvSpPr txBox="1"/>
          <p:nvPr/>
        </p:nvSpPr>
        <p:spPr>
          <a:xfrm>
            <a:off x="5662363" y="5445224"/>
            <a:ext cx="63514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ü"/>
            </a:pPr>
            <a:r>
              <a:rPr lang="ko-KR" altLang="en-US" sz="1100" dirty="0" err="1"/>
              <a:t>러그</a:t>
            </a:r>
            <a:r>
              <a:rPr lang="ko-KR" altLang="en-US" sz="1100" dirty="0"/>
              <a:t> 플롯</a:t>
            </a:r>
            <a:r>
              <a:rPr lang="en-US" altLang="ko-KR" sz="1100" dirty="0"/>
              <a:t>(Rug Plot) : 2</a:t>
            </a:r>
            <a:r>
              <a:rPr lang="ko-KR" altLang="en-US" sz="1100" dirty="0"/>
              <a:t>차원 공간</a:t>
            </a:r>
            <a:r>
              <a:rPr lang="en-US" altLang="ko-KR" sz="1100" dirty="0"/>
              <a:t>(X, Y)</a:t>
            </a:r>
            <a:r>
              <a:rPr lang="ko-KR" altLang="en-US" sz="1100" dirty="0"/>
              <a:t>에 흩어져 있는 점들을 </a:t>
            </a:r>
            <a:r>
              <a:rPr lang="en-US" altLang="ko-KR" sz="1100" dirty="0"/>
              <a:t>Y</a:t>
            </a:r>
            <a:r>
              <a:rPr lang="ko-KR" altLang="en-US" sz="1100" dirty="0"/>
              <a:t>축 값을 무시하고 </a:t>
            </a:r>
            <a:r>
              <a:rPr lang="en-US" altLang="ko-KR" sz="1100" dirty="0"/>
              <a:t>X</a:t>
            </a:r>
            <a:r>
              <a:rPr lang="ko-KR" altLang="en-US" sz="1100" dirty="0"/>
              <a:t>축 바닥으로 뚝 떨어뜨려</a:t>
            </a:r>
            <a:r>
              <a:rPr lang="en-US" altLang="ko-KR" sz="1100" dirty="0"/>
              <a:t>(</a:t>
            </a:r>
            <a:r>
              <a:rPr lang="ko-KR" altLang="en-US" sz="1100" dirty="0"/>
              <a:t>투영시켜</a:t>
            </a:r>
            <a:r>
              <a:rPr lang="en-US" altLang="ko-KR" sz="1100" dirty="0"/>
              <a:t>), </a:t>
            </a:r>
            <a:r>
              <a:rPr lang="ko-KR" altLang="en-US" sz="1100" dirty="0"/>
              <a:t>실제 데이터가 어느 지점에 밀집해 있는지를 직선상의 눈금으로 표시</a:t>
            </a:r>
          </a:p>
        </p:txBody>
      </p:sp>
    </p:spTree>
    <p:extLst>
      <p:ext uri="{BB962C8B-B14F-4D97-AF65-F5344CB8AC3E}">
        <p14:creationId xmlns:p14="http://schemas.microsoft.com/office/powerpoint/2010/main" val="298990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E47D0-CA3E-396A-EAE0-3D7F7EC0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42F81467-E6D1-04BF-99EC-7A62BE770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503640"/>
            <a:ext cx="5496732" cy="366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4C5E44-F920-55F1-C678-996A81C5A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26D8BE-0B8F-83F5-BAA1-C934E8DF2D58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994DE-7084-F46C-641A-E520A1A8A349}"/>
              </a:ext>
            </a:extLst>
          </p:cNvPr>
          <p:cNvSpPr txBox="1"/>
          <p:nvPr/>
        </p:nvSpPr>
        <p:spPr>
          <a:xfrm>
            <a:off x="909836" y="875966"/>
            <a:ext cx="10945216" cy="998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대표적인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주요 시각화 예제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나폴레옹군대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나이팅게일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콜레라 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검색하여 설명하라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informationisbeautiful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참고하여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 예제를 살펴보기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7222F5E-1E8D-D58E-9960-497AA112C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4757" y="2503640"/>
            <a:ext cx="5561998" cy="366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44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DB2DCB-C9C7-FFF3-803D-5C78FEB1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666163-F6F1-738E-3F66-6669CD9B676E}"/>
              </a:ext>
            </a:extLst>
          </p:cNvPr>
          <p:cNvSpPr txBox="1"/>
          <p:nvPr/>
        </p:nvSpPr>
        <p:spPr>
          <a:xfrm>
            <a:off x="765820" y="1196752"/>
            <a:ext cx="11233248" cy="69705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참고하여 아래 데이터를 바탕으로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성별로 하고 다른 모든 변수를 입력변수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하여 상관관계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 모두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아래와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같이 구하고 결과를 토론하라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F51B27-8096-A2B2-E88A-5F08FD136A69}"/>
              </a:ext>
            </a:extLst>
          </p:cNvPr>
          <p:cNvSpPr txBox="1"/>
          <p:nvPr/>
        </p:nvSpPr>
        <p:spPr>
          <a:xfrm>
            <a:off x="117748" y="260648"/>
            <a:ext cx="52565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(Option)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208EB97-D75C-37B9-BF3B-39DC3F52E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169" y="2760332"/>
            <a:ext cx="10114904" cy="202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FE2F4D8-5C8D-3D53-0E7C-5E89E4BD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646" y="5088070"/>
            <a:ext cx="10525532" cy="943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89525C-C7A0-A806-EA78-271C51F864A5}"/>
              </a:ext>
            </a:extLst>
          </p:cNvPr>
          <p:cNvSpPr txBox="1"/>
          <p:nvPr/>
        </p:nvSpPr>
        <p:spPr>
          <a:xfrm>
            <a:off x="765067" y="4762947"/>
            <a:ext cx="61139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https://github.com/ancestor9/data/blob/main/customers.csv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663936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17292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기술 통계분석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(Descriptive Statistics Analysis)</a:t>
            </a:r>
            <a:endParaRPr lang="ko-KR" altLang="en-US" sz="2800" b="1" dirty="0"/>
          </a:p>
        </p:txBody>
      </p:sp>
      <p:sp>
        <p:nvSpPr>
          <p:cNvPr id="3" name="직사각형 2"/>
          <p:cNvSpPr/>
          <p:nvPr/>
        </p:nvSpPr>
        <p:spPr>
          <a:xfrm>
            <a:off x="981844" y="2348880"/>
            <a:ext cx="10657184" cy="1501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solidFill>
                  <a:srgbClr val="040C28"/>
                </a:solidFill>
                <a:latin typeface="Apple SD Gothic Neo"/>
              </a:rPr>
              <a:t>모집단으로부터 수집된 데이터를 잘 요약하여 모집단에 대하여 유용한 정보를 생산</a:t>
            </a:r>
            <a:r>
              <a:rPr lang="ko-KR" altLang="en-US" sz="2000" b="1" dirty="0">
                <a:solidFill>
                  <a:srgbClr val="202124"/>
                </a:solidFill>
                <a:latin typeface="Apple SD Gothic Neo"/>
              </a:rPr>
              <a:t>한다</a:t>
            </a:r>
            <a:r>
              <a:rPr lang="en-US" altLang="ko-KR" sz="2000" b="1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solidFill>
                  <a:srgbClr val="202124"/>
                </a:solidFill>
                <a:latin typeface="Apple SD Gothic Neo"/>
              </a:rPr>
              <a:t>데이터를 그래프</a:t>
            </a:r>
            <a:r>
              <a:rPr lang="en-US" altLang="ko-KR" sz="2000" b="1" dirty="0">
                <a:solidFill>
                  <a:srgbClr val="202124"/>
                </a:solidFill>
                <a:latin typeface="Apple SD Gothic Neo"/>
              </a:rPr>
              <a:t>, </a:t>
            </a:r>
            <a:r>
              <a:rPr lang="ko-KR" altLang="en-US" sz="2000" b="1" dirty="0">
                <a:solidFill>
                  <a:srgbClr val="202124"/>
                </a:solidFill>
                <a:latin typeface="Apple SD Gothic Neo"/>
              </a:rPr>
              <a:t>표 또는 </a:t>
            </a:r>
            <a:r>
              <a:rPr lang="ko-KR" altLang="en-US" sz="2000" b="1" dirty="0" err="1">
                <a:solidFill>
                  <a:srgbClr val="202124"/>
                </a:solidFill>
                <a:latin typeface="Apple SD Gothic Neo"/>
              </a:rPr>
              <a:t>대표값</a:t>
            </a:r>
            <a:r>
              <a:rPr lang="ko-KR" altLang="en-US" sz="2000" b="1" dirty="0">
                <a:solidFill>
                  <a:srgbClr val="202124"/>
                </a:solidFill>
                <a:latin typeface="Apple SD Gothic Neo"/>
              </a:rPr>
              <a:t> 등을 나타내는 숫자</a:t>
            </a:r>
            <a:r>
              <a:rPr lang="en-US" altLang="ko-KR" sz="2000" b="1" dirty="0">
                <a:solidFill>
                  <a:srgbClr val="202124"/>
                </a:solidFill>
                <a:latin typeface="Apple SD Gothic Neo"/>
              </a:rPr>
              <a:t>(</a:t>
            </a:r>
            <a:r>
              <a:rPr lang="ko-KR" altLang="en-US" sz="2000" b="1" dirty="0">
                <a:solidFill>
                  <a:srgbClr val="202124"/>
                </a:solidFill>
                <a:latin typeface="Apple SD Gothic Neo"/>
              </a:rPr>
              <a:t>통계량</a:t>
            </a:r>
            <a:r>
              <a:rPr lang="en-US" altLang="ko-KR" sz="2000" b="1" dirty="0">
                <a:solidFill>
                  <a:srgbClr val="202124"/>
                </a:solidFill>
                <a:latin typeface="Apple SD Gothic Neo"/>
              </a:rPr>
              <a:t>)</a:t>
            </a:r>
            <a:r>
              <a:rPr lang="ko-KR" altLang="en-US" sz="2000" b="1" dirty="0">
                <a:solidFill>
                  <a:srgbClr val="202124"/>
                </a:solidFill>
                <a:latin typeface="Apple SD Gothic Neo"/>
              </a:rPr>
              <a:t>나 시각화로 요약한다</a:t>
            </a:r>
            <a:r>
              <a:rPr lang="en-US" altLang="ko-KR" sz="2000" b="1" dirty="0">
                <a:solidFill>
                  <a:srgbClr val="202124"/>
                </a:solidFill>
                <a:latin typeface="Apple SD Gothic Neo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037792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404664"/>
            <a:ext cx="8656065" cy="6025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620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6C562-0918-35AA-B72A-85B1CBE6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47D0F-F413-FE6B-2048-69154B333A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과제 제출</a:t>
            </a:r>
            <a:endParaRPr lang="ko-KR" altLang="en-US" sz="2400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2B49BEBD-3DD1-D90F-2786-77F0606291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081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CA93F-9320-AA29-DD22-5787CD1A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2493F5-ADD2-781F-744F-D8FF12673258}"/>
              </a:ext>
            </a:extLst>
          </p:cNvPr>
          <p:cNvSpPr txBox="1"/>
          <p:nvPr/>
        </p:nvSpPr>
        <p:spPr>
          <a:xfrm>
            <a:off x="405780" y="980728"/>
            <a:ext cx="8857288" cy="253178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https://www.openml.org/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아래 데이터를 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다양한 방법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데이터셋으로 읽고 어떤 데이터인지 설명하라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fetch_openml</a:t>
            </a: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StringIO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requests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38F9A0-959B-A2DA-6277-877D961F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7ACA04B-7389-DE25-6A6A-317F1EF3D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0196" y="2987299"/>
            <a:ext cx="7560123" cy="336905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F17DC6-950A-BBDC-960D-D80166D2563D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  <a:r>
              <a:rPr lang="en-US" altLang="ko-KR" sz="2400" b="1" dirty="0"/>
              <a:t>(1/3)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4154372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3F69F-E43B-7CC4-1ECD-36748A2B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809C201-F750-02C2-A1C2-BF6226876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7A5864-91EC-5347-032F-4FE872A33215}"/>
              </a:ext>
            </a:extLst>
          </p:cNvPr>
          <p:cNvSpPr txBox="1"/>
          <p:nvPr/>
        </p:nvSpPr>
        <p:spPr>
          <a:xfrm>
            <a:off x="578034" y="2504214"/>
            <a:ext cx="3528392" cy="365170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 분석 항목 정리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변수별로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대표값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중앙값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최빈값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산포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범위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(Q1, Q2, Q3) 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사분위범위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90%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백분위수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=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분포의 왜곡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첨도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ECF6EA-DEAE-4795-F874-9CE0D7015196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  <a:r>
              <a:rPr lang="en-US" altLang="ko-KR" sz="2400" b="1" dirty="0"/>
              <a:t>(2/3)</a:t>
            </a:r>
            <a:endParaRPr lang="ko-KR" altLang="en-US" sz="2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808693-1E55-0781-D2A1-A9480DE4EEA4}"/>
              </a:ext>
            </a:extLst>
          </p:cNvPr>
          <p:cNvSpPr txBox="1"/>
          <p:nvPr/>
        </p:nvSpPr>
        <p:spPr>
          <a:xfrm>
            <a:off x="4291962" y="5472890"/>
            <a:ext cx="7779113" cy="70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Tip)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관련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Excel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함수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: average, median, quartile, percentile, var,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stdev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skew,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kurt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“EDA”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를 검색하여 실습하기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C09FA-4707-6BAA-E32E-50CA0C207202}"/>
              </a:ext>
            </a:extLst>
          </p:cNvPr>
          <p:cNvSpPr txBox="1"/>
          <p:nvPr/>
        </p:nvSpPr>
        <p:spPr>
          <a:xfrm>
            <a:off x="4654252" y="2504214"/>
            <a:ext cx="6264696" cy="244560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 분석 정리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변수의 시각화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수치형변수의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시각화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왜곡된 변수를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방법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통해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만들기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① 로그 변환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(Log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② 루트 변환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(Square Root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③ 박스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콕스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(Box-Cox Transformation)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FD051A-8425-178B-88DC-EAB75F302C95}"/>
              </a:ext>
            </a:extLst>
          </p:cNvPr>
          <p:cNvSpPr txBox="1"/>
          <p:nvPr/>
        </p:nvSpPr>
        <p:spPr>
          <a:xfrm>
            <a:off x="487656" y="1046300"/>
            <a:ext cx="11213512" cy="103509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본격적인 모델링이나 가설 검정에 들어가기 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다각도로 관찰하여 데이터의 특징을 이해하는 과정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마치 요리를 하기 전 재료의 상태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신선도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양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꼼꼼히 살피는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생성형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AI Gemini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canvas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사용하여 보고서를 작성하여 과제로 제출하라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89597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8C77D-6B42-4757-B391-F2BA13844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5498978-3063-D37C-4B1B-5353E919C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2C3942-D887-8501-8ABB-3CC980F84D10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  <a:r>
              <a:rPr lang="en-US" altLang="ko-KR" sz="2400" b="1" dirty="0"/>
              <a:t>(3/3)</a:t>
            </a:r>
            <a:endParaRPr lang="ko-KR" altLang="en-US" sz="2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F7E4F2-3BF2-6B53-4583-DC6E460FEAED}"/>
              </a:ext>
            </a:extLst>
          </p:cNvPr>
          <p:cNvSpPr txBox="1"/>
          <p:nvPr/>
        </p:nvSpPr>
        <p:spPr>
          <a:xfrm>
            <a:off x="372109" y="1556792"/>
            <a:ext cx="5362263" cy="46792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서론 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(Introduction)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1.1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 배경 및 목적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왜 이 데이터를 분석하는가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(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비즈니스 문제 정의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1.2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셋 설명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출처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수집 방법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1.3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주요 분석 질문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(Key Questions):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해결하고자 하는 가설 설정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프로파일링 및 기초 탐색 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(Data Profiling)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2.1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명세 확인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전체 레코드 수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컬럼 수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타입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2.2 </a:t>
            </a:r>
            <a:r>
              <a:rPr lang="ko-KR" altLang="en-US" sz="10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결측치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(Missing Value)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결측 비율 시각화 및 발생 원인 추론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1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결측치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처리 전략 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제거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대체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유지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2.3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기초 통계량 분석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중앙값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사분위수 분석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2.4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정제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(Cleaning)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중복 제거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자료형 변환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이상치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(Outlier)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 및 처리 결과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3.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변수별 개별 특성 분석 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(Univariate Analysis)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3.1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변수 분석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endParaRPr lang="ko-KR" altLang="en-US" sz="1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분포의 </a:t>
            </a:r>
            <a:r>
              <a:rPr lang="ko-KR" altLang="en-US" sz="1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왜도와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첨도 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정규성 검정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</a:t>
            </a:r>
          </a:p>
          <a:p>
            <a:pPr lvl="1">
              <a:lnSpc>
                <a:spcPct val="150000"/>
              </a:lnSpc>
            </a:pP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히스토그램 및 밀도 함수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(KDE)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3.2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분석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endParaRPr lang="ko-KR" altLang="en-US" sz="1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클래스별 빈도수 및 비율 분석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희소 클래스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(Rare labels)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존재 여부 확인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3.3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파생 변수 생성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Engineering):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범주 재그룹화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(Binning).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2C5014-BFF6-C7CE-A3AD-09A731DEDE55}"/>
              </a:ext>
            </a:extLst>
          </p:cNvPr>
          <p:cNvSpPr txBox="1"/>
          <p:nvPr/>
        </p:nvSpPr>
        <p:spPr>
          <a:xfrm>
            <a:off x="5734372" y="1560440"/>
            <a:ext cx="6096000" cy="4222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4.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및 관계 분석 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(Multivariate Analysis)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4.1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변수 간 상관관계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상관 계수 </a:t>
            </a:r>
            <a:r>
              <a:rPr lang="ko-KR" altLang="en-US" sz="1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히트맵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(Heatmap)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통한 </a:t>
            </a:r>
            <a:r>
              <a:rPr lang="ko-KR" altLang="en-US" sz="1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다중공선성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확인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주요 변수 간 </a:t>
            </a:r>
            <a:r>
              <a:rPr lang="ko-KR" altLang="en-US" sz="1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산점도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(Scatter Plot)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추세선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4.2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타겟 변수 기반 심층 분석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범주별 수치 분포 차이 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(Box plot / Violin plot).</a:t>
            </a:r>
          </a:p>
          <a:p>
            <a:pPr lvl="1">
              <a:lnSpc>
                <a:spcPct val="150000"/>
              </a:lnSpc>
            </a:pP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변수들이 종속 변수에 미치는 영향력 시각화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4.3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세그먼트별 비교 분석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특정 조건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VIP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고객 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vs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일반 고객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따른 행동 패턴 차이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b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5.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핵심 인사이트 및 가설 검정 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(Key Insights)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5.1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주요 패턴 발견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시각화 결과에서 도출된 결정적 특징 요약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5.2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가설 검증 결과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1.3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설정한 가설의 채택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기각 여부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5.3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예상치 못한 발견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(Unexpected Findings):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초기 가설 외에 새롭게 발견된 특이 사항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b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6.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결론 및 향후 방향 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(Conclusion &amp; Recommendation)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6.1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 요약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전체 분석 프로세스의 핵심 요약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6.2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비즈니스 제언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발견된 인사이트를 토대로 한 실행 가능한 전략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(Action Plan).</a:t>
            </a: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6.3 </a:t>
            </a:r>
            <a:r>
              <a:rPr lang="ko-KR" altLang="en-US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한계점 및 추후 과제</a:t>
            </a:r>
            <a:r>
              <a:rPr lang="en-US" altLang="ko-KR" sz="1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한계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샘플링 편향 등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향후 </a:t>
            </a:r>
            <a:r>
              <a:rPr lang="ko-KR" altLang="en-US" sz="1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 도입 가능성</a:t>
            </a:r>
            <a:r>
              <a:rPr lang="en-US" altLang="ko-KR" sz="1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A2BE8F-CD46-951D-4C79-5B9F10D91C9F}"/>
              </a:ext>
            </a:extLst>
          </p:cNvPr>
          <p:cNvSpPr txBox="1"/>
          <p:nvPr/>
        </p:nvSpPr>
        <p:spPr>
          <a:xfrm>
            <a:off x="117748" y="1052736"/>
            <a:ext cx="15342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/>
              <a:t>목차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04807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1369</TotalTime>
  <Words>1883</Words>
  <Application>Microsoft Office PowerPoint</Application>
  <PresentationFormat>사용자 지정</PresentationFormat>
  <Paragraphs>299</Paragraphs>
  <Slides>50</Slides>
  <Notes>48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64" baseType="lpstr">
      <vt:lpstr>Apple SD Gothic Neo</vt:lpstr>
      <vt:lpstr>맑은 고딕</vt:lpstr>
      <vt:lpstr>맑은 고딕 Semilight</vt:lpstr>
      <vt:lpstr>한컴 말랑말랑 Regular</vt:lpstr>
      <vt:lpstr>휴먼모음T</vt:lpstr>
      <vt:lpstr>ADLaM Display</vt:lpstr>
      <vt:lpstr>Arial</vt:lpstr>
      <vt:lpstr>Arial Narrow</vt:lpstr>
      <vt:lpstr>Calibri</vt:lpstr>
      <vt:lpstr>Cambria Math</vt:lpstr>
      <vt:lpstr>Corbel</vt:lpstr>
      <vt:lpstr>PT Sans</vt:lpstr>
      <vt:lpstr>Wingdings</vt:lpstr>
      <vt:lpstr>마케팅 16x9</vt:lpstr>
      <vt:lpstr>통계학  - 기술 통계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과제 제출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33</cp:revision>
  <dcterms:created xsi:type="dcterms:W3CDTF">2024-06-03T06:10:16Z</dcterms:created>
  <dcterms:modified xsi:type="dcterms:W3CDTF">2026-03-18T21:34:34Z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