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49"/>
  </p:notesMasterIdLst>
  <p:handoutMasterIdLst>
    <p:handoutMasterId r:id="rId50"/>
  </p:handoutMasterIdLst>
  <p:sldIdLst>
    <p:sldId id="256" r:id="rId5"/>
    <p:sldId id="270" r:id="rId6"/>
    <p:sldId id="271" r:id="rId7"/>
    <p:sldId id="282" r:id="rId8"/>
    <p:sldId id="279" r:id="rId9"/>
    <p:sldId id="280" r:id="rId10"/>
    <p:sldId id="281" r:id="rId11"/>
    <p:sldId id="299" r:id="rId12"/>
    <p:sldId id="300" r:id="rId13"/>
    <p:sldId id="272" r:id="rId14"/>
    <p:sldId id="301" r:id="rId15"/>
    <p:sldId id="273" r:id="rId16"/>
    <p:sldId id="274" r:id="rId17"/>
    <p:sldId id="275" r:id="rId18"/>
    <p:sldId id="277" r:id="rId19"/>
    <p:sldId id="278" r:id="rId20"/>
    <p:sldId id="283" r:id="rId21"/>
    <p:sldId id="284" r:id="rId22"/>
    <p:sldId id="285" r:id="rId23"/>
    <p:sldId id="286" r:id="rId24"/>
    <p:sldId id="292" r:id="rId25"/>
    <p:sldId id="276" r:id="rId26"/>
    <p:sldId id="304" r:id="rId27"/>
    <p:sldId id="287" r:id="rId28"/>
    <p:sldId id="288" r:id="rId29"/>
    <p:sldId id="289" r:id="rId30"/>
    <p:sldId id="290" r:id="rId31"/>
    <p:sldId id="291" r:id="rId32"/>
    <p:sldId id="302" r:id="rId33"/>
    <p:sldId id="305" r:id="rId34"/>
    <p:sldId id="293" r:id="rId35"/>
    <p:sldId id="294" r:id="rId36"/>
    <p:sldId id="295" r:id="rId37"/>
    <p:sldId id="296" r:id="rId38"/>
    <p:sldId id="297" r:id="rId39"/>
    <p:sldId id="298" r:id="rId40"/>
    <p:sldId id="303" r:id="rId41"/>
    <p:sldId id="308" r:id="rId42"/>
    <p:sldId id="310" r:id="rId43"/>
    <p:sldId id="313" r:id="rId44"/>
    <p:sldId id="311" r:id="rId45"/>
    <p:sldId id="312" r:id="rId46"/>
    <p:sldId id="309" r:id="rId47"/>
    <p:sldId id="307" r:id="rId48"/>
  </p:sldIdLst>
  <p:sldSz cx="12188825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39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673" autoAdjust="0"/>
    <p:restoredTop sz="94660"/>
  </p:normalViewPr>
  <p:slideViewPr>
    <p:cSldViewPr>
      <p:cViewPr varScale="1">
        <p:scale>
          <a:sx n="85" d="100"/>
          <a:sy n="85" d="100"/>
        </p:scale>
        <p:origin x="883" y="67"/>
      </p:cViewPr>
      <p:guideLst>
        <p:guide pos="3839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6360"/>
    </p:cViewPr>
  </p:sorterViewPr>
  <p:notesViewPr>
    <p:cSldViewPr showGuides="1">
      <p:cViewPr varScale="1">
        <p:scale>
          <a:sx n="90" d="100"/>
          <a:sy n="90" d="100"/>
        </p:scale>
        <p:origin x="2814" y="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theme" Target="theme/theme1.xml"/><Relationship Id="rId5" Type="http://schemas.openxmlformats.org/officeDocument/2006/relationships/slide" Target="slides/slid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8" Type="http://schemas.openxmlformats.org/officeDocument/2006/relationships/slide" Target="slides/slide4.xml"/><Relationship Id="rId51" Type="http://schemas.openxmlformats.org/officeDocument/2006/relationships/presProps" Target="presProps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0A85425-0F1F-4C65-805F-C7280B9ECE9F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2026-03-17</a:t>
            </a:fld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A98ED8CD-4E4C-49AC-BDC6-2963BA49E54F}" type="slidenum">
              <a:rPr lang="en-US" altLang="ko-KR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341795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39DBE7D5-AA2D-4B26-8C69-8B60D39FD5EE}" type="datetime1">
              <a:rPr lang="ko-KR" altLang="en-US" smtClean="0"/>
              <a:pPr/>
              <a:t>2026-03-17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5FB91549-43BF-425A-AF25-75262019208C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23928641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611453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14182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503743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724064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291291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9762645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856690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11AD0-4C3D-624F-60D5-D6B10979AF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92E39F4-6A0C-4A9C-8B5C-ABADDEE59D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6EE43D-9CFD-3468-D78B-FF731CBFE3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0231CF-5B5C-C65B-77E3-2B290203E1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6313501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8565464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B7DACE-676E-EE7D-4489-0639BF654E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5970EBA-85AC-C86A-802E-95C40DF114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EF62820-CC7D-57C3-8FFF-E03C09D0E3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4FAD6A-CE9A-4DC2-EC6C-6C654F6B09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4485892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6001147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4388233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0262725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090036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5260834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3032645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6800848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0048770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6094423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1864910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625011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4EB22-843F-B334-E6A0-A4DF0CDD4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6E72359-A2CB-B71F-2F8E-4B88FCD5EC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EBA1003-C340-051A-B8F2-D9A16BA016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E94B1B-A1A1-EC21-AC3C-ED2837BE80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1237594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7648102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141828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140781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6942264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9148668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87794-7F4C-FBBC-7428-7C4A74582B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6A9AF46-C1E7-9C2F-5BD3-50E4E5C762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AE690E3-75E4-E1B2-ED5A-033983FA57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C442F9-0B07-43B1-2110-481AFC0327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9964912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F451BE-CFE1-1378-57AE-7DC4819F7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0E0D8CB-E1FF-24B6-CF17-E3AD258511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BF935C3-89CA-E305-E702-F54A39A60E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B5DE317-9F1E-A83E-1D98-7EB86D5587F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696117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6495464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2557786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8823350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2643187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7735917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9341182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455EC-C9C7-8459-A356-01E08837C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2DAF36B-9643-470F-6133-67D4307CE8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58D66C9-8E60-55C5-864F-FE774C395C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5B97AF4-1C79-62BE-E662-CE646AF4203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2875234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1B1111-0F2C-72CD-1A8C-DE20D1349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2D0A8F7-D3A7-3B77-DA76-D13BEAE2D4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A0989BA-EE78-7BC1-B768-664079BC9C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5AB258-08B6-57BF-2449-3EC2E44E86A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0525163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1A194A-847B-6F14-07F2-38D05F416B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0567891-8706-81FD-F2D9-2CC0D70E4A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A21A2CA-7CA6-CB34-3461-8A5A650C93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308AB1B-9C0A-3FA6-14A1-50D9AF282B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1291561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FA3BBD-A9D1-EAD0-4ABD-EF3EE5959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841FB98-6E70-56DE-D99C-6C67CCB160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11D7A4F-F09B-9B32-85C0-40088E9A5B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29C65BD-8C7A-8503-3490-EB8170B098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8953745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77E520-FF7F-20A8-E377-78305AF96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AAE50F1-693B-0691-2048-B3C5FAFE57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C21687F-E7B6-0FDE-EB52-8F958A3485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CF5345-3860-C129-6BFC-83F6901FF4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48586136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AB38D4-2033-D269-92E2-472DD489A0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3FF330B-E197-FC28-0494-06EAABC3FB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758F670-6DD6-E601-1D5C-5E78E0C029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59EA6E-ACE1-35DA-C0A0-227592EE1AA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403125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C0063C-CFE3-17F5-0A6B-13894E49F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71BD372-58F3-74D3-962C-62D6166ECF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65D5C3F-35B9-22A4-141C-0742E72F79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E03DE3-F8A2-5FC5-4D16-A7E29C51C2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3929636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E37C32-7383-2B90-D316-0B7106F175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D5A47C4-78D3-B6B1-45B8-8D6F5BA52C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43606D4-A7F7-79E8-C685-45A220AF97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23A52C2-B18A-CA0F-A3BA-D977DA520E7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329584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유리 벽으로 된 건물로 둘러싸인 파란 하늘과 구름을 아래에서 올려다본 사진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73625" y="0"/>
            <a:ext cx="7315200" cy="6858001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4724399"/>
          </a:xfrm>
        </p:spPr>
        <p:txBody>
          <a:bodyPr rtlCol="0">
            <a:normAutofit/>
          </a:bodyPr>
          <a:lstStyle>
            <a:lvl1pPr>
              <a:defRPr sz="48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ko-KR" altLang="en-US" noProof="0"/>
              <a:t>클릭하여 마스터 부제목 스타일 편집</a:t>
            </a:r>
            <a:endParaRPr lang="ko-KR" altLang="en-US" noProof="0" dirty="0"/>
          </a:p>
        </p:txBody>
      </p:sp>
      <p:sp>
        <p:nvSpPr>
          <p:cNvPr id="8" name="날짜 개체 틀 7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B229CEB-779D-4AB3-81CB-8FCEEAE03F61}" type="datetime1">
              <a:rPr lang="ko-KR" altLang="en-US" smtClean="0"/>
              <a:t>2026-03-17</a:t>
            </a:fld>
            <a:endParaRPr lang="ko-KR" altLang="en-US" dirty="0"/>
          </a:p>
        </p:txBody>
      </p:sp>
      <p:sp>
        <p:nvSpPr>
          <p:cNvPr id="9" name="바닥글 개체 틀 8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10" name="슬라이드 번호 개체 틀 9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348395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 rtl="0"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 rtlCol="0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76306AB-75A0-421C-B431-0E4E30A5C28E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7862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3" y="2590800"/>
            <a:ext cx="8229599" cy="2819400"/>
          </a:xfrm>
        </p:spPr>
        <p:txBody>
          <a:bodyPr rtlCol="0" anchor="b">
            <a:normAutofit/>
          </a:bodyPr>
          <a:lstStyle>
            <a:lvl1pPr algn="l">
              <a:defRPr sz="4800" b="0" cap="none" baseline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6425" y="5410200"/>
            <a:ext cx="8231187" cy="762000"/>
          </a:xfrm>
        </p:spPr>
        <p:txBody>
          <a:bodyPr rtlCol="0" anchor="t">
            <a:normAutofit/>
          </a:bodyPr>
          <a:lstStyle>
            <a:lvl1pPr marL="0" indent="0" rtl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1D969EE-F1EB-462E-B70D-5B36B3806A4E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pPr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225113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1293813" y="685800"/>
            <a:ext cx="5029200" cy="4191000"/>
          </a:xfrm>
        </p:spPr>
        <p:txBody>
          <a:bodyPr rtlCol="0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551614" y="685800"/>
            <a:ext cx="5029199" cy="4191000"/>
          </a:xfrm>
        </p:spPr>
        <p:txBody>
          <a:bodyPr rtlCol="0"/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8CBB1B7-E0A1-46A3-B5B5-C69931095FF6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97013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664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1293664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551613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550025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AFC0E65-06AB-44D7-AAEE-8F4C7ED84A0C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513096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0189E66-D439-4767-B911-EB49CB20E313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44281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비어 있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4E4FFC0-DB28-4291-80A0-63DBF8428320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1910311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875212" y="685800"/>
            <a:ext cx="6704171" cy="5486400"/>
          </a:xfrm>
        </p:spPr>
        <p:txBody>
          <a:bodyPr rtlCol="0">
            <a:normAutofit/>
          </a:bodyPr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 baseline="0"/>
            </a:lvl6pPr>
            <a:lvl7pPr>
              <a:defRPr sz="1800" baseline="0"/>
            </a:lvl7pPr>
            <a:lvl8pPr>
              <a:defRPr sz="1800" baseline="0"/>
            </a:lvl8pPr>
            <a:lvl9pPr>
              <a:defRPr sz="1800"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AB5804B-C38E-4214-93DF-3E6DA00134E8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234726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rm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그림 개체 틀 2" descr="이미지를 추가할 수 있는 빈 개체 틀입니다. 개체 틀을 클릭하고 추가할 이미지를 선택하세요."/>
          <p:cNvSpPr>
            <a:spLocks noGrp="1"/>
          </p:cNvSpPr>
          <p:nvPr>
            <p:ph type="pic" idx="1"/>
          </p:nvPr>
        </p:nvSpPr>
        <p:spPr>
          <a:xfrm>
            <a:off x="4875213" y="685800"/>
            <a:ext cx="6705600" cy="5486400"/>
          </a:xfrm>
          <a:ln w="63500">
            <a:solidFill>
              <a:schemeClr val="bg1"/>
            </a:solidFill>
            <a:miter lim="800000"/>
          </a:ln>
        </p:spPr>
        <p:txBody>
          <a:bodyPr rtlCol="0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ko-KR" altLang="en-US" noProof="0"/>
              <a:t>그림을 추가하려면 아이콘을 클릭하십시오</a:t>
            </a:r>
            <a:endParaRPr lang="en-US" altLang="ko-KR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ABEE384-F18F-4153-AC21-608599869F84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3520414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tx1"/>
              </a:buClr>
              <a:buSzPct val="80000"/>
              <a:buFont typeface="Arial" pitchFamily="34" charset="0"/>
              <a:buNone/>
              <a:tabLst/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3B7A883-0BF0-4B4B-84D5-D747A0111A56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176294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10285412" y="685800"/>
            <a:ext cx="1295401" cy="5486400"/>
          </a:xfrm>
        </p:spPr>
        <p:txBody>
          <a:bodyPr vert="eaVert"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8012" y="685800"/>
            <a:ext cx="9474253" cy="5486400"/>
          </a:xfrm>
        </p:spPr>
        <p:txBody>
          <a:bodyPr vert="eaVert" rtlCol="0"/>
          <a:lstStyle>
            <a:lvl1pPr rtl="0"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DA7EA29-F2BB-4FB1-BB4B-C55A7FA3FC5C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50052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09441" y="5105400"/>
            <a:ext cx="10971372" cy="1066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ko-KR" altLang="en-US" noProof="0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813" y="685800"/>
            <a:ext cx="10287000" cy="41909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667A4C69-65FB-481C-AC2A-84D254D33675}" type="datetime1">
              <a:rPr lang="ko-KR" altLang="en-US" smtClean="0"/>
              <a:t>2026-03-17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928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1" hangingPunct="1">
        <a:lnSpc>
          <a:spcPct val="80000"/>
        </a:lnSpc>
        <a:spcBef>
          <a:spcPct val="0"/>
        </a:spcBef>
        <a:buNone/>
        <a:defRPr sz="3600" kern="1200">
          <a:solidFill>
            <a:schemeClr val="accent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800"/>
        </a:spcBef>
        <a:buClr>
          <a:schemeClr val="tx1"/>
        </a:buClr>
        <a:buSzPct val="80000"/>
        <a:buFont typeface="Arial" pitchFamily="34" charset="0"/>
        <a:buChar char="•"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615950" indent="-28575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Corbel" pitchFamily="34" charset="0"/>
        <a:buChar char="–"/>
        <a:defRPr sz="24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996696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380744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764792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148840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532888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916936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300984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t.co.kr/opinion/2019/04/09/2019040811152977932" TargetMode="External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data/blob/main/customers.csv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4.png"/><Relationship Id="rId7" Type="http://schemas.openxmlformats.org/officeDocument/2006/relationships/hyperlink" Target="https://wikidocs.net/145262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scikit-learn.org/stable/modules/preprocessing.html" TargetMode="External"/><Relationship Id="rId5" Type="http://schemas.openxmlformats.org/officeDocument/2006/relationships/hyperlink" Target="https://scikit-learn.org/stable/modules/generated/sklearn.preprocessing.StandardScaler.html" TargetMode="External"/><Relationship Id="rId4" Type="http://schemas.openxmlformats.org/officeDocument/2006/relationships/hyperlink" Target="https://github.com/ancestor9/data/blob/main/human_data.csv" TargetMode="Externa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auto_examples/preprocessing/plot_all_scaling.html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penml.org/" TargetMode="Externa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research.autodesk.com/publications/same-stats-different-graphs/" TargetMode="Externa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seaborn.pydata.org/examples/scatterplot_matrix.html" TargetMode="Externa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seaborn.pydata.org/examples/multiple_regression.html" TargetMode="External"/><Relationship Id="rId5" Type="http://schemas.openxmlformats.org/officeDocument/2006/relationships/image" Target="../media/image42.png"/><Relationship Id="rId4" Type="http://schemas.openxmlformats.org/officeDocument/2006/relationships/hyperlink" Target="https://seaborn.pydata.org/examples/multiple_bivariate_kde.html" TargetMode="Externa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seaborn.pydata.org/examples/joint_kde.html" TargetMode="Externa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8.png"/><Relationship Id="rId4" Type="http://schemas.openxmlformats.org/officeDocument/2006/relationships/hyperlink" Target="https://informationisbeautiful.net/" TargetMode="Externa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2959223"/>
          </a:xfrm>
        </p:spPr>
        <p:txBody>
          <a:bodyPr rtlCol="0">
            <a:normAutofit/>
          </a:bodyPr>
          <a:lstStyle/>
          <a:p>
            <a:pPr rtl="0"/>
            <a:r>
              <a:rPr lang="ko-KR" altLang="en-US" b="1" dirty="0"/>
              <a:t>통계학</a:t>
            </a:r>
            <a:br>
              <a:rPr lang="en-US" altLang="ko-KR" b="1" dirty="0"/>
            </a:br>
            <a:br>
              <a:rPr lang="en-US" altLang="ko-KR" dirty="0"/>
            </a:br>
            <a:r>
              <a:rPr lang="en-US" altLang="ko-KR" sz="3200" b="1" dirty="0"/>
              <a:t>- </a:t>
            </a:r>
            <a:r>
              <a:rPr lang="ko-KR" altLang="en-US" sz="3200" b="1" dirty="0"/>
              <a:t>기술 통계 </a:t>
            </a:r>
            <a:r>
              <a:rPr lang="en-US" altLang="ko-KR" sz="3200" b="1" dirty="0"/>
              <a:t>- </a:t>
            </a:r>
            <a:br>
              <a:rPr lang="en-US" altLang="ko-KR" dirty="0"/>
            </a:br>
            <a:endParaRPr lang="ko-KR" altLang="en-US" sz="2400" dirty="0"/>
          </a:p>
        </p:txBody>
      </p:sp>
      <p:sp>
        <p:nvSpPr>
          <p:cNvPr id="3" name="부제 2"/>
          <p:cNvSpPr>
            <a:spLocks noGrp="1"/>
          </p:cNvSpPr>
          <p:nvPr>
            <p:ph type="subTitle" idx="1"/>
          </p:nvPr>
        </p:nvSpPr>
        <p:spPr>
          <a:xfrm>
            <a:off x="589537" y="4293096"/>
            <a:ext cx="3962400" cy="2016224"/>
          </a:xfrm>
        </p:spPr>
        <p:txBody>
          <a:bodyPr rtlCol="0">
            <a:normAutofit/>
          </a:bodyPr>
          <a:lstStyle/>
          <a:p>
            <a:pPr>
              <a:lnSpc>
                <a:spcPct val="120000"/>
              </a:lnSpc>
            </a:pPr>
            <a:br>
              <a:rPr lang="en-US" altLang="ko-KR" dirty="0"/>
            </a:br>
            <a:r>
              <a:rPr lang="en-US" altLang="ko-KR" dirty="0"/>
              <a:t>2026_Spring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 rtl="0">
              <a:lnSpc>
                <a:spcPct val="120000"/>
              </a:lnSpc>
            </a:pPr>
            <a:r>
              <a:rPr lang="ko-KR" altLang="en-US" dirty="0" err="1"/>
              <a:t>조상구</a:t>
            </a:r>
            <a:endParaRPr lang="en-US" altLang="ko-KR" dirty="0"/>
          </a:p>
        </p:txBody>
      </p:sp>
      <p:pic>
        <p:nvPicPr>
          <p:cNvPr id="1028" name="Picture 4" descr="깊은 생각에 잠긴 남자의 청동 조각상">
            <a:extLst>
              <a:ext uri="{FF2B5EF4-FFF2-40B4-BE49-F238E27FC236}">
                <a16:creationId xmlns:a16="http://schemas.microsoft.com/office/drawing/2014/main" id="{4757FD16-A7E9-1C5E-9D31-B9438F4567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0276" y="3014307"/>
            <a:ext cx="2566021" cy="38436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080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916" y="1268760"/>
            <a:ext cx="8890594" cy="4622186"/>
          </a:xfrm>
          <a:prstGeom prst="rect">
            <a:avLst/>
          </a:prstGeom>
        </p:spPr>
      </p:pic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1126723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그림 2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3892" y="908720"/>
            <a:ext cx="8556891" cy="5104724"/>
          </a:xfrm>
          <a:prstGeom prst="rect">
            <a:avLst/>
          </a:prstGeom>
        </p:spPr>
      </p:pic>
      <p:sp>
        <p:nvSpPr>
          <p:cNvPr id="25" name="슬라이드 번호 개체 틀 2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510170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슬라이드 번호 개체 틀 2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</a:t>
            </a:fld>
            <a:endParaRPr lang="en-US" altLang="ko-KR" noProof="0" dirty="0"/>
          </a:p>
        </p:txBody>
      </p:sp>
      <p:pic>
        <p:nvPicPr>
          <p:cNvPr id="1026" name="Picture 2" descr="빅데이터 시대 표본 추출이 필요할까?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6020" y="1916832"/>
            <a:ext cx="7304389" cy="42484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333772" y="426325"/>
            <a:ext cx="828092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/>
              <a:t>전수조사</a:t>
            </a:r>
            <a:r>
              <a:rPr lang="en-US" altLang="ko-KR" sz="2000" b="1" dirty="0"/>
              <a:t>(Census)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/>
              <a:t>표본조사</a:t>
            </a:r>
            <a:r>
              <a:rPr lang="en-US" altLang="ko-KR" sz="2000" b="1" dirty="0"/>
              <a:t>(Sampling)</a:t>
            </a:r>
          </a:p>
        </p:txBody>
      </p:sp>
      <p:sp>
        <p:nvSpPr>
          <p:cNvPr id="3" name="직사각형 2"/>
          <p:cNvSpPr/>
          <p:nvPr/>
        </p:nvSpPr>
        <p:spPr>
          <a:xfrm>
            <a:off x="1053852" y="4581128"/>
            <a:ext cx="1872629" cy="110799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b="1" dirty="0" err="1">
                <a:solidFill>
                  <a:srgbClr val="0070C0"/>
                </a:solidFill>
              </a:rPr>
              <a:t>모수</a:t>
            </a:r>
            <a:r>
              <a:rPr lang="ko-KR" altLang="en-US" b="1" dirty="0">
                <a:solidFill>
                  <a:srgbClr val="0070C0"/>
                </a:solidFill>
              </a:rPr>
              <a:t> </a:t>
            </a:r>
            <a:r>
              <a:rPr lang="en-US" altLang="ko-KR" b="1" dirty="0">
                <a:solidFill>
                  <a:srgbClr val="0070C0"/>
                </a:solidFill>
              </a:rPr>
              <a:t>(parameter)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sz="1600" b="1" dirty="0">
                <a:solidFill>
                  <a:srgbClr val="0070C0"/>
                </a:solidFill>
              </a:rPr>
              <a:t>모집단 평균</a:t>
            </a:r>
            <a:endParaRPr lang="en-US" altLang="ko-KR" sz="1600" b="1" dirty="0">
              <a:solidFill>
                <a:srgbClr val="0070C0"/>
              </a:solidFill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sz="1600" b="1" dirty="0">
                <a:solidFill>
                  <a:srgbClr val="0070C0"/>
                </a:solidFill>
              </a:rPr>
              <a:t>모집단</a:t>
            </a:r>
            <a:r>
              <a:rPr lang="en-US" altLang="ko-KR" sz="1600" b="1" dirty="0">
                <a:solidFill>
                  <a:srgbClr val="0070C0"/>
                </a:solidFill>
              </a:rPr>
              <a:t> </a:t>
            </a:r>
            <a:r>
              <a:rPr lang="ko-KR" altLang="en-US" sz="1600" b="1" dirty="0">
                <a:solidFill>
                  <a:srgbClr val="0070C0"/>
                </a:solidFill>
              </a:rPr>
              <a:t>분산</a:t>
            </a:r>
            <a:endParaRPr lang="ko-KR" altLang="en-US" sz="1600" dirty="0">
              <a:solidFill>
                <a:srgbClr val="0070C0"/>
              </a:solidFill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9982844" y="3284984"/>
            <a:ext cx="1872629" cy="110799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b="1" dirty="0" err="1">
                <a:solidFill>
                  <a:srgbClr val="0070C0"/>
                </a:solidFill>
              </a:rPr>
              <a:t>모수</a:t>
            </a:r>
            <a:r>
              <a:rPr lang="ko-KR" altLang="en-US" b="1" dirty="0">
                <a:solidFill>
                  <a:srgbClr val="0070C0"/>
                </a:solidFill>
              </a:rPr>
              <a:t> </a:t>
            </a:r>
            <a:r>
              <a:rPr lang="en-US" altLang="ko-KR" b="1" dirty="0">
                <a:solidFill>
                  <a:srgbClr val="0070C0"/>
                </a:solidFill>
              </a:rPr>
              <a:t>(parameter)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sz="1600" b="1" dirty="0">
                <a:solidFill>
                  <a:srgbClr val="0070C0"/>
                </a:solidFill>
              </a:rPr>
              <a:t>표본 평균</a:t>
            </a:r>
            <a:endParaRPr lang="en-US" altLang="ko-KR" sz="1600" b="1" dirty="0">
              <a:solidFill>
                <a:srgbClr val="0070C0"/>
              </a:solidFill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sz="1600" b="1" dirty="0">
                <a:solidFill>
                  <a:srgbClr val="0070C0"/>
                </a:solidFill>
              </a:rPr>
              <a:t>표본 분산 등</a:t>
            </a:r>
            <a:endParaRPr lang="ko-KR" altLang="en-US" sz="1600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267781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1844" y="476672"/>
            <a:ext cx="9748245" cy="5605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1198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36" y="692696"/>
            <a:ext cx="9838746" cy="5326966"/>
          </a:xfrm>
          <a:prstGeom prst="rect">
            <a:avLst/>
          </a:prstGeom>
        </p:spPr>
      </p:pic>
      <p:sp>
        <p:nvSpPr>
          <p:cNvPr id="5" name="말풍선: 타원형 4">
            <a:extLst>
              <a:ext uri="{FF2B5EF4-FFF2-40B4-BE49-F238E27FC236}">
                <a16:creationId xmlns:a16="http://schemas.microsoft.com/office/drawing/2014/main" id="{EA024606-6906-5C69-50C6-9C14C607C158}"/>
              </a:ext>
            </a:extLst>
          </p:cNvPr>
          <p:cNvSpPr/>
          <p:nvPr/>
        </p:nvSpPr>
        <p:spPr>
          <a:xfrm>
            <a:off x="7894612" y="5505817"/>
            <a:ext cx="1944216" cy="850534"/>
          </a:xfrm>
          <a:prstGeom prst="wedgeEllipseCallout">
            <a:avLst>
              <a:gd name="adj1" fmla="val -67667"/>
              <a:gd name="adj2" fmla="val -6946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균등 층화</a:t>
            </a:r>
            <a:r>
              <a:rPr lang="en-US" altLang="ko-KR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</a:p>
          <a:p>
            <a:r>
              <a:rPr lang="ko-KR" altLang="en-US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비례 층화 </a:t>
            </a:r>
          </a:p>
        </p:txBody>
      </p:sp>
    </p:spTree>
    <p:extLst>
      <p:ext uri="{BB962C8B-B14F-4D97-AF65-F5344CB8AC3E}">
        <p14:creationId xmlns:p14="http://schemas.microsoft.com/office/powerpoint/2010/main" val="24556604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7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852" y="908720"/>
            <a:ext cx="9046658" cy="3651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60954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38BFDF-043C-D416-8A82-CFA167E4C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E44CB5B-45F9-105B-6990-2F9C08EBD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8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A21184-37EF-AC7E-BD87-A4D8546D0FD6}"/>
              </a:ext>
            </a:extLst>
          </p:cNvPr>
          <p:cNvSpPr txBox="1"/>
          <p:nvPr/>
        </p:nvSpPr>
        <p:spPr>
          <a:xfrm>
            <a:off x="765820" y="1196752"/>
            <a:ext cx="11233248" cy="493346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seaborn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tips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를 모집단으로 가정하고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tip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변수의 값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데이터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분포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평균과 분산을 설명하라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평균의 함정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(the pitfall of mean)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seaborn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tips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모집단에서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3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가지 표본추출방법을 파이썬 코드로 제시하라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3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가지 표본과 모집단과의 평균과 분산을 비교한 후 어떤 표본추출방법이 가장 적합한지 토론하라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6E396372-435D-01F1-308C-E5EFFE0434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6394" y="1919399"/>
            <a:ext cx="8640960" cy="119743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80152FC-1579-E1AE-98F9-EEC881A49A22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39545762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D1C135-780A-D855-FC3F-601039C323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9</a:t>
            </a:fld>
            <a:endParaRPr lang="en-US" altLang="ko-KR" noProof="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CC395D1-45E4-42FD-D66D-18A4FFB3BF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69876" y="620688"/>
            <a:ext cx="7956375" cy="5304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FB9F0C6-43A9-D111-BC6D-8E8DCE050C89}"/>
              </a:ext>
            </a:extLst>
          </p:cNvPr>
          <p:cNvSpPr txBox="1"/>
          <p:nvPr/>
        </p:nvSpPr>
        <p:spPr>
          <a:xfrm>
            <a:off x="2762272" y="5987394"/>
            <a:ext cx="644420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hlinkClick r:id="rId3"/>
              </a:rPr>
              <a:t>https://www.mt.co.kr/opinion/2019/04/09/2019040811152977932</a:t>
            </a:r>
            <a:r>
              <a:rPr lang="ko-KR" alt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860630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슬라이드 번호 개체 틀 2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10</a:t>
            </a:fld>
            <a:endParaRPr lang="en-US" altLang="ko-KR" noProof="0" dirty="0"/>
          </a:p>
        </p:txBody>
      </p:sp>
      <p:pic>
        <p:nvPicPr>
          <p:cNvPr id="30" name="그림 2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9956" y="507050"/>
            <a:ext cx="7667569" cy="6051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11212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7D2E6-5BC7-CAB3-2C0E-BC7A94E56C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1E0B742-A325-A1D7-3871-5E6D27347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11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CECDB0-CB65-5095-E5F1-4DBAE2D472C4}"/>
              </a:ext>
            </a:extLst>
          </p:cNvPr>
          <p:cNvSpPr txBox="1"/>
          <p:nvPr/>
        </p:nvSpPr>
        <p:spPr>
          <a:xfrm>
            <a:off x="765820" y="1196752"/>
            <a:ext cx="11233248" cy="124014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  <a:hlinkClick r:id="rId3"/>
              </a:rPr>
              <a:t>https://github.com/ancestor9/data/blob/main/customers.csv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데이터를 데이터셋으로 읽은 후 컴퓨터가 인식할 수 있도록 모든 데이터를 </a:t>
            </a:r>
            <a:r>
              <a:rPr lang="ko-KR" altLang="en-US" sz="20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수치화하여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표현하라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802541C-2872-A95A-EE57-431C02DDCF2D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1E2A028-0B51-A118-8E7B-4E624F2A4B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820" y="2788229"/>
            <a:ext cx="8064896" cy="307902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30BC356-F6E6-69F8-92C0-0C77A8297D86}"/>
              </a:ext>
            </a:extLst>
          </p:cNvPr>
          <p:cNvSpPr txBox="1"/>
          <p:nvPr/>
        </p:nvSpPr>
        <p:spPr>
          <a:xfrm rot="591990">
            <a:off x="9669996" y="327099"/>
            <a:ext cx="227469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Data</a:t>
            </a:r>
            <a:r>
              <a:rPr lang="ko-KR" altLang="en-US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Preprocessing</a:t>
            </a:r>
            <a:r>
              <a:rPr lang="ko-KR" altLang="en-US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11017048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12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6993" y="330079"/>
            <a:ext cx="8841742" cy="6208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96314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13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1964" y="764704"/>
            <a:ext cx="7920880" cy="5476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9109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14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796" y="691942"/>
            <a:ext cx="7993330" cy="5664409"/>
          </a:xfrm>
          <a:prstGeom prst="rect">
            <a:avLst/>
          </a:prstGeom>
        </p:spPr>
      </p:pic>
      <p:pic>
        <p:nvPicPr>
          <p:cNvPr id="2050" name="Picture 2" descr="통계 상식] 상자 그림 (Box Plot) : 네이버 블로그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80313" y="4052095"/>
            <a:ext cx="4608512" cy="2304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443897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0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0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15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171" y="692696"/>
            <a:ext cx="8285378" cy="5573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24460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16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916" y="764704"/>
            <a:ext cx="9325163" cy="5156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53871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17</a:t>
            </a:fld>
            <a:endParaRPr lang="en-US" altLang="ko-KR" noProof="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5900" y="332656"/>
            <a:ext cx="9009202" cy="62863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06184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18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5900" y="301296"/>
            <a:ext cx="9241668" cy="6052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08390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19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4641" y="476672"/>
            <a:ext cx="8950072" cy="6062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38221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20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1964" y="692696"/>
            <a:ext cx="8363603" cy="5328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18635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21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0252" y="1732891"/>
            <a:ext cx="7323814" cy="1915163"/>
          </a:xfrm>
          <a:prstGeom prst="rect">
            <a:avLst/>
          </a:prstGeom>
        </p:spPr>
      </p:pic>
      <p:graphicFrame>
        <p:nvGraphicFramePr>
          <p:cNvPr id="4" name="표 3"/>
          <p:cNvGraphicFramePr>
            <a:graphicFrameLocks noGrp="1"/>
          </p:cNvGraphicFramePr>
          <p:nvPr/>
        </p:nvGraphicFramePr>
        <p:xfrm>
          <a:off x="1465388" y="3861048"/>
          <a:ext cx="8691966" cy="1944215"/>
        </p:xfrm>
        <a:graphic>
          <a:graphicData uri="http://schemas.openxmlformats.org/drawingml/2006/table">
            <a:tbl>
              <a:tblPr>
                <a:tableStyleId>{C4B1156A-380E-4F78-BDF5-A606A8083BF9}</a:tableStyleId>
              </a:tblPr>
              <a:tblGrid>
                <a:gridCol w="1356911">
                  <a:extLst>
                    <a:ext uri="{9D8B030D-6E8A-4147-A177-3AD203B41FA5}">
                      <a16:colId xmlns:a16="http://schemas.microsoft.com/office/drawing/2014/main" val="1244400802"/>
                    </a:ext>
                  </a:extLst>
                </a:gridCol>
                <a:gridCol w="3856484">
                  <a:extLst>
                    <a:ext uri="{9D8B030D-6E8A-4147-A177-3AD203B41FA5}">
                      <a16:colId xmlns:a16="http://schemas.microsoft.com/office/drawing/2014/main" val="1653387009"/>
                    </a:ext>
                  </a:extLst>
                </a:gridCol>
                <a:gridCol w="3478571">
                  <a:extLst>
                    <a:ext uri="{9D8B030D-6E8A-4147-A177-3AD203B41FA5}">
                      <a16:colId xmlns:a16="http://schemas.microsoft.com/office/drawing/2014/main" val="1356363407"/>
                    </a:ext>
                  </a:extLst>
                </a:gridCol>
              </a:tblGrid>
              <a:tr h="388843"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600" b="1" dirty="0">
                          <a:solidFill>
                            <a:schemeClr val="bg1"/>
                          </a:solidFill>
                          <a:effectLst/>
                        </a:rPr>
                        <a:t>구분</a:t>
                      </a:r>
                    </a:p>
                  </a:txBody>
                  <a:tcPr marL="27816" marR="27816" marT="18544" marB="18544" anchor="b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600" b="1" dirty="0">
                          <a:solidFill>
                            <a:schemeClr val="bg1"/>
                          </a:solidFill>
                          <a:effectLst/>
                        </a:rPr>
                        <a:t>막대그래프</a:t>
                      </a:r>
                    </a:p>
                  </a:txBody>
                  <a:tcPr marL="27816" marR="27816" marT="18544" marB="18544" anchor="b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600" b="1" dirty="0">
                          <a:solidFill>
                            <a:schemeClr val="bg1"/>
                          </a:solidFill>
                          <a:effectLst/>
                        </a:rPr>
                        <a:t>히스토그램</a:t>
                      </a:r>
                    </a:p>
                  </a:txBody>
                  <a:tcPr marL="27816" marR="27816" marT="18544" marB="18544" anchor="b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4782737"/>
                  </a:ext>
                </a:extLst>
              </a:tr>
              <a:tr h="388843">
                <a:tc>
                  <a:txBody>
                    <a:bodyPr/>
                    <a:lstStyle/>
                    <a:p>
                      <a:pPr rtl="0" fontAlgn="b"/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데이터 유형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범주적 </a:t>
                      </a:r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</a:rPr>
                        <a:t>(</a:t>
                      </a: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종교</a:t>
                      </a:r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</a:rPr>
                        <a:t>, </a:t>
                      </a: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직업 등</a:t>
                      </a:r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</a:rPr>
                        <a:t>)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>
                          <a:solidFill>
                            <a:schemeClr val="tx1"/>
                          </a:solidFill>
                          <a:effectLst/>
                        </a:rPr>
                        <a:t>연속적 </a:t>
                      </a:r>
                      <a:r>
                        <a:rPr lang="en-US" altLang="ko-KR" sz="1600" b="1">
                          <a:solidFill>
                            <a:schemeClr val="tx1"/>
                          </a:solidFill>
                          <a:effectLst/>
                        </a:rPr>
                        <a:t>(</a:t>
                      </a:r>
                      <a:r>
                        <a:rPr lang="ko-KR" altLang="en-US" sz="1600" b="1">
                          <a:solidFill>
                            <a:schemeClr val="tx1"/>
                          </a:solidFill>
                          <a:effectLst/>
                        </a:rPr>
                        <a:t>몸무게</a:t>
                      </a:r>
                      <a:r>
                        <a:rPr lang="en-US" altLang="ko-KR" sz="1600" b="1">
                          <a:solidFill>
                            <a:schemeClr val="tx1"/>
                          </a:solidFill>
                          <a:effectLst/>
                        </a:rPr>
                        <a:t>, </a:t>
                      </a:r>
                      <a:r>
                        <a:rPr lang="ko-KR" altLang="en-US" sz="1600" b="1">
                          <a:solidFill>
                            <a:schemeClr val="tx1"/>
                          </a:solidFill>
                          <a:effectLst/>
                        </a:rPr>
                        <a:t>성적 등</a:t>
                      </a:r>
                      <a:r>
                        <a:rPr lang="en-US" altLang="ko-KR" sz="1600" b="1">
                          <a:solidFill>
                            <a:schemeClr val="tx1"/>
                          </a:solidFill>
                          <a:effectLst/>
                        </a:rPr>
                        <a:t>)</a:t>
                      </a:r>
                    </a:p>
                  </a:txBody>
                  <a:tcPr marL="0" marR="0" marT="18544" marB="18544" anchor="b"/>
                </a:tc>
                <a:extLst>
                  <a:ext uri="{0D108BD9-81ED-4DB2-BD59-A6C34878D82A}">
                    <a16:rowId xmlns:a16="http://schemas.microsoft.com/office/drawing/2014/main" val="3062187749"/>
                  </a:ext>
                </a:extLst>
              </a:tr>
              <a:tr h="388843">
                <a:tc>
                  <a:txBody>
                    <a:bodyPr/>
                    <a:lstStyle/>
                    <a:p>
                      <a:pPr rtl="0" fontAlgn="b"/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막대 순서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임의적으로 변경 가능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변경 불가능</a:t>
                      </a:r>
                    </a:p>
                  </a:txBody>
                  <a:tcPr marL="27816" marR="27816" marT="18544" marB="18544" anchor="b"/>
                </a:tc>
                <a:extLst>
                  <a:ext uri="{0D108BD9-81ED-4DB2-BD59-A6C34878D82A}">
                    <a16:rowId xmlns:a16="http://schemas.microsoft.com/office/drawing/2014/main" val="2984857083"/>
                  </a:ext>
                </a:extLst>
              </a:tr>
              <a:tr h="388843">
                <a:tc>
                  <a:txBody>
                    <a:bodyPr/>
                    <a:lstStyle/>
                    <a:p>
                      <a:pPr rtl="0" fontAlgn="b"/>
                      <a:r>
                        <a:rPr lang="ko-KR" altLang="en-US" sz="1600" b="1">
                          <a:solidFill>
                            <a:schemeClr val="tx1"/>
                          </a:solidFill>
                          <a:effectLst/>
                        </a:rPr>
                        <a:t>막대 간격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일정한 간격 유지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간격 없이 표현</a:t>
                      </a:r>
                    </a:p>
                  </a:txBody>
                  <a:tcPr marL="27816" marR="27816" marT="18544" marB="18544" anchor="b"/>
                </a:tc>
                <a:extLst>
                  <a:ext uri="{0D108BD9-81ED-4DB2-BD59-A6C34878D82A}">
                    <a16:rowId xmlns:a16="http://schemas.microsoft.com/office/drawing/2014/main" val="1216552190"/>
                  </a:ext>
                </a:extLst>
              </a:tr>
              <a:tr h="388843">
                <a:tc>
                  <a:txBody>
                    <a:bodyPr/>
                    <a:lstStyle/>
                    <a:p>
                      <a:pPr rtl="0" fontAlgn="b"/>
                      <a:r>
                        <a:rPr lang="ko-KR" altLang="en-US" sz="1600" b="1">
                          <a:solidFill>
                            <a:schemeClr val="tx1"/>
                          </a:solidFill>
                          <a:effectLst/>
                        </a:rPr>
                        <a:t>용도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범주의 비교</a:t>
                      </a:r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</a:rPr>
                        <a:t>, </a:t>
                      </a: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순위 표시 등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데이터 분포 표현</a:t>
                      </a:r>
                    </a:p>
                  </a:txBody>
                  <a:tcPr marL="0" marR="0" marT="18544" marB="18544" anchor="b"/>
                </a:tc>
                <a:extLst>
                  <a:ext uri="{0D108BD9-81ED-4DB2-BD59-A6C34878D82A}">
                    <a16:rowId xmlns:a16="http://schemas.microsoft.com/office/drawing/2014/main" val="3985453812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05780" y="561597"/>
            <a:ext cx="42931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/>
              <a:t>막대그래프 </a:t>
            </a:r>
            <a:r>
              <a:rPr lang="en-US" altLang="ko-KR" sz="2800" b="1" dirty="0"/>
              <a:t>vs. </a:t>
            </a:r>
            <a:r>
              <a:rPr lang="ko-KR" altLang="en-US" sz="2800" b="1" dirty="0"/>
              <a:t>히스토그램</a:t>
            </a:r>
          </a:p>
        </p:txBody>
      </p:sp>
    </p:spTree>
    <p:extLst>
      <p:ext uri="{BB962C8B-B14F-4D97-AF65-F5344CB8AC3E}">
        <p14:creationId xmlns:p14="http://schemas.microsoft.com/office/powerpoint/2010/main" val="41597558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22</a:t>
            </a:fld>
            <a:endParaRPr lang="en-US" altLang="ko-KR" noProof="0" dirty="0"/>
          </a:p>
        </p:txBody>
      </p:sp>
      <p:sp>
        <p:nvSpPr>
          <p:cNvPr id="5" name="AutoShape 4" descr="data:image/png;base64,iVBORw0KGgoAAAANSUhEUgAAAh8AAAGdCAYAAACyzRGfAAAAOXRFWHRTb2Z0d2FyZQBNYXRwbG90bGliIHZlcnNpb24zLjcuMSwgaHR0cHM6Ly9tYXRwbG90bGliLm9yZy/bCgiHAAAACXBIWXMAAA9hAAAPYQGoP6dpAAAjy0lEQVR4nO3df1BVdf7H8dcFBUEBQ0VgBUUzrESyXyxb61oyKDmV6bSlbmk/rAwrsx9GW6bWhGljTjOmO03+aPu1NZtaWpa/0G1FS4tR240RBjIV1DS4igkon+8fjfe7V5Afcu/nci/Px8yZ4Z7z4Xzenz5yz6tzzz3HYYwxAgAAsCTI1wUAAID2hfABAACsInwAAACrCB8AAMAqwgcAALCK8AEAAKwifAAAAKsIHwAAwKoOvi7gXHV1dTp48KAiIiLkcDh8XQ4AAGgGY4yOHz+u+Ph4BQU1fm6jzYWPgwcPKiEhwddlAACAC/DTTz+pV69ejbZpc+EjIiJC0m/FR0ZG+rgaAADQHE6nUwkJCa7jeGPaXPg4+1FLZGQk4QMAAD/TnEsmuOAUAABYRfgAAABWET4AAIBVbe6aDwAA/JUxRqdPn9aZM2d8XYpXdOzYUcHBwa3eD+EDAAAPqKmpUVlZmU6ePOnrUrzG4XCoV69e6tKlS6v2Q/gAAKCV6urqVFJSouDgYMXHxyskJCTgbpRpjNGRI0e0f/9+9e/fv1VnQAgfAAC0Uk1Njerq6pSQkKDw8HBfl+M1PXr0UGlpqWpra1sVPrjgFAAAD2nqtuL+zlNncwL7vxIAAGhzCB8AAMCqFl3zkZubq48//lg//PCDwsLC9Ic//EGvvPKKkpOTXW2GDh2qzZs3u/3egw8+qMWLF3umYgAA/EifZ9ZY66t0zkhrfbVGi858bN68WdnZ2dq2bZvWrVun2tpaZWZmqqqqyq3dpEmTVFZW5lrmzp3r0aIBAID/atGZj7Vr17q9XrZsmWJiYrRz504NGTLEtT48PFyxsbGeqRAAAASUVl3zUVlZKUmKjo52W//uu++qe/fuGjhwoHJychq94Up1dbWcTqfbAgAAvO/IkSOKjY3Vyy+/7Fq3detWhYSEaMOGDV7r94Lv81FXV6epU6fquuuu08CBA13rx40bp969eys+Pl67du3S9OnTVVhYqI8//rjB/eTm5mrWrFkXWkZAau7ng/7y2R4AoG3q0aOHlixZolGjRikzM1PJycm66667NGXKFA0bNsxr/V5w+MjOztaePXv01Vdfua1/4IEHXD+npKQoLi5Ow4YNU3Fxsfr161dvPzk5OZo2bZrrtdPpVEJCwoWWBQAAWuCmm27SpEmTNH78eF199dXq3LmzcnNzvdrnBYWPKVOmaPXq1dqyZYt69erVaNu0tDRJUlFRUYPhIzQ0VKGhoRdSBgAA8IBXX31VAwcO1EcffaSdO3d6/bjcoms+jDGaMmWKVqxYoY0bNyopKanJ3ykoKJAkxcXFXVCBAADAu4qLi3Xw4EHV1dWptLTU6/216MxHdna23nvvPa1atUoREREqLy+XJEVFRSksLEzFxcV67733dNNNN6lbt27atWuXHn/8cQ0ZMkSDBg3yygAAAMCFq6mp0V/+8hfdcccdSk5O1v3336/du3crJibGa322KHwsWrRI0m83EvtfS5cu1cSJExUSEqL169drwYIFqqqqUkJCgsaMGaPnnnvOYwUDAADP+etf/6rKykq9/vrr6tKliz777DPde++9Wr16tdf6bFH4MMY0uj0hIaHe3U0BAGjP2vI3E/Py8rRgwQJt2rRJkZGRkqS///3vSk1N1aJFizR58mSv9HvB33YBAAD+bejQoaqtrXVb16dPH9d9vLyFB8sBAACrCB8AAMAqwgcAALCK8AEAAKwifAAAAKsIHwAAwCrCBwAAsIrwAQAArCJ8AAAAq7jDKQAA3jQzymJf3r0zqadw5gMAAFhF+AAAoJ16++231a1bN1VXV7utHzVqlO666y6v9Uv4AACgnbr99tt15swZffLJJ651hw8f1po1a3Tvvfd6rV/CBwAA7VRYWJjGjRunpUuXuta98847SkxM1NChQ73WL+EDAIB2bNKkSfryyy914MABSdKyZcs0ceJEORwOr/XJt10AAGjHBg8erNTUVL399tvKzMzU999/rzVr1ni1T8IHAADt3P33368FCxbowIEDysjIUEJCglf742MXAADauXHjxmn//v168803vXqh6VmEDwAA2rmoqCiNGTNGXbp00ahRo7zeHx+7AADgTX5y19EDBw5o/PjxCg0N9XpfhA8AANqxX375RXl5ecrLy9Mbb7xhpU/CBwAA7djgwYP1yy+/6JVXXlFycrKVPgkfAAC0Y6Wlpdb75IJTAABgFeEDAABYRfgAAABWET4AAIBVhA8AAGAV4QMAAFhF+AAAAFZxnw8AALwoZXmKtb52T9htra/W4MwHAACwivABAEA7VVpaKofDUW8ZOnSoV/vlYxcAANqphIQElZWVuV6Xl5crIyNDQ4YM8Wq/hA8AANqp4OBgxcbGSpJOnTqlUaNGKT09XTNnzvRqv4QPoK2aGeXFfVd6b9+tYPPCvHP5y4V6gLfce++9On78uNatW6egIO9elUH4AACgnXvppZf0xRdf6Ouvv1ZERITX+yN8AADQjv3zn//U7Nmz9fnnn6tfv35W+iR8AADQTu3Zs0d33323pk+frssvv1zl5eWSpJCQEEVHR3utX75qCwBAO7Vjxw6dPHlSL730kuLi4lzL6NGjvdovZz4AAPCitnwx88SJEzVx4kTr/XLmAwAAWEX4AAAAVhE+AACAVYQPAABgFeEDAABYRfgAAMBDjDG+LsGrPDU+wgcAAK3UsWNHSdLJkyd9XIl31dTUSPrtgXStwX0+AABopeDgYHXt2lWHDx+WJIWHh8vhcPi4Ks+qq6vTkSNHFB4erg4dWhcfCB8AAHjA2UfTnw0ggSgoKEiJiYmtDlaEDwAAPMDhcCguLk4xMTGqra31dTleERISoqCg1l+xQfgAAMCDgoODW31NRKDjglMAAGAV4QMAAFhF+AAAAFYRPgAAgFWEDwAAYBXhAwAAWNWi8JGbm6trrrlGERERiomJ0ahRo1RYWOjW5tSpU8rOzla3bt3UpUsXjRkzRocOHfJo0QAAwH+1KHxs3rxZ2dnZ2rZtm9atW6fa2lplZmaqqqrK1ebxxx/Xp59+qo8++kibN2/WwYMHNXr0aI8XDgAA/FOLbjK2du1at9fLli1TTEyMdu7cqSFDhqiyslJvvfWW3nvvPd14442SpKVLl+rSSy/Vtm3b9Pvf/95zlQMAAL/Uqms+KisrJUnR0dGSpJ07d6q2tlYZGRmuNgMGDFBiYqLy8/Nb0xUAAAgQF3x79bq6Ok2dOlXXXXedBg4cKEkqLy9XSEiIunbt6ta2Z8+eKi8vb3A/1dXVqq6udr12Op0XWhIAAPADFxw+srOztWfPHn311VetKiA3N1ezZs1q1T4AeE7K8hRflwAgwF3Qxy5TpkzR6tWrtWnTJvXq1cu1PjY2VjU1NaqoqHBrf+jQIdejhs+Vk5OjyspK1/LTTz9dSEkAAMBPtCh8GGM0ZcoUrVixQhs3blRSUpLb9quuukodO3bUhg0bXOsKCwu1b98+paenN7jP0NBQRUZGui0AACBwtehjl+zsbL333ntatWqVIiIiXNdxREVFKSwsTFFRUbrvvvs0bdo0RUdHKzIyUo888ojS09P5pgsAAJDUwvCxaNEiSdLQoUPd1i9dulQTJ06UJL322msKCgrSmDFjVF1dreHDh+uNN97wSLEAAMD/tSh8GGOabNOpUyctXLhQCxcuvOCiAABA4OLZLgAAwCrCBwAAsIrwAQAArCJ8AAAAqwgfAADAKsIHAACwivABAACsInwAAACrLviptgAAz/Hl04R3T9jts77RPnHmAwAAWEX4AAAAVhE+AACAVYQPAABgFeEDAABYRfgAAABWET4AAIBVhA8AAGAV4QMAAFhF+AAAAFYRPgAAgFWEDwAAYBXhAwAAWEX4AAAAVhE+AACAVYQPAABgFeEDAABYRfgAAABWET4AAIBVhA8AAGAV4QMAAFhF+AAAAFYRPgAAgFWEDwAAYBXhAwAAWEX4AAAAVhE+AACAVR18XQAuXJ9n1jSrXemckV6upI2bGeXFfVd6b98AEKA48wEAAKwifAAAAKsIHwAAwCrCBwAAsIrwAQAArCJ8AAAAqwgfAADAKsIHAACwivABAACsInwAAACrCB8AAMAqwgcAALCK8AEAAKwifAAAAKsIHwAAwCrCBwAAsIrwAQAArCJ8AAAAqwgfAADAKsIHAACwivABAACsInwAAACrCB8AAMCqFoePLVu26Oabb1Z8fLwcDodWrlzptn3ixIlyOBxuy4gRIzxVLwAA8HMtDh9VVVVKTU3VwoULz9tmxIgRKisrcy3vv/9+q4oEAACBo0NLfyErK0tZWVmNtgkNDVVsbOwFFwUAAAKXV675yMvLU0xMjJKTkzV58mQdPXr0vG2rq6vldDrdFgAAELhafOajKSNGjNDo0aOVlJSk4uJiPfvss8rKylJ+fr6Cg4Prtc/NzdWsWbM8XQYAtEjK8hRflwC0Gx4PH3feeafr55SUFA0aNEj9+vVTXl6ehg0bVq99Tk6Opk2b5nrtdDqVkJDg6bIAAEAb4fWv2vbt21fdu3dXUVFRg9tDQ0MVGRnptgAAgMDl9fCxf/9+HT16VHFxcd7uCgAA+IEWf+xy4sQJt7MYJSUlKigoUHR0tKKjozVr1iyNGTNGsbGxKi4u1tNPP62LL75Yw4cP92jhAADAP7U4fOzYsUM33HCD6/XZ6zUmTJigRYsWadeuXVq+fLkqKioUHx+vzMxMvfjiiwoNDfVc1QAAwG+1OHwMHTpUxpjzbv/iiy9aVRAAAAhsPNsFAABYRfgAAABWET4AAIBVhA8AAGAV4QMAAFhF+AAAAFYRPgAAgFUef7Ac0K7MjPJ1BQDgdzjzAQAArCJ8AAAAqwgfAADAKsIHAACwivABAACsInwAAACrCB8AAMAqwgcAALCK8AEAAKwifAAAAKsIHwAAwCrCBwAAsIrwAQAArOKpthb1eWaNr0sAAMDnOPMBAACsInwAAACrCB8AAMAqwgcAALCK8AEAAKwifAAAAKsIHwAAwCrCBwAAsIrwAQAArCJ8AAAAqwgfAADAKsIHAACwivABAACsInwAAACrCB8AAMAqwgcAALCK8AEAAKwifAAAAKsIHwAAwCrCBwAAsIrwAQAArCJ8AAAAqwgfAADAKsIHAACwivABAACsInwAAACrCB8AAMCqDr4uAN7X55k1zW5bOmekFytpxMwo3/TbXjX23zsp0V4dANolznwAAACrCB8AAMAqwgcAALCK8AEAAKwifAAAAKsIHwAAwCrCBwAAsIrwAQAArCJ8AAAAq1ocPrZs2aKbb75Z8fHxcjgcWrlypdt2Y4xmzJihuLg4hYWFKSMjQ3v37vVUvQAAwM+1OHxUVVUpNTVVCxcubHD73Llz9frrr2vx4sXavn27OnfurOHDh+vUqVOtLhYAAPi/Fj/bJSsrS1lZWQ1uM8ZowYIFeu6553TrrbdKkt5++2317NlTK1eu1J133tm6agEAgN/z6DUfJSUlKi8vV0ZGhmtdVFSU0tLSlJ+f3+DvVFdXy+l0ui0AACBweTR8lJeXS5J69uzptr5nz56ubefKzc1VVFSUa0lISPBkSQAAoI3x+bddcnJyVFlZ6Vp++uknX5cEAAC8yKPhIzY2VpJ06NAht/WHDh1ybTtXaGioIiMj3RYAABC4PBo+kpKSFBsbqw0bNrjWOZ1Obd++Xenp6Z7sCgAA+KkWf9vlxIkTKioqcr0uKSlRQUGBoqOjlZiYqKlTp+qll15S//79lZSUpOeff17x8fEaNWqUJ+sGAAB+qsXhY8eOHbrhhhtcr6dNmyZJmjBhgpYtW6ann35aVVVVeuCBB1RRUaHrr79ea9euVadOnTxXNQAA8FstDh9Dhw6VMea82x0Oh2bPnq3Zs2e3qjAAABCYfP5tFwAA0L4QPgAAgFWEDwAAYBXhAwAAWEX4AAAAVhE+AACAVYQPAABgFeEDAABY1eKbjCGw9XlmzXm3lXYaZ7ESAECg4swHAACwivABAACsInwAAACrCB8AAMAqwgcAALCK8AEAAKwifAAAAKsIHwAAwCrCBwAAsIrwAQAArCJ8AAAAqwgfAADAKsIHAACwiqfankdjT3cFAHhGyvIUn/W9e8Jun/Xd3nHmAwAAWEX4AAAAVhE+AACAVYQPAABgFeEDAABYRfgAAABWET4AAIBVhA8AAGAV4QMAAFhF+AAAAFYRPgAAgFWEDwAAYBXhAwAAWEX4AAAAVhE+AACAVYQPAABgFeEDAABYRfgAAABWET4AAIBVhA8AAGAV4QMAAFhF+AAAAFYRPgAAgFWEDwAAYBXhAwAAWEX4AAAAVhE+AACAVR18XQCA+lKSEn1dAgB4DWc+AACAVYQPAABgFeEDAABYRfgAAABWET4AAIBVhA8AAGAV4QMAAFhF+AAAAFYRPgAAgFUeDx8zZ86Uw+FwWwYMGODpbgAAgJ/yyu3VL7/8cq1fv/7/O+nAXdwBAMBvvJIKOnTooNjYWG/sGgAA+DmvXPOxd+9excfHq2/fvho/frz27dt33rbV1dVyOp1uCwAACFweP/ORlpamZcuWKTk5WWVlZZo1a5b++Mc/as+ePYqIiKjXPjc3V7NmzfJ0GQCAZkpZnuLrEtDOOIwxxpsdVFRUqHfv3po/f77uu+++eturq6tVXV3teu10OpWQkKDKykpFRkZ6s7RG9Xlmjc/6bqtKO43zdQntRkpSoq9LAALe7gm7fV1CQHE6nYqKimrW8dvrV4J27dpVl1xyiYqKihrcHhoaqtDQUG+XAQAA2giv3+fjxIkTKi4uVlxcnLe7AgAAfsDj4ePJJ5/U5s2bVVpaqq1bt+q2225TcHCwxo4d6+muAACAH/L4xy779+/X2LFjdfToUfXo0UPXX3+9tm3bph49eni6KwAA4Ic8Hj4++OADT+8SAAAEEJ7tAgAArCJ8AAAAqwgfAADAKsIHAACwivABAACsInwAAACrCB8AAMAqrz/bBXbx8DcAQFvHmQ8AAGAV4QMAAFhF+AAAAFYRPgAAgFWEDwAAYBXhAwAAWEX4AAAAVhE+AACAVYQPAABgFeEDAABYRfgAAABWET4AAIBVhA8AAGBVu3uqbZ9n1vi6BPiBlKREX5cAAAGLMx8AAMAqwgcAALCK8AEAAKwifAAAAKsIHwAAwCrCBwAAsIrwAQAArCJ8AAAAqwgfAADAKsIHAACwivABAACsInwAAACrCB8AAMCqdvdUWwAA2oKU5Sk+63v3hN0+61vizAcAALCM8AEAAKwifAAAAKsIHwAAwCrCBwAAsIrwAQAArCJ8AAAAqwgfAADAKsIHAACwivABAACsInwAAACrCB8AAMAqwgcAALCKp9r6QGmncb4uAQAAn+HMBwAAsIrwAQAArCJ8AAAAqwgfAADAKsIHAACwivABAACsInwAAACrCB8AAMAqwgcAALDKa+Fj4cKF6tOnjzp16qS0tDR9/fXX3uoKAAD4Ea+Ej3/84x+aNm2aXnjhBX377bdKTU3V8OHDdfjwYW90BwAA/IhXwsf8+fM1adIk3XPPPbrsssu0ePFihYeHa8mSJd7oDgAA+BGPP1iupqZGO3fuVE5OjmtdUFCQMjIylJ+fX699dXW1qqurXa8rKyslSU6n09OlSZLqqk96Zb8t4XQYX5eAJpz59YyvSwDgZd46zjSXL99nvDH2s/s0puljnMfDx88//6wzZ86oZ8+ebut79uypH374oV773NxczZo1q976hIQET5fWZkT5ugA0w399XQAAL4ua3H7fjb059uPHjysqqvH9ezx8tFROTo6mTZvmel1XV6djx46pW7ducjgcTf6+0+lUQkKCfvrpJ0VGRnqzVJ8I9PFJgT/GQB+fFPhjDPTxSYwxEPh6fMYYHT9+XPHx8U229Xj46N69u4KDg3Xo0CG39YcOHVJsbGy99qGhoQoNDXVb17Vr1xb3GxkZGZD/mM4K9PFJgT/GQB+fFPhjDPTxSYwxEPhyfE2d8TjL4xechoSE6KqrrtKGDRtc6+rq6rRhwwalp6d7ujsAAOBnvPKxy7Rp0zRhwgRdffXVuvbaa7VgwQJVVVXpnnvu8UZ3AADAj3glfNxxxx06cuSIZsyYofLycl1xxRVau3ZtvYtQPSE0NFQvvPBCvY9uAkWgj08K/DEG+vikwB9joI9PYoyBwJ/G5zDN+U4MAACAh/BsFwAAYBXhAwAAWEX4AAAAVhE+AACAVX4RPnJzc3XNNdcoIiJCMTExGjVqlAoLC93aDB06VA6Hw2156KGHfFRxy8ycObNe7QMGDHBtP3XqlLKzs9WtWzd16dJFY8aMqXcTt7auT58+9cbocDiUnZ0tyT/nb8uWLbr55psVHx8vh8OhlStXum03xmjGjBmKi4tTWFiYMjIytHfvXrc2x44d0/jx4xUZGamuXbvqvvvu04kTJyyO4vwaG19tba2mT5+ulJQUde7cWfHx8br77rt18OBBt300NO9z5syxPJLza2oOJ06cWK/+ESNGuLXx1zmU1ODfpMPh0Lx581xt2vIcNufY0Jz3z3379mnkyJEKDw9XTEyMnnrqKZ0+fdrmUM6rqTEeO3ZMjzzyiJKTkxUWFqbExEQ9+uijruekndXQPH/wwQe2h+PiF+Fj8+bNys7O1rZt27Ru3TrV1tYqMzNTVVVVbu0mTZqksrIy1zJ37lwfVdxyl19+uVvtX331lWvb448/rk8//VQfffSRNm/erIMHD2r06NE+rLblvvnmG7fxrVu3TpJ0++23u9r42/xVVVUpNTVVCxcubHD73Llz9frrr2vx4sXavn27OnfurOHDh+vUqVOuNuPHj9f333+vdevWafXq1dqyZYseeOABW0NoVGPjO3nypL799ls9//zz+vbbb/Xxxx+rsLBQt9xyS722s2fPdpvXRx55xEb5zdLUHErSiBEj3Op///333bb76xxKchtXWVmZlixZIofDoTFjxri1a6tz2JxjQ1Pvn2fOnNHIkSNVU1OjrVu3avny5Vq2bJlmzJjhiyHV09QYDx48qIMHD+rVV1/Vnj17tGzZMq1du1b33XdfvX0tXbrUbR5HjRpleTT/w/ihw4cPG0lm8+bNrnV/+tOfzGOPPea7olrhhRdeMKmpqQ1uq6ioMB07djQfffSRa91///tfI8nk5+dbqtDzHnvsMdOvXz9TV1dnjPHv+TPGGElmxYoVrtd1dXUmNjbWzJs3z7WuoqLChIaGmvfff98YY8x//vMfI8l88803rjaff/65cTgc5sCBA9Zqb45zx9eQr7/+2kgyP/74o2td7969zWuvvebd4jykoTFOmDDB3Hrrref9nUCbw1tvvdXceOONbuv8aQ7PPTY05/3zs88+M0FBQaa8vNzVZtGiRSYyMtJUV1fbHUAzNHT8O9eHH35oQkJCTG1trWtdc+bfJr8483Gus6eToqOj3da/++676t69uwYOHKicnBydPHnSF+VdkL179yo+Pl59+/bV+PHjtW/fPknSzp07VVtbq4yMDFfbAQMGKDExUfn5+b4qt1Vqamr0zjvv6N5773V7eKA/z9+5SkpKVF5e7jZvUVFRSktLc81bfn6+unbtqquvvtrVJiMjQ0FBQdq+fbv1mlursrJSDoej3rOZ5syZo27dumnw4MGaN29emzmd3Vx5eXmKiYlRcnKyJk+erKNHj7q2BdIcHjp0SGvWrGnw/5j9ZQ7PPTY05/0zPz9fKSkpbjfBHD58uJxOp77//nuL1TfP+Y5/57aJjIxUhw7u9xHNzs5W9+7dde2112rJkiUyPrzNl8+fattSdXV1mjp1qq677joNHDjQtX7cuHHq3bu34uPjtWvXLk2fPl2FhYX6+OOPfVht86SlpWnZsmVKTk5WWVmZZs2apT/+8Y/as2ePysvLFRISUu8NvWfPniovL/dNwa20cuVKVVRUaOLEia51/jx/DTk7N+fe1fd/5628vFwxMTFu2zt06KDo6Gi/m9tTp05p+vTpGjt2rNsDrR599FFdeeWVio6O1tatW5WTk6OysjLNnz/fh9U234gRIzR69GglJSWpuLhYzz77rLKyspSfn6/g4OCAmsPly5crIiKi3ke6/jKHDR0bmvP+WV5e3uDf6dltbcn5jn//6+eff9aLL75Y76O/2bNn68Ybb1R4eLi+/PJLPfzwwzpx4oQeffRRG6XX43fhIzs7W3v27HG7JkKS23/olJQUxcXFadiwYSouLla/fv1sl9kiWVlZrp8HDRqktLQ09e7dWx9++KHCwsJ8WJl3vPXWW8rKynJ77LI/z197V1tbqz//+c8yxmjRokVu26ZNm+b6edCgQQoJCdGDDz6o3Nxcv7gF9J133un6OSUlRYMGDVK/fv2Ul5enYcOG+bAyz1uyZInGjx+vTp06ua33lzk837EhkDQ1RqfTqZEjR+qyyy7TzJkz3bY9//zzrp8HDx6sqqoqzZs3z2fhw68+dpkyZYpWr16tTZs2qVevXo22TUtLkyQVFRXZKM2junbtqksuuURFRUWKjY1VTU2NKioq3NocOnRIsbGxvimwFX788UetX79e999/f6Pt/Hn+JLnm5tyr6v933mJjY3X48GG37adPn9axY8f8Zm7PBo8ff/xR69ata/Ix3mlpaTp9+rRKS0vtFOhhffv2Vffu3V3/LgNhDiXpX//6lwoLC5v8u5Ta5hye79jQnPfP2NjYBv9Oz25rK5o6/h0/flwjRoxQRESEVqxYoY4dOza6v7S0NO3fv1/V1dXeKrlRfhE+jDGaMmWKVqxYoY0bNyopKanJ3ykoKJAkxcXFebk6zztx4oSKi4sVFxenq666Sh07dtSGDRtc2wsLC7Vv3z6lp6f7sMoLs3TpUsXExGjkyJGNtvPn+ZOkpKQkxcbGus2b0+nU9u3bXfOWnp6uiooK7dy509Vm48aNqqurc4Wvtuxs8Ni7d6/Wr1+vbt26Nfk7BQUFCgoKqvdRhb/Yv3+/jh496vp36e9zeNZbb72lq666SqmpqU22bUtz2NSxoTnvn+np6dq9e7dbiDwbpC+77DI7A2lEc45/TqdTmZmZCgkJ0SeffFLv7FVDCgoKdNFFF/nu7JVPL3dtpsmTJ5uoqCiTl5dnysrKXMvJkyeNMcYUFRWZ2bNnmx07dpiSkhKzatUq07dvXzNkyBAfV948TzzxhMnLyzMlJSXm3//+t8nIyDDdu3c3hw8fNsYY89BDD5nExESzceNGs2PHDpOenm7S09N9XHXLnTlzxiQmJprp06e7rffX+Tt+/Lj57rvvzHfffWckmfnz55vvvvvO9W2POXPmmK5du5pVq1aZXbt2mVtvvdUkJSWZX3/91bWPESNGmMGDB5vt27ebr776yvTv39+MHTvWV0Ny09j4ampqzC233GJ69eplCgoK3P4uz35DYOvWrea1114zBQUFpri42LzzzjumR48e5u677/bxyP5fY2M8fvy4efLJJ01+fr4pKSkx69evN1deeaXp37+/OXXqlGsf/jqHZ1VWVprw8HCzaNGier/f1uewqWODMU2/f54+fdoMHDjQZGZmmoKCArN27VrTo0cPk5OT44sh1dPUGCsrK01aWppJSUkxRUVFbm1Onz5tjDHmk08+MW+++abZvXu32bt3r3njjTdMeHi4mTFjhs/G5RfhQ1KDy9KlS40xxuzbt88MGTLEREdHm9DQUHPxxRebp556ylRWVvq28Ga64447TFxcnAkJCTG/+93vzB133GGKiopc23/99Vfz8MMPm4suusiEh4eb2267zZSVlfmw4gvzxRdfGEmmsLDQbb2/zt+mTZsa/Hc5YcIEY8xvX7d9/vnnTc+ePU1oaKgZNmxYvbEfPXrUjB071nTp0sVERkaae+65xxw/ftwHo6mvsfGVlJSc9+9y06ZNxhhjdu7cadLS0kxUVJTp1KmTufTSS83LL7/sduD2tcbGePLkSZOZmWl69OhhOnbsaHr37m0mTZrk9pVMY/x3Ds/629/+ZsLCwkxFRUW932/rc9jUscGY5r1/lpaWmqysLBMWFma6d+9unnjiCbevqfpSU2M83xxLMiUlJcaY377+fcUVV5guXbqYzp07m9TUVLN48WJz5swZn43LYYwPv2sDAADaHb+45gMAAAQOwgcAALCK8AEAAKwifAAAAKsIHwAAwCrCBwAAsIrwAQAArCJ8AAAAqwgfAADAKsIHAACwivABAACsInwAAACr/g845e00T7s4mQAAAABJRU5ErkJggg==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4292" y="3307169"/>
            <a:ext cx="4248472" cy="3231744"/>
          </a:xfrm>
          <a:prstGeom prst="rect">
            <a:avLst/>
          </a:prstGeom>
        </p:spPr>
      </p:pic>
      <p:cxnSp>
        <p:nvCxnSpPr>
          <p:cNvPr id="10" name="직선 화살표 연결선 9"/>
          <p:cNvCxnSpPr/>
          <p:nvPr/>
        </p:nvCxnSpPr>
        <p:spPr>
          <a:xfrm>
            <a:off x="3718148" y="4828848"/>
            <a:ext cx="936104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2479E9B6-AEDE-A09F-991A-84F0FB1AE6B6}"/>
              </a:ext>
            </a:extLst>
          </p:cNvPr>
          <p:cNvSpPr txBox="1"/>
          <p:nvPr/>
        </p:nvSpPr>
        <p:spPr>
          <a:xfrm>
            <a:off x="539248" y="3121223"/>
            <a:ext cx="249195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https://github.com/ancestor9/data/blob/main/human_data.csv</a:t>
            </a:r>
            <a:r>
              <a:rPr lang="en-US" altLang="ko-KR" sz="1400" dirty="0"/>
              <a:t> </a:t>
            </a:r>
            <a:endParaRPr lang="ko-KR" altLang="en-US" sz="1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0399B9-AF54-C910-A13C-D40D1153F65A}"/>
              </a:ext>
            </a:extLst>
          </p:cNvPr>
          <p:cNvSpPr txBox="1"/>
          <p:nvPr/>
        </p:nvSpPr>
        <p:spPr>
          <a:xfrm>
            <a:off x="539248" y="817140"/>
            <a:ext cx="11233248" cy="217886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아래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데이터소스에서 키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,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몸무게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,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수입의 값을 </a:t>
            </a: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표준화하여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 </a:t>
            </a: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시각화하라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  <a:cs typeface="Microsoft Sans Serif" panose="020B0604020202020204" pitchFamily="34" charset="0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표준화한다는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 것은 변수의 관측치에서 각 변수의 평균을 차감한 값을 표준편차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(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분산의 </a:t>
            </a: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제곱루트값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)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으로 나는 값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(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standardization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)</a:t>
            </a: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https://scikit-learn.org/stable/modules/preprocessing.html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 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각 변수를 평균과 표준편차로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scaling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하면 평균과 </a:t>
            </a: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표준펀차는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 각각 어떤 값인가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?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모든 변수의 값이 동일해지는 것 아닌가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?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왜 이래야 하는지 설명하라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(</a:t>
            </a:r>
            <a:r>
              <a:rPr lang="ko-KR" altLang="en-US" sz="1400" b="1" dirty="0" err="1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위키독스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0585A69-A12C-9BEB-2306-1F039B9994C6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CF042584-37CF-E8F0-E53C-E8A550C3620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6567" y="3644443"/>
            <a:ext cx="2491956" cy="2728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3038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C0ABB7-015C-EA60-AE67-EB5B7EFA2A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2588D0C-D165-B12D-75F2-1D842BABD2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23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A14C18F-0BF4-B8CD-C528-D6B8CA38FA96}"/>
              </a:ext>
            </a:extLst>
          </p:cNvPr>
          <p:cNvSpPr txBox="1"/>
          <p:nvPr/>
        </p:nvSpPr>
        <p:spPr>
          <a:xfrm>
            <a:off x="765820" y="1196752"/>
            <a:ext cx="11233248" cy="1692771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수치형 변수 값의 서로 크기가 다른 경우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scaling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하는 방법과 그 이유를 토론하라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(Data scaling)</a:t>
            </a: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from </a:t>
            </a:r>
            <a:r>
              <a:rPr lang="en-US" altLang="ko-KR" sz="160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sklearn.datasets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 import </a:t>
            </a:r>
            <a:r>
              <a:rPr lang="en-US" altLang="ko-KR" sz="160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fetch_california_housing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ko-KR" altLang="en-US" sz="1600" dirty="0">
                <a:latin typeface="Microsoft Sans Serif" panose="020B0604020202020204" pitchFamily="34" charset="0"/>
                <a:cs typeface="Microsoft Sans Serif" panose="020B0604020202020204" pitchFamily="34" charset="0"/>
              </a:rPr>
              <a:t>의 데이터의 변수 중 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"</a:t>
            </a:r>
            <a:r>
              <a:rPr lang="en-US" altLang="ko-KR" sz="160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MedInc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", "</a:t>
            </a:r>
            <a:r>
              <a:rPr lang="en-US" altLang="ko-KR" sz="160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AveOccup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“ </a:t>
            </a:r>
            <a:r>
              <a:rPr lang="ko-KR" altLang="en-US" sz="1600" dirty="0">
                <a:latin typeface="Microsoft Sans Serif" panose="020B0604020202020204" pitchFamily="34" charset="0"/>
                <a:cs typeface="Microsoft Sans Serif" panose="020B0604020202020204" pitchFamily="34" charset="0"/>
              </a:rPr>
              <a:t>에 대한 </a:t>
            </a:r>
            <a:r>
              <a:rPr lang="en-US" altLang="ko-KR" sz="160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joinplot</a:t>
            </a:r>
            <a:r>
              <a:rPr lang="ko-KR" altLang="en-US" sz="1600" dirty="0">
                <a:latin typeface="Microsoft Sans Serif" panose="020B0604020202020204" pitchFamily="34" charset="0"/>
                <a:cs typeface="Microsoft Sans Serif" panose="020B0604020202020204" pitchFamily="34" charset="0"/>
              </a:rPr>
              <a:t>을 </a:t>
            </a:r>
            <a:r>
              <a:rPr lang="ko-KR" altLang="en-US" sz="1600" dirty="0" err="1">
                <a:latin typeface="Microsoft Sans Serif" panose="020B0604020202020204" pitchFamily="34" charset="0"/>
                <a:cs typeface="Microsoft Sans Serif" panose="020B0604020202020204" pitchFamily="34" charset="0"/>
              </a:rPr>
              <a:t>시각화하라</a:t>
            </a:r>
            <a:endParaRPr lang="en-US" altLang="ko-KR" sz="1600" dirty="0">
              <a:latin typeface="Microsoft Sans Serif" panose="020B0604020202020204" pitchFamily="34" charset="0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  <a:hlinkClick r:id="rId3"/>
              </a:rPr>
              <a:t>https://scikit-learn.org/stable/auto_examples/preprocessing/plot_all_scaling.html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ko-KR" altLang="en-US" sz="1600" dirty="0">
                <a:latin typeface="Microsoft Sans Serif" panose="020B0604020202020204" pitchFamily="34" charset="0"/>
                <a:ea typeface="휴먼모음T" panose="02030504000101010101" pitchFamily="18" charset="-127"/>
                <a:cs typeface="Microsoft Sans Serif" panose="020B0604020202020204" pitchFamily="34" charset="0"/>
              </a:rPr>
              <a:t>자료원을 이해하고 평균과 분산이 각각 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0</a:t>
            </a:r>
            <a:r>
              <a:rPr lang="ko-KR" altLang="en-US" sz="1600" dirty="0">
                <a:latin typeface="Microsoft Sans Serif" panose="020B0604020202020204" pitchFamily="34" charset="0"/>
                <a:ea typeface="휴먼모음T" panose="02030504000101010101" pitchFamily="18" charset="-127"/>
                <a:cs typeface="Microsoft Sans Serif" panose="020B0604020202020204" pitchFamily="34" charset="0"/>
              </a:rPr>
              <a:t>과 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1</a:t>
            </a:r>
            <a:r>
              <a:rPr lang="ko-KR" altLang="en-US" sz="1600" dirty="0">
                <a:latin typeface="Microsoft Sans Serif" panose="020B0604020202020204" pitchFamily="34" charset="0"/>
                <a:ea typeface="휴먼모음T" panose="02030504000101010101" pitchFamily="18" charset="-127"/>
                <a:cs typeface="Microsoft Sans Serif" panose="020B0604020202020204" pitchFamily="34" charset="0"/>
              </a:rPr>
              <a:t>인 형태로 표준화한 후 시각화 코드를 만들어라</a:t>
            </a:r>
            <a:endParaRPr lang="en-US" altLang="ko-KR" sz="1600" dirty="0">
              <a:latin typeface="Microsoft Sans Serif" panose="020B0604020202020204" pitchFamily="34" charset="0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EFAF701-284C-70AF-92CD-BC198F2692BF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6B84B2-6748-8B22-DF87-D721C684FB56}"/>
              </a:ext>
            </a:extLst>
          </p:cNvPr>
          <p:cNvSpPr txBox="1"/>
          <p:nvPr/>
        </p:nvSpPr>
        <p:spPr>
          <a:xfrm rot="591990">
            <a:off x="9669996" y="327099"/>
            <a:ext cx="227469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Data</a:t>
            </a:r>
            <a:r>
              <a:rPr lang="ko-KR" altLang="en-US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Preprocessing</a:t>
            </a:r>
            <a:r>
              <a:rPr lang="ko-KR" altLang="en-US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endParaRPr lang="ko-KR" altLang="en-US" sz="2400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93FDC10D-0ECC-61AF-BAA4-FDDE182E73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58191" y="3123294"/>
            <a:ext cx="7338745" cy="32287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60312638-28F9-BF4D-6E96-78C8B376D2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509" y="3135035"/>
            <a:ext cx="3240360" cy="33132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370986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24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1924" y="404664"/>
            <a:ext cx="8656065" cy="6025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9630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25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765820" y="764704"/>
            <a:ext cx="788087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기술 통계분석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(Descriptive Statistics </a:t>
            </a:r>
            <a:r>
              <a:rPr lang="en-US" altLang="ko-KR" sz="2800" b="1" dirty="0" err="1">
                <a:solidFill>
                  <a:srgbClr val="313131"/>
                </a:solidFill>
                <a:latin typeface="PT Sans"/>
              </a:rPr>
              <a:t>Analyssis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)</a:t>
            </a:r>
            <a:endParaRPr lang="ko-KR" altLang="en-US" sz="2800" b="1" dirty="0"/>
          </a:p>
        </p:txBody>
      </p:sp>
      <p:sp>
        <p:nvSpPr>
          <p:cNvPr id="3" name="직사각형 2"/>
          <p:cNvSpPr/>
          <p:nvPr/>
        </p:nvSpPr>
        <p:spPr>
          <a:xfrm>
            <a:off x="1053852" y="1988840"/>
            <a:ext cx="10945216" cy="25545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solidFill>
                  <a:srgbClr val="040C28"/>
                </a:solidFill>
                <a:latin typeface="Apple SD Gothic Neo"/>
              </a:rPr>
              <a:t>모집단으로부터 수집된 데이터를 잘 요약하여 모집단에 대하여 유용한 정보를 생산</a:t>
            </a: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한다</a:t>
            </a:r>
            <a:r>
              <a:rPr lang="en-US" altLang="ko-KR" sz="2000" dirty="0">
                <a:solidFill>
                  <a:srgbClr val="202124"/>
                </a:solidFill>
                <a:latin typeface="Apple SD Gothic Neo"/>
              </a:rPr>
              <a:t>. 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 err="1">
                <a:solidFill>
                  <a:srgbClr val="202124"/>
                </a:solidFill>
                <a:latin typeface="Apple SD Gothic Neo"/>
              </a:rPr>
              <a:t>기술통계</a:t>
            </a: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 분석에서는 데이터를 그래프</a:t>
            </a:r>
            <a:r>
              <a:rPr lang="en-US" altLang="ko-KR" sz="2000" dirty="0">
                <a:solidFill>
                  <a:srgbClr val="202124"/>
                </a:solidFill>
                <a:latin typeface="Apple SD Gothic Neo"/>
              </a:rPr>
              <a:t>, </a:t>
            </a: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표 또는 </a:t>
            </a:r>
            <a:r>
              <a:rPr lang="ko-KR" altLang="en-US" sz="2000" dirty="0" err="1">
                <a:solidFill>
                  <a:srgbClr val="202124"/>
                </a:solidFill>
                <a:latin typeface="Apple SD Gothic Neo"/>
              </a:rPr>
              <a:t>대표값을</a:t>
            </a: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 나타내는 숫자</a:t>
            </a:r>
            <a:r>
              <a:rPr lang="en-US" altLang="ko-KR" sz="2000" dirty="0">
                <a:solidFill>
                  <a:srgbClr val="202124"/>
                </a:solidFill>
                <a:latin typeface="Apple SD Gothic Neo"/>
              </a:rPr>
              <a:t>(</a:t>
            </a: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통계량</a:t>
            </a:r>
            <a:r>
              <a:rPr lang="en-US" altLang="ko-KR" sz="2000" dirty="0">
                <a:solidFill>
                  <a:srgbClr val="202124"/>
                </a:solidFill>
                <a:latin typeface="Apple SD Gothic Neo"/>
              </a:rPr>
              <a:t>)</a:t>
            </a: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로 요약한다</a:t>
            </a:r>
            <a:r>
              <a:rPr lang="en-US" altLang="ko-KR" sz="2000" dirty="0">
                <a:solidFill>
                  <a:srgbClr val="202124"/>
                </a:solidFill>
                <a:latin typeface="Apple SD Gothic Neo"/>
              </a:rPr>
              <a:t>. 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우리는 실생활에서 많은 </a:t>
            </a:r>
            <a:r>
              <a:rPr lang="ko-KR" altLang="en-US" sz="2000" dirty="0" err="1">
                <a:solidFill>
                  <a:srgbClr val="202124"/>
                </a:solidFill>
                <a:latin typeface="Apple SD Gothic Neo"/>
              </a:rPr>
              <a:t>기술통계</a:t>
            </a: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 분석 자료를 접할 수 있다</a:t>
            </a:r>
            <a:r>
              <a:rPr lang="en-US" altLang="ko-KR" sz="2000" dirty="0">
                <a:solidFill>
                  <a:srgbClr val="202124"/>
                </a:solidFill>
                <a:latin typeface="Apple SD Gothic Neo"/>
              </a:rPr>
              <a:t>.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8922932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26</a:t>
            </a:fld>
            <a:endParaRPr lang="en-US" altLang="ko-KR" noProof="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940" y="548680"/>
            <a:ext cx="8628091" cy="5919689"/>
          </a:xfrm>
          <a:prstGeom prst="rect">
            <a:avLst/>
          </a:prstGeom>
        </p:spPr>
      </p:pic>
      <p:sp>
        <p:nvSpPr>
          <p:cNvPr id="2" name="생각 풍선: 구름 모양 1">
            <a:extLst>
              <a:ext uri="{FF2B5EF4-FFF2-40B4-BE49-F238E27FC236}">
                <a16:creationId xmlns:a16="http://schemas.microsoft.com/office/drawing/2014/main" id="{56BC5627-DFAA-4A07-6F45-923AA7F59A88}"/>
              </a:ext>
            </a:extLst>
          </p:cNvPr>
          <p:cNvSpPr/>
          <p:nvPr/>
        </p:nvSpPr>
        <p:spPr>
          <a:xfrm>
            <a:off x="8578688" y="1916832"/>
            <a:ext cx="1512168" cy="864096"/>
          </a:xfrm>
          <a:prstGeom prst="cloudCallout">
            <a:avLst>
              <a:gd name="adj1" fmla="val -30623"/>
              <a:gd name="adj2" fmla="val 11087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평균</a:t>
            </a:r>
            <a:r>
              <a:rPr lang="en-US" altLang="ko-KR" sz="1200" dirty="0"/>
              <a:t>, </a:t>
            </a:r>
            <a:r>
              <a:rPr lang="ko-KR" altLang="en-US" sz="1200" dirty="0" err="1"/>
              <a:t>중간값의</a:t>
            </a:r>
            <a:r>
              <a:rPr lang="ko-KR" altLang="en-US" sz="1200" dirty="0"/>
              <a:t> 위치</a:t>
            </a:r>
            <a:r>
              <a:rPr lang="en-US" altLang="ko-KR" sz="1200" dirty="0"/>
              <a:t>?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3974590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27</a:t>
            </a:fld>
            <a:endParaRPr lang="en-US" altLang="ko-KR" noProof="0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3932" y="620688"/>
            <a:ext cx="8719541" cy="6022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98269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28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9969" y="486232"/>
            <a:ext cx="8387629" cy="5897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59871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BCA93F-9320-AA29-DD22-5787CD1AE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1A2493F5-ADD2-781F-744F-D8FF12673258}"/>
              </a:ext>
            </a:extLst>
          </p:cNvPr>
          <p:cNvSpPr txBox="1"/>
          <p:nvPr/>
        </p:nvSpPr>
        <p:spPr>
          <a:xfrm>
            <a:off x="405780" y="980728"/>
            <a:ext cx="8857288" cy="2531783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OpenML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사이트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https://www.openml.org/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아래 데이터를 아래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4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가지의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다양한 방법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데이터셋으로 읽고 어떤 데이터인지 설명하라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solidFill>
                  <a:srgbClr val="00206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openml</a:t>
            </a:r>
            <a:endParaRPr lang="en-US" altLang="ko-KR" dirty="0">
              <a:solidFill>
                <a:srgbClr val="002060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solidFill>
                  <a:srgbClr val="00206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fetch_openml</a:t>
            </a:r>
            <a:r>
              <a:rPr lang="en-US" altLang="ko-KR" dirty="0">
                <a:solidFill>
                  <a:srgbClr val="00206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solidFill>
                  <a:srgbClr val="00206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StringIO</a:t>
            </a:r>
            <a:endParaRPr lang="en-US" altLang="ko-KR" dirty="0">
              <a:solidFill>
                <a:srgbClr val="002060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solidFill>
                  <a:srgbClr val="00206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requests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738F9A0-959B-A2DA-6277-877D961F5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29</a:t>
            </a:fld>
            <a:endParaRPr lang="en-US" altLang="ko-KR" noProof="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7ACA04B-7389-DE25-6A6A-317F1EF3D6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0196" y="2987299"/>
            <a:ext cx="7560123" cy="336905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7F17DC6-950A-BBDC-960D-D80166D2563D}"/>
              </a:ext>
            </a:extLst>
          </p:cNvPr>
          <p:cNvSpPr txBox="1"/>
          <p:nvPr/>
        </p:nvSpPr>
        <p:spPr>
          <a:xfrm>
            <a:off x="117748" y="260648"/>
            <a:ext cx="116652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/>
              <a:t>탐색적 데이터 분석</a:t>
            </a:r>
            <a:r>
              <a:rPr lang="en-US" altLang="ko-KR" sz="2400" b="1" dirty="0"/>
              <a:t>(EDA,</a:t>
            </a:r>
            <a:r>
              <a:rPr lang="ko-KR" altLang="en-US" sz="2400" b="1" dirty="0"/>
              <a:t> </a:t>
            </a:r>
            <a:r>
              <a:rPr lang="en-US" altLang="ko-KR" sz="2400" b="1" dirty="0"/>
              <a:t>Exploratory Data Analysis) </a:t>
            </a:r>
            <a:r>
              <a:rPr lang="ko-KR" altLang="en-US" sz="2400" b="1" dirty="0"/>
              <a:t>보고서</a:t>
            </a:r>
            <a:r>
              <a:rPr lang="en-US" altLang="ko-KR" sz="2400" b="1" dirty="0"/>
              <a:t> </a:t>
            </a:r>
            <a:r>
              <a:rPr lang="ko-KR" altLang="en-US" sz="2400" b="1" dirty="0"/>
              <a:t>작성 제출</a:t>
            </a:r>
          </a:p>
        </p:txBody>
      </p:sp>
    </p:spTree>
    <p:extLst>
      <p:ext uri="{BB962C8B-B14F-4D97-AF65-F5344CB8AC3E}">
        <p14:creationId xmlns:p14="http://schemas.microsoft.com/office/powerpoint/2010/main" val="14416683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D3F69F-E43B-7CC4-1ECD-36748A2B4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809C201-F750-02C2-A1C2-BF6226876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30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7A5864-91EC-5347-032F-4FE872A33215}"/>
              </a:ext>
            </a:extLst>
          </p:cNvPr>
          <p:cNvSpPr txBox="1"/>
          <p:nvPr/>
        </p:nvSpPr>
        <p:spPr>
          <a:xfrm>
            <a:off x="578034" y="2504214"/>
            <a:ext cx="3528392" cy="3651705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통계 분석 항목 정리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각 변수별로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)</a:t>
            </a:r>
            <a:endParaRPr lang="ko-KR" altLang="en-US" sz="1600" dirty="0"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대표값</a:t>
            </a:r>
            <a:endParaRPr lang="ko-KR" altLang="en-US" sz="1400" dirty="0"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평균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중앙값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최빈값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산포</a:t>
            </a: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범위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=</a:t>
            </a: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(Q1, Q2, Q3) =</a:t>
            </a: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사분위범위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=</a:t>
            </a: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90%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백분위수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=</a:t>
            </a: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분산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표준편차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) =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분포의 왜곡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왜도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=,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첨도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=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ECF6EA-DEAE-4795-F874-9CE0D7015196}"/>
              </a:ext>
            </a:extLst>
          </p:cNvPr>
          <p:cNvSpPr txBox="1"/>
          <p:nvPr/>
        </p:nvSpPr>
        <p:spPr>
          <a:xfrm>
            <a:off x="117748" y="260648"/>
            <a:ext cx="116652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/>
              <a:t>탐색적 데이터 분석</a:t>
            </a:r>
            <a:r>
              <a:rPr lang="en-US" altLang="ko-KR" sz="2400" b="1" dirty="0"/>
              <a:t>(EDA,</a:t>
            </a:r>
            <a:r>
              <a:rPr lang="ko-KR" altLang="en-US" sz="2400" b="1" dirty="0"/>
              <a:t> </a:t>
            </a:r>
            <a:r>
              <a:rPr lang="en-US" altLang="ko-KR" sz="2400" b="1" dirty="0"/>
              <a:t>Exploratory Data Analysis) </a:t>
            </a:r>
            <a:r>
              <a:rPr lang="ko-KR" altLang="en-US" sz="2400" b="1" dirty="0"/>
              <a:t>보고서</a:t>
            </a:r>
            <a:r>
              <a:rPr lang="en-US" altLang="ko-KR" sz="2400" b="1" dirty="0"/>
              <a:t> </a:t>
            </a:r>
            <a:r>
              <a:rPr lang="ko-KR" altLang="en-US" sz="2400" b="1" dirty="0"/>
              <a:t>작성 제출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808693-1E55-0781-D2A1-A9480DE4EEA4}"/>
              </a:ext>
            </a:extLst>
          </p:cNvPr>
          <p:cNvSpPr txBox="1"/>
          <p:nvPr/>
        </p:nvSpPr>
        <p:spPr>
          <a:xfrm>
            <a:off x="4291962" y="5472890"/>
            <a:ext cx="7779113" cy="707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Tip) </a:t>
            </a:r>
            <a:r>
              <a:rPr lang="ko-KR" altLang="en-US" sz="1400" dirty="0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관련 </a:t>
            </a:r>
            <a:r>
              <a:rPr lang="en-US" altLang="ko-KR" sz="1400" dirty="0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Excel </a:t>
            </a:r>
            <a:r>
              <a:rPr lang="ko-KR" altLang="en-US" sz="1400" dirty="0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함수 </a:t>
            </a:r>
            <a:r>
              <a:rPr lang="en-US" altLang="ko-KR" sz="1400" dirty="0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: average, median, quartile, percentile, var, </a:t>
            </a:r>
            <a:r>
              <a:rPr lang="en-US" altLang="ko-KR" sz="1400" dirty="0" err="1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stdev</a:t>
            </a:r>
            <a:r>
              <a:rPr lang="en-US" altLang="ko-KR" sz="1400" dirty="0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, skew, </a:t>
            </a:r>
            <a:r>
              <a:rPr lang="en-US" altLang="ko-KR" sz="1400" dirty="0" err="1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kurt</a:t>
            </a:r>
            <a:endParaRPr lang="en-US" altLang="ko-KR" sz="1400" dirty="0">
              <a:solidFill>
                <a:srgbClr val="FF0000"/>
              </a:solidFill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Kaggle</a:t>
            </a:r>
            <a:r>
              <a:rPr lang="ko-KR" altLang="en-US" sz="1400" dirty="0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sz="1400" dirty="0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“EDA”</a:t>
            </a:r>
            <a:r>
              <a:rPr lang="ko-KR" altLang="en-US" sz="1400" dirty="0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를 검색하여 실습하기</a:t>
            </a:r>
            <a:endParaRPr lang="en-US" altLang="ko-KR" sz="1400" dirty="0">
              <a:solidFill>
                <a:srgbClr val="FF0000"/>
              </a:solidFill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FC09FA-4707-6BAA-E32E-50CA0C207202}"/>
              </a:ext>
            </a:extLst>
          </p:cNvPr>
          <p:cNvSpPr txBox="1"/>
          <p:nvPr/>
        </p:nvSpPr>
        <p:spPr>
          <a:xfrm>
            <a:off x="4654252" y="2504214"/>
            <a:ext cx="6264696" cy="244560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시각화 분석 정리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범주형 변수의 시각화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수치형변수의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 시각화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왜곡된 변수를 </a:t>
            </a: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전처리하는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 방법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가지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을 통해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histogram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 만들기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50000"/>
              </a:lnSpc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① 로그 변환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(Log Transformation)</a:t>
            </a:r>
          </a:p>
          <a:p>
            <a:pPr lvl="2">
              <a:lnSpc>
                <a:spcPct val="150000"/>
              </a:lnSpc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② 루트 변환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(Square Root Transformation)</a:t>
            </a:r>
          </a:p>
          <a:p>
            <a:pPr lvl="2">
              <a:lnSpc>
                <a:spcPct val="150000"/>
              </a:lnSpc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③ 박스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-</a:t>
            </a: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콕스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변환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(Box-Cox Transformation)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0FD051A-8425-178B-88DC-EAB75F302C95}"/>
              </a:ext>
            </a:extLst>
          </p:cNvPr>
          <p:cNvSpPr txBox="1"/>
          <p:nvPr/>
        </p:nvSpPr>
        <p:spPr>
          <a:xfrm>
            <a:off x="487656" y="1046300"/>
            <a:ext cx="11213512" cy="1035092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본격적인 모델링이나 가설 검정에 들어가기 전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데이터를 다각도로 관찰하여 데이터의 특징을 이해하는 과정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마치 요리를 하기 전 재료의 상태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신선도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양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종류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를 꼼꼼히 살피는 것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gemini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canvas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기능을 사용하여 보고서 작성하라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615691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31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9956" y="1052736"/>
            <a:ext cx="7484337" cy="189064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B4FC484-5BB5-9B69-79F6-68BC7DC90471}"/>
              </a:ext>
            </a:extLst>
          </p:cNvPr>
          <p:cNvSpPr txBox="1"/>
          <p:nvPr/>
        </p:nvSpPr>
        <p:spPr>
          <a:xfrm>
            <a:off x="1989956" y="3573016"/>
            <a:ext cx="892899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Multivariate</a:t>
            </a:r>
            <a:r>
              <a:rPr lang="ko-KR" altLang="en-US" sz="4000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sz="40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Analysis</a:t>
            </a:r>
            <a:r>
              <a:rPr lang="en-US" altLang="ko-KR" sz="2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</a:t>
            </a:r>
            <a:r>
              <a:rPr lang="ko-KR" altLang="en-US" sz="2400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다변량</a:t>
            </a:r>
            <a:r>
              <a:rPr lang="ko-KR" altLang="en-US" sz="2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분석</a:t>
            </a:r>
            <a:r>
              <a:rPr lang="en-US" altLang="ko-KR" sz="2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)</a:t>
            </a:r>
            <a:endParaRPr lang="ko-KR" altLang="en-US" sz="4000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891824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32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916" y="476672"/>
            <a:ext cx="8932152" cy="57648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19251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33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916" y="620688"/>
            <a:ext cx="8992459" cy="5683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98320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34</a:t>
            </a:fld>
            <a:endParaRPr lang="en-US" altLang="ko-KR" noProof="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3932" y="371014"/>
            <a:ext cx="8751898" cy="6002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37229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35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1924" y="293380"/>
            <a:ext cx="8737599" cy="60629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59876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36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828" y="1484784"/>
            <a:ext cx="10115376" cy="3816424"/>
          </a:xfrm>
          <a:prstGeom prst="rect">
            <a:avLst/>
          </a:prstGeom>
        </p:spPr>
      </p:pic>
      <p:sp>
        <p:nvSpPr>
          <p:cNvPr id="4" name="직사각형 3"/>
          <p:cNvSpPr/>
          <p:nvPr/>
        </p:nvSpPr>
        <p:spPr>
          <a:xfrm>
            <a:off x="666947" y="764704"/>
            <a:ext cx="10885572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2400" b="1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same-stats-different-graphs</a:t>
            </a:r>
            <a:r>
              <a:rPr lang="ko-KR" altLang="en-US" sz="2400" b="1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886952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FDEC9-FA2F-7CCE-CE59-AE80A24B34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91897282-23D0-A72E-342F-8E7999F1EC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37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FCF0685-BBD1-E592-25B3-B4F5567F4086}"/>
              </a:ext>
            </a:extLst>
          </p:cNvPr>
          <p:cNvSpPr txBox="1"/>
          <p:nvPr/>
        </p:nvSpPr>
        <p:spPr>
          <a:xfrm>
            <a:off x="765820" y="1196752"/>
            <a:ext cx="11233248" cy="559127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colab</a:t>
            </a:r>
            <a:r>
              <a:rPr lang="ko-KR" altLang="en-US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dirty="0" err="1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ancombe.json</a:t>
            </a:r>
            <a:r>
              <a:rPr lang="en-US" altLang="ko-KR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파일을 사용하여 각 그룹별로 </a:t>
            </a:r>
            <a:r>
              <a:rPr lang="en-US" altLang="ko-KR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X,Y </a:t>
            </a:r>
            <a:r>
              <a:rPr lang="ko-KR" altLang="en-US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변수의 평균</a:t>
            </a:r>
            <a:r>
              <a:rPr lang="en-US" altLang="ko-KR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분산</a:t>
            </a:r>
            <a:r>
              <a:rPr lang="en-US" altLang="ko-KR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표준편차</a:t>
            </a:r>
            <a:r>
              <a:rPr lang="en-US" altLang="ko-KR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상관계수를 구하라 　</a:t>
            </a:r>
            <a:endParaRPr lang="en-US" altLang="ko-KR" dirty="0">
              <a:latin typeface="Arial Narrow" panose="020B0606020202030204" pitchFamily="34" charset="0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CB0648-AB52-0AAA-34D3-9C941014D918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3F82E8F-3482-730A-992D-6C02C324B6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820" y="2076088"/>
            <a:ext cx="6768752" cy="4206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07735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47DCE2-17C1-A611-9B45-2FD6CF81B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76F4523-1057-C68A-630F-8E420669DA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38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96F71B-9CAC-A913-6B18-46452EB8146D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  <a:r>
              <a:rPr lang="en-US" altLang="ko-KR" sz="3200" b="1" dirty="0"/>
              <a:t>(</a:t>
            </a:r>
            <a:r>
              <a:rPr lang="ko-KR" altLang="en-US" sz="3200" b="1" dirty="0"/>
              <a:t>시각화</a:t>
            </a:r>
            <a:r>
              <a:rPr lang="en-US" altLang="ko-KR" sz="3200" b="1" dirty="0"/>
              <a:t>, Data </a:t>
            </a:r>
            <a:r>
              <a:rPr lang="en-US" altLang="ko-KR" sz="3200" b="1" dirty="0" err="1"/>
              <a:t>Visulalization</a:t>
            </a:r>
            <a:r>
              <a:rPr lang="en-US" altLang="ko-KR" sz="3200" b="1" dirty="0"/>
              <a:t>)</a:t>
            </a:r>
            <a:endParaRPr lang="ko-KR" altLang="en-US" sz="32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6EFABEB-78B2-B23E-2790-1B3F29C1E80E}"/>
              </a:ext>
            </a:extLst>
          </p:cNvPr>
          <p:cNvSpPr txBox="1"/>
          <p:nvPr/>
        </p:nvSpPr>
        <p:spPr>
          <a:xfrm>
            <a:off x="909836" y="875966"/>
            <a:ext cx="10945216" cy="564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/>
              <a:t>통계량</a:t>
            </a:r>
            <a:r>
              <a:rPr lang="en-US" altLang="ko-KR" dirty="0"/>
              <a:t>(Statistic)</a:t>
            </a:r>
            <a:r>
              <a:rPr lang="ko-KR" altLang="en-US" dirty="0"/>
              <a:t>을 이해하지 못하면 시각화는 하지 마라</a:t>
            </a:r>
          </a:p>
        </p:txBody>
      </p:sp>
      <p:pic>
        <p:nvPicPr>
          <p:cNvPr id="8" name="Picture 2">
            <a:extLst>
              <a:ext uri="{FF2B5EF4-FFF2-40B4-BE49-F238E27FC236}">
                <a16:creationId xmlns:a16="http://schemas.microsoft.com/office/drawing/2014/main" id="{252B00A0-9CCA-2DC8-5D52-7E4F521D40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69876" y="1503630"/>
            <a:ext cx="6005581" cy="53012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007407D-3A2F-D569-3261-4544F333AD66}"/>
              </a:ext>
            </a:extLst>
          </p:cNvPr>
          <p:cNvSpPr txBox="1"/>
          <p:nvPr/>
        </p:nvSpPr>
        <p:spPr>
          <a:xfrm>
            <a:off x="8398668" y="2132856"/>
            <a:ext cx="3600400" cy="1713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latin typeface="휴먼모음T" panose="02030504000101010101" pitchFamily="18" charset="-127"/>
                <a:ea typeface="휴먼모음T" panose="02030504000101010101" pitchFamily="18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scatterplot_matrix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3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가지 </a:t>
            </a:r>
            <a:r>
              <a:rPr lang="ko-KR" altLang="en-US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팽귄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종류를 분류하기에 가장 적합한 변수는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  <a:endParaRPr lang="ko-KR" altLang="en-US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05585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4D16F6-7474-0121-A593-4FFCAB276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A9F9F47C-27FD-9CEF-3979-F65879F2E9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39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72F220C-21BC-1459-94F6-3A6F69259CDA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  <a:r>
              <a:rPr lang="en-US" altLang="ko-KR" sz="3200" b="1" dirty="0"/>
              <a:t>(</a:t>
            </a:r>
            <a:r>
              <a:rPr lang="ko-KR" altLang="en-US" sz="3200" b="1" dirty="0"/>
              <a:t>시각화</a:t>
            </a:r>
            <a:r>
              <a:rPr lang="en-US" altLang="ko-KR" sz="3200" b="1" dirty="0"/>
              <a:t>, Data </a:t>
            </a:r>
            <a:r>
              <a:rPr lang="en-US" altLang="ko-KR" sz="3200" b="1" dirty="0" err="1"/>
              <a:t>Visulalization</a:t>
            </a:r>
            <a:r>
              <a:rPr lang="en-US" altLang="ko-KR" sz="3200" b="1" dirty="0"/>
              <a:t>)</a:t>
            </a:r>
            <a:endParaRPr lang="ko-KR" altLang="en-US" sz="3200" b="1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63C7418-EE55-3D57-35E0-08BCF0C87E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85900" y="2183879"/>
            <a:ext cx="2601763" cy="38912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F95D30F-E506-07F9-234A-D3315788FF0A}"/>
              </a:ext>
            </a:extLst>
          </p:cNvPr>
          <p:cNvSpPr txBox="1"/>
          <p:nvPr/>
        </p:nvSpPr>
        <p:spPr>
          <a:xfrm>
            <a:off x="909836" y="875966"/>
            <a:ext cx="10945216" cy="564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/>
              <a:t>seaborn</a:t>
            </a:r>
            <a:r>
              <a:rPr lang="ko-KR" altLang="en-US" dirty="0"/>
              <a:t> </a:t>
            </a:r>
            <a:r>
              <a:rPr lang="en-US" altLang="ko-KR" dirty="0"/>
              <a:t>gallery</a:t>
            </a:r>
            <a:r>
              <a:rPr lang="ko-KR" altLang="en-US" dirty="0"/>
              <a:t>의 시각화 예제 중에서 아래 그림을 평균</a:t>
            </a:r>
            <a:r>
              <a:rPr lang="en-US" altLang="ko-KR" dirty="0"/>
              <a:t>, </a:t>
            </a:r>
            <a:r>
              <a:rPr lang="ko-KR" altLang="en-US" dirty="0"/>
              <a:t>분산</a:t>
            </a:r>
            <a:r>
              <a:rPr lang="en-US" altLang="ko-KR" dirty="0"/>
              <a:t>, </a:t>
            </a:r>
            <a:r>
              <a:rPr lang="ko-KR" altLang="en-US" dirty="0" err="1"/>
              <a:t>왜도</a:t>
            </a:r>
            <a:r>
              <a:rPr lang="en-US" altLang="ko-KR" dirty="0"/>
              <a:t>, </a:t>
            </a:r>
            <a:r>
              <a:rPr lang="ko-KR" altLang="en-US" dirty="0"/>
              <a:t>분포 등의 관점으로 설명하라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3E569E3-FF38-E843-B65D-8620B27A6958}"/>
              </a:ext>
            </a:extLst>
          </p:cNvPr>
          <p:cNvSpPr txBox="1"/>
          <p:nvPr/>
        </p:nvSpPr>
        <p:spPr>
          <a:xfrm>
            <a:off x="1478577" y="6062681"/>
            <a:ext cx="24482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 err="1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multiple_bivariate_kde</a:t>
            </a:r>
            <a:endParaRPr lang="ko-KR" altLang="en-US" sz="1200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17B773A7-108D-FBA2-F491-2BAE9A5FB8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34372" y="2183879"/>
            <a:ext cx="4276725" cy="3457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F0EEF0A-F549-0076-BF6F-BC261F9085FC}"/>
              </a:ext>
            </a:extLst>
          </p:cNvPr>
          <p:cNvSpPr txBox="1"/>
          <p:nvPr/>
        </p:nvSpPr>
        <p:spPr>
          <a:xfrm>
            <a:off x="5740007" y="5768228"/>
            <a:ext cx="14478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 err="1"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multiple_regression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41268704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51A57-7963-F069-6B19-C29EE8FDC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B301409-FC0B-93A1-E3C6-44BC789229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40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F30D26D-A9D0-2236-36E0-A89E242D0C0C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  <a:r>
              <a:rPr lang="en-US" altLang="ko-KR" sz="3200" b="1" dirty="0"/>
              <a:t>(</a:t>
            </a:r>
            <a:r>
              <a:rPr lang="ko-KR" altLang="en-US" sz="3200" b="1" dirty="0"/>
              <a:t>시각화</a:t>
            </a:r>
            <a:r>
              <a:rPr lang="en-US" altLang="ko-KR" sz="3200" b="1" dirty="0"/>
              <a:t>, Data </a:t>
            </a:r>
            <a:r>
              <a:rPr lang="en-US" altLang="ko-KR" sz="3200" b="1" dirty="0" err="1"/>
              <a:t>Visulalization</a:t>
            </a:r>
            <a:r>
              <a:rPr lang="en-US" altLang="ko-KR" sz="3200" b="1" dirty="0"/>
              <a:t>)</a:t>
            </a:r>
            <a:endParaRPr lang="ko-KR" altLang="en-US" sz="3200" b="1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39087298-9315-D2FD-7110-FBB0AC9CF6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7868" y="1412775"/>
            <a:ext cx="5112568" cy="5147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EA7B01D-0855-07B6-72C7-06A99023DDC7}"/>
              </a:ext>
            </a:extLst>
          </p:cNvPr>
          <p:cNvSpPr txBox="1"/>
          <p:nvPr/>
        </p:nvSpPr>
        <p:spPr>
          <a:xfrm>
            <a:off x="1169518" y="1043443"/>
            <a:ext cx="550095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https://seaborn.pydata.org/examples/joint_kde.html</a:t>
            </a:r>
            <a:r>
              <a:rPr lang="en-US" altLang="ko-KR" sz="1400" dirty="0"/>
              <a:t> </a:t>
            </a:r>
            <a:endParaRPr lang="ko-KR" altLang="en-US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D119D07-2A4F-882B-ECB2-939FE65B77D8}"/>
              </a:ext>
            </a:extLst>
          </p:cNvPr>
          <p:cNvSpPr txBox="1"/>
          <p:nvPr/>
        </p:nvSpPr>
        <p:spPr>
          <a:xfrm>
            <a:off x="6814492" y="1517966"/>
            <a:ext cx="5256584" cy="48578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각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species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별로 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x,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y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축의 각각 변수의 평균과 분산을 구하라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x,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y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의 </a:t>
            </a: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변수간의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공분산을 구하라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분산이나 공분산이 커지면 모양새는 어떻게 변하나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낙도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(remote island)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 무엇인가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팽권의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3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종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(species)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를 분류하기에 가장 좋은 변수는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x, y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중에서 무엇인지 결정하라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분류를 결정하는 변수의 어떤 특정 값이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3 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종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(species)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을 분류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(classification)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하는데 최적인가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657086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1764D3-A67A-791D-965C-7310444EC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8513452-4DAF-C356-4425-F660DCC788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41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F19938-A90F-375E-27C2-72092386179F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  <a:r>
              <a:rPr lang="en-US" altLang="ko-KR" sz="3200" b="1" dirty="0"/>
              <a:t>(</a:t>
            </a:r>
            <a:r>
              <a:rPr lang="ko-KR" altLang="en-US" sz="3200" b="1" dirty="0"/>
              <a:t>시각화</a:t>
            </a:r>
            <a:r>
              <a:rPr lang="en-US" altLang="ko-KR" sz="3200" b="1" dirty="0"/>
              <a:t>, Data </a:t>
            </a:r>
            <a:r>
              <a:rPr lang="en-US" altLang="ko-KR" sz="3200" b="1" dirty="0" err="1"/>
              <a:t>Visulalization</a:t>
            </a:r>
            <a:r>
              <a:rPr lang="en-US" altLang="ko-KR" sz="3200" b="1" dirty="0"/>
              <a:t>)</a:t>
            </a:r>
            <a:endParaRPr lang="ko-KR" altLang="en-US" sz="32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36D5AE-6B05-6BD7-F072-47EF5DA8845E}"/>
              </a:ext>
            </a:extLst>
          </p:cNvPr>
          <p:cNvSpPr txBox="1"/>
          <p:nvPr/>
        </p:nvSpPr>
        <p:spPr>
          <a:xfrm>
            <a:off x="909836" y="875966"/>
            <a:ext cx="10945216" cy="564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/>
              <a:t>X </a:t>
            </a:r>
            <a:r>
              <a:rPr lang="ko-KR" altLang="en-US" dirty="0"/>
              <a:t>값이 </a:t>
            </a:r>
            <a:r>
              <a:rPr lang="en-US" altLang="ko-KR" dirty="0"/>
              <a:t>1, 2, 3, 4, 5</a:t>
            </a:r>
            <a:r>
              <a:rPr lang="ko-KR" altLang="en-US" dirty="0"/>
              <a:t>인 각각의 데이터는 </a:t>
            </a:r>
            <a:r>
              <a:rPr lang="en-US" altLang="ko-KR" dirty="0"/>
              <a:t>Cluster 1</a:t>
            </a:r>
            <a:r>
              <a:rPr lang="ko-KR" altLang="en-US" dirty="0"/>
              <a:t>과 </a:t>
            </a:r>
            <a:r>
              <a:rPr lang="en-US" altLang="ko-KR" dirty="0"/>
              <a:t>2</a:t>
            </a:r>
            <a:r>
              <a:rPr lang="ko-KR" altLang="en-US" dirty="0"/>
              <a:t>중에 어디에 속할까</a:t>
            </a:r>
            <a:r>
              <a:rPr lang="en-US" altLang="ko-KR" dirty="0"/>
              <a:t>? </a:t>
            </a:r>
            <a:r>
              <a:rPr lang="ko-KR" altLang="en-US" dirty="0"/>
              <a:t>아래 시각화 그림에 대해 토론하라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8ADED97D-C059-95E9-07DA-83222A58FF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3811" y="1772816"/>
            <a:ext cx="5174579" cy="4162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C5116981-B925-82D4-DCF6-0327245A30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8060" y="1772816"/>
            <a:ext cx="4152856" cy="4162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68EFD0E-4783-C6CA-E610-AAA578315B5F}"/>
              </a:ext>
            </a:extLst>
          </p:cNvPr>
          <p:cNvSpPr txBox="1"/>
          <p:nvPr/>
        </p:nvSpPr>
        <p:spPr>
          <a:xfrm>
            <a:off x="1172929" y="2068106"/>
            <a:ext cx="2689235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from </a:t>
            </a:r>
            <a:r>
              <a:rPr lang="en-US" altLang="ko-KR" sz="900" dirty="0" err="1">
                <a:solidFill>
                  <a:schemeClr val="bg1"/>
                </a:solidFill>
                <a:latin typeface="Arial Narrow" panose="020B0606020202030204" pitchFamily="34" charset="0"/>
              </a:rPr>
              <a:t>scipy.stats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 import </a:t>
            </a:r>
            <a:r>
              <a:rPr lang="en-US" altLang="ko-KR" sz="900" dirty="0" err="1">
                <a:solidFill>
                  <a:schemeClr val="bg1"/>
                </a:solidFill>
                <a:latin typeface="Arial Narrow" panose="020B0606020202030204" pitchFamily="34" charset="0"/>
              </a:rPr>
              <a:t>multivariate_normal</a:t>
            </a:r>
            <a:endParaRPr lang="en-US" altLang="ko-KR" sz="900" dirty="0">
              <a:solidFill>
                <a:schemeClr val="bg1"/>
              </a:solidFill>
              <a:latin typeface="Arial Narrow" panose="020B0606020202030204" pitchFamily="34" charset="0"/>
            </a:endParaRPr>
          </a:p>
          <a:p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# </a:t>
            </a:r>
            <a:r>
              <a:rPr lang="ko-KR" altLang="en-US" sz="900" dirty="0">
                <a:solidFill>
                  <a:schemeClr val="bg1"/>
                </a:solidFill>
                <a:latin typeface="Arial Narrow" panose="020B0606020202030204" pitchFamily="34" charset="0"/>
              </a:rPr>
              <a:t>클러스터 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1: </a:t>
            </a:r>
            <a:r>
              <a:rPr lang="ko-KR" altLang="en-US" sz="900" dirty="0">
                <a:solidFill>
                  <a:schemeClr val="bg1"/>
                </a:solidFill>
                <a:latin typeface="Arial Narrow" panose="020B0606020202030204" pitchFamily="34" charset="0"/>
              </a:rPr>
              <a:t>중심 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(1, 1), </a:t>
            </a:r>
            <a:r>
              <a:rPr lang="ko-KR" altLang="en-US" sz="900" dirty="0">
                <a:solidFill>
                  <a:schemeClr val="bg1"/>
                </a:solidFill>
                <a:latin typeface="Arial Narrow" panose="020B0606020202030204" pitchFamily="34" charset="0"/>
              </a:rPr>
              <a:t>원형 분포 </a:t>
            </a:r>
            <a:endParaRPr lang="en-US" altLang="ko-KR" sz="900" dirty="0">
              <a:solidFill>
                <a:schemeClr val="bg1"/>
              </a:solidFill>
              <a:latin typeface="Arial Narrow" panose="020B0606020202030204" pitchFamily="34" charset="0"/>
            </a:endParaRPr>
          </a:p>
          <a:p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rv1 = </a:t>
            </a:r>
            <a:r>
              <a:rPr lang="en-US" altLang="ko-KR" sz="900" dirty="0" err="1">
                <a:solidFill>
                  <a:schemeClr val="bg1"/>
                </a:solidFill>
                <a:latin typeface="Arial Narrow" panose="020B0606020202030204" pitchFamily="34" charset="0"/>
              </a:rPr>
              <a:t>multivariate_normal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([1, 1], [[0.5, 0], [0, 0.5]]) </a:t>
            </a:r>
          </a:p>
          <a:p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# </a:t>
            </a:r>
            <a:r>
              <a:rPr lang="ko-KR" altLang="en-US" sz="900" dirty="0">
                <a:solidFill>
                  <a:schemeClr val="bg1"/>
                </a:solidFill>
                <a:latin typeface="Arial Narrow" panose="020B0606020202030204" pitchFamily="34" charset="0"/>
              </a:rPr>
              <a:t>클러스터 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2: </a:t>
            </a:r>
            <a:r>
              <a:rPr lang="ko-KR" altLang="en-US" sz="900" dirty="0">
                <a:solidFill>
                  <a:schemeClr val="bg1"/>
                </a:solidFill>
                <a:latin typeface="Arial Narrow" panose="020B0606020202030204" pitchFamily="34" charset="0"/>
              </a:rPr>
              <a:t>중심 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(3, 3), </a:t>
            </a:r>
            <a:r>
              <a:rPr lang="ko-KR" altLang="en-US" sz="900" dirty="0">
                <a:solidFill>
                  <a:schemeClr val="bg1"/>
                </a:solidFill>
                <a:latin typeface="Arial Narrow" panose="020B0606020202030204" pitchFamily="34" charset="0"/>
              </a:rPr>
              <a:t>타원 분포 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(</a:t>
            </a:r>
            <a:r>
              <a:rPr lang="ko-KR" altLang="en-US" sz="900" dirty="0">
                <a:solidFill>
                  <a:schemeClr val="bg1"/>
                </a:solidFill>
                <a:latin typeface="Arial Narrow" panose="020B0606020202030204" pitchFamily="34" charset="0"/>
              </a:rPr>
              <a:t>공분산 활용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) </a:t>
            </a:r>
          </a:p>
          <a:p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rv2 = </a:t>
            </a:r>
            <a:r>
              <a:rPr lang="en-US" altLang="ko-KR" sz="900" dirty="0" err="1">
                <a:solidFill>
                  <a:schemeClr val="bg1"/>
                </a:solidFill>
                <a:latin typeface="Arial Narrow" panose="020B0606020202030204" pitchFamily="34" charset="0"/>
              </a:rPr>
              <a:t>multivariate_normal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([3, 3], [[1.5, 0.8], [0.8, 0.6]]) </a:t>
            </a:r>
            <a:endParaRPr lang="ko-KR" altLang="en-US" sz="900" dirty="0">
              <a:solidFill>
                <a:schemeClr val="bg1"/>
              </a:solidFill>
              <a:latin typeface="Arial Narrow" panose="020B0606020202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954597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25FE7E-2B7D-A71D-4FD2-830B605E65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880AE1D-BFBF-DF84-0F66-5CF026310B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42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AF0CA0-5595-AC6D-B083-3EBAE23A9614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  <a:r>
              <a:rPr lang="en-US" altLang="ko-KR" sz="3200" b="1" dirty="0"/>
              <a:t>(</a:t>
            </a:r>
            <a:r>
              <a:rPr lang="ko-KR" altLang="en-US" sz="3200" b="1" dirty="0"/>
              <a:t>시각화</a:t>
            </a:r>
            <a:r>
              <a:rPr lang="en-US" altLang="ko-KR" sz="3200" b="1" dirty="0"/>
              <a:t>, Data </a:t>
            </a:r>
            <a:r>
              <a:rPr lang="en-US" altLang="ko-KR" sz="3200" b="1" dirty="0" err="1"/>
              <a:t>Visulalization</a:t>
            </a:r>
            <a:r>
              <a:rPr lang="en-US" altLang="ko-KR" sz="3200" b="1" dirty="0"/>
              <a:t>)</a:t>
            </a:r>
            <a:endParaRPr lang="ko-KR" altLang="en-US" sz="32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7CB6E98-D7DF-2326-D250-C71DB2B73F1C}"/>
              </a:ext>
            </a:extLst>
          </p:cNvPr>
          <p:cNvSpPr txBox="1"/>
          <p:nvPr/>
        </p:nvSpPr>
        <p:spPr>
          <a:xfrm>
            <a:off x="909836" y="875966"/>
            <a:ext cx="10945216" cy="11227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/>
              <a:t>X </a:t>
            </a:r>
            <a:r>
              <a:rPr lang="ko-KR" altLang="en-US" dirty="0"/>
              <a:t>값이 </a:t>
            </a:r>
            <a:r>
              <a:rPr lang="en-US" altLang="ko-KR" dirty="0"/>
              <a:t>1,2, 3, 4, 5</a:t>
            </a:r>
            <a:r>
              <a:rPr lang="ko-KR" altLang="en-US" dirty="0"/>
              <a:t>인 각각의 데이터는 </a:t>
            </a:r>
            <a:r>
              <a:rPr lang="en-US" altLang="ko-KR" dirty="0"/>
              <a:t>Cluster 1</a:t>
            </a:r>
            <a:r>
              <a:rPr lang="ko-KR" altLang="en-US" dirty="0"/>
              <a:t>과 </a:t>
            </a:r>
            <a:r>
              <a:rPr lang="en-US" altLang="ko-KR" dirty="0"/>
              <a:t>2</a:t>
            </a:r>
            <a:r>
              <a:rPr lang="ko-KR" altLang="en-US" dirty="0"/>
              <a:t>중에 어디에 속할까</a:t>
            </a:r>
            <a:r>
              <a:rPr lang="en-US" altLang="ko-KR" dirty="0"/>
              <a:t>? </a:t>
            </a:r>
            <a:r>
              <a:rPr lang="ko-KR" altLang="en-US" dirty="0"/>
              <a:t>아래 시각화 그림에 대해 토론하라</a:t>
            </a:r>
            <a:endParaRPr lang="en-US" altLang="ko-KR" dirty="0"/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/>
              <a:t>X </a:t>
            </a:r>
            <a:r>
              <a:rPr lang="ko-KR" altLang="en-US" dirty="0"/>
              <a:t>값이 </a:t>
            </a:r>
            <a:r>
              <a:rPr lang="en-US" altLang="ko-KR" dirty="0"/>
              <a:t>2</a:t>
            </a:r>
            <a:r>
              <a:rPr lang="ko-KR" altLang="en-US" dirty="0"/>
              <a:t>일 경우 어디에 속하는지 수자로</a:t>
            </a:r>
            <a:r>
              <a:rPr lang="en-US" altLang="ko-KR" dirty="0"/>
              <a:t>, </a:t>
            </a:r>
            <a:r>
              <a:rPr lang="ko-KR" altLang="en-US" dirty="0"/>
              <a:t>확률로 제시할 수 있을까</a:t>
            </a:r>
            <a:r>
              <a:rPr lang="en-US" altLang="ko-KR" dirty="0"/>
              <a:t>?</a:t>
            </a:r>
            <a:endParaRPr lang="ko-KR" altLang="en-US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962ADCD0-BC77-3149-39F3-DCDB650915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764" y="2276872"/>
            <a:ext cx="4939310" cy="39732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F0163F9-90B9-A8F1-5718-71EF8A59C8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62364" y="2319014"/>
            <a:ext cx="6351438" cy="29821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1F4117D-32C9-4924-938F-DAEAFD3031F0}"/>
              </a:ext>
            </a:extLst>
          </p:cNvPr>
          <p:cNvSpPr txBox="1"/>
          <p:nvPr/>
        </p:nvSpPr>
        <p:spPr>
          <a:xfrm>
            <a:off x="7369919" y="5507325"/>
            <a:ext cx="4818906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Wingdings" panose="05000000000000000000" pitchFamily="2" charset="2"/>
              <a:buChar char="ü"/>
            </a:pPr>
            <a:r>
              <a:rPr lang="ko-KR" altLang="en-US" sz="1100" dirty="0" err="1"/>
              <a:t>러그</a:t>
            </a:r>
            <a:r>
              <a:rPr lang="ko-KR" altLang="en-US" sz="1100" dirty="0"/>
              <a:t> 플롯</a:t>
            </a:r>
            <a:r>
              <a:rPr lang="en-US" altLang="ko-KR" sz="1100" dirty="0"/>
              <a:t>(Rug Plot) : 2</a:t>
            </a:r>
            <a:r>
              <a:rPr lang="ko-KR" altLang="en-US" sz="1100" dirty="0"/>
              <a:t>차원 공간</a:t>
            </a:r>
            <a:r>
              <a:rPr lang="en-US" altLang="ko-KR" sz="1100" dirty="0"/>
              <a:t>(X, Y)</a:t>
            </a:r>
            <a:r>
              <a:rPr lang="ko-KR" altLang="en-US" sz="1100" dirty="0"/>
              <a:t>에 흩어져 있는 점들을 </a:t>
            </a:r>
            <a:r>
              <a:rPr lang="en-US" altLang="ko-KR" sz="1100" dirty="0"/>
              <a:t>Y</a:t>
            </a:r>
            <a:r>
              <a:rPr lang="ko-KR" altLang="en-US" sz="1100" dirty="0"/>
              <a:t>축 값을 무시하고 </a:t>
            </a:r>
            <a:r>
              <a:rPr lang="en-US" altLang="ko-KR" sz="1100" dirty="0"/>
              <a:t>X</a:t>
            </a:r>
            <a:r>
              <a:rPr lang="ko-KR" altLang="en-US" sz="1100" dirty="0"/>
              <a:t>축 바닥으로 뚝 떨어뜨려</a:t>
            </a:r>
            <a:r>
              <a:rPr lang="en-US" altLang="ko-KR" sz="1100" dirty="0"/>
              <a:t>(</a:t>
            </a:r>
            <a:r>
              <a:rPr lang="ko-KR" altLang="en-US" sz="1100" dirty="0"/>
              <a:t>투영시켜</a:t>
            </a:r>
            <a:r>
              <a:rPr lang="en-US" altLang="ko-KR" sz="1100" dirty="0"/>
              <a:t>), </a:t>
            </a:r>
            <a:r>
              <a:rPr lang="ko-KR" altLang="en-US" sz="1100" dirty="0"/>
              <a:t>실제 데이터가 어느 지점에 밀집해 있는지를 직선상의 눈금으로 표시</a:t>
            </a:r>
          </a:p>
        </p:txBody>
      </p:sp>
    </p:spTree>
    <p:extLst>
      <p:ext uri="{BB962C8B-B14F-4D97-AF65-F5344CB8AC3E}">
        <p14:creationId xmlns:p14="http://schemas.microsoft.com/office/powerpoint/2010/main" val="2989907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7E47D0-CA3E-396A-EAE0-3D7F7EC02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>
            <a:extLst>
              <a:ext uri="{FF2B5EF4-FFF2-40B4-BE49-F238E27FC236}">
                <a16:creationId xmlns:a16="http://schemas.microsoft.com/office/drawing/2014/main" id="{42F81467-E6D1-04BF-99EC-7A62BE7705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3853" y="2293351"/>
            <a:ext cx="4896544" cy="32618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F4C5E44-F920-55F1-C678-996A81C5A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43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F26D8BE-0B8F-83F5-BAA1-C934E8DF2D58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  <a:r>
              <a:rPr lang="en-US" altLang="ko-KR" sz="3200" b="1" dirty="0"/>
              <a:t>(</a:t>
            </a:r>
            <a:r>
              <a:rPr lang="ko-KR" altLang="en-US" sz="3200" b="1" dirty="0"/>
              <a:t>시각화</a:t>
            </a:r>
            <a:r>
              <a:rPr lang="en-US" altLang="ko-KR" sz="3200" b="1" dirty="0"/>
              <a:t>, Data </a:t>
            </a:r>
            <a:r>
              <a:rPr lang="en-US" altLang="ko-KR" sz="3200" b="1" dirty="0" err="1"/>
              <a:t>Visulalization</a:t>
            </a:r>
            <a:r>
              <a:rPr lang="en-US" altLang="ko-KR" sz="3200" b="1" dirty="0"/>
              <a:t>)</a:t>
            </a:r>
            <a:endParaRPr lang="ko-KR" altLang="en-US" sz="32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4994DE-7084-F46C-641A-E520A1A8A349}"/>
              </a:ext>
            </a:extLst>
          </p:cNvPr>
          <p:cNvSpPr txBox="1"/>
          <p:nvPr/>
        </p:nvSpPr>
        <p:spPr>
          <a:xfrm>
            <a:off x="909836" y="875966"/>
            <a:ext cx="10945216" cy="11227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/>
              <a:t>대표적인 시각화 예제</a:t>
            </a:r>
            <a:r>
              <a:rPr lang="en-US" altLang="ko-KR" dirty="0"/>
              <a:t>(</a:t>
            </a:r>
            <a:r>
              <a:rPr lang="ko-KR" altLang="en-US" dirty="0"/>
              <a:t>나폴레옹군대 </a:t>
            </a:r>
            <a:r>
              <a:rPr lang="en-US" altLang="ko-KR" dirty="0"/>
              <a:t>, </a:t>
            </a:r>
            <a:r>
              <a:rPr lang="ko-KR" altLang="en-US" dirty="0"/>
              <a:t>나이팅게일</a:t>
            </a:r>
            <a:r>
              <a:rPr lang="en-US" altLang="ko-KR" dirty="0"/>
              <a:t>, </a:t>
            </a:r>
            <a:r>
              <a:rPr lang="ko-KR" altLang="en-US" dirty="0"/>
              <a:t>콜레라 등</a:t>
            </a:r>
            <a:r>
              <a:rPr lang="en-US" altLang="ko-KR" dirty="0"/>
              <a:t>)</a:t>
            </a:r>
            <a:r>
              <a:rPr lang="ko-KR" altLang="en-US" dirty="0"/>
              <a:t>를 검색하여 설명하라</a:t>
            </a:r>
            <a:endParaRPr lang="en-US" altLang="ko-KR" dirty="0"/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informationisbeautiful</a:t>
            </a:r>
            <a:endParaRPr lang="ko-KR" alt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7222F5E-1E8D-D58E-9960-497AA112C2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2444" y="2293351"/>
            <a:ext cx="4954683" cy="32618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564455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F7AD35-B6C6-BC48-8362-1E0DF9347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B157F2C-AEE5-84A6-8E44-8311E4828D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44</a:t>
            </a:fld>
            <a:endParaRPr lang="en-US" altLang="ko-KR" noProof="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C5F9557D-E6F8-CC76-27FB-953A0BADF3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820" y="2051534"/>
            <a:ext cx="9554433" cy="425778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D4EA872-8D66-58E8-49D4-08BFEF5EB342}"/>
              </a:ext>
            </a:extLst>
          </p:cNvPr>
          <p:cNvSpPr txBox="1"/>
          <p:nvPr/>
        </p:nvSpPr>
        <p:spPr>
          <a:xfrm>
            <a:off x="765820" y="1196752"/>
            <a:ext cx="11233248" cy="559127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OpenML</a:t>
            </a:r>
            <a:r>
              <a:rPr lang="ko-KR" altLang="en-US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“blood-transfusion-service-center”</a:t>
            </a:r>
            <a:r>
              <a:rPr lang="ko-KR" altLang="en-US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데이터를 바탕으로 심층 분석보고서를 작성하여 제출하라</a:t>
            </a:r>
            <a:endParaRPr lang="en-US" altLang="ko-KR" dirty="0">
              <a:latin typeface="Arial Narrow" panose="020B0606020202030204" pitchFamily="34" charset="0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2719AF-3CA4-831E-C287-562684977D22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34128771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마케팅 16x9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13666154_TF02801084.potx" id="{B893C259-098E-47F8-8877-587E0721A18C}" vid="{F842517E-B3F6-4577-896B-5E1D47976B3A}"/>
    </a:ext>
  </a:extLst>
</a:theme>
</file>

<file path=ppt/theme/theme2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A3F7D94069FF64A86F7DFF56D60E3BE" ma:contentTypeVersion="6" ma:contentTypeDescription="Create a new document." ma:contentTypeScope="" ma:versionID="c32302c77d4085ecf495bdddb7f5e889">
  <xsd:schema xmlns:xsd="http://www.w3.org/2001/XMLSchema" xmlns:xs="http://www.w3.org/2001/XMLSchema" xmlns:p="http://schemas.microsoft.com/office/2006/metadata/properties" xmlns:ns2="a4f35948-e619-41b3-aa29-22878b09cfd2" xmlns:ns3="40262f94-9f35-4ac3-9a90-690165a166b7" targetNamespace="http://schemas.microsoft.com/office/2006/metadata/properties" ma:root="true" ma:fieldsID="4ab5ae46be95f9d0be6107e8200be7a2" ns2:_="" ns3:_="">
    <xsd:import namespace="a4f35948-e619-41b3-aa29-22878b09cfd2"/>
    <xsd:import namespace="40262f94-9f35-4ac3-9a90-690165a166b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VSO_x0020_item_x0020_id" minOccurs="0"/>
                <xsd:element ref="ns3:Item_x0020_Details" minOccurs="0"/>
                <xsd:element ref="ns3:Template_x0020_details" minOccurs="0"/>
                <xsd:element ref="ns3:Assetid_x0020_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4f35948-e619-41b3-aa29-22878b09cfd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0262f94-9f35-4ac3-9a90-690165a166b7" elementFormDefault="qualified">
    <xsd:import namespace="http://schemas.microsoft.com/office/2006/documentManagement/types"/>
    <xsd:import namespace="http://schemas.microsoft.com/office/infopath/2007/PartnerControls"/>
    <xsd:element name="VSO_x0020_item_x0020_id" ma:index="10" nillable="true" ma:displayName="VSO item id" ma:description="Please add the bug number to refer to VSO items." ma:internalName="VSO_x0020_item_x0020_id">
      <xsd:simpleType>
        <xsd:restriction base="dms:Text">
          <xsd:maxLength value="255"/>
        </xsd:restriction>
      </xsd:simpleType>
    </xsd:element>
    <xsd:element name="Item_x0020_Details" ma:index="11" nillable="true" ma:displayName="Item Details" ma:internalName="Item_x0020_Details">
      <xsd:simpleType>
        <xsd:restriction base="dms:Note">
          <xsd:maxLength value="255"/>
        </xsd:restriction>
      </xsd:simpleType>
    </xsd:element>
    <xsd:element name="Template_x0020_details" ma:index="12" nillable="true" ma:displayName="Template details" ma:internalName="Template_x0020_details">
      <xsd:simpleType>
        <xsd:restriction base="dms:Text"/>
      </xsd:simpleType>
    </xsd:element>
    <xsd:element name="Assetid_x0020_" ma:index="13" nillable="true" ma:displayName="Assetid " ma:internalName="Assetid_x0020_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VSO_x0020_item_x0020_id xmlns="40262f94-9f35-4ac3-9a90-690165a166b7" xsi:nil="true"/>
    <Assetid_x0020_ xmlns="40262f94-9f35-4ac3-9a90-690165a166b7" xsi:nil="true"/>
    <Item_x0020_Details xmlns="40262f94-9f35-4ac3-9a90-690165a166b7" xsi:nil="true"/>
    <Template_x0020_details xmlns="40262f94-9f35-4ac3-9a90-690165a166b7" xsi:nil="true"/>
  </documentManagement>
</p:properties>
</file>

<file path=customXml/itemProps1.xml><?xml version="1.0" encoding="utf-8"?>
<ds:datastoreItem xmlns:ds="http://schemas.openxmlformats.org/officeDocument/2006/customXml" ds:itemID="{7F9B8BCC-BF24-4800-92E1-9F891BBB27E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CCB2C71-1ED8-4540-B003-293B5E75C71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4f35948-e619-41b3-aa29-22878b09cfd2"/>
    <ds:schemaRef ds:uri="40262f94-9f35-4ac3-9a90-690165a166b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50AACE6D-8EB6-447A-8DFD-C2C0C52916AC}">
  <ds:schemaRefs>
    <ds:schemaRef ds:uri="http://purl.org/dc/elements/1.1/"/>
    <ds:schemaRef ds:uri="http://purl.org/dc/terms/"/>
    <ds:schemaRef ds:uri="http://schemas.microsoft.com/office/2006/metadata/properties"/>
    <ds:schemaRef ds:uri="a4f35948-e619-41b3-aa29-22878b09cfd2"/>
    <ds:schemaRef ds:uri="http://schemas.microsoft.com/office/infopath/2007/PartnerControls"/>
    <ds:schemaRef ds:uri="http://schemas.microsoft.com/office/2006/documentManagement/types"/>
    <ds:schemaRef ds:uri="http://schemas.openxmlformats.org/package/2006/metadata/core-properties"/>
    <ds:schemaRef ds:uri="40262f94-9f35-4ac3-9a90-690165a166b7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유리 건물 배경의 비즈니스 마케팅 프레젠테이션(와이드스크린)</Template>
  <TotalTime>405</TotalTime>
  <Words>1130</Words>
  <Application>Microsoft Office PowerPoint</Application>
  <PresentationFormat>사용자 지정</PresentationFormat>
  <Paragraphs>213</Paragraphs>
  <Slides>44</Slides>
  <Notes>43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44</vt:i4>
      </vt:variant>
    </vt:vector>
  </HeadingPairs>
  <TitlesOfParts>
    <vt:vector size="56" baseType="lpstr">
      <vt:lpstr>Apple SD Gothic Neo</vt:lpstr>
      <vt:lpstr>맑은 고딕</vt:lpstr>
      <vt:lpstr>맑은 고딕 Semilight</vt:lpstr>
      <vt:lpstr>휴먼모음T</vt:lpstr>
      <vt:lpstr>ADLaM Display</vt:lpstr>
      <vt:lpstr>Arial</vt:lpstr>
      <vt:lpstr>Arial Narrow</vt:lpstr>
      <vt:lpstr>Corbel</vt:lpstr>
      <vt:lpstr>Microsoft Sans Serif</vt:lpstr>
      <vt:lpstr>PT Sans</vt:lpstr>
      <vt:lpstr>Wingdings</vt:lpstr>
      <vt:lpstr>마케팅 16x9</vt:lpstr>
      <vt:lpstr>통계학  - 기술 통계 - 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ADsP 특강   2024_Summer</dc:title>
  <dc:creator>조상구</dc:creator>
  <cp:lastModifiedBy>Sanggoo Cho</cp:lastModifiedBy>
  <cp:revision>26</cp:revision>
  <dcterms:created xsi:type="dcterms:W3CDTF">2024-06-03T06:10:16Z</dcterms:created>
  <dcterms:modified xsi:type="dcterms:W3CDTF">2026-03-17T11:14:20Z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0x010100AA3F7D94069FF64A86F7DFF56D60E3BE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