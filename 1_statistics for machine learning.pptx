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4"/>
  </p:notesMasterIdLst>
  <p:handoutMasterIdLst>
    <p:handoutMasterId r:id="rId55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319" r:id="rId24"/>
    <p:sldId id="320" r:id="rId25"/>
    <p:sldId id="292" r:id="rId26"/>
    <p:sldId id="318" r:id="rId27"/>
    <p:sldId id="276" r:id="rId28"/>
    <p:sldId id="304" r:id="rId29"/>
    <p:sldId id="289" r:id="rId30"/>
    <p:sldId id="290" r:id="rId31"/>
    <p:sldId id="316" r:id="rId32"/>
    <p:sldId id="317" r:id="rId33"/>
    <p:sldId id="293" r:id="rId34"/>
    <p:sldId id="294" r:id="rId35"/>
    <p:sldId id="321" r:id="rId36"/>
    <p:sldId id="295" r:id="rId37"/>
    <p:sldId id="296" r:id="rId38"/>
    <p:sldId id="297" r:id="rId39"/>
    <p:sldId id="298" r:id="rId40"/>
    <p:sldId id="303" r:id="rId41"/>
    <p:sldId id="324" r:id="rId42"/>
    <p:sldId id="308" r:id="rId43"/>
    <p:sldId id="310" r:id="rId44"/>
    <p:sldId id="313" r:id="rId45"/>
    <p:sldId id="309" r:id="rId46"/>
    <p:sldId id="314" r:id="rId47"/>
    <p:sldId id="288" r:id="rId48"/>
    <p:sldId id="287" r:id="rId49"/>
    <p:sldId id="323" r:id="rId50"/>
    <p:sldId id="302" r:id="rId51"/>
    <p:sldId id="305" r:id="rId52"/>
    <p:sldId id="322" r:id="rId5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372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7A8AF-9E5E-3394-BC04-626E0BB5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CC0C92-7541-B437-EBE7-B8829572F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69EF6-4E45-F915-CC1B-9A4F77077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8F2F4-5791-BD5C-CFFF-7338D406E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49180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4399F-C8D0-0EAC-D919-356C6441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7225B6-9690-D9B6-0A11-43410349C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52A550-D1DF-43A5-8A4E-37DA4B10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0149AC-DBFC-153F-AE44-2601B81704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23454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3843-DBDB-7C80-D392-C8D84E24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C125-2926-E2DD-D847-E0D929AD3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64AD8-D833-1140-E24D-52003816F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482C3-637F-FE61-4C4A-AFAAE3898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9629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663A3-DFCF-20E2-B630-F332D387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1B7D16-7EF3-A550-2ECD-D16605074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8EAFF9-91CE-E532-948F-AB8189DAF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C4095-620E-5176-AEAA-E971AE0529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3336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35C42-7D5E-0953-C73B-C57962A5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860B52-4A68-5D31-1C25-080258252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401F7B-2F69-01F8-DDB3-8EF848D55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ECF495-A05C-054A-0C7D-0E8D26E84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6763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9C429-3F08-5437-7CAF-EA5B071FE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5705F8-B153-7F81-D272-F7A3BB266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077074-B7D1-2A05-353A-122E4FF6C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BE948C-6064-30B9-5337-121A19FB41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884981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46840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345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1D426-7F08-A270-FD1B-0DBF6912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0AEC9-6413-1805-1E0E-D1C833AFB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D28960-12C8-5E5B-9327-7A4F09549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70EBDB-1A88-3B3B-853C-514CF4B9A3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16759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739529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86733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699A7-9651-763F-95B0-3355F3F8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DB124-DB40-1925-903E-E41801E7F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EDD6A4-59A8-6490-0D35-A480D3A30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9409A-88BB-4954-A646-444C4FA8F2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93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ikidocs.net/145262" TargetMode="External"/><Relationship Id="rId5" Type="http://schemas.openxmlformats.org/officeDocument/2006/relationships/hyperlink" Target="https://scikit-learn.org/stable/modules/preprocessing.html" TargetMode="External"/><Relationship Id="rId10" Type="http://schemas.openxmlformats.org/officeDocument/2006/relationships/image" Target="../media/image32.png"/><Relationship Id="rId4" Type="http://schemas.openxmlformats.org/officeDocument/2006/relationships/hyperlink" Target="https://github.com/ancestor9/data/blob/main/human_data.csv" TargetMode="External"/><Relationship Id="rId9" Type="http://schemas.openxmlformats.org/officeDocument/2006/relationships/image" Target="../media/image3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eaborn.pydata.org/examples/histogram_stacked.html" TargetMode="Externa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_bubbles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4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52.png"/><Relationship Id="rId4" Type="http://schemas.openxmlformats.org/officeDocument/2006/relationships/hyperlink" Target="https://seaborn.pydata.org/examples/multiple_bivariate_kde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hyperlink" Target="https://informationisbeautiful.net/" TargetMode="External"/><Relationship Id="rId4" Type="http://schemas.openxmlformats.org/officeDocument/2006/relationships/hyperlink" Target="https://www.tableau.com/ko-kr/learn/articles/best-beautiful-data-visualization-examples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0322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tips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모집단으로 가정하고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값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평균과 분산을 설명하라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평균의 함정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tips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표본추출방법을 파이썬 코드로 제시하라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1269195" y="6083423"/>
            <a:ext cx="6444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https://www.mt.co.kr/opinion/2019/04/09/2019040811152977932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9988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데이터셋으로 읽은 후 컴퓨터가 인식할 수 있도록 모든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수치화하는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데이터전처리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Preprocessing)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수행하라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9" y="2788229"/>
            <a:ext cx="9345995" cy="356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EB71D-AD34-917F-4F79-FEF3D87C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DA2497-A9F1-B7B6-5C36-488687E0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903C2E-0DC6-A406-F545-811EFC489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1844824"/>
            <a:ext cx="11253343" cy="302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9C1644-22FE-039F-2194-31AEC401255A}"/>
              </a:ext>
            </a:extLst>
          </p:cNvPr>
          <p:cNvSpPr txBox="1"/>
          <p:nvPr/>
        </p:nvSpPr>
        <p:spPr>
          <a:xfrm>
            <a:off x="405780" y="561597"/>
            <a:ext cx="4573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 &amp; Box Plot(1/2)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916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8F2BD-1AAE-83E0-3B2A-DF912E807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05270B-239A-B556-98F4-9AD8F0FB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01D3C6-93BD-DF2A-836F-A535865E0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545" y="1844824"/>
            <a:ext cx="10887075" cy="3609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1A7FEF-454E-0BCB-7039-1D080AC990DC}"/>
              </a:ext>
            </a:extLst>
          </p:cNvPr>
          <p:cNvSpPr txBox="1"/>
          <p:nvPr/>
        </p:nvSpPr>
        <p:spPr>
          <a:xfrm>
            <a:off x="981844" y="5805264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https://www.research.autodesk.com/publications/same-stats-different-graphs/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26EB9D-F055-BC68-5F1F-817C25C8FEF2}"/>
              </a:ext>
            </a:extLst>
          </p:cNvPr>
          <p:cNvSpPr txBox="1"/>
          <p:nvPr/>
        </p:nvSpPr>
        <p:spPr>
          <a:xfrm>
            <a:off x="405780" y="561597"/>
            <a:ext cx="4573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 &amp; Box Plot(2/2)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9587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FFEE547-E62B-6766-D0A8-401CFEB1A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88" y="1484784"/>
            <a:ext cx="6264696" cy="4120745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99566"/>
              </p:ext>
            </p:extLst>
          </p:nvPr>
        </p:nvGraphicFramePr>
        <p:xfrm>
          <a:off x="7030516" y="3170174"/>
          <a:ext cx="4968553" cy="243535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925773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1810531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487071"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범주적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(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종교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직업 등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연속적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(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몸무게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키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나아 등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범주의 비교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F9257-07AF-5D24-2DA9-17EDAB6FC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4494BF6-DDC3-BBD0-ADEE-C832DA4DE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C9F1DC-4695-D812-628F-1D3D9476AD7D}"/>
              </a:ext>
            </a:extLst>
          </p:cNvPr>
          <p:cNvSpPr txBox="1"/>
          <p:nvPr/>
        </p:nvSpPr>
        <p:spPr>
          <a:xfrm>
            <a:off x="487656" y="1046300"/>
            <a:ext cx="11213512" cy="8829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바탕으로 막대그래프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chart)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도수분포도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(Histogram)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시각화하고 설명하라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수치형데이터의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 방법에 대해 토론하라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9F8B2-33EB-2982-8C16-8655A9A54F9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FDCE40-17B5-853D-7389-3CF369841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2708920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16E0D06-4FC3-0BE0-CD7B-89C1161E1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4421662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6147501-2C6B-DE5C-C0CC-72A4260C3F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56" y="2708920"/>
            <a:ext cx="5458865" cy="26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670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586" y="317700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430116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693812" y="2916962"/>
            <a:ext cx="2491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175759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데이터소스에서 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수입의 값을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(standardization):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관측치에서 평균을 차감한 값을 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제곱루트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나는 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(standardization)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이유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변수의 값이 동일해지는 것 아닌가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이래야 하는지 설명하라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12" y="3464749"/>
            <a:ext cx="2641204" cy="2891593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F822045-5C69-3DF5-D27B-6F822789838B}"/>
              </a:ext>
            </a:extLst>
          </p:cNvPr>
          <p:cNvCxnSpPr/>
          <p:nvPr/>
        </p:nvCxnSpPr>
        <p:spPr>
          <a:xfrm>
            <a:off x="9368043" y="4880522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래픽 12" descr="도움말">
            <a:extLst>
              <a:ext uri="{FF2B5EF4-FFF2-40B4-BE49-F238E27FC236}">
                <a16:creationId xmlns:a16="http://schemas.microsoft.com/office/drawing/2014/main" id="{D4166B54-35A6-F4CD-2E9B-497A51D6EF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87245" y="4387364"/>
            <a:ext cx="986315" cy="986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A7F065-FAAF-842D-5620-B0BD87E8C3CA}"/>
                  </a:ext>
                </a:extLst>
              </p:cNvPr>
              <p:cNvSpPr txBox="1"/>
              <p:nvPr/>
            </p:nvSpPr>
            <p:spPr>
              <a:xfrm>
                <a:off x="9267333" y="4179511"/>
                <a:ext cx="1181414" cy="5185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ko-KR" altLang="en-U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</m:num>
                        <m:den>
                          <m:r>
                            <a:rPr lang="ko-KR" altLang="en-U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A7F065-FAAF-842D-5620-B0BD87E8C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7333" y="4179511"/>
                <a:ext cx="1181414" cy="5185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3433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값의 서로 크기가 다른 경우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방법과 그 이유를 토론하라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 scaling)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fetch_california_housing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데이터의 변수 중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MedInc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", 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AveOccup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joinplot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https://scikit-learn.org/stable/auto_examples/preprocessing/plot_all_scaling.html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자료원을 이해하고 평균과 분산이 각각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형태로 표준화한 후 시각화 코드를 만들어라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C8F4-ACB5-D764-4229-50485C41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704507-8996-3F3A-2B6F-B4E86FC9C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2FD54A-62EA-C6E5-C9D6-AA28A8766C76}"/>
              </a:ext>
            </a:extLst>
          </p:cNvPr>
          <p:cNvSpPr txBox="1"/>
          <p:nvPr/>
        </p:nvSpPr>
        <p:spPr>
          <a:xfrm>
            <a:off x="487656" y="1046300"/>
            <a:ext cx="11213512" cy="15799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값이 크게 차이가 나는 경우 혹은 왜곡된 경우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① 로그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(Log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② 루트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(Square Root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③ 박스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콕스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(Box-Cox Transformation)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1580FCC-6D86-55BD-9876-FC8AC3F21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3138223"/>
            <a:ext cx="10575308" cy="2874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D117EF-D423-A957-7C8C-07C3BF7452F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15E193-F3D6-3FC1-1AB7-E85A781F85E1}"/>
              </a:ext>
            </a:extLst>
          </p:cNvPr>
          <p:cNvSpPr txBox="1"/>
          <p:nvPr/>
        </p:nvSpPr>
        <p:spPr>
          <a:xfrm>
            <a:off x="487656" y="2809269"/>
            <a:ext cx="11017224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 값의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skew()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구하고 위의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 방법으로 변환하고 히스토그램을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610D05-5DDF-8F3C-55CA-D53BF74D8B87}"/>
              </a:ext>
            </a:extLst>
          </p:cNvPr>
          <p:cNvSpPr txBox="1"/>
          <p:nvPr/>
        </p:nvSpPr>
        <p:spPr>
          <a:xfrm>
            <a:off x="487656" y="6165304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1.62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9E923-254B-29E9-9C92-030BB66D065D}"/>
              </a:ext>
            </a:extLst>
          </p:cNvPr>
          <p:cNvSpPr txBox="1"/>
          <p:nvPr/>
        </p:nvSpPr>
        <p:spPr>
          <a:xfrm>
            <a:off x="4611490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5D490-1D04-A210-6112-94790B6687A5}"/>
              </a:ext>
            </a:extLst>
          </p:cNvPr>
          <p:cNvSpPr txBox="1"/>
          <p:nvPr/>
        </p:nvSpPr>
        <p:spPr>
          <a:xfrm>
            <a:off x="8038628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0.84</a:t>
            </a:r>
          </a:p>
        </p:txBody>
      </p:sp>
    </p:spTree>
    <p:extLst>
      <p:ext uri="{BB962C8B-B14F-4D97-AF65-F5344CB8AC3E}">
        <p14:creationId xmlns:p14="http://schemas.microsoft.com/office/powerpoint/2010/main" val="84431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B45AD-237B-94E9-6725-8379F6AB3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7F2DAF-3F49-77F5-0D61-64F1475C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475091-E7D0-66D2-8C9B-E0C7A6472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803" y="2527542"/>
            <a:ext cx="5066444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B430F1F-5A33-3F5D-FBBE-51C28E31C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92" y="2527542"/>
            <a:ext cx="5066443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2D1375-F53D-1902-27B9-C8E2CC54F590}"/>
              </a:ext>
            </a:extLst>
          </p:cNvPr>
          <p:cNvSpPr txBox="1"/>
          <p:nvPr/>
        </p:nvSpPr>
        <p:spPr>
          <a:xfrm>
            <a:off x="453331" y="2108550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price </a:t>
            </a:r>
            <a:r>
              <a:rPr lang="ko-KR" altLang="en-US" dirty="0" err="1"/>
              <a:t>원자료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E12D7-EA9B-7CDA-6F34-34487FCD9AAF}"/>
              </a:ext>
            </a:extLst>
          </p:cNvPr>
          <p:cNvSpPr txBox="1"/>
          <p:nvPr/>
        </p:nvSpPr>
        <p:spPr>
          <a:xfrm>
            <a:off x="487656" y="1046300"/>
            <a:ext cx="11213512" cy="4669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histogram_stacked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변환에 대해 설명하고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산술식과 비교하라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0369B-8AF5-5C66-C39A-3928A21EF86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FDBF3-6C5B-842D-7D68-C4C18FAE116F}"/>
              </a:ext>
            </a:extLst>
          </p:cNvPr>
          <p:cNvSpPr txBox="1"/>
          <p:nvPr/>
        </p:nvSpPr>
        <p:spPr>
          <a:xfrm>
            <a:off x="6598468" y="2093161"/>
            <a:ext cx="2177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price </a:t>
            </a:r>
            <a:r>
              <a:rPr lang="ko-KR" altLang="en-US" dirty="0"/>
              <a:t>로그변환 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0692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휴먼모음T" panose="02030504000101010101" pitchFamily="18" charset="-127"/>
              <a:ea typeface="휴먼모음T" panose="02030504000101010101" pitchFamily="18" charset="-127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3BD25-7CD9-6524-F231-4D453559D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4929150-E079-F685-23BA-60CF7BD2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40D92B9-34AF-0523-C3AB-179AE91AA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1484784"/>
            <a:ext cx="5606479" cy="4777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D4EE7A-8A41-577E-51E9-68B3F0F089B3}"/>
              </a:ext>
            </a:extLst>
          </p:cNvPr>
          <p:cNvSpPr txBox="1"/>
          <p:nvPr/>
        </p:nvSpPr>
        <p:spPr>
          <a:xfrm>
            <a:off x="6094412" y="1484784"/>
            <a:ext cx="5914801" cy="477053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seaborn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sns.set_theme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white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")</a:t>
            </a: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#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dataset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sns.load_dataset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")</a:t>
            </a: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#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Plot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gallon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against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horsepower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semantics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sns.relplot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horsepower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hue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origin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weight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sizes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=(40, 400),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alpha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=.5,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palette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muted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height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=6,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61EA96-CDCC-D524-AFD0-A7DA83D32203}"/>
              </a:ext>
            </a:extLst>
          </p:cNvPr>
          <p:cNvSpPr txBox="1"/>
          <p:nvPr/>
        </p:nvSpPr>
        <p:spPr>
          <a:xfrm>
            <a:off x="4534624" y="1466111"/>
            <a:ext cx="1415772" cy="307777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scatter_bubbles</a:t>
            </a:r>
            <a:endParaRPr lang="ko-KR" altLang="en-US" sz="1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5C3820-E6F8-A1C8-D36F-89FF5FB0F990}"/>
              </a:ext>
            </a:extLst>
          </p:cNvPr>
          <p:cNvSpPr txBox="1"/>
          <p:nvPr/>
        </p:nvSpPr>
        <p:spPr>
          <a:xfrm>
            <a:off x="405780" y="561597"/>
            <a:ext cx="28392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Scatter Plot(1/2)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074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37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1767262"/>
            <a:ext cx="2880320" cy="4307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gallery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시각화 예제 중에서 아래 그림을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1767263"/>
            <a:ext cx="4792045" cy="38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03640"/>
            <a:ext cx="5496732" cy="366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99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대표적인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주요 시각화 예제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나폴레옹군대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나이팅게일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콜레라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검색하여 설명하라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예제를 살펴보기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4757" y="2503640"/>
            <a:ext cx="5561998" cy="366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1729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Analysis)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981844" y="2348880"/>
            <a:ext cx="10657184" cy="1501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데이터를 그래프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b="1" dirty="0" err="1">
                <a:solidFill>
                  <a:srgbClr val="202124"/>
                </a:solidFill>
                <a:latin typeface="Apple SD Gothic Neo"/>
              </a:rPr>
              <a:t>대표값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 등을 나타내는 숫자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나 시각화로 요약한다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037792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62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6C562-0918-35AA-B72A-85B1CBE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47D0F-F413-FE6B-2048-69154B333A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과제 제출</a:t>
            </a:r>
            <a:endParaRPr lang="ko-KR" altLang="en-US" sz="2400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2B49BEBD-3DD1-D90F-2786-77F06062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081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(1/3)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54372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(2/3)</a:t>
            </a:r>
            <a:endParaRPr lang="ko-KR" alt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① 로그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② 루트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③ 박스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콕스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(Box-Cox Transformation)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본격적인 모델링이나 가설 검정에 들어가기 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다각도로 관찰하여 데이터의 특징을 이해하는 과정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마치 요리를 하기 전 재료의 상태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신선도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꼼꼼히 살피는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생성형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AI Gemini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canvas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사용하여 보고서를 작성하여 과제로 제출하라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959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C77D-6B42-4757-B391-F2BA1384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5498978-3063-D37C-4B1B-5353E919C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2C3942-D887-8501-8ABB-3CC980F84D10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(3/3)</a:t>
            </a:r>
            <a:endParaRPr lang="ko-KR" alt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7E4F2-3BF2-6B53-4583-DC6E460FEAED}"/>
              </a:ext>
            </a:extLst>
          </p:cNvPr>
          <p:cNvSpPr txBox="1"/>
          <p:nvPr/>
        </p:nvSpPr>
        <p:spPr>
          <a:xfrm>
            <a:off x="372109" y="1556792"/>
            <a:ext cx="5362263" cy="4679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서론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(Introduction)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 배경 및 목적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왜 이 데이터를 분석하는가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비즈니스 문제 정의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셋 설명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수집 방법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분석 질문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(Key Questions):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해결하고자 하는 가설 설정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프로파일링 및 기초 탐색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 Profiling)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명세 확인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레코드 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컬럼 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타입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2.2 </a:t>
            </a:r>
            <a:r>
              <a:rPr lang="ko-KR" altLang="en-US" sz="10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결측치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(Missing Value)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결측 비율 시각화 및 발생 원인 추론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결측치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처리 전략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기초 통계량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사분위수 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2.4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정제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(Cleaning)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중복 제거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자료형 변환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(Outlier)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 및 처리 결과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변수별 개별 특성 분석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(Univariate Analysis)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endParaRPr lang="ko-KR" altLang="en-US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왜도와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첨도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정규성 검정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히스토그램 및 밀도 함수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(KDE)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endParaRPr lang="ko-KR" altLang="en-US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클래스별 빈도수 및 비율 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희소 클래스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(Rare labels)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존재 여부 확인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파생 변수 생성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Engineering):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범주 재그룹화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(Binning).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2C5014-BFF6-C7CE-A3AD-09A731DEDE55}"/>
              </a:ext>
            </a:extLst>
          </p:cNvPr>
          <p:cNvSpPr txBox="1"/>
          <p:nvPr/>
        </p:nvSpPr>
        <p:spPr>
          <a:xfrm>
            <a:off x="5734372" y="1560440"/>
            <a:ext cx="6096000" cy="4222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및 관계 분석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(Multivariate Analysis)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간 상관관계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상관 계수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히트맵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(Heatmap)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통한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다중공선성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확인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변수 간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산점도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(Scatter Plot)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추세선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타겟 변수 기반 심층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범주별 수치 분포 차이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 plot / Violin plot).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변수들이 종속 변수에 미치는 영향력 시각화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세그먼트별 비교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특정 조건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VIP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고객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vs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 고객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행동 패턴 차이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b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핵심 인사이트 및 가설 검정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(Key Insights)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패턴 발견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 결과에서 도출된 결정적 특징 요약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검증 결과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1.3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설정한 가설의 채택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기각 여부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예상치 못한 발견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(Unexpected Findings):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초기 가설 외에 새롭게 발견된 특이 사항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b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결론 및 향후 방향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(Conclusion &amp; Recommendation)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 요약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분석 프로세스의 핵심 요약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비즈니스 제언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발견된 인사이트를 토대로 한 실행 가능한 전략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(Action Plan).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한계점 및 추후 과제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한계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샘플링 편향 등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향후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도입 가능성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A2BE8F-CD46-951D-4C79-5B9F10D91C9F}"/>
              </a:ext>
            </a:extLst>
          </p:cNvPr>
          <p:cNvSpPr txBox="1"/>
          <p:nvPr/>
        </p:nvSpPr>
        <p:spPr>
          <a:xfrm>
            <a:off x="117748" y="1052736"/>
            <a:ext cx="1534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/>
              <a:t>목차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480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1370</TotalTime>
  <Words>1739</Words>
  <Application>Microsoft Office PowerPoint</Application>
  <PresentationFormat>사용자 지정</PresentationFormat>
  <Paragraphs>288</Paragraphs>
  <Slides>49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2" baseType="lpstr">
      <vt:lpstr>Apple SD Gothic Neo</vt:lpstr>
      <vt:lpstr>맑은 고딕</vt:lpstr>
      <vt:lpstr>맑은 고딕 Semilight</vt:lpstr>
      <vt:lpstr>한컴 말랑말랑 Regular</vt:lpstr>
      <vt:lpstr>휴먼모음T</vt:lpstr>
      <vt:lpstr>ADLaM Display</vt:lpstr>
      <vt:lpstr>Arial</vt:lpstr>
      <vt:lpstr>Calibri</vt:lpstr>
      <vt:lpstr>Cambria Math</vt:lpstr>
      <vt:lpstr>Corbel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과제 제출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34</cp:revision>
  <dcterms:created xsi:type="dcterms:W3CDTF">2024-06-03T06:10:16Z</dcterms:created>
  <dcterms:modified xsi:type="dcterms:W3CDTF">2026-03-24T05:00:57Z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