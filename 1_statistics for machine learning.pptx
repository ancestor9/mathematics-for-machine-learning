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50"/>
  </p:notesMasterIdLst>
  <p:handoutMasterIdLst>
    <p:handoutMasterId r:id="rId51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314" r:id="rId16"/>
    <p:sldId id="273" r:id="rId17"/>
    <p:sldId id="274" r:id="rId18"/>
    <p:sldId id="275" r:id="rId19"/>
    <p:sldId id="277" r:id="rId20"/>
    <p:sldId id="278" r:id="rId21"/>
    <p:sldId id="283" r:id="rId22"/>
    <p:sldId id="284" r:id="rId23"/>
    <p:sldId id="285" r:id="rId24"/>
    <p:sldId id="286" r:id="rId25"/>
    <p:sldId id="292" r:id="rId26"/>
    <p:sldId id="276" r:id="rId27"/>
    <p:sldId id="304" r:id="rId28"/>
    <p:sldId id="287" r:id="rId29"/>
    <p:sldId id="288" r:id="rId30"/>
    <p:sldId id="289" r:id="rId31"/>
    <p:sldId id="290" r:id="rId32"/>
    <p:sldId id="291" r:id="rId33"/>
    <p:sldId id="302" r:id="rId34"/>
    <p:sldId id="305" r:id="rId35"/>
    <p:sldId id="293" r:id="rId36"/>
    <p:sldId id="294" r:id="rId37"/>
    <p:sldId id="295" r:id="rId38"/>
    <p:sldId id="296" r:id="rId39"/>
    <p:sldId id="297" r:id="rId40"/>
    <p:sldId id="298" r:id="rId41"/>
    <p:sldId id="303" r:id="rId42"/>
    <p:sldId id="308" r:id="rId43"/>
    <p:sldId id="310" r:id="rId44"/>
    <p:sldId id="313" r:id="rId45"/>
    <p:sldId id="311" r:id="rId46"/>
    <p:sldId id="312" r:id="rId47"/>
    <p:sldId id="309" r:id="rId48"/>
    <p:sldId id="307" r:id="rId49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A194A-847B-6F14-07F2-38D05F416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567891-8706-81FD-F2D9-2CC0D70E4A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21A2CA-7CA6-CB34-3461-8A5A650C9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08AB1B-9C0A-3FA6-14A1-50D9AF282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29156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7E520-FF7F-20A8-E377-78305AF96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AE50F1-693B-0691-2048-B3C5FAFE5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21687F-E7B6-0FDE-EB52-8F958A348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CF5345-3860-C129-6BFC-83F6901FF4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4858613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catterplot_matrix.html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4.png"/><Relationship Id="rId4" Type="http://schemas.openxmlformats.org/officeDocument/2006/relationships/hyperlink" Target="https://seaborn.pydata.org/examples/multiple_bivariate_kde.html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hyperlink" Target="https://informationisbeautiful.net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788229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Kaggle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참고하여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target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성별로 하고 다른 모든 변수를 입력변수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(Input)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로 하여 상관관계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범주 모두 포함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아래와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같이 구하고 결과를 토론하라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0596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3121223"/>
            <a:ext cx="24919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567" y="3644443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Preprocessing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  <p:sp>
        <p:nvSpPr>
          <p:cNvPr id="2" name="생각 풍선: 구름 모양 1">
            <a:extLst>
              <a:ext uri="{FF2B5EF4-FFF2-40B4-BE49-F238E27FC236}">
                <a16:creationId xmlns:a16="http://schemas.microsoft.com/office/drawing/2014/main" id="{56BC5627-DFAA-4A07-6F45-923AA7F59A88}"/>
              </a:ext>
            </a:extLst>
          </p:cNvPr>
          <p:cNvSpPr/>
          <p:nvPr/>
        </p:nvSpPr>
        <p:spPr>
          <a:xfrm>
            <a:off x="8578688" y="1916832"/>
            <a:ext cx="1512168" cy="864096"/>
          </a:xfrm>
          <a:prstGeom prst="cloudCallout">
            <a:avLst>
              <a:gd name="adj1" fmla="val -30623"/>
              <a:gd name="adj2" fmla="val 1108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평균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중간값의</a:t>
            </a:r>
            <a:r>
              <a:rPr lang="ko-KR" altLang="en-US" sz="1200" dirty="0"/>
              <a:t> 위치</a:t>
            </a:r>
            <a:r>
              <a:rPr lang="en-US" altLang="ko-KR" sz="1200" dirty="0"/>
              <a:t>?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0196" y="2987299"/>
            <a:ext cx="7560123" cy="336905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산포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2" y="5472890"/>
            <a:ext cx="7779113" cy="70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dirty="0" err="1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kurt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dirty="0">
                <a:solidFill>
                  <a:srgbClr val="FF0000"/>
                </a:solidFill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dirty="0">
              <a:solidFill>
                <a:srgbClr val="FF0000"/>
              </a:solidFill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① 로그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② 루트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③ 박스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-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콕스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변환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(Box-Cox Transformation)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본격적인 모델링이나 가설 검정에 들어가기 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데이터를 다각도로 관찰하여 데이터의 특징을 이해하는 과정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마치 요리를 하기 전 재료의 상태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신선도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양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꼼꼼히 살피는 것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gemini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canvas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기능을 사용하여 보고서 작성하라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89289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24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다변량</a:t>
            </a:r>
            <a:r>
              <a:rPr lang="ko-KR" altLang="en-US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sz="2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252B00A0-9CCA-2DC8-5D52-7E4F521D4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1503630"/>
            <a:ext cx="6005581" cy="5301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007407D-3A2F-D569-3261-4544F333AD66}"/>
              </a:ext>
            </a:extLst>
          </p:cNvPr>
          <p:cNvSpPr txBox="1"/>
          <p:nvPr/>
        </p:nvSpPr>
        <p:spPr>
          <a:xfrm>
            <a:off x="8398668" y="2132856"/>
            <a:ext cx="3600400" cy="1713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휴먼모음T" panose="02030504000101010101" pitchFamily="18" charset="-127"/>
                <a:ea typeface="휴먼모음T" panose="02030504000101010101" pitchFamily="18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scatterplot_matrix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팽귄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종류를 분류하기에 가장 적합한 변수는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ko-KR" altLang="en-US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D16F6-7474-0121-A593-4FFCAB276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9F9F47C-27FD-9CEF-3979-F65879F2E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F220C-21BC-1459-94F6-3A6F69259CD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63C7418-EE55-3D57-35E0-08BCF0C87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183879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5D30F-E506-07F9-234A-D3315788FF0A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E569E3-FF38-E843-B65D-8620B27A6958}"/>
              </a:ext>
            </a:extLst>
          </p:cNvPr>
          <p:cNvSpPr txBox="1"/>
          <p:nvPr/>
        </p:nvSpPr>
        <p:spPr>
          <a:xfrm>
            <a:off x="1478577" y="6062681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7B773A7-108D-FBA2-F491-2BAE9A5FB8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4372" y="2183879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EEF0A-F549-0076-BF6F-BC261F9085FC}"/>
              </a:ext>
            </a:extLst>
          </p:cNvPr>
          <p:cNvSpPr txBox="1"/>
          <p:nvPr/>
        </p:nvSpPr>
        <p:spPr>
          <a:xfrm>
            <a:off x="5740007" y="5768228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26870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857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각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species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별로 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축의 각각 변수의 평균과 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y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의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변수간의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공분산을 구하라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분산이나 공분산이 커지면 모양새는 어떻게 변하나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낙도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(remote island)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는 무엇인가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팽권의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3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분류하기에 가장 좋은 변수는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x, y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중에서 무엇인지 결정하라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분류를 결정하는 변수의 어떤 특정 값이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종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(species)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을 분류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(classification)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하는데 최적인가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764D3-A67A-791D-965C-7310444EC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8513452-4DAF-C356-4425-F660DCC7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F19938-A90F-375E-27C2-72092386179F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36D5AE-6B05-6BD7-F072-47EF5DA8845E}"/>
              </a:ext>
            </a:extLst>
          </p:cNvPr>
          <p:cNvSpPr txBox="1"/>
          <p:nvPr/>
        </p:nvSpPr>
        <p:spPr>
          <a:xfrm>
            <a:off x="909836" y="875966"/>
            <a:ext cx="10945216" cy="564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1, 2, 3, 4, 5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ADED97D-C059-95E9-07DA-83222A58F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177281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5116981-B925-82D4-DCF6-0327245A3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177281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68EFD0E-4783-C6CA-E610-AAA578315B5F}"/>
              </a:ext>
            </a:extLst>
          </p:cNvPr>
          <p:cNvSpPr txBox="1"/>
          <p:nvPr/>
        </p:nvSpPr>
        <p:spPr>
          <a:xfrm>
            <a:off x="1172929" y="206810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5459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1,2, 3, 4, 5</a:t>
            </a:r>
            <a:r>
              <a:rPr lang="ko-KR" altLang="en-US" dirty="0"/>
              <a:t>인 각각의 데이터는 </a:t>
            </a:r>
            <a:r>
              <a:rPr lang="en-US" altLang="ko-KR" dirty="0"/>
              <a:t>Cluster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중에 어디에 속할까</a:t>
            </a:r>
            <a:r>
              <a:rPr lang="en-US" altLang="ko-KR" dirty="0"/>
              <a:t>? </a:t>
            </a:r>
            <a:r>
              <a:rPr lang="ko-KR" altLang="en-US" dirty="0"/>
              <a:t>아래 시각화 그림에 대해 토론하라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X </a:t>
            </a:r>
            <a:r>
              <a:rPr lang="ko-KR" altLang="en-US" dirty="0"/>
              <a:t>값이 </a:t>
            </a:r>
            <a:r>
              <a:rPr lang="en-US" altLang="ko-KR" dirty="0"/>
              <a:t>2</a:t>
            </a:r>
            <a:r>
              <a:rPr lang="ko-KR" altLang="en-US" dirty="0"/>
              <a:t>일 경우 어디에 속하는지 수자로</a:t>
            </a:r>
            <a:r>
              <a:rPr lang="en-US" altLang="ko-KR" dirty="0"/>
              <a:t>, </a:t>
            </a:r>
            <a:r>
              <a:rPr lang="ko-KR" altLang="en-US" dirty="0"/>
              <a:t>확률로 제시할 수 있을까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7369919" y="5507325"/>
            <a:ext cx="481890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100" dirty="0" err="1"/>
              <a:t>러그</a:t>
            </a:r>
            <a:r>
              <a:rPr lang="ko-KR" altLang="en-US" sz="1100" dirty="0"/>
              <a:t> 플롯</a:t>
            </a:r>
            <a:r>
              <a:rPr lang="en-US" altLang="ko-KR" sz="1100" dirty="0"/>
              <a:t>(Rug Plot) : 2</a:t>
            </a:r>
            <a:r>
              <a:rPr lang="ko-KR" altLang="en-US" sz="1100" dirty="0"/>
              <a:t>차원 공간</a:t>
            </a:r>
            <a:r>
              <a:rPr lang="en-US" altLang="ko-KR" sz="1100" dirty="0"/>
              <a:t>(X, Y)</a:t>
            </a:r>
            <a:r>
              <a:rPr lang="ko-KR" altLang="en-US" sz="1100" dirty="0"/>
              <a:t>에 흩어져 있는 점들을 </a:t>
            </a:r>
            <a:r>
              <a:rPr lang="en-US" altLang="ko-KR" sz="1100" dirty="0"/>
              <a:t>Y</a:t>
            </a:r>
            <a:r>
              <a:rPr lang="ko-KR" altLang="en-US" sz="1100" dirty="0"/>
              <a:t>축 값을 무시하고 </a:t>
            </a:r>
            <a:r>
              <a:rPr lang="en-US" altLang="ko-KR" sz="1100" dirty="0"/>
              <a:t>X</a:t>
            </a:r>
            <a:r>
              <a:rPr lang="ko-KR" altLang="en-US" sz="1100" dirty="0"/>
              <a:t>축 바닥으로 뚝 떨어뜨려</a:t>
            </a:r>
            <a:r>
              <a:rPr lang="en-US" altLang="ko-KR" sz="1100" dirty="0"/>
              <a:t>(</a:t>
            </a:r>
            <a:r>
              <a:rPr lang="ko-KR" altLang="en-US" sz="1100" dirty="0"/>
              <a:t>투영시켜</a:t>
            </a:r>
            <a:r>
              <a:rPr lang="en-US" altLang="ko-KR" sz="1100" dirty="0"/>
              <a:t>), </a:t>
            </a:r>
            <a:r>
              <a:rPr lang="ko-KR" altLang="en-US" sz="11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3" y="2293351"/>
            <a:ext cx="4896544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444" y="2293351"/>
            <a:ext cx="4954683" cy="3261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51534"/>
            <a:ext cx="9554433" cy="42577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4EA872-8D66-58E8-49D4-08BFEF5EB342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“blood-transfusion-service-center”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바탕으로 심층 분석보고서를 작성하여 제출하라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2719AF-3CA4-831E-C287-562684977D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409</TotalTime>
  <Words>1168</Words>
  <Application>Microsoft Office PowerPoint</Application>
  <PresentationFormat>사용자 지정</PresentationFormat>
  <Paragraphs>216</Paragraphs>
  <Slides>45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7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28</cp:revision>
  <dcterms:created xsi:type="dcterms:W3CDTF">2024-06-03T06:10:16Z</dcterms:created>
  <dcterms:modified xsi:type="dcterms:W3CDTF">2026-03-17T12:20:31Z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