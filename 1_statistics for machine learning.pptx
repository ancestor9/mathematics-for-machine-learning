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0"/>
  </p:notesMasterIdLst>
  <p:handoutMasterIdLst>
    <p:handoutMasterId r:id="rId51"/>
  </p:handoutMasterIdLst>
  <p:sldIdLst>
    <p:sldId id="256" r:id="rId5"/>
    <p:sldId id="304" r:id="rId6"/>
    <p:sldId id="270" r:id="rId7"/>
    <p:sldId id="305" r:id="rId8"/>
    <p:sldId id="311" r:id="rId9"/>
    <p:sldId id="306" r:id="rId10"/>
    <p:sldId id="271" r:id="rId11"/>
    <p:sldId id="282" r:id="rId12"/>
    <p:sldId id="279" r:id="rId13"/>
    <p:sldId id="280" r:id="rId14"/>
    <p:sldId id="281" r:id="rId15"/>
    <p:sldId id="308" r:id="rId16"/>
    <p:sldId id="307" r:id="rId17"/>
    <p:sldId id="272" r:id="rId18"/>
    <p:sldId id="309" r:id="rId19"/>
    <p:sldId id="273" r:id="rId20"/>
    <p:sldId id="274" r:id="rId21"/>
    <p:sldId id="299" r:id="rId22"/>
    <p:sldId id="300" r:id="rId23"/>
    <p:sldId id="301" r:id="rId24"/>
    <p:sldId id="276" r:id="rId25"/>
    <p:sldId id="275" r:id="rId26"/>
    <p:sldId id="277" r:id="rId27"/>
    <p:sldId id="278" r:id="rId28"/>
    <p:sldId id="283" r:id="rId29"/>
    <p:sldId id="284" r:id="rId30"/>
    <p:sldId id="285" r:id="rId31"/>
    <p:sldId id="286" r:id="rId32"/>
    <p:sldId id="302" r:id="rId33"/>
    <p:sldId id="287" r:id="rId34"/>
    <p:sldId id="288" r:id="rId35"/>
    <p:sldId id="289" r:id="rId36"/>
    <p:sldId id="290" r:id="rId37"/>
    <p:sldId id="291" r:id="rId38"/>
    <p:sldId id="292" r:id="rId39"/>
    <p:sldId id="310" r:id="rId40"/>
    <p:sldId id="293" r:id="rId41"/>
    <p:sldId id="294" r:id="rId42"/>
    <p:sldId id="295" r:id="rId43"/>
    <p:sldId id="296" r:id="rId44"/>
    <p:sldId id="297" r:id="rId45"/>
    <p:sldId id="298" r:id="rId46"/>
    <p:sldId id="312" r:id="rId47"/>
    <p:sldId id="313" r:id="rId48"/>
    <p:sldId id="303" r:id="rId4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24246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21CC8-0D2E-8DEC-1D9A-F41A4C3E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F0DB7E-99FB-42D2-1AAD-3B5F0D509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4ADE68-7183-B978-539E-EFA04421F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F71883-9269-BE0C-3451-72DCB569AB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51120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46FAF-F5C9-E6E3-DFBE-CAF50E418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F61900-29D4-9358-2581-3584102BB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4D4FEB-BF65-8687-D65F-39EEFC9E8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976CCA-EF32-D18C-500B-FF8E302B9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7777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705-3323-DCA1-0DE1-5AD2BD066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3B6D09-2392-C501-F78E-115D46EC8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6F2958-1387-E1C8-A718-1878C5B17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C5C12B-A408-3EA1-287B-968825FD9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15392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8EB20-F00D-DEA0-4BED-25CB3B72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D47328-A892-BAC3-1A9A-42A914931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FBE53-6A4F-7626-0C4B-01CCAD3CC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94D185-85B9-85CC-370A-1DDF51499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812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92F7-5E09-EF99-47BD-B6AA75D50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79BCBC-B622-8D81-8E3F-180A1B5A9C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C83144-DBA9-E550-3C13-C53BCD252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43121F-45D2-12D3-F7A7-56AE6E48D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61595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125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F7D5-C22A-F6A0-8F4D-A9C428929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EE3B1-1F6C-7141-239F-D92858EEB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AB149-C659-B05E-E59D-CD0CD01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92CF23-145C-6645-6053-9BE8686C7F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238789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71143-DABF-EA7E-268E-8AEF648CC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94D85-59D4-8E07-9043-C956B8E20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C20692-F2E3-9FF6-451C-AC6D49D87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4C3582-D115-7655-249B-F44F9865AC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50066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A85E2-CC37-0D7D-6FDD-AB3B01B4D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D0E0A1-3B33-C300-2C52-A65FC4EB28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1F657-B57B-744C-71C3-36669E7C1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64ED0A-E88E-F969-255D-3C60C2E77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167755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BCEC8-47FC-8EA7-A538-153CB379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14DEB-2EF3-81ED-B6D5-98AC346A2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D84B77-79E6-B42A-E6DC-29E695D3A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59EEB8-1602-2D8E-C1AB-E9B99027D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904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ssmanchance.com/applets/2021/descstats/Dotplot.htm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ossmanchance.com/applets/2021/oneprop/OneProp.htm?candy=1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artoonstock.com/directory/s/statistical_probability.asp?srsltid=AfmBOooASIJv72FazaWHEE3MDiL-XPDgI1kKuhjOM1MbhQmE4i7P7ulu" TargetMode="External"/><Relationship Id="rId5" Type="http://schemas.openxmlformats.org/officeDocument/2006/relationships/image" Target="../media/image40.jpeg"/><Relationship Id="rId4" Type="http://schemas.openxmlformats.org/officeDocument/2006/relationships/hyperlink" Target="https://pankajr141.wordpress.com/2017/07/29/probability-distributions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 err="1"/>
              <a:t>머신러닝을</a:t>
            </a:r>
            <a:r>
              <a:rPr lang="ko-KR" altLang="en-US" sz="3200" b="1" dirty="0"/>
              <a:t> 위한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1030" name="Picture 6" descr="밤 시간 동안 등대의 실루엣">
            <a:extLst>
              <a:ext uri="{FF2B5EF4-FFF2-40B4-BE49-F238E27FC236}">
                <a16:creationId xmlns:a16="http://schemas.microsoft.com/office/drawing/2014/main" id="{C722F41E-13EA-25B0-1FE1-218FAAE42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48679"/>
            <a:ext cx="4104456" cy="6129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31304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통계는 항해사에게 </a:t>
            </a:r>
            <a:r>
              <a:rPr lang="ko-KR" altLang="en-US" sz="16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등대</a:t>
            </a: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와 같다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 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국 한 그릇의 맛을 알기 위해 다 마셔볼 필요는 없다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숫자는 </a:t>
            </a:r>
            <a:r>
              <a:rPr lang="ko-KR" altLang="en-US" sz="16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스스로 말하지 않는다</a:t>
            </a:r>
            <a:r>
              <a:rPr lang="en-US" altLang="ko-KR" sz="16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 </a:t>
            </a:r>
            <a:r>
              <a:rPr lang="ko-KR" altLang="en-US" sz="16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우리가 그들에게 </a:t>
            </a: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목소리를 부여하는 것이다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데이터를 충분히 고문한다면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그것은 무엇이든 고백할 것이다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통계학의 기원</a:t>
            </a:r>
            <a:r>
              <a:rPr lang="en-US" altLang="ko-KR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?</a:t>
            </a:r>
            <a:endParaRPr lang="ko-KR" altLang="en-US" sz="16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754AEB-7EBE-A397-BEA5-D61762102166}"/>
              </a:ext>
            </a:extLst>
          </p:cNvPr>
          <p:cNvSpPr txBox="1"/>
          <p:nvPr/>
        </p:nvSpPr>
        <p:spPr>
          <a:xfrm>
            <a:off x="1629916" y="620688"/>
            <a:ext cx="8928992" cy="43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EB452-05E2-015D-FE61-A162EC61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58AEE9E-09EC-07F3-0702-911E34183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FE11E70-447B-E78B-ACD4-E8BE809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7433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C220-2BC9-E0B4-4F0D-65A82F8E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06C883A-54AF-1C45-4FB5-6B98B3C61DE4}"/>
              </a:ext>
            </a:extLst>
          </p:cNvPr>
          <p:cNvSpPr/>
          <p:nvPr/>
        </p:nvSpPr>
        <p:spPr>
          <a:xfrm>
            <a:off x="592167" y="2511348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65B77EB-579B-8BE0-E878-8DEE5CAE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2414E8-8369-1246-31F2-E793ADDB38FB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586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BEF4C-6207-0B57-AF4B-DEDBA471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300C0E0-05B2-9161-BDC4-08FD53A4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904823-3A2F-D01C-298E-969634A7BE94}"/>
              </a:ext>
            </a:extLst>
          </p:cNvPr>
          <p:cNvSpPr txBox="1"/>
          <p:nvPr/>
        </p:nvSpPr>
        <p:spPr>
          <a:xfrm>
            <a:off x="765820" y="1268760"/>
            <a:ext cx="11233248" cy="62459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1198CD-632B-CF6C-9A00-58DFCB1D17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87443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06161-C61F-40FC-86A5-15B880B95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C3D80B8-C2B7-81DA-94E3-BC2843BBA248}"/>
              </a:ext>
            </a:extLst>
          </p:cNvPr>
          <p:cNvSpPr/>
          <p:nvPr/>
        </p:nvSpPr>
        <p:spPr>
          <a:xfrm>
            <a:off x="592167" y="3140968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528D0BF-D0DE-78C0-F571-DD62D657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85C321-1D2A-1D57-122E-196426F18642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7550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E65E-5996-67F8-E60B-8066957F6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4C4EE04-E9BE-13CF-BF30-41C9137498B0}"/>
              </a:ext>
            </a:extLst>
          </p:cNvPr>
          <p:cNvSpPr/>
          <p:nvPr/>
        </p:nvSpPr>
        <p:spPr>
          <a:xfrm>
            <a:off x="615953" y="378904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AE8EC77-CB5D-C18F-4F58-3C3CA2B2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C818E5-EFFB-8367-5DA6-5B9CAEE3A84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4835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1052736"/>
            <a:ext cx="2484460" cy="43370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364" y="1052736"/>
            <a:ext cx="6264696" cy="4765453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4006180" y="2996952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7EF4CE-9940-CC09-51C5-2EBE0F113CBC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71B73-BC5B-2117-7605-77E384E9D1A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84FD0F-761F-BA66-F243-41B3BE7940EE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A821FDE-1A23-9E3C-69A7-B9779CAFA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C234EE9-715B-F469-E101-412D387BA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815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DCD51-7641-A748-59B0-FDCEA3477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BD8AB82-2AB4-E3DD-1586-62415920E394}"/>
              </a:ext>
            </a:extLst>
          </p:cNvPr>
          <p:cNvSpPr/>
          <p:nvPr/>
        </p:nvSpPr>
        <p:spPr>
          <a:xfrm>
            <a:off x="615953" y="436510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695BA4-6421-8E49-259E-664134590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1FEC46-249B-7E9C-0EA5-C603DBF9E2F8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(Statistics)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모집단과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표본조사 방법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종류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(Data type)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주요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(Statistic)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다변량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(Multivariate Analysis)</a:t>
            </a: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755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795" y="2276872"/>
            <a:ext cx="9305875" cy="351100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autodesk</a:t>
            </a:r>
            <a:endParaRPr lang="en-US" altLang="ko-KR" sz="2400" dirty="0"/>
          </a:p>
          <a:p>
            <a:r>
              <a:rPr lang="en-US" altLang="ko-KR" dirty="0"/>
              <a:t>- </a:t>
            </a:r>
            <a:r>
              <a:rPr lang="ko-KR" alt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https://www.research.autodesk.com/publications/same-stats-different-graphs/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DAD2C-43FF-C9A0-05DC-E68E59B09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366C448-8B78-57E9-956F-01849675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8F3789-BEF5-05B1-F760-976F6E15188C}"/>
              </a:ext>
            </a:extLst>
          </p:cNvPr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/>
              <a:t>Appendix 1 : </a:t>
            </a:r>
            <a:r>
              <a:rPr lang="ko-KR" altLang="en-US" sz="2400" b="1" dirty="0"/>
              <a:t>통계 연습 사이트</a:t>
            </a:r>
            <a:endParaRPr lang="ko-KR" altLang="en-US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1933C5-C9CC-C1A1-DFCE-9B36461FA2E4}"/>
              </a:ext>
            </a:extLst>
          </p:cNvPr>
          <p:cNvSpPr txBox="1"/>
          <p:nvPr/>
        </p:nvSpPr>
        <p:spPr>
          <a:xfrm>
            <a:off x="981844" y="1700808"/>
            <a:ext cx="8856984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Descriptive Statistics</a:t>
            </a:r>
            <a:endParaRPr lang="en-US" altLang="ko-KR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Central Limits </a:t>
            </a:r>
            <a:r>
              <a:rPr lang="en-US" altLang="ko-KR" sz="20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Theorm</a:t>
            </a:r>
            <a:endParaRPr lang="ko-KR" altLang="en-US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8409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2B445-FF7F-B1DD-DE74-1C353BB46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F1972F61-6BFF-18D4-3BAC-E9A79B079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4535" y="1773534"/>
            <a:ext cx="5584352" cy="3937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7DA506-21A1-BAE2-FADF-438A373E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11BC3C-D15F-5368-6D85-777593AB437F}"/>
              </a:ext>
            </a:extLst>
          </p:cNvPr>
          <p:cNvSpPr txBox="1"/>
          <p:nvPr/>
        </p:nvSpPr>
        <p:spPr>
          <a:xfrm>
            <a:off x="6124535" y="5895285"/>
            <a:ext cx="4942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https://pankajr141.wordpress.com/2017/07/29/probability-distributions/</a:t>
            </a:r>
            <a:r>
              <a:rPr lang="en-US" altLang="ko-KR" sz="1200" dirty="0"/>
              <a:t> </a:t>
            </a:r>
            <a:endParaRPr lang="ko-KR" altLang="en-US" sz="1200" dirty="0"/>
          </a:p>
        </p:txBody>
      </p:sp>
      <p:pic>
        <p:nvPicPr>
          <p:cNvPr id="3074" name="Picture 2" descr="Statistical Probability Cartoons and Comics - funny pictures from  CartoonStock">
            <a:extLst>
              <a:ext uri="{FF2B5EF4-FFF2-40B4-BE49-F238E27FC236}">
                <a16:creationId xmlns:a16="http://schemas.microsoft.com/office/drawing/2014/main" id="{B2C96FEA-EA85-F856-160E-77B37DEC9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052" y="764704"/>
            <a:ext cx="5348344" cy="4642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208DF8-2298-0B71-868D-C1D66067A0EB}"/>
              </a:ext>
            </a:extLst>
          </p:cNvPr>
          <p:cNvSpPr txBox="1"/>
          <p:nvPr/>
        </p:nvSpPr>
        <p:spPr>
          <a:xfrm>
            <a:off x="602052" y="5503469"/>
            <a:ext cx="439248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https://www.cartoonstock.com/directory/s/statistical_probability.asp?srsltid=AfmBOooASIJv72FazaWHEE3MDiL-XPDgI1kKuhjOM1MbhQmE4i7P7ulu</a:t>
            </a:r>
            <a:r>
              <a:rPr lang="en-US" altLang="ko-KR" sz="1050" dirty="0"/>
              <a:t> 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230513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18AE1-D552-2271-232D-C7A0D3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7C4C1A8-1722-BD6D-43C7-7A00C8EE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EE12EB-4DDE-4514-53C5-CEE36B1DD16C}"/>
              </a:ext>
            </a:extLst>
          </p:cNvPr>
          <p:cNvSpPr/>
          <p:nvPr/>
        </p:nvSpPr>
        <p:spPr>
          <a:xfrm>
            <a:off x="909836" y="1111119"/>
            <a:ext cx="1088557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 분포라는 지도가 있어야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확률이라는 길을 찾을 수 있다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altLang="ko-KR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 분포와 확률은 뗄 수 없는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“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동전의 양면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” </a:t>
            </a: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같은 관계이다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altLang="ko-KR" sz="20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데이터의 분포는 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“</a:t>
            </a: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어떤 사건이 일어날 확률의 지도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” </a:t>
            </a:r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라고 할 수 있다</a:t>
            </a:r>
            <a:r>
              <a:rPr lang="en-US" altLang="ko-KR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A2D09CF-818C-9DEC-A4E7-CDAD0058E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3429000"/>
            <a:ext cx="7526783" cy="163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940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www.w3.org/XML/1998/namespace"/>
    <ds:schemaRef ds:uri="http://purl.org/dc/dcmitype/"/>
    <ds:schemaRef ds:uri="a4f35948-e619-41b3-aa29-22878b09cfd2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392</TotalTime>
  <Words>695</Words>
  <Application>Microsoft Office PowerPoint</Application>
  <PresentationFormat>사용자 지정</PresentationFormat>
  <Paragraphs>192</Paragraphs>
  <Slides>45</Slides>
  <Notes>44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5" baseType="lpstr">
      <vt:lpstr>Apple SD Gothic Neo</vt:lpstr>
      <vt:lpstr>맑은 고딕</vt:lpstr>
      <vt:lpstr>한컴 말랑말랑 Bold</vt:lpstr>
      <vt:lpstr>휴먼모음T</vt:lpstr>
      <vt:lpstr>Arial</vt:lpstr>
      <vt:lpstr>Corbel</vt:lpstr>
      <vt:lpstr>Microsoft Sans Serif</vt:lpstr>
      <vt:lpstr>PT Sans</vt:lpstr>
      <vt:lpstr>Wingdings</vt:lpstr>
      <vt:lpstr>마케팅 16x9</vt:lpstr>
      <vt:lpstr>통계학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17</cp:revision>
  <dcterms:created xsi:type="dcterms:W3CDTF">2024-06-03T06:10:16Z</dcterms:created>
  <dcterms:modified xsi:type="dcterms:W3CDTF">2026-03-11T07:54:43Z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