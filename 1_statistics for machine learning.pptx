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39"/>
  </p:notesMasterIdLst>
  <p:handoutMasterIdLst>
    <p:handoutMasterId r:id="rId40"/>
  </p:handoutMasterIdLst>
  <p:sldIdLst>
    <p:sldId id="256" r:id="rId5"/>
    <p:sldId id="270" r:id="rId6"/>
    <p:sldId id="271" r:id="rId7"/>
    <p:sldId id="282" r:id="rId8"/>
    <p:sldId id="279" r:id="rId9"/>
    <p:sldId id="280" r:id="rId10"/>
    <p:sldId id="281" r:id="rId11"/>
    <p:sldId id="299" r:id="rId12"/>
    <p:sldId id="300" r:id="rId13"/>
    <p:sldId id="272" r:id="rId14"/>
    <p:sldId id="301" r:id="rId15"/>
    <p:sldId id="273" r:id="rId16"/>
    <p:sldId id="274" r:id="rId17"/>
    <p:sldId id="276" r:id="rId18"/>
    <p:sldId id="275" r:id="rId19"/>
    <p:sldId id="277" r:id="rId20"/>
    <p:sldId id="278" r:id="rId21"/>
    <p:sldId id="283" r:id="rId22"/>
    <p:sldId id="284" r:id="rId23"/>
    <p:sldId id="285" r:id="rId24"/>
    <p:sldId id="286" r:id="rId25"/>
    <p:sldId id="302" r:id="rId26"/>
    <p:sldId id="287" r:id="rId27"/>
    <p:sldId id="288" r:id="rId28"/>
    <p:sldId id="289" r:id="rId29"/>
    <p:sldId id="290" r:id="rId30"/>
    <p:sldId id="291" r:id="rId31"/>
    <p:sldId id="292" r:id="rId32"/>
    <p:sldId id="293" r:id="rId33"/>
    <p:sldId id="294" r:id="rId34"/>
    <p:sldId id="295" r:id="rId35"/>
    <p:sldId id="296" r:id="rId36"/>
    <p:sldId id="297" r:id="rId37"/>
    <p:sldId id="298" r:id="rId38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2026-02-28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2026-02-28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037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724064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9129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976264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56690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85654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7DACE-676E-EE7D-4489-0639BF654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970EBA-85AC-C86A-802E-95C40DF114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F62820-CC7D-57C3-8FFF-E03C09D0E3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4FAD6A-CE9A-4DC2-EC6C-6C654F6B09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48589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00114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38823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625011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026272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90036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26083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03264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80084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04877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094423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87794-7F4C-FBBC-7428-7C4A74582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A9AF46-C1E7-9C2F-5BD3-50E4E5C762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E690E3-75E4-E1B2-ED5A-033983FA57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442F9-0B07-43B1-2110-481AFC0327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341252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4810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140781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6942264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148668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64910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6495464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2557786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8823350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643187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735917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34118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2026-02-28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2026-02-28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2026-02-28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2026-02-28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2026-02-28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2026-02-28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2026-02-28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2026-02-28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2026-02-28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2026-02-28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2026-02-28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2026-02-28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t.co.kr/opinion/2019/04/09/2019040811152977932" TargetMode="Externa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data/blob/main/customers.csv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preprocessing/plot_all_scaling.html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.autodesk.com/publications/same-stats-different-graph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통계학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3200" b="1" dirty="0"/>
              <a:t>- </a:t>
            </a:r>
            <a:r>
              <a:rPr lang="ko-KR" altLang="en-US" sz="3200" b="1" dirty="0" err="1"/>
              <a:t>머신러닝을</a:t>
            </a:r>
            <a:r>
              <a:rPr lang="ko-KR" altLang="en-US" sz="3200" b="1" dirty="0"/>
              <a:t> 위한 </a:t>
            </a:r>
            <a:r>
              <a:rPr lang="en-US" altLang="ko-KR" sz="3200" b="1" dirty="0"/>
              <a:t>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en-US" altLang="ko-KR" dirty="0"/>
          </a:p>
        </p:txBody>
      </p:sp>
      <p:pic>
        <p:nvPicPr>
          <p:cNvPr id="1028" name="Picture 4" descr="깊은 생각에 잠긴 남자의 청동 조각상">
            <a:extLst>
              <a:ext uri="{FF2B5EF4-FFF2-40B4-BE49-F238E27FC236}">
                <a16:creationId xmlns:a16="http://schemas.microsoft.com/office/drawing/2014/main" id="{4757FD16-A7E9-1C5E-9D31-B9438F456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1268760"/>
            <a:ext cx="8890594" cy="4622186"/>
          </a:xfrm>
          <a:prstGeom prst="rect">
            <a:avLst/>
          </a:prstGeom>
        </p:spPr>
      </p:pic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908720"/>
            <a:ext cx="8556891" cy="5104724"/>
          </a:xfrm>
          <a:prstGeom prst="rect">
            <a:avLst/>
          </a:prstGeom>
        </p:spPr>
      </p:pic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017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pic>
        <p:nvPicPr>
          <p:cNvPr id="1026" name="Picture 2" descr="빅데이터 시대 표본 추출이 필요할까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6020" y="1916832"/>
            <a:ext cx="7304389" cy="4248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333772" y="426325"/>
            <a:ext cx="82809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전수조사</a:t>
            </a:r>
            <a:r>
              <a:rPr lang="en-US" altLang="ko-KR" sz="2000" b="1" dirty="0"/>
              <a:t>(Census)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표본조사</a:t>
            </a:r>
            <a:r>
              <a:rPr lang="en-US" altLang="ko-KR" sz="2000" b="1" dirty="0"/>
              <a:t>(Sampling)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1053852" y="4581128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</a:t>
            </a:r>
            <a:r>
              <a:rPr lang="en-US" altLang="ko-KR" sz="1600" b="1" dirty="0">
                <a:solidFill>
                  <a:srgbClr val="0070C0"/>
                </a:solidFill>
              </a:rPr>
              <a:t> </a:t>
            </a:r>
            <a:r>
              <a:rPr lang="ko-KR" altLang="en-US" sz="1600" b="1" dirty="0">
                <a:solidFill>
                  <a:srgbClr val="0070C0"/>
                </a:solidFill>
              </a:rPr>
              <a:t>분산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9982844" y="3284984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분산 등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6778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844" y="476672"/>
            <a:ext cx="9748245" cy="5605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1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692696"/>
            <a:ext cx="9838746" cy="5326966"/>
          </a:xfrm>
          <a:prstGeom prst="rect">
            <a:avLst/>
          </a:prstGeom>
        </p:spPr>
      </p:pic>
      <p:sp>
        <p:nvSpPr>
          <p:cNvPr id="5" name="말풍선: 타원형 4">
            <a:extLst>
              <a:ext uri="{FF2B5EF4-FFF2-40B4-BE49-F238E27FC236}">
                <a16:creationId xmlns:a16="http://schemas.microsoft.com/office/drawing/2014/main" id="{EA024606-6906-5C69-50C6-9C14C607C158}"/>
              </a:ext>
            </a:extLst>
          </p:cNvPr>
          <p:cNvSpPr/>
          <p:nvPr/>
        </p:nvSpPr>
        <p:spPr>
          <a:xfrm>
            <a:off x="7894612" y="5505817"/>
            <a:ext cx="1944216" cy="850534"/>
          </a:xfrm>
          <a:prstGeom prst="wedgeEllipseCallout">
            <a:avLst>
              <a:gd name="adj1" fmla="val -67667"/>
              <a:gd name="adj2" fmla="val -6946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균등 층화</a:t>
            </a:r>
            <a:r>
              <a:rPr lang="en-US" altLang="ko-KR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</a:p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비례 층화 </a:t>
            </a:r>
          </a:p>
        </p:txBody>
      </p:sp>
    </p:spTree>
    <p:extLst>
      <p:ext uri="{BB962C8B-B14F-4D97-AF65-F5344CB8AC3E}">
        <p14:creationId xmlns:p14="http://schemas.microsoft.com/office/powerpoint/2010/main" val="2455660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852" y="908720"/>
            <a:ext cx="9046658" cy="3651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095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493346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모집단으로 가정하고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변수의 값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분포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평균과 분산을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평균의 함정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(the pitfall of mean)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모집단에서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표본추출방법을 파이썬 코드로 제시하라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표본과 모집단과의 평균과 분산을 비교한 후 어떤 표본추출방법이 가장 적합한지 토론하라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E396372-435D-01F1-308C-E5EFFE043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394" y="1919399"/>
            <a:ext cx="8640960" cy="11974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54576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1C135-780A-D855-FC3F-601039C32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CC395D1-45E4-42FD-D66D-18A4FFB3BF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9876" y="620688"/>
            <a:ext cx="7956375" cy="5304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B9F0C6-43A9-D111-BC6D-8E8DCE050C89}"/>
              </a:ext>
            </a:extLst>
          </p:cNvPr>
          <p:cNvSpPr txBox="1"/>
          <p:nvPr/>
        </p:nvSpPr>
        <p:spPr>
          <a:xfrm>
            <a:off x="2762272" y="5987394"/>
            <a:ext cx="64442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https://www.mt.co.kr/opinion/2019/04/09/2019040811152977932</a:t>
            </a:r>
            <a:r>
              <a:rPr lang="ko-KR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6063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슬라이드 번호 개체 틀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pic>
        <p:nvPicPr>
          <p:cNvPr id="30" name="그림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507050"/>
            <a:ext cx="7667569" cy="6051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121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7D2E6-5BC7-CAB3-2C0E-BC7A94E56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E0B742-A325-A1D7-3871-5E6D27347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ECDB0-CB65-5095-E5F1-4DBAE2D472C4}"/>
              </a:ext>
            </a:extLst>
          </p:cNvPr>
          <p:cNvSpPr txBox="1"/>
          <p:nvPr/>
        </p:nvSpPr>
        <p:spPr>
          <a:xfrm>
            <a:off x="765820" y="1196752"/>
            <a:ext cx="11233248" cy="124014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  <a:hlinkClick r:id="rId3"/>
              </a:rPr>
              <a:t>https://github.com/ancestor9/data/blob/main/customers.csv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데이터를 데이터셋으로 읽은 후 컴퓨터가 인식할 수 있도록 모든 데이터를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수치화하여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표현하라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02541C-2872-A95A-EE57-431C02DDCF2D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1E2A028-0B51-A118-8E7B-4E624F2A4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868" y="2770753"/>
            <a:ext cx="8064896" cy="30790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0BC356-F6E6-69F8-92C0-0C77A8297D86}"/>
              </a:ext>
            </a:extLst>
          </p:cNvPr>
          <p:cNvSpPr txBox="1"/>
          <p:nvPr/>
        </p:nvSpPr>
        <p:spPr>
          <a:xfrm rot="591990">
            <a:off x="9669996" y="327099"/>
            <a:ext cx="22746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Data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Representation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101704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993" y="330079"/>
            <a:ext cx="8841742" cy="620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631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764704"/>
            <a:ext cx="7920880" cy="547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910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852" y="1052736"/>
            <a:ext cx="2484460" cy="4337096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2364" y="1052736"/>
            <a:ext cx="6264696" cy="4765453"/>
          </a:xfrm>
          <a:prstGeom prst="rect">
            <a:avLst/>
          </a:prstGeom>
        </p:spPr>
      </p:pic>
      <p:cxnSp>
        <p:nvCxnSpPr>
          <p:cNvPr id="10" name="직선 화살표 연결선 9"/>
          <p:cNvCxnSpPr/>
          <p:nvPr/>
        </p:nvCxnSpPr>
        <p:spPr>
          <a:xfrm>
            <a:off x="4006180" y="2996952"/>
            <a:ext cx="93610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303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96" y="691942"/>
            <a:ext cx="7993330" cy="5664409"/>
          </a:xfrm>
          <a:prstGeom prst="rect">
            <a:avLst/>
          </a:prstGeom>
        </p:spPr>
      </p:pic>
      <p:pic>
        <p:nvPicPr>
          <p:cNvPr id="2050" name="Picture 2" descr="통계 상식] 상자 그림 (Box Plot) : 네이버 블로그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0313" y="4052095"/>
            <a:ext cx="4608512" cy="2304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4389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171" y="692696"/>
            <a:ext cx="8285378" cy="5573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446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764704"/>
            <a:ext cx="9325163" cy="515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387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32656"/>
            <a:ext cx="9009202" cy="6286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618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01296"/>
            <a:ext cx="9241668" cy="605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839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641" y="476672"/>
            <a:ext cx="8950072" cy="606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822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692696"/>
            <a:ext cx="8363603" cy="532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863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CA93F-9320-AA29-DD22-5787CD1AE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738F9A0-959B-A2DA-6277-877D961F5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7EF4CE-9940-CC09-51C5-2EBE0F113CBC}"/>
              </a:ext>
            </a:extLst>
          </p:cNvPr>
          <p:cNvSpPr txBox="1"/>
          <p:nvPr/>
        </p:nvSpPr>
        <p:spPr>
          <a:xfrm>
            <a:off x="765820" y="1196752"/>
            <a:ext cx="11233248" cy="169277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수치형 변수 값의 서로 크기가 다른 경우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scaling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하는 방법과 그 이유를 토론하라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 scaling)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from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sklearn.datasets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import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fetch_california_housing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의 데이터의 변수 중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"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MedInc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", "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AveOccup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“ 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에 대한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joinplot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을 </a:t>
            </a:r>
            <a:r>
              <a:rPr lang="ko-KR" altLang="en-US" sz="1600" dirty="0" err="1">
                <a:latin typeface="Microsoft Sans Serif" panose="020B0604020202020204" pitchFamily="34" charset="0"/>
                <a:cs typeface="Microsoft Sans Serif" panose="020B0604020202020204" pitchFamily="34" charset="0"/>
              </a:rPr>
              <a:t>시각화하라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3"/>
              </a:rPr>
              <a:t>https://scikit-learn.org/stable/auto_examples/preprocessing/plot_all_scaling.html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자료원을 이해하고 평균과 분산이 각각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0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과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인 형태로 표준화한 후 시각화 코드를 만들어라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071B73-BC5B-2117-7605-77E384E9D1A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84FD0F-761F-BA66-F243-41B3BE7940EE}"/>
              </a:ext>
            </a:extLst>
          </p:cNvPr>
          <p:cNvSpPr txBox="1"/>
          <p:nvPr/>
        </p:nvSpPr>
        <p:spPr>
          <a:xfrm rot="591990">
            <a:off x="9669996" y="327099"/>
            <a:ext cx="22746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Data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Representation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ko-KR" altLang="en-US" sz="2400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1A821FDE-1A23-9E3C-69A7-B9779CAFA6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8191" y="3123294"/>
            <a:ext cx="7338745" cy="3228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BC234EE9-715B-F469-E101-412D387BAE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509" y="3135035"/>
            <a:ext cx="3240360" cy="3313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08154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404664"/>
            <a:ext cx="8656065" cy="6025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63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8087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기술 통계분석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(Descriptive Statistics </a:t>
            </a:r>
            <a:r>
              <a:rPr lang="en-US" altLang="ko-KR" sz="2800" b="1" dirty="0" err="1">
                <a:solidFill>
                  <a:srgbClr val="313131"/>
                </a:solidFill>
                <a:latin typeface="PT Sans"/>
              </a:rPr>
              <a:t>Analyssis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)</a:t>
            </a:r>
            <a:endParaRPr lang="ko-KR" altLang="en-US" sz="2800" b="1" dirty="0"/>
          </a:p>
        </p:txBody>
      </p:sp>
      <p:sp>
        <p:nvSpPr>
          <p:cNvPr id="3" name="직사각형 2"/>
          <p:cNvSpPr/>
          <p:nvPr/>
        </p:nvSpPr>
        <p:spPr>
          <a:xfrm>
            <a:off x="1053852" y="1988840"/>
            <a:ext cx="10945216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040C28"/>
                </a:solidFill>
                <a:latin typeface="Apple SD Gothic Neo"/>
              </a:rPr>
              <a:t>모집단으로부터 수집된 데이터를 잘 요약하여 모집단에 대하여 유용한 정보를 생산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한다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기술통계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분석에서는 데이터를 그래프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, 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표 또는 </a:t>
            </a: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대표값을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나타내는 숫자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(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통계량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)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로 요약한다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우리는 실생활에서 많은 </a:t>
            </a: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기술통계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분석 자료를 접할 수 있다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892293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548680"/>
            <a:ext cx="8628091" cy="5919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459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620688"/>
            <a:ext cx="8719541" cy="602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826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969" y="486232"/>
            <a:ext cx="8387629" cy="589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987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0252" y="1732891"/>
            <a:ext cx="7323814" cy="1915163"/>
          </a:xfrm>
          <a:prstGeom prst="rect">
            <a:avLst/>
          </a:prstGeom>
        </p:spPr>
      </p:pic>
      <p:graphicFrame>
        <p:nvGraphicFramePr>
          <p:cNvPr id="4" name="표 3"/>
          <p:cNvGraphicFramePr>
            <a:graphicFrameLocks noGrp="1"/>
          </p:cNvGraphicFramePr>
          <p:nvPr/>
        </p:nvGraphicFramePr>
        <p:xfrm>
          <a:off x="1465388" y="3861048"/>
          <a:ext cx="8691966" cy="1944215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1356911">
                  <a:extLst>
                    <a:ext uri="{9D8B030D-6E8A-4147-A177-3AD203B41FA5}">
                      <a16:colId xmlns:a16="http://schemas.microsoft.com/office/drawing/2014/main" val="1244400802"/>
                    </a:ext>
                  </a:extLst>
                </a:gridCol>
                <a:gridCol w="3856484">
                  <a:extLst>
                    <a:ext uri="{9D8B030D-6E8A-4147-A177-3AD203B41FA5}">
                      <a16:colId xmlns:a16="http://schemas.microsoft.com/office/drawing/2014/main" val="1653387009"/>
                    </a:ext>
                  </a:extLst>
                </a:gridCol>
                <a:gridCol w="3478571">
                  <a:extLst>
                    <a:ext uri="{9D8B030D-6E8A-4147-A177-3AD203B41FA5}">
                      <a16:colId xmlns:a16="http://schemas.microsoft.com/office/drawing/2014/main" val="1356363407"/>
                    </a:ext>
                  </a:extLst>
                </a:gridCol>
              </a:tblGrid>
              <a:tr h="388843"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구분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막대그래프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히스토그램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782737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데이터 유형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범주적 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종교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직업 등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연속적 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몸무게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성적 등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062187749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막대 순서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임의적으로 변경 가능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변경 불가능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2984857083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막대 간격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일정한 간격 유지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간격 없이 표현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1216552190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용도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범주의 비교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순위 표시 등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데이터 분포 표현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9854538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05780" y="561597"/>
            <a:ext cx="42931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막대그래프 </a:t>
            </a:r>
            <a:r>
              <a:rPr lang="en-US" altLang="ko-KR" sz="2800" b="1" dirty="0"/>
              <a:t>vs. </a:t>
            </a:r>
            <a:r>
              <a:rPr lang="ko-KR" altLang="en-US" sz="2800" b="1" dirty="0"/>
              <a:t>히스토그램</a:t>
            </a:r>
          </a:p>
        </p:txBody>
      </p:sp>
    </p:spTree>
    <p:extLst>
      <p:ext uri="{BB962C8B-B14F-4D97-AF65-F5344CB8AC3E}">
        <p14:creationId xmlns:p14="http://schemas.microsoft.com/office/powerpoint/2010/main" val="4159755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1052736"/>
            <a:ext cx="7484337" cy="1890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182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476672"/>
            <a:ext cx="8932152" cy="5764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925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620688"/>
            <a:ext cx="8992459" cy="5683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832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71014"/>
            <a:ext cx="8751898" cy="6002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722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293380"/>
            <a:ext cx="8737599" cy="606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987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6795" y="2276872"/>
            <a:ext cx="9305875" cy="3511008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666947" y="764704"/>
            <a:ext cx="10885572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400" dirty="0" err="1">
                <a:solidFill>
                  <a:srgbClr val="FF0000"/>
                </a:solidFill>
                <a:hlinkClick r:id="rId4"/>
              </a:rPr>
              <a:t>autodesk</a:t>
            </a:r>
            <a:endParaRPr lang="en-US" altLang="ko-KR" sz="2400" dirty="0">
              <a:solidFill>
                <a:srgbClr val="FF0000"/>
              </a:solidFill>
            </a:endParaRPr>
          </a:p>
          <a:p>
            <a:r>
              <a:rPr lang="en-US" altLang="ko-KR" dirty="0"/>
              <a:t>- </a:t>
            </a:r>
            <a:r>
              <a:rPr lang="ko-KR" altLang="en-US" dirty="0">
                <a:hlinkClick r:id="rId4"/>
              </a:rPr>
              <a:t>https://www.research.autodesk.com/publications/same-stats-different-graphs/</a:t>
            </a:r>
            <a:r>
              <a:rPr lang="ko-KR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8695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Props1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0AACE6D-8EB6-447A-8DFD-C2C0C52916AC}">
  <ds:schemaRefs>
    <ds:schemaRef ds:uri="http://purl.org/dc/elements/1.1/"/>
    <ds:schemaRef ds:uri="http://purl.org/dc/terms/"/>
    <ds:schemaRef ds:uri="http://schemas.microsoft.com/office/2006/metadata/properties"/>
    <ds:schemaRef ds:uri="a4f35948-e619-41b3-aa29-22878b09cfd2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40262f94-9f35-4ac3-9a90-690165a166b7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282</TotalTime>
  <Words>396</Words>
  <Application>Microsoft Office PowerPoint</Application>
  <PresentationFormat>사용자 지정</PresentationFormat>
  <Paragraphs>118</Paragraphs>
  <Slides>34</Slides>
  <Notes>33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3" baseType="lpstr">
      <vt:lpstr>Apple SD Gothic Neo</vt:lpstr>
      <vt:lpstr>맑은 고딕</vt:lpstr>
      <vt:lpstr>휴먼모음T</vt:lpstr>
      <vt:lpstr>Arial</vt:lpstr>
      <vt:lpstr>Corbel</vt:lpstr>
      <vt:lpstr>Microsoft Sans Serif</vt:lpstr>
      <vt:lpstr>PT Sans</vt:lpstr>
      <vt:lpstr>Wingdings</vt:lpstr>
      <vt:lpstr>마케팅 16x9</vt:lpstr>
      <vt:lpstr>통계학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14</cp:revision>
  <dcterms:created xsi:type="dcterms:W3CDTF">2024-06-03T06:10:16Z</dcterms:created>
  <dcterms:modified xsi:type="dcterms:W3CDTF">2026-02-28T03:39:57Z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