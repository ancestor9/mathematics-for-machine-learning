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45"/>
  </p:notesMasterIdLst>
  <p:handoutMasterIdLst>
    <p:handoutMasterId r:id="rId46"/>
  </p:handoutMasterIdLst>
  <p:sldIdLst>
    <p:sldId id="256" r:id="rId5"/>
    <p:sldId id="270" r:id="rId6"/>
    <p:sldId id="271" r:id="rId7"/>
    <p:sldId id="282" r:id="rId8"/>
    <p:sldId id="279" r:id="rId9"/>
    <p:sldId id="280" r:id="rId10"/>
    <p:sldId id="281" r:id="rId11"/>
    <p:sldId id="299" r:id="rId12"/>
    <p:sldId id="300" r:id="rId13"/>
    <p:sldId id="272" r:id="rId14"/>
    <p:sldId id="301" r:id="rId15"/>
    <p:sldId id="273" r:id="rId16"/>
    <p:sldId id="274" r:id="rId17"/>
    <p:sldId id="275" r:id="rId18"/>
    <p:sldId id="277" r:id="rId19"/>
    <p:sldId id="278" r:id="rId20"/>
    <p:sldId id="283" r:id="rId21"/>
    <p:sldId id="284" r:id="rId22"/>
    <p:sldId id="285" r:id="rId23"/>
    <p:sldId id="286" r:id="rId24"/>
    <p:sldId id="292" r:id="rId25"/>
    <p:sldId id="276" r:id="rId26"/>
    <p:sldId id="304" r:id="rId27"/>
    <p:sldId id="287" r:id="rId28"/>
    <p:sldId id="288" r:id="rId29"/>
    <p:sldId id="289" r:id="rId30"/>
    <p:sldId id="290" r:id="rId31"/>
    <p:sldId id="291" r:id="rId32"/>
    <p:sldId id="302" r:id="rId33"/>
    <p:sldId id="305" r:id="rId34"/>
    <p:sldId id="293" r:id="rId35"/>
    <p:sldId id="294" r:id="rId36"/>
    <p:sldId id="295" r:id="rId37"/>
    <p:sldId id="296" r:id="rId38"/>
    <p:sldId id="297" r:id="rId39"/>
    <p:sldId id="298" r:id="rId40"/>
    <p:sldId id="303" r:id="rId41"/>
    <p:sldId id="308" r:id="rId42"/>
    <p:sldId id="309" r:id="rId43"/>
    <p:sldId id="307" r:id="rId44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10258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2026-03-14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037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24064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912911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976264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56690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11AD0-4C3D-624F-60D5-D6B10979AF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92E39F4-6A0C-4A9C-8B5C-ABADDEE59D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6EE43D-9CFD-3468-D78B-FF731CBFE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0231CF-5B5C-C65B-77E3-2B290203E1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1350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85654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7DACE-676E-EE7D-4489-0639BF654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970EBA-85AC-C86A-802E-95C40DF114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F62820-CC7D-57C3-8FFF-E03C09D0E3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4FAD6A-CE9A-4DC2-EC6C-6C654F6B09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448589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00114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38823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026272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90036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26083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3032645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680084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0048770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609442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186491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625011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4EB22-843F-B334-E6A0-A4DF0CDD4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72359-A2CB-B71F-2F8E-4B88FCD5E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EBA1003-C340-051A-B8F2-D9A16BA016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E94B1B-A1A1-EC21-AC3C-ED2837BE80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1237594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764810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6140781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694226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148668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87794-7F4C-FBBC-7428-7C4A74582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6A9AF46-C1E7-9C2F-5BD3-50E4E5C76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690E3-75E4-E1B2-ED5A-033983FA57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442F9-0B07-43B1-2110-481AFC03275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29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9964912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451BE-CFE1-1378-57AE-7DC4819F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0E0D8CB-E1FF-24B6-CF17-E3AD25851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F935C3-89CA-E305-E702-F54A39A60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5DE317-9F1E-A83E-1D98-7EB86D5587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696117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495464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255778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2335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64318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7735917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934118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2455EC-C9C7-8459-A356-01E08837C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2DAF36B-9643-470F-6133-67D4307CE8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8D66C9-8E60-55C5-864F-FE774C395C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B97AF4-1C79-62BE-E662-CE646AF420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2875234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B1111-0F2C-72CD-1A8C-DE20D1349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D0A8F7-D3A7-3B77-DA76-D13BEAE2D4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A0989BA-EE78-7BC1-B768-664079BC9C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5AB258-08B6-57BF-2449-3EC2E44E8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525163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C0063C-CFE3-17F5-0A6B-13894E49F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71BD372-58F3-74D3-962C-62D6166ECF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5D5C3F-35B9-22A4-141C-0742E72F79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E03DE3-F8A2-5FC5-4D16-A7E29C51C2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929636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37C32-7383-2B90-D316-0B7106F17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5A47C4-78D3-B6B1-45B8-8D6F5BA52C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3606D4-A7F7-79E8-C685-45A220AF97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A52C2-B18A-CA0F-A3BA-D977DA520E7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40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329584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2026-03-14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2026-03-14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t.co.kr/opinion/2019/04/09/2019040811152977932" TargetMode="External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data/blob/main/customers.csv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4.png"/><Relationship Id="rId7" Type="http://schemas.openxmlformats.org/officeDocument/2006/relationships/hyperlink" Target="https://wikidocs.net/145262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cikit-learn.org/stable/modules/preprocessing.html" TargetMode="External"/><Relationship Id="rId5" Type="http://schemas.openxmlformats.org/officeDocument/2006/relationships/hyperlink" Target="https://scikit-learn.org/stable/modules/generated/sklearn.preprocessing.StandardScaler.html" TargetMode="External"/><Relationship Id="rId4" Type="http://schemas.openxmlformats.org/officeDocument/2006/relationships/hyperlink" Target="https://github.com/ancestor9/data/blob/main/human_data.csv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preprocessing/plot_all_scaling.html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ml.org/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.autodesk.com/publications/same-stats-different-graphs/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eaborn.pydata.org/examples/multiple_regression.html" TargetMode="External"/><Relationship Id="rId5" Type="http://schemas.openxmlformats.org/officeDocument/2006/relationships/image" Target="../media/image41.png"/><Relationship Id="rId4" Type="http://schemas.openxmlformats.org/officeDocument/2006/relationships/hyperlink" Target="https://seaborn.pydata.org/examples/multiple_bivariate_kde.html" TargetMode="Externa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3.png"/><Relationship Id="rId4" Type="http://schemas.openxmlformats.org/officeDocument/2006/relationships/hyperlink" Target="https://informationisbeautiful.net/" TargetMode="Externa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2959223"/>
          </a:xfrm>
        </p:spPr>
        <p:txBody>
          <a:bodyPr rtlCol="0">
            <a:normAutofit/>
          </a:bodyPr>
          <a:lstStyle/>
          <a:p>
            <a:pPr rtl="0"/>
            <a:r>
              <a:rPr lang="ko-KR" altLang="en-US" b="1" dirty="0"/>
              <a:t>통계학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3200" b="1" dirty="0"/>
              <a:t>- </a:t>
            </a:r>
            <a:r>
              <a:rPr lang="ko-KR" altLang="en-US" sz="3200" b="1" dirty="0"/>
              <a:t>기술 통계 </a:t>
            </a:r>
            <a:r>
              <a:rPr lang="en-US" altLang="ko-KR" sz="3200" b="1" dirty="0"/>
              <a:t>-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en-US" altLang="ko-KR" dirty="0"/>
          </a:p>
        </p:txBody>
      </p:sp>
      <p:pic>
        <p:nvPicPr>
          <p:cNvPr id="1028" name="Picture 4" descr="깊은 생각에 잠긴 남자의 청동 조각상">
            <a:extLst>
              <a:ext uri="{FF2B5EF4-FFF2-40B4-BE49-F238E27FC236}">
                <a16:creationId xmlns:a16="http://schemas.microsoft.com/office/drawing/2014/main" id="{4757FD16-A7E9-1C5E-9D31-B9438F4567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1268760"/>
            <a:ext cx="8890594" cy="4622186"/>
          </a:xfrm>
          <a:prstGeom prst="rect">
            <a:avLst/>
          </a:prstGeom>
        </p:spPr>
      </p:pic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892" y="908720"/>
            <a:ext cx="8556891" cy="5104724"/>
          </a:xfrm>
          <a:prstGeom prst="rect">
            <a:avLst/>
          </a:prstGeom>
        </p:spPr>
      </p:pic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0170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슬라이드 번호 개체 틀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</a:t>
            </a:fld>
            <a:endParaRPr lang="en-US" altLang="ko-KR" noProof="0" dirty="0"/>
          </a:p>
        </p:txBody>
      </p:sp>
      <p:pic>
        <p:nvPicPr>
          <p:cNvPr id="1026" name="Picture 2" descr="빅데이터 시대 표본 추출이 필요할까?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6020" y="1916832"/>
            <a:ext cx="7304389" cy="4248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33772" y="426325"/>
            <a:ext cx="828092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전수조사</a:t>
            </a:r>
            <a:r>
              <a:rPr lang="en-US" altLang="ko-KR" sz="2000" b="1" dirty="0"/>
              <a:t>(Census)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b="1" dirty="0"/>
              <a:t>표본조사</a:t>
            </a:r>
            <a:r>
              <a:rPr lang="en-US" altLang="ko-KR" sz="2000" b="1" dirty="0"/>
              <a:t>(Sampling)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1053852" y="4581128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모집단</a:t>
            </a:r>
            <a:r>
              <a:rPr lang="en-US" altLang="ko-KR" sz="1600" b="1" dirty="0">
                <a:solidFill>
                  <a:srgbClr val="0070C0"/>
                </a:solidFill>
              </a:rPr>
              <a:t> </a:t>
            </a:r>
            <a:r>
              <a:rPr lang="ko-KR" altLang="en-US" sz="1600" b="1" dirty="0">
                <a:solidFill>
                  <a:srgbClr val="0070C0"/>
                </a:solidFill>
              </a:rPr>
              <a:t>분산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9982844" y="3284984"/>
            <a:ext cx="1872629" cy="110799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b="1" dirty="0" err="1">
                <a:solidFill>
                  <a:srgbClr val="0070C0"/>
                </a:solidFill>
              </a:rPr>
              <a:t>모수</a:t>
            </a:r>
            <a:r>
              <a:rPr lang="ko-KR" altLang="en-US" b="1" dirty="0">
                <a:solidFill>
                  <a:srgbClr val="0070C0"/>
                </a:solidFill>
              </a:rPr>
              <a:t> </a:t>
            </a:r>
            <a:r>
              <a:rPr lang="en-US" altLang="ko-KR" b="1" dirty="0">
                <a:solidFill>
                  <a:srgbClr val="0070C0"/>
                </a:solidFill>
              </a:rPr>
              <a:t>(parameter)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평균</a:t>
            </a:r>
            <a:endParaRPr lang="en-US" altLang="ko-KR" sz="1600" b="1" dirty="0">
              <a:solidFill>
                <a:srgbClr val="0070C0"/>
              </a:solidFill>
            </a:endParaRP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ko-KR" altLang="en-US" sz="1600" b="1" dirty="0">
                <a:solidFill>
                  <a:srgbClr val="0070C0"/>
                </a:solidFill>
              </a:rPr>
              <a:t>표본 분산 등</a:t>
            </a:r>
            <a:endParaRPr lang="ko-KR" altLang="en-US" sz="16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67781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844" y="476672"/>
            <a:ext cx="9748245" cy="5605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119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692696"/>
            <a:ext cx="9838746" cy="5326966"/>
          </a:xfrm>
          <a:prstGeom prst="rect">
            <a:avLst/>
          </a:prstGeom>
        </p:spPr>
      </p:pic>
      <p:sp>
        <p:nvSpPr>
          <p:cNvPr id="5" name="말풍선: 타원형 4">
            <a:extLst>
              <a:ext uri="{FF2B5EF4-FFF2-40B4-BE49-F238E27FC236}">
                <a16:creationId xmlns:a16="http://schemas.microsoft.com/office/drawing/2014/main" id="{EA024606-6906-5C69-50C6-9C14C607C158}"/>
              </a:ext>
            </a:extLst>
          </p:cNvPr>
          <p:cNvSpPr/>
          <p:nvPr/>
        </p:nvSpPr>
        <p:spPr>
          <a:xfrm>
            <a:off x="7894612" y="5505817"/>
            <a:ext cx="1944216" cy="850534"/>
          </a:xfrm>
          <a:prstGeom prst="wedgeEllipseCallout">
            <a:avLst>
              <a:gd name="adj1" fmla="val -67667"/>
              <a:gd name="adj2" fmla="val -6946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균등 층화</a:t>
            </a:r>
            <a:r>
              <a:rPr lang="en-US" altLang="ko-KR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</a:p>
          <a:p>
            <a:r>
              <a:rPr lang="ko-KR" altLang="en-US" b="1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비례 층화 </a:t>
            </a:r>
          </a:p>
        </p:txBody>
      </p:sp>
    </p:spTree>
    <p:extLst>
      <p:ext uri="{BB962C8B-B14F-4D97-AF65-F5344CB8AC3E}">
        <p14:creationId xmlns:p14="http://schemas.microsoft.com/office/powerpoint/2010/main" val="2455660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852" y="908720"/>
            <a:ext cx="9046658" cy="3651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0954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8BFDF-043C-D416-8A82-CFA167E4C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E44CB5B-45F9-105B-6990-2F9C08EBD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EA21184-37EF-AC7E-BD87-A4D8546D0FD6}"/>
              </a:ext>
            </a:extLst>
          </p:cNvPr>
          <p:cNvSpPr txBox="1"/>
          <p:nvPr/>
        </p:nvSpPr>
        <p:spPr>
          <a:xfrm>
            <a:off x="765820" y="1196752"/>
            <a:ext cx="11233248" cy="49334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를 모집단으로 가정하고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변수의 값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분포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평균과 분산을 설명하라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평균의 함정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(the pitfall of mean)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seaborn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tips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표본추출방법을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가지 표본과 모집단과의 평균과 분산을 비교한 후 어떤 표본추출방법이 가장 적합한지 토론하라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E396372-435D-01F1-308C-E5EFFE0434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6394" y="1919399"/>
            <a:ext cx="8640960" cy="11974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0152FC-1579-E1AE-98F9-EEC881A49A22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39545762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D1C135-780A-D855-FC3F-601039C32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CC395D1-45E4-42FD-D66D-18A4FFB3BF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9876" y="620688"/>
            <a:ext cx="7956375" cy="530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FB9F0C6-43A9-D111-BC6D-8E8DCE050C89}"/>
              </a:ext>
            </a:extLst>
          </p:cNvPr>
          <p:cNvSpPr txBox="1"/>
          <p:nvPr/>
        </p:nvSpPr>
        <p:spPr>
          <a:xfrm>
            <a:off x="2762272" y="5987394"/>
            <a:ext cx="64442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linkClick r:id="rId3"/>
              </a:rPr>
              <a:t>https://www.mt.co.kr/opinion/2019/04/09/2019040811152977932</a:t>
            </a:r>
            <a:r>
              <a:rPr lang="ko-KR" alt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606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슬라이드 번호 개체 틀 2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507050"/>
            <a:ext cx="7667569" cy="6051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1121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7D2E6-5BC7-CAB3-2C0E-BC7A94E56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31E0B742-A325-A1D7-3871-5E6D27347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ECDB0-CB65-5095-E5F1-4DBAE2D472C4}"/>
              </a:ext>
            </a:extLst>
          </p:cNvPr>
          <p:cNvSpPr txBox="1"/>
          <p:nvPr/>
        </p:nvSpPr>
        <p:spPr>
          <a:xfrm>
            <a:off x="765820" y="1196752"/>
            <a:ext cx="11233248" cy="124014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/>
              </a:rPr>
              <a:t>https://github.com/ancestor9/data/blob/main/customers.csv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데이터를 데이터셋으로 읽은 후 컴퓨터가 인식할 수 있도록 모든 데이터를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수치화하여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표현하라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02541C-2872-A95A-EE57-431C02DDCF2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1E2A028-0B51-A118-8E7B-4E624F2A4BF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8" y="2770753"/>
            <a:ext cx="8064896" cy="307902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30BC356-F6E6-69F8-92C0-0C77A8297D8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11017048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993" y="330079"/>
            <a:ext cx="8841742" cy="6208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96314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764704"/>
            <a:ext cx="7920880" cy="5476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9109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796" y="691942"/>
            <a:ext cx="7993330" cy="5664409"/>
          </a:xfrm>
          <a:prstGeom prst="rect">
            <a:avLst/>
          </a:prstGeom>
        </p:spPr>
      </p:pic>
      <p:pic>
        <p:nvPicPr>
          <p:cNvPr id="2050" name="Picture 2" descr="통계 상식] 상자 그림 (Box Plot) : 네이버 블로그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80313" y="4052095"/>
            <a:ext cx="4608512" cy="2304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3897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171" y="692696"/>
            <a:ext cx="8285378" cy="5573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4460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764704"/>
            <a:ext cx="9325163" cy="515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5387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32656"/>
            <a:ext cx="9009202" cy="62863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0618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18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301296"/>
            <a:ext cx="9241668" cy="6052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839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19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4641" y="476672"/>
            <a:ext cx="8950072" cy="606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3822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20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1964" y="692696"/>
            <a:ext cx="8363603" cy="5328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21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0252" y="1732891"/>
            <a:ext cx="7323814" cy="1915163"/>
          </a:xfrm>
          <a:prstGeom prst="rect">
            <a:avLst/>
          </a:prstGeom>
        </p:spPr>
      </p:pic>
      <p:graphicFrame>
        <p:nvGraphicFramePr>
          <p:cNvPr id="4" name="표 3"/>
          <p:cNvGraphicFramePr>
            <a:graphicFrameLocks noGrp="1"/>
          </p:cNvGraphicFramePr>
          <p:nvPr/>
        </p:nvGraphicFramePr>
        <p:xfrm>
          <a:off x="1465388" y="3861048"/>
          <a:ext cx="8691966" cy="1944215"/>
        </p:xfrm>
        <a:graphic>
          <a:graphicData uri="http://schemas.openxmlformats.org/drawingml/2006/table">
            <a:tbl>
              <a:tblPr>
                <a:tableStyleId>{C4B1156A-380E-4F78-BDF5-A606A8083BF9}</a:tableStyleId>
              </a:tblPr>
              <a:tblGrid>
                <a:gridCol w="1356911">
                  <a:extLst>
                    <a:ext uri="{9D8B030D-6E8A-4147-A177-3AD203B41FA5}">
                      <a16:colId xmlns:a16="http://schemas.microsoft.com/office/drawing/2014/main" val="1244400802"/>
                    </a:ext>
                  </a:extLst>
                </a:gridCol>
                <a:gridCol w="3856484">
                  <a:extLst>
                    <a:ext uri="{9D8B030D-6E8A-4147-A177-3AD203B41FA5}">
                      <a16:colId xmlns:a16="http://schemas.microsoft.com/office/drawing/2014/main" val="1653387009"/>
                    </a:ext>
                  </a:extLst>
                </a:gridCol>
                <a:gridCol w="3478571">
                  <a:extLst>
                    <a:ext uri="{9D8B030D-6E8A-4147-A177-3AD203B41FA5}">
                      <a16:colId xmlns:a16="http://schemas.microsoft.com/office/drawing/2014/main" val="1356363407"/>
                    </a:ext>
                  </a:extLst>
                </a:gridCol>
              </a:tblGrid>
              <a:tr h="388843"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구분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막대그래프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/>
                      <a:r>
                        <a:rPr lang="ko-KR" altLang="en-US" sz="1600" b="1" dirty="0">
                          <a:solidFill>
                            <a:schemeClr val="bg1"/>
                          </a:solidFill>
                          <a:effectLst/>
                        </a:rPr>
                        <a:t>히스토그램</a:t>
                      </a:r>
                    </a:p>
                  </a:txBody>
                  <a:tcPr marL="27816" marR="27816" marT="18544" marB="18544" anchor="b"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82737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유형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범주적 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종교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직업 등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연속적 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(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몸무게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성적 등</a:t>
                      </a:r>
                      <a:r>
                        <a:rPr lang="en-US" altLang="ko-KR" sz="1600" b="1"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062187749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막대 순서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임의적으로 변경 가능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변경 불가능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2984857083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막대 간격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일정한 간격 유지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간격 없이 표현</a:t>
                      </a:r>
                    </a:p>
                  </a:txBody>
                  <a:tcPr marL="27816" marR="27816" marT="18544" marB="18544" anchor="b"/>
                </a:tc>
                <a:extLst>
                  <a:ext uri="{0D108BD9-81ED-4DB2-BD59-A6C34878D82A}">
                    <a16:rowId xmlns:a16="http://schemas.microsoft.com/office/drawing/2014/main" val="1216552190"/>
                  </a:ext>
                </a:extLst>
              </a:tr>
              <a:tr h="388843">
                <a:tc>
                  <a:txBody>
                    <a:bodyPr/>
                    <a:lstStyle/>
                    <a:p>
                      <a:pPr rtl="0" fontAlgn="b"/>
                      <a:r>
                        <a:rPr lang="ko-KR" altLang="en-US" sz="1600" b="1">
                          <a:solidFill>
                            <a:schemeClr val="tx1"/>
                          </a:solidFill>
                          <a:effectLst/>
                        </a:rPr>
                        <a:t>용도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범주의 비교</a:t>
                      </a:r>
                      <a:r>
                        <a:rPr lang="en-US" altLang="ko-KR" sz="1600" b="1" dirty="0">
                          <a:solidFill>
                            <a:schemeClr val="tx1"/>
                          </a:solidFill>
                          <a:effectLst/>
                        </a:rPr>
                        <a:t>, </a:t>
                      </a: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순위 표시 등</a:t>
                      </a:r>
                    </a:p>
                  </a:txBody>
                  <a:tcPr marL="27816" marR="27816" marT="18544" marB="18544" anchor="b"/>
                </a:tc>
                <a:tc>
                  <a:txBody>
                    <a:bodyPr/>
                    <a:lstStyle/>
                    <a:p>
                      <a:pPr marL="285750" indent="-285750" rtl="0" fontAlgn="b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="1" dirty="0">
                          <a:solidFill>
                            <a:schemeClr val="tx1"/>
                          </a:solidFill>
                          <a:effectLst/>
                        </a:rPr>
                        <a:t>데이터 분포 표현</a:t>
                      </a:r>
                    </a:p>
                  </a:txBody>
                  <a:tcPr marL="0" marR="0" marT="18544" marB="18544" anchor="b"/>
                </a:tc>
                <a:extLst>
                  <a:ext uri="{0D108BD9-81ED-4DB2-BD59-A6C34878D82A}">
                    <a16:rowId xmlns:a16="http://schemas.microsoft.com/office/drawing/2014/main" val="398545381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05780" y="561597"/>
            <a:ext cx="42931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막대그래프 </a:t>
            </a:r>
            <a:r>
              <a:rPr lang="en-US" altLang="ko-KR" sz="2800" b="1" dirty="0"/>
              <a:t>vs. </a:t>
            </a:r>
            <a:r>
              <a:rPr lang="ko-KR" altLang="en-US" sz="2800" b="1" dirty="0"/>
              <a:t>히스토그램</a:t>
            </a:r>
          </a:p>
        </p:txBody>
      </p:sp>
    </p:spTree>
    <p:extLst>
      <p:ext uri="{BB962C8B-B14F-4D97-AF65-F5344CB8AC3E}">
        <p14:creationId xmlns:p14="http://schemas.microsoft.com/office/powerpoint/2010/main" val="4159755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22</a:t>
            </a:fld>
            <a:endParaRPr lang="en-US" altLang="ko-KR" noProof="0" dirty="0"/>
          </a:p>
        </p:txBody>
      </p:sp>
      <p:sp>
        <p:nvSpPr>
          <p:cNvPr id="5" name="AutoShape 4" descr="data:image/png;base64,iVBORw0KGgoAAAANSUhEUgAAAh8AAAGdCAYAAACyzRGfAAAAOXRFWHRTb2Z0d2FyZQBNYXRwbG90bGliIHZlcnNpb24zLjcuMSwgaHR0cHM6Ly9tYXRwbG90bGliLm9yZy/bCgiHAAAACXBIWXMAAA9hAAAPYQGoP6dpAAAjy0lEQVR4nO3df1BVdf7H8dcFBUEBQ0VgBUUzrESyXyxb61oyKDmV6bSlbmk/rAwrsx9GW6bWhGljTjOmO03+aPu1NZtaWpa/0G1FS4tR240RBjIV1DS4igkon+8fjfe7V5Afcu/nci/Px8yZ4Z7z4Xzenz5yz6tzzz3HYYwxAgAAsCTI1wUAAID2hfABAACsInwAAACrCB8AAMAqwgcAALCK8AEAAKwifAAAAKsIHwAAwKoOvi7gXHV1dTp48KAiIiLkcDh8XQ4AAGgGY4yOHz+u+Ph4BQU1fm6jzYWPgwcPKiEhwddlAACAC/DTTz+pV69ejbZpc+EjIiJC0m/FR0ZG+rgaAADQHE6nUwkJCa7jeGPaXPg4+1FLZGQk4QMAAD/TnEsmuOAUAABYRfgAAABWET4AAIBVbe6aDwAA/JUxRqdPn9aZM2d8XYpXdOzYUcHBwa3eD+EDAAAPqKmpUVlZmU6ePOnrUrzG4XCoV69e6tKlS6v2Q/gAAKCV6urqVFJSouDgYMXHxyskJCTgbpRpjNGRI0e0f/9+9e/fv1VnQAgfAAC0Uk1Njerq6pSQkKDw8HBfl+M1PXr0UGlpqWpra1sVPrjgFAAAD2nqtuL+zlNncwL7vxIAAGhzCB8AAMCqFl3zkZubq48//lg//PCDwsLC9Ic//EGvvPKKkpOTXW2GDh2qzZs3u/3egw8+qMWLF3umYgAA/EifZ9ZY66t0zkhrfbVGi858bN68WdnZ2dq2bZvWrVun2tpaZWZmqqqqyq3dpEmTVFZW5lrmzp3r0aIBAID/atGZj7Vr17q9XrZsmWJiYrRz504NGTLEtT48PFyxsbGeqRAAAASUVl3zUVlZKUmKjo52W//uu++qe/fuGjhwoHJychq94Up1dbWcTqfbAgAAvO/IkSOKjY3Vyy+/7Fq3detWhYSEaMOGDV7r94Lv81FXV6epU6fquuuu08CBA13rx40bp969eys+Pl67du3S9OnTVVhYqI8//rjB/eTm5mrWrFkXWkZAau7ng/7y2R4AoG3q0aOHlixZolGjRikzM1PJycm66667NGXKFA0bNsxr/V5w+MjOztaePXv01Vdfua1/4IEHXD+npKQoLi5Ow4YNU3Fxsfr161dvPzk5OZo2bZrrtdPpVEJCwoWWBQAAWuCmm27SpEmTNH78eF199dXq3LmzcnNzvdrnBYWPKVOmaPXq1dqyZYt69erVaNu0tDRJUlFRUYPhIzQ0VKGhoRdSBgAA8IBXX31VAwcO1EcffaSdO3d6/bjcoms+jDGaMmWKVqxYoY0bNyopKanJ3ykoKJAkxcXFXVCBAADAu4qLi3Xw4EHV1dWptLTU6/216MxHdna23nvvPa1atUoREREqLy+XJEVFRSksLEzFxcV67733dNNNN6lbt27atWuXHn/8cQ0ZMkSDBg3yygAAAMCFq6mp0V/+8hfdcccdSk5O1v3336/du3crJibGa322KHwsWrRI0m83EvtfS5cu1cSJExUSEqL169drwYIFqqqqUkJCgsaMGaPnnnvOYwUDAADP+etf/6rKykq9/vrr6tKliz777DPde++9Wr16tdf6bFH4MMY0uj0hIaHe3U0BAGjP2vI3E/Py8rRgwQJt2rRJkZGRkqS///3vSk1N1aJFizR58mSv9HvB33YBAAD+bejQoaqtrXVb16dPH9d9vLyFB8sBAACrCB8AAMAqwgcAALCK8AEAAKwifAAAAKsIHwAAwCrCBwAAsIrwAQAArCJ8AAAAq7jDKQAA3jQzymJf3r0zqadw5gMAAFhF+AAAoJ16++231a1bN1VXV7utHzVqlO666y6v9Uv4AACgnbr99tt15swZffLJJ651hw8f1po1a3Tvvfd6rV/CBwAA7VRYWJjGjRunpUuXuta98847SkxM1NChQ73WL+EDAIB2bNKkSfryyy914MABSdKyZcs0ceJEORwOr/XJt10AAGjHBg8erNTUVL399tvKzMzU999/rzVr1ni1T8IHAADt3P33368FCxbowIEDysjIUEJCglf742MXAADauXHjxmn//v168803vXqh6VmEDwAA2rmoqCiNGTNGXbp00ahRo7zeHx+7AADgTX5y19EDBw5o/PjxCg0N9XpfhA8AANqxX375RXl5ecrLy9Mbb7xhpU/CBwAA7djgwYP1yy+/6JVXXlFycrKVPgkfAAC0Y6Wlpdb75IJTAABgFeEDAABYRfgAAABWET4AAIBVhA8AAGAV4QMAAFhF+AAAAFZxnw8AALwoZXmKtb52T9htra/W4MwHAACwivABAEA7VVpaKofDUW8ZOnSoV/vlYxcAANqphIQElZWVuV6Xl5crIyNDQ4YM8Wq/hA8AANqp4OBgxcbGSpJOnTqlUaNGKT09XTNnzvRqv4QPoK2aGeXFfVd6b9+tYPPCvHP5y4V6gLfce++9On78uNatW6egIO9elUH4AACgnXvppZf0xRdf6Ouvv1ZERITX+yN8AADQjv3zn//U7Nmz9fnnn6tfv35W+iR8AADQTu3Zs0d33323pk+frssvv1zl5eWSpJCQEEVHR3utX75qCwBAO7Vjxw6dPHlSL730kuLi4lzL6NGjvdovZz4AAPCitnwx88SJEzVx4kTr/XLmAwAAWEX4AAAAVhE+AACAVYQPAABgFeEDAABYRfgAAMBDjDG+LsGrPDU+wgcAAK3UsWNHSdLJkyd9XIl31dTUSPrtgXStwX0+AABopeDgYHXt2lWHDx+WJIWHh8vhcPi4Ks+qq6vTkSNHFB4erg4dWhcfCB8AAHjA2UfTnw0ggSgoKEiJiYmtDlaEDwAAPMDhcCguLk4xMTGqra31dTleERISoqCg1l+xQfgAAMCDgoODW31NRKDjglMAAGAV4QMAAFhF+AAAAFYRPgAAgFWEDwAAYBXhAwAAWNWi8JGbm6trrrlGERERiomJ0ahRo1RYWOjW5tSpU8rOzla3bt3UpUsXjRkzRocOHfJo0QAAwH+1KHxs3rxZ2dnZ2rZtm9atW6fa2lplZmaqqqrK1ebxxx/Xp59+qo8++kibN2/WwYMHNXr0aI8XDgAA/FOLbjK2du1at9fLli1TTEyMdu7cqSFDhqiyslJvvfWW3nvvPd14442SpKVLl+rSSy/Vtm3b9Pvf/95zlQMAAL/Uqms+KisrJUnR0dGSpJ07d6q2tlYZGRmuNgMGDFBiYqLy8/Nb0xUAAAgQF3x79bq6Ok2dOlXXXXedBg4cKEkqLy9XSEiIunbt6ta2Z8+eKi8vb3A/1dXVqq6udr12Op0XWhIAAPADFxw+srOztWfPHn311VetKiA3N1ezZs1q1T4AeE7K8hRflwAgwF3Qxy5TpkzR6tWrtWnTJvXq1cu1PjY2VjU1NaqoqHBrf+jQIdejhs+Vk5OjyspK1/LTTz9dSEkAAMBPtCh8GGM0ZcoUrVixQhs3blRSUpLb9quuukodO3bUhg0bXOsKCwu1b98+paenN7jP0NBQRUZGui0AACBwtehjl+zsbL333ntatWqVIiIiXNdxREVFKSwsTFFRUbrvvvs0bdo0RUdHKzIyUo888ojS09P5pgsAAJDUwvCxaNEiSdLQoUPd1i9dulQTJ06UJL322msKCgrSmDFjVF1dreHDh+uNN97wSLEAAMD/tSh8GGOabNOpUyctXLhQCxcuvOCiAABA4OLZLgAAwCrCBwAAsIrwAQAArCJ8AAAAqwgfAADAKsIHAACwivABAACsInwAAACrLviptgAAz/Hl04R3T9jts77RPnHmAwAAWEX4AAAAVhE+AACAVYQPAABgFeEDAABYRfgAAABWET4AAIBVhA8AAGAV4QMAAFhF+AAAAFYRPgAAgFWEDwAAYBXhAwAAWEX4AAAAVhE+AACAVYQPAABgFeEDAABYRfgAAABWET4AAIBVhA8AAGAV4QMAAFhF+AAAAFYRPgAAgFWEDwAAYBXhAwAAWEX4AAAAVhE+AACAVR18XQAuXJ9n1jSrXemckV6upI2bGeXFfVd6b98AEKA48wEAAKwifAAAAKsIHwAAwCrCBwAAsIrwAQAArCJ8AAAAqwgfAADAKsIHAACwivABAACsInwAAACrCB8AAMAqwgcAALCK8AEAAKwifAAAAKsIHwAAwCrCBwAAsIrwAQAArCJ8AAAAqwgfAADAKsIHAACwivABAACsInwAAACrCB8AAMCqFoePLVu26Oabb1Z8fLwcDodWrlzptn3ixIlyOBxuy4gRIzxVLwAA8HMtDh9VVVVKTU3VwoULz9tmxIgRKisrcy3vv/9+q4oEAACBo0NLfyErK0tZWVmNtgkNDVVsbOwFFwUAAAKXV675yMvLU0xMjJKTkzV58mQdPXr0vG2rq6vldDrdFgAAELhafOajKSNGjNDo0aOVlJSk4uJiPfvss8rKylJ+fr6Cg4Prtc/NzdWsWbM8XQYAtEjK8hRflwC0Gx4PH3feeafr55SUFA0aNEj9+vVTXl6ehg0bVq99Tk6Opk2b5nrtdDqVkJDg6bIAAEAb4fWv2vbt21fdu3dXUVFRg9tDQ0MVGRnptgAAgMDl9fCxf/9+HT16VHFxcd7uCgAA+IEWf+xy4sQJt7MYJSUlKigoUHR0tKKjozVr1iyNGTNGsbGxKi4u1tNPP62LL75Yw4cP92jhAADAP7U4fOzYsUM33HCD6/XZ6zUmTJigRYsWadeuXVq+fLkqKioUHx+vzMxMvfjiiwoNDfVc1QAAwG+1OHwMHTpUxpjzbv/iiy9aVRAAAAhsPNsFAABYRfgAAABWET4AAIBVhA8AAGAV4QMAAFhF+AAAAFYRPgAAgFUef7Ac0K7MjPJ1BQDgdzjzAQAArCJ8AAAAqwgfAADAKsIHAACwivABAACsInwAAACrCB8AAMAqwgcAALCK8AEAAKwifAAAAKsIHwAAwCrCBwAAsIrwAQAArOKpthb1eWaNr0sAAMDnOPMBAACsInwAAACrCB8AAMAqwgcAALCK8AEAAKwifAAAAKsIHwAAwCrCBwAAsIrwAQAArCJ8AAAAqwgfAADAKsIHAACwivABAACsInwAAACrCB8AAMAqwgcAALCK8AEAAKwifAAAAKsIHwAAwCrCBwAAsIrwAQAArCJ8AAAAqwgfAADAKsIHAACwivABAACsInwAAACrCB8AAMCqDr4uAN7X55k1zW5bOmekFytpxMwo3/TbXjX23zsp0V4dANolznwAAACrCB8AAMAqwgcAALCK8AEAAKwifAAAAKsIHwAAwCrCBwAAsIrwAQAArCJ8AAAAq1ocPrZs2aKbb75Z8fHxcjgcWrlypdt2Y4xmzJihuLg4hYWFKSMjQ3v37vVUvQAAwM+1OHxUVVUpNTVVCxcubHD73Llz9frrr2vx4sXavn27OnfurOHDh+vUqVOtLhYAAPi/Fj/bJSsrS1lZWQ1uM8ZowYIFeu6553TrrbdKkt5++2317NlTK1eu1J133tm6agEAgN/z6DUfJSUlKi8vV0ZGhmtdVFSU0tLSlJ+f3+DvVFdXy+l0ui0AACBweTR8lJeXS5J69uzptr5nz56ubefKzc1VVFSUa0lISPBkSQAAoI3x+bddcnJyVFlZ6Vp++uknX5cEAAC8yKPhIzY2VpJ06NAht/WHDh1ybTtXaGioIiMj3RYAABC4PBo+kpKSFBsbqw0bNrjWOZ1Obd++Xenp6Z7sCgAA+KkWf9vlxIkTKioqcr0uKSlRQUGBoqOjlZiYqKlTp+qll15S//79lZSUpOeff17x8fEaNWqUJ+sGAAB+qsXhY8eOHbrhhhtcr6dNmyZJmjBhgpYtW6ann35aVVVVeuCBB1RRUaHrr79ea9euVadOnTxXNQAA8FstDh9Dhw6VMea82x0Oh2bPnq3Zs2e3qjAAABCYfP5tFwAA0L4QPgAAgFWEDwAAYBXhAwAAWEX4AAAAVhE+AACAVYQPAABgFeEDAABY1eKbjCGw9XlmzXm3lXYaZ7ESAECg4swHAACwivABAACsInwAAACrCB8AAMAqwgcAALCK8AEAAKwifAAAAKsIHwAAwCrCBwAAsIrwAQAArCJ8AAAAqwgfAADAKsIHAACwiqfankdjT3cFAHhGyvIUn/W9e8Jun/Xd3nHmAwAAWEX4AAAAVhE+AACAVYQPAABgFeEDAABYRfgAAABWET4AAIBVhA8AAGAV4QMAAFhF+AAAAFYRPgAAgFWEDwAAYBXhAwAAWEX4AAAAVhE+AACAVYQPAABgFeEDAABYRfgAAABWET4AAIBVhA8AAGAV4QMAAFhF+AAAAFYRPgAAgFWEDwAAYBXhAwAAWEX4AAAAVhE+AACAVR18XQCA+lKSEn1dAgB4DWc+AACAVYQPAABgFeEDAABYRfgAAABWET4AAIBVhA8AAGAV4QMAAFhF+AAAAFYRPgAAgFUeDx8zZ86Uw+FwWwYMGODpbgAAgJ/yyu3VL7/8cq1fv/7/O+nAXdwBAMBvvJIKOnTooNjYWG/sGgAA+DmvXPOxd+9excfHq2/fvho/frz27dt33rbV1dVyOp1uCwAACFweP/ORlpamZcuWKTk5WWVlZZo1a5b++Mc/as+ePYqIiKjXPjc3V7NmzfJ0GQCAZkpZnuLrEtDOOIwxxpsdVFRUqHfv3po/f77uu+++eturq6tVXV3teu10OpWQkKDKykpFRkZ6s7RG9Xlmjc/6bqtKO43zdQntRkpSoq9LAALe7gm7fV1CQHE6nYqKimrW8dvrV4J27dpVl1xyiYqKihrcHhoaqtDQUG+XAQAA2giv3+fjxIkTKi4uVlxcnLe7AgAAfsDj4ePJJ5/U5s2bVVpaqq1bt+q2225TcHCwxo4d6+muAACAH/L4xy779+/X2LFjdfToUfXo0UPXX3+9tm3bph49eni6KwAA4Ic8Hj4++OADT+8SAAAEEJ7tAgAArCJ8AAAAqwgfAADAKsIHAACwivABAACsInwAAACrCB8AAMAqrz/bBXbx8DcAQFvHmQ8AAGAV4QMAAFhF+AAAAFYRPgAAgFWEDwAAYBXhAwAAWEX4AAAAVhE+AACAVYQPAABgFeEDAABYRfgAAABWET4AAIBVhA8AAGBVu3uqbZ9n1vi6BPiBlKREX5cAAAGLMx8AAMAqwgcAALCK8AEAAKwifAAAAKsIHwAAwCrCBwAAsIrwAQAArCJ8AAAAqwgfAADAKsIHAACwivABAACsInwAAACrCB8AAMCqdvdUWwAA2oKU5Sk+63v3hN0+61vizAcAALCM8AEAAKwifAAAAKsIHwAAwCrCBwAAsIrwAQAArCJ8AAAAqwgfAADAKsIHAACwivABAACsInwAAACrCB8AAMAqwgcAALCKp9r6QGmncb4uAQAAn+HMBwAAsIrwAQAArCJ8AAAAqwgfAADAKsIHAACwivABAACsInwAAACrCB8AAMAqwgcAALDKa+Fj4cKF6tOnjzp16qS0tDR9/fXX3uoKAAD4Ea+Ej3/84x+aNm2aXnjhBX377bdKTU3V8OHDdfjwYW90BwAA/IhXwsf8+fM1adIk3XPPPbrsssu0ePFihYeHa8mSJd7oDgAA+BGPP1iupqZGO3fuVE5OjmtdUFCQMjIylJ+fX699dXW1qqurXa8rKyslSU6n09OlSZLqqk96Zb8t4XQYX5eAJpz59YyvSwDgZd46zjSXL99nvDH2s/s0puljnMfDx88//6wzZ86oZ8+ebut79uypH374oV773NxczZo1q976hIQET5fWZkT5ugA0w399XQAAL4ua3H7fjb059uPHjysqqvH9ezx8tFROTo6mTZvmel1XV6djx46pW7ducjgcTf6+0+lUQkKCfvrpJ0VGRnqzVJ8I9PFJgT/GQB+fFPhjDPTxSYwxEPh6fMYYHT9+XPHx8U229Xj46N69u4KDg3Xo0CG39YcOHVJsbGy99qGhoQoNDXVb17Vr1xb3GxkZGZD/mM4K9PFJgT/GQB+fFPhjDPTxSYwxEPhyfE2d8TjL4xechoSE6KqrrtKGDRtc6+rq6rRhwwalp6d7ujsAAOBnvPKxy7Rp0zRhwgRdffXVuvbaa7VgwQJVVVXpnnvu8UZ3AADAj3glfNxxxx06cuSIZsyYofLycl1xxRVau3ZtvYtQPSE0NFQvvPBCvY9uAkWgj08K/DEG+vikwB9joI9PYoyBwJ/G5zDN+U4MAACAh/BsFwAAYBXhAwAAWEX4AAAAVhE+AACAVX4RPnJzc3XNNdcoIiJCMTExGjVqlAoLC93aDB06VA6Hw2156KGHfFRxy8ycObNe7QMGDHBtP3XqlLKzs9WtWzd16dJFY8aMqXcTt7auT58+9cbocDiUnZ0tyT/nb8uWLbr55psVHx8vh8OhlStXum03xmjGjBmKi4tTWFiYMjIytHfvXrc2x44d0/jx4xUZGamuXbvqvvvu04kTJyyO4vwaG19tba2mT5+ulJQUde7cWfHx8br77rt18OBBt300NO9z5syxPJLza2oOJ06cWK/+ESNGuLXx1zmU1ODfpMPh0Lx581xt2vIcNufY0Jz3z3379mnkyJEKDw9XTEyMnnrqKZ0+fdrmUM6rqTEeO3ZMjzzyiJKTkxUWFqbExEQ9+uijruekndXQPH/wwQe2h+PiF+Fj8+bNys7O1rZt27Ru3TrV1tYqMzNTVVVVbu0mTZqksrIy1zJ37lwfVdxyl19+uVvtX331lWvb448/rk8//VQfffSRNm/erIMHD2r06NE+rLblvvnmG7fxrVu3TpJ0++23u9r42/xVVVUpNTVVCxcubHD73Llz9frrr2vx4sXavn27OnfurOHDh+vUqVOuNuPHj9f333+vdevWafXq1dqyZYseeOABW0NoVGPjO3nypL799ls9//zz+vbbb/Xxxx+rsLBQt9xyS722s2fPdpvXRx55xEb5zdLUHErSiBEj3Op///333bb76xxKchtXWVmZlixZIofDoTFjxri1a6tz2JxjQ1Pvn2fOnNHIkSNVU1OjrVu3avny5Vq2bJlmzJjhiyHV09QYDx48qIMHD+rVV1/Vnj17tGzZMq1du1b33XdfvX0tXbrUbR5HjRpleTT/w/ihw4cPG0lm8+bNrnV/+tOfzGOPPea7olrhhRdeMKmpqQ1uq6ioMB07djQfffSRa91///tfI8nk5+dbqtDzHnvsMdOvXz9TV1dnjPHv+TPGGElmxYoVrtd1dXUmNjbWzJs3z7WuoqLChIaGmvfff98YY8x//vMfI8l88803rjaff/65cTgc5sCBA9Zqb45zx9eQr7/+2kgyP/74o2td7969zWuvvebd4jykoTFOmDDB3Hrrref9nUCbw1tvvdXceOONbuv8aQ7PPTY05/3zs88+M0FBQaa8vNzVZtGiRSYyMtJUV1fbHUAzNHT8O9eHH35oQkJCTG1trWtdc+bfJr8483Gus6eToqOj3da/++676t69uwYOHKicnBydPHnSF+VdkL179yo+Pl59+/bV+PHjtW/fPknSzp07VVtbq4yMDFfbAQMGKDExUfn5+b4qt1Vqamr0zjvv6N5773V7eKA/z9+5SkpKVF5e7jZvUVFRSktLc81bfn6+unbtqquvvtrVJiMjQ0FBQdq+fbv1mlursrJSDoej3rOZ5syZo27dumnw4MGaN29emzmd3Vx5eXmKiYlRcnKyJk+erKNHj7q2BdIcHjp0SGvWrGnw/5j9ZQ7PPTY05/0zPz9fKSkpbjfBHD58uJxOp77//nuL1TfP+Y5/57aJjIxUhw7u9xHNzs5W9+7dde2112rJkiUyPrzNl8+fattSdXV1mjp1qq677joNHDjQtX7cuHHq3bu34uPjtWvXLk2fPl2FhYX6+OOPfVht86SlpWnZsmVKTk5WWVmZZs2apT/+8Y/as2ePysvLFRISUu8NvWfPniovL/dNwa20cuVKVVRUaOLEia51/jx/DTk7N+fe1fd/5628vFwxMTFu2zt06KDo6Gi/m9tTp05p+vTpGjt2rNsDrR599FFdeeWVio6O1tatW5WTk6OysjLNnz/fh9U234gRIzR69GglJSWpuLhYzz77rLKyspSfn6/g4OCAmsPly5crIiKi3ke6/jKHDR0bmvP+WV5e3uDf6dltbcn5jn//6+eff9aLL75Y76O/2bNn68Ybb1R4eLi+/PJLPfzwwzpx4oQeffRRG6XX43fhIzs7W3v27HG7JkKS23/olJQUxcXFadiwYSouLla/fv1sl9kiWVlZrp8HDRqktLQ09e7dWx9++KHCwsJ8WJl3vPXWW8rKynJ77LI/z197V1tbqz//+c8yxmjRokVu26ZNm+b6edCgQQoJCdGDDz6o3Nxcv7gF9J133un6OSUlRYMGDVK/fv2Ul5enYcOG+bAyz1uyZInGjx+vTp06ua33lzk837EhkDQ1RqfTqZEjR+qyyy7TzJkz3bY9//zzrp8HDx6sqqoqzZs3z2fhw68+dpkyZYpWr16tTZs2qVevXo22TUtLkyQVFRXZKM2junbtqksuuURFRUWKjY1VTU2NKioq3NocOnRIsbGxvimwFX788UetX79e999/f6Pt/Hn+JLnm5tyr6v933mJjY3X48GG37adPn9axY8f8Zm7PBo8ff/xR69ata/Ix3mlpaTp9+rRKS0vtFOhhffv2Vffu3V3/LgNhDiXpX//6lwoLC5v8u5Ta5hye79jQnPfP2NjYBv9Oz25rK5o6/h0/flwjRoxQRESEVqxYoY4dOza6v7S0NO3fv1/V1dXeKrlRfhE+jDGaMmWKVqxYoY0bNyopKanJ3ykoKJAkxcXFebk6zztx4oSKi4sVFxenq666Sh07dtSGDRtc2wsLC7Vv3z6lp6f7sMoLs3TpUsXExGjkyJGNtvPn+ZOkpKQkxcbGus2b0+nU9u3bXfOWnp6uiooK7dy509Vm48aNqqurc4Wvtuxs8Ni7d6/Wr1+vbt26Nfk7BQUFCgoKqvdRhb/Yv3+/jh496vp36e9zeNZbb72lq666SqmpqU22bUtz2NSxoTnvn+np6dq9e7dbiDwbpC+77DI7A2lEc45/TqdTmZmZCgkJ0SeffFLv7FVDCgoKdNFFF/nu7JVPL3dtpsmTJ5uoqCiTl5dnysrKXMvJkyeNMcYUFRWZ2bNnmx07dpiSkhKzatUq07dvXzNkyBAfV948TzzxhMnLyzMlJSXm3//+t8nIyDDdu3c3hw8fNsYY89BDD5nExESzceNGs2PHDpOenm7S09N9XHXLnTlzxiQmJprp06e7rffX+Tt+/Lj57rvvzHfffWckmfnz55vvvvvO9W2POXPmmK5du5pVq1aZXbt2mVtvvdUkJSWZX3/91bWPESNGmMGDB5vt27ebr776yvTv39+MHTvWV0Ny09j4ampqzC233GJ69eplCgoK3P4uz35DYOvWrea1114zBQUFpri42LzzzjumR48e5u677/bxyP5fY2M8fvy4efLJJ01+fr4pKSkx69evN1deeaXp37+/OXXqlGsf/jqHZ1VWVprw8HCzaNGier/f1uewqWODMU2/f54+fdoMHDjQZGZmmoKCArN27VrTo0cPk5OT44sh1dPUGCsrK01aWppJSUkxRUVFbm1Onz5tjDHmk08+MW+++abZvXu32bt3r3njjTdMeHi4mTFjhs/G5RfhQ1KDy9KlS40xxuzbt88MGTLEREdHm9DQUHPxxRebp556ylRWVvq28Ga64447TFxcnAkJCTG/+93vzB133GGKiopc23/99Vfz8MMPm4suusiEh4eb2267zZSVlfmw4gvzxRdfGEmmsLDQbb2/zt+mTZsa/Hc5YcIEY8xvX7d9/vnnTc+ePU1oaKgZNmxYvbEfPXrUjB071nTp0sVERkaae+65xxw/ftwHo6mvsfGVlJSc9+9y06ZNxhhjdu7cadLS0kxUVJTp1KmTufTSS83LL7/sduD2tcbGePLkSZOZmWl69OhhOnbsaHr37m0mTZrk9pVMY/x3Ds/629/+ZsLCwkxFRUW932/rc9jUscGY5r1/lpaWmqysLBMWFma6d+9unnjiCbevqfpSU2M83xxLMiUlJcaY377+fcUVV5guXbqYzp07m9TUVLN48WJz5swZn43LYYwPv2sDAADaHb+45gMAAAQOwgcAALCK8AEAAKwifAAAAKsIHwAAwCrCBwAAsIrwAQAArCJ8AAAAqwgfAADAKsIHAACwivABAACsInwAAACr/g845e00T7s4mQAAAABJRU5ErkJggg=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4292" y="3307169"/>
            <a:ext cx="4248472" cy="3231744"/>
          </a:xfrm>
          <a:prstGeom prst="rect">
            <a:avLst/>
          </a:prstGeom>
        </p:spPr>
      </p:pic>
      <p:cxnSp>
        <p:nvCxnSpPr>
          <p:cNvPr id="10" name="직선 화살표 연결선 9"/>
          <p:cNvCxnSpPr/>
          <p:nvPr/>
        </p:nvCxnSpPr>
        <p:spPr>
          <a:xfrm>
            <a:off x="3718148" y="4828848"/>
            <a:ext cx="936104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479E9B6-AEDE-A09F-991A-84F0FB1AE6B6}"/>
              </a:ext>
            </a:extLst>
          </p:cNvPr>
          <p:cNvSpPr txBox="1"/>
          <p:nvPr/>
        </p:nvSpPr>
        <p:spPr>
          <a:xfrm>
            <a:off x="539248" y="2707071"/>
            <a:ext cx="48622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https://github.com/ancestor9/data/blob/main/human_data.csv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0399B9-AF54-C910-A13C-D40D1153F65A}"/>
              </a:ext>
            </a:extLst>
          </p:cNvPr>
          <p:cNvSpPr txBox="1"/>
          <p:nvPr/>
        </p:nvSpPr>
        <p:spPr>
          <a:xfrm>
            <a:off x="539248" y="817140"/>
            <a:ext cx="11233248" cy="217886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아래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데이터소스에서 키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몸무게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,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수입의 값을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표준화하여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4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표준화한다는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것은 변수의 관측치에서 각 변수의 평균을 차감한 값을 표준편차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분산의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제곱루트값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으로 나는 값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standardization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https://scikit-learn.org/stable/modules/preprocessing.html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각 변수를 평균과 표준편차로 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scaling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하면 평균과 </a:t>
            </a:r>
            <a:r>
              <a:rPr lang="ko-KR" altLang="en-US" sz="14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표준펀차는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각각 어떤 값인가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모든 변수의 값이 동일해지는 것 아닌가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? </a:t>
            </a:r>
            <a:r>
              <a:rPr lang="ko-KR" altLang="en-US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왜 이래야 하는지 설명하라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(</a:t>
            </a:r>
            <a:r>
              <a:rPr lang="ko-KR" altLang="en-US" sz="1400" b="1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위키독스</a:t>
            </a:r>
            <a:r>
              <a:rPr lang="en-US" altLang="ko-KR" sz="14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85A69-A12C-9BEB-2306-1F039B9994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F042584-37CF-E8F0-E53C-E8A550C3620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0625" y="3540681"/>
            <a:ext cx="2491956" cy="27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303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0ABB7-015C-EA60-AE67-EB5B7EFA2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2588D0C-D165-B12D-75F2-1D842BABD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14C18F-0BF4-B8CD-C528-D6B8CA38FA96}"/>
              </a:ext>
            </a:extLst>
          </p:cNvPr>
          <p:cNvSpPr txBox="1"/>
          <p:nvPr/>
        </p:nvSpPr>
        <p:spPr>
          <a:xfrm>
            <a:off x="765820" y="1196752"/>
            <a:ext cx="11233248" cy="169277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수치형 변수 값의 서로 크기가 다른 경우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scaling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하는 방법과 그 이유를 토론하라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(Data scaling)</a:t>
            </a: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from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sklearn.datasets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import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fetch_california_housing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의 데이터의 변수 중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MedInc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", "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AveOccup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“ 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에 대한 </a:t>
            </a:r>
            <a:r>
              <a:rPr lang="en-US" altLang="ko-KR" sz="1600" dirty="0" err="1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joinplot</a:t>
            </a:r>
            <a:r>
              <a:rPr lang="ko-KR" altLang="en-US" sz="1600" dirty="0">
                <a:latin typeface="Microsoft Sans Serif" panose="020B0604020202020204" pitchFamily="34" charset="0"/>
                <a:cs typeface="Microsoft Sans Serif" panose="020B0604020202020204" pitchFamily="34" charset="0"/>
              </a:rPr>
              <a:t>을 </a:t>
            </a:r>
            <a:r>
              <a:rPr lang="ko-KR" altLang="en-US" sz="1600" dirty="0" err="1">
                <a:latin typeface="Microsoft Sans Serif" panose="020B0604020202020204" pitchFamily="34" charset="0"/>
                <a:cs typeface="Microsoft Sans Serif" panose="020B0604020202020204" pitchFamily="34" charset="0"/>
              </a:rPr>
              <a:t>시각화하라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  <a:p>
            <a:pPr marL="742950" lvl="1" indent="-285750"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  <a:hlinkClick r:id="rId3"/>
              </a:rPr>
              <a:t>https://scikit-learn.org/stable/auto_examples/preprocessing/plot_all_scaling.html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 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자료원을 이해하고 평균과 분산이 각각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0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과 </a:t>
            </a:r>
            <a:r>
              <a:rPr lang="en-US" altLang="ko-KR" sz="1600" dirty="0">
                <a:latin typeface="Microsoft Sans Serif" panose="020B0604020202020204" pitchFamily="34" charset="0"/>
                <a:ea typeface="Microsoft Sans Serif" panose="020B0604020202020204" pitchFamily="34" charset="0"/>
                <a:cs typeface="Microsoft Sans Serif" panose="020B0604020202020204" pitchFamily="34" charset="0"/>
              </a:rPr>
              <a:t>1</a:t>
            </a:r>
            <a:r>
              <a:rPr lang="ko-KR" altLang="en-US" sz="1600" dirty="0">
                <a:latin typeface="Microsoft Sans Serif" panose="020B0604020202020204" pitchFamily="34" charset="0"/>
                <a:ea typeface="휴먼모음T" panose="02030504000101010101" pitchFamily="18" charset="-127"/>
                <a:cs typeface="Microsoft Sans Serif" panose="020B0604020202020204" pitchFamily="34" charset="0"/>
              </a:rPr>
              <a:t>인 형태로 표준화한 후 시각화 코드를 만들어라</a:t>
            </a:r>
            <a:endParaRPr lang="en-US" altLang="ko-KR" sz="1600" dirty="0">
              <a:latin typeface="Microsoft Sans Serif" panose="020B0604020202020204" pitchFamily="34" charset="0"/>
              <a:ea typeface="Microsoft Sans Serif" panose="020B0604020202020204" pitchFamily="34" charset="0"/>
              <a:cs typeface="Microsoft Sans Serif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FAF701-284C-70AF-92CD-BC198F2692B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B84B2-6748-8B22-DF87-D721C684FB56}"/>
              </a:ext>
            </a:extLst>
          </p:cNvPr>
          <p:cNvSpPr txBox="1"/>
          <p:nvPr/>
        </p:nvSpPr>
        <p:spPr>
          <a:xfrm rot="591990">
            <a:off x="9669996" y="327099"/>
            <a:ext cx="22746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Data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Representation</a:t>
            </a:r>
            <a:r>
              <a:rPr lang="ko-KR" altLang="en-US" sz="24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ko-KR" altLang="en-US" sz="2400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93FDC10D-0ECC-61AF-BAA4-FDDE182E73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8191" y="3123294"/>
            <a:ext cx="7338745" cy="3228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60312638-28F9-BF4D-6E96-78C8B376D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509" y="3135035"/>
            <a:ext cx="3240360" cy="33132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709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24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404664"/>
            <a:ext cx="8656065" cy="6025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25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788087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2800" b="1" dirty="0">
                <a:solidFill>
                  <a:srgbClr val="313131"/>
                </a:solidFill>
                <a:latin typeface="PT Sans"/>
              </a:rPr>
              <a:t>기술 통계분석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(Descriptive Statistics </a:t>
            </a:r>
            <a:r>
              <a:rPr lang="en-US" altLang="ko-KR" sz="2800" b="1" dirty="0" err="1">
                <a:solidFill>
                  <a:srgbClr val="313131"/>
                </a:solidFill>
                <a:latin typeface="PT Sans"/>
              </a:rPr>
              <a:t>Analyssis</a:t>
            </a:r>
            <a:r>
              <a:rPr lang="en-US" altLang="ko-KR" sz="2800" b="1" dirty="0">
                <a:solidFill>
                  <a:srgbClr val="313131"/>
                </a:solidFill>
                <a:latin typeface="PT Sans"/>
              </a:rPr>
              <a:t>)</a:t>
            </a:r>
            <a:endParaRPr lang="ko-KR" altLang="en-US" sz="2800" b="1" dirty="0"/>
          </a:p>
        </p:txBody>
      </p:sp>
      <p:sp>
        <p:nvSpPr>
          <p:cNvPr id="3" name="직사각형 2"/>
          <p:cNvSpPr/>
          <p:nvPr/>
        </p:nvSpPr>
        <p:spPr>
          <a:xfrm>
            <a:off x="1053852" y="1988840"/>
            <a:ext cx="10945216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040C28"/>
                </a:solidFill>
                <a:latin typeface="Apple SD Gothic Neo"/>
              </a:rPr>
              <a:t>모집단으로부터 수집된 데이터를 잘 요약하여 모집단에 대하여 유용한 정보를 생산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분석에서는 데이터를 그래프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, 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표 또는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대표값을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나타내는 숫자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(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통계량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)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로 요약한다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우리는 실생활에서 많은 </a:t>
            </a:r>
            <a:r>
              <a:rPr lang="ko-KR" altLang="en-US" sz="2000" dirty="0" err="1">
                <a:solidFill>
                  <a:srgbClr val="202124"/>
                </a:solidFill>
                <a:latin typeface="Apple SD Gothic Neo"/>
              </a:rPr>
              <a:t>기술통계</a:t>
            </a:r>
            <a:r>
              <a:rPr lang="ko-KR" altLang="en-US" sz="2000" dirty="0">
                <a:solidFill>
                  <a:srgbClr val="202124"/>
                </a:solidFill>
                <a:latin typeface="Apple SD Gothic Neo"/>
              </a:rPr>
              <a:t> 분석 자료를 접할 수 있다</a:t>
            </a:r>
            <a:r>
              <a:rPr lang="en-US" altLang="ko-KR" sz="2000" dirty="0">
                <a:solidFill>
                  <a:srgbClr val="202124"/>
                </a:solidFill>
                <a:latin typeface="Apple SD Gothic Neo"/>
              </a:rPr>
              <a:t>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892293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26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5940" y="548680"/>
            <a:ext cx="8628091" cy="5919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4590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27</a:t>
            </a:fld>
            <a:endParaRPr lang="en-US" altLang="ko-KR" noProof="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620688"/>
            <a:ext cx="8719541" cy="6022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9826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28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969" y="486232"/>
            <a:ext cx="8387629" cy="5897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5987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CA93F-9320-AA29-DD22-5787CD1AE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2493F5-ADD2-781F-744F-D8FF12673258}"/>
              </a:ext>
            </a:extLst>
          </p:cNvPr>
          <p:cNvSpPr txBox="1"/>
          <p:nvPr/>
        </p:nvSpPr>
        <p:spPr>
          <a:xfrm>
            <a:off x="405780" y="980728"/>
            <a:ext cx="8857288" cy="271048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https://www.openml.org/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아래 데이터를 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다양한 방법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데이터셋으로 읽고 어떤 데이터인지 설명하라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openml</a:t>
            </a:r>
            <a:endParaRPr lang="en-US" altLang="ko-KR" sz="2000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fetch_openml</a:t>
            </a:r>
            <a:r>
              <a:rPr lang="en-US" altLang="ko-KR" sz="2000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StringIO</a:t>
            </a:r>
            <a:endParaRPr lang="en-US" altLang="ko-KR" sz="2000" dirty="0">
              <a:solidFill>
                <a:srgbClr val="00206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solidFill>
                  <a:srgbClr val="00206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requests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5738F9A0-959B-A2DA-6277-877D961F5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29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7ACA04B-7389-DE25-6A6A-317F1EF3D6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4809" y="2146182"/>
            <a:ext cx="8857288" cy="394711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7F17DC6-950A-BBDC-960D-D80166D2563D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</p:spTree>
    <p:extLst>
      <p:ext uri="{BB962C8B-B14F-4D97-AF65-F5344CB8AC3E}">
        <p14:creationId xmlns:p14="http://schemas.microsoft.com/office/powerpoint/2010/main" val="1441668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3F69F-E43B-7CC4-1ECD-36748A2B4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809C201-F750-02C2-A1C2-BF6226876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A5864-91EC-5347-032F-4FE872A33215}"/>
              </a:ext>
            </a:extLst>
          </p:cNvPr>
          <p:cNvSpPr txBox="1"/>
          <p:nvPr/>
        </p:nvSpPr>
        <p:spPr>
          <a:xfrm>
            <a:off x="578034" y="2504214"/>
            <a:ext cx="3528392" cy="3651705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 분석 항목 정리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 변수별로</a:t>
            </a:r>
            <a:r>
              <a:rPr lang="en-US" altLang="ko-KR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sz="16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대표값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중앙값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최빈값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산포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(Q1, Q2, Q3) 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사분위범위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90%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백분위수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=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분포의 왜곡</a:t>
            </a:r>
            <a:endParaRPr lang="en-US" altLang="ko-KR" sz="1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=,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첨도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ECF6EA-DEAE-4795-F874-9CE0D7015196}"/>
              </a:ext>
            </a:extLst>
          </p:cNvPr>
          <p:cNvSpPr txBox="1"/>
          <p:nvPr/>
        </p:nvSpPr>
        <p:spPr>
          <a:xfrm>
            <a:off x="117748" y="260648"/>
            <a:ext cx="1166529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2400" b="1" dirty="0"/>
              <a:t>보고서</a:t>
            </a:r>
            <a:r>
              <a:rPr lang="en-US" altLang="ko-KR" sz="2400" b="1" dirty="0"/>
              <a:t> </a:t>
            </a:r>
            <a:r>
              <a:rPr lang="ko-KR" altLang="en-US" sz="2400" b="1" dirty="0"/>
              <a:t>작성 제출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808693-1E55-0781-D2A1-A9480DE4EEA4}"/>
              </a:ext>
            </a:extLst>
          </p:cNvPr>
          <p:cNvSpPr txBox="1"/>
          <p:nvPr/>
        </p:nvSpPr>
        <p:spPr>
          <a:xfrm>
            <a:off x="4291963" y="5472890"/>
            <a:ext cx="7318828" cy="697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Tip) 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관련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Excel 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average, median, quartile, percentile, var, </a:t>
            </a:r>
            <a:r>
              <a:rPr lang="en-US" altLang="ko-KR" sz="1400" b="1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stdev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skew, </a:t>
            </a:r>
            <a:r>
              <a:rPr lang="en-US" altLang="ko-KR" sz="1400" b="1" dirty="0" err="1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kurt</a:t>
            </a:r>
            <a:endParaRPr lang="en-US" altLang="ko-KR" sz="1400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Kaggle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“EDA”</a:t>
            </a:r>
            <a:r>
              <a:rPr lang="ko-KR" altLang="en-US" sz="1400" b="1" dirty="0">
                <a:solidFill>
                  <a:srgbClr val="FF000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검색하여 실습하기</a:t>
            </a:r>
            <a:endParaRPr lang="en-US" altLang="ko-KR" sz="1400" b="1" dirty="0">
              <a:solidFill>
                <a:srgbClr val="FF000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FC09FA-4707-6BAA-E32E-50CA0C207202}"/>
              </a:ext>
            </a:extLst>
          </p:cNvPr>
          <p:cNvSpPr txBox="1"/>
          <p:nvPr/>
        </p:nvSpPr>
        <p:spPr>
          <a:xfrm>
            <a:off x="4654252" y="2504214"/>
            <a:ext cx="6264696" cy="2445606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시각화 분석 정리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변수의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수치형변수의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시각화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왜곡된 변수를 </a:t>
            </a:r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방법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통해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histogram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만들기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① 로그 변환 </a:t>
            </a:r>
            <a:r>
              <a:rPr lang="en-US" altLang="ko-KR" sz="1400" dirty="0"/>
              <a:t>(Log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② 루트 변환 </a:t>
            </a:r>
            <a:r>
              <a:rPr lang="en-US" altLang="ko-KR" sz="1400" dirty="0"/>
              <a:t>(Square Root Transformation)</a:t>
            </a:r>
          </a:p>
          <a:p>
            <a:pPr lvl="2">
              <a:lnSpc>
                <a:spcPct val="150000"/>
              </a:lnSpc>
            </a:pPr>
            <a:r>
              <a:rPr lang="ko-KR" altLang="en-US" sz="1400" dirty="0"/>
              <a:t>③ 박스</a:t>
            </a:r>
            <a:r>
              <a:rPr lang="en-US" altLang="ko-KR" sz="1400" dirty="0"/>
              <a:t>-</a:t>
            </a:r>
            <a:r>
              <a:rPr lang="ko-KR" altLang="en-US" sz="1400" dirty="0" err="1"/>
              <a:t>콕스</a:t>
            </a:r>
            <a:r>
              <a:rPr lang="ko-KR" altLang="en-US" sz="1400" dirty="0"/>
              <a:t> 변환 </a:t>
            </a:r>
            <a:r>
              <a:rPr lang="en-US" altLang="ko-KR" sz="1400" dirty="0"/>
              <a:t>(Box-Cox Transformation)</a:t>
            </a:r>
            <a:endParaRPr lang="en-US" altLang="ko-KR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FD051A-8425-178B-88DC-EAB75F302C95}"/>
              </a:ext>
            </a:extLst>
          </p:cNvPr>
          <p:cNvSpPr txBox="1"/>
          <p:nvPr/>
        </p:nvSpPr>
        <p:spPr>
          <a:xfrm>
            <a:off x="487656" y="1046300"/>
            <a:ext cx="11213512" cy="1035092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/>
              <a:t>본격적인 모델링이나 가설 검정에 들어가기 전</a:t>
            </a:r>
            <a:r>
              <a:rPr lang="en-US" altLang="ko-KR" sz="1600" dirty="0"/>
              <a:t>, </a:t>
            </a:r>
            <a:r>
              <a:rPr lang="ko-KR" altLang="en-US" sz="1600" dirty="0"/>
              <a:t>데이터를 다각도로 관찰하여 데이터의 특징을 이해하는 과정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/>
              <a:t>마치 요리를 하기 전 재료의 상태</a:t>
            </a:r>
            <a:r>
              <a:rPr lang="en-US" altLang="ko-KR" sz="1600" dirty="0"/>
              <a:t>(</a:t>
            </a:r>
            <a:r>
              <a:rPr lang="ko-KR" altLang="en-US" sz="1600" dirty="0"/>
              <a:t>신선도</a:t>
            </a:r>
            <a:r>
              <a:rPr lang="en-US" altLang="ko-KR" sz="1600" dirty="0"/>
              <a:t>, </a:t>
            </a:r>
            <a:r>
              <a:rPr lang="ko-KR" altLang="en-US" sz="1600" dirty="0"/>
              <a:t>양</a:t>
            </a:r>
            <a:r>
              <a:rPr lang="en-US" altLang="ko-KR" sz="1600" dirty="0"/>
              <a:t>, </a:t>
            </a:r>
            <a:r>
              <a:rPr lang="ko-KR" altLang="en-US" sz="1600" dirty="0"/>
              <a:t>종류</a:t>
            </a:r>
            <a:r>
              <a:rPr lang="en-US" altLang="ko-KR" sz="1600" dirty="0"/>
              <a:t>)</a:t>
            </a:r>
            <a:r>
              <a:rPr lang="ko-KR" altLang="en-US" sz="1600" dirty="0"/>
              <a:t>를 꼼꼼히 살피는 것</a:t>
            </a:r>
            <a:endParaRPr lang="en-US" altLang="ko-KR" sz="1600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/>
              <a:t>gemini</a:t>
            </a:r>
            <a:r>
              <a:rPr lang="ko-KR" altLang="en-US" sz="1600" dirty="0"/>
              <a:t> </a:t>
            </a:r>
            <a:r>
              <a:rPr lang="en-US" altLang="ko-KR" sz="1600" dirty="0"/>
              <a:t>canvas</a:t>
            </a:r>
            <a:r>
              <a:rPr lang="ko-KR" altLang="en-US" sz="1600" dirty="0"/>
              <a:t> 기능을 사용하여 보고서 작성하라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569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31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9956" y="1052736"/>
            <a:ext cx="7484337" cy="189064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4FC484-5BB5-9B69-79F6-68BC7DC90471}"/>
              </a:ext>
            </a:extLst>
          </p:cNvPr>
          <p:cNvSpPr txBox="1"/>
          <p:nvPr/>
        </p:nvSpPr>
        <p:spPr>
          <a:xfrm>
            <a:off x="1989956" y="3573016"/>
            <a:ext cx="756084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Multivariate</a:t>
            </a:r>
            <a:r>
              <a:rPr lang="ko-KR" altLang="en-US" sz="4000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sz="4000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Analysis</a:t>
            </a:r>
            <a:endParaRPr lang="ko-KR" altLang="en-US" sz="4000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891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32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476672"/>
            <a:ext cx="8932152" cy="5764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19251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33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16" y="620688"/>
            <a:ext cx="8992459" cy="5683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9832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34</a:t>
            </a:fld>
            <a:endParaRPr lang="en-US" altLang="ko-KR" noProof="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3932" y="371014"/>
            <a:ext cx="8751898" cy="6002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7229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35</a:t>
            </a:fld>
            <a:endParaRPr lang="en-US" altLang="ko-KR" noProof="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24" y="293380"/>
            <a:ext cx="8737599" cy="60629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59876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36</a:t>
            </a:fld>
            <a:endParaRPr lang="en-US" altLang="ko-KR" noProof="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828" y="1484784"/>
            <a:ext cx="10115376" cy="3816424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666947" y="764704"/>
            <a:ext cx="1088557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2400" b="1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same-stats-different-graphs</a:t>
            </a:r>
            <a:r>
              <a:rPr lang="ko-KR" altLang="en-US" sz="2400" b="1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886952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1FDEC9-FA2F-7CCE-CE59-AE80A24B34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1897282-23D0-A72E-342F-8E7999F1E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37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CF0685-BBD1-E592-25B3-B4F5567F4086}"/>
              </a:ext>
            </a:extLst>
          </p:cNvPr>
          <p:cNvSpPr txBox="1"/>
          <p:nvPr/>
        </p:nvSpPr>
        <p:spPr>
          <a:xfrm>
            <a:off x="765820" y="1196752"/>
            <a:ext cx="11233248" cy="559127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colab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</a:t>
            </a:r>
            <a:r>
              <a:rPr lang="en-US" altLang="ko-KR" dirty="0" err="1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ancombe.json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파일을 사용하여 각 그룹별로 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X,Y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변수의 평균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</a:t>
            </a:r>
            <a:r>
              <a:rPr lang="en-US" altLang="ko-KR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Arial Narrow" panose="020B0606020202030204" pitchFamily="34" charset="0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상관계수를 구하라 　</a:t>
            </a:r>
            <a:endParaRPr lang="en-US" altLang="ko-KR" dirty="0">
              <a:latin typeface="Arial Narrow" panose="020B0606020202030204" pitchFamily="34" charset="0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CB0648-AB52-0AAA-34D3-9C941014D918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3F82E8F-3482-730A-992D-6C02C324B6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20" y="2076088"/>
            <a:ext cx="6768752" cy="420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773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DCE2-17C1-A611-9B45-2FD6CF81B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176F4523-1057-C68A-630F-8E420669D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38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96F71B-9CAC-A913-6B18-46452EB8146D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8B5F73A-CBC7-1626-4F0E-24966B29D0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85900" y="2473342"/>
            <a:ext cx="2601763" cy="38912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6EFABEB-78B2-B23E-2790-1B3F29C1E80E}"/>
              </a:ext>
            </a:extLst>
          </p:cNvPr>
          <p:cNvSpPr txBox="1"/>
          <p:nvPr/>
        </p:nvSpPr>
        <p:spPr>
          <a:xfrm>
            <a:off x="909836" y="875966"/>
            <a:ext cx="10945216" cy="1118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통계량</a:t>
            </a:r>
            <a:r>
              <a:rPr lang="en-US" altLang="ko-KR" dirty="0"/>
              <a:t>(Statistic)</a:t>
            </a:r>
            <a:r>
              <a:rPr lang="ko-KR" altLang="en-US" dirty="0"/>
              <a:t>을 이해하지 못하면 시각화는 하지 마라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seaborn</a:t>
            </a:r>
            <a:r>
              <a:rPr lang="ko-KR" altLang="en-US" dirty="0"/>
              <a:t> </a:t>
            </a:r>
            <a:r>
              <a:rPr lang="en-US" altLang="ko-KR" dirty="0"/>
              <a:t>gallery</a:t>
            </a:r>
            <a:r>
              <a:rPr lang="ko-KR" altLang="en-US" dirty="0"/>
              <a:t>의 시각화 예제 중에서 아래 그림을 평균</a:t>
            </a:r>
            <a:r>
              <a:rPr lang="en-US" altLang="ko-KR" dirty="0"/>
              <a:t>, </a:t>
            </a:r>
            <a:r>
              <a:rPr lang="ko-KR" altLang="en-US" dirty="0"/>
              <a:t>분산</a:t>
            </a:r>
            <a:r>
              <a:rPr lang="en-US" altLang="ko-KR" dirty="0"/>
              <a:t>, </a:t>
            </a:r>
            <a:r>
              <a:rPr lang="ko-KR" altLang="en-US" dirty="0" err="1"/>
              <a:t>왜도</a:t>
            </a:r>
            <a:r>
              <a:rPr lang="en-US" altLang="ko-KR" dirty="0"/>
              <a:t>, </a:t>
            </a:r>
            <a:r>
              <a:rPr lang="ko-KR" altLang="en-US" dirty="0"/>
              <a:t>분포 등의 관점으로 설명하라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57DD18-CE6A-587A-07B2-C86F815F51B5}"/>
              </a:ext>
            </a:extLst>
          </p:cNvPr>
          <p:cNvSpPr txBox="1"/>
          <p:nvPr/>
        </p:nvSpPr>
        <p:spPr>
          <a:xfrm>
            <a:off x="1478577" y="6352144"/>
            <a:ext cx="24482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multiple_bivariate_kde</a:t>
            </a:r>
            <a:endParaRPr lang="ko-KR" altLang="en-US" sz="12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5C28E09D-41B6-F472-B8B1-F56ABC3D6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57954" y="2490796"/>
            <a:ext cx="427672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1A536B-E0AF-AE13-E536-46C2F4FDCCE5}"/>
              </a:ext>
            </a:extLst>
          </p:cNvPr>
          <p:cNvSpPr txBox="1"/>
          <p:nvPr/>
        </p:nvSpPr>
        <p:spPr>
          <a:xfrm>
            <a:off x="5863589" y="6075145"/>
            <a:ext cx="14478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dirty="0" err="1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multiple_regression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05585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E47D0-CA3E-396A-EAE0-3D7F7EC02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:a16="http://schemas.microsoft.com/office/drawing/2014/main" id="{42F81467-E6D1-04BF-99EC-7A62BE7705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852" y="2293351"/>
            <a:ext cx="6493809" cy="4325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F4C5E44-F920-55F1-C678-996A81C5A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39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26D8BE-0B8F-83F5-BAA1-C934E8DF2D58}"/>
              </a:ext>
            </a:extLst>
          </p:cNvPr>
          <p:cNvSpPr txBox="1"/>
          <p:nvPr/>
        </p:nvSpPr>
        <p:spPr>
          <a:xfrm>
            <a:off x="117748" y="260648"/>
            <a:ext cx="1072919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 dirty="0"/>
              <a:t>문제 풀이</a:t>
            </a:r>
            <a:r>
              <a:rPr lang="en-US" altLang="ko-KR" sz="3200" b="1" dirty="0"/>
              <a:t>(</a:t>
            </a:r>
            <a:r>
              <a:rPr lang="ko-KR" altLang="en-US" sz="3200" b="1" dirty="0"/>
              <a:t>시각화</a:t>
            </a:r>
            <a:r>
              <a:rPr lang="en-US" altLang="ko-KR" sz="3200" b="1" dirty="0"/>
              <a:t>, Data </a:t>
            </a:r>
            <a:r>
              <a:rPr lang="en-US" altLang="ko-KR" sz="3200" b="1" dirty="0" err="1"/>
              <a:t>Visulalization</a:t>
            </a:r>
            <a:r>
              <a:rPr lang="en-US" altLang="ko-KR" sz="3200" b="1" dirty="0"/>
              <a:t>)</a:t>
            </a:r>
            <a:endParaRPr lang="ko-KR" altLang="en-US" sz="32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4994DE-7084-F46C-641A-E520A1A8A349}"/>
              </a:ext>
            </a:extLst>
          </p:cNvPr>
          <p:cNvSpPr txBox="1"/>
          <p:nvPr/>
        </p:nvSpPr>
        <p:spPr>
          <a:xfrm>
            <a:off x="909836" y="875966"/>
            <a:ext cx="10945216" cy="11227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대표적인 시각화 예제</a:t>
            </a:r>
            <a:r>
              <a:rPr lang="en-US" altLang="ko-KR" dirty="0"/>
              <a:t>(</a:t>
            </a:r>
            <a:r>
              <a:rPr lang="ko-KR" altLang="en-US" dirty="0"/>
              <a:t>나폴레옹군대 </a:t>
            </a:r>
            <a:r>
              <a:rPr lang="en-US" altLang="ko-KR" dirty="0"/>
              <a:t>, </a:t>
            </a:r>
            <a:r>
              <a:rPr lang="ko-KR" altLang="en-US" dirty="0"/>
              <a:t>나이팅게일</a:t>
            </a:r>
            <a:r>
              <a:rPr lang="en-US" altLang="ko-KR" dirty="0"/>
              <a:t>, </a:t>
            </a:r>
            <a:r>
              <a:rPr lang="ko-KR" altLang="en-US" dirty="0"/>
              <a:t>콜레라 등</a:t>
            </a:r>
            <a:r>
              <a:rPr lang="en-US" altLang="ko-KR" dirty="0"/>
              <a:t>)</a:t>
            </a:r>
            <a:r>
              <a:rPr lang="ko-KR" altLang="en-US" dirty="0"/>
              <a:t>를 검색하여 설명하라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informationisbeautiful</a:t>
            </a:r>
            <a:endParaRPr lang="ko-KR" alt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7222F5E-1E8D-D58E-9960-497AA112C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50396" y="1998709"/>
            <a:ext cx="6149481" cy="4048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644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F7AD35-B6C6-BC48-8362-1E0DF9347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FB157F2C-AEE5-84A6-8E44-8311E4828D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40</a:t>
            </a:fld>
            <a:endParaRPr lang="en-US" altLang="ko-KR" noProof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5F9557D-E6F8-CC76-27FB-953A0BADF3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36" y="1340768"/>
            <a:ext cx="10179874" cy="45365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8922264-2A14-D40B-7A1A-EC319C22BF79}"/>
              </a:ext>
            </a:extLst>
          </p:cNvPr>
          <p:cNvSpPr txBox="1"/>
          <p:nvPr/>
        </p:nvSpPr>
        <p:spPr>
          <a:xfrm>
            <a:off x="117748" y="260648"/>
            <a:ext cx="116652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탐색적 데이터 분석</a:t>
            </a:r>
            <a:r>
              <a:rPr lang="en-US" altLang="ko-KR" sz="2400" b="1" dirty="0"/>
              <a:t>(EDA,</a:t>
            </a:r>
            <a:r>
              <a:rPr lang="ko-KR" altLang="en-US" sz="2400" b="1" dirty="0"/>
              <a:t> </a:t>
            </a:r>
            <a:r>
              <a:rPr lang="en-US" altLang="ko-KR" sz="2400" b="1" dirty="0"/>
              <a:t>Exploratory Data Analysis) </a:t>
            </a:r>
            <a:r>
              <a:rPr lang="ko-KR" altLang="en-US" sz="3600" b="1" dirty="0"/>
              <a:t>심층 </a:t>
            </a:r>
            <a:r>
              <a:rPr lang="ko-KR" altLang="en-US" sz="2400" b="1" dirty="0"/>
              <a:t>보고서작성 제출</a:t>
            </a:r>
          </a:p>
        </p:txBody>
      </p:sp>
    </p:spTree>
    <p:extLst>
      <p:ext uri="{BB962C8B-B14F-4D97-AF65-F5344CB8AC3E}">
        <p14:creationId xmlns:p14="http://schemas.microsoft.com/office/powerpoint/2010/main" val="34128771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http://purl.org/dc/elements/1.1/"/>
    <ds:schemaRef ds:uri="http://purl.org/dc/terms/"/>
    <ds:schemaRef ds:uri="http://schemas.microsoft.com/office/2006/metadata/properties"/>
    <ds:schemaRef ds:uri="a4f35948-e619-41b3-aa29-22878b09cfd2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40262f94-9f35-4ac3-9a90-690165a166b7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362</TotalTime>
  <Words>802</Words>
  <Application>Microsoft Office PowerPoint</Application>
  <PresentationFormat>사용자 지정</PresentationFormat>
  <Paragraphs>177</Paragraphs>
  <Slides>40</Slides>
  <Notes>39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2" baseType="lpstr">
      <vt:lpstr>Apple SD Gothic Neo</vt:lpstr>
      <vt:lpstr>맑은 고딕</vt:lpstr>
      <vt:lpstr>맑은 고딕 Semilight</vt:lpstr>
      <vt:lpstr>휴먼모음T</vt:lpstr>
      <vt:lpstr>ADLaM Display</vt:lpstr>
      <vt:lpstr>Arial</vt:lpstr>
      <vt:lpstr>Arial Narrow</vt:lpstr>
      <vt:lpstr>Corbel</vt:lpstr>
      <vt:lpstr>Microsoft Sans Serif</vt:lpstr>
      <vt:lpstr>PT Sans</vt:lpstr>
      <vt:lpstr>Wingdings</vt:lpstr>
      <vt:lpstr>마케팅 16x9</vt:lpstr>
      <vt:lpstr>통계학  - 기술 통계 - 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21</cp:revision>
  <dcterms:created xsi:type="dcterms:W3CDTF">2024-06-03T06:10:16Z</dcterms:created>
  <dcterms:modified xsi:type="dcterms:W3CDTF">2026-03-13T23:16:00Z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