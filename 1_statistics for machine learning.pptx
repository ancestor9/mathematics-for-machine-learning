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7"/>
  </p:notesMasterIdLst>
  <p:handoutMasterIdLst>
    <p:handoutMasterId r:id="rId48"/>
  </p:handoutMasterIdLst>
  <p:sldIdLst>
    <p:sldId id="256" r:id="rId5"/>
    <p:sldId id="270" r:id="rId6"/>
    <p:sldId id="305" r:id="rId7"/>
    <p:sldId id="304" r:id="rId8"/>
    <p:sldId id="306" r:id="rId9"/>
    <p:sldId id="271" r:id="rId10"/>
    <p:sldId id="282" r:id="rId11"/>
    <p:sldId id="279" r:id="rId12"/>
    <p:sldId id="280" r:id="rId13"/>
    <p:sldId id="281" r:id="rId14"/>
    <p:sldId id="308" r:id="rId15"/>
    <p:sldId id="307" r:id="rId16"/>
    <p:sldId id="272" r:id="rId17"/>
    <p:sldId id="309" r:id="rId18"/>
    <p:sldId id="273" r:id="rId19"/>
    <p:sldId id="274" r:id="rId20"/>
    <p:sldId id="299" r:id="rId21"/>
    <p:sldId id="300" r:id="rId22"/>
    <p:sldId id="301" r:id="rId23"/>
    <p:sldId id="276" r:id="rId24"/>
    <p:sldId id="275" r:id="rId25"/>
    <p:sldId id="277" r:id="rId26"/>
    <p:sldId id="278" r:id="rId27"/>
    <p:sldId id="283" r:id="rId28"/>
    <p:sldId id="284" r:id="rId29"/>
    <p:sldId id="285" r:id="rId30"/>
    <p:sldId id="286" r:id="rId31"/>
    <p:sldId id="302" r:id="rId32"/>
    <p:sldId id="287" r:id="rId33"/>
    <p:sldId id="288" r:id="rId34"/>
    <p:sldId id="289" r:id="rId35"/>
    <p:sldId id="290" r:id="rId36"/>
    <p:sldId id="291" r:id="rId37"/>
    <p:sldId id="292" r:id="rId38"/>
    <p:sldId id="310" r:id="rId39"/>
    <p:sldId id="293" r:id="rId40"/>
    <p:sldId id="294" r:id="rId41"/>
    <p:sldId id="295" r:id="rId42"/>
    <p:sldId id="296" r:id="rId43"/>
    <p:sldId id="297" r:id="rId44"/>
    <p:sldId id="298" r:id="rId45"/>
    <p:sldId id="303" r:id="rId46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2026-03-11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C8F37-DCD9-3001-E354-B3A6D1C1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6D4E07-A396-E1F7-0919-72AF00F19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E06E1-13C1-3C32-46CB-92506A498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1BFDC5-8668-119F-E940-FF2F60314D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7571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46FAF-F5C9-E6E3-DFBE-CAF50E418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5F61900-29D4-9358-2581-3584102BB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4D4FEB-BF65-8687-D65F-39EEFC9E8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976CCA-EF32-D18C-500B-FF8E302B9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77770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B8705-3323-DCA1-0DE1-5AD2BD066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3B6D09-2392-C501-F78E-115D46EC8F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6F2958-1387-E1C8-A718-1878C5B170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C5C12B-A408-3EA1-287B-968825FD92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815392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8EB20-F00D-DEA0-4BED-25CB3B72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ED47328-A892-BAC3-1A9A-42A9149317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FBE53-6A4F-7626-0C4B-01CCAD3CC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94D185-85B9-85CC-370A-1DDF51499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78128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C92F7-5E09-EF99-47BD-B6AA75D50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79BCBC-B622-8D81-8E3F-180A1B5A9C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C83144-DBA9-E550-3C13-C53BCD252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43121F-45D2-12D3-F7A7-56AE6E48D1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61595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09442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125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48102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14866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0F7D5-C22A-F6A0-8F4D-A9C428929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EE3B1-1F6C-7141-239F-D92858EEB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AB149-C659-B05E-E59D-CD0CD014A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92CF23-145C-6645-6053-9BE8686C7F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238789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BCEC8-47FC-8EA7-A538-153CB379B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E14DEB-2EF3-81ED-B6D5-98AC346A25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8D84B77-79E6-B42A-E6DC-29E695D3AF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59EEB8-1602-2D8E-C1AB-E9B99027D2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904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2026-03-11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ossmanchance.com/applets/2021/descstats/Dotplot.htm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ossmanchance.com/applets/2021/oneprop/OneProp.htm?candy=1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 err="1"/>
              <a:t>머신러닝을</a:t>
            </a:r>
            <a:r>
              <a:rPr lang="ko-KR" altLang="en-US" sz="3200" b="1" dirty="0"/>
              <a:t> 위한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754AEB-7EBE-A397-BEA5-D61762102166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(Statistics)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모집단과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표본조사 방법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데이터의 종류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(Data type)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주요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다변량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(Multivariate Analysis)</a:t>
            </a: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99DDB-CF71-2269-C86C-A0C6B66D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480F933-025B-964F-DC78-EB0567125B9F}"/>
              </a:ext>
            </a:extLst>
          </p:cNvPr>
          <p:cNvSpPr/>
          <p:nvPr/>
        </p:nvSpPr>
        <p:spPr>
          <a:xfrm>
            <a:off x="549796" y="189005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865C5A-AC22-903F-65DE-B0B66C8E4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442AF8-60A9-DCE2-F679-9A9DD6247034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(Statistics)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모집단과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표본조사 방법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데이터의 종류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(Data type)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주요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다변량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(Multivariate Analysis)</a:t>
            </a: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6523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5CDD0C3-0723-5479-A784-C68987AC40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DC220-2BC9-E0B4-4F0D-65A82F8E1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06C883A-54AF-1C45-4FB5-6B98B3C61DE4}"/>
              </a:ext>
            </a:extLst>
          </p:cNvPr>
          <p:cNvSpPr/>
          <p:nvPr/>
        </p:nvSpPr>
        <p:spPr>
          <a:xfrm>
            <a:off x="592167" y="2511348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65B77EB-579B-8BE0-E878-8DEE5CAED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2414E8-8369-1246-31F2-E793ADDB38FB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(Statistics)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모집단과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표본조사 방법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데이터의 종류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(Data type)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주요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다변량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(Multivariate Analysis)</a:t>
            </a: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5865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BEF4C-6207-0B57-AF4B-DEDBA4713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300C0E0-05B2-9161-BDC4-08FD53A4D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904823-3A2F-D01C-298E-969634A7BE94}"/>
              </a:ext>
            </a:extLst>
          </p:cNvPr>
          <p:cNvSpPr txBox="1"/>
          <p:nvPr/>
        </p:nvSpPr>
        <p:spPr>
          <a:xfrm>
            <a:off x="765820" y="1268760"/>
            <a:ext cx="11233248" cy="62459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모집단으로 가정하고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표본추출방법을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1198CD-632B-CF6C-9A00-58DFCB1D17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874432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06161-C61F-40FC-86A5-15B880B95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C3D80B8-C2B7-81DA-94E3-BC2843BBA248}"/>
              </a:ext>
            </a:extLst>
          </p:cNvPr>
          <p:cNvSpPr/>
          <p:nvPr/>
        </p:nvSpPr>
        <p:spPr>
          <a:xfrm>
            <a:off x="592167" y="3140968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528D0BF-D0DE-78C0-F571-DD62D6578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85C321-1D2A-1D57-122E-196426F18642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(Statistics)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모집단과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표본조사 방법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데이터의 종류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(Data type)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주요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다변량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(Multivariate Analysis)</a:t>
            </a: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7550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CE65E-5996-67F8-E60B-8066957F6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4C4EE04-E9BE-13CF-BF30-41C9137498B0}"/>
              </a:ext>
            </a:extLst>
          </p:cNvPr>
          <p:cNvSpPr/>
          <p:nvPr/>
        </p:nvSpPr>
        <p:spPr>
          <a:xfrm>
            <a:off x="615953" y="378904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AE8EC77-CB5D-C18F-4F58-3C3CA2B2F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C818E5-EFFB-8367-5DA6-5B9CAEE3A849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(Statistics)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모집단과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표본조사 방법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데이터의 종류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(Data type)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주요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다변량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(Multivariate Analysis)</a:t>
            </a: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4835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9334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변수의 값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분포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평균과 분산을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평균의 함정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표본추출방법의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각 표본과 모집단과의 평균과 분산을 비교한 후 어떤 표본추출방법이 가장 적합한지 토론하라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2762272" y="5987394"/>
            <a:ext cx="64442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https://www.mt.co.kr/opinion/2019/04/09/2019040811152977932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124014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데이터를 데이터셋으로 읽은 후 컴퓨터가 인식할 수 있도록 모든 데이터를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수치화하여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표현하라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8" y="2770753"/>
            <a:ext cx="8064896" cy="3079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C356-F6E6-69F8-92C0-0C77A8297D8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Representation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1052736"/>
            <a:ext cx="2484460" cy="4337096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2364" y="1052736"/>
            <a:ext cx="6264696" cy="4765453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4006180" y="2996952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692696"/>
            <a:ext cx="8363603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7EF4CE-9940-CC09-51C5-2EBE0F113CBC}"/>
              </a:ext>
            </a:extLst>
          </p:cNvPr>
          <p:cNvSpPr txBox="1"/>
          <p:nvPr/>
        </p:nvSpPr>
        <p:spPr>
          <a:xfrm>
            <a:off x="765820" y="1196752"/>
            <a:ext cx="11233248" cy="169277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수치형 변수 값의 서로 크기가 다른 경우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scaling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 방법과 그 이유를 토론하라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 scaling)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from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sklearn.datasets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import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fetch_california_housing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의 데이터의 변수 중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MedInc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", 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AveOccup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“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에 대한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joinplot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을 </a:t>
            </a:r>
            <a:r>
              <a:rPr lang="ko-KR" altLang="en-US" sz="1600" dirty="0" err="1">
                <a:latin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/>
              </a:rPr>
              <a:t>https://scikit-learn.org/stable/auto_examples/preprocessing/plot_all_scaling.html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자료원을 이해하고 평균과 분산이 각각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0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과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인 형태로 표준화한 후 시각화 코드를 만들어라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071B73-BC5B-2117-7605-77E384E9D1A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84FD0F-761F-BA66-F243-41B3BE7940EE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Representation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1A821FDE-1A23-9E3C-69A7-B9779CAFA6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BC234EE9-715B-F469-E101-412D387BAE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8154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6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808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</a:t>
            </a:r>
            <a:r>
              <a:rPr lang="en-US" altLang="ko-KR" sz="2800" b="1" dirty="0" err="1">
                <a:solidFill>
                  <a:srgbClr val="313131"/>
                </a:solidFill>
                <a:latin typeface="PT Sans"/>
              </a:rPr>
              <a:t>Analyssis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1053852" y="1988840"/>
            <a:ext cx="1094521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분석에서는 데이터를 그래프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대표값을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나타내는 숫자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로 요약한다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우리는 실생활에서 많은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 자료를 접할 수 있다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9229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969" y="486232"/>
            <a:ext cx="8387629" cy="589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98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252" y="1732891"/>
            <a:ext cx="7323814" cy="1915163"/>
          </a:xfrm>
          <a:prstGeom prst="rect">
            <a:avLst/>
          </a:prstGeom>
        </p:spPr>
      </p:pic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1465388" y="3861048"/>
          <a:ext cx="8691966" cy="194421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356911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3856484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3478571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388843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범주적 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종교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직업 등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연속적 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몸무게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성적 등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범주의 비교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DCD51-7641-A748-59B0-FDCEA3477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BD8AB82-2AB4-E3DD-1586-62415920E394}"/>
              </a:ext>
            </a:extLst>
          </p:cNvPr>
          <p:cNvSpPr/>
          <p:nvPr/>
        </p:nvSpPr>
        <p:spPr>
          <a:xfrm>
            <a:off x="615953" y="436510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695BA4-6421-8E49-259E-664134590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1FEC46-249B-7E9C-0EA5-C603DBF9E2F8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(Statistics)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모집단과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표본조사 방법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데이터의 종류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(Data type)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주요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다변량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(Multivariate Analysis)</a:t>
            </a: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77558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6795" y="2276872"/>
            <a:ext cx="9305875" cy="3511008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dirty="0" err="1">
                <a:solidFill>
                  <a:srgbClr val="FF0000"/>
                </a:solidFill>
                <a:hlinkClick r:id="rId4"/>
              </a:rPr>
              <a:t>autodesk</a:t>
            </a:r>
            <a:endParaRPr lang="en-US" altLang="ko-KR" sz="2400" dirty="0">
              <a:solidFill>
                <a:srgbClr val="FF0000"/>
              </a:solidFill>
            </a:endParaRPr>
          </a:p>
          <a:p>
            <a:r>
              <a:rPr lang="en-US" altLang="ko-KR" dirty="0"/>
              <a:t>- </a:t>
            </a:r>
            <a:r>
              <a:rPr lang="ko-KR" altLang="en-US" dirty="0">
                <a:hlinkClick r:id="rId4"/>
              </a:rPr>
              <a:t>https://www.research.autodesk.com/publications/same-stats-different-graphs/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18AE1-D552-2271-232D-C7A0D3AC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7C4C1A8-1722-BD6D-43C7-7A00C8EE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6EE12EB-4DDE-4514-53C5-CEE36B1DD16C}"/>
              </a:ext>
            </a:extLst>
          </p:cNvPr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/>
              <a:t>Appendix 1 : </a:t>
            </a:r>
            <a:r>
              <a:rPr lang="ko-KR" altLang="en-US" sz="2400" b="1" dirty="0"/>
              <a:t>통계 연습 사이트</a:t>
            </a:r>
            <a:endParaRPr lang="ko-KR" altLang="en-US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772A94-E180-607D-3CC1-237FA2501F6A}"/>
              </a:ext>
            </a:extLst>
          </p:cNvPr>
          <p:cNvSpPr txBox="1"/>
          <p:nvPr/>
        </p:nvSpPr>
        <p:spPr>
          <a:xfrm>
            <a:off x="981844" y="1700808"/>
            <a:ext cx="8856984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Descriptive Statistics</a:t>
            </a:r>
            <a:endParaRPr lang="en-US" altLang="ko-KR" sz="20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Central Limits </a:t>
            </a:r>
            <a:r>
              <a:rPr lang="en-US" altLang="ko-KR" sz="2000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Theorm</a:t>
            </a:r>
            <a:endParaRPr lang="ko-KR" altLang="en-US" sz="20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7940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355</TotalTime>
  <Words>579</Words>
  <Application>Microsoft Office PowerPoint</Application>
  <PresentationFormat>사용자 지정</PresentationFormat>
  <Paragraphs>174</Paragraphs>
  <Slides>42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2" baseType="lpstr">
      <vt:lpstr>Apple SD Gothic Neo</vt:lpstr>
      <vt:lpstr>맑은 고딕</vt:lpstr>
      <vt:lpstr>한컴 말랑말랑 Bold</vt:lpstr>
      <vt:lpstr>휴먼모음T</vt:lpstr>
      <vt:lpstr>Arial</vt:lpstr>
      <vt:lpstr>Corbel</vt:lpstr>
      <vt:lpstr>Microsoft Sans Serif</vt:lpstr>
      <vt:lpstr>PT Sans</vt:lpstr>
      <vt:lpstr>Wingdings</vt:lpstr>
      <vt:lpstr>마케팅 16x9</vt:lpstr>
      <vt:lpstr>통계학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15</cp:revision>
  <dcterms:created xsi:type="dcterms:W3CDTF">2024-06-03T06:10:16Z</dcterms:created>
  <dcterms:modified xsi:type="dcterms:W3CDTF">2026-03-11T07:17:25Z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