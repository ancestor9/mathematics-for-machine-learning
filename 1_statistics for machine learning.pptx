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2"/>
  </p:notesMasterIdLst>
  <p:handoutMasterIdLst>
    <p:handoutMasterId r:id="rId53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92" r:id="rId24"/>
    <p:sldId id="318" r:id="rId25"/>
    <p:sldId id="276" r:id="rId26"/>
    <p:sldId id="304" r:id="rId27"/>
    <p:sldId id="289" r:id="rId28"/>
    <p:sldId id="290" r:id="rId29"/>
    <p:sldId id="316" r:id="rId30"/>
    <p:sldId id="317" r:id="rId31"/>
    <p:sldId id="302" r:id="rId32"/>
    <p:sldId id="305" r:id="rId33"/>
    <p:sldId id="315" r:id="rId34"/>
    <p:sldId id="293" r:id="rId35"/>
    <p:sldId id="294" r:id="rId36"/>
    <p:sldId id="295" r:id="rId37"/>
    <p:sldId id="296" r:id="rId38"/>
    <p:sldId id="297" r:id="rId39"/>
    <p:sldId id="298" r:id="rId40"/>
    <p:sldId id="288" r:id="rId41"/>
    <p:sldId id="287" r:id="rId42"/>
    <p:sldId id="303" r:id="rId43"/>
    <p:sldId id="308" r:id="rId44"/>
    <p:sldId id="310" r:id="rId45"/>
    <p:sldId id="313" r:id="rId46"/>
    <p:sldId id="311" r:id="rId47"/>
    <p:sldId id="312" r:id="rId48"/>
    <p:sldId id="309" r:id="rId49"/>
    <p:sldId id="307" r:id="rId50"/>
    <p:sldId id="314" r:id="rId51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469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3843-DBDB-7C80-D392-C8D84E24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C125-2926-E2DD-D847-E0D929AD3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64AD8-D833-1140-E24D-52003816F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482C3-637F-FE61-4C4A-AFAAE3898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96291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663A3-DFCF-20E2-B630-F332D387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1B7D16-7EF3-A550-2ECD-D16605074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8EAFF9-91CE-E532-948F-AB8189DAF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C4095-620E-5176-AEAA-E971AE0529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3336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35C42-7D5E-0953-C73B-C57962A5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860B52-4A68-5D31-1C25-080258252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401F7B-2F69-01F8-DDB3-8EF848D55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ECF495-A05C-054A-0C7D-0E8D26E84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676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94EA9-54A9-0ECB-7928-C50D322F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B56DA9-5C66-91F9-E8D9-D77F44755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DC6B-CFFA-D859-9A99-6E1E42D5D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6880B-D2D0-45B2-5B75-760D4F1EE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18856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14756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7244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eaborn.pydata.org/examples/histogram_stacked.html" TargetMode="Externa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6.png"/><Relationship Id="rId4" Type="http://schemas.openxmlformats.org/officeDocument/2006/relationships/hyperlink" Target="https://seaborn.pydata.org/examples/multiple_bivariate_kde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hyperlink" Target="https://informationisbeautiful.net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6122028"/>
              </p:ext>
            </p:extLst>
          </p:nvPr>
        </p:nvGraphicFramePr>
        <p:xfrm>
          <a:off x="1465388" y="3861048"/>
          <a:ext cx="8949503" cy="243535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97115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970749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581639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487071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범주적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종교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직업 등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연속적 </a:t>
                      </a:r>
                      <a:r>
                        <a:rPr lang="en-US" altLang="ko-KR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(</a:t>
                      </a:r>
                      <a:r>
                        <a:rPr lang="ko-KR" altLang="en-US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몸무게</a:t>
                      </a:r>
                      <a:r>
                        <a:rPr lang="en-US" altLang="ko-KR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성적 등</a:t>
                      </a:r>
                      <a:r>
                        <a:rPr lang="en-US" altLang="ko-KR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범주의 비교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effectLst/>
                          <a:latin typeface="휴먼모음T" panose="02030504000101010101" pitchFamily="18" charset="-127"/>
                          <a:ea typeface="휴먼모음T" panose="02030504000101010101" pitchFamily="18" charset="-127"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F9257-07AF-5D24-2DA9-17EDAB6FC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4494BF6-DDC3-BBD0-ADEE-C832DA4DE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C9F1DC-4695-D812-628F-1D3D9476AD7D}"/>
              </a:ext>
            </a:extLst>
          </p:cNvPr>
          <p:cNvSpPr txBox="1"/>
          <p:nvPr/>
        </p:nvSpPr>
        <p:spPr>
          <a:xfrm>
            <a:off x="487656" y="1046300"/>
            <a:ext cx="11213512" cy="8829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데이터를 바탕으로 막대그래프와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Histogram,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barplot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시각화하고 설명하라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범주형과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수치형데이터를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9F8B2-33EB-2982-8C16-8655A9A54F9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FDCE40-17B5-853D-7389-3CF369841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2708920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16E0D06-4FC3-0BE0-CD7B-89C1161E1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4421662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6147501-2C6B-DE5C-C0CC-72A4260C3F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56" y="2708920"/>
            <a:ext cx="5458865" cy="26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670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3121223"/>
            <a:ext cx="2491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567" y="3644443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C8F4-ACB5-D764-4229-50485C41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704507-8996-3F3A-2B6F-B4E86FC9C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2FD54A-62EA-C6E5-C9D6-AA28A8766C76}"/>
              </a:ext>
            </a:extLst>
          </p:cNvPr>
          <p:cNvSpPr txBox="1"/>
          <p:nvPr/>
        </p:nvSpPr>
        <p:spPr>
          <a:xfrm>
            <a:off x="487656" y="1046300"/>
            <a:ext cx="11213512" cy="15799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변수의 값이 크게 차이가 나는 경우 혹은 왜곡된 경우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1580FCC-6D86-55BD-9876-FC8AC3F21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3138223"/>
            <a:ext cx="10575308" cy="2874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D117EF-D423-A957-7C8C-07C3BF7452F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15E193-F3D6-3FC1-1AB7-E85A781F85E1}"/>
              </a:ext>
            </a:extLst>
          </p:cNvPr>
          <p:cNvSpPr txBox="1"/>
          <p:nvPr/>
        </p:nvSpPr>
        <p:spPr>
          <a:xfrm>
            <a:off x="487656" y="2809269"/>
            <a:ext cx="11017224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 값의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skew()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구하고 위의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 방법으로 변환하고 히스토그램을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610D05-5DDF-8F3C-55CA-D53BF74D8B87}"/>
              </a:ext>
            </a:extLst>
          </p:cNvPr>
          <p:cNvSpPr txBox="1"/>
          <p:nvPr/>
        </p:nvSpPr>
        <p:spPr>
          <a:xfrm>
            <a:off x="487656" y="6165304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1.62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9E923-254B-29E9-9C92-030BB66D065D}"/>
              </a:ext>
            </a:extLst>
          </p:cNvPr>
          <p:cNvSpPr txBox="1"/>
          <p:nvPr/>
        </p:nvSpPr>
        <p:spPr>
          <a:xfrm>
            <a:off x="4611490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5D490-1D04-A210-6112-94790B6687A5}"/>
              </a:ext>
            </a:extLst>
          </p:cNvPr>
          <p:cNvSpPr txBox="1"/>
          <p:nvPr/>
        </p:nvSpPr>
        <p:spPr>
          <a:xfrm>
            <a:off x="8038628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0.84</a:t>
            </a:r>
          </a:p>
        </p:txBody>
      </p:sp>
    </p:spTree>
    <p:extLst>
      <p:ext uri="{BB962C8B-B14F-4D97-AF65-F5344CB8AC3E}">
        <p14:creationId xmlns:p14="http://schemas.microsoft.com/office/powerpoint/2010/main" val="84431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B45AD-237B-94E9-6725-8379F6AB3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7F2DAF-3F49-77F5-0D61-64F1475C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475091-E7D0-66D2-8C9B-E0C7A6472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803" y="2527542"/>
            <a:ext cx="5066444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B430F1F-5A33-3F5D-FBBE-51C28E31C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92" y="2527542"/>
            <a:ext cx="5066443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2D1375-F53D-1902-27B9-C8E2CC54F590}"/>
              </a:ext>
            </a:extLst>
          </p:cNvPr>
          <p:cNvSpPr txBox="1"/>
          <p:nvPr/>
        </p:nvSpPr>
        <p:spPr>
          <a:xfrm>
            <a:off x="453331" y="2108550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price </a:t>
            </a:r>
            <a:r>
              <a:rPr lang="ko-KR" altLang="en-US" dirty="0" err="1"/>
              <a:t>원자료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E12D7-EA9B-7CDA-6F34-34487FCD9AAF}"/>
              </a:ext>
            </a:extLst>
          </p:cNvPr>
          <p:cNvSpPr txBox="1"/>
          <p:nvPr/>
        </p:nvSpPr>
        <p:spPr>
          <a:xfrm>
            <a:off x="487656" y="1046300"/>
            <a:ext cx="11213512" cy="4669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histogram_stacked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log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변환에 대해 설명하라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0369B-8AF5-5C66-C39A-3928A21EF86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FDBF3-6C5B-842D-7D68-C4C18FAE116F}"/>
              </a:ext>
            </a:extLst>
          </p:cNvPr>
          <p:cNvSpPr txBox="1"/>
          <p:nvPr/>
        </p:nvSpPr>
        <p:spPr>
          <a:xfrm>
            <a:off x="6598468" y="2093161"/>
            <a:ext cx="2177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price </a:t>
            </a:r>
            <a:r>
              <a:rPr lang="ko-KR" altLang="en-US" dirty="0"/>
              <a:t>로그변환 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0692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6A79-83C6-C30D-1F3F-CFF7F84A6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C18AEA-059F-F170-F136-AD4111A27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765150-2A2D-86D4-5F7C-56AA533CF808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1097F1-4322-C322-ED22-EC025D4CAC74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0403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98167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839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183879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2183879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857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species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별로 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축의 각각 변수의 평균과 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변수간의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공분산을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분산이나 공분산이 커지면 모양새는 어떻게 변하나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낙도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(remote island)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무엇인가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팽권의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3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분류하기에 가장 좋은 변수는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 y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중에서 무엇인지 결정하라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분류를 결정하는 변수의 어떤 특정 값이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분류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(classification)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하는데 최적인가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1, 2, 3, 4, 5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06810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2</a:t>
            </a:r>
            <a:r>
              <a:rPr lang="ko-KR" altLang="en-US" dirty="0"/>
              <a:t>일 경우 어디에 속하는지 수자로</a:t>
            </a:r>
            <a:r>
              <a:rPr lang="en-US" altLang="ko-KR" dirty="0"/>
              <a:t>, </a:t>
            </a:r>
            <a:r>
              <a:rPr lang="ko-KR" altLang="en-US" dirty="0"/>
              <a:t>확률로 제시할 수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7369919" y="5507325"/>
            <a:ext cx="481890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Kaggle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참고하여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target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성별로 하고 다른 모든 변수를 입력변수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(Input)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하여 상관관계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범주 모두 포함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아래와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같이 구하고 결과를 토론하라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905</TotalTime>
  <Words>1339</Words>
  <Application>Microsoft Office PowerPoint</Application>
  <PresentationFormat>사용자 지정</PresentationFormat>
  <Paragraphs>240</Paragraphs>
  <Slides>47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9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29</cp:revision>
  <dcterms:created xsi:type="dcterms:W3CDTF">2024-06-03T06:10:16Z</dcterms:created>
  <dcterms:modified xsi:type="dcterms:W3CDTF">2026-03-17T20:38:22Z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