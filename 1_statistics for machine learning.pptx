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56" r:id="rId5"/>
    <p:sldId id="304" r:id="rId6"/>
    <p:sldId id="270" r:id="rId7"/>
    <p:sldId id="305" r:id="rId8"/>
    <p:sldId id="311" r:id="rId9"/>
    <p:sldId id="306" r:id="rId10"/>
    <p:sldId id="271" r:id="rId11"/>
    <p:sldId id="282" r:id="rId12"/>
    <p:sldId id="279" r:id="rId13"/>
    <p:sldId id="280" r:id="rId14"/>
    <p:sldId id="281" r:id="rId15"/>
    <p:sldId id="308" r:id="rId16"/>
    <p:sldId id="307" r:id="rId17"/>
    <p:sldId id="272" r:id="rId18"/>
    <p:sldId id="309" r:id="rId19"/>
    <p:sldId id="273" r:id="rId20"/>
    <p:sldId id="274" r:id="rId21"/>
    <p:sldId id="299" r:id="rId22"/>
    <p:sldId id="300" r:id="rId23"/>
    <p:sldId id="301" r:id="rId24"/>
    <p:sldId id="276" r:id="rId25"/>
    <p:sldId id="275" r:id="rId26"/>
    <p:sldId id="277" r:id="rId27"/>
    <p:sldId id="278" r:id="rId28"/>
    <p:sldId id="283" r:id="rId29"/>
    <p:sldId id="284" r:id="rId30"/>
    <p:sldId id="285" r:id="rId31"/>
    <p:sldId id="286" r:id="rId32"/>
    <p:sldId id="302" r:id="rId33"/>
    <p:sldId id="287" r:id="rId34"/>
    <p:sldId id="288" r:id="rId35"/>
    <p:sldId id="289" r:id="rId36"/>
    <p:sldId id="290" r:id="rId37"/>
    <p:sldId id="291" r:id="rId38"/>
    <p:sldId id="292" r:id="rId39"/>
    <p:sldId id="310" r:id="rId40"/>
    <p:sldId id="293" r:id="rId41"/>
    <p:sldId id="294" r:id="rId42"/>
    <p:sldId id="295" r:id="rId43"/>
    <p:sldId id="296" r:id="rId44"/>
    <p:sldId id="297" r:id="rId45"/>
    <p:sldId id="298" r:id="rId46"/>
    <p:sldId id="303" r:id="rId47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110" d="100"/>
          <a:sy n="110" d="100"/>
        </p:scale>
        <p:origin x="996" y="11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2026-03-11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8F37-DCD9-3001-E354-B3A6D1C1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4E07-A396-E1F7-0919-72AF00F1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06E1-13C1-3C32-46CB-92506A49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BFDC5-8668-119F-E940-FF2F60314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57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1CC8-0D2E-8DEC-1D9A-F41A4C3E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F0DB7E-99FB-42D2-1AAD-3B5F0D509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4ADE68-7183-B978-539E-EFA04421F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71883-9269-BE0C-3451-72DCB569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112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6FAF-F5C9-E6E3-DFBE-CAF50E418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F61900-29D4-9358-2581-3584102BB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4D4FEB-BF65-8687-D65F-39EEFC9E8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76CCA-EF32-D18C-500B-FF8E302B9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777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374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406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129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7626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669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8705-3323-DCA1-0DE1-5AD2BD06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3B6D09-2392-C501-F78E-115D46EC8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6F2958-1387-E1C8-A718-1878C5B17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5C12B-A408-3EA1-287B-968825FD9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539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8EB20-F00D-DEA0-4BED-25CB3B72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D47328-A892-BAC3-1A9A-42A914931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9FBE53-6A4F-7626-0C4B-01CCAD3CC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94D185-85B9-85CC-370A-1DDF51499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812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5654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92F7-5E09-EF99-47BD-B6AA75D5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79BCBC-B622-8D81-8E3F-180A1B5A9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C83144-DBA9-E550-3C13-C53BCD25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43121F-45D2-12D3-F7A7-56AE6E48D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6159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011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882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1AD0-4C3D-624F-60D5-D6B10979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E39F4-6A0C-4A9C-8B5C-ABADDEE5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EE43D-9CFD-3468-D78B-FF731CBFE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231CF-5B5C-C65B-77E3-2B290203E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135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DACE-676E-EE7D-4489-0639BF65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970EBA-85AC-C86A-802E-95C40DF11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F62820-CC7D-57C3-8FFF-E03C09D0E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4FAD6A-CE9A-4DC2-EC6C-6C654F6B0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8589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2501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2627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003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608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03264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008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04877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9442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7794-7F4C-FBBC-7428-7C4A7458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A9AF46-C1E7-9C2F-5BD3-50E4E5C76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E690E3-75E4-E1B2-ED5A-033983FA5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442F9-0B07-43B1-2110-481AFC032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4125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481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4078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4226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4866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6491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F7D5-C22A-F6A0-8F4D-A9C42892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EE3B1-1F6C-7141-239F-D92858EEB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AB149-C659-B05E-E59D-CD0CD014A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92CF23-145C-6645-6053-9BE8686C7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3878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49546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5778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233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6431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3591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118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CEC8-47FC-8EA7-A538-153CB379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E14DEB-2EF3-81ED-B6D5-98AC346A2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84B77-79E6-B42A-E6DC-29E695D3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59EEB8-1602-2D8E-C1AB-E9B99027D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041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2026-03-11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2026-03-11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.co.kr/opinion/2019/04/09/2019040811152977932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data/blob/main/customers.csv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auto_examples/preprocessing/plot_all_scaling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.autodesk.com/publications/same-stats-different-graphs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ssmanchance.com/applets/2021/descstats/Dotplot.htm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ossmanchance.com/applets/2021/oneprop/OneProp.htm?candy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3200" b="1" dirty="0"/>
              <a:t>- </a:t>
            </a:r>
            <a:r>
              <a:rPr lang="ko-KR" altLang="en-US" sz="3200" b="1" dirty="0" err="1"/>
              <a:t>머신러닝을</a:t>
            </a:r>
            <a:r>
              <a:rPr lang="ko-KR" altLang="en-US" sz="3200" b="1" dirty="0"/>
              <a:t> 위한 </a:t>
            </a:r>
            <a:r>
              <a:rPr lang="en-US" altLang="ko-KR" sz="32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en-US" altLang="ko-KR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pic>
        <p:nvPicPr>
          <p:cNvPr id="1030" name="Picture 6" descr="밤 시간 동안 등대의 실루엣">
            <a:extLst>
              <a:ext uri="{FF2B5EF4-FFF2-40B4-BE49-F238E27FC236}">
                <a16:creationId xmlns:a16="http://schemas.microsoft.com/office/drawing/2014/main" id="{C722F41E-13EA-25B0-1FE1-218FAAE42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548679"/>
            <a:ext cx="4104456" cy="612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5014292" y="1772816"/>
            <a:ext cx="6840760" cy="313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통계는 항해사에게 </a:t>
            </a:r>
            <a:r>
              <a:rPr lang="ko-KR" altLang="en-US" sz="16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등대</a:t>
            </a: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 같다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국 한 그릇의 맛을 알기 위해 다 마셔볼 필요는 없다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숫자는 </a:t>
            </a:r>
            <a:r>
              <a:rPr lang="ko-KR" altLang="en-US" sz="16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스스로 말하지 않는다</a:t>
            </a:r>
            <a:r>
              <a:rPr lang="en-US" altLang="ko-KR" sz="16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 </a:t>
            </a:r>
            <a:r>
              <a:rPr lang="ko-KR" altLang="en-US" sz="16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우리가 그들에게 </a:t>
            </a: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목소리를 부여하는 것이다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데이터를 충분히 고문한다면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그것은 무엇이든 고백할 것이다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통계학의 기원</a:t>
            </a:r>
            <a:r>
              <a:rPr lang="en-US" altLang="ko-KR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?</a:t>
            </a:r>
            <a:endParaRPr lang="ko-KR" altLang="en-US" sz="16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54AEB-7EBE-A397-BEA5-D61762102166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9DDB-CF71-2269-C86C-A0C6B66D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0F933-025B-964F-DC78-EB0567125B9F}"/>
              </a:ext>
            </a:extLst>
          </p:cNvPr>
          <p:cNvSpPr/>
          <p:nvPr/>
        </p:nvSpPr>
        <p:spPr>
          <a:xfrm>
            <a:off x="549796" y="189005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865C5A-AC22-903F-65DE-B0B66C8E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42AF8-60A9-DCE2-F679-9A9DD6247034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5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B452-05E2-015D-FE61-A162EC61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8AEE9E-09EC-07F3-0702-911E34183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1268760"/>
            <a:ext cx="8890594" cy="4622186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FE11E70-447B-E78B-ACD4-E8BE8092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743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C220-2BC9-E0B4-4F0D-65A82F8E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06C883A-54AF-1C45-4FB5-6B98B3C61DE4}"/>
              </a:ext>
            </a:extLst>
          </p:cNvPr>
          <p:cNvSpPr/>
          <p:nvPr/>
        </p:nvSpPr>
        <p:spPr>
          <a:xfrm>
            <a:off x="592167" y="2511348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65B77EB-579B-8BE0-E878-8DEE5CAE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414E8-8369-1246-31F2-E793ADDB38FB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586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2" y="908720"/>
            <a:ext cx="8556891" cy="5104724"/>
          </a:xfrm>
          <a:prstGeom prst="rect">
            <a:avLst/>
          </a:prstGeom>
        </p:spPr>
      </p:pic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01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1026" name="Picture 2" descr="빅데이터 시대 표본 추출이 필요할까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916832"/>
            <a:ext cx="7304389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3772" y="426325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전수조사</a:t>
            </a:r>
            <a:r>
              <a:rPr lang="en-US" altLang="ko-KR" sz="2000" b="1" dirty="0"/>
              <a:t>(Census)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표본조사</a:t>
            </a:r>
            <a:r>
              <a:rPr lang="en-US" altLang="ko-KR" sz="2000" b="1" dirty="0"/>
              <a:t>(Sampling)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53852" y="4581128"/>
            <a:ext cx="18726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</a:rPr>
              <a:t>모수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(parameter)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모집단 평균</a:t>
            </a:r>
            <a:endParaRPr lang="en-US" altLang="ko-KR" sz="16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모집단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</a:rPr>
              <a:t>분산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982844" y="3284984"/>
            <a:ext cx="18726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</a:rPr>
              <a:t>모수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(parameter)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표본 평균</a:t>
            </a:r>
            <a:endParaRPr lang="en-US" altLang="ko-KR" sz="16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표본 분산 등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77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4" y="476672"/>
            <a:ext cx="9748245" cy="56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692696"/>
            <a:ext cx="9838746" cy="5326966"/>
          </a:xfrm>
          <a:prstGeom prst="rect">
            <a:avLst/>
          </a:prstGeom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EA024606-6906-5C69-50C6-9C14C607C158}"/>
              </a:ext>
            </a:extLst>
          </p:cNvPr>
          <p:cNvSpPr/>
          <p:nvPr/>
        </p:nvSpPr>
        <p:spPr>
          <a:xfrm>
            <a:off x="7894612" y="5505817"/>
            <a:ext cx="1944216" cy="850534"/>
          </a:xfrm>
          <a:prstGeom prst="wedgeEllipseCallout">
            <a:avLst>
              <a:gd name="adj1" fmla="val -67667"/>
              <a:gd name="adj2" fmla="val -694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균등 층화</a:t>
            </a:r>
            <a:r>
              <a:rPr lang="en-US" altLang="ko-KR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</a:p>
          <a:p>
            <a:r>
              <a:rPr lang="ko-KR" altLang="en-US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비례 층화 </a:t>
            </a:r>
          </a:p>
        </p:txBody>
      </p:sp>
    </p:spTree>
    <p:extLst>
      <p:ext uri="{BB962C8B-B14F-4D97-AF65-F5344CB8AC3E}">
        <p14:creationId xmlns:p14="http://schemas.microsoft.com/office/powerpoint/2010/main" val="245566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908720"/>
            <a:ext cx="9046658" cy="365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EF4C-6207-0B57-AF4B-DEDBA471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00C0E0-05B2-9161-BDC4-08FD53A4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04823-3A2F-D01C-298E-969634A7BE94}"/>
              </a:ext>
            </a:extLst>
          </p:cNvPr>
          <p:cNvSpPr txBox="1"/>
          <p:nvPr/>
        </p:nvSpPr>
        <p:spPr>
          <a:xfrm>
            <a:off x="765820" y="1268760"/>
            <a:ext cx="11233248" cy="62459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모집단으로 가정하고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가지 표본추출방법을 파이썬 코드로 제시하라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1198CD-632B-CF6C-9A00-58DFCB1D178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87443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6161-C61F-40FC-86A5-15B880B9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C3D80B8-C2B7-81DA-94E3-BC2843BBA248}"/>
              </a:ext>
            </a:extLst>
          </p:cNvPr>
          <p:cNvSpPr/>
          <p:nvPr/>
        </p:nvSpPr>
        <p:spPr>
          <a:xfrm>
            <a:off x="592167" y="3140968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528D0BF-D0DE-78C0-F571-DD62D657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85C321-1D2A-1D57-122E-196426F18642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755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507050"/>
            <a:ext cx="7667569" cy="60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E65E-5996-67F8-E60B-8066957F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4C4EE04-E9BE-13CF-BF30-41C9137498B0}"/>
              </a:ext>
            </a:extLst>
          </p:cNvPr>
          <p:cNvSpPr/>
          <p:nvPr/>
        </p:nvSpPr>
        <p:spPr>
          <a:xfrm>
            <a:off x="615953" y="378904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AE8EC77-CB5D-C18F-4F58-3C3CA2B2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818E5-EFFB-8367-5DA6-5B9CAEE3A849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83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993" y="330079"/>
            <a:ext cx="8841742" cy="620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3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764704"/>
            <a:ext cx="7920880" cy="547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1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BFDF-043C-D416-8A82-CFA167E4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44CB5B-45F9-105B-6990-2F9C08E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21184-37EF-AC7E-BD87-A4D8546D0FD6}"/>
              </a:ext>
            </a:extLst>
          </p:cNvPr>
          <p:cNvSpPr txBox="1"/>
          <p:nvPr/>
        </p:nvSpPr>
        <p:spPr>
          <a:xfrm>
            <a:off x="765820" y="1196752"/>
            <a:ext cx="11233248" cy="493346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변수의 값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분포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평균과 분산을 설명하라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평균의 함정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(the pitfall of mean)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모집단에서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가지 표본추출방법의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각 표본과 모집단과의 평균과 분산을 비교한 후 어떤 표본추출방법이 가장 적합한지 토론하라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396372-435D-01F1-308C-E5EFFE043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94" y="1919399"/>
            <a:ext cx="8640960" cy="1197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0152FC-1579-E1AE-98F9-EEC881A49A2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95457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1C135-780A-D855-FC3F-601039C3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C395D1-45E4-42FD-D66D-18A4FFB3B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76" y="620688"/>
            <a:ext cx="7956375" cy="530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9F0C6-43A9-D111-BC6D-8E8DCE050C89}"/>
              </a:ext>
            </a:extLst>
          </p:cNvPr>
          <p:cNvSpPr txBox="1"/>
          <p:nvPr/>
        </p:nvSpPr>
        <p:spPr>
          <a:xfrm>
            <a:off x="2762272" y="5987394"/>
            <a:ext cx="6444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https://www.mt.co.kr/opinion/2019/04/09/2019040811152977932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606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D2E6-5BC7-CAB3-2C0E-BC7A94E5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E0B742-A325-A1D7-3871-5E6D2734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ECDB0-CB65-5095-E5F1-4DBAE2D472C4}"/>
              </a:ext>
            </a:extLst>
          </p:cNvPr>
          <p:cNvSpPr txBox="1"/>
          <p:nvPr/>
        </p:nvSpPr>
        <p:spPr>
          <a:xfrm>
            <a:off x="765820" y="1196752"/>
            <a:ext cx="11233248" cy="124014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데이터를 데이터셋으로 읽은 후 컴퓨터가 인식할 수 있도록 모든 데이터를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수치화하여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표현하라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2541C-2872-A95A-EE57-431C02DDCF2D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E2A028-0B51-A118-8E7B-4E624F2A4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8" y="2770753"/>
            <a:ext cx="8064896" cy="3079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C356-F6E6-69F8-92C0-0C77A8297D86}"/>
              </a:ext>
            </a:extLst>
          </p:cNvPr>
          <p:cNvSpPr txBox="1"/>
          <p:nvPr/>
        </p:nvSpPr>
        <p:spPr>
          <a:xfrm rot="591990">
            <a:off x="9669996" y="327099"/>
            <a:ext cx="22746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Data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Representation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170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5" name="AutoShape 4" descr="data:image/png;base64,iVBORw0KGgoAAAANSUhEUgAAAh8AAAGdCAYAAACyzRGfAAAAOXRFWHRTb2Z0d2FyZQBNYXRwbG90bGliIHZlcnNpb24zLjcuMSwgaHR0cHM6Ly9tYXRwbG90bGliLm9yZy/bCgiHAAAACXBIWXMAAA9hAAAPYQGoP6dpAAAjy0lEQVR4nO3df1BVdf7H8dcFBUEBQ0VgBUUzrESyXyxb61oyKDmV6bSlbmk/rAwrsx9GW6bWhGljTjOmO03+aPu1NZtaWpa/0G1FS4tR240RBjIV1DS4igkon+8fjfe7V5Afcu/nci/Px8yZ4Z7z4Xzenz5yz6tzzz3HYYwxAgAAsCTI1wUAAID2hfABAACsInwAAACrCB8AAMAqwgcAALCK8AEAAKwifAAAAKsIHwAAwKoOvi7gXHV1dTp48KAiIiLkcDh8XQ4AAGgGY4yOHz+u+Ph4BQU1fm6jzYWPgwcPKiEhwddlAACAC/DTTz+pV69ejbZpc+EjIiJC0m/FR0ZG+rgaAADQHE6nUwkJCa7jeGPaXPg4+1FLZGQk4QMAAD/TnEsmuOAUAABYRfgAAABWET4AAIBVbe6aDwAA/JUxRqdPn9aZM2d8XYpXdOzYUcHBwa3eD+EDAAAPqKmpUVlZmU6ePOnrUrzG4XCoV69e6tKlS6v2Q/gAAKCV6urqVFJSouDgYMXHxyskJCTgbpRpjNGRI0e0f/9+9e/fv1VnQAgfAAC0Uk1Njerq6pSQkKDw8HBfl+M1PXr0UGlpqWpra1sVPrjgFAAAD2nqtuL+zlNncwL7vxIAAGhzCB8AAMCqFl3zkZubq48//lg//PCDwsLC9Ic//EGvvPKKkpOTXW2GDh2qzZs3u/3egw8+qMWLF3umYgAA/EifZ9ZY66t0zkhrfbVGi858bN68WdnZ2dq2bZvWrVun2tpaZWZmqqqqyq3dpEmTVFZW5lrmzp3r0aIBAID/atGZj7Vr17q9XrZsmWJiYrRz504NGTLEtT48PFyxsbGeqRAAAASUVl3zUVlZKUmKjo52W//uu++qe/fuGjhwoHJychq94Up1dbWcTqfbAgAAvO/IkSOKjY3Vyy+/7Fq3detWhYSEaMOGDV7r94Lv81FXV6epU6fquuuu08CBA13rx40bp969eys+Pl67du3S9OnTVVhYqI8//rjB/eTm5mrWrFkXWkZAau7ng/7y2R4AoG3q0aOHlixZolGjRikzM1PJycm66667NGXKFA0bNsxr/V5w+MjOztaePXv01Vdfua1/4IEHXD+npKQoLi5Ow4YNU3Fxsfr161dvPzk5OZo2bZrrtdPpVEJCwoWWBQAAWuCmm27SpEmTNH78eF199dXq3LmzcnNzvdrnBYWPKVOmaPXq1dqyZYt69erVaNu0tDRJUlFRUYPhIzQ0VKGhoRdSBgAA8IBXX31VAwcO1EcffaSdO3d6/bjcoms+jDGaMmWKVqxYoY0bNyopKanJ3ykoKJAkxcXFXVCBAADAu4qLi3Xw4EHV1dWptLTU6/216MxHdna23nvvPa1atUoREREqLy+XJEVFRSksLEzFxcV67733dNNNN6lbt27atWuXHn/8cQ0ZMkSDBg3yygAAAMCFq6mp0V/+8hfdcccdSk5O1v3336/du3crJibGa322KHwsWrRI0m83EvtfS5cu1cSJExUSEqL169drwYIFqqqqUkJCgsaMGaPnnnvOYwUDAADP+etf/6rKykq9/vrr6tKliz777DPde++9Wr16tdf6bFH4MMY0uj0hIaHe3U0BAGjP2vI3E/Py8rRgwQJt2rRJkZGRkqS///3vSk1N1aJFizR58mSv9HvB33YBAAD+bejQoaqtrXVb16dPH9d9vLyFB8sBAACrCB8AAMAqwgcAALCK8AEAAKwifAAAAKsIHwAAwCrCBwAAsIrwAQAArCJ8AAAAq7jDKQAA3jQzymJf3r0zqadw5gMAAFhF+AAAoJ16++231a1bN1VXV7utHzVqlO666y6v9Uv4AACgnbr99tt15swZffLJJ651hw8f1po1a3Tvvfd6rV/CBwAA7VRYWJjGjRunpUuXuta98847SkxM1NChQ73WL+EDAIB2bNKkSfryyy914MABSdKyZcs0ceJEORwOr/XJt10AAGjHBg8erNTUVL399tvKzMzU999/rzVr1ni1T8IHAADt3P33368FCxbowIEDysjIUEJCglf742MXAADauXHjxmn//v168803vXqh6VmEDwAA2rmoqCiNGTNGXbp00ahRo7zeHx+7AADgTX5y19EDBw5o/PjxCg0N9XpfhA8AANqxX375RXl5ecrLy9Mbb7xhpU/CBwAA7djgwYP1yy+/6JVXXlFycrKVPgkfAAC0Y6Wlpdb75IJTAABgFeEDAABYRfgAAABWET4AAIBVhA8AAGAV4QMAAFhF+AAAAFZxnw8AALwoZXmKtb52T9htra/W4MwHAACwivABAEA7VVpaKofDUW8ZOnSoV/vlYxcAANqphIQElZWVuV6Xl5crIyNDQ4YM8Wq/hA8AANqp4OBgxcbGSpJOnTqlUaNGKT09XTNnzvRqv4QPoK2aGeXFfVd6b9+tYPPCvHP5y4V6gLfce++9On78uNatW6egIO9elUH4AACgnXvppZf0xRdf6Ouvv1ZERITX+yN8AADQjv3zn//U7Nmz9fnnn6tfv35W+iR8AADQTu3Zs0d33323pk+frssvv1zl5eWSpJCQEEVHR3utX75qCwBAO7Vjxw6dPHlSL730kuLi4lzL6NGjvdovZz4AAPCitnwx88SJEzVx4kTr/XLmAwAAWEX4AAAAVhE+AACAVYQPAABgFeEDAABYRfgAAMBDjDG+LsGrPDU+wgcAAK3UsWNHSdLJkyd9XIl31dTUSPrtgXStwX0+AABopeDgYHXt2lWHDx+WJIWHh8vhcPi4Ks+qq6vTkSNHFB4erg4dWhcfCB8AAHjA2UfTnw0ggSgoKEiJiYmtDlaEDwAAPMDhcCguLk4xMTGqra31dTleERISoqCg1l+xQfgAAMCDgoODW31NRKDjglMAAGAV4QMAAFhF+AAAAFYRPgAAgFWEDwAAYBXhAwAAWNWi8JGbm6trrrlGERERiomJ0ahRo1RYWOjW5tSpU8rOzla3bt3UpUsXjRkzRocOHfJo0QAAwH+1KHxs3rxZ2dnZ2rZtm9atW6fa2lplZmaqqqrK1ebxxx/Xp59+qo8++kibN2/WwYMHNXr0aI8XDgAA/FOLbjK2du1at9fLli1TTEyMdu7cqSFDhqiyslJvvfWW3nvvPd14442SpKVLl+rSSy/Vtm3b9Pvf/95zlQMAAL/Uqms+KisrJUnR0dGSpJ07d6q2tlYZGRmuNgMGDFBiYqLy8/Nb0xUAAAgQF3x79bq6Ok2dOlXXXXedBg4cKEkqLy9XSEiIunbt6ta2Z8+eKi8vb3A/1dXVqq6udr12Op0XWhIAAPADFxw+srOztWfPHn311VetKiA3N1ezZs1q1T4AeE7K8hRflwAgwF3Qxy5TpkzR6tWrtWnTJvXq1cu1PjY2VjU1NaqoqHBrf+jQIdejhs+Vk5OjyspK1/LTTz9dSEkAAMBPtCh8GGM0ZcoUrVixQhs3blRSUpLb9quuukodO3bUhg0bXOsKCwu1b98+paenN7jP0NBQRUZGui0AACBwtehjl+zsbL333ntatWqVIiIiXNdxREVFKSwsTFFRUbrvvvs0bdo0RUdHKzIyUo888ojS09P5pgsAAJDUwvCxaNEiSdLQoUPd1i9dulQTJ06UJL322msKCgrSmDFjVF1dreHDh+uNN97wSLEAAMD/tSh8GGOabNOpUyctXLhQCxcuvOCiAABA4OLZLgAAwCrCBwAAsIrwAQAArCJ8AAAAqwgfAADAKsIHAACwivABAACsInwAAACrLviptgAAz/Hl04R3T9jts77RPnHmAwAAWEX4AAAAVhE+AACAVYQPAABgFeEDAABYRfgAAABWET4AAIBVhA8AAGAV4QMAAFhF+AAAAFYRPgAAgFWEDwAAYBXhAwAAWEX4AAAAVhE+AACAVYQPAABgFeEDAABYRfgAAABWET4AAIBVhA8AAGAV4QMAAFhF+AAAAFYRPgAAgFWEDwAAYBXhAwAAWEX4AAAAVhE+AACAVR18XQAuXJ9n1jSrXemckV6upI2bGeXFfVd6b98AEKA48wEAAKwifAAAAKsIHwAAwCrCBwAAsIrwAQAArCJ8AAAAqwgfAADAKsIHAACwivABAACsInwAAACrCB8AAMAqwgcAALCK8AEAAKwifAAAAKsIHwAAwCrCBwAAsIrwAQAArCJ8AAAAqwgfAADAKsIHAACwivABAACsInwAAACrCB8AAMCqFoePLVu26Oabb1Z8fLwcDodWrlzptn3ixIlyOBxuy4gRIzxVLwAA8HMtDh9VVVVKTU3VwoULz9tmxIgRKisrcy3vv/9+q4oEAACBo0NLfyErK0tZWVmNtgkNDVVsbOwFFwUAAAKXV675yMvLU0xMjJKTkzV58mQdPXr0vG2rq6vldDrdFgAAELhafOajKSNGjNDo0aOVlJSk4uJiPfvss8rKylJ+fr6Cg4Prtc/NzdWsWbM8XQYAtEjK8hRflwC0Gx4PH3feeafr55SUFA0aNEj9+vVTXl6ehg0bVq99Tk6Opk2b5nrtdDqVkJDg6bIAAEAb4fWv2vbt21fdu3dXUVFRg9tDQ0MVGRnptgAAgMDl9fCxf/9+HT16VHFxcd7uCgAA+IEWf+xy4sQJt7MYJSUlKigoUHR0tKKjozVr1iyNGTNGsbGxKi4u1tNPP62LL75Yw4cP92jhAADAP7U4fOzYsUM33HCD6/XZ6zUmTJigRYsWadeuXVq+fLkqKioUHx+vzMxMvfjiiwoNDfVc1QAAwG+1OHwMHTpUxpjzbv/iiy9aVRAAAAhsPNsFAABYRfgAAABWET4AAIBVhA8AAGAV4QMAAFhF+AAAAFYRPgAAgFUef7Ac0K7MjPJ1BQDgdzjzAQAArCJ8AAAAqwgfAADAKsIHAACwivABAACsInwAAACrCB8AAMAqwgcAALCK8AEAAKwifAAAAKsIHwAAwCrCBwAAsIrwAQAArOKpthb1eWaNr0sAAMDnOPMBAACsInwAAACrCB8AAMAqwgcAALCK8AEAAKwifAAAAKsIHwAAwCrCBwAAsIrwAQAArCJ8AAAAqwgfAADAKsIHAACwivABAACsInwAAACrCB8AAMAqwgcAALCK8AEAAKwifAAAAKsIHwAAwCrCBwAAsIrwAQAArCJ8AAAAqwgfAADAKsIHAACwivABAACsInwAAACrCB8AAMCqDr4uAN7X55k1zW5bOmekFytpxMwo3/TbXjX23zsp0V4dANolznwAAACrCB8AAMAqwgcAALCK8AEAAKwifAAAAKsIHwAAwCrCBwAAsIrwAQAArCJ8AAAAq1ocPrZs2aKbb75Z8fHxcjgcWrlypdt2Y4xmzJihuLg4hYWFKSMjQ3v37vVUvQAAwM+1OHxUVVUpNTVVCxcubHD73Llz9frrr2vx4sXavn27OnfurOHDh+vUqVOtLhYAAPi/Fj/bJSsrS1lZWQ1uM8ZowYIFeu6553TrrbdKkt5++2317NlTK1eu1J133tm6agEAgN/z6DUfJSUlKi8vV0ZGhmtdVFSU0tLSlJ+f3+DvVFdXy+l0ui0AACBweTR8lJeXS5J69uzptr5nz56ubefKzc1VVFSUa0lISPBkSQAAoI3x+bddcnJyVFlZ6Vp++uknX5cEAAC8yKPhIzY2VpJ06NAht/WHDh1ybTtXaGioIiMj3RYAABC4PBo+kpKSFBsbqw0bNrjWOZ1Obd++Xenp6Z7sCgAA+KkWf9vlxIkTKioqcr0uKSlRQUGBoqOjlZiYqKlTp+qll15S//79lZSUpOeff17x8fEaNWqUJ+sGAAB+qsXhY8eOHbrhhhtcr6dNmyZJmjBhgpYtW6ann35aVVVVeuCBB1RRUaHrr79ea9euVadOnTxXNQAA8FstDh9Dhw6VMea82x0Oh2bPnq3Zs2e3qjAAABCYfP5tFwAA0L4QPgAAgFWEDwAAYBXhAwAAWEX4AAAAVhE+AACAVYQPAABgFeEDAABY1eKbjCGw9XlmzXm3lXYaZ7ESAECg4swHAACwivABAACsInwAAACrCB8AAMAqwgcAALCK8AEAAKwifAAAAKsIHwAAwCrCBwAAsIrwAQAArCJ8AAAAqwgfAADAKsIHAACwiqfankdjT3cFAHhGyvIUn/W9e8Jun/Xd3nHmAwAAWEX4AAAAVhE+AACAVYQPAABgFeEDAABYRfgAAABWET4AAIBVhA8AAGAV4QMAAFhF+AAAAFYRPgAAgFWEDwAAYBXhAwAAWEX4AAAAVhE+AACAVYQPAABgFeEDAABYRfgAAABWET4AAIBVhA8AAGAV4QMAAFhF+AAAAFYRPgAAgFWEDwAAYBXhAwAAWEX4AAAAVhE+AACAVR18XQCA+lKSEn1dAgB4DWc+AACAVYQPAABgFeEDAABYRfgAAABWET4AAIBVhA8AAGAV4QMAAFhF+AAAAFYRPgAAgFUeDx8zZ86Uw+FwWwYMGODpbgAAgJ/yyu3VL7/8cq1fv/7/O+nAXdwBAMBvvJIKOnTooNjYWG/sGgAA+DmvXPOxd+9excfHq2/fvho/frz27dt33rbV1dVyOp1uCwAACFweP/ORlpamZcuWKTk5WWVlZZo1a5b++Mc/as+ePYqIiKjXPjc3V7NmzfJ0GQCAZkpZnuLrEtDOOIwxxpsdVFRUqHfv3po/f77uu+++eturq6tVXV3teu10OpWQkKDKykpFRkZ6s7RG9Xlmjc/6bqtKO43zdQntRkpSoq9LAALe7gm7fV1CQHE6nYqKimrW8dvrV4J27dpVl1xyiYqKihrcHhoaqtDQUG+XAQAA2giv3+fjxIkTKi4uVlxcnLe7AgAAfsDj4ePJJ5/U5s2bVVpaqq1bt+q2225TcHCwxo4d6+muAACAH/L4xy779+/X2LFjdfToUfXo0UPXX3+9tm3bph49eni6KwAA4Ic8Hj4++OADT+8SAAAEEJ7tAgAArCJ8AAAAqwgfAADAKsIHAACwivABAACsInwAAACrCB8AAMAqrz/bBXbx8DcAQFvHmQ8AAGAV4QMAAFhF+AAAAFYRPgAAgFWEDwAAYBXhAwAAWEX4AAAAVhE+AACAVYQPAABgFeEDAABYRfgAAABWET4AAIBVhA8AAGBVu3uqbZ9n1vi6BPiBlKREX5cAAAGLMx8AAMAqwgcAALCK8AEAAKwifAAAAKsIHwAAwCrCBwAAsIrwAQAArCJ8AAAAqwgfAADAKsIHAACwivABAACsInwAAACrCB8AAMCqdvdUWwAA2oKU5Sk+63v3hN0+61vizAcAALCM8AEAAKwifAAAAKsIHwAAwCrCBwAAsIrwAQAArCJ8AAAAqwgfAADAKsIHAACwivABAACsInwAAACrCB8AAMAqwgcAALCKp9r6QGmncb4uAQAAn+HMBwAAsIrwAQAArCJ8AAAAqwgfAADAKsIHAACwivABAACsInwAAACrCB8AAMAqwgcAALDKa+Fj4cKF6tOnjzp16qS0tDR9/fXX3uoKAAD4Ea+Ej3/84x+aNm2aXnjhBX377bdKTU3V8OHDdfjwYW90BwAA/IhXwsf8+fM1adIk3XPPPbrsssu0ePFihYeHa8mSJd7oDgAA+BGPP1iupqZGO3fuVE5OjmtdUFCQMjIylJ+fX699dXW1qqurXa8rKyslSU6n09OlSZLqqk96Zb8t4XQYX5eAJpz59YyvSwDgZd46zjSXL99nvDH2s/s0puljnMfDx88//6wzZ86oZ8+ebut79uypH374oV773NxczZo1q976hIQET5fWZkT5ugA0w399XQAAL4ua3H7fjb059uPHjysqqvH9ezx8tFROTo6mTZvmel1XV6djx46pW7ducjgcTf6+0+lUQkKCfvrpJ0VGRnqzVJ8I9PFJgT/GQB+fFPhjDPTxSYwxEPh6fMYYHT9+XPHx8U229Xj46N69u4KDg3Xo0CG39YcOHVJsbGy99qGhoQoNDXVb17Vr1xb3GxkZGZD/mM4K9PFJgT/GQB+fFPhjDPTxSYwxEPhyfE2d8TjL4xechoSE6KqrrtKGDRtc6+rq6rRhwwalp6d7ujsAAOBnvPKxy7Rp0zRhwgRdffXVuvbaa7VgwQJVVVXpnnvu8UZ3AADAj3glfNxxxx06cuSIZsyYofLycl1xxRVau3ZtvYtQPSE0NFQvvPBCvY9uAkWgj08K/DEG+vikwB9joI9PYoyBwJ/G5zDN+U4MAACAh/BsFwAAYBXhAwAAWEX4AAAAVhE+AACAVX4RPnJzc3XNNdcoIiJCMTExGjVqlAoLC93aDB06VA6Hw2156KGHfFRxy8ycObNe7QMGDHBtP3XqlLKzs9WtWzd16dJFY8aMqXcTt7auT58+9cbocDiUnZ0tyT/nb8uWLbr55psVHx8vh8OhlStXum03xmjGjBmKi4tTWFiYMjIytHfvXrc2x44d0/jx4xUZGamuXbvqvvvu04kTJyyO4vwaG19tba2mT5+ulJQUde7cWfHx8br77rt18OBBt300NO9z5syxPJLza2oOJ06cWK/+ESNGuLXx1zmU1ODfpMPh0Lx581xt2vIcNufY0Jz3z3379mnkyJEKDw9XTEyMnnrqKZ0+fdrmUM6rqTEeO3ZMjzzyiJKTkxUWFqbExEQ9+uijruekndXQPH/wwQe2h+PiF+Fj8+bNys7O1rZt27Ru3TrV1tYqMzNTVVVVbu0mTZqksrIy1zJ37lwfVdxyl19+uVvtX331lWvb448/rk8//VQfffSRNm/erIMHD2r06NE+rLblvvnmG7fxrVu3TpJ0++23u9r42/xVVVUpNTVVCxcubHD73Llz9frrr2vx4sXavn27OnfurOHDh+vUqVOuNuPHj9f333+vdevWafXq1dqyZYseeOABW0NoVGPjO3nypL799ls9//zz+vbbb/Xxxx+rsLBQt9xyS722s2fPdpvXRx55xEb5zdLUHErSiBEj3Op///333bb76xxKchtXWVmZlixZIofDoTFjxri1a6tz2JxjQ1Pvn2fOnNHIkSNVU1OjrVu3avny5Vq2bJlmzJjhiyHV09QYDx48qIMHD+rVV1/Vnj17tGzZMq1du1b33XdfvX0tXbrUbR5HjRpleTT/w/ihw4cPG0lm8+bNrnV/+tOfzGOPPea7olrhhRdeMKmpqQ1uq6ioMB07djQfffSRa91///tfI8nk5+dbqtDzHnvsMdOvXz9TV1dnjPHv+TPGGElmxYoVrtd1dXUmNjbWzJs3z7WuoqLChIaGmvfff98YY8x//vMfI8l88803rjaff/65cTgc5sCBA9Zqb45zx9eQr7/+2kgyP/74o2td7969zWuvvebd4jykoTFOmDDB3Hrrref9nUCbw1tvvdXceOONbuv8aQ7PPTY05/3zs88+M0FBQaa8vNzVZtGiRSYyMtJUV1fbHUAzNHT8O9eHH35oQkJCTG1trWtdc+bfJr8483Gus6eToqOj3da/++676t69uwYOHKicnBydPHnSF+VdkL179yo+Pl59+/bV+PHjtW/fPknSzp07VVtbq4yMDFfbAQMGKDExUfn5+b4qt1Vqamr0zjvv6N5773V7eKA/z9+5SkpKVF5e7jZvUVFRSktLc81bfn6+unbtqquvvtrVJiMjQ0FBQdq+fbv1mlursrJSDoej3rOZ5syZo27dumnw4MGaN29emzmd3Vx5eXmKiYlRcnKyJk+erKNHj7q2BdIcHjp0SGvWrGnw/5j9ZQ7PPTY05/0zPz9fKSkpbjfBHD58uJxOp77//nuL1TfP+Y5/57aJjIxUhw7u9xHNzs5W9+7dde2112rJkiUyPrzNl8+fattSdXV1mjp1qq677joNHDjQtX7cuHHq3bu34uPjtWvXLk2fPl2FhYX6+OOPfVht86SlpWnZsmVKTk5WWVmZZs2apT/+8Y/as2ePysvLFRISUu8NvWfPniovL/dNwa20cuVKVVRUaOLEia51/jx/DTk7N+fe1fd/5628vFwxMTFu2zt06KDo6Gi/m9tTp05p+vTpGjt2rNsDrR599FFdeeWVio6O1tatW5WTk6OysjLNnz/fh9U234gRIzR69GglJSWpuLhYzz77rLKyspSfn6/g4OCAmsPly5crIiKi3ke6/jKHDR0bmvP+WV5e3uDf6dltbcn5jn//6+eff9aLL75Y76O/2bNn68Ybb1R4eLi+/PJLPfzwwzpx4oQeffRRG6XX43fhIzs7W3v27HG7JkKS23/olJQUxcXFadiwYSouLla/fv1sl9kiWVlZrp8HDRqktLQ09e7dWx9++KHCwsJ8WJl3vPXWW8rKynJ77LI/z197V1tbqz//+c8yxmjRokVu26ZNm+b6edCgQQoJCdGDDz6o3Nxcv7gF9J133un6OSUlRYMGDVK/fv2Ul5enYcOG+bAyz1uyZInGjx+vTp06ua33lzk837EhkDQ1RqfTqZEjR+qyyy7TzJkz3bY9//zzrp8HDx6sqqoqzZs3z2fhw68+dpkyZYpWr16tTZs2qVevXo22TUtLkyQVFRXZKM2junbtqksuuURFRUWKjY1VTU2NKioq3NocOnRIsbGxvimwFX788UetX79e999/f6Pt/Hn+JLnm5tyr6v933mJjY3X48GG37adPn9axY8f8Zm7PBo8ff/xR69ata/Ix3mlpaTp9+rRKS0vtFOhhffv2Vffu3V3/LgNhDiXpX//6lwoLC5v8u5Ta5hye79jQnPfP2NjYBv9Oz25rK5o6/h0/flwjRoxQRESEVqxYoY4dOza6v7S0NO3fv1/V1dXeKrlRfhE+jDGaMmWKVqxYoY0bNyopKanJ3ykoKJAkxcXFebk6zztx4oSKi4sVFxenq666Sh07dtSGDRtc2wsLC7Vv3z6lp6f7sMoLs3TpUsXExGjkyJGNtvPn+ZOkpKQkxcbGus2b0+nU9u3bXfOWnp6uiooK7dy509Vm48aNqqurc4Wvtuxs8Ni7d6/Wr1+vbt26Nfk7BQUFCgoKqvdRhb/Yv3+/jh496vp36e9zeNZbb72lq666SqmpqU22bUtz2NSxoTnvn+np6dq9e7dbiDwbpC+77DI7A2lEc45/TqdTmZmZCgkJ0SeffFLv7FVDCgoKdNFFF/nu7JVPL3dtpsmTJ5uoqCiTl5dnysrKXMvJkyeNMcYUFRWZ2bNnmx07dpiSkhKzatUq07dvXzNkyBAfV948TzzxhMnLyzMlJSXm3//+t8nIyDDdu3c3hw8fNsYY89BDD5nExESzceNGs2PHDpOenm7S09N9XHXLnTlzxiQmJprp06e7rffX+Tt+/Lj57rvvzHfffWckmfnz55vvvvvO9W2POXPmmK5du5pVq1aZXbt2mVtvvdUkJSWZX3/91bWPESNGmMGDB5vt27ebr776yvTv39+MHTvWV0Ny09j4ampqzC233GJ69eplCgoK3P4uz35DYOvWrea1114zBQUFpri42LzzzjumR48e5u677/bxyP5fY2M8fvy4efLJJ01+fr4pKSkx69evN1deeaXp37+/OXXqlGsf/jqHZ1VWVprw8HCzaNGier/f1uewqWODMU2/f54+fdoMHDjQZGZmmoKCArN27VrTo0cPk5OT44sh1dPUGCsrK01aWppJSUkxRUVFbm1Onz5tjDHmk08+MW+++abZvXu32bt3r3njjTdMeHi4mTFjhs/G5RfhQ1KDy9KlS40xxuzbt88MGTLEREdHm9DQUHPxxRebp556ylRWVvq28Ga64447TFxcnAkJCTG/+93vzB133GGKiopc23/99Vfz8MMPm4suusiEh4eb2267zZSVlfmw4gvzxRdfGEmmsLDQbb2/zt+mTZsa/Hc5YcIEY8xvX7d9/vnnTc+ePU1oaKgZNmxYvbEfPXrUjB071nTp0sVERkaae+65xxw/ftwHo6mvsfGVlJSc9+9y06ZNxhhjdu7cadLS0kxUVJTp1KmTufTSS83LL7/sduD2tcbGePLkSZOZmWl69OhhOnbsaHr37m0mTZrk9pVMY/x3Ds/629/+ZsLCwkxFRUW932/rc9jUscGY5r1/lpaWmqysLBMWFma6d+9unnjiCbevqfpSU2M83xxLMiUlJcaY377+fcUVV5guXbqYzp07m9TUVLN48WJz5swZn43LYYwPv2sDAADaHb+45gMAAAQOwgcAALCK8AEAAKwifAAAAKsIHwAAwCrCBwAAsIrwAQAArCJ8AAAAqwgfAADAKsIHAACwivABAACsInwAAACr/g845e00T7s4m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052736"/>
            <a:ext cx="2484460" cy="433709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364" y="1052736"/>
            <a:ext cx="6264696" cy="4765453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4006180" y="2996952"/>
            <a:ext cx="9361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30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96" y="691942"/>
            <a:ext cx="7993330" cy="5664409"/>
          </a:xfrm>
          <a:prstGeom prst="rect">
            <a:avLst/>
          </a:prstGeom>
        </p:spPr>
      </p:pic>
      <p:pic>
        <p:nvPicPr>
          <p:cNvPr id="2050" name="Picture 2" descr="통계 상식] 상자 그림 (Box Plot) : 네이버 블로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313" y="4052095"/>
            <a:ext cx="4608512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38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171" y="692696"/>
            <a:ext cx="8285378" cy="557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4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764704"/>
            <a:ext cx="9325163" cy="51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8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32656"/>
            <a:ext cx="9009202" cy="62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1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01296"/>
            <a:ext cx="9241668" cy="60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3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641" y="476672"/>
            <a:ext cx="8950072" cy="606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2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692696"/>
            <a:ext cx="8363603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A93F-9320-AA29-DD22-5787CD1A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38F9A0-959B-A2DA-6277-877D961F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EF4CE-9940-CC09-51C5-2EBE0F113CBC}"/>
              </a:ext>
            </a:extLst>
          </p:cNvPr>
          <p:cNvSpPr txBox="1"/>
          <p:nvPr/>
        </p:nvSpPr>
        <p:spPr>
          <a:xfrm>
            <a:off x="765820" y="1196752"/>
            <a:ext cx="11233248" cy="169277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수치형 변수 값의 서로 크기가 다른 경우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scaling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하는 방법과 그 이유를 토론하라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 scaling)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from </a:t>
            </a:r>
            <a:r>
              <a:rPr lang="en-US" altLang="ko-KR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sklearn.datasets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import </a:t>
            </a:r>
            <a:r>
              <a:rPr lang="en-US" altLang="ko-KR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fetch_california_housing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ko-KR" altLang="en-US" sz="16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의 데이터의 변수 중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"</a:t>
            </a:r>
            <a:r>
              <a:rPr lang="en-US" altLang="ko-KR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MedInc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", "</a:t>
            </a:r>
            <a:r>
              <a:rPr lang="en-US" altLang="ko-KR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AveOccup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“ </a:t>
            </a:r>
            <a:r>
              <a:rPr lang="ko-KR" altLang="en-US" sz="16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에 대한 </a:t>
            </a:r>
            <a:r>
              <a:rPr lang="en-US" altLang="ko-KR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joinplot</a:t>
            </a:r>
            <a:r>
              <a:rPr lang="ko-KR" altLang="en-US" sz="16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을 </a:t>
            </a:r>
            <a:r>
              <a:rPr lang="ko-KR" altLang="en-US" sz="1600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시각화하라</a:t>
            </a:r>
            <a:endParaRPr lang="en-US" altLang="ko-KR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3"/>
              </a:rPr>
              <a:t>https://scikit-learn.org/stable/auto_examples/preprocessing/plot_all_scaling.html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ko-KR" altLang="en-US" sz="1600" dirty="0">
                <a:latin typeface="Microsoft Sans Serif" panose="020B0604020202020204" pitchFamily="34" charset="0"/>
                <a:ea typeface="휴먼모음T" panose="02030504000101010101" pitchFamily="18" charset="-127"/>
                <a:cs typeface="Microsoft Sans Serif" panose="020B0604020202020204" pitchFamily="34" charset="0"/>
              </a:rPr>
              <a:t>자료원을 이해하고 평균과 분산이 각각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0</a:t>
            </a:r>
            <a:r>
              <a:rPr lang="ko-KR" altLang="en-US" sz="1600" dirty="0">
                <a:latin typeface="Microsoft Sans Serif" panose="020B0604020202020204" pitchFamily="34" charset="0"/>
                <a:ea typeface="휴먼모음T" panose="02030504000101010101" pitchFamily="18" charset="-127"/>
                <a:cs typeface="Microsoft Sans Serif" panose="020B0604020202020204" pitchFamily="34" charset="0"/>
              </a:rPr>
              <a:t>과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</a:t>
            </a:r>
            <a:r>
              <a:rPr lang="ko-KR" altLang="en-US" sz="1600" dirty="0">
                <a:latin typeface="Microsoft Sans Serif" panose="020B0604020202020204" pitchFamily="34" charset="0"/>
                <a:ea typeface="휴먼모음T" panose="02030504000101010101" pitchFamily="18" charset="-127"/>
                <a:cs typeface="Microsoft Sans Serif" panose="020B0604020202020204" pitchFamily="34" charset="0"/>
              </a:rPr>
              <a:t>인 형태로 표준화한 후 시각화 코드를 만들어라</a:t>
            </a:r>
            <a:endParaRPr lang="en-US" altLang="ko-KR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71B73-BC5B-2117-7605-77E384E9D1A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4FD0F-761F-BA66-F243-41B3BE7940EE}"/>
              </a:ext>
            </a:extLst>
          </p:cNvPr>
          <p:cNvSpPr txBox="1"/>
          <p:nvPr/>
        </p:nvSpPr>
        <p:spPr>
          <a:xfrm rot="591990">
            <a:off x="9669996" y="327099"/>
            <a:ext cx="22746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Data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Representation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ko-KR" altLang="en-US" sz="2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821FDE-1A23-9E3C-69A7-B9779CAFA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191" y="3123294"/>
            <a:ext cx="7338745" cy="322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C234EE9-715B-F469-E101-412D387BA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09" y="3135035"/>
            <a:ext cx="3240360" cy="331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15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404664"/>
            <a:ext cx="8656065" cy="602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78808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기술 통계분석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(Descriptive Statistics </a:t>
            </a:r>
            <a:r>
              <a:rPr lang="en-US" altLang="ko-KR" sz="2800" b="1" dirty="0" err="1">
                <a:solidFill>
                  <a:srgbClr val="313131"/>
                </a:solidFill>
                <a:latin typeface="PT Sans"/>
              </a:rPr>
              <a:t>Analyssis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053852" y="1988840"/>
            <a:ext cx="109452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040C28"/>
                </a:solidFill>
                <a:latin typeface="Apple SD Gothic Neo"/>
              </a:rPr>
              <a:t>모집단으로부터 수집된 데이터를 잘 요약하여 모집단에 대하여 유용한 정보를 생산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한다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기술통계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분석에서는 데이터를 그래프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, 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표 또는 </a:t>
            </a: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대표값을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나타내는 숫자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(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통계량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)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로 요약한다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우리는 실생활에서 많은 </a:t>
            </a: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기술통계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분석 자료를 접할 수 있다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9229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32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548680"/>
            <a:ext cx="8628091" cy="59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5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33</a:t>
            </a:fld>
            <a:endParaRPr lang="en-US" altLang="ko-KR" noProof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620688"/>
            <a:ext cx="8719541" cy="602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2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34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969" y="486232"/>
            <a:ext cx="8387629" cy="58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8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35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252" y="1732891"/>
            <a:ext cx="7323814" cy="1915163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465388" y="3861048"/>
          <a:ext cx="8691966" cy="194421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356911">
                  <a:extLst>
                    <a:ext uri="{9D8B030D-6E8A-4147-A177-3AD203B41FA5}">
                      <a16:colId xmlns:a16="http://schemas.microsoft.com/office/drawing/2014/main" val="1244400802"/>
                    </a:ext>
                  </a:extLst>
                </a:gridCol>
                <a:gridCol w="3856484">
                  <a:extLst>
                    <a:ext uri="{9D8B030D-6E8A-4147-A177-3AD203B41FA5}">
                      <a16:colId xmlns:a16="http://schemas.microsoft.com/office/drawing/2014/main" val="1653387009"/>
                    </a:ext>
                  </a:extLst>
                </a:gridCol>
                <a:gridCol w="3478571">
                  <a:extLst>
                    <a:ext uri="{9D8B030D-6E8A-4147-A177-3AD203B41FA5}">
                      <a16:colId xmlns:a16="http://schemas.microsoft.com/office/drawing/2014/main" val="1356363407"/>
                    </a:ext>
                  </a:extLst>
                </a:gridCol>
              </a:tblGrid>
              <a:tr h="388843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막대그래프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히스토그램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82737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데이터 유형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범주적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종교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직업 등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</a:rPr>
                        <a:t>연속적 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</a:rPr>
                        <a:t>몸무게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</a:rPr>
                        <a:t>성적 등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0" marR="0" marT="18544" marB="18544" anchor="b"/>
                </a:tc>
                <a:extLst>
                  <a:ext uri="{0D108BD9-81ED-4DB2-BD59-A6C34878D82A}">
                    <a16:rowId xmlns:a16="http://schemas.microsoft.com/office/drawing/2014/main" val="3062187749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막대 순서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임의적으로 변경 가능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변경 불가능</a:t>
                      </a:r>
                    </a:p>
                  </a:txBody>
                  <a:tcPr marL="27816" marR="27816" marT="18544" marB="18544" anchor="b"/>
                </a:tc>
                <a:extLst>
                  <a:ext uri="{0D108BD9-81ED-4DB2-BD59-A6C34878D82A}">
                    <a16:rowId xmlns:a16="http://schemas.microsoft.com/office/drawing/2014/main" val="298485708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</a:rPr>
                        <a:t>막대 간격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일정한 간격 유지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간격 없이 표현</a:t>
                      </a:r>
                    </a:p>
                  </a:txBody>
                  <a:tcPr marL="27816" marR="27816" marT="18544" marB="18544" anchor="b"/>
                </a:tc>
                <a:extLst>
                  <a:ext uri="{0D108BD9-81ED-4DB2-BD59-A6C34878D82A}">
                    <a16:rowId xmlns:a16="http://schemas.microsoft.com/office/drawing/2014/main" val="1216552190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</a:rPr>
                        <a:t>용도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범주의 비교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순위 표시 등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</a:rPr>
                        <a:t>데이터 분포 표현</a:t>
                      </a:r>
                    </a:p>
                  </a:txBody>
                  <a:tcPr marL="0" marR="0" marT="18544" marB="18544" anchor="b"/>
                </a:tc>
                <a:extLst>
                  <a:ext uri="{0D108BD9-81ED-4DB2-BD59-A6C34878D82A}">
                    <a16:rowId xmlns:a16="http://schemas.microsoft.com/office/drawing/2014/main" val="39854538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5780" y="561597"/>
            <a:ext cx="4293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막대그래프 </a:t>
            </a:r>
            <a:r>
              <a:rPr lang="en-US" altLang="ko-KR" sz="2800" b="1" dirty="0"/>
              <a:t>vs. </a:t>
            </a:r>
            <a:r>
              <a:rPr lang="ko-KR" altLang="en-US" sz="2800" b="1" dirty="0"/>
              <a:t>히스토그램</a:t>
            </a:r>
          </a:p>
        </p:txBody>
      </p:sp>
    </p:spTree>
    <p:extLst>
      <p:ext uri="{BB962C8B-B14F-4D97-AF65-F5344CB8AC3E}">
        <p14:creationId xmlns:p14="http://schemas.microsoft.com/office/powerpoint/2010/main" val="415975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CD51-7641-A748-59B0-FDCEA347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BD8AB82-2AB4-E3DD-1586-62415920E394}"/>
              </a:ext>
            </a:extLst>
          </p:cNvPr>
          <p:cNvSpPr/>
          <p:nvPr/>
        </p:nvSpPr>
        <p:spPr>
          <a:xfrm>
            <a:off x="615953" y="436510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695BA4-6421-8E49-259E-66413459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36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1FEC46-249B-7E9C-0EA5-C603DBF9E2F8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(Statistics)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모집단과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표본조사 방법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데이터의 종류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(Data type)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통계량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(Statistic)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다변량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(Multivariate Analysis)</a:t>
            </a: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755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37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1052736"/>
            <a:ext cx="7484337" cy="189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38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76672"/>
            <a:ext cx="8932152" cy="57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2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39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620688"/>
            <a:ext cx="8992459" cy="568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3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40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371014"/>
            <a:ext cx="8751898" cy="600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41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293380"/>
            <a:ext cx="8737599" cy="60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8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42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95" y="2276872"/>
            <a:ext cx="9305875" cy="351100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6947" y="764704"/>
            <a:ext cx="108855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FF0000"/>
                </a:solidFill>
                <a:hlinkClick r:id="rId4"/>
              </a:rPr>
              <a:t>autodesk</a:t>
            </a:r>
            <a:endParaRPr lang="en-US" altLang="ko-KR" sz="2400" dirty="0">
              <a:solidFill>
                <a:srgbClr val="FF0000"/>
              </a:solidFill>
            </a:endParaRPr>
          </a:p>
          <a:p>
            <a:r>
              <a:rPr lang="en-US" altLang="ko-KR" dirty="0"/>
              <a:t>- </a:t>
            </a:r>
            <a:r>
              <a:rPr lang="ko-KR" altLang="en-US" dirty="0">
                <a:hlinkClick r:id="rId4"/>
              </a:rPr>
              <a:t>https://www.research.autodesk.com/publications/same-stats-different-graphs/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6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8AE1-D552-2271-232D-C7A0D3AC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7C4C1A8-1722-BD6D-43C7-7A00C8EE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43</a:t>
            </a:fld>
            <a:endParaRPr lang="en-US" altLang="ko-KR" noProof="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EE12EB-4DDE-4514-53C5-CEE36B1DD16C}"/>
              </a:ext>
            </a:extLst>
          </p:cNvPr>
          <p:cNvSpPr/>
          <p:nvPr/>
        </p:nvSpPr>
        <p:spPr>
          <a:xfrm>
            <a:off x="666947" y="764704"/>
            <a:ext cx="10885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/>
              <a:t>Appendix 1 : </a:t>
            </a:r>
            <a:r>
              <a:rPr lang="ko-KR" altLang="en-US" sz="2400" b="1" dirty="0"/>
              <a:t>통계 연습 사이트</a:t>
            </a:r>
            <a:endParaRPr lang="ko-KR" alt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72A94-E180-607D-3CC1-237FA2501F6A}"/>
              </a:ext>
            </a:extLst>
          </p:cNvPr>
          <p:cNvSpPr txBox="1"/>
          <p:nvPr/>
        </p:nvSpPr>
        <p:spPr>
          <a:xfrm>
            <a:off x="981844" y="1700808"/>
            <a:ext cx="885698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Descriptive Statistics</a:t>
            </a:r>
            <a:endParaRPr lang="en-US" altLang="ko-KR" sz="2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Central Limits </a:t>
            </a:r>
            <a:r>
              <a:rPr lang="en-US" altLang="ko-KR" sz="20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Theorm</a:t>
            </a:r>
            <a:endParaRPr lang="ko-KR" altLang="en-US" sz="2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794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purl.org/dc/terms/"/>
    <ds:schemaRef ds:uri="http://schemas.microsoft.com/office/2006/metadata/properties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371</TotalTime>
  <Words>620</Words>
  <Application>Microsoft Office PowerPoint</Application>
  <PresentationFormat>사용자 지정</PresentationFormat>
  <Paragraphs>181</Paragraphs>
  <Slides>43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3" baseType="lpstr">
      <vt:lpstr>Apple SD Gothic Neo</vt:lpstr>
      <vt:lpstr>맑은 고딕</vt:lpstr>
      <vt:lpstr>한컴 말랑말랑 Bold</vt:lpstr>
      <vt:lpstr>휴먼모음T</vt:lpstr>
      <vt:lpstr>Arial</vt:lpstr>
      <vt:lpstr>Corbel</vt:lpstr>
      <vt:lpstr>Microsoft Sans Serif</vt:lpstr>
      <vt:lpstr>PT Sans</vt:lpstr>
      <vt:lpstr>Wingdings</vt:lpstr>
      <vt:lpstr>마케팅 16x9</vt:lpstr>
      <vt:lpstr>통계학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조상구</cp:lastModifiedBy>
  <cp:revision>16</cp:revision>
  <dcterms:created xsi:type="dcterms:W3CDTF">2024-06-03T06:10:16Z</dcterms:created>
  <dcterms:modified xsi:type="dcterms:W3CDTF">2026-03-11T07:33:55Z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