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31"/>
  </p:notesMasterIdLst>
  <p:sldIdLst>
    <p:sldId id="256" r:id="rId2"/>
    <p:sldId id="357" r:id="rId3"/>
    <p:sldId id="377" r:id="rId4"/>
    <p:sldId id="378" r:id="rId5"/>
    <p:sldId id="379" r:id="rId6"/>
    <p:sldId id="369" r:id="rId7"/>
    <p:sldId id="370" r:id="rId8"/>
    <p:sldId id="371" r:id="rId9"/>
    <p:sldId id="372" r:id="rId10"/>
    <p:sldId id="373" r:id="rId11"/>
    <p:sldId id="374" r:id="rId12"/>
    <p:sldId id="375" r:id="rId13"/>
    <p:sldId id="376" r:id="rId14"/>
    <p:sldId id="380" r:id="rId15"/>
    <p:sldId id="299" r:id="rId16"/>
    <p:sldId id="381" r:id="rId17"/>
    <p:sldId id="300" r:id="rId18"/>
    <p:sldId id="382" r:id="rId19"/>
    <p:sldId id="302" r:id="rId20"/>
    <p:sldId id="383" r:id="rId21"/>
    <p:sldId id="325" r:id="rId22"/>
    <p:sldId id="326" r:id="rId23"/>
    <p:sldId id="327" r:id="rId24"/>
    <p:sldId id="328" r:id="rId25"/>
    <p:sldId id="329" r:id="rId26"/>
    <p:sldId id="330" r:id="rId27"/>
    <p:sldId id="334" r:id="rId28"/>
    <p:sldId id="331" r:id="rId29"/>
    <p:sldId id="332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017EF-B0C5-4F2B-99F2-8DD7659ECF32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33B1C-0D5F-42ED-944D-ADB4310BB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732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5/27/2026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1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en.wikipedia.org/wiki/Contingency_tabl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en.wikipedia.org/wiki/Chi-squared_distribu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en.wikipedia.org/wiki/Partial_derivative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medium.com/@clyyuanzi/backpropagation-with-vectors-in-neural-network-1ca40582ecca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medium.com/@clyyuanzi/backpropagation-with-vectors-in-neural-network-1ca40582ecca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medium.com/@clyyuanzi/backpropagation-with-vectors-in-neural-network-1ca40582ecc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plus.maths.org/mathematical-dating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ko.wikipedia.org/wiki/%EB%AA%AC%ED%8B%B0_%ED%99%80_%EB%AC%B8%EC%A0%9C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oodruff.dev/wp-content/uploads/2025/09/Best-Practices-for-Tuning-Genetic-Algorithm-Parameters.png" TargetMode="Externa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ell_division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Cell_division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microsoft.com/office/2007/relationships/hdphoto" Target="../media/hdphoto2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0.png"/><Relationship Id="rId3" Type="http://schemas.openxmlformats.org/officeDocument/2006/relationships/image" Target="../media/image620.png"/><Relationship Id="rId7" Type="http://schemas.microsoft.com/office/2007/relationships/hdphoto" Target="../media/hdphoto4.wdp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680.png"/><Relationship Id="rId5" Type="http://schemas.microsoft.com/office/2007/relationships/hdphoto" Target="../media/hdphoto3.wdp"/><Relationship Id="rId10" Type="http://schemas.openxmlformats.org/officeDocument/2006/relationships/image" Target="../media/image670.png"/><Relationship Id="rId4" Type="http://schemas.openxmlformats.org/officeDocument/2006/relationships/image" Target="../media/image40.png"/><Relationship Id="rId9" Type="http://schemas.openxmlformats.org/officeDocument/2006/relationships/image" Target="../media/image6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github.com/ancestor9/mathematics-for-machine-learning/blob/main/scripts/cell_contamination.ipyn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E07EC-FAE3-CD22-0A12-F95D0F9FD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447800"/>
            <a:ext cx="10465545" cy="1362075"/>
          </a:xfrm>
        </p:spPr>
        <p:txBody>
          <a:bodyPr/>
          <a:lstStyle/>
          <a:p>
            <a:r>
              <a:rPr lang="en-US" altLang="ko-KR" sz="6600" dirty="0"/>
              <a:t>Modeling &amp; Simulation 3</a:t>
            </a:r>
            <a:endParaRPr lang="ko-KR" altLang="en-US" sz="66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C22A912-C269-5DE4-418A-0B0B11B2D1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3179265"/>
            <a:ext cx="8825658" cy="861420"/>
          </a:xfrm>
        </p:spPr>
        <p:txBody>
          <a:bodyPr>
            <a:normAutofit/>
          </a:bodyPr>
          <a:lstStyle/>
          <a:p>
            <a:r>
              <a:rPr lang="en-US" altLang="ko-KR" sz="2800" cap="none" dirty="0">
                <a:solidFill>
                  <a:schemeClr val="tx1"/>
                </a:solidFill>
              </a:rPr>
              <a:t>Appendix</a:t>
            </a:r>
            <a:endParaRPr lang="ko-KR" altLang="en-US" cap="none" dirty="0">
              <a:solidFill>
                <a:schemeClr val="tx1"/>
              </a:solidFill>
            </a:endParaRP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4126B61E-1F39-452D-5C3B-A004CC62B8A8}"/>
              </a:ext>
            </a:extLst>
          </p:cNvPr>
          <p:cNvSpPr txBox="1">
            <a:spLocks/>
          </p:cNvSpPr>
          <p:nvPr/>
        </p:nvSpPr>
        <p:spPr>
          <a:xfrm>
            <a:off x="1183530" y="4446090"/>
            <a:ext cx="8825658" cy="8614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ko-KR" sz="2800" cap="none" dirty="0"/>
              <a:t>2026 Spring</a:t>
            </a:r>
          </a:p>
          <a:p>
            <a:r>
              <a:rPr lang="ko-KR" altLang="en-US" sz="2200" cap="none" dirty="0" err="1"/>
              <a:t>조상구교수</a:t>
            </a:r>
            <a:endParaRPr lang="ko-KR" altLang="en-US" sz="2800" cap="none" dirty="0"/>
          </a:p>
        </p:txBody>
      </p:sp>
    </p:spTree>
    <p:extLst>
      <p:ext uri="{BB962C8B-B14F-4D97-AF65-F5344CB8AC3E}">
        <p14:creationId xmlns:p14="http://schemas.microsoft.com/office/powerpoint/2010/main" val="2898304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81843-0320-9E01-A949-B9D36E0E1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5B51BC5E-1A6E-1357-814F-94F490713DA3}"/>
              </a:ext>
            </a:extLst>
          </p:cNvPr>
          <p:cNvSpPr/>
          <p:nvPr/>
        </p:nvSpPr>
        <p:spPr>
          <a:xfrm>
            <a:off x="723901" y="1452837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06CFD27-BD7D-CF71-6FEA-6E881F54D2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7BBCCE8-7E4F-D075-A615-A08547638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Contingency Table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 err="1">
                <a:solidFill>
                  <a:schemeClr val="tx1"/>
                </a:solidFill>
              </a:rPr>
              <a:t>Jocobian</a:t>
            </a:r>
            <a:r>
              <a:rPr lang="en-US" altLang="ko-KR" sz="1800" cap="none" dirty="0">
                <a:solidFill>
                  <a:schemeClr val="tx1"/>
                </a:solidFill>
              </a:rPr>
              <a:t> matrix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Prince Frog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Month Hall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Genetic Algorithm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Differential Equation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935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005F5-AC19-1F98-2D42-AD97D1B87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1F74FFF3-562C-4946-F44D-4C8CD65C0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Contingency_table</a:t>
            </a:r>
            <a:endParaRPr lang="ko-KR" altLang="en-US" b="1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9FD020A-0F20-A516-448E-E3E802C23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</a:t>
            </a:fld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1518E4E-D918-DB2B-D10B-0092A23ED04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530036" y="3371570"/>
            <a:ext cx="6099201" cy="2418496"/>
          </a:xfrm>
          <a:prstGeom prst="rect">
            <a:avLst/>
          </a:prstGeom>
        </p:spPr>
      </p:pic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C976022E-007E-29B4-733F-4E5D7AB44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30" y="1321457"/>
            <a:ext cx="10557988" cy="1634179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암환자 중에 커피를 마신 사람비율이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85%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(=425/500)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이니 커피를 마시면 암에 걸릴 확률이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85%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라고 주장하면 맞는 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or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틀린 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커피를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마시는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사람이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암에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걸릴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확률이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안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마시는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사람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보다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높을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까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커피 섭취와 암 발병 사이에 통계적으로 유의미한 관계가 있는지 검증하라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카이제곱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분포와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p-value)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84C7B33-F32B-BBCD-5D44-26418D369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9237" y="3371570"/>
            <a:ext cx="3830540" cy="57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765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817F2-A114-A4C0-0165-6D7AEC761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D464BA57-A5FF-0FDA-4FA7-DEF300DD4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Chi-</a:t>
            </a:r>
            <a:r>
              <a:rPr lang="en-US" altLang="ko-K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squared_distribution</a:t>
            </a:r>
            <a:endParaRPr lang="ko-KR" altLang="en-US" b="1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618DDEE-CA6A-7B2A-175B-E8EC19FA8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4</a:t>
            </a:fld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24E4E58-9F2B-D1F7-9597-2BAA84C051F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00891" y="2138546"/>
            <a:ext cx="5368704" cy="212883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94855CE-9CA7-9D81-E949-81FCA7AEF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7049" y="2154700"/>
            <a:ext cx="4205966" cy="114913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F133356-5EE4-D991-3702-040E2D4A19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891" y="4472125"/>
            <a:ext cx="5431164" cy="21288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4B0474-CCE1-B3FD-553E-057947C9B465}"/>
              </a:ext>
            </a:extLst>
          </p:cNvPr>
          <p:cNvSpPr txBox="1"/>
          <p:nvPr/>
        </p:nvSpPr>
        <p:spPr>
          <a:xfrm>
            <a:off x="2314267" y="3029754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325</a:t>
            </a:r>
            <a:endParaRPr lang="ko-KR" altLang="en-US" sz="1200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DA1E16-7AD0-8481-E03A-BB82E0354303}"/>
              </a:ext>
            </a:extLst>
          </p:cNvPr>
          <p:cNvSpPr txBox="1"/>
          <p:nvPr/>
        </p:nvSpPr>
        <p:spPr>
          <a:xfrm>
            <a:off x="4036387" y="3029754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64,675</a:t>
            </a:r>
            <a:endParaRPr lang="ko-KR" altLang="en-US" sz="1200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4F7332-8061-5ED7-B2E3-36CD1C9BB44B}"/>
              </a:ext>
            </a:extLst>
          </p:cNvPr>
          <p:cNvSpPr txBox="1"/>
          <p:nvPr/>
        </p:nvSpPr>
        <p:spPr>
          <a:xfrm>
            <a:off x="2314267" y="3473619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175</a:t>
            </a:r>
            <a:endParaRPr lang="ko-KR" altLang="en-US" sz="1200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6FA383-0F5E-DEFB-3557-1FBA89321188}"/>
              </a:ext>
            </a:extLst>
          </p:cNvPr>
          <p:cNvSpPr txBox="1"/>
          <p:nvPr/>
        </p:nvSpPr>
        <p:spPr>
          <a:xfrm>
            <a:off x="4036387" y="3467403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0070C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34,825</a:t>
            </a:r>
            <a:endParaRPr lang="ko-KR" altLang="en-US" sz="1200" b="1" dirty="0">
              <a:solidFill>
                <a:srgbClr val="0070C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1" name="그림 20" descr="undefined">
            <a:extLst>
              <a:ext uri="{FF2B5EF4-FFF2-40B4-BE49-F238E27FC236}">
                <a16:creationId xmlns:a16="http://schemas.microsoft.com/office/drawing/2014/main" id="{C79C31FF-D125-04E3-4CAB-ADCC1B4D3C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6232" y="3337786"/>
            <a:ext cx="4115323" cy="274569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60B4546-E831-95D7-77EF-72F321A6D932}"/>
              </a:ext>
            </a:extLst>
          </p:cNvPr>
          <p:cNvSpPr txBox="1"/>
          <p:nvPr/>
        </p:nvSpPr>
        <p:spPr>
          <a:xfrm>
            <a:off x="6015990" y="6151389"/>
            <a:ext cx="2796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wiki/Chi-</a:t>
            </a:r>
            <a:r>
              <a:rPr lang="en-US" altLang="ko-KR" sz="1400" dirty="0" err="1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squared_distribution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6641FE-7D55-E04D-8FD8-9F5985BA22D5}"/>
              </a:ext>
            </a:extLst>
          </p:cNvPr>
          <p:cNvSpPr txBox="1"/>
          <p:nvPr/>
        </p:nvSpPr>
        <p:spPr>
          <a:xfrm>
            <a:off x="10883383" y="6293036"/>
            <a:ext cx="771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88.345</a:t>
            </a:r>
            <a:endParaRPr lang="ko-KR" altLang="en-US" sz="1200" b="1" dirty="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BBF74D94-737E-8B48-7F71-95FE5C42AADB}"/>
              </a:ext>
            </a:extLst>
          </p:cNvPr>
          <p:cNvCxnSpPr/>
          <p:nvPr/>
        </p:nvCxnSpPr>
        <p:spPr>
          <a:xfrm flipV="1">
            <a:off x="11178657" y="5862522"/>
            <a:ext cx="0" cy="36746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9204481-F0E6-EC2D-0C20-D95FB82870FD}"/>
              </a:ext>
            </a:extLst>
          </p:cNvPr>
          <p:cNvSpPr txBox="1"/>
          <p:nvPr/>
        </p:nvSpPr>
        <p:spPr>
          <a:xfrm>
            <a:off x="10470115" y="5245472"/>
            <a:ext cx="12668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P-value&lt; 0.001</a:t>
            </a:r>
            <a:endParaRPr lang="ko-KR" altLang="en-US" sz="1200" b="1" dirty="0"/>
          </a:p>
        </p:txBody>
      </p:sp>
      <p:sp>
        <p:nvSpPr>
          <p:cNvPr id="28" name="내용 개체 틀 2">
            <a:extLst>
              <a:ext uri="{FF2B5EF4-FFF2-40B4-BE49-F238E27FC236}">
                <a16:creationId xmlns:a16="http://schemas.microsoft.com/office/drawing/2014/main" id="{41CD307C-3F32-959B-AFFA-B38C9BF66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30" y="1321459"/>
            <a:ext cx="10557988" cy="512522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정상적인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경우를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생각하면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커피를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마시고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암환자인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동시확률변수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값은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  325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8049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4" grpId="0"/>
      <p:bldP spid="15" grpId="0"/>
      <p:bldP spid="22" grpId="0"/>
      <p:bldP spid="24" grpId="0"/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74E2C-8C5B-E295-8A5E-00FC528DB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0F988CD-57BF-7975-69D1-CDC185E31D98}"/>
              </a:ext>
            </a:extLst>
          </p:cNvPr>
          <p:cNvSpPr/>
          <p:nvPr/>
        </p:nvSpPr>
        <p:spPr>
          <a:xfrm>
            <a:off x="723901" y="2014812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2C122B3-7C0C-3FFC-DCBB-7ADB882290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6031965-AE8C-A769-193C-E9283A4D53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Contingency Table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 err="1">
                <a:solidFill>
                  <a:schemeClr val="tx1"/>
                </a:solidFill>
              </a:rPr>
              <a:t>Jocobian</a:t>
            </a:r>
            <a:r>
              <a:rPr lang="en-US" altLang="ko-KR" sz="1800" cap="none" dirty="0">
                <a:solidFill>
                  <a:schemeClr val="tx1"/>
                </a:solidFill>
              </a:rPr>
              <a:t> matrix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Prince Frog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Month Hall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Genetic Algorithm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Differential Equation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4556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11D93-2528-EF76-E1A5-9D73A4587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2AEE40D-1F6F-E156-5B59-005CF3BBA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derivative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B1AE10A-4390-846E-D6A8-A03A33520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85760CEA-B2AB-CED6-D9BA-41CED91E6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7"/>
            <a:ext cx="10629571" cy="115504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조건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공책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권에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30 USD,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자루에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25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USD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이다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공책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권과 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7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자루를 사면 총 얼마일까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FF2AFAE-0AC7-4807-F916-EE84617C8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8067" y="2734541"/>
            <a:ext cx="6645216" cy="333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773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DF759-6AEB-71D0-244D-2777F7406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295D571C-F8B6-BA14-5718-C4D8E28D8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Partial_derivative</a:t>
            </a:r>
            <a:endParaRPr lang="ko-KR" altLang="en-US" b="1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FE8FC59-9CD2-B426-02A4-DAEC1FE6B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87188940-F80F-38B0-1278-94C54F9CC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7"/>
            <a:ext cx="10629571" cy="142174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조건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공책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권당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 USD,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자루에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5 USD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5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권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* 10$ + 7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자루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*5$ = 85 $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dirty="0"/>
              <a:t>어떤 물건의 </a:t>
            </a:r>
            <a:r>
              <a:rPr lang="en-US" altLang="ko-KR" dirty="0"/>
              <a:t>‘</a:t>
            </a:r>
            <a:r>
              <a:rPr lang="ko-KR" altLang="en-US" dirty="0"/>
              <a:t>단가</a:t>
            </a:r>
            <a:r>
              <a:rPr lang="en-US" altLang="ko-KR" dirty="0"/>
              <a:t>’</a:t>
            </a:r>
            <a:r>
              <a:rPr lang="ko-KR" altLang="en-US" dirty="0"/>
              <a:t>를 구해</a:t>
            </a:r>
            <a:r>
              <a:rPr lang="en-US" altLang="ko-KR" dirty="0"/>
              <a:t>, </a:t>
            </a:r>
            <a:r>
              <a:rPr lang="ko-KR" altLang="en-US" dirty="0"/>
              <a:t>원하는 개수만큼 곱하는 기본 원리를 문자로 공식화</a:t>
            </a:r>
            <a:endParaRPr lang="ko-KR" altLang="en-US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A40329A-4871-AA68-D1AD-A938F504366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31014" y="3140084"/>
            <a:ext cx="3440159" cy="279399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D467A10-0F7F-7A7A-1208-FA7CFF85D52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406554" y="3159134"/>
            <a:ext cx="3936971" cy="757372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5DD7B71B-A5C6-CB14-9ED3-FE1F32EA2199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9244732" y="3159134"/>
            <a:ext cx="2690093" cy="441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50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15AEA-9E90-24FC-BFB7-E912E9D31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E97EE602-42E3-A339-CAE4-269A210FF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derivative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9FAD434-F9AB-54A6-F906-D8BB5D389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78645B7-B210-8557-C2D7-836CD5E03D08}"/>
              </a:ext>
            </a:extLst>
          </p:cNvPr>
          <p:cNvGrpSpPr/>
          <p:nvPr/>
        </p:nvGrpSpPr>
        <p:grpSpPr>
          <a:xfrm>
            <a:off x="2474191" y="1586689"/>
            <a:ext cx="6042174" cy="4486574"/>
            <a:chOff x="5148565" y="1704676"/>
            <a:chExt cx="6042174" cy="4486574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9CDD43C-D9B9-9604-F3F1-0B7A1A4839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48565" y="1704676"/>
              <a:ext cx="6042174" cy="4486574"/>
            </a:xfrm>
            <a:prstGeom prst="rect">
              <a:avLst/>
            </a:prstGeom>
          </p:spPr>
        </p:pic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CB7854CF-A522-ADFA-44FB-C811972A77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7639" y="4614672"/>
              <a:ext cx="882777" cy="69835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4099B866-302D-0DF5-074C-925BD450E9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17639" y="3541776"/>
              <a:ext cx="839783" cy="999206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35447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AD9DC-E6AC-E43D-3136-AACB368A6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24486C17-656D-927D-1869-349A6A141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total,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</a:t>
            </a:r>
            <a:r>
              <a:rPr lang="ko-KR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derivative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8242FBA-B4A4-3799-8FB1-ED7391245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9</a:t>
            </a:fld>
            <a:endParaRPr lang="en-US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9405F9EB-A2DF-B21F-F567-3B2CF786F88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022883" y="1884602"/>
            <a:ext cx="6056344" cy="387745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105F32F-5A2A-026E-689F-B7EE16D35A8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426693" y="3546253"/>
            <a:ext cx="4356416" cy="9175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1A39B7-4F99-CB91-BD98-5C454675112A}"/>
              </a:ext>
            </a:extLst>
          </p:cNvPr>
          <p:cNvSpPr txBox="1"/>
          <p:nvPr/>
        </p:nvSpPr>
        <p:spPr>
          <a:xfrm>
            <a:off x="7365669" y="3090446"/>
            <a:ext cx="45018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총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추가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비용은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공책 추가비용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+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펜 추가비용</a:t>
            </a:r>
          </a:p>
        </p:txBody>
      </p:sp>
    </p:spTree>
    <p:extLst>
      <p:ext uri="{BB962C8B-B14F-4D97-AF65-F5344CB8AC3E}">
        <p14:creationId xmlns:p14="http://schemas.microsoft.com/office/powerpoint/2010/main" val="4026849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6B968-0F38-8E07-8216-6DAE45577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866ECE4-04AE-DA3D-2BAB-E98A127C7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Jacobian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E0AF7E2-175E-ED6C-7C31-95E79FEB4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10</a:t>
            </a:fld>
            <a:endParaRPr 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4567514-F205-2E09-5119-27AC980CA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952" y="3080093"/>
            <a:ext cx="3555930" cy="127264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E7DDC2A-2A17-6858-3B42-201C65EBD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813" y="3080094"/>
            <a:ext cx="5448772" cy="12726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D100FD-4C9E-3693-A111-9232A0868F34}"/>
              </a:ext>
            </a:extLst>
          </p:cNvPr>
          <p:cNvSpPr txBox="1"/>
          <p:nvPr/>
        </p:nvSpPr>
        <p:spPr>
          <a:xfrm>
            <a:off x="915383" y="1338838"/>
            <a:ext cx="10646725" cy="86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공책의 개수 변화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i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dN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펜의 개수 변화(</a:t>
            </a:r>
            <a:r>
              <a:rPr lang="ko-KR" altLang="en-US" i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dP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)가 시스템에 입력되면, 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자코비안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(Jacobian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Matrix)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행렬을 거쳐 세 가지 결과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가격 변화(</a:t>
            </a:r>
            <a:r>
              <a:rPr lang="ko-KR" altLang="en-US" i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dC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), 무게 변화(</a:t>
            </a:r>
            <a:r>
              <a:rPr lang="ko-KR" altLang="en-US" i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dW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), 부피 변화(</a:t>
            </a:r>
            <a:r>
              <a:rPr lang="ko-KR" altLang="en-US" i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dV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출력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5CA6F3A-111E-0B8E-9D49-491C78668BEB}"/>
              </a:ext>
            </a:extLst>
          </p:cNvPr>
          <p:cNvSpPr/>
          <p:nvPr/>
        </p:nvSpPr>
        <p:spPr>
          <a:xfrm>
            <a:off x="2438399" y="2876551"/>
            <a:ext cx="1485901" cy="16954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479779-9D26-8534-F915-3DE5ED92ACD1}"/>
              </a:ext>
            </a:extLst>
          </p:cNvPr>
          <p:cNvSpPr txBox="1"/>
          <p:nvPr/>
        </p:nvSpPr>
        <p:spPr>
          <a:xfrm>
            <a:off x="2105025" y="4854875"/>
            <a:ext cx="2943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자코비안</a:t>
            </a:r>
            <a:r>
              <a:rPr lang="en-US" altLang="ko-KR" dirty="0">
                <a:solidFill>
                  <a:srgbClr val="FF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(Jacobian</a:t>
            </a:r>
            <a:r>
              <a:rPr lang="ko-KR" altLang="en-US" dirty="0">
                <a:solidFill>
                  <a:srgbClr val="FF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Matrix)</a:t>
            </a:r>
            <a:r>
              <a:rPr lang="ko-KR" altLang="en-US" dirty="0">
                <a:solidFill>
                  <a:srgbClr val="FF0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0103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B29B9-C7DA-3B35-F78B-956B5A8F1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C7C90D05-60DA-4D2A-C5DC-92418E30E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propagation,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jacobian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380E8A3-41EC-979C-E1EB-5A8E1118D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11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F9831C-0FA0-0A2E-8954-C9E399A2F147}"/>
              </a:ext>
            </a:extLst>
          </p:cNvPr>
          <p:cNvSpPr txBox="1"/>
          <p:nvPr/>
        </p:nvSpPr>
        <p:spPr>
          <a:xfrm>
            <a:off x="990600" y="1200150"/>
            <a:ext cx="5633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2"/>
              </a:rPr>
              <a:t>backpropagation-with-vectors-in-neural-network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6E3C580-31A0-8A3C-16A1-B2B91EB29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165" y="1635489"/>
            <a:ext cx="1691787" cy="153175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FE34054-FD03-9D70-D5C2-22CFB3220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138" y="4216696"/>
            <a:ext cx="6227675" cy="2425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F203145-6276-59E1-9BD5-36F4712BD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138" y="1635489"/>
            <a:ext cx="6227675" cy="2062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B3D8E4B-EFD8-36F2-7894-DC6E9C786D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165" y="4216696"/>
            <a:ext cx="2644369" cy="73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21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B2748-A27B-C995-DC95-4E8DE9E57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3249A593-0F9C-1E34-88A2-41FDCE2EE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propagation,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jacobian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12D4D03-92ED-3DC9-08C9-5CCD7D6FD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12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20D851-7B68-F857-63B5-ACD09C5115D1}"/>
              </a:ext>
            </a:extLst>
          </p:cNvPr>
          <p:cNvSpPr txBox="1"/>
          <p:nvPr/>
        </p:nvSpPr>
        <p:spPr>
          <a:xfrm>
            <a:off x="990600" y="1200150"/>
            <a:ext cx="5633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2"/>
              </a:rPr>
              <a:t>backpropagation-with-vectors-in-neural-network</a:t>
            </a:r>
            <a:endParaRPr lang="ko-KR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8177884-08FF-673E-5823-1A86D56D73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1089" y="1864110"/>
            <a:ext cx="6929436" cy="341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22A182E-27FA-E08E-E6C3-221FB2A68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0550" y="1864110"/>
            <a:ext cx="3600450" cy="146246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C9F157C-A3AA-1DFE-2287-161AB336E6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3873" y="4127270"/>
            <a:ext cx="5238750" cy="1932021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B80C939-B42C-67F1-DBDC-F9529BD29246}"/>
              </a:ext>
            </a:extLst>
          </p:cNvPr>
          <p:cNvSpPr/>
          <p:nvPr/>
        </p:nvSpPr>
        <p:spPr>
          <a:xfrm>
            <a:off x="8943975" y="1676400"/>
            <a:ext cx="371475" cy="18359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DB45653-A6FC-54FF-388B-787F9FCBA5E4}"/>
              </a:ext>
            </a:extLst>
          </p:cNvPr>
          <p:cNvSpPr/>
          <p:nvPr/>
        </p:nvSpPr>
        <p:spPr>
          <a:xfrm>
            <a:off x="9925050" y="1676400"/>
            <a:ext cx="371475" cy="18359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175869F-DAC0-F288-7B4B-509CECFDECDB}"/>
              </a:ext>
            </a:extLst>
          </p:cNvPr>
          <p:cNvSpPr/>
          <p:nvPr/>
        </p:nvSpPr>
        <p:spPr>
          <a:xfrm>
            <a:off x="10972800" y="1676400"/>
            <a:ext cx="371475" cy="18359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9974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40343-8C7F-64B0-7312-BD4F865E9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4539D125-79B9-D020-3B32-187CECFC5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propagation, </a:t>
            </a:r>
            <a:r>
              <a:rPr lang="en-US" altLang="ko-K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jacobian</a:t>
            </a:r>
            <a:r>
              <a:rPr lang="ko-KR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404FBC4-FDC7-B9F5-F877-469012283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13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058B5A-B268-2FAA-A4C9-14A6F48B4D14}"/>
              </a:ext>
            </a:extLst>
          </p:cNvPr>
          <p:cNvSpPr txBox="1"/>
          <p:nvPr/>
        </p:nvSpPr>
        <p:spPr>
          <a:xfrm>
            <a:off x="990600" y="1200150"/>
            <a:ext cx="5633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2"/>
              </a:rPr>
              <a:t>backpropagation-with-vectors-in-neural-network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119708-829F-A31C-8B13-FB619427234B}"/>
              </a:ext>
            </a:extLst>
          </p:cNvPr>
          <p:cNvSpPr txBox="1"/>
          <p:nvPr/>
        </p:nvSpPr>
        <p:spPr>
          <a:xfrm>
            <a:off x="1038225" y="4348460"/>
            <a:ext cx="44862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Backprop chain rule in matrix form for a layer with </a:t>
            </a:r>
            <a:r>
              <a:rPr lang="en-US" altLang="ko-KR" sz="1400" b="1" dirty="0">
                <a:solidFill>
                  <a:srgbClr val="FF0000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column vector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input and output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EA53E3B-DC8E-9DD9-90E5-13A32026F8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885" y="2377218"/>
            <a:ext cx="4076915" cy="18377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FD3F19-96F1-AC8B-8868-C5C82DB1E372}"/>
              </a:ext>
            </a:extLst>
          </p:cNvPr>
          <p:cNvSpPr txBox="1"/>
          <p:nvPr/>
        </p:nvSpPr>
        <p:spPr>
          <a:xfrm>
            <a:off x="6419850" y="4348460"/>
            <a:ext cx="38195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Backprop chain rule in matrix form for a layer with </a:t>
            </a:r>
            <a:r>
              <a:rPr lang="en-US" altLang="ko-KR" sz="1400" b="1" dirty="0">
                <a:solidFill>
                  <a:srgbClr val="00B0F0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row vector</a:t>
            </a:r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 input and output</a:t>
            </a:r>
            <a:endParaRPr lang="ko-KR" altLang="en-US" sz="14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C7FD839-C0B8-E655-1C4F-679954918C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073" y="2332633"/>
            <a:ext cx="3318677" cy="1882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305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55D1A-E509-86DF-56DE-62E077259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61D39DE-9F97-7580-A401-860677AFF8E6}"/>
              </a:ext>
            </a:extLst>
          </p:cNvPr>
          <p:cNvSpPr/>
          <p:nvPr/>
        </p:nvSpPr>
        <p:spPr>
          <a:xfrm>
            <a:off x="723901" y="2576787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997E0EC-8257-640B-59BC-AB2C854643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97416A5-1865-9C65-6DCB-425D067DC5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Contingency Table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 err="1">
                <a:solidFill>
                  <a:schemeClr val="tx1"/>
                </a:solidFill>
              </a:rPr>
              <a:t>Jocobian</a:t>
            </a:r>
            <a:r>
              <a:rPr lang="en-US" altLang="ko-KR" sz="1800" cap="none" dirty="0">
                <a:solidFill>
                  <a:schemeClr val="tx1"/>
                </a:solidFill>
              </a:rPr>
              <a:t> matrix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Prince Frog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Month Hall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Genetic Algorithm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Differential Equation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4839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94CC3-0C25-936C-F4E5-BC6C8FAE9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FB6093B4-D84C-1182-BD67-09D1D89F1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Prince Frog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4CD2A0E-CCEC-F039-665F-40894A644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15</a:t>
            </a:fld>
            <a:endParaRPr 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8D2309A-13E9-0BC5-9466-8BBC074EA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708" y="1503649"/>
            <a:ext cx="10272637" cy="3012934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당신은 앞으로 인생에서 총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명의 잠재적 파트너를 만날 수 있다고 가정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당신의 목표는 그중 가장 뛰어난 사람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매칭되는 것이며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아래의 조건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한 번 거절한 사람에게는 다시 돌아갈 수 없음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만나는 순서는 무작위이며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당신은 상대를 만날 때마다 점수를 매길 수 있음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가장 좋은 사람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선택할 확률을 최대화하려면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몇 번째 사람을 선책해야 하나요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mathematical-dating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07FF1A6-7C59-D849-56A1-6F4AF4D88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075" y="4357296"/>
            <a:ext cx="3334215" cy="199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100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CB401-6192-D37B-61AF-46DECCE26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FAC5692-C5A8-BCD6-4730-62D7A671BCF0}"/>
              </a:ext>
            </a:extLst>
          </p:cNvPr>
          <p:cNvSpPr/>
          <p:nvPr/>
        </p:nvSpPr>
        <p:spPr>
          <a:xfrm>
            <a:off x="723901" y="3129237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B6F02CD-BCC6-DFD8-321B-68E7A5900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5DA3D05-5067-C46A-5E71-1D239936D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Contingency Table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 err="1">
                <a:solidFill>
                  <a:schemeClr val="tx1"/>
                </a:solidFill>
              </a:rPr>
              <a:t>Jocobian</a:t>
            </a:r>
            <a:r>
              <a:rPr lang="en-US" altLang="ko-KR" sz="1800" cap="none" dirty="0">
                <a:solidFill>
                  <a:schemeClr val="tx1"/>
                </a:solidFill>
              </a:rPr>
              <a:t> matrix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Prince Frog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Month Hall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Genetic Algorithm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Differential Equation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813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C8A9B-C99A-C323-49D3-D8FF332B2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1E109C5D-CA46-86FE-B2F1-6B57CE974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Monty Hall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6715F2C-1C5F-58CD-F12C-7D8F314DC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C274E9-0890-E1EE-8815-6A6992A3E51A}"/>
              </a:ext>
            </a:extLst>
          </p:cNvPr>
          <p:cNvSpPr txBox="1"/>
          <p:nvPr/>
        </p:nvSpPr>
        <p:spPr>
          <a:xfrm>
            <a:off x="798974" y="1692410"/>
            <a:ext cx="2930832" cy="454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Monty Hall Problem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4CB3E241-1439-CF73-D1BF-D13C8F260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14" y="2724107"/>
            <a:ext cx="3466677" cy="1927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9E41BEFF-9277-101A-3ABF-53C7FEE19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2182" y="2764673"/>
            <a:ext cx="1619245" cy="900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CBEF33F-CA64-0A15-EF29-6230B6B4D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1006" y="3900957"/>
            <a:ext cx="815411" cy="97544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39BAFD2-095A-6333-05D9-AF58E4177C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23" y="3900957"/>
            <a:ext cx="815411" cy="97544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13AB27E-3741-C7E7-A100-08C4C10D4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240" y="3900957"/>
            <a:ext cx="815411" cy="97544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F137632-6EED-1197-4575-AD5C44748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857" y="3900957"/>
            <a:ext cx="815411" cy="97544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C9BAD1F-4835-0E00-BE05-7B991DEA53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474" y="3900957"/>
            <a:ext cx="815411" cy="97544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72470AC-D0CC-6A8D-F111-86F68089C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091" y="3900957"/>
            <a:ext cx="815411" cy="97544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865E442-B4BD-7CFF-FCDF-2E85B2CB4F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0707" y="3900957"/>
            <a:ext cx="815411" cy="97544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F2D7143-68C6-2326-F00F-A8CD8AE3B1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1006" y="5158257"/>
            <a:ext cx="815411" cy="975445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728F616-5440-AC06-EAC7-44E4E6C96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23" y="5158257"/>
            <a:ext cx="815411" cy="97544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5F19E73-7B96-06A5-14A6-B60E4358A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4240" y="5158257"/>
            <a:ext cx="815411" cy="975445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21514DF-CA86-07A5-AD6C-AD2DEA2FE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857" y="5158257"/>
            <a:ext cx="815411" cy="97544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09CD22BE-CA91-2684-1E36-B34F6E837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474" y="5158257"/>
            <a:ext cx="815411" cy="97544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735F4664-A966-C87F-5C78-A301749DF3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091" y="5158257"/>
            <a:ext cx="815411" cy="975445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BEAAFF8B-1A89-D60D-75AB-E4265EDD2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0707" y="5158257"/>
            <a:ext cx="815411" cy="975445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1EC7DF29-C3D6-F404-E972-77857EC56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857" y="2724107"/>
            <a:ext cx="815411" cy="975445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7D508969-A288-B230-8DB6-EC39464787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474" y="2724107"/>
            <a:ext cx="815411" cy="975445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7BD36F70-C846-8BF0-2823-F0053E6B7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091" y="2724107"/>
            <a:ext cx="815411" cy="975445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12697E6A-BB42-EA03-FEFB-7A44EA579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0707" y="2724107"/>
            <a:ext cx="815411" cy="97544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C62F4DC-1018-0126-1558-960B8E9E3342}"/>
              </a:ext>
            </a:extLst>
          </p:cNvPr>
          <p:cNvSpPr txBox="1"/>
          <p:nvPr/>
        </p:nvSpPr>
        <p:spPr>
          <a:xfrm>
            <a:off x="6051006" y="1692410"/>
            <a:ext cx="5342020" cy="4542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Monty Hall Problem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문이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10,000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 라면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877497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025B1-C622-6B28-0897-BDCCC5F22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9BD5A1C-AFDE-FFE3-010D-C946E51F5D19}"/>
              </a:ext>
            </a:extLst>
          </p:cNvPr>
          <p:cNvSpPr/>
          <p:nvPr/>
        </p:nvSpPr>
        <p:spPr>
          <a:xfrm>
            <a:off x="723901" y="3634062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AF934E9-C936-F59C-759D-63E5A36A95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AEBE40B-EB5A-0E63-8206-84E2457015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Contingency Table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 err="1">
                <a:solidFill>
                  <a:schemeClr val="tx1"/>
                </a:solidFill>
              </a:rPr>
              <a:t>Jocobian</a:t>
            </a:r>
            <a:r>
              <a:rPr lang="en-US" altLang="ko-KR" sz="1800" cap="none" dirty="0">
                <a:solidFill>
                  <a:schemeClr val="tx1"/>
                </a:solidFill>
              </a:rPr>
              <a:t> matrix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Prince Frog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Month Hall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Genetic Algorithm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Differential Equation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162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0AC54-C4ED-A5C3-A213-8356B5F64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5B10A659-B508-3847-D95D-D5EDC55F7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Genetic algorithm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5590872-92AA-7F11-7855-536F5E774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141AEC-0375-D5D0-1BC0-45800051E25B}"/>
              </a:ext>
            </a:extLst>
          </p:cNvPr>
          <p:cNvSpPr txBox="1"/>
          <p:nvPr/>
        </p:nvSpPr>
        <p:spPr>
          <a:xfrm>
            <a:off x="675209" y="1437904"/>
            <a:ext cx="11377264" cy="45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단순회귀식의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parameter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유전자 알고리즘으로 구하는 파이썬 코드를 제시하라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0" name="그림 29" descr="Best Practices for Tuning Genetic Algorithm Parameters">
            <a:extLst>
              <a:ext uri="{FF2B5EF4-FFF2-40B4-BE49-F238E27FC236}">
                <a16:creationId xmlns:a16="http://schemas.microsoft.com/office/drawing/2014/main" id="{F123030E-E593-CC71-17F7-A38A55A62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790" y="2266684"/>
            <a:ext cx="5678585" cy="3785723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9DFA542B-465A-3FAA-9CFB-CC45AB510537}"/>
              </a:ext>
            </a:extLst>
          </p:cNvPr>
          <p:cNvSpPr txBox="1"/>
          <p:nvPr/>
        </p:nvSpPr>
        <p:spPr>
          <a:xfrm>
            <a:off x="1772790" y="6210299"/>
            <a:ext cx="836180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>
                <a:hlinkClick r:id="rId3"/>
              </a:rPr>
              <a:t>https://www.woodruff.dev/wp-content/uploads/2025/09/Best-Practices-for-Tuning-Genetic-Algorithm-Parameters.png</a:t>
            </a:r>
            <a:r>
              <a:rPr lang="ko-KR" altLang="en-US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1582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6830E-287F-AEA7-E7DD-308EFE3A5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E60E544C-CAFC-62CE-5AD8-3416271C889E}"/>
              </a:ext>
            </a:extLst>
          </p:cNvPr>
          <p:cNvSpPr/>
          <p:nvPr/>
        </p:nvSpPr>
        <p:spPr>
          <a:xfrm>
            <a:off x="723901" y="4205562"/>
            <a:ext cx="5124450" cy="47833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67DA737-ADFC-8470-E497-7F91B956B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616796C-2455-DC48-89F3-D6753C994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4855321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Contingency Table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Jocobian</a:t>
            </a:r>
            <a:r>
              <a:rPr lang="en-US" altLang="ko-KR" sz="1800" cap="none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matrix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Prince Frog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Month Hall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Genetic Algorithm</a:t>
            </a:r>
          </a:p>
          <a:p>
            <a:pPr marL="514350" indent="-514350">
              <a:lnSpc>
                <a:spcPct val="150000"/>
              </a:lnSpc>
              <a:buSzPct val="100000"/>
              <a:buFont typeface="Wingdings 3" charset="2"/>
              <a:buAutoNum type="arabicPeriod"/>
            </a:pPr>
            <a:r>
              <a:rPr lang="en-US" altLang="ko-KR" sz="1800" cap="none" dirty="0">
                <a:solidFill>
                  <a:schemeClr val="tx1"/>
                </a:solidFill>
              </a:rPr>
              <a:t>Differential Equation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endParaRPr lang="ko-KR" altLang="en-US" sz="1800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462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5953D-C500-5F1D-7DFF-6810FE097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A915BB03-0ACC-F981-4BCD-AB72175E4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3EE4ECF-F522-E598-8198-62166279C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21</a:t>
            </a:fld>
            <a:endParaRPr lang="en-US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43BFE282-10B7-3563-1EAE-190C2973B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3" y="1339880"/>
            <a:ext cx="10257442" cy="4098895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컴퓨터가 생물학적 또는 물리적 현상을 이해할 수 있도록 수학적으로 묘사하는 과정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컴퓨터는 미분과 적분 연산에 최적화되어 있어 세포분열 현상을 미분식으로 표현하면 컴퓨터는 미래를 예측할 수 있음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속도는 미분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거리는 적분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세포분열의 경우 분열 속도를 미분방정식으로 표현하고 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2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일정 시간 이후 세포는 몇 개까지 증식하는지는 적분하여 예측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19917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E07E6-0097-53F1-CF57-CE83DD4F4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EDAAAD77-063D-96F0-BB80-C0675F456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8C4E1BA-B6E4-E7CE-F181-F9A168C48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22</a:t>
            </a:fld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9FB737C-8207-A095-80A7-945984DC6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059" y="4113840"/>
            <a:ext cx="1116966" cy="2546683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37F876-EDC2-C2AF-3A20-8AEBD33F6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275426"/>
            <a:ext cx="9890853" cy="33727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세포분열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Cell_division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아메바나 인체 세포는 일정 크기로 성장하면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개로 분열하고 정상 세포는 보통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24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 주기로 아래와 같이 분열한다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증식 속도 </a:t>
            </a:r>
            <a:r>
              <a:rPr lang="en-US" altLang="ko-KR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(Rate)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속도는 “늘어난 세포의 수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/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걸린 </a:t>
            </a:r>
            <a:r>
              <a:rPr lang="ko-KR" altLang="en-US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시간”으로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정의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세포가 많을수록 분열하는 개체수도 늘어나므로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증가 속도는 현재 세포 수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(X)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비례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4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BE106E1-3309-58F0-CD71-036E1EAE6B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26303" y="4333492"/>
            <a:ext cx="1398297" cy="94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844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E31F4-3629-1A16-B98B-58ACE0810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C0ED49C8-B5F8-591F-577B-FDB854C59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CACF84-D19C-8F63-2D7B-5FCAF5557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23</a:t>
            </a:fld>
            <a:endParaRPr lang="en-US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3810B7BD-B816-1B3E-64B3-B86C9C7EE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618326"/>
            <a:ext cx="10350827" cy="337277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세포분열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Cell_division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변화율 식을 시간에 대해 적분하면 시간에 따른 세포 수를 예측할 수 있고 이 결과를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축은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축은 세포 수를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차원 좌표에 표시하라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numpy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</a:t>
            </a:r>
            <a:r>
              <a:rPr lang="ko-KR" altLang="en-US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오일러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방식으로 코딩하거나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sympy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모듈로 미분방정식을 정의하고 적분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4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75766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4C972-7F47-0F03-CA39-239005494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C50CE5F-703B-628B-E278-C73CF443A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1204269-D9CC-2292-140C-7F7FF6FEA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24</a:t>
            </a:fld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DC6FCB2-F7C1-D37F-A9DD-7D713B2C5E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7642" y="2450726"/>
            <a:ext cx="5800722" cy="4126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6A5471-1D29-1F73-8FD7-C24096714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154097"/>
            <a:ext cx="10876566" cy="1424329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24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 이후에는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배가 아니라 자연상수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오일러상수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2.718….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배가 됨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세포 수가 늘어남에 따라 증가 속도가 실시간으로 가속되어 기하급수적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(Exponential)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증가함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4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060B01F-E4BD-E2D1-75B0-48F2EEE16D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09896" y="2602882"/>
            <a:ext cx="1981007" cy="59334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B71ABFD-946E-D12D-4E2E-CD43619BDA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4346" y="5316568"/>
            <a:ext cx="1646063" cy="32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9083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B09BF-2EFA-5CFC-1E67-010A60511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F4C2746F-56DA-F8D8-9041-05E04FAA2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AC6E2DD-E529-FB78-B038-B1FED6A27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25</a:t>
            </a:fld>
            <a:endParaRPr lang="en-US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785C4201-B3BA-4E6E-7C3B-F16863AB2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242" y="2707024"/>
            <a:ext cx="5760544" cy="3760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612A4A-92A5-9BA1-C4A8-200B7C4CA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154097"/>
            <a:ext cx="10876566" cy="1329209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변분법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(calculus of variations)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사고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미분방정식이 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t=80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에서는 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＂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너 지금 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1.17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속도로 올라가야 해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!＂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명령어</a:t>
            </a:r>
            <a:endParaRPr lang="en-US" altLang="ko-KR" sz="17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접선의 식은 그 명령어를 받아서 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그럼 일단 이 방향으로 </a:t>
            </a:r>
            <a:r>
              <a:rPr lang="ko-KR" altLang="en-US" sz="17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가볼게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라고 그려본 가상의 직선 경로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25397D-E731-72CE-E943-A7168541C1AD}"/>
              </a:ext>
            </a:extLst>
          </p:cNvPr>
          <p:cNvSpPr txBox="1"/>
          <p:nvPr/>
        </p:nvSpPr>
        <p:spPr>
          <a:xfrm>
            <a:off x="6894055" y="2719003"/>
            <a:ext cx="4135896" cy="821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접선을 </a:t>
            </a:r>
            <a:r>
              <a:rPr lang="en-US" altLang="ko-KR" sz="1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t=80 </a:t>
            </a:r>
            <a:r>
              <a:rPr lang="ko-KR" altLang="en-US" sz="1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근처에서 아주 짧게 그리면 실제 세포 수 곡선과 거의 일치하게 되며 이 원리를 이용해서 컴퓨터는 복잡한 미분 방정식을 한 단계씩 직선으로 연결하며 풀어나감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11AAC54-8BFB-E2C4-CCC4-3568C30B8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9654" y="3886200"/>
            <a:ext cx="3068557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2546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03BA3-84EC-7D4E-9E83-258732FC5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836E194C-CF84-05F2-829A-D5469AA44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13E83F1-FF0D-A1E4-E03B-195B69B0A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26</a:t>
            </a:fld>
            <a:endParaRPr lang="en-US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60803C31-F401-2986-B0C3-AB38050D8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113457"/>
            <a:ext cx="9914541" cy="199764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정상세포 수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감염세포 수로 가정하고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X, Y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다음과 같이 상호작용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24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시간안에 세포분열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(X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 X + X)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는 정상세포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X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를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24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시간안에 감염시킴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(X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+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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+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X,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에 대한 미분방정식을 만들어라</a:t>
            </a: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157BD95-8719-AE25-A87A-DC3525D52FD8}"/>
                  </a:ext>
                </a:extLst>
              </p:cNvPr>
              <p:cNvSpPr txBox="1"/>
              <p:nvPr/>
            </p:nvSpPr>
            <p:spPr>
              <a:xfrm>
                <a:off x="5695950" y="3746903"/>
                <a:ext cx="6096000" cy="1107804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7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700" dirty="0" err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ko-KR" altLang="en-US" sz="1700" i="1" dirty="0" err="1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ko-KR" altLang="en-US" sz="1700" i="0" dirty="0" err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ko-KR" altLang="en-US" sz="1700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ko-KR" altLang="en-US" sz="1700" i="0" dirty="0" err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ko-KR" altLang="en-US" sz="1700" i="1" dirty="0" err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700" i="1" dirty="0" err="1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ko-KR" altLang="en-US" sz="1700" i="0" dirty="0" err="1"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a:rPr lang="ko-KR" altLang="en-US" sz="1700" i="0" dirty="0" err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ko-KR" altLang="en-US" sz="1700" i="1" dirty="0" err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ko-KR" altLang="en-US" sz="1700" i="1" dirty="0" err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　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1700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</a:t>
                </a:r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양이 시간에 따라 어떻게 변하는지.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＋</m:t>
                    </m:r>
                    <m:f>
                      <m:fPr>
                        <m:ctrlPr>
                          <a:rPr lang="ko-KR" altLang="en-US" sz="17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700" i="1" dirty="0" err="1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ko-KR" altLang="en-US" sz="1700" dirty="0" err="1"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스스로 복제되는 증가 항.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－</m:t>
                    </m:r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𝑘𝑋𝑌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만나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소모되는 감소 항.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157BD95-8719-AE25-A87A-DC3525D52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950" y="3746903"/>
                <a:ext cx="6096000" cy="1107804"/>
              </a:xfrm>
              <a:prstGeom prst="rect">
                <a:avLst/>
              </a:prstGeom>
              <a:blipFill>
                <a:blip r:embed="rId2"/>
                <a:stretch>
                  <a:fillRect l="-399" b="-6011"/>
                </a:stretch>
              </a:blipFill>
              <a:ln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EFC8F03-4097-2B23-E3E7-269E0653C04F}"/>
                  </a:ext>
                </a:extLst>
              </p:cNvPr>
              <p:cNvSpPr txBox="1"/>
              <p:nvPr/>
            </p:nvSpPr>
            <p:spPr>
              <a:xfrm>
                <a:off x="5695950" y="5182668"/>
                <a:ext cx="6096000" cy="999313"/>
              </a:xfrm>
              <a:prstGeom prst="rect">
                <a:avLst/>
              </a:prstGeom>
              <a:noFill/>
              <a:ln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17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1700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ko-KR" altLang="en-US" sz="1700" i="1" smtClean="0"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ko-KR" altLang="en-US" sz="1700" i="0" smtClean="0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ko-KR" altLang="en-US" sz="170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ko-KR" altLang="en-US" sz="170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𝑘𝑋</m:t>
                    </m:r>
                    <m:r>
                      <a:rPr lang="ko-KR" altLang="en-US" sz="1700" i="1" dirty="0" err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ko-KR" altLang="en-US" sz="1700" i="0" smtClean="0">
                        <a:latin typeface="Cambria Math" panose="02040503050406030204" pitchFamily="18" charset="0"/>
                      </a:rPr>
                      <m:t>−ⅆ</m:t>
                    </m:r>
                    <m:r>
                      <a:rPr lang="ko-KR" altLang="en-US" sz="170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　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의 양이 시간에 따라 어떻게 변하는지.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700" i="1" dirty="0" smtClean="0">
                        <a:latin typeface="Cambria Math" panose="02040503050406030204" pitchFamily="18" charset="0"/>
                      </a:rPr>
                      <m:t>＋</m:t>
                    </m:r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𝑘𝑋</m:t>
                    </m:r>
                    <m:r>
                      <a:rPr lang="ko-KR" altLang="en-US" sz="1700" i="1" dirty="0" err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와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만나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증가하는 증가 항.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－</m:t>
                    </m:r>
                    <m:r>
                      <a:rPr lang="ko-KR" altLang="en-US" sz="1700">
                        <a:latin typeface="Cambria Math" panose="02040503050406030204" pitchFamily="18" charset="0"/>
                      </a:rPr>
                      <m:t>ⅆ</m:t>
                    </m:r>
                    <m:r>
                      <a:rPr lang="ko-KR" altLang="en-US" sz="1700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sz="1700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ko-KR" altLang="en-US" sz="17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소멸되는 감소 항.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EFC8F03-4097-2B23-E3E7-269E0653C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950" y="5182668"/>
                <a:ext cx="6096000" cy="999313"/>
              </a:xfrm>
              <a:prstGeom prst="rect">
                <a:avLst/>
              </a:prstGeom>
              <a:blipFill>
                <a:blip r:embed="rId3"/>
                <a:stretch>
                  <a:fillRect l="-399" b="-6627"/>
                </a:stretch>
              </a:blipFill>
              <a:ln>
                <a:solidFill>
                  <a:schemeClr val="bg1">
                    <a:lumMod val="50000"/>
                  </a:schemeClr>
                </a:solidFill>
                <a:prstDash val="sysDot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EDBFDED1-B5CB-0038-345F-FCB775FCE7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37864" y="3739833"/>
            <a:ext cx="1737511" cy="66299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6D45B05-3F32-1279-AADB-08759DB757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37864" y="5184455"/>
            <a:ext cx="1722269" cy="6706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5CA98D-1DC3-FF38-7C36-9416B0CDFE93}"/>
                  </a:ext>
                </a:extLst>
              </p:cNvPr>
              <p:cNvSpPr txBox="1"/>
              <p:nvPr/>
            </p:nvSpPr>
            <p:spPr>
              <a:xfrm>
                <a:off x="454511" y="3914870"/>
                <a:ext cx="65292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800" i="1" dirty="0" smtClean="0">
                          <a:latin typeface="Cambria Math" panose="02040503050406030204" pitchFamily="18" charset="0"/>
                        </a:rPr>
                        <m:t>𝑋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5CA98D-1DC3-FF38-7C36-9416B0CDF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11" y="3914870"/>
                <a:ext cx="65292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2D917CD-D06F-8342-BF29-D25FA66D84EE}"/>
                  </a:ext>
                </a:extLst>
              </p:cNvPr>
              <p:cNvSpPr txBox="1"/>
              <p:nvPr/>
            </p:nvSpPr>
            <p:spPr>
              <a:xfrm>
                <a:off x="454511" y="5255575"/>
                <a:ext cx="9755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1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＋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2D917CD-D06F-8342-BF29-D25FA66D84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11" y="5255575"/>
                <a:ext cx="97551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081820-7717-617E-414D-9795A5CCF519}"/>
                  </a:ext>
                </a:extLst>
              </p:cNvPr>
              <p:cNvSpPr txBox="1"/>
              <p:nvPr/>
            </p:nvSpPr>
            <p:spPr>
              <a:xfrm>
                <a:off x="2741780" y="5255575"/>
                <a:ext cx="9755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＋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0081820-7717-617E-414D-9795A5CCF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780" y="5255575"/>
                <a:ext cx="97551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DE5EB4F-0821-B003-81CA-29E18BAC8F12}"/>
                  </a:ext>
                </a:extLst>
              </p:cNvPr>
              <p:cNvSpPr txBox="1"/>
              <p:nvPr/>
            </p:nvSpPr>
            <p:spPr>
              <a:xfrm>
                <a:off x="2741780" y="3914870"/>
                <a:ext cx="9755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ko-KR" altLang="en-US" sz="18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ko-KR" sz="1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＋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DE5EB4F-0821-B003-81CA-29E18BAC8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1780" y="3914870"/>
                <a:ext cx="97551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0D9C063-5369-C69C-E0B4-1274029A98F3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1107440" y="4099536"/>
            <a:ext cx="16343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3DB4534-49B1-6F64-BF85-5067A640AB67}"/>
              </a:ext>
            </a:extLst>
          </p:cNvPr>
          <p:cNvSpPr txBox="1"/>
          <p:nvPr/>
        </p:nvSpPr>
        <p:spPr>
          <a:xfrm>
            <a:off x="1538530" y="3669666"/>
            <a:ext cx="772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1/24</a:t>
            </a:r>
            <a:endParaRPr lang="ko-KR" altLang="en-US" sz="140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9A198041-6AC5-383B-4234-34E6192E933C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1430021" y="5440241"/>
            <a:ext cx="131175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A93524F-66A7-C4A9-9346-A4BA2CF046F1}"/>
              </a:ext>
            </a:extLst>
          </p:cNvPr>
          <p:cNvSpPr txBox="1"/>
          <p:nvPr/>
        </p:nvSpPr>
        <p:spPr>
          <a:xfrm>
            <a:off x="1619810" y="4964800"/>
            <a:ext cx="772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1/24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59895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9" grpId="0"/>
      <p:bldP spid="10" grpId="0"/>
      <p:bldP spid="11" grpId="0"/>
      <p:bldP spid="12" grpId="0"/>
      <p:bldP spid="14" grpId="0"/>
      <p:bldP spid="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660FD-E99D-D988-2B0E-5229AE05B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B9DD9F4E-0D7D-776B-7505-4C818F90F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3DB7B7C-2481-58D4-8C51-AE9453CA6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27</a:t>
            </a:fld>
            <a:endParaRPr lang="en-US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4C3E6F98-F6E9-2CB8-A4A8-C95382A9B5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113457"/>
            <a:ext cx="10876566" cy="17579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X,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에 대한 미분방정식을 만들고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시간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(t)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에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X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와 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Y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의 그래프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(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snippet</a:t>
            </a:r>
            <a:r>
              <a:rPr lang="en-US" altLang="ko-KR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)</a:t>
            </a:r>
            <a:r>
              <a:rPr lang="ko-KR" altLang="en-US" sz="19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제시하라</a:t>
            </a: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초기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정상세포와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감염세포의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수를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변경하면서 확인하라</a:t>
            </a:r>
            <a:endParaRPr lang="en-US" altLang="ko-KR" sz="17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감염률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(k)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과 감염세포의 </a:t>
            </a:r>
            <a:r>
              <a:rPr lang="ko-KR" altLang="en-US" sz="17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소멸율</a:t>
            </a:r>
            <a:r>
              <a:rPr lang="en-US" altLang="ko-KR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(d)</a:t>
            </a:r>
            <a:r>
              <a:rPr lang="ko-KR" altLang="en-US" sz="17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가 변화하면 어떤 그래프 모양인지 확인하라</a:t>
            </a:r>
            <a:endParaRPr lang="en-US" altLang="ko-KR" sz="17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9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ECBC3E-0DFD-90E3-AB55-0B8DDACFF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188" y="2871439"/>
            <a:ext cx="6333142" cy="3431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E0D2AA-2F8E-3F86-EDCA-19510A4FC9A9}"/>
              </a:ext>
            </a:extLst>
          </p:cNvPr>
          <p:cNvSpPr txBox="1"/>
          <p:nvPr/>
        </p:nvSpPr>
        <p:spPr>
          <a:xfrm>
            <a:off x="8435659" y="3986561"/>
            <a:ext cx="3756341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k = 0.1      # Reaction rate for X + Y → Y + Y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 = 0.05   # Decay rate of Y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B2B866B-E6FD-215D-D54D-20A7387A1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2134" y="2871439"/>
            <a:ext cx="870945" cy="95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9484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4AEA5-9006-EB24-FDDB-0055E87BD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D749A40-9BBB-899D-59C0-D2DF0EE64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24ADDE5-34BE-329C-8078-7E458126D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28</a:t>
            </a:fld>
            <a:endParaRPr lang="en-US" dirty="0"/>
          </a:p>
        </p:txBody>
      </p:sp>
      <p:pic>
        <p:nvPicPr>
          <p:cNvPr id="19" name="Picture 3">
            <a:extLst>
              <a:ext uri="{FF2B5EF4-FFF2-40B4-BE49-F238E27FC236}">
                <a16:creationId xmlns:a16="http://schemas.microsoft.com/office/drawing/2014/main" id="{1DA27186-1ACA-6302-0BC0-54B76F14B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3616" y="2851047"/>
            <a:ext cx="4913104" cy="3665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0" name="내용 개체 틀 2">
                <a:extLst>
                  <a:ext uri="{FF2B5EF4-FFF2-40B4-BE49-F238E27FC236}">
                    <a16:creationId xmlns:a16="http://schemas.microsoft.com/office/drawing/2014/main" id="{A86EE2C1-9794-C1FA-DDBD-72517AC7D6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5384" y="1113456"/>
                <a:ext cx="10876566" cy="1895484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24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S</a:t>
                </a:r>
                <a:r>
                  <a:rPr lang="ko-KR" altLang="en-US" sz="24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자 곡선</a:t>
                </a:r>
                <a:r>
                  <a:rPr lang="en-US" altLang="ko-KR" sz="24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(S-shape)' </a:t>
                </a:r>
                <a:r>
                  <a:rPr lang="ko-KR" altLang="en-US" sz="24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형태의 전염병 확산 모델</a:t>
                </a:r>
                <a:endParaRPr lang="en-US" altLang="ko-KR" sz="2400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  <a:sym typeface="Wingdings" panose="05000000000000000000" pitchFamily="2" charset="2"/>
                </a:endParaRP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ko-KR" altLang="en-US" sz="20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전염병 모델링에서 가장 대표적인 </a:t>
                </a:r>
                <a:r>
                  <a:rPr lang="en-US" altLang="ko-KR" sz="20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'S-</a:t>
                </a:r>
                <a:r>
                  <a:rPr lang="ko-KR" altLang="en-US" sz="20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자</a:t>
                </a:r>
                <a:r>
                  <a:rPr lang="en-US" altLang="ko-KR" sz="20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' </a:t>
                </a:r>
                <a:r>
                  <a:rPr lang="ko-KR" altLang="en-US" sz="20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곡선은 로지스틱 성장 모델</a:t>
                </a:r>
                <a:r>
                  <a:rPr lang="en-US" altLang="ko-KR" sz="20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(Logistic Growth Model)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ko-KR" altLang="en-US" sz="20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이 모델은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ko-KR" alt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dirty="0" err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ko-KR" altLang="en-US" sz="2000" i="1" dirty="0" err="1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ko-KR" altLang="en-US" sz="2000" dirty="0" err="1">
                            <a:latin typeface="Cambria Math" panose="02040503050406030204" pitchFamily="18" charset="0"/>
                          </a:rPr>
                          <m:t>ⅆ</m:t>
                        </m:r>
                        <m:r>
                          <a:rPr lang="ko-KR" altLang="en-US" sz="2000" i="1" dirty="0" err="1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ko-KR" altLang="en-US" sz="2000" dirty="0" err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ko-KR" altLang="en-US" sz="2000" i="1" dirty="0" err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ko-KR" altLang="en-US" sz="2000" i="1" dirty="0" err="1">
                            <a:latin typeface="Cambria Math" panose="02040503050406030204" pitchFamily="18" charset="0"/>
                          </a:rPr>
                          <m:t>𝑋</m:t>
                        </m:r>
                      </m:num>
                      <m:den>
                        <m:r>
                          <a:rPr lang="ko-KR" altLang="en-US" sz="2000" dirty="0" err="1"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lang="ko-KR" altLang="en-US" sz="20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와 같은 단순한 미분방정식으로 표현되지 않으며</a:t>
                </a:r>
                <a:r>
                  <a:rPr lang="en-US" altLang="ko-KR" sz="20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, </a:t>
                </a:r>
                <a:r>
                  <a:rPr lang="ko-KR" altLang="en-US" sz="20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  <a:sym typeface="Wingdings" panose="05000000000000000000" pitchFamily="2" charset="2"/>
                  </a:rPr>
                  <a:t>인구 수에 비례하여 확산 속도가 달라지는 형태</a:t>
                </a:r>
                <a:endParaRPr lang="en-US" altLang="ko-KR" sz="2000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  <a:sym typeface="Wingdings" panose="05000000000000000000" pitchFamily="2" charset="2"/>
                </a:endParaRP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endParaRPr lang="en-US" altLang="ko-KR" sz="2800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20" name="내용 개체 틀 2">
                <a:extLst>
                  <a:ext uri="{FF2B5EF4-FFF2-40B4-BE49-F238E27FC236}">
                    <a16:creationId xmlns:a16="http://schemas.microsoft.com/office/drawing/2014/main" id="{A86EE2C1-9794-C1FA-DDBD-72517AC7D6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5384" y="1113456"/>
                <a:ext cx="10876566" cy="1895484"/>
              </a:xfrm>
              <a:blipFill>
                <a:blip r:embed="rId3"/>
                <a:stretch>
                  <a:fillRect l="-224" r="-1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8153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9CA68-25FD-5A44-8B75-29A9B1393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FC0E191-BBE0-B8E7-2D67-C4E4F0136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Equation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B8A9F04-3CDC-9615-1CAC-5C9FB352D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29</a:t>
            </a:fld>
            <a:endParaRPr lang="en-US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BA7A6C9A-3EE0-44FB-5485-99F3AF260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84" y="1113457"/>
            <a:ext cx="10876566" cy="6988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S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자 곡선</a:t>
            </a:r>
            <a:r>
              <a:rPr lang="en-US" altLang="ko-KR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(S-shape)' </a:t>
            </a:r>
            <a:r>
              <a:rPr lang="ko-KR" altLang="en-US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sym typeface="Wingdings" panose="05000000000000000000" pitchFamily="2" charset="2"/>
              </a:rPr>
              <a:t>형태의 전염병 확산 모델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sym typeface="Wingdings" panose="05000000000000000000" pitchFamily="2" charset="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4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05015587-3BF1-D836-871E-92509A13F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385" y="1970212"/>
            <a:ext cx="5292048" cy="343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DDB58511-27CA-A866-3E0E-10B0F9012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5296" y="1970212"/>
            <a:ext cx="4941496" cy="343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87884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이온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3710</TotalTime>
  <Words>1013</Words>
  <Application>Microsoft Office PowerPoint</Application>
  <PresentationFormat>와이드스크린</PresentationFormat>
  <Paragraphs>168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9" baseType="lpstr">
      <vt:lpstr>D2Coding</vt:lpstr>
      <vt:lpstr>맑은 고딕</vt:lpstr>
      <vt:lpstr>맑은 고딕 Semilight</vt:lpstr>
      <vt:lpstr>Arial</vt:lpstr>
      <vt:lpstr>Cambria Math</vt:lpstr>
      <vt:lpstr>Century Gothic</vt:lpstr>
      <vt:lpstr>Times New Roman</vt:lpstr>
      <vt:lpstr>Wingdings</vt:lpstr>
      <vt:lpstr>Wingdings 3</vt:lpstr>
      <vt:lpstr>이온</vt:lpstr>
      <vt:lpstr>Modeling &amp; Simulation 3</vt:lpstr>
      <vt:lpstr>Contents</vt:lpstr>
      <vt:lpstr>Contingency_table</vt:lpstr>
      <vt:lpstr>Chi-squared_distribution</vt:lpstr>
      <vt:lpstr>Contents</vt:lpstr>
      <vt:lpstr>partial derivative</vt:lpstr>
      <vt:lpstr>Partial_derivative</vt:lpstr>
      <vt:lpstr>partial derivative</vt:lpstr>
      <vt:lpstr>total, partial derivative</vt:lpstr>
      <vt:lpstr>Jacobian Matrix</vt:lpstr>
      <vt:lpstr>back propagation, jacobian matrix</vt:lpstr>
      <vt:lpstr>back propagation, jacobian matrix</vt:lpstr>
      <vt:lpstr>back propagation, jacobian matrix</vt:lpstr>
      <vt:lpstr>Contents</vt:lpstr>
      <vt:lpstr>Prince Frog</vt:lpstr>
      <vt:lpstr>Contents</vt:lpstr>
      <vt:lpstr>Monty Hall</vt:lpstr>
      <vt:lpstr>Contents</vt:lpstr>
      <vt:lpstr>Genetic algorithm</vt:lpstr>
      <vt:lpstr>Contents</vt:lpstr>
      <vt:lpstr>Differential Equation</vt:lpstr>
      <vt:lpstr>Differential Equation</vt:lpstr>
      <vt:lpstr>Differential Equation</vt:lpstr>
      <vt:lpstr>Differential Equation</vt:lpstr>
      <vt:lpstr>Differential Equation</vt:lpstr>
      <vt:lpstr>Differential Equation</vt:lpstr>
      <vt:lpstr>Differential Equation</vt:lpstr>
      <vt:lpstr>Differential Equation</vt:lpstr>
      <vt:lpstr>Differential Equation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Sanggoo Cho</dc:creator>
  <cp:lastModifiedBy>조상구</cp:lastModifiedBy>
  <cp:revision>46</cp:revision>
  <dcterms:created xsi:type="dcterms:W3CDTF">2026-04-11T22:24:40Z</dcterms:created>
  <dcterms:modified xsi:type="dcterms:W3CDTF">2026-05-27T03:21:08Z</dcterms:modified>
</cp:coreProperties>
</file>