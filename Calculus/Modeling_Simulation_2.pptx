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40"/>
  </p:notesMasterIdLst>
  <p:sldIdLst>
    <p:sldId id="377" r:id="rId2"/>
    <p:sldId id="349" r:id="rId3"/>
    <p:sldId id="340" r:id="rId4"/>
    <p:sldId id="339" r:id="rId5"/>
    <p:sldId id="341" r:id="rId6"/>
    <p:sldId id="390" r:id="rId7"/>
    <p:sldId id="350" r:id="rId8"/>
    <p:sldId id="291" r:id="rId9"/>
    <p:sldId id="367" r:id="rId10"/>
    <p:sldId id="365" r:id="rId11"/>
    <p:sldId id="366" r:id="rId12"/>
    <p:sldId id="363" r:id="rId13"/>
    <p:sldId id="389" r:id="rId14"/>
    <p:sldId id="362" r:id="rId15"/>
    <p:sldId id="307" r:id="rId16"/>
    <p:sldId id="292" r:id="rId17"/>
    <p:sldId id="368" r:id="rId18"/>
    <p:sldId id="351" r:id="rId19"/>
    <p:sldId id="293" r:id="rId20"/>
    <p:sldId id="294" r:id="rId21"/>
    <p:sldId id="295" r:id="rId22"/>
    <p:sldId id="352" r:id="rId23"/>
    <p:sldId id="296" r:id="rId24"/>
    <p:sldId id="297" r:id="rId25"/>
    <p:sldId id="298" r:id="rId26"/>
    <p:sldId id="353" r:id="rId27"/>
    <p:sldId id="301" r:id="rId28"/>
    <p:sldId id="354" r:id="rId29"/>
    <p:sldId id="378" r:id="rId30"/>
    <p:sldId id="379" r:id="rId31"/>
    <p:sldId id="385" r:id="rId32"/>
    <p:sldId id="386" r:id="rId33"/>
    <p:sldId id="387" r:id="rId34"/>
    <p:sldId id="388" r:id="rId35"/>
    <p:sldId id="381" r:id="rId36"/>
    <p:sldId id="384" r:id="rId37"/>
    <p:sldId id="383" r:id="rId38"/>
    <p:sldId id="382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3D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lgorithm" TargetMode="External"/><Relationship Id="rId7" Type="http://schemas.openxmlformats.org/officeDocument/2006/relationships/hyperlink" Target="https://en.wikipedia.org/wiki/Deterministic_system" TargetMode="External"/><Relationship Id="rId2" Type="http://schemas.openxmlformats.org/officeDocument/2006/relationships/hyperlink" Target="https://en.wikipedia.org/wiki/Computation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Randomness" TargetMode="External"/><Relationship Id="rId5" Type="http://schemas.openxmlformats.org/officeDocument/2006/relationships/hyperlink" Target="https://en.wikipedia.org/wiki/Random_sampling" TargetMode="External"/><Relationship Id="rId4" Type="http://schemas.openxmlformats.org/officeDocument/2006/relationships/hyperlink" Target="https://en.wikipedia.org/wiki/Resampling_(statistics)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montecarlo_method.ipynb" TargetMode="External"/><Relationship Id="rId7" Type="http://schemas.openxmlformats.org/officeDocument/2006/relationships/hyperlink" Target="https://en.wikipedia.org/wiki/Random_sampling" TargetMode="Externa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Resampling_(statistics)" TargetMode="External"/><Relationship Id="rId5" Type="http://schemas.openxmlformats.org/officeDocument/2006/relationships/hyperlink" Target="https://en.wikipedia.org/wiki/Algorithm" TargetMode="External"/><Relationship Id="rId4" Type="http://schemas.openxmlformats.org/officeDocument/2006/relationships/hyperlink" Target="https://en.wikipedia.org/wiki/Computation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1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63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65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hyperlink" Target="https://github.com/ancestor9/mathematics-for-machine-learning/blob/main/scripts/Image_representation.ipynb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101ai.net/vision/conv-kernels" TargetMode="Externa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gi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github.com/ancestor9/mathematics-for-machine-learning/blob/main/scripts/Random_Walk_Simulation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60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modules/random_projection.html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AB3F2-DEE6-991C-23CD-A8EC64DC2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8B11A5-503A-4228-46AE-0C3F5000E8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sz="6600" dirty="0"/>
              <a:t>Modeling &amp; Simulation 2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68E8C11-FAC2-53E3-6B71-E8860C6F13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A260F65D-0C76-F706-43DF-259096F136A9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1675120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29AE9-7C30-B07F-300B-81A6FF90B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9C2A4D7-4595-65F6-3A4E-3BBF6FA56DB4}"/>
              </a:ext>
            </a:extLst>
          </p:cNvPr>
          <p:cNvSpPr/>
          <p:nvPr/>
        </p:nvSpPr>
        <p:spPr>
          <a:xfrm>
            <a:off x="6675438" y="146236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AD57BD3-F577-1C73-79AA-F82B036FF6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7D2CA4F-AF9C-5EA1-BE65-76D8E2EA85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17A29C-3AAA-607A-B866-8386BBF73682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649697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694E7-A744-5544-58C7-C2882DEE0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0A3DE68-AE8B-41E6-DFDC-4559466BB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05BC95B-D4F1-883B-ADF3-9823AA456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721ED5C-BFD9-7329-57E1-1330A424F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68" y="2958268"/>
            <a:ext cx="7202239" cy="22117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C6AB0B-1B07-FBA5-D476-AE21D2BAC337}"/>
              </a:ext>
            </a:extLst>
          </p:cNvPr>
          <p:cNvSpPr txBox="1"/>
          <p:nvPr/>
        </p:nvSpPr>
        <p:spPr>
          <a:xfrm>
            <a:off x="1114169" y="1628775"/>
            <a:ext cx="10076570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수송 문제 데이터 테이블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및 수급 현황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셀의 숫자는 단위당 운송 비용을 의미하며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열과 마지막 행은 각각의 공급 능력과 수요량</a:t>
            </a:r>
          </a:p>
        </p:txBody>
      </p:sp>
    </p:spTree>
    <p:extLst>
      <p:ext uri="{BB962C8B-B14F-4D97-AF65-F5344CB8AC3E}">
        <p14:creationId xmlns:p14="http://schemas.microsoft.com/office/powerpoint/2010/main" val="18972955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31F0F-A8C2-0397-A51E-6E95A3354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B39C0762-138D-E049-9615-211F9E442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74" y="1349038"/>
            <a:ext cx="9296488" cy="5070812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3C9A3A30-5671-D16C-D64A-66DA96F96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498CEB8-5617-A027-AD81-FB8B5D670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3200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04E27-679C-9FCF-4CC2-413DD3AC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31540B3-ECA6-2E04-E471-D95EA7D1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27F7D4-8A8F-0FBA-87EA-C88EC6F77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7FBE2E0-2E29-5C4E-DEB9-66764A2D6094}"/>
              </a:ext>
            </a:extLst>
          </p:cNvPr>
          <p:cNvGrpSpPr/>
          <p:nvPr/>
        </p:nvGrpSpPr>
        <p:grpSpPr>
          <a:xfrm>
            <a:off x="1115972" y="1158210"/>
            <a:ext cx="6854186" cy="5382174"/>
            <a:chOff x="1115972" y="1158210"/>
            <a:chExt cx="6854186" cy="5382174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BA86E72-6425-0EA9-4755-283C142B2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15972" y="2320809"/>
              <a:ext cx="6854186" cy="4219575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32C7BF-F2CA-3EE3-BFFF-84FBA5447D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5972" y="1158210"/>
              <a:ext cx="6853925" cy="1162599"/>
            </a:xfrm>
            <a:prstGeom prst="rect">
              <a:avLst/>
            </a:prstGeom>
          </p:spPr>
        </p:pic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8B2D94CA-A74B-2B8B-4F3F-C1960A04039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0951" y="2320809"/>
            <a:ext cx="3568998" cy="2284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4D572BC-A667-DAFC-DDA5-D22A47D1ED5E}"/>
              </a:ext>
            </a:extLst>
          </p:cNvPr>
          <p:cNvSpPr txBox="1"/>
          <p:nvPr/>
        </p:nvSpPr>
        <p:spPr>
          <a:xfrm>
            <a:off x="8400951" y="1724025"/>
            <a:ext cx="3757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선형계획법</a:t>
            </a:r>
            <a:r>
              <a:rPr lang="en-US" altLang="ko-KR" dirty="0"/>
              <a:t>(Linear Programming)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4680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8988F-9FD2-28A7-D16C-2BAA28385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CC13095-4422-1984-23CB-7B6A0F462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 fontScale="90000"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opological Data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Structures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Incident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F67D123-9514-DFE7-8FF7-F64547C5C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64266D4-F6D8-C7C7-AC8E-1551328D34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879" y="1206609"/>
            <a:ext cx="3345295" cy="368174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99B5CE0-BAA8-9C6E-5A2D-E88B7E3234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4365" y="1206609"/>
            <a:ext cx="2998925" cy="2458578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D8380CB0-F6FB-49FC-3D71-E5292D724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4365" y="4082293"/>
            <a:ext cx="3575295" cy="2080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594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96A74-E6E7-ECD7-8DD1-FF3E6F2F2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B77909E-2E56-FA46-BF2E-4A64A3E727A9}"/>
              </a:ext>
            </a:extLst>
          </p:cNvPr>
          <p:cNvSpPr/>
          <p:nvPr/>
        </p:nvSpPr>
        <p:spPr>
          <a:xfrm>
            <a:off x="6675438" y="202433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30AD9AC-B785-7358-1D90-9F8E4BB36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4BB305A-8596-83F3-8747-348D580CCF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7149DD-1A10-0B11-6E0F-2E6DE2BC52E2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708676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ABF9B-1D11-3390-0C0C-334544E2B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7ADE4C9-5D44-4C0B-E4E8-3141942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Montecarlo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CD0A05-60EA-3637-1B32-5ED51A296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E254081-038C-0151-1EAC-C8D3FE509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4608" y="1261578"/>
            <a:ext cx="10962783" cy="4348647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수많은 무작위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(Random)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숫자를 대입해 보면서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발생할 수 있는 복잡한 결과의 확률적 분포를 알아내는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 공식이나 방정식으로 명확한 답을 내리기 어려울 정도로 불확실성이 크거나 변수가 많을 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컴퓨터에게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주사위를 수만 번 던지게 해서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 통계적인 결과로 정답을 찾아가는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아주 똑똑한 노가다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(Brute Force Algorithm)</a:t>
            </a: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en-US" altLang="ko-KR" b="1" dirty="0"/>
              <a:t>Monte Carlo methods</a:t>
            </a:r>
            <a:r>
              <a:rPr lang="en-US" altLang="ko-KR" dirty="0"/>
              <a:t>, also called the </a:t>
            </a:r>
            <a:r>
              <a:rPr lang="en-US" altLang="ko-KR" b="1" dirty="0"/>
              <a:t>Monte Carlo experiments</a:t>
            </a:r>
            <a:r>
              <a:rPr lang="en-US" altLang="ko-KR" dirty="0"/>
              <a:t> or </a:t>
            </a:r>
            <a:r>
              <a:rPr lang="en-US" altLang="ko-KR" b="1" dirty="0"/>
              <a:t>Monte Carlo simulations</a:t>
            </a:r>
            <a:r>
              <a:rPr lang="en-US" altLang="ko-KR" dirty="0"/>
              <a:t>, are a broad class of </a:t>
            </a:r>
            <a:r>
              <a:rPr lang="en-US" altLang="ko-KR" dirty="0">
                <a:hlinkClick r:id="rId2" tooltip="Computation"/>
              </a:rPr>
              <a:t>computational</a:t>
            </a:r>
            <a:r>
              <a:rPr lang="en-US" altLang="ko-KR" dirty="0"/>
              <a:t> </a:t>
            </a:r>
            <a:r>
              <a:rPr lang="en-US" altLang="ko-KR" dirty="0">
                <a:hlinkClick r:id="rId3" tooltip="Algorithm"/>
              </a:rPr>
              <a:t>algorithms</a:t>
            </a:r>
            <a:r>
              <a:rPr lang="en-US" altLang="ko-KR" dirty="0"/>
              <a:t> based on </a:t>
            </a:r>
            <a:r>
              <a:rPr lang="en-US" altLang="ko-KR" sz="2200" b="1" dirty="0">
                <a:solidFill>
                  <a:srgbClr val="FF0000"/>
                </a:solidFill>
                <a:hlinkClick r:id="rId4" tooltip="Resampling (statis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repeated</a:t>
            </a:r>
            <a:r>
              <a:rPr lang="en-US" altLang="ko-KR" sz="2200" b="1" dirty="0">
                <a:solidFill>
                  <a:srgbClr val="FF0000"/>
                </a:solidFill>
              </a:rPr>
              <a:t> </a:t>
            </a:r>
            <a:r>
              <a:rPr lang="en-US" altLang="ko-KR" sz="2200" b="1" dirty="0">
                <a:solidFill>
                  <a:srgbClr val="FF0000"/>
                </a:solidFill>
                <a:hlinkClick r:id="rId5" tooltip="Random sampl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sampling</a:t>
            </a:r>
            <a:r>
              <a:rPr lang="en-US" altLang="ko-KR" sz="2200" b="1" dirty="0">
                <a:solidFill>
                  <a:srgbClr val="FF0000"/>
                </a:solidFill>
              </a:rPr>
              <a:t> </a:t>
            </a:r>
            <a:r>
              <a:rPr lang="en-US" altLang="ko-KR" dirty="0"/>
              <a:t>for obtaining numerical results. The underlying concept is to use </a:t>
            </a:r>
            <a:r>
              <a:rPr lang="en-US" altLang="ko-KR" dirty="0">
                <a:hlinkClick r:id="rId6" tooltip="Randomness"/>
              </a:rPr>
              <a:t>randomness</a:t>
            </a:r>
            <a:r>
              <a:rPr lang="en-US" altLang="ko-KR" dirty="0"/>
              <a:t> to solve </a:t>
            </a:r>
            <a:r>
              <a:rPr lang="en-US" altLang="ko-KR" dirty="0">
                <a:hlinkClick r:id="rId7" tooltip="Deterministic system"/>
              </a:rPr>
              <a:t>deterministic</a:t>
            </a:r>
            <a:r>
              <a:rPr lang="en-US" altLang="ko-KR" dirty="0"/>
              <a:t> problems. 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en-US" altLang="ko-KR" dirty="0"/>
              <a:t>(Wikipedia)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5549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521A-B01B-FF2E-FACB-441C57859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456858D-67E0-A8F4-729F-A1E3789BF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Montecarlo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6B8D633-2C7C-F8E0-6516-FABE7D7BC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9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C997C98-B8D3-098E-BC84-FFD20EF1CE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25" y="1714500"/>
            <a:ext cx="60960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F15DA4A-456C-CBBA-4E0E-3B57A345BCBC}"/>
              </a:ext>
            </a:extLst>
          </p:cNvPr>
          <p:cNvSpPr txBox="1"/>
          <p:nvPr/>
        </p:nvSpPr>
        <p:spPr>
          <a:xfrm>
            <a:off x="915383" y="1219200"/>
            <a:ext cx="3975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3"/>
              </a:rPr>
              <a:t>scripts/</a:t>
            </a:r>
            <a:r>
              <a:rPr lang="en-US" altLang="ko-KR" dirty="0" err="1">
                <a:hlinkClick r:id="rId3"/>
              </a:rPr>
              <a:t>montecarlo_method.ipynb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AE53D0-3F30-C4A3-1C46-D2F463AB817D}"/>
              </a:ext>
            </a:extLst>
          </p:cNvPr>
          <p:cNvSpPr txBox="1"/>
          <p:nvPr/>
        </p:nvSpPr>
        <p:spPr>
          <a:xfrm>
            <a:off x="7305675" y="2256622"/>
            <a:ext cx="4800600" cy="1728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dirty="0">
                <a:hlinkClick r:id="rId4" tooltip="Computation"/>
              </a:rPr>
              <a:t>computational</a:t>
            </a:r>
            <a:r>
              <a:rPr lang="en-US" altLang="ko-KR" dirty="0"/>
              <a:t> </a:t>
            </a:r>
            <a:r>
              <a:rPr lang="en-US" altLang="ko-KR" dirty="0">
                <a:hlinkClick r:id="rId5" tooltip="Algorithm"/>
              </a:rPr>
              <a:t>algorithms</a:t>
            </a:r>
            <a:r>
              <a:rPr lang="en-US" altLang="ko-KR" dirty="0"/>
              <a:t> </a:t>
            </a:r>
          </a:p>
          <a:p>
            <a:pPr>
              <a:lnSpc>
                <a:spcPct val="200000"/>
              </a:lnSpc>
            </a:pPr>
            <a:r>
              <a:rPr lang="en-US" altLang="ko-KR" dirty="0"/>
              <a:t>based on </a:t>
            </a:r>
            <a:r>
              <a:rPr lang="en-US" altLang="ko-KR" sz="2000" b="1" dirty="0">
                <a:solidFill>
                  <a:srgbClr val="FF0000"/>
                </a:solidFill>
                <a:hlinkClick r:id="rId6" tooltip="Resampling (statis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repeated</a:t>
            </a:r>
            <a:r>
              <a:rPr lang="en-US" altLang="ko-KR" sz="2000" b="1" dirty="0">
                <a:solidFill>
                  <a:srgbClr val="FF0000"/>
                </a:solidFill>
              </a:rPr>
              <a:t> </a:t>
            </a:r>
            <a:r>
              <a:rPr lang="en-US" altLang="ko-KR" sz="2000" b="1" dirty="0">
                <a:solidFill>
                  <a:srgbClr val="FF0000"/>
                </a:solidFill>
                <a:hlinkClick r:id="rId7" tooltip="Random sampl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sampling</a:t>
            </a:r>
            <a:r>
              <a:rPr lang="en-US" altLang="ko-KR" sz="2000" b="1" dirty="0">
                <a:solidFill>
                  <a:srgbClr val="FF0000"/>
                </a:solidFill>
              </a:rPr>
              <a:t> </a:t>
            </a:r>
          </a:p>
          <a:p>
            <a:pPr>
              <a:lnSpc>
                <a:spcPct val="200000"/>
              </a:lnSpc>
            </a:pPr>
            <a:r>
              <a:rPr lang="en-US" altLang="ko-KR" dirty="0"/>
              <a:t>for obtaining numerical results.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51063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F6757-A0EA-711D-A697-8F6124A18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D4929C2-0AB6-4650-74DF-6DB99B74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0CBB2D0-6737-1F36-562E-2C493D60A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DE096E-41CF-DF10-C586-715EC0041847}"/>
              </a:ext>
            </a:extLst>
          </p:cNvPr>
          <p:cNvSpPr txBox="1"/>
          <p:nvPr/>
        </p:nvSpPr>
        <p:spPr>
          <a:xfrm>
            <a:off x="1000973" y="2857035"/>
            <a:ext cx="5571278" cy="3539430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sims = 1000000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wait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15, sims)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mean_wait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(wait)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prob_10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(wait &gt;= 10)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=(8,5))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plt.hist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(wait, bins=30, density=True,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edgecolor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='white')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plt.axvline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color='red')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plt.title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("Bus Waiting Time Distribution")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plt.xlabel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("Waiting Time (minutes)")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plt.ylabel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("Density")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6FBC77F-810C-1744-F332-509C62D6F7B7}"/>
                  </a:ext>
                </a:extLst>
              </p:cNvPr>
              <p:cNvSpPr txBox="1"/>
              <p:nvPr/>
            </p:nvSpPr>
            <p:spPr>
              <a:xfrm>
                <a:off x="915383" y="1238250"/>
                <a:ext cx="10828942" cy="8705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균등분포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(Uniform Distribution)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확률 분석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통학 버스가 정확히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간격으로 도착할 경우 임의의 시간에 정류장에 도착한다고 가정하면 평균 기다리는 시간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𝑊</m:t>
                    </m:r>
                  </m:oMath>
                </a14:m>
                <a:r>
                  <a:rPr lang="en-US" altLang="ko-KR" dirty="0"/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10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이상 기다리는 확률을 구하라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6FBC77F-810C-1744-F332-509C62D6F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1238250"/>
                <a:ext cx="10828942" cy="870559"/>
              </a:xfrm>
              <a:prstGeom prst="rect">
                <a:avLst/>
              </a:prstGeom>
              <a:blipFill>
                <a:blip r:embed="rId2"/>
                <a:stretch>
                  <a:fillRect l="-450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4C1C48-CC51-1AC4-930A-14868A389F75}"/>
                  </a:ext>
                </a:extLst>
              </p:cNvPr>
              <p:cNvSpPr txBox="1"/>
              <p:nvPr/>
            </p:nvSpPr>
            <p:spPr>
              <a:xfrm>
                <a:off x="6092264" y="2256870"/>
                <a:ext cx="301857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𝑊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∼ Uniform(0, 15)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4C1C48-CC51-1AC4-930A-14868A389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2264" y="2256870"/>
                <a:ext cx="3018577" cy="369332"/>
              </a:xfrm>
              <a:prstGeom prst="rect">
                <a:avLst/>
              </a:prstGeom>
              <a:blipFill>
                <a:blip r:embed="rId3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6AA5D543-61FF-2B27-FF4C-3883A9FFB2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4175" y="2853437"/>
            <a:ext cx="5271491" cy="3539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86296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26289-E7C5-E8B2-31C5-301C79902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8D61ACC-6369-6D07-77DA-84CE632EF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E6A6FF1-7C31-76DB-57B6-9F2389E37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18DAFA-1122-758D-18C0-C17DD9ED4073}"/>
              </a:ext>
            </a:extLst>
          </p:cNvPr>
          <p:cNvSpPr txBox="1"/>
          <p:nvPr/>
        </p:nvSpPr>
        <p:spPr>
          <a:xfrm>
            <a:off x="1000973" y="2857035"/>
            <a:ext cx="5571278" cy="3108543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sims = 1000000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5, sims)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6, sims)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duration = A + B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plt.hist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duration,density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True,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edgecolor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='white')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plt.axvline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(9, color='r')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print((duration &gt; 9).sum()/sims)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71ACD6A-9A84-FDF9-6B81-FD4FE0EE195D}"/>
                  </a:ext>
                </a:extLst>
              </p:cNvPr>
              <p:cNvSpPr txBox="1"/>
              <p:nvPr/>
            </p:nvSpPr>
            <p:spPr>
              <a:xfrm>
                <a:off x="915383" y="1238250"/>
                <a:ext cx="10828942" cy="12860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균등분포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(Uniform Distribution)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합의 확률 분석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어떤 작업은 두 단계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이루어지는데 단계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소요시간은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1~5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사이에서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단계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소요시간은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2~6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사이에서 각각 균등하게 발생할 경우 전체 작업 시간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+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 이상일 확률을 구하라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71ACD6A-9A84-FDF9-6B81-FD4FE0EE1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1238250"/>
                <a:ext cx="10828942" cy="1286058"/>
              </a:xfrm>
              <a:prstGeom prst="rect">
                <a:avLst/>
              </a:prstGeom>
              <a:blipFill>
                <a:blip r:embed="rId2"/>
                <a:stretch>
                  <a:fillRect l="-450" b="-66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A96C89DA-F251-A96D-2175-7F13E49F8E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3152" y="2857035"/>
            <a:ext cx="4184867" cy="3108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69108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371AE-A305-E146-7873-AFB6589C7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C26F222-72AF-FDC5-8B60-5BA9D3629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F3E82D9-4F61-E75C-27B9-5BE961C27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C7391454-8B09-622C-E59D-96B0DF5D42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8048496"/>
              </p:ext>
            </p:extLst>
          </p:nvPr>
        </p:nvGraphicFramePr>
        <p:xfrm>
          <a:off x="1060449" y="2026038"/>
          <a:ext cx="2844804" cy="238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4134">
                  <a:extLst>
                    <a:ext uri="{9D8B030D-6E8A-4147-A177-3AD203B41FA5}">
                      <a16:colId xmlns:a16="http://schemas.microsoft.com/office/drawing/2014/main" val="1464939122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622014842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186541205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1698163927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3034248227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1182341501"/>
                    </a:ext>
                  </a:extLst>
                </a:gridCol>
              </a:tblGrid>
              <a:tr h="39788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105601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4182599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154359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031032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10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highlight>
                          <a:srgbClr val="0000FF"/>
                        </a:highlight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6570330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11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highlight>
                          <a:srgbClr val="0000FF"/>
                        </a:highlight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11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highlight>
                          <a:srgbClr val="0000FF"/>
                        </a:highlight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69261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C85782-433C-A624-77C5-1952CAF0286B}"/>
                  </a:ext>
                </a:extLst>
              </p:cNvPr>
              <p:cNvSpPr txBox="1"/>
              <p:nvPr/>
            </p:nvSpPr>
            <p:spPr>
              <a:xfrm>
                <a:off x="915383" y="1238250"/>
                <a:ext cx="10828942" cy="455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확률변수의 합의 확률변수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+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합성곱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(convolution)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CNN(Convolutional Neural Network)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C85782-433C-A624-77C5-1952CAF02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1238250"/>
                <a:ext cx="10828942" cy="455061"/>
              </a:xfrm>
              <a:prstGeom prst="rect">
                <a:avLst/>
              </a:prstGeom>
              <a:blipFill>
                <a:blip r:embed="rId2"/>
                <a:stretch>
                  <a:fillRect b="-21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그림 16">
            <a:extLst>
              <a:ext uri="{FF2B5EF4-FFF2-40B4-BE49-F238E27FC236}">
                <a16:creationId xmlns:a16="http://schemas.microsoft.com/office/drawing/2014/main" id="{4F8EFD58-27C5-1565-14B7-0184A66FE64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906266" y="1975168"/>
            <a:ext cx="3866260" cy="4704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2551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F9BBC-013A-5D6B-9809-C5DDEF5BF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0321A05-D855-CE61-06A6-C7F6EFB6463C}"/>
              </a:ext>
            </a:extLst>
          </p:cNvPr>
          <p:cNvCxnSpPr/>
          <p:nvPr/>
        </p:nvCxnSpPr>
        <p:spPr>
          <a:xfrm>
            <a:off x="5057775" y="3076575"/>
            <a:ext cx="39909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제목 1">
            <a:extLst>
              <a:ext uri="{FF2B5EF4-FFF2-40B4-BE49-F238E27FC236}">
                <a16:creationId xmlns:a16="http://schemas.microsoft.com/office/drawing/2014/main" id="{B6D0278B-C871-6F1C-F2ED-8DC9F21FB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4F600C5-080A-9972-A8A0-E9B40F0FB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922C13-FD7E-9828-C69A-FFFC61A44B86}"/>
              </a:ext>
            </a:extLst>
          </p:cNvPr>
          <p:cNvSpPr txBox="1"/>
          <p:nvPr/>
        </p:nvSpPr>
        <p:spPr>
          <a:xfrm>
            <a:off x="915383" y="1238250"/>
            <a:ext cx="3361342" cy="455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solidFill>
                  <a:srgbClr val="FFFF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Image_representation.ipynb</a:t>
            </a:r>
            <a:endParaRPr lang="ko-KR" altLang="en-US" dirty="0">
              <a:solidFill>
                <a:srgbClr val="FFFF0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5F7E36-85A9-960E-11A7-BA3CA501A0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385" y="1861559"/>
            <a:ext cx="1778830" cy="187943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94D23789-463A-057F-8DB7-DBC853881D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4646" y="1861559"/>
            <a:ext cx="1778831" cy="187943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B58CF572-A9CA-2574-258C-F5DF5BD662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1908" y="1861559"/>
            <a:ext cx="1778831" cy="18794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4A6F06-80E2-6302-BC79-973DA112F75D}"/>
              </a:ext>
            </a:extLst>
          </p:cNvPr>
          <p:cNvSpPr txBox="1"/>
          <p:nvPr/>
        </p:nvSpPr>
        <p:spPr>
          <a:xfrm>
            <a:off x="1002348" y="4019550"/>
            <a:ext cx="1593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FF00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conv-kernels</a:t>
            </a:r>
            <a:endParaRPr lang="ko-KR" altLang="en-US" dirty="0">
              <a:solidFill>
                <a:srgbClr val="FFFF00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FFA08F-367B-42D4-C78D-93FF5AE962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7385" y="4429125"/>
            <a:ext cx="4509290" cy="209109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18F16BA-8F7F-8799-CE1D-C125934983C7}"/>
              </a:ext>
            </a:extLst>
          </p:cNvPr>
          <p:cNvSpPr txBox="1"/>
          <p:nvPr/>
        </p:nvSpPr>
        <p:spPr>
          <a:xfrm>
            <a:off x="4885938" y="2647386"/>
            <a:ext cx="1208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convolution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624088-690D-FAE1-A189-A08F769286F6}"/>
              </a:ext>
            </a:extLst>
          </p:cNvPr>
          <p:cNvSpPr txBox="1"/>
          <p:nvPr/>
        </p:nvSpPr>
        <p:spPr>
          <a:xfrm>
            <a:off x="8354320" y="2647386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pooling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87978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BBC28-E343-3EC9-71CA-AB663FCF5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0A8C696-895D-C6E6-C9DA-9817BB984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E0D118D-6E80-4688-6D49-D2D08A8D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B11978B-6E15-7CB6-94B3-05A4B5D0B4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</p:spPr>
            <p:txBody>
              <a:bodyPr>
                <a:normAutofit fontScale="92500" lnSpcReduction="10000"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지금이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원의 둘레가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둘레를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(0.5, 0)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시작벡터로 부터 아주 작은 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(epsilon=0.00001)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이동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한 새로운 벡터와의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거리를 무수히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(100_000)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생성하여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누적거리를 구하는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적분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모의실험으로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math.sqrt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이외 원의 방정식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np.pi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등 어떠한 공식도 사용하지 마라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수치해석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(Numerical Analysis)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만을 사용하여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구하는 코드를 제시하라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  <a:blipFill>
                <a:blip r:embed="rId2"/>
                <a:stretch>
                  <a:fillRect l="-222" b="-2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그룹 18">
            <a:extLst>
              <a:ext uri="{FF2B5EF4-FFF2-40B4-BE49-F238E27FC236}">
                <a16:creationId xmlns:a16="http://schemas.microsoft.com/office/drawing/2014/main" id="{09579038-E13D-D991-40D1-55EA84023D52}"/>
              </a:ext>
            </a:extLst>
          </p:cNvPr>
          <p:cNvGrpSpPr/>
          <p:nvPr/>
        </p:nvGrpSpPr>
        <p:grpSpPr>
          <a:xfrm>
            <a:off x="6362700" y="4076700"/>
            <a:ext cx="1266825" cy="1266825"/>
            <a:chOff x="7572375" y="3219450"/>
            <a:chExt cx="1266825" cy="1266825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AB6EF399-39DC-FDA3-9D9A-860347DEA39F}"/>
                </a:ext>
              </a:extLst>
            </p:cNvPr>
            <p:cNvSpPr/>
            <p:nvPr/>
          </p:nvSpPr>
          <p:spPr>
            <a:xfrm>
              <a:off x="7572375" y="3219450"/>
              <a:ext cx="1266825" cy="1266825"/>
            </a:xfrm>
            <a:prstGeom prst="ellipse">
              <a:avLst/>
            </a:prstGeom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C76968DB-6CB1-FCCB-4542-56E86B63398F}"/>
                </a:ext>
              </a:extLst>
            </p:cNvPr>
            <p:cNvCxnSpPr>
              <a:stCxn id="20" idx="0"/>
              <a:endCxn id="20" idx="4"/>
            </p:cNvCxnSpPr>
            <p:nvPr/>
          </p:nvCxnSpPr>
          <p:spPr>
            <a:xfrm>
              <a:off x="8205788" y="3219450"/>
              <a:ext cx="0" cy="12668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752005EC-171E-A258-B6A3-337E6C4D4009}"/>
              </a:ext>
            </a:extLst>
          </p:cNvPr>
          <p:cNvCxnSpPr>
            <a:cxnSpLocks/>
            <a:stCxn id="20" idx="4"/>
          </p:cNvCxnSpPr>
          <p:nvPr/>
        </p:nvCxnSpPr>
        <p:spPr>
          <a:xfrm flipH="1">
            <a:off x="2800350" y="5343525"/>
            <a:ext cx="4195763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0B46FFD-A1C4-3EF1-AA5F-BA30250E559F}"/>
              </a:ext>
            </a:extLst>
          </p:cNvPr>
          <p:cNvSpPr txBox="1"/>
          <p:nvPr/>
        </p:nvSpPr>
        <p:spPr>
          <a:xfrm>
            <a:off x="3486150" y="5486400"/>
            <a:ext cx="3438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3.142857…… </a:t>
            </a:r>
            <a:r>
              <a:rPr lang="ko-KR" altLang="en-US" dirty="0" err="1"/>
              <a:t>무한소수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8D498B4-E8BE-C00F-62B5-AD3BC19E47AF}"/>
              </a:ext>
            </a:extLst>
          </p:cNvPr>
          <p:cNvSpPr txBox="1"/>
          <p:nvPr/>
        </p:nvSpPr>
        <p:spPr>
          <a:xfrm>
            <a:off x="7781925" y="4525446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지름 </a:t>
            </a:r>
            <a:r>
              <a:rPr lang="en-US" altLang="ko-KR" dirty="0"/>
              <a:t>=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18653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C214-9933-926A-13AA-0354966F2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7082A12-E8F3-58A3-ACF8-CED699B7F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6B4DB0A-17C7-A23E-2C07-5A3B447A2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7242DE-AAA7-83AF-EDD0-651EF4E51900}"/>
              </a:ext>
            </a:extLst>
          </p:cNvPr>
          <p:cNvSpPr txBox="1"/>
          <p:nvPr/>
        </p:nvSpPr>
        <p:spPr>
          <a:xfrm>
            <a:off x="1009650" y="1235438"/>
            <a:ext cx="5638800" cy="5262979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math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epsilon = 0.000001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0; steps = 0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0.5  # (1, 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</a:t>
            </a:r>
          </a:p>
          <a:p>
            <a:pPr>
              <a:buNone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while x &gt; 0.0: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max(x - epsilon, 0.0)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단위원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y = sqrt(1 - x²)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y1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x**2)    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y2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**2)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두 점 사이의 거리</a:t>
            </a:r>
          </a:p>
          <a:p>
            <a:pPr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x)**2 + (y2 - y1)**2)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steps += 1; 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총 단계 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{steps:,}")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누적 거리 합계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{total_distance:.10f}")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원주율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*4:.10f}")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6C5AAAD-1C32-4FE1-C2CC-B9A0966AE0F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48450" y="1561854"/>
            <a:ext cx="4019550" cy="373429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B9F3531-27D9-88A2-80DE-10FDA2257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450" y="5821859"/>
            <a:ext cx="2217612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18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EC55-F36C-3EF2-2A0C-64ED17F2E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FF3D9CF-184B-D96E-5B39-928DB519C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0CE090A-EAEA-05A5-AD9E-3C906FDE2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p:pic>
        <p:nvPicPr>
          <p:cNvPr id="5122" name="Picture 2" descr="undefined">
            <a:extLst>
              <a:ext uri="{FF2B5EF4-FFF2-40B4-BE49-F238E27FC236}">
                <a16:creationId xmlns:a16="http://schemas.microsoft.com/office/drawing/2014/main" id="{599656F1-1AE4-0E0A-C4A6-9536C9F1BA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6963" y="1412997"/>
            <a:ext cx="4090987" cy="4836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81454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FB1A1-2F32-AFF2-8AD4-5F61A8103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F1C0053-34DC-C83A-5E7B-3C793C7A8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4C7C5E6-E407-DFBA-6AA8-82665258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06050766-8508-04E0-2D82-0BC2E51CC4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피타고라스 정리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원주율을 구하는 모의실험 코드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넓이는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np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pi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  <a:blipFill>
                <a:blip r:embed="rId2"/>
                <a:stretch>
                  <a:fillRect l="-2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2">
            <a:extLst>
              <a:ext uri="{FF2B5EF4-FFF2-40B4-BE49-F238E27FC236}">
                <a16:creationId xmlns:a16="http://schemas.microsoft.com/office/drawing/2014/main" id="{9C63E928-990D-DF12-476C-86ABF649F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46" y="2473875"/>
            <a:ext cx="4037993" cy="397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18F465B-65F1-380F-A7B2-1E92437D0265}"/>
              </a:ext>
            </a:extLst>
          </p:cNvPr>
          <p:cNvSpPr txBox="1"/>
          <p:nvPr/>
        </p:nvSpPr>
        <p:spPr>
          <a:xfrm>
            <a:off x="1029816" y="2473874"/>
            <a:ext cx="6462738" cy="397031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10_000_000  # 점의 개수 (많을수록 정확)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-1~1 사이의 무작위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좌표 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원점으로부터의 거리가 1 이하인 점 = 원 안의 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x² + y² &lt;= 1  (피타고라스, π 사용 안 함!)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&lt;=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π 추정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4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f”점의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개수       : {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안의 점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f"추정된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π        : {pi_estimate:.6f}")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f"오차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abs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):.6f}")</a:t>
            </a:r>
          </a:p>
        </p:txBody>
      </p:sp>
    </p:spTree>
    <p:extLst>
      <p:ext uri="{BB962C8B-B14F-4D97-AF65-F5344CB8AC3E}">
        <p14:creationId xmlns:p14="http://schemas.microsoft.com/office/powerpoint/2010/main" val="3771493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02A79-796A-0F10-5D7A-359C27CA0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58EAB55-435E-BC4B-21DF-B42E24C2B53B}"/>
              </a:ext>
            </a:extLst>
          </p:cNvPr>
          <p:cNvSpPr/>
          <p:nvPr/>
        </p:nvSpPr>
        <p:spPr>
          <a:xfrm>
            <a:off x="6675438" y="258631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1933D5E-E3BA-0614-F4DE-8015CDB02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BB4E0AA-C5D0-0DF2-497C-52627462CE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5E2C09-4E17-4E54-B633-A4780891D6C7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26528427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23459-BD75-D432-BEA6-9C6B123A3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85B3A8F-D9A1-03BF-1557-049F22586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58E022B-9CC7-3B06-E4F6-08C204E0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730D7B2-8F11-9986-6A3C-3F54951EE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 fontScale="70000" lnSpcReduction="2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단순 랜덤 워크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(1D Simple Random Walk) –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 던지기처럼 앞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(+1)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또는 뒤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(-1)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로만 움직이는 가장 기본인 형태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이산적 이동으로 매 스텝마다 이동 거리가 항상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±1</a:t>
            </a: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움직임이 고정된 크기로 제한됨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격자 위를 한 칸씩 움직이는 형태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A39BC9-5604-0C54-A656-E0F72C6BDD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537" y="3376095"/>
            <a:ext cx="4973727" cy="271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D212A4-8B49-3B6C-41A2-7EBEAC85AD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943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48632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5E0C-50BB-F1AE-B91D-CD7055D90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A0B489-DABD-8485-0D53-A3B6771C7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9166B6-5390-D265-7029-AF1A7582C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CBE3884-90D6-4205-75DE-61E2FC35D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아래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모의실험을 베르누이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Galton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Board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비교하여 이해하자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?, single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walk ?,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명이 술이 취해 걸으면 최종 어디에 많이 모일까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2392AE-FBAA-4939-6C80-3CA05F333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4779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F9228610-B44F-2299-857C-27601FB50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3316" y="2549890"/>
            <a:ext cx="2671321" cy="35373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/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063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797F-FEEC-B823-2382-603B8BB02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EAB4AD8-69CE-0704-0F78-6C114454C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7B1CB07-4400-6BC2-0FC5-1EE76D147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1BFFC1A-4A14-F3B6-2AC3-14C41FE78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2"/>
            <a:ext cx="10876566" cy="152313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</a:t>
            </a:r>
            <a:r>
              <a:rPr lang="en-US" altLang="ko-KR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Guassian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 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(Normal Distribution)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이용한 랜덤 워크는 </a:t>
            </a:r>
            <a:r>
              <a:rPr lang="ko-KR" altLang="en-US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(Gaussian Random Walk)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하며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수학적으로는 브라운 운동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(Brownian Motion)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기초가 되는 모델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연속적 이동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기반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이동 거리가 정규분포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모양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따름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대부분은 작게 움직이고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가끔 크게 이동하는 경우도 발생하며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세계 물리현상과 유사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781F12-DB99-FB5B-6A78-64FED969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981" y="2899845"/>
            <a:ext cx="8025132" cy="34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B7DE6F-6543-1CC5-84B7-38595329BB8F}"/>
              </a:ext>
            </a:extLst>
          </p:cNvPr>
          <p:cNvSpPr txBox="1"/>
          <p:nvPr/>
        </p:nvSpPr>
        <p:spPr>
          <a:xfrm>
            <a:off x="8829040" y="3533988"/>
            <a:ext cx="3362960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미세 입자의 확산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브라운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i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주식 가격 변동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분자 운동의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327584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6D3E2-09AF-E87A-3CEF-46469A2F9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7CBD2D5-840A-1939-F816-4425D53FB31A}"/>
              </a:ext>
            </a:extLst>
          </p:cNvPr>
          <p:cNvSpPr/>
          <p:nvPr/>
        </p:nvSpPr>
        <p:spPr>
          <a:xfrm>
            <a:off x="6675438" y="311971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4713121-1123-AB5E-8834-F2E150E5B4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821A264-37CD-7155-DFB4-1E36854863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2DEA79-31F4-8A1B-6DCF-5EFBEC55E61F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20078135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55D3D-F194-FF2A-491A-8A873F610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556CE03-35F1-D046-0275-50A16140E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C66212E-BB83-C661-6D65-CD05B909E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189BD10-8DA1-300F-CA8B-0DC91F762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Bootstrap Sample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이란 무엇인가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68706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857D7-1344-B58A-BDD9-A140227A3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74E3F93-3B37-62D8-BEBE-62D5FAAA9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BA0B4F5-DAE4-3303-FB32-9B2A9096C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1828D43-DDF9-E3DE-4276-FB4399E64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6480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DEF33-47B2-9FEA-0544-DA97EB82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F05D532-A9FD-B5D3-594E-38DF47B5D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DFD7C5-1C3C-76A3-3F1E-1B278F95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데이터셋의 크기가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일 때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원본 데이터에서 한 번 뽑은 데이터를 다시 넣고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복원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무작위로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번 추출하여 만든 새로운 샘플</a:t>
                </a:r>
                <a:endParaRPr lang="en-US" altLang="ko-KR" sz="18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중복 허용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동일한 데이터가 한 샘플 내에 여러 번 포함될 수 있음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미포함 데이터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확률적으로 원본 데이터의 약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36.8%(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1600" i="0" dirty="0" smtClean="0">
                            <a:latin typeface="Cambria Math" panose="02040503050406030204" pitchFamily="18" charset="0"/>
                          </a:rPr>
                          <m:t>ⅇ</m:t>
                        </m:r>
                      </m:den>
                    </m:f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샘플에 포함되지 않는데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이를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OOB(Out-Of-Bag)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데이터라고 부르며 모델 검증용으로 활용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수치는 앞서 질문하신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선물을 못 받을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동일한 원리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en-US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Randomforest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모델의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</a:t>
                </a: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  <a:blipFill>
                <a:blip r:embed="rId2"/>
                <a:stretch>
                  <a:fillRect l="-1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그림 1">
            <a:extLst>
              <a:ext uri="{FF2B5EF4-FFF2-40B4-BE49-F238E27FC236}">
                <a16:creationId xmlns:a16="http://schemas.microsoft.com/office/drawing/2014/main" id="{83CD8436-2625-8128-83C4-23CE8FC95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862" y="3992687"/>
            <a:ext cx="5402483" cy="25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0491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FC7FC-0CD9-5C7C-DE74-4FB035E7B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BF7A0C5-DD05-C63B-13F9-7B6465BBBCED}"/>
              </a:ext>
            </a:extLst>
          </p:cNvPr>
          <p:cNvSpPr/>
          <p:nvPr/>
        </p:nvSpPr>
        <p:spPr>
          <a:xfrm>
            <a:off x="6675438" y="368168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C3B27C3-6565-5210-D21B-A3E71852F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795D255-9E96-EFD1-672F-B6114570CB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1ED29F-AD7A-AB68-9614-D207587A7F1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2170241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2A364-1EBD-2EFD-D6BE-937CE143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CE9BC93-DDED-5445-834E-7678C8B6B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Theorm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D45968-6723-E03D-AD24-9D29D29A0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6F887F-AE8F-1464-9EC1-7F7674022CBB}"/>
              </a:ext>
            </a:extLst>
          </p:cNvPr>
          <p:cNvSpPr txBox="1"/>
          <p:nvPr/>
        </p:nvSpPr>
        <p:spPr>
          <a:xfrm>
            <a:off x="551384" y="2916953"/>
            <a:ext cx="11377264" cy="31840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학습의 안정성 확보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 , Cross-Entropy, Log-loss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학습이 가능한 이유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=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작은 샘플 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CLT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없이는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 없음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교차검증을 통한 모델의 평가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accuracy/loss,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 평균 등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적용으로 이  평균들은 → 정규분포 근사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 신뢰구간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비교 가능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A/B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테스트와 실험 설계의 핵심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광고 효과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추천 알고리즘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UI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개선 효과 측정  등 전부 평균 비교 문제로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덕분에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평균 차이 → 정규분포 근사 →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 가능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7BBF2C-6413-4582-67FA-848627AD4379}"/>
              </a:ext>
            </a:extLst>
          </p:cNvPr>
          <p:cNvSpPr txBox="1"/>
          <p:nvPr/>
        </p:nvSpPr>
        <p:spPr>
          <a:xfrm>
            <a:off x="551384" y="1656979"/>
            <a:ext cx="1137726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중심극한정리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불규칙하지만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평균은 예측 가능하다 → 그래서 학습이 가능하다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접목하는 내용을 모의실험으로 파이썬 코드로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64333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A5C1-2232-559A-62DE-2FBFA002A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228FC41-607D-36E2-DD9F-8BFF042CC5E2}"/>
              </a:ext>
            </a:extLst>
          </p:cNvPr>
          <p:cNvSpPr/>
          <p:nvPr/>
        </p:nvSpPr>
        <p:spPr>
          <a:xfrm>
            <a:off x="6675438" y="423413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014E5E-1BD5-36AF-7F78-7E6022C5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C439E0B-0E1C-0A2A-CB51-B3FB7FB141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26F26C-37B9-0223-D76C-22FFA0464397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40831112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4ED88-3EEB-78DD-EFF9-FD6F7AEE4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8ADFE26-DC3A-50B0-A99F-C708660C4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Dot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D13073A-A006-080C-F41A-6A59A0C5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6430F70-546B-A420-6127-A5B40CDD5B6A}"/>
              </a:ext>
            </a:extLst>
          </p:cNvPr>
          <p:cNvGrpSpPr/>
          <p:nvPr/>
        </p:nvGrpSpPr>
        <p:grpSpPr>
          <a:xfrm>
            <a:off x="780631" y="1800226"/>
            <a:ext cx="6469323" cy="4076700"/>
            <a:chOff x="780631" y="2446425"/>
            <a:chExt cx="6001588" cy="378195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058CBDAF-3585-9C6A-C03D-18DEB95456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80631" y="2446425"/>
              <a:ext cx="6001588" cy="3781953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EFD0FA61-2141-310D-301D-AC9DC29934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1645" y="4446954"/>
              <a:ext cx="5449060" cy="17814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E816C8-E209-A352-19C7-1C89F8422CD4}"/>
                  </a:ext>
                </a:extLst>
              </p:cNvPr>
              <p:cNvSpPr txBox="1"/>
              <p:nvPr/>
            </p:nvSpPr>
            <p:spPr>
              <a:xfrm>
                <a:off x="7445075" y="4176139"/>
                <a:ext cx="4031311" cy="17007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벡터의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각도(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ko-KR" altLang="en-US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)만큼을 보정해서 곱해주는 것으로 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크기와 방향이 변함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벡터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투영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(projection)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된 것임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E816C8-E209-A352-19C7-1C89F8422C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5075" y="4176139"/>
                <a:ext cx="4031311" cy="1700787"/>
              </a:xfrm>
              <a:prstGeom prst="rect">
                <a:avLst/>
              </a:prstGeom>
              <a:blipFill>
                <a:blip r:embed="rId4"/>
                <a:stretch>
                  <a:fillRect l="-1208" r="-302" b="-46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73976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28DF8-7531-9C41-1B2F-79E0FA567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제목 1">
                <a:extLst>
                  <a:ext uri="{FF2B5EF4-FFF2-40B4-BE49-F238E27FC236}">
                    <a16:creationId xmlns:a16="http://schemas.microsoft.com/office/drawing/2014/main" id="{022C5894-9D72-D0BB-6786-6003D28A11F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915383" y="139084"/>
                <a:ext cx="10353762" cy="766439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Projection </a:t>
                </a:r>
                <a14:m>
                  <m:oMath xmlns:m="http://schemas.openxmlformats.org/officeDocument/2006/math">
                    <m:r>
                      <a:rPr lang="en-US" altLang="ko-KR" b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≈</m:t>
                    </m:r>
                  </m:oMath>
                </a14:m>
                <a:r>
                  <a:rPr lang="en-US" altLang="ko-KR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Landing </a:t>
                </a:r>
                <a14:m>
                  <m:oMath xmlns:m="http://schemas.openxmlformats.org/officeDocument/2006/math">
                    <m:r>
                      <a:rPr lang="en-US" altLang="ko-KR" b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≈</m:t>
                    </m:r>
                  </m:oMath>
                </a14:m>
                <a:r>
                  <a:rPr lang="en-US" altLang="ko-KR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Dot product</a:t>
                </a:r>
                <a:endParaRPr lang="ko-KR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제목 1">
                <a:extLst>
                  <a:ext uri="{FF2B5EF4-FFF2-40B4-BE49-F238E27FC236}">
                    <a16:creationId xmlns:a16="http://schemas.microsoft.com/office/drawing/2014/main" id="{022C5894-9D72-D0BB-6786-6003D28A11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915383" y="139084"/>
                <a:ext cx="10353762" cy="766439"/>
              </a:xfrm>
              <a:blipFill>
                <a:blip r:embed="rId2"/>
                <a:stretch>
                  <a:fillRect l="-2237" t="-16667" b="-317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DA2DF5-EAFC-C0B3-5E5B-8449CA156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9F172B4-E103-635C-8ED2-D658E7C6E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2456" y="2397971"/>
            <a:ext cx="6058182" cy="385852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C853FA6-61F2-240A-474E-D71ED5F034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0972" y="3251863"/>
            <a:ext cx="774156" cy="614537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76F806F-3AB8-89DA-EC35-7D7A29A329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4182" y="5270579"/>
            <a:ext cx="2785362" cy="582611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986C2B6-DE08-3F39-B9A3-E5E029F1A4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489" y="2304686"/>
            <a:ext cx="2764427" cy="602306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46C715-2D24-490A-05B2-168226016E20}"/>
                  </a:ext>
                </a:extLst>
              </p:cNvPr>
              <p:cNvSpPr txBox="1"/>
              <p:nvPr/>
            </p:nvSpPr>
            <p:spPr>
              <a:xfrm>
                <a:off x="724407" y="1296115"/>
                <a:ext cx="11255157" cy="7833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어떤 벡터 </a:t>
                </a:r>
                <a14:m>
                  <m:oMath xmlns:m="http://schemas.openxmlformats.org/officeDocument/2006/math">
                    <m:r>
                      <a:rPr lang="en-US" altLang="ko-KR" sz="160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= (3,4)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특정 축에 투영한다는 것은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해당 축 방향의 정보만 남기고 나머지 직교하는 방향의 정보는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0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으로 만드는 것으로 투영 행렬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(Projection Matrix)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과의 내적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 곱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으로 표현할 수 있음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46C715-2D24-490A-05B2-168226016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407" y="1296115"/>
                <a:ext cx="11255157" cy="783356"/>
              </a:xfrm>
              <a:prstGeom prst="rect">
                <a:avLst/>
              </a:prstGeom>
              <a:blipFill>
                <a:blip r:embed="rId7"/>
                <a:stretch>
                  <a:fillRect l="-325" b="-93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2FBBE795-EF54-699E-B14A-E2609E643DE7}"/>
              </a:ext>
            </a:extLst>
          </p:cNvPr>
          <p:cNvSpPr txBox="1"/>
          <p:nvPr/>
        </p:nvSpPr>
        <p:spPr>
          <a:xfrm>
            <a:off x="6854183" y="4933719"/>
            <a:ext cx="16161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C0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200" b="1" dirty="0">
                <a:solidFill>
                  <a:srgbClr val="C0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축으로 </a:t>
            </a:r>
            <a:r>
              <a:rPr lang="en-US" altLang="ko-KR" sz="1200" b="1" dirty="0">
                <a:solidFill>
                  <a:srgbClr val="C0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projection</a:t>
            </a:r>
            <a:r>
              <a:rPr lang="ko-KR" altLang="en-US" sz="1200" b="1" dirty="0">
                <a:solidFill>
                  <a:srgbClr val="C0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endParaRPr lang="ko-KR" altLang="en-US" sz="1200" b="1" dirty="0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3F438F-1B12-FB02-93C2-FB6E30FA6DDA}"/>
              </a:ext>
            </a:extLst>
          </p:cNvPr>
          <p:cNvSpPr txBox="1"/>
          <p:nvPr/>
        </p:nvSpPr>
        <p:spPr>
          <a:xfrm>
            <a:off x="813868" y="3033413"/>
            <a:ext cx="16161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</a:t>
            </a:r>
            <a:r>
              <a:rPr lang="ko-KR" altLang="en-US" sz="1200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축으로 </a:t>
            </a:r>
            <a:r>
              <a:rPr lang="en-US" altLang="ko-KR" sz="1200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projection</a:t>
            </a:r>
            <a:r>
              <a:rPr lang="ko-KR" altLang="en-US" sz="1200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endParaRPr lang="ko-KR" altLang="en-US" sz="12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797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DB743-9A57-C0CB-2D4F-A987CF359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560A320-4D26-2343-1BB9-9D2C17F5A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Guess 1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ABEEB93-95C9-630E-AF35-3802F7E6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C60B305-4BD5-B641-A454-A5BEAE95D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35" y="2052414"/>
            <a:ext cx="4575815" cy="45098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9B8B636-C242-A111-8951-845E0DCC0B51}"/>
              </a:ext>
            </a:extLst>
          </p:cNvPr>
          <p:cNvSpPr txBox="1"/>
          <p:nvPr/>
        </p:nvSpPr>
        <p:spPr>
          <a:xfrm>
            <a:off x="523876" y="2052414"/>
            <a:ext cx="5796910" cy="4117153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np.random.seed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(42)</a:t>
            </a:r>
          </a:p>
          <a:p>
            <a:pPr>
              <a:lnSpc>
                <a:spcPct val="150000"/>
              </a:lnSpc>
            </a:pP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임의의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차원 벡터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생성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vectors =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np.random.randn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(10, 2)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print(vectors, "\n")</a:t>
            </a:r>
          </a:p>
          <a:p>
            <a:pPr>
              <a:lnSpc>
                <a:spcPct val="150000"/>
              </a:lnSpc>
            </a:pP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x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축 방향 벡터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 =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([1, 0])   #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단위벡터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proj_length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([np.dot(v, u) for v in vectors])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proj_length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31161D-8F18-A44D-B477-A3509D19EB6E}"/>
              </a:ext>
            </a:extLst>
          </p:cNvPr>
          <p:cNvSpPr txBox="1"/>
          <p:nvPr/>
        </p:nvSpPr>
        <p:spPr>
          <a:xfrm>
            <a:off x="485776" y="1237035"/>
            <a:ext cx="95249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평면에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무작위 벡터를 생성하고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축으로 투영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EFB0B5-5B37-EA81-0799-48B61CC0CBA2}"/>
              </a:ext>
            </a:extLst>
          </p:cNvPr>
          <p:cNvSpPr/>
          <p:nvPr/>
        </p:nvSpPr>
        <p:spPr>
          <a:xfrm>
            <a:off x="3009900" y="5353051"/>
            <a:ext cx="1304926" cy="4381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2509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9092E-E127-C24D-87BC-FBA347881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4D733E2-A086-87BF-0989-16E4F5A7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Guess 2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D791913-8BAB-9385-D80F-0D64A501C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52CF5E-B893-3C50-599B-33D31A6E75EA}"/>
              </a:ext>
            </a:extLst>
          </p:cNvPr>
          <p:cNvSpPr txBox="1"/>
          <p:nvPr/>
        </p:nvSpPr>
        <p:spPr>
          <a:xfrm>
            <a:off x="638176" y="1781959"/>
            <a:ext cx="5010149" cy="1015663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sklearn.metrics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pairwise_distances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 =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pairwise_distances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(vectors)</a:t>
            </a:r>
          </a:p>
          <a:p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zorder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='Blues', interpolation='nearest')</a:t>
            </a:r>
          </a:p>
          <a:p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plt.colorbar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90111F-1A2E-50F2-0800-CBCAE5CE35C8}"/>
              </a:ext>
            </a:extLst>
          </p:cNvPr>
          <p:cNvSpPr txBox="1"/>
          <p:nvPr/>
        </p:nvSpPr>
        <p:spPr>
          <a:xfrm>
            <a:off x="485776" y="1237035"/>
            <a:ext cx="95249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원래 벡터간 거리와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축에 투영된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벡터간의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정보는 유지되지 않음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93088AF-8EB7-BC78-5549-CC078571A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714" y="2942435"/>
            <a:ext cx="4416561" cy="377647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D6A394-F9A1-BC63-7CE9-6D0B93D74042}"/>
              </a:ext>
            </a:extLst>
          </p:cNvPr>
          <p:cNvSpPr txBox="1"/>
          <p:nvPr/>
        </p:nvSpPr>
        <p:spPr>
          <a:xfrm>
            <a:off x="6296025" y="1735856"/>
            <a:ext cx="5753100" cy="1107867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Reshape to a 2D array (column vector) as required by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pairwise_distances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proj_length_2d =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proj_length.reshape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(-1, 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D_projected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pairwise_distances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(proj_length_2d)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D_projected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zorder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='Blues', interpolation='nearest')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plt.colorbar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2F97DF0-E86B-8E6B-ECD2-68726F5D5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2584" y="2942434"/>
            <a:ext cx="4416561" cy="377647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6316554-4419-7255-F7AE-008FBFC9ADE4}"/>
                  </a:ext>
                </a:extLst>
              </p:cNvPr>
              <p:cNvSpPr txBox="1"/>
              <p:nvPr/>
            </p:nvSpPr>
            <p:spPr>
              <a:xfrm>
                <a:off x="5770240" y="4215120"/>
                <a:ext cx="525785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4000" smtClean="0">
                          <a:latin typeface="Cambria Math" panose="02040503050406030204" pitchFamily="18" charset="0"/>
                        </a:rPr>
                        <m:t>≠</m:t>
                      </m:r>
                    </m:oMath>
                  </m:oMathPara>
                </a14:m>
                <a:endParaRPr lang="ko-KR" altLang="en-US" sz="4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6316554-4419-7255-F7AE-008FBFC9A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0240" y="4215120"/>
                <a:ext cx="525785" cy="6155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17329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8DD8A-34F1-92E6-23CC-A9A023ECB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163B9A-1C2A-1C6C-BA76-A59941B02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Guess 3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569E49D-1AC9-5D74-7841-913DE159A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F6239C-5DE5-613C-A64D-FC5B81C636A4}"/>
              </a:ext>
            </a:extLst>
          </p:cNvPr>
          <p:cNvSpPr txBox="1"/>
          <p:nvPr/>
        </p:nvSpPr>
        <p:spPr>
          <a:xfrm>
            <a:off x="485776" y="1237035"/>
            <a:ext cx="113537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원래 벡터간 거리와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축에 투영된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벡터간의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정보를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유지하기 위해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projection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082CF64-DD24-2C7C-5ABF-78B52B532F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450" y="1892457"/>
            <a:ext cx="9144000" cy="4537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0551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F0949-154B-9B15-D66A-161354B05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D21C48A-236B-42E1-AAEF-0DF38F1F3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Guess 4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A18260E-C388-8372-1B4D-45779F66E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16A951-DC6A-9AD8-CEA6-34A761BA18D9}"/>
              </a:ext>
            </a:extLst>
          </p:cNvPr>
          <p:cNvSpPr txBox="1"/>
          <p:nvPr/>
        </p:nvSpPr>
        <p:spPr>
          <a:xfrm>
            <a:off x="485776" y="1237035"/>
            <a:ext cx="113537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원래 벡터간 거리와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축에 투영된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벡터간의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정보를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유지하기 위해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projection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학습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15F9B3-ED59-B65E-49D0-DCB0CCDDBD2C}"/>
              </a:ext>
            </a:extLst>
          </p:cNvPr>
          <p:cNvSpPr txBox="1"/>
          <p:nvPr/>
        </p:nvSpPr>
        <p:spPr>
          <a:xfrm>
            <a:off x="628650" y="1893712"/>
            <a:ext cx="5162550" cy="1313052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sklearn.random_projection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GaussianRandomProjection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grp =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GaussianRandomProjection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=1,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=42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X_proj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grp.fit_transform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(vectors)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D4D5E4-C2B4-52BA-F323-47F5F8A68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295" y="3311336"/>
            <a:ext cx="3754905" cy="321071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EFE0B56-6AFD-F7F0-857B-FB477464A5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905" y="3311335"/>
            <a:ext cx="3754905" cy="32107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371DEF-0159-6141-8FC5-2C42F123B8AE}"/>
                  </a:ext>
                </a:extLst>
              </p:cNvPr>
              <p:cNvSpPr txBox="1"/>
              <p:nvPr/>
            </p:nvSpPr>
            <p:spPr>
              <a:xfrm>
                <a:off x="6179336" y="4178029"/>
                <a:ext cx="623569" cy="7386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4800" smtClean="0">
                          <a:latin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371DEF-0159-6141-8FC5-2C42F123B8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9336" y="4178029"/>
                <a:ext cx="623569" cy="7386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B99ACB7-03CD-F943-8D7A-D27EAAD15B5F}"/>
              </a:ext>
            </a:extLst>
          </p:cNvPr>
          <p:cNvSpPr txBox="1"/>
          <p:nvPr/>
        </p:nvSpPr>
        <p:spPr>
          <a:xfrm>
            <a:off x="6802905" y="2503839"/>
            <a:ext cx="5016485" cy="697499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 =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pairwise_distances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(vectors)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zorder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='Blues', interpolation='nearest')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plt.colorbar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35549740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009D-27AC-1210-D77F-2BBAC8A4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525039C-6C5C-B9B1-C761-BB097560B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Johnson-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Lindenstrauss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Lemma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47DD300-0DE6-1E0F-B160-AFEC59F2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E4BBDB-ACD4-081C-3E39-F0A1E2222A46}"/>
              </a:ext>
            </a:extLst>
          </p:cNvPr>
          <p:cNvSpPr txBox="1"/>
          <p:nvPr/>
        </p:nvSpPr>
        <p:spPr>
          <a:xfrm>
            <a:off x="915383" y="1473352"/>
            <a:ext cx="10159017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고차원 공간에 있는 </a:t>
            </a:r>
            <a:r>
              <a:rPr lang="en-US" altLang="ko-KR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점들은 점들 간의 거리를 거의 왜곡하지 않으면서 훨씬 낮은 </a:t>
            </a:r>
            <a:r>
              <a:rPr lang="en-US" altLang="ko-KR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공간으로 투영될 수 있다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증명한 정리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3918F21F-4AF2-AD22-EBD9-C355FE9B85D2}"/>
              </a:ext>
            </a:extLst>
          </p:cNvPr>
          <p:cNvGrpSpPr/>
          <p:nvPr/>
        </p:nvGrpSpPr>
        <p:grpSpPr>
          <a:xfrm>
            <a:off x="1764207" y="2753078"/>
            <a:ext cx="2676899" cy="1320963"/>
            <a:chOff x="4335957" y="3109868"/>
            <a:chExt cx="2676899" cy="132096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E49D0B42-6A3C-5A12-5486-1A994801D7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35957" y="3109868"/>
              <a:ext cx="2676899" cy="638264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AF3A66E-5737-1EC8-807B-E2A00836C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35957" y="3748132"/>
              <a:ext cx="2676899" cy="682699"/>
            </a:xfrm>
            <a:prstGeom prst="rect">
              <a:avLst/>
            </a:prstGeom>
          </p:spPr>
        </p:pic>
      </p:grpSp>
      <p:pic>
        <p:nvPicPr>
          <p:cNvPr id="20" name="그림 19">
            <a:extLst>
              <a:ext uri="{FF2B5EF4-FFF2-40B4-BE49-F238E27FC236}">
                <a16:creationId xmlns:a16="http://schemas.microsoft.com/office/drawing/2014/main" id="{296D856C-C612-7533-3308-8E8DABA729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891" y="3921691"/>
            <a:ext cx="5593907" cy="59316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D112F553-A00C-5844-4A0E-29507A5DD9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891" y="4514859"/>
            <a:ext cx="5593906" cy="1001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1467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94961-78A8-43E3-FFE0-27DB8174A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8556852-32F1-8768-70E3-9545CDE12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Johnson-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Lindenstrauss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Lemma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2EDB0E9-5351-A4C3-D752-B87139CD9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422800-8D00-F2E7-A541-CBB628622273}"/>
              </a:ext>
            </a:extLst>
          </p:cNvPr>
          <p:cNvSpPr txBox="1"/>
          <p:nvPr/>
        </p:nvSpPr>
        <p:spPr>
          <a:xfrm>
            <a:off x="915383" y="1750443"/>
            <a:ext cx="10159017" cy="2446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Johnson-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Lindenstrauss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Lemma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몬테카를로 모의실험으로 확인하자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데이터에 차원축소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(Dimension Reduction)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방법인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Projection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각각 적용하여 비교하자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From </a:t>
            </a:r>
            <a:r>
              <a:rPr lang="en-US" altLang="ko-KR" sz="1600" dirty="0" err="1"/>
              <a:t>sklearn.datasets</a:t>
            </a:r>
            <a:r>
              <a:rPr lang="en-US" altLang="ko-KR" sz="1600" dirty="0"/>
              <a:t> import </a:t>
            </a:r>
            <a:r>
              <a:rPr lang="en-US" altLang="ko-KR" sz="1600" dirty="0" err="1"/>
              <a:t>load_digits</a:t>
            </a:r>
            <a:br>
              <a:rPr lang="en-US" altLang="ko-KR" sz="1600" dirty="0"/>
            </a:br>
            <a:r>
              <a:rPr lang="en-US" altLang="ko-KR" sz="1600" dirty="0"/>
              <a:t>from </a:t>
            </a:r>
            <a:r>
              <a:rPr lang="en-US" altLang="ko-KR" sz="1600" dirty="0" err="1"/>
              <a:t>sklearn.random_projection</a:t>
            </a:r>
            <a:r>
              <a:rPr lang="en-US" altLang="ko-KR" sz="1600" dirty="0"/>
              <a:t> import </a:t>
            </a:r>
            <a:r>
              <a:rPr lang="en-US" altLang="ko-KR" sz="1600" dirty="0" err="1"/>
              <a:t>GaussianRandomProjection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9496509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42B23-C119-DB60-6650-94625729F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EC13006-2ECF-DB7A-6B85-B305E78C1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Projection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DA7CCDF-78EB-A095-6F04-A3F799AD9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DC08BE-4FBB-F2E4-CC54-A5E31FC4CCBD}"/>
              </a:ext>
            </a:extLst>
          </p:cNvPr>
          <p:cNvSpPr txBox="1"/>
          <p:nvPr/>
        </p:nvSpPr>
        <p:spPr>
          <a:xfrm>
            <a:off x="1026219" y="1340329"/>
            <a:ext cx="10164520" cy="5324535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</a:p>
          <a:p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 = 1000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#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차원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고정된 원본 벡터 생성 및 원래 길이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크기의 제곱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np.random.seed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(42); x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np.random.rand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(D)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original_sq_length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(x**2)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print(f"▶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원본 벡터의 길이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제곱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{original_sq_length:.4f}\n")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=====================================================================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실험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순수 몬테카를로 시뮬레이션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방향으로 쏘기를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 반복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=====================================================================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N_trials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10000;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projected_sq_lengths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[]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b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 in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range(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N_trials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np.random.randn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(D)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무작위 방향 벡터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생성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 표준 정규 분포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투영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 길이의 제곱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-&gt; (r · x)^2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방향으로 투영했을 때의 길이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정보량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의미함</a:t>
            </a:r>
          </a:p>
          <a:p>
            <a:pPr>
              <a:buNone/>
            </a:pP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proj_sq_len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np.dot(r,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projected_sq_lengths.append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proj_sq_len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10,000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 무작위 투영한 결과들의 </a:t>
            </a:r>
            <a:r>
              <a:rPr lang="ko-KR" altLang="en-US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기댓값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평균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mc_expected_sq_length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projected_sq_lengths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b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print(f"--- [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실험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1]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몬테카를로 시뮬레이션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({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N_trials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 반복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---")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투영된 길이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제곱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들의 </a:t>
            </a:r>
            <a:r>
              <a:rPr lang="ko-KR" altLang="en-US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기댓값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평균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{mc_expected_sq_length:.4f}")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print("-&gt;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매번 길이는 널뛰지만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무수히 반복하여 평균을 내면 원본 길이에 수렴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\n")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6C9B93-16E2-4004-4937-C84C53A719C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84443" y="4488986"/>
            <a:ext cx="2000529" cy="44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262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383F8-D0AD-3447-4492-65F6ECE5F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8DC9496-3D63-7D20-FC3D-BFB482ED0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Projection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D1CC0DD-E149-53D7-AF73-3EE8E4937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356D23-A570-A7FE-F6DA-28C4531F261F}"/>
              </a:ext>
            </a:extLst>
          </p:cNvPr>
          <p:cNvSpPr txBox="1"/>
          <p:nvPr/>
        </p:nvSpPr>
        <p:spPr>
          <a:xfrm>
            <a:off x="1043709" y="1439595"/>
            <a:ext cx="10069675" cy="4606389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=====================================================================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실험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랜덤 행렬을 통한 투영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목표 차원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증가에 따른 수렴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=====================================================================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K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몇 개의 무작위 방향으로 동시에 쏘아볼 것인가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의미합니다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K_values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[10,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100,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1000,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5000,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10000]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print("--- [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실험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2]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투영 차원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(K)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증가에 따른 길이 수렴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회 투영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---")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 in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K_values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랜덤 투영 행렬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1/K)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분산을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1/K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설정하는 이유는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결과를 더했을 때 평균이 유지되도록 </a:t>
            </a:r>
            <a:r>
              <a:rPr lang="ko-KR" altLang="en-US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스케일링하는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것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np.random.normal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np.sqrt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(1/K),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(K,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D))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행렬 곱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x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무작위 방향으로 동시에 투영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(Rx)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projected_x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np.dot(R,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투영된 벡터의 길이 제곱 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proj_matrix_sq_length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projected_x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**2)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오차율 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error_rate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abs(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proj_matrix_sq_length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original_sq_length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original_sq_length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100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f"K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{K:4d}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일 때 투영된 길이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제곱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{proj_matrix_sq_length:.4f}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{error_rate:5.2f}%)")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291648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3479</TotalTime>
  <Words>2923</Words>
  <Application>Microsoft Office PowerPoint</Application>
  <PresentationFormat>와이드스크린</PresentationFormat>
  <Paragraphs>416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7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 2</vt:lpstr>
      <vt:lpstr>Contents</vt:lpstr>
      <vt:lpstr>Transportation Problems</vt:lpstr>
      <vt:lpstr>Transportation Problems</vt:lpstr>
      <vt:lpstr>Transportation Problems</vt:lpstr>
      <vt:lpstr>Topological Data Structures – Incident Matrix </vt:lpstr>
      <vt:lpstr>Contents</vt:lpstr>
      <vt:lpstr>Montecarlo Simulation</vt:lpstr>
      <vt:lpstr>Montecarlo Simulation</vt:lpstr>
      <vt:lpstr>Simulation</vt:lpstr>
      <vt:lpstr>Simulation</vt:lpstr>
      <vt:lpstr>Simulation</vt:lpstr>
      <vt:lpstr>Image Representation</vt:lpstr>
      <vt:lpstr>Simulation</vt:lpstr>
      <vt:lpstr>Simulation</vt:lpstr>
      <vt:lpstr>Simulation</vt:lpstr>
      <vt:lpstr>Simulation</vt:lpstr>
      <vt:lpstr>Contents</vt:lpstr>
      <vt:lpstr>Random walk simulation</vt:lpstr>
      <vt:lpstr>Random walk simulation</vt:lpstr>
      <vt:lpstr>Random walk simulation</vt:lpstr>
      <vt:lpstr>Contents</vt:lpstr>
      <vt:lpstr>Bootstrap sampling</vt:lpstr>
      <vt:lpstr>Bootstrap sampling</vt:lpstr>
      <vt:lpstr>Bootstrap sampling</vt:lpstr>
      <vt:lpstr>Contents</vt:lpstr>
      <vt:lpstr>Central Limit Theorm</vt:lpstr>
      <vt:lpstr>Contents</vt:lpstr>
      <vt:lpstr>Dot Product</vt:lpstr>
      <vt:lpstr>Projection ≈ Landing ≈ Dot product</vt:lpstr>
      <vt:lpstr>Guess 1</vt:lpstr>
      <vt:lpstr>Guess 2</vt:lpstr>
      <vt:lpstr>Guess 3</vt:lpstr>
      <vt:lpstr>Guess 4</vt:lpstr>
      <vt:lpstr>Johnson-Lindenstrauss Lemma</vt:lpstr>
      <vt:lpstr>Johnson-Lindenstrauss Lemma</vt:lpstr>
      <vt:lpstr>Random Projection</vt:lpstr>
      <vt:lpstr>Random Projection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47</cp:revision>
  <dcterms:created xsi:type="dcterms:W3CDTF">2026-04-11T22:24:40Z</dcterms:created>
  <dcterms:modified xsi:type="dcterms:W3CDTF">2026-06-03T14:06:43Z</dcterms:modified>
</cp:coreProperties>
</file>