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39"/>
  </p:notesMasterIdLst>
  <p:sldIdLst>
    <p:sldId id="377" r:id="rId2"/>
    <p:sldId id="349" r:id="rId3"/>
    <p:sldId id="340" r:id="rId4"/>
    <p:sldId id="339" r:id="rId5"/>
    <p:sldId id="341" r:id="rId6"/>
    <p:sldId id="350" r:id="rId7"/>
    <p:sldId id="291" r:id="rId8"/>
    <p:sldId id="367" r:id="rId9"/>
    <p:sldId id="365" r:id="rId10"/>
    <p:sldId id="366" r:id="rId11"/>
    <p:sldId id="363" r:id="rId12"/>
    <p:sldId id="389" r:id="rId13"/>
    <p:sldId id="362" r:id="rId14"/>
    <p:sldId id="307" r:id="rId15"/>
    <p:sldId id="292" r:id="rId16"/>
    <p:sldId id="368" r:id="rId17"/>
    <p:sldId id="351" r:id="rId18"/>
    <p:sldId id="293" r:id="rId19"/>
    <p:sldId id="294" r:id="rId20"/>
    <p:sldId id="295" r:id="rId21"/>
    <p:sldId id="352" r:id="rId22"/>
    <p:sldId id="296" r:id="rId23"/>
    <p:sldId id="297" r:id="rId24"/>
    <p:sldId id="298" r:id="rId25"/>
    <p:sldId id="353" r:id="rId26"/>
    <p:sldId id="301" r:id="rId27"/>
    <p:sldId id="354" r:id="rId28"/>
    <p:sldId id="378" r:id="rId29"/>
    <p:sldId id="379" r:id="rId30"/>
    <p:sldId id="385" r:id="rId31"/>
    <p:sldId id="386" r:id="rId32"/>
    <p:sldId id="387" r:id="rId33"/>
    <p:sldId id="388" r:id="rId34"/>
    <p:sldId id="381" r:id="rId35"/>
    <p:sldId id="384" r:id="rId36"/>
    <p:sldId id="383" r:id="rId37"/>
    <p:sldId id="38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D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lgorithm" TargetMode="External"/><Relationship Id="rId7" Type="http://schemas.openxmlformats.org/officeDocument/2006/relationships/hyperlink" Target="https://en.wikipedia.org/wiki/Deterministic_system" TargetMode="External"/><Relationship Id="rId2" Type="http://schemas.openxmlformats.org/officeDocument/2006/relationships/hyperlink" Target="https://en.wikipedia.org/wiki/Computa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andomness" TargetMode="External"/><Relationship Id="rId5" Type="http://schemas.openxmlformats.org/officeDocument/2006/relationships/hyperlink" Target="https://en.wikipedia.org/wiki/Random_sampling" TargetMode="External"/><Relationship Id="rId4" Type="http://schemas.openxmlformats.org/officeDocument/2006/relationships/hyperlink" Target="https://en.wikipedia.org/wiki/Resampling_(statistics)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montecarlo_method.ipynb" TargetMode="External"/><Relationship Id="rId7" Type="http://schemas.openxmlformats.org/officeDocument/2006/relationships/hyperlink" Target="https://en.wikipedia.org/wiki/Random_sampling" TargetMode="External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esampling_(statistics)" TargetMode="External"/><Relationship Id="rId5" Type="http://schemas.openxmlformats.org/officeDocument/2006/relationships/hyperlink" Target="https://en.wikipedia.org/wiki/Algorithm" TargetMode="External"/><Relationship Id="rId4" Type="http://schemas.openxmlformats.org/officeDocument/2006/relationships/hyperlink" Target="https://en.wikipedia.org/wiki/Computation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101ai.net/vision/conv-kernels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random_projection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AB3F2-DEE6-991C-23CD-A8EC64DC2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B11A5-503A-4228-46AE-0C3F5000E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2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68E8C11-FAC2-53E3-6B71-E8860C6F1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260F65D-0C76-F706-43DF-259096F136A9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167512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E254081-038C-0151-1EAC-C8D3FE509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08" y="1261578"/>
            <a:ext cx="10962783" cy="4348647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수많은 무작위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(Random)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숫자를 대입해 보면서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발생할 수 있는 복잡한 결과의 확률적 분포를 알아내는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 공식이나 방정식으로 명확한 답을 내리기 어려울 정도로 불확실성이 크거나 변수가 많을 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컴퓨터에게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주사위를 수만 번 던지게 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통계적인 결과로 정답을 찾아가는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똑똑한 노가다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(Brute Force Algorithm)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en-US" altLang="ko-KR" b="1" dirty="0"/>
              <a:t>Monte Carlo methods</a:t>
            </a:r>
            <a:r>
              <a:rPr lang="en-US" altLang="ko-KR" dirty="0"/>
              <a:t>, also called the </a:t>
            </a:r>
            <a:r>
              <a:rPr lang="en-US" altLang="ko-KR" b="1" dirty="0"/>
              <a:t>Monte Carlo experiments</a:t>
            </a:r>
            <a:r>
              <a:rPr lang="en-US" altLang="ko-KR" dirty="0"/>
              <a:t> or </a:t>
            </a:r>
            <a:r>
              <a:rPr lang="en-US" altLang="ko-KR" b="1" dirty="0"/>
              <a:t>Monte Carlo simulations</a:t>
            </a:r>
            <a:r>
              <a:rPr lang="en-US" altLang="ko-KR" dirty="0"/>
              <a:t>, are a broad class of </a:t>
            </a:r>
            <a:r>
              <a:rPr lang="en-US" altLang="ko-KR" dirty="0">
                <a:hlinkClick r:id="rId2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3" tooltip="Algorithm"/>
              </a:rPr>
              <a:t>algorithms</a:t>
            </a:r>
            <a:r>
              <a:rPr lang="en-US" altLang="ko-KR" dirty="0"/>
              <a:t> based on </a:t>
            </a:r>
            <a:r>
              <a:rPr lang="en-US" altLang="ko-KR" sz="2200" b="1" dirty="0">
                <a:solidFill>
                  <a:srgbClr val="FF0000"/>
                </a:solidFill>
                <a:hlinkClick r:id="rId4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sz="2200" b="1" dirty="0">
                <a:solidFill>
                  <a:srgbClr val="FF0000"/>
                </a:solidFill>
                <a:hlinkClick r:id="rId5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dirty="0"/>
              <a:t>for obtaining numerical results. The underlying concept is to use </a:t>
            </a:r>
            <a:r>
              <a:rPr lang="en-US" altLang="ko-KR" dirty="0">
                <a:hlinkClick r:id="rId6" tooltip="Randomness"/>
              </a:rPr>
              <a:t>randomness</a:t>
            </a:r>
            <a:r>
              <a:rPr lang="en-US" altLang="ko-KR" dirty="0"/>
              <a:t> to solve </a:t>
            </a:r>
            <a:r>
              <a:rPr lang="en-US" altLang="ko-KR" dirty="0">
                <a:hlinkClick r:id="rId7" tooltip="Deterministic system"/>
              </a:rPr>
              <a:t>deterministic</a:t>
            </a:r>
            <a:r>
              <a:rPr lang="en-US" altLang="ko-KR" dirty="0"/>
              <a:t> problems.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(Wikipedia)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521A-B01B-FF2E-FACB-441C57859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456858D-67E0-A8F4-729F-A1E3789BF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6B8D633-2C7C-F8E0-6516-FABE7D7B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C997C98-B8D3-098E-BC84-FFD20EF1C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1714500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15DA4A-456C-CBBA-4E0E-3B57A345BCBC}"/>
              </a:ext>
            </a:extLst>
          </p:cNvPr>
          <p:cNvSpPr txBox="1"/>
          <p:nvPr/>
        </p:nvSpPr>
        <p:spPr>
          <a:xfrm>
            <a:off x="915383" y="1219200"/>
            <a:ext cx="3975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scripts/</a:t>
            </a:r>
            <a:r>
              <a:rPr lang="en-US" altLang="ko-KR" dirty="0" err="1">
                <a:hlinkClick r:id="rId3"/>
              </a:rPr>
              <a:t>montecarlo_method.ipynb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E53D0-3F30-C4A3-1C46-D2F463AB817D}"/>
              </a:ext>
            </a:extLst>
          </p:cNvPr>
          <p:cNvSpPr txBox="1"/>
          <p:nvPr/>
        </p:nvSpPr>
        <p:spPr>
          <a:xfrm>
            <a:off x="7305675" y="2256622"/>
            <a:ext cx="4800600" cy="1728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hlinkClick r:id="rId4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5" tooltip="Algorithm"/>
              </a:rPr>
              <a:t>algorithms</a:t>
            </a:r>
            <a:r>
              <a:rPr lang="en-US" altLang="ko-KR" dirty="0"/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based on </a:t>
            </a:r>
            <a:r>
              <a:rPr lang="en-US" altLang="ko-KR" sz="2000" b="1" dirty="0">
                <a:solidFill>
                  <a:srgbClr val="FF0000"/>
                </a:solidFill>
                <a:hlinkClick r:id="rId6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  <a:r>
              <a:rPr lang="en-US" altLang="ko-KR" sz="2000" b="1" dirty="0">
                <a:solidFill>
                  <a:srgbClr val="FF0000"/>
                </a:solidFill>
                <a:hlinkClick r:id="rId7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for obtaining numerical results.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5106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6757-A0EA-711D-A697-8F6124A1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D4929C2-0AB6-4650-74DF-6DB99B74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BB2D0-6737-1F36-562E-2C493D60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DE096E-41CF-DF10-C586-715EC0041847}"/>
              </a:ext>
            </a:extLst>
          </p:cNvPr>
          <p:cNvSpPr txBox="1"/>
          <p:nvPr/>
        </p:nvSpPr>
        <p:spPr>
          <a:xfrm>
            <a:off x="1000973" y="2857035"/>
            <a:ext cx="5571278" cy="353943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wait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15, sims)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mean_wait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prob_10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 &gt;= 10)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=(8,5))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(wait, bins=30, density=True,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color='red')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("Bus Waiting Time Distribution")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plt.xlabel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("Waiting Time (minutes)")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("Density")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통학 버스가 정확히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간격으로 도착할 경우 임의의 시간에 정류장에 도착한다고 가정하면 평균 기다리는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/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10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이상 기다리는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blipFill>
                <a:blip r:embed="rId2"/>
                <a:stretch>
                  <a:fillRect l="-45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/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∼ Uniform(0, 15)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AA5D543-61FF-2B27-FF4C-3883A9FF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175" y="2853437"/>
            <a:ext cx="5271491" cy="353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629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26289-E7C5-E8B2-31C5-301C7990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8D61ACC-6369-6D07-77DA-84CE632EF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6A6FF1-7C31-76DB-57B6-9F2389E3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8DAFA-1122-758D-18C0-C17DD9ED4073}"/>
              </a:ext>
            </a:extLst>
          </p:cNvPr>
          <p:cNvSpPr txBox="1"/>
          <p:nvPr/>
        </p:nvSpPr>
        <p:spPr>
          <a:xfrm>
            <a:off x="1000973" y="2857035"/>
            <a:ext cx="5571278" cy="310854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5, sims)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6, sims)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duration = A + B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duration,density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(9, color='r')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print((duration &gt; 9).sum()/sims)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합의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작업은 두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이루어지는데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1~5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2~6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 각각 균등하게 발생할 경우 전체 작업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이상일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blipFill>
                <a:blip r:embed="rId2"/>
                <a:stretch>
                  <a:fillRect l="-450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96C89DA-F251-A96D-2175-7F13E49F8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3152" y="2857035"/>
            <a:ext cx="4184867" cy="3108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6910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371AE-A305-E146-7873-AFB6589C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26F222-72AF-FDC5-8B60-5BA9D362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F3E82D9-4F61-E75C-27B9-5BE961C2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7391454-8B09-622C-E59D-96B0DF5D42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048496"/>
              </p:ext>
            </p:extLst>
          </p:nvPr>
        </p:nvGraphicFramePr>
        <p:xfrm>
          <a:off x="1060449" y="2026038"/>
          <a:ext cx="2844804" cy="238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134">
                  <a:extLst>
                    <a:ext uri="{9D8B030D-6E8A-4147-A177-3AD203B41FA5}">
                      <a16:colId xmlns:a16="http://schemas.microsoft.com/office/drawing/2014/main" val="146493912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62201484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86541205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6981639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30342482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182341501"/>
                    </a:ext>
                  </a:extLst>
                </a:gridCol>
              </a:tblGrid>
              <a:tr h="39788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105601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8259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5435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031032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10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70330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926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확률변수의 합의 확률변수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합성곱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(convolution)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CNN(Convolutional Neural Network)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blipFill>
                <a:blip r:embed="rId2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4F8EFD58-27C5-1565-14B7-0184A66FE64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06266" y="1975168"/>
            <a:ext cx="3866260" cy="470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255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9BBC-013A-5D6B-9809-C5DDEF5B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0321A05-D855-CE61-06A6-C7F6EFB6463C}"/>
              </a:ext>
            </a:extLst>
          </p:cNvPr>
          <p:cNvCxnSpPr/>
          <p:nvPr/>
        </p:nvCxnSpPr>
        <p:spPr>
          <a:xfrm>
            <a:off x="5057775" y="3076575"/>
            <a:ext cx="39909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B6D0278B-C871-6F1C-F2ED-8DC9F21F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4F600C5-080A-9972-A8A0-E9B40F0FB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22C13-FD7E-9828-C69A-FFFC61A44B86}"/>
              </a:ext>
            </a:extLst>
          </p:cNvPr>
          <p:cNvSpPr txBox="1"/>
          <p:nvPr/>
        </p:nvSpPr>
        <p:spPr>
          <a:xfrm>
            <a:off x="915383" y="1238250"/>
            <a:ext cx="3361342" cy="455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rgbClr val="FFFF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ko-KR" altLang="en-US" dirty="0">
              <a:solidFill>
                <a:srgbClr val="FFFF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5F7E36-85A9-960E-11A7-BA3CA501A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385" y="1861559"/>
            <a:ext cx="1778830" cy="187943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4D23789-463A-057F-8DB7-DBC853881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646" y="1861559"/>
            <a:ext cx="1778831" cy="187943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58CF572-A9CA-2574-258C-F5DF5BD6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908" y="1861559"/>
            <a:ext cx="1778831" cy="187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4A6F06-80E2-6302-BC79-973DA112F75D}"/>
              </a:ext>
            </a:extLst>
          </p:cNvPr>
          <p:cNvSpPr txBox="1"/>
          <p:nvPr/>
        </p:nvSpPr>
        <p:spPr>
          <a:xfrm>
            <a:off x="1002348" y="4019550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FF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conv-kernels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FFA08F-367B-42D4-C78D-93FF5AE96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7385" y="4429125"/>
            <a:ext cx="4509290" cy="20910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8F16BA-8F7F-8799-CE1D-C125934983C7}"/>
              </a:ext>
            </a:extLst>
          </p:cNvPr>
          <p:cNvSpPr txBox="1"/>
          <p:nvPr/>
        </p:nvSpPr>
        <p:spPr>
          <a:xfrm>
            <a:off x="4885938" y="2647386"/>
            <a:ext cx="1208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convolution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24088-690D-FAE1-A189-A08F769286F6}"/>
              </a:ext>
            </a:extLst>
          </p:cNvPr>
          <p:cNvSpPr txBox="1"/>
          <p:nvPr/>
        </p:nvSpPr>
        <p:spPr>
          <a:xfrm>
            <a:off x="8354320" y="2647386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pooling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7978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599656F1-1AE4-0E0A-C4A6-9536C9F1BA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6963" y="1412997"/>
            <a:ext cx="4090987" cy="483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B1A1-2F32-AFF2-8AD4-5F61A810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F1C0053-34DC-C83A-5E7B-3C793C7A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4C7C5E6-E407-DFBA-6AA8-82665258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06050766-8508-04E0-2D82-0BC2E51CC4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9C63E928-990D-DF12-476C-86ABF649F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8F465B-65F1-380F-A7B2-1E92437D0265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3771493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4ED88-3EEB-78DD-EFF9-FD6F7AEE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ADFE26-DC3A-50B0-A99F-C708660C4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Dot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D13073A-A006-080C-F41A-6A59A0C5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6430F70-546B-A420-6127-A5B40CDD5B6A}"/>
              </a:ext>
            </a:extLst>
          </p:cNvPr>
          <p:cNvGrpSpPr/>
          <p:nvPr/>
        </p:nvGrpSpPr>
        <p:grpSpPr>
          <a:xfrm>
            <a:off x="780631" y="1800226"/>
            <a:ext cx="6469323" cy="4076700"/>
            <a:chOff x="780631" y="2446425"/>
            <a:chExt cx="6001588" cy="378195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58CBDAF-3585-9C6A-C03D-18DEB9545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0631" y="2446425"/>
              <a:ext cx="6001588" cy="3781953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FD0FA61-2141-310D-301D-AC9DC299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1645" y="4446954"/>
              <a:ext cx="5449060" cy="1781424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/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각도(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en-US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)만큼을 보정해서 곱해주는 것으로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된 것임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blipFill>
                <a:blip r:embed="rId4"/>
                <a:stretch>
                  <a:fillRect l="-1208" r="-302" b="-46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397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8DF8-7531-9C41-1B2F-79E0FA567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Projection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Landing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Dot product</a:t>
                </a:r>
                <a:endParaRPr lang="ko-KR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  <a:blipFill>
                <a:blip r:embed="rId2"/>
                <a:stretch>
                  <a:fillRect l="-2237" t="-16667" b="-317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DA2DF5-EAFC-C0B3-5E5B-8449CA15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9F172B4-E103-635C-8ED2-D658E7C6E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456" y="2397971"/>
            <a:ext cx="6058182" cy="38585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853FA6-61F2-240A-474E-D71ED5F03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972" y="3251863"/>
            <a:ext cx="774156" cy="61453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76F806F-3AB8-89DA-EC35-7D7A29A32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182" y="5270579"/>
            <a:ext cx="2785362" cy="58261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86C2B6-DE08-3F39-B9A3-E5E029F1A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489" y="2304686"/>
            <a:ext cx="2764427" cy="602306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/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벡터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= (3,4)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특정 축에 투영한다는 것은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해당 축 방향의 정보만 남기고 나머지 직교하는 방향의 정보는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것으로 투영 행렬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 Matrix)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과의 내적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 곱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표현할 수 있음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blipFill>
                <a:blip r:embed="rId7"/>
                <a:stretch>
                  <a:fillRect l="-325"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FBBE795-EF54-699E-B14A-E2609E643DE7}"/>
              </a:ext>
            </a:extLst>
          </p:cNvPr>
          <p:cNvSpPr txBox="1"/>
          <p:nvPr/>
        </p:nvSpPr>
        <p:spPr>
          <a:xfrm>
            <a:off x="6854183" y="4933719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F438F-1B12-FB02-93C2-FB6E30FA6DDA}"/>
              </a:ext>
            </a:extLst>
          </p:cNvPr>
          <p:cNvSpPr txBox="1"/>
          <p:nvPr/>
        </p:nvSpPr>
        <p:spPr>
          <a:xfrm>
            <a:off x="813868" y="3033413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B743-9A57-C0CB-2D4F-A987CF359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560A320-4D26-2343-1BB9-9D2C17F5A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1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ABEEB93-95C9-630E-AF35-3802F7E6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C60B305-4BD5-B641-A454-A5BEAE95D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35" y="2052414"/>
            <a:ext cx="4575815" cy="45098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B8B636-C242-A111-8951-845E0DCC0B51}"/>
              </a:ext>
            </a:extLst>
          </p:cNvPr>
          <p:cNvSpPr txBox="1"/>
          <p:nvPr/>
        </p:nvSpPr>
        <p:spPr>
          <a:xfrm>
            <a:off x="523876" y="2052414"/>
            <a:ext cx="5796910" cy="411715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임의의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차원 벡터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vectors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(10, 2)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print(vectors, "\n")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축 방향 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([1, 0])   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([np.dot(v, u) for v in vectors])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31161D-8F18-A44D-B477-A3509D19EB6E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무작위 벡터를 생성하고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투영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EFB0B5-5B37-EA81-0799-48B61CC0CBA2}"/>
              </a:ext>
            </a:extLst>
          </p:cNvPr>
          <p:cNvSpPr/>
          <p:nvPr/>
        </p:nvSpPr>
        <p:spPr>
          <a:xfrm>
            <a:off x="3009900" y="5353051"/>
            <a:ext cx="1304926" cy="4381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509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9092E-E127-C24D-87BC-FBA34788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4D733E2-A086-87BF-0989-16E4F5A7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2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791913-8BAB-9385-D80F-0D64A501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52CF5E-B893-3C50-599B-33D31A6E75EA}"/>
              </a:ext>
            </a:extLst>
          </p:cNvPr>
          <p:cNvSpPr txBox="1"/>
          <p:nvPr/>
        </p:nvSpPr>
        <p:spPr>
          <a:xfrm>
            <a:off x="638176" y="1781959"/>
            <a:ext cx="5010149" cy="101566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sklearn.metrics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0111F-1A2E-50F2-0800-CBCAE5CE35C8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정보는 유지되지 않음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3088AF-8EB7-BC78-5549-CC078571A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714" y="2942435"/>
            <a:ext cx="4416561" cy="37764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D6A394-F9A1-BC63-7CE9-6D0B93D74042}"/>
              </a:ext>
            </a:extLst>
          </p:cNvPr>
          <p:cNvSpPr txBox="1"/>
          <p:nvPr/>
        </p:nvSpPr>
        <p:spPr>
          <a:xfrm>
            <a:off x="6296025" y="1735856"/>
            <a:ext cx="5753100" cy="1107867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Reshape to a 2D array (column vector) as required by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proj_length_2d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proj_length.reshape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(-1,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(proj_length_2d)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2F97DF0-E86B-8E6B-ECD2-68726F5D5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584" y="2942434"/>
            <a:ext cx="4416561" cy="37764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/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000" smtClean="0"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ko-KR" altLang="en-US" sz="40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1732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8DD8A-34F1-92E6-23CC-A9A023EC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163B9A-1C2A-1C6C-BA76-A59941B02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3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69E49D-1AC9-5D74-7841-913DE159A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6239C-5DE5-613C-A64D-FC5B81C636A4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082CF64-DD24-2C7C-5ABF-78B52B532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" y="1892457"/>
            <a:ext cx="9144000" cy="4537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551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0949-154B-9B15-D66A-161354B0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D21C48A-236B-42E1-AAEF-0DF38F1F3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4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A18260E-C388-8372-1B4D-45779F66E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A951-DC6A-9AD8-CEA6-34A761BA18D9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학습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15F9B3-ED59-B65E-49D0-DCB0CCDDBD2C}"/>
              </a:ext>
            </a:extLst>
          </p:cNvPr>
          <p:cNvSpPr txBox="1"/>
          <p:nvPr/>
        </p:nvSpPr>
        <p:spPr>
          <a:xfrm>
            <a:off x="628650" y="1893712"/>
            <a:ext cx="5162550" cy="1313052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sklearn.random_projection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X_proj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grp.fit_transform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D4D5E4-C2B4-52BA-F323-47F5F8A68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295" y="3311336"/>
            <a:ext cx="3754905" cy="32107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EFE0B56-6AFD-F7F0-857B-FB477464A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905" y="3311335"/>
            <a:ext cx="3754905" cy="32107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/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80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ko-KR" altLang="en-US" sz="4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99ACB7-03CD-F943-8D7A-D27EAAD15B5F}"/>
              </a:ext>
            </a:extLst>
          </p:cNvPr>
          <p:cNvSpPr txBox="1"/>
          <p:nvPr/>
        </p:nvSpPr>
        <p:spPr>
          <a:xfrm>
            <a:off x="6802905" y="2503839"/>
            <a:ext cx="5016485" cy="69749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5549740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09D-27AC-1210-D77F-2BBAC8A4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525039C-6C5C-B9B1-C761-BB097560B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7DD300-0DE6-1E0F-B160-AFEC59F2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4BBDB-ACD4-081C-3E39-F0A1E2222A46}"/>
              </a:ext>
            </a:extLst>
          </p:cNvPr>
          <p:cNvSpPr txBox="1"/>
          <p:nvPr/>
        </p:nvSpPr>
        <p:spPr>
          <a:xfrm>
            <a:off x="915383" y="1473352"/>
            <a:ext cx="10159017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공간에 있는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점들은 점들 간의 거리를 거의 왜곡하지 않으면서 훨씬 낮은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공간으로 투영될 수 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증명한 정리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918F21F-4AF2-AD22-EBD9-C355FE9B85D2}"/>
              </a:ext>
            </a:extLst>
          </p:cNvPr>
          <p:cNvGrpSpPr/>
          <p:nvPr/>
        </p:nvGrpSpPr>
        <p:grpSpPr>
          <a:xfrm>
            <a:off x="1764207" y="2753078"/>
            <a:ext cx="2676899" cy="1320963"/>
            <a:chOff x="4335957" y="3109868"/>
            <a:chExt cx="2676899" cy="132096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49D0B42-6A3C-5A12-5486-1A994801D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35957" y="3109868"/>
              <a:ext cx="2676899" cy="638264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AF3A66E-5737-1EC8-807B-E2A00836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5957" y="3748132"/>
              <a:ext cx="2676899" cy="682699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296D856C-C612-7533-3308-8E8DABA72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891" y="3921691"/>
            <a:ext cx="5593907" cy="59316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D112F553-A00C-5844-4A0E-29507A5DD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91" y="4514859"/>
            <a:ext cx="5593906" cy="100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467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94961-78A8-43E3-FFE0-27DB8174A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556852-32F1-8768-70E3-9545CDE12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2EDB0E9-5351-A4C3-D752-B87139CD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422800-8D00-F2E7-A541-CBB628622273}"/>
              </a:ext>
            </a:extLst>
          </p:cNvPr>
          <p:cNvSpPr txBox="1"/>
          <p:nvPr/>
        </p:nvSpPr>
        <p:spPr>
          <a:xfrm>
            <a:off x="915383" y="1750443"/>
            <a:ext cx="10159017" cy="2446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Johnson-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Lindenstrauss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Lemma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몬테카를로 모의실험으로 확인하자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 차원축소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(Dimension Reduction)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방법인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Projection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각각 적용하여 비교하자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sklearn.datasets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load_digits</a:t>
            </a:r>
            <a:br>
              <a:rPr lang="en-US" altLang="ko-KR" sz="1600" dirty="0"/>
            </a:br>
            <a:r>
              <a:rPr lang="en-US" altLang="ko-KR" sz="1600" dirty="0"/>
              <a:t>from </a:t>
            </a:r>
            <a:r>
              <a:rPr lang="en-US" altLang="ko-KR" sz="1600" dirty="0" err="1"/>
              <a:t>sklearn.random_projection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GaussianRandomProjection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949650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2B23-C119-DB60-6650-94625729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EC13006-2ECF-DB7A-6B85-B305E78C1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A7CCDF-78EB-A095-6F04-A3F799AD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DC08BE-4FBB-F2E4-CC54-A5E31FC4CCBD}"/>
              </a:ext>
            </a:extLst>
          </p:cNvPr>
          <p:cNvSpPr txBox="1"/>
          <p:nvPr/>
        </p:nvSpPr>
        <p:spPr>
          <a:xfrm>
            <a:off x="1026219" y="1340329"/>
            <a:ext cx="10164520" cy="5324535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</a:p>
          <a:p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 = 1000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차원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원본 벡터 생성 및 원래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크기의 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(42); x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print(f"▶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원본 벡터의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{original_sq_length:.4f}\n")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순수 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방향으로 쏘기를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10000;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range(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무작위 방향 벡터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표준 정규 분포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 길이의 제곱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-&gt; (r · x)^2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방향으로 투영했을 때의 길이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정보량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의미함</a:t>
            </a: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projected_sq_lengths.append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10,000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무작위 투영한 결과들의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mc_expected_sq_length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{mc_expected_sq_length:.4f}")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print("-&gt;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매번 길이는 널뛰지만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무수히 반복하여 평균을 내면 원본 길이에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6C9B93-16E2-4004-4937-C84C53A719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84443" y="4488986"/>
            <a:ext cx="2000529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62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83F8-D0AD-3447-4492-65F6ECE5F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8DC9496-3D63-7D20-FC3D-BFB482ED0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D1CC0DD-E149-53D7-AF73-3EE8E493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6D23-A570-A7FE-F6DA-28C4531F261F}"/>
              </a:ext>
            </a:extLst>
          </p:cNvPr>
          <p:cNvSpPr txBox="1"/>
          <p:nvPr/>
        </p:nvSpPr>
        <p:spPr>
          <a:xfrm>
            <a:off x="1043709" y="1439595"/>
            <a:ext cx="10069675" cy="460638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랜덤 행렬을 통한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목표 차원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수렴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몇 개의 무작위 방향으로 동시에 쏘아볼 것인가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의미합니다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[10,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10000]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 차원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길이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회 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랜덤 투영 행렬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설정하는 이유는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결과를 더했을 때 평균이 유지되도록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스케일링하는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np.random.normal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(1/K),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D))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 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x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무작위 방향으로 동시에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벡터의 길이 제곱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오차율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error_rate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abs(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100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f"K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{K:4d}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일 때 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{proj_matrix_sq_length:.4f}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{error_rate:5.2f}%)")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29164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3475</TotalTime>
  <Words>2916</Words>
  <Application>Microsoft Office PowerPoint</Application>
  <PresentationFormat>와이드스크린</PresentationFormat>
  <Paragraphs>414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2</vt:lpstr>
      <vt:lpstr>Contents</vt:lpstr>
      <vt:lpstr>Transportation Problems</vt:lpstr>
      <vt:lpstr>Transportation Problems</vt:lpstr>
      <vt:lpstr>Transportation Problems</vt:lpstr>
      <vt:lpstr>Contents</vt:lpstr>
      <vt:lpstr>Montecarlo Simulation</vt:lpstr>
      <vt:lpstr>Montecarlo Simulation</vt:lpstr>
      <vt:lpstr>Simulation</vt:lpstr>
      <vt:lpstr>Simulation</vt:lpstr>
      <vt:lpstr>Simulation</vt:lpstr>
      <vt:lpstr>Image Representation</vt:lpstr>
      <vt:lpstr>Simulation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Dot Product</vt:lpstr>
      <vt:lpstr>Projection ≈ Landing ≈ Dot product</vt:lpstr>
      <vt:lpstr>Guess 1</vt:lpstr>
      <vt:lpstr>Guess 2</vt:lpstr>
      <vt:lpstr>Guess 3</vt:lpstr>
      <vt:lpstr>Guess 4</vt:lpstr>
      <vt:lpstr>Johnson-Lindenstrauss Lemma</vt:lpstr>
      <vt:lpstr>Johnson-Lindenstrauss Lemma</vt:lpstr>
      <vt:lpstr>Random Projection</vt:lpstr>
      <vt:lpstr>Random Projection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46</cp:revision>
  <dcterms:created xsi:type="dcterms:W3CDTF">2026-04-11T22:24:40Z</dcterms:created>
  <dcterms:modified xsi:type="dcterms:W3CDTF">2026-05-27T05:08:38Z</dcterms:modified>
</cp:coreProperties>
</file>