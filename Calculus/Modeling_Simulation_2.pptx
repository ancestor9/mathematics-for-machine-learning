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1"/>
  </p:notesMasterIdLst>
  <p:sldIdLst>
    <p:sldId id="377" r:id="rId2"/>
    <p:sldId id="274" r:id="rId3"/>
    <p:sldId id="410" r:id="rId4"/>
    <p:sldId id="313" r:id="rId5"/>
    <p:sldId id="314" r:id="rId6"/>
    <p:sldId id="315" r:id="rId7"/>
    <p:sldId id="316" r:id="rId8"/>
    <p:sldId id="402" r:id="rId9"/>
    <p:sldId id="319" r:id="rId10"/>
    <p:sldId id="284" r:id="rId11"/>
    <p:sldId id="287" r:id="rId12"/>
    <p:sldId id="286" r:id="rId13"/>
    <p:sldId id="266" r:id="rId14"/>
    <p:sldId id="288" r:id="rId15"/>
    <p:sldId id="403" r:id="rId16"/>
    <p:sldId id="311" r:id="rId17"/>
    <p:sldId id="312" r:id="rId18"/>
    <p:sldId id="404" r:id="rId19"/>
    <p:sldId id="321" r:id="rId20"/>
    <p:sldId id="322" r:id="rId21"/>
    <p:sldId id="323" r:id="rId22"/>
    <p:sldId id="324" r:id="rId23"/>
    <p:sldId id="405" r:id="rId24"/>
    <p:sldId id="335" r:id="rId25"/>
    <p:sldId id="336" r:id="rId26"/>
    <p:sldId id="337" r:id="rId27"/>
    <p:sldId id="338" r:id="rId28"/>
    <p:sldId id="406" r:id="rId29"/>
    <p:sldId id="340" r:id="rId30"/>
    <p:sldId id="339" r:id="rId31"/>
    <p:sldId id="341" r:id="rId32"/>
    <p:sldId id="390" r:id="rId33"/>
    <p:sldId id="407" r:id="rId34"/>
    <p:sldId id="296" r:id="rId35"/>
    <p:sldId id="297" r:id="rId36"/>
    <p:sldId id="298" r:id="rId37"/>
    <p:sldId id="408" r:id="rId38"/>
    <p:sldId id="301" r:id="rId39"/>
    <p:sldId id="409" r:id="rId40"/>
    <p:sldId id="378" r:id="rId41"/>
    <p:sldId id="379" r:id="rId42"/>
    <p:sldId id="385" r:id="rId43"/>
    <p:sldId id="386" r:id="rId44"/>
    <p:sldId id="387" r:id="rId45"/>
    <p:sldId id="388" r:id="rId46"/>
    <p:sldId id="381" r:id="rId47"/>
    <p:sldId id="384" r:id="rId48"/>
    <p:sldId id="383" r:id="rId49"/>
    <p:sldId id="382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3D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6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0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random_projection.html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AB3F2-DEE6-991C-23CD-A8EC64DC2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8B11A5-503A-4228-46AE-0C3F5000E8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2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68E8C11-FAC2-53E3-6B71-E8860C6F13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A260F65D-0C76-F706-43DF-259096F136A9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1675120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How to learn AI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83580" y="1452837"/>
            <a:ext cx="10341720" cy="4519338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Top Down Approach, No bottom up approach any more.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Define Problem</a:t>
            </a:r>
            <a:r>
              <a:rPr lang="ko-KR" altLang="en-US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altLang="ko-KR" cap="none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rPr>
              <a:t>and next solve it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rPr>
              <a:t>Prompt  LLM and drill down to understand the whole process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rPr>
              <a:t>Maybe, you don’t need the professor any more.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rPr>
              <a:t>You have to understand code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cap="none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rPr>
              <a:t>Do not make LLM to understand your problem and code </a:t>
            </a: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79BEB-216A-96BE-D3D5-052FC04C0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E36BD04-E407-677C-4B26-96AB2B5E1929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8DC151-552A-34AE-0AA1-6C53099D7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5DFC7A0-ED3E-02E3-C1F7-3BBDDC7450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OOP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Loss Function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Transportation Problem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Bootstrap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Central limit theorem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Random projection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0578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/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523986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/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0304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1179519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1846352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4548F-7724-6A3E-F25C-B83A452F4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769B989-B856-E708-D039-A33BA04B8025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264429C-278C-CA25-133E-18FB2136C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057439F-205F-A228-4355-710687C36A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OOP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Loss Function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Transportation Problem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Bootstrap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Central limit theorem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Random projection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822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593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6089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664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23661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96038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803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63B75-B4F1-89DB-69B4-A78A38260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08A203A-3E93-5EFE-FDB4-4A6367EA91FC}"/>
              </a:ext>
            </a:extLst>
          </p:cNvPr>
          <p:cNvSpPr/>
          <p:nvPr/>
        </p:nvSpPr>
        <p:spPr>
          <a:xfrm>
            <a:off x="1104901" y="25559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48CA5D3-A60B-5E3D-D126-F42A906777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1913506-EA96-C344-ABFE-F3C8FA5EFB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OOP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Loss Function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Transportation Problem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Bootstrap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Central limit theorem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Random projection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57362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2904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19263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F5EC-88EF-E50E-F46E-C00B8D20F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8C4CB6C-62B4-DBDA-15FA-EC3CFEA7A3C1}"/>
              </a:ext>
            </a:extLst>
          </p:cNvPr>
          <p:cNvSpPr/>
          <p:nvPr/>
        </p:nvSpPr>
        <p:spPr>
          <a:xfrm>
            <a:off x="1104901" y="31274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B98B6AC-ED1D-35B3-FD11-67D4389256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0F2B4CB-9557-243E-AAE9-2FD93ECD0E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OOP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Loss Function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Transportation Problem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Bootstrap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Central limit theorem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Random projection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99316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/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/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9C931-077E-F1DB-E155-F6BA9B3EC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3882A86-1510-04B2-EBCD-2B462716ADF9}"/>
              </a:ext>
            </a:extLst>
          </p:cNvPr>
          <p:cNvSpPr/>
          <p:nvPr/>
        </p:nvSpPr>
        <p:spPr>
          <a:xfrm>
            <a:off x="1104901" y="36418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DD56A09-080B-8A33-71AB-10546EDB0E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37BE8CF-E828-FE1E-D91B-667F18C072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OOP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Loss Function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Transportation Problem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Bootstrap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Central limit theorem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Random projection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87599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8B5E8-B04A-3BD2-F3F5-71AFAF0E3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03A012D-0CD0-5B7D-B293-87C99E048CCF}"/>
              </a:ext>
            </a:extLst>
          </p:cNvPr>
          <p:cNvSpPr/>
          <p:nvPr/>
        </p:nvSpPr>
        <p:spPr>
          <a:xfrm>
            <a:off x="1104901" y="41847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246D13-F81A-84FF-7E01-105F55ED1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65D7495-6185-DFA1-C30D-35978EE441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OOP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Loss Function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Transportation Problem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Bootstrap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Central limit theorem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Random projection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42423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694E7-A744-5544-58C7-C2882DEE0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0A3DE68-AE8B-41E6-DFDC-4559466BB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05BC95B-D4F1-883B-ADF3-9823AA45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21ED5C-BFD9-7329-57E1-1330A424F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68" y="2958268"/>
            <a:ext cx="7202239" cy="22117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C6AB0B-1B07-FBA5-D476-AE21D2BAC337}"/>
              </a:ext>
            </a:extLst>
          </p:cNvPr>
          <p:cNvSpPr txBox="1"/>
          <p:nvPr/>
        </p:nvSpPr>
        <p:spPr>
          <a:xfrm>
            <a:off x="1114169" y="1628775"/>
            <a:ext cx="1007657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수송 문제 데이터 테이블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및 수급 현황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셀의 숫자는 단위당 운송 비용을 의미하며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열과 마지막 행은 각각의 공급 능력과 수요량</a:t>
            </a:r>
          </a:p>
        </p:txBody>
      </p:sp>
    </p:spTree>
    <p:extLst>
      <p:ext uri="{BB962C8B-B14F-4D97-AF65-F5344CB8AC3E}">
        <p14:creationId xmlns:p14="http://schemas.microsoft.com/office/powerpoint/2010/main" val="18972955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31F0F-A8C2-0397-A51E-6E95A3354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B39C0762-138D-E049-9615-211F9E442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4" y="1349038"/>
            <a:ext cx="9296488" cy="5070812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3C9A3A30-5671-D16C-D64A-66DA96F96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498CEB8-5617-A027-AD81-FB8B5D670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3200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04E27-679C-9FCF-4CC2-413DD3AC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31540B3-ECA6-2E04-E471-D95EA7D1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27F7D4-8A8F-0FBA-87EA-C88EC6F77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7FBE2E0-2E29-5C4E-DEB9-66764A2D6094}"/>
              </a:ext>
            </a:extLst>
          </p:cNvPr>
          <p:cNvGrpSpPr/>
          <p:nvPr/>
        </p:nvGrpSpPr>
        <p:grpSpPr>
          <a:xfrm>
            <a:off x="1115972" y="1158210"/>
            <a:ext cx="6854186" cy="5382174"/>
            <a:chOff x="1115972" y="1158210"/>
            <a:chExt cx="6854186" cy="5382174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A86E72-6425-0EA9-4755-283C142B2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5972" y="2320809"/>
              <a:ext cx="6854186" cy="4219575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32C7BF-F2CA-3EE3-BFFF-84FBA5447D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5972" y="1158210"/>
              <a:ext cx="6853925" cy="1162599"/>
            </a:xfrm>
            <a:prstGeom prst="rect">
              <a:avLst/>
            </a:prstGeom>
          </p:spPr>
        </p:pic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8B2D94CA-A74B-2B8B-4F3F-C1960A04039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0951" y="2320809"/>
            <a:ext cx="3568998" cy="2284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4D572BC-A667-DAFC-DDA5-D22A47D1ED5E}"/>
              </a:ext>
            </a:extLst>
          </p:cNvPr>
          <p:cNvSpPr txBox="1"/>
          <p:nvPr/>
        </p:nvSpPr>
        <p:spPr>
          <a:xfrm>
            <a:off x="8400951" y="1724025"/>
            <a:ext cx="3757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선형계획법</a:t>
            </a:r>
            <a:r>
              <a:rPr lang="en-US" altLang="ko-KR" dirty="0"/>
              <a:t>(Linear Programming)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46800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8988F-9FD2-28A7-D16C-2BAA28385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CC13095-4422-1984-23CB-7B6A0F462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 fontScale="90000"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opological Data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Structures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Incident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F67D123-9514-DFE7-8FF7-F64547C5C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64266D4-F6D8-C7C7-AC8E-1551328D3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879" y="1206609"/>
            <a:ext cx="3345295" cy="368174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99B5CE0-BAA8-9C6E-5A2D-E88B7E3234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365" y="1206609"/>
            <a:ext cx="2998925" cy="245857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D8380CB0-F6FB-49FC-3D71-E5292D724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4365" y="4082293"/>
            <a:ext cx="3575295" cy="2080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594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E99E7-E81F-A9BF-E36B-D38F68BCE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1C96A05-20AA-10D4-E277-5416E173D004}"/>
              </a:ext>
            </a:extLst>
          </p:cNvPr>
          <p:cNvSpPr/>
          <p:nvPr/>
        </p:nvSpPr>
        <p:spPr>
          <a:xfrm>
            <a:off x="1104901" y="47467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FA0883E-58B3-7DD7-BC6B-BE1116027F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539057B-83A1-BF76-A428-C460DFDB1B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OOP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Loss Function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Transportation Problem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Bootstrap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Central limit theorem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Random projection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5788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55D3D-F194-FF2A-491A-8A873F610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556CE03-35F1-D046-0275-50A16140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C66212E-BB83-C661-6D65-CD05B909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189BD10-8DA1-300F-CA8B-0DC91F762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Bootstrap Sample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이란 무엇인가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8706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857D7-1344-B58A-BDD9-A140227A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74E3F93-3B37-62D8-BEBE-62D5FAAA9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BA0B4F5-DAE4-3303-FB32-9B2A9096C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1828D43-DDF9-E3DE-4276-FB4399E64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64805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EF33-47B2-9FEA-0544-DA97EB8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F05D532-A9FD-B5D3-594E-38DF47B5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DFD7C5-1C3C-76A3-3F1E-1B278F95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데이터셋의 크기가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 때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원본 데이터에서 한 번 뽑은 데이터를 다시 넣고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복원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무작위로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번 추출하여 만든 새로운 샘플</a:t>
                </a:r>
                <a:endParaRPr lang="en-US" altLang="ko-KR" sz="1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중복 허용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동일한 데이터가 한 샘플 내에 여러 번 포함될 수 있음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미포함 데이터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확률적으로 원본 데이터의 약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36.8%(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600" i="0" dirty="0" smtClean="0">
                            <a:latin typeface="Cambria Math" panose="02040503050406030204" pitchFamily="18" charset="0"/>
                          </a:rPr>
                          <m:t>ⅇ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샘플에 포함되지 않는데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이를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OOB(Out-Of-Bag)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데이터라고 부르며 모델 검증용으로 활용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수치는 앞서 질문하신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선물을 못 받을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동일한 원리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Randomforest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모델의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</a:t>
                </a: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  <a:blipFill>
                <a:blip r:embed="rId2"/>
                <a:stretch>
                  <a:fillRect l="-1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>
            <a:extLst>
              <a:ext uri="{FF2B5EF4-FFF2-40B4-BE49-F238E27FC236}">
                <a16:creationId xmlns:a16="http://schemas.microsoft.com/office/drawing/2014/main" id="{83CD8436-2625-8128-83C4-23CE8FC95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862" y="3992687"/>
            <a:ext cx="5402483" cy="25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491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3BEA1-F594-813D-D77F-7A63D480D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037663A-1A57-4916-73E5-B5B226BD0735}"/>
              </a:ext>
            </a:extLst>
          </p:cNvPr>
          <p:cNvSpPr/>
          <p:nvPr/>
        </p:nvSpPr>
        <p:spPr>
          <a:xfrm>
            <a:off x="1104901" y="52610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526CB1-F931-4C76-9A4D-B6A86CB1BC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9BE25A9-9401-6A6D-1909-FF353E8C24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OOP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Loss Function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Transportation Problem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Bootstrap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Central limit theorem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Random projection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04348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2A364-1EBD-2EFD-D6BE-937CE143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CE9BC93-DDED-5445-834E-7678C8B6B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Theorm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D45968-6723-E03D-AD24-9D29D29A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6F887F-AE8F-1464-9EC1-7F7674022CBB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BBF2C-6413-4582-67FA-848627AD4379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64333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B6F3B-2209-F54E-5AC9-B6EDEAA3D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02A5821-0BBF-FD03-480E-CA9782F4E16C}"/>
              </a:ext>
            </a:extLst>
          </p:cNvPr>
          <p:cNvSpPr/>
          <p:nvPr/>
        </p:nvSpPr>
        <p:spPr>
          <a:xfrm>
            <a:off x="1104901" y="58135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C87E31-4249-C102-46C6-BE33055362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FCFCFA7-7D88-837E-D079-16235BD385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OOP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Loss Function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Transportation Problem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Bootstrap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Central limit theorem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Random projection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81431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4ED88-3EEB-78DD-EFF9-FD6F7AEE4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8ADFE26-DC3A-50B0-A99F-C708660C4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Dot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D13073A-A006-080C-F41A-6A59A0C5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6430F70-546B-A420-6127-A5B40CDD5B6A}"/>
              </a:ext>
            </a:extLst>
          </p:cNvPr>
          <p:cNvGrpSpPr/>
          <p:nvPr/>
        </p:nvGrpSpPr>
        <p:grpSpPr>
          <a:xfrm>
            <a:off x="780631" y="1800226"/>
            <a:ext cx="6469323" cy="4076700"/>
            <a:chOff x="780631" y="2446425"/>
            <a:chExt cx="6001588" cy="378195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058CBDAF-3585-9C6A-C03D-18DEB95456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80631" y="2446425"/>
              <a:ext cx="6001588" cy="3781953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FD0FA61-2141-310D-301D-AC9DC2993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1645" y="4446954"/>
              <a:ext cx="5449060" cy="17814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E816C8-E209-A352-19C7-1C89F8422CD4}"/>
                  </a:ext>
                </a:extLst>
              </p:cNvPr>
              <p:cNvSpPr txBox="1"/>
              <p:nvPr/>
            </p:nvSpPr>
            <p:spPr>
              <a:xfrm>
                <a:off x="7445075" y="4176139"/>
                <a:ext cx="4031311" cy="17007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벡터의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각도(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ko-KR" altLang="en-US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)만큼을 보정해서 곱해주는 것으로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크기와 방향이 변함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벡터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투영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(projection)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된 것임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E816C8-E209-A352-19C7-1C89F8422C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5075" y="4176139"/>
                <a:ext cx="4031311" cy="1700787"/>
              </a:xfrm>
              <a:prstGeom prst="rect">
                <a:avLst/>
              </a:prstGeom>
              <a:blipFill>
                <a:blip r:embed="rId4"/>
                <a:stretch>
                  <a:fillRect l="-1208" r="-302" b="-46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73976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28DF8-7531-9C41-1B2F-79E0FA567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제목 1">
                <a:extLst>
                  <a:ext uri="{FF2B5EF4-FFF2-40B4-BE49-F238E27FC236}">
                    <a16:creationId xmlns:a16="http://schemas.microsoft.com/office/drawing/2014/main" id="{022C5894-9D72-D0BB-6786-6003D28A11F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915383" y="139084"/>
                <a:ext cx="10353762" cy="766439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Projection </a:t>
                </a:r>
                <a14:m>
                  <m:oMath xmlns:m="http://schemas.openxmlformats.org/officeDocument/2006/math">
                    <m:r>
                      <a:rPr lang="en-US" altLang="ko-KR" b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</m:oMath>
                </a14:m>
                <a:r>
                  <a:rPr lang="en-US" altLang="ko-KR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Landing </a:t>
                </a:r>
                <a14:m>
                  <m:oMath xmlns:m="http://schemas.openxmlformats.org/officeDocument/2006/math">
                    <m:r>
                      <a:rPr lang="en-US" altLang="ko-KR" b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</m:oMath>
                </a14:m>
                <a:r>
                  <a:rPr lang="en-US" altLang="ko-KR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Dot product</a:t>
                </a:r>
                <a:endParaRPr lang="ko-KR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제목 1">
                <a:extLst>
                  <a:ext uri="{FF2B5EF4-FFF2-40B4-BE49-F238E27FC236}">
                    <a16:creationId xmlns:a16="http://schemas.microsoft.com/office/drawing/2014/main" id="{022C5894-9D72-D0BB-6786-6003D28A11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915383" y="139084"/>
                <a:ext cx="10353762" cy="766439"/>
              </a:xfrm>
              <a:blipFill>
                <a:blip r:embed="rId2"/>
                <a:stretch>
                  <a:fillRect l="-2237" t="-16667" b="-317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DA2DF5-EAFC-C0B3-5E5B-8449CA156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9F172B4-E103-635C-8ED2-D658E7C6E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2456" y="2397971"/>
            <a:ext cx="6058182" cy="385852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C853FA6-61F2-240A-474E-D71ED5F034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972" y="3251863"/>
            <a:ext cx="774156" cy="614537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76F806F-3AB8-89DA-EC35-7D7A29A329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4182" y="5270579"/>
            <a:ext cx="2785362" cy="58261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986C2B6-DE08-3F39-B9A3-E5E029F1A4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489" y="2304686"/>
            <a:ext cx="2764427" cy="602306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46C715-2D24-490A-05B2-168226016E20}"/>
                  </a:ext>
                </a:extLst>
              </p:cNvPr>
              <p:cNvSpPr txBox="1"/>
              <p:nvPr/>
            </p:nvSpPr>
            <p:spPr>
              <a:xfrm>
                <a:off x="724407" y="1296115"/>
                <a:ext cx="11255157" cy="7833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어떤 벡터 </a:t>
                </a:r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= (3,4)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특정 축에 투영한다는 것은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해당 축 방향의 정보만 남기고 나머지 직교하는 방향의 정보는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0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만드는 것으로 투영 행렬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(Projection Matrix)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과의 내적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 곱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표현할 수 있음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C46C715-2D24-490A-05B2-168226016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407" y="1296115"/>
                <a:ext cx="11255157" cy="783356"/>
              </a:xfrm>
              <a:prstGeom prst="rect">
                <a:avLst/>
              </a:prstGeom>
              <a:blipFill>
                <a:blip r:embed="rId7"/>
                <a:stretch>
                  <a:fillRect l="-325" b="-93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FBBE795-EF54-699E-B14A-E2609E643DE7}"/>
              </a:ext>
            </a:extLst>
          </p:cNvPr>
          <p:cNvSpPr txBox="1"/>
          <p:nvPr/>
        </p:nvSpPr>
        <p:spPr>
          <a:xfrm>
            <a:off x="6854183" y="4933719"/>
            <a:ext cx="16161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C0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200" b="1" dirty="0">
                <a:solidFill>
                  <a:srgbClr val="C0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200" b="1" dirty="0">
                <a:solidFill>
                  <a:srgbClr val="C0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projection</a:t>
            </a:r>
            <a:r>
              <a:rPr lang="ko-KR" altLang="en-US" sz="1200" b="1" dirty="0">
                <a:solidFill>
                  <a:srgbClr val="C0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endParaRPr lang="ko-KR" altLang="en-US" sz="1200" b="1" dirty="0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3F438F-1B12-FB02-93C2-FB6E30FA6DDA}"/>
              </a:ext>
            </a:extLst>
          </p:cNvPr>
          <p:cNvSpPr txBox="1"/>
          <p:nvPr/>
        </p:nvSpPr>
        <p:spPr>
          <a:xfrm>
            <a:off x="813868" y="3033413"/>
            <a:ext cx="16161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</a:t>
            </a:r>
            <a:r>
              <a:rPr lang="ko-KR" altLang="en-US" sz="12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2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projection</a:t>
            </a:r>
            <a:r>
              <a:rPr lang="ko-KR" altLang="en-US" sz="12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endParaRPr lang="ko-KR" altLang="en-US" sz="12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797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DB743-9A57-C0CB-2D4F-A987CF359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560A320-4D26-2343-1BB9-9D2C17F5A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Guess 1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ABEEB93-95C9-630E-AF35-3802F7E6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C60B305-4BD5-B641-A454-A5BEAE95D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35" y="2052414"/>
            <a:ext cx="4575815" cy="45098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9B8B636-C242-A111-8951-845E0DCC0B51}"/>
              </a:ext>
            </a:extLst>
          </p:cNvPr>
          <p:cNvSpPr txBox="1"/>
          <p:nvPr/>
        </p:nvSpPr>
        <p:spPr>
          <a:xfrm>
            <a:off x="523876" y="2052414"/>
            <a:ext cx="5796910" cy="4117153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(42)</a:t>
            </a:r>
          </a:p>
          <a:p>
            <a:pPr>
              <a:lnSpc>
                <a:spcPct val="150000"/>
              </a:lnSpc>
            </a:pP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임의의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차원 벡터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생성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vectors =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np.random.randn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(10, 2)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print(vectors, "\n")</a:t>
            </a:r>
          </a:p>
          <a:p>
            <a:pPr>
              <a:lnSpc>
                <a:spcPct val="150000"/>
              </a:lnSpc>
            </a:pP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축 방향 벡터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 =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([1, 0])   #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단위벡터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proj_length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([np.dot(v, u) for v in vectors])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proj_length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31161D-8F18-A44D-B477-A3509D19EB6E}"/>
              </a:ext>
            </a:extLst>
          </p:cNvPr>
          <p:cNvSpPr txBox="1"/>
          <p:nvPr/>
        </p:nvSpPr>
        <p:spPr>
          <a:xfrm>
            <a:off x="485776" y="1237035"/>
            <a:ext cx="95249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무작위 벡터를 생성하고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투영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EFB0B5-5B37-EA81-0799-48B61CC0CBA2}"/>
              </a:ext>
            </a:extLst>
          </p:cNvPr>
          <p:cNvSpPr/>
          <p:nvPr/>
        </p:nvSpPr>
        <p:spPr>
          <a:xfrm>
            <a:off x="3009900" y="5353051"/>
            <a:ext cx="1304926" cy="4381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25092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9092E-E127-C24D-87BC-FBA34788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4D733E2-A086-87BF-0989-16E4F5A7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Guess 2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D791913-8BAB-9385-D80F-0D64A501C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52CF5E-B893-3C50-599B-33D31A6E75EA}"/>
              </a:ext>
            </a:extLst>
          </p:cNvPr>
          <p:cNvSpPr txBox="1"/>
          <p:nvPr/>
        </p:nvSpPr>
        <p:spPr>
          <a:xfrm>
            <a:off x="638176" y="1781959"/>
            <a:ext cx="5010149" cy="1015663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sklearn.metrics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(vectors)</a:t>
            </a:r>
          </a:p>
          <a:p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zorder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='Blues', interpolation='nearest')</a:t>
            </a:r>
          </a:p>
          <a:p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90111F-1A2E-50F2-0800-CBCAE5CE35C8}"/>
              </a:ext>
            </a:extLst>
          </p:cNvPr>
          <p:cNvSpPr txBox="1"/>
          <p:nvPr/>
        </p:nvSpPr>
        <p:spPr>
          <a:xfrm>
            <a:off x="485776" y="1237035"/>
            <a:ext cx="95249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원래 벡터간 거리와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축에 투영된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벡터간의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정보는 유지되지 않음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93088AF-8EB7-BC78-5549-CC078571A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714" y="2942435"/>
            <a:ext cx="4416561" cy="37764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D6A394-F9A1-BC63-7CE9-6D0B93D74042}"/>
              </a:ext>
            </a:extLst>
          </p:cNvPr>
          <p:cNvSpPr txBox="1"/>
          <p:nvPr/>
        </p:nvSpPr>
        <p:spPr>
          <a:xfrm>
            <a:off x="6296025" y="1735856"/>
            <a:ext cx="5753100" cy="1107867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Reshape to a 2D array (column vector) as required by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proj_length_2d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proj_length.reshape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(-1, 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D_projected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(proj_length_2d)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D_projected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zorder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='Blues', interpolation='nearest')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2F97DF0-E86B-8E6B-ECD2-68726F5D5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2584" y="2942434"/>
            <a:ext cx="4416561" cy="37764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316554-4419-7255-F7AE-008FBFC9ADE4}"/>
                  </a:ext>
                </a:extLst>
              </p:cNvPr>
              <p:cNvSpPr txBox="1"/>
              <p:nvPr/>
            </p:nvSpPr>
            <p:spPr>
              <a:xfrm>
                <a:off x="5770240" y="4215120"/>
                <a:ext cx="525785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4000" smtClean="0">
                          <a:latin typeface="Cambria Math" panose="02040503050406030204" pitchFamily="18" charset="0"/>
                        </a:rPr>
                        <m:t>≠</m:t>
                      </m:r>
                    </m:oMath>
                  </m:oMathPara>
                </a14:m>
                <a:endParaRPr lang="ko-KR" altLang="en-US" sz="4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316554-4419-7255-F7AE-008FBFC9A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0240" y="4215120"/>
                <a:ext cx="525785" cy="6155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17329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8DD8A-34F1-92E6-23CC-A9A023ECB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163B9A-1C2A-1C6C-BA76-A59941B02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Guess 3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569E49D-1AC9-5D74-7841-913DE159A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F6239C-5DE5-613C-A64D-FC5B81C636A4}"/>
              </a:ext>
            </a:extLst>
          </p:cNvPr>
          <p:cNvSpPr txBox="1"/>
          <p:nvPr/>
        </p:nvSpPr>
        <p:spPr>
          <a:xfrm>
            <a:off x="485776" y="1237035"/>
            <a:ext cx="11353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원래 벡터간 거리와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축에 투영된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벡터간의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정보를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유지하기 위해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projection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082CF64-DD24-2C7C-5ABF-78B52B532F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450" y="1892457"/>
            <a:ext cx="9144000" cy="4537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0551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F0949-154B-9B15-D66A-161354B05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D21C48A-236B-42E1-AAEF-0DF38F1F3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Guess 4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A18260E-C388-8372-1B4D-45779F66E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16A951-DC6A-9AD8-CEA6-34A761BA18D9}"/>
              </a:ext>
            </a:extLst>
          </p:cNvPr>
          <p:cNvSpPr txBox="1"/>
          <p:nvPr/>
        </p:nvSpPr>
        <p:spPr>
          <a:xfrm>
            <a:off x="485776" y="1237035"/>
            <a:ext cx="11353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원래 벡터간 거리와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축에 투영된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벡터간의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정보를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유지하기 위해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projection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학습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15F9B3-ED59-B65E-49D0-DCB0CCDDBD2C}"/>
              </a:ext>
            </a:extLst>
          </p:cNvPr>
          <p:cNvSpPr txBox="1"/>
          <p:nvPr/>
        </p:nvSpPr>
        <p:spPr>
          <a:xfrm>
            <a:off x="628650" y="1893712"/>
            <a:ext cx="5162550" cy="1313052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sklearn.random_projection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GaussianRandomProjection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grp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GaussianRandomProjection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=1,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=42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X_proj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grp.fit_transform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(vectors)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D4D5E4-C2B4-52BA-F323-47F5F8A68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295" y="3311336"/>
            <a:ext cx="3754905" cy="32107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EFE0B56-6AFD-F7F0-857B-FB477464A5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905" y="3311335"/>
            <a:ext cx="3754905" cy="32107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371DEF-0159-6141-8FC5-2C42F123B8AE}"/>
                  </a:ext>
                </a:extLst>
              </p:cNvPr>
              <p:cNvSpPr txBox="1"/>
              <p:nvPr/>
            </p:nvSpPr>
            <p:spPr>
              <a:xfrm>
                <a:off x="6179336" y="4178029"/>
                <a:ext cx="623569" cy="7386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4800" smtClean="0">
                          <a:latin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371DEF-0159-6141-8FC5-2C42F123B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9336" y="4178029"/>
                <a:ext cx="623569" cy="7386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B99ACB7-03CD-F943-8D7A-D27EAAD15B5F}"/>
              </a:ext>
            </a:extLst>
          </p:cNvPr>
          <p:cNvSpPr txBox="1"/>
          <p:nvPr/>
        </p:nvSpPr>
        <p:spPr>
          <a:xfrm>
            <a:off x="6802905" y="2503839"/>
            <a:ext cx="5016485" cy="697499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 =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pairwise_distances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(vectors)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zorder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='Blues', interpolation='nearest')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5549740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009D-27AC-1210-D77F-2BBAC8A4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525039C-6C5C-B9B1-C761-BB097560B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Johnson-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Lindenstrauss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Lemma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47DD300-0DE6-1E0F-B160-AFEC59F2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E4BBDB-ACD4-081C-3E39-F0A1E2222A46}"/>
              </a:ext>
            </a:extLst>
          </p:cNvPr>
          <p:cNvSpPr txBox="1"/>
          <p:nvPr/>
        </p:nvSpPr>
        <p:spPr>
          <a:xfrm>
            <a:off x="915383" y="1473352"/>
            <a:ext cx="10159017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고차원 공간에 있는 </a:t>
            </a:r>
            <a:r>
              <a:rPr lang="en-US" altLang="ko-KR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점들은 점들 간의 거리를 거의 왜곡하지 않으면서 훨씬 낮은 </a:t>
            </a:r>
            <a:r>
              <a:rPr lang="en-US" altLang="ko-KR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공간으로 투영될 수 있다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증명한 정리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918F21F-4AF2-AD22-EBD9-C355FE9B85D2}"/>
              </a:ext>
            </a:extLst>
          </p:cNvPr>
          <p:cNvGrpSpPr/>
          <p:nvPr/>
        </p:nvGrpSpPr>
        <p:grpSpPr>
          <a:xfrm>
            <a:off x="1764207" y="2753078"/>
            <a:ext cx="2676899" cy="1320963"/>
            <a:chOff x="4335957" y="3109868"/>
            <a:chExt cx="2676899" cy="132096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E49D0B42-6A3C-5A12-5486-1A994801D7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35957" y="3109868"/>
              <a:ext cx="2676899" cy="638264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AF3A66E-5737-1EC8-807B-E2A00836C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35957" y="3748132"/>
              <a:ext cx="2676899" cy="682699"/>
            </a:xfrm>
            <a:prstGeom prst="rect">
              <a:avLst/>
            </a:prstGeom>
          </p:spPr>
        </p:pic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296D856C-C612-7533-3308-8E8DABA729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891" y="3921691"/>
            <a:ext cx="5593907" cy="59316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D112F553-A00C-5844-4A0E-29507A5DD9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891" y="4514859"/>
            <a:ext cx="5593906" cy="1001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1467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94961-78A8-43E3-FFE0-27DB8174A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8556852-32F1-8768-70E3-9545CDE12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Johnson-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Lindenstrauss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Lemma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2EDB0E9-5351-A4C3-D752-B87139CD9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422800-8D00-F2E7-A541-CBB628622273}"/>
              </a:ext>
            </a:extLst>
          </p:cNvPr>
          <p:cNvSpPr txBox="1"/>
          <p:nvPr/>
        </p:nvSpPr>
        <p:spPr>
          <a:xfrm>
            <a:off x="915383" y="1750443"/>
            <a:ext cx="10159017" cy="2446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Johnson-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Lindenstrauss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Lemma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몬테카를로 모의실험으로 확인하자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데이터에 차원축소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(Dimension Reduction)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방법인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Projection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각각 적용하여 비교하자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From </a:t>
            </a:r>
            <a:r>
              <a:rPr lang="en-US" altLang="ko-KR" sz="1600" dirty="0" err="1"/>
              <a:t>sklearn.datasets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load_digits</a:t>
            </a:r>
            <a:br>
              <a:rPr lang="en-US" altLang="ko-KR" sz="1600" dirty="0"/>
            </a:br>
            <a:r>
              <a:rPr lang="en-US" altLang="ko-KR" sz="1600" dirty="0"/>
              <a:t>from </a:t>
            </a:r>
            <a:r>
              <a:rPr lang="en-US" altLang="ko-KR" sz="1600" dirty="0" err="1"/>
              <a:t>sklearn.random_projection</a:t>
            </a:r>
            <a:r>
              <a:rPr lang="en-US" altLang="ko-KR" sz="1600" dirty="0"/>
              <a:t> import </a:t>
            </a:r>
            <a:r>
              <a:rPr lang="en-US" altLang="ko-KR" sz="1600" dirty="0" err="1"/>
              <a:t>GaussianRandomProjection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9496509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42B23-C119-DB60-6650-94625729F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EC13006-2ECF-DB7A-6B85-B305E78C1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Projection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DA7CCDF-78EB-A095-6F04-A3F799AD9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DC08BE-4FBB-F2E4-CC54-A5E31FC4CCBD}"/>
              </a:ext>
            </a:extLst>
          </p:cNvPr>
          <p:cNvSpPr txBox="1"/>
          <p:nvPr/>
        </p:nvSpPr>
        <p:spPr>
          <a:xfrm>
            <a:off x="1026219" y="1340329"/>
            <a:ext cx="10164520" cy="5324535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</a:p>
          <a:p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 = 1000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#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차원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고정된 원본 벡터 생성 및 원래 길이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크기의 제곱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(42); x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np.random.rand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(D)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original_sq_length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(x**2)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print(f"▶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원본 벡터의 길이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{original_sq_length:.4f}\n")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=====================================================================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순수 몬테카를로 시뮬레이션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방향으로 쏘기를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 반복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=====================================================================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N_trials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10000;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projected_sq_lengths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 in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range(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N_trials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np.random.randn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(D)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무작위 방향 벡터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생성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 표준 정규 분포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 길이의 제곱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-&gt; (r · x)^2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방향으로 투영했을 때의 길이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정보량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의미함</a:t>
            </a:r>
          </a:p>
          <a:p>
            <a:pPr>
              <a:buNone/>
            </a:pP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proj_sq_len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np.dot(r,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projected_sq_lengths.append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proj_sq_len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10,000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 무작위 투영한 결과들의 </a:t>
            </a:r>
            <a:r>
              <a:rPr lang="ko-KR" altLang="en-US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기댓값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평균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mc_expected_sq_length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projected_sq_lengths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print(f"--- [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1]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몬테카를로 시뮬레이션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({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N_trials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 반복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투영된 길이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들의 </a:t>
            </a:r>
            <a:r>
              <a:rPr lang="ko-KR" altLang="en-US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기댓값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평균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{mc_expected_sq_length:.4f}")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print("-&gt;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매번 길이는 널뛰지만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무수히 반복하여 평균을 내면 원본 길이에 수렴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\n")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6C9B93-16E2-4004-4937-C84C53A719C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84443" y="4488986"/>
            <a:ext cx="2000529" cy="4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262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83F8-D0AD-3447-4492-65F6ECE5F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8DC9496-3D63-7D20-FC3D-BFB482ED0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Projection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D1CC0DD-E149-53D7-AF73-3EE8E4937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356D23-A570-A7FE-F6DA-28C4531F261F}"/>
              </a:ext>
            </a:extLst>
          </p:cNvPr>
          <p:cNvSpPr txBox="1"/>
          <p:nvPr/>
        </p:nvSpPr>
        <p:spPr>
          <a:xfrm>
            <a:off x="1043709" y="1439595"/>
            <a:ext cx="10069675" cy="4606389"/>
          </a:xfrm>
          <a:prstGeom prst="rect">
            <a:avLst/>
          </a:prstGeom>
          <a:solidFill>
            <a:srgbClr val="53D2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=====================================================================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랜덤 행렬을 통한 투영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목표 차원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증가에 따른 수렴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=====================================================================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K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몇 개의 무작위 방향으로 동시에 쏘아볼 것인가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의미합니다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K_values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[10,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5000,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10000]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print("--- [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실험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2]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 차원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(K)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증가에 따른 길이 수렴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회 투영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 in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K_values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랜덤 투영 행렬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1/K)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분산을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1/K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설정하는 이유는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결과를 더했을 때 평균이 유지되도록 </a:t>
            </a:r>
            <a:r>
              <a:rPr lang="ko-KR" altLang="en-US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스케일링하는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np.random.normal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np.sqrt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(1/K),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(K,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D))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행렬 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x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무작위 방향으로 동시에 투영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(Rx)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projected_x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np.dot(R,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투영된 벡터의 길이 제곱 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proj_matrix_sq_length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projected_x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오차율 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error_rate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abs(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proj_matrix_sq_length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original_sq_length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original_sq_length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100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f"K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{K:4d}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일 때 투영된 길이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제곱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{proj_matrix_sq_length:.4f}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{error_rate:5.2f}%)")</a:t>
            </a:r>
            <a:endParaRPr lang="ko-KR" altLang="en-US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29164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3517</TotalTime>
  <Words>3225</Words>
  <Application>Microsoft Office PowerPoint</Application>
  <PresentationFormat>와이드스크린</PresentationFormat>
  <Paragraphs>536</Paragraphs>
  <Slides>49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58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2</vt:lpstr>
      <vt:lpstr>How to learn AI</vt:lpstr>
      <vt:lpstr>Contents</vt:lpstr>
      <vt:lpstr>Abstract + Object</vt:lpstr>
      <vt:lpstr>Abstract + Object</vt:lpstr>
      <vt:lpstr>OOP - python</vt:lpstr>
      <vt:lpstr>Proto_OOP – java script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  <vt:lpstr>Contents</vt:lpstr>
      <vt:lpstr>Transportation Problems</vt:lpstr>
      <vt:lpstr>Transportation Problems</vt:lpstr>
      <vt:lpstr>Transportation Problems</vt:lpstr>
      <vt:lpstr>Topological Data Structures – Incident Matrix </vt:lpstr>
      <vt:lpstr>Contents</vt:lpstr>
      <vt:lpstr>Bootstrap sampling</vt:lpstr>
      <vt:lpstr>Bootstrap sampling</vt:lpstr>
      <vt:lpstr>Bootstrap sampling</vt:lpstr>
      <vt:lpstr>Contents</vt:lpstr>
      <vt:lpstr>Central Limit Theorm</vt:lpstr>
      <vt:lpstr>Contents</vt:lpstr>
      <vt:lpstr>Dot Product</vt:lpstr>
      <vt:lpstr>Projection ≈ Landing ≈ Dot product</vt:lpstr>
      <vt:lpstr>Guess 1</vt:lpstr>
      <vt:lpstr>Guess 2</vt:lpstr>
      <vt:lpstr>Guess 3</vt:lpstr>
      <vt:lpstr>Guess 4</vt:lpstr>
      <vt:lpstr>Johnson-Lindenstrauss Lemma</vt:lpstr>
      <vt:lpstr>Johnson-Lindenstrauss Lemma</vt:lpstr>
      <vt:lpstr>Random Projection</vt:lpstr>
      <vt:lpstr>Random Projection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49</cp:revision>
  <dcterms:created xsi:type="dcterms:W3CDTF">2026-04-11T22:24:40Z</dcterms:created>
  <dcterms:modified xsi:type="dcterms:W3CDTF">2026-06-05T19:27:51Z</dcterms:modified>
</cp:coreProperties>
</file>