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4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58" r:id="rId13"/>
    <p:sldId id="343" r:id="rId14"/>
    <p:sldId id="259" r:id="rId15"/>
    <p:sldId id="318" r:id="rId16"/>
    <p:sldId id="359" r:id="rId17"/>
    <p:sldId id="360" r:id="rId18"/>
    <p:sldId id="361" r:id="rId19"/>
    <p:sldId id="317" r:id="rId20"/>
    <p:sldId id="319" r:id="rId21"/>
    <p:sldId id="284" r:id="rId22"/>
    <p:sldId id="287" r:id="rId23"/>
    <p:sldId id="286" r:id="rId24"/>
    <p:sldId id="266" r:id="rId25"/>
    <p:sldId id="288" r:id="rId26"/>
    <p:sldId id="344" r:id="rId27"/>
    <p:sldId id="267" r:id="rId28"/>
    <p:sldId id="285" r:id="rId29"/>
    <p:sldId id="272" r:id="rId30"/>
    <p:sldId id="273" r:id="rId31"/>
    <p:sldId id="345" r:id="rId32"/>
    <p:sldId id="269" r:id="rId33"/>
    <p:sldId id="346" r:id="rId34"/>
    <p:sldId id="308" r:id="rId35"/>
    <p:sldId id="320" r:id="rId36"/>
    <p:sldId id="310" r:id="rId37"/>
    <p:sldId id="311" r:id="rId38"/>
    <p:sldId id="312" r:id="rId39"/>
    <p:sldId id="347" r:id="rId40"/>
    <p:sldId id="321" r:id="rId41"/>
    <p:sldId id="322" r:id="rId42"/>
    <p:sldId id="323" r:id="rId43"/>
    <p:sldId id="324" r:id="rId44"/>
    <p:sldId id="348" r:id="rId45"/>
    <p:sldId id="335" r:id="rId46"/>
    <p:sldId id="336" r:id="rId47"/>
    <p:sldId id="337" r:id="rId48"/>
    <p:sldId id="338" r:id="rId49"/>
    <p:sldId id="349" r:id="rId50"/>
    <p:sldId id="340" r:id="rId51"/>
    <p:sldId id="339" r:id="rId52"/>
    <p:sldId id="341" r:id="rId53"/>
    <p:sldId id="350" r:id="rId54"/>
    <p:sldId id="291" r:id="rId55"/>
    <p:sldId id="307" r:id="rId56"/>
    <p:sldId id="292" r:id="rId57"/>
    <p:sldId id="351" r:id="rId58"/>
    <p:sldId id="293" r:id="rId59"/>
    <p:sldId id="294" r:id="rId60"/>
    <p:sldId id="295" r:id="rId61"/>
    <p:sldId id="352" r:id="rId62"/>
    <p:sldId id="296" r:id="rId63"/>
    <p:sldId id="297" r:id="rId64"/>
    <p:sldId id="298" r:id="rId65"/>
    <p:sldId id="353" r:id="rId66"/>
    <p:sldId id="301" r:id="rId67"/>
    <p:sldId id="354" r:id="rId68"/>
    <p:sldId id="299" r:id="rId69"/>
    <p:sldId id="355" r:id="rId70"/>
    <p:sldId id="300" r:id="rId71"/>
    <p:sldId id="356" r:id="rId72"/>
    <p:sldId id="302" r:id="rId73"/>
    <p:sldId id="357" r:id="rId74"/>
    <p:sldId id="325" r:id="rId75"/>
    <p:sldId id="326" r:id="rId76"/>
    <p:sldId id="327" r:id="rId77"/>
    <p:sldId id="328" r:id="rId78"/>
    <p:sldId id="329" r:id="rId79"/>
    <p:sldId id="330" r:id="rId80"/>
    <p:sldId id="334" r:id="rId81"/>
    <p:sldId id="331" r:id="rId82"/>
    <p:sldId id="332" r:id="rId8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90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hyperlink" Target="https://plus.maths.org/mathematical-dating" TargetMode="Externa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ko.wikipedia.org/wiki/%EB%AA%AC%ED%8B%B0_%ED%99%80_%EB%AC%B8%EC%A0%9C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odruff.dev/wp-content/uploads/2025/09/Best-Practices-for-Tuning-Genetic-Algorithm-Parameters.png" TargetMode="External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ell_division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73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ell_division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.png"/><Relationship Id="rId4" Type="http://schemas.microsoft.com/office/2007/relationships/hdphoto" Target="../media/hdphoto2.wdp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0.png"/><Relationship Id="rId3" Type="http://schemas.openxmlformats.org/officeDocument/2006/relationships/image" Target="../media/image620.png"/><Relationship Id="rId7" Type="http://schemas.microsoft.com/office/2007/relationships/hdphoto" Target="../media/hdphoto4.wdp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11" Type="http://schemas.openxmlformats.org/officeDocument/2006/relationships/image" Target="../media/image680.png"/><Relationship Id="rId5" Type="http://schemas.microsoft.com/office/2007/relationships/hdphoto" Target="../media/hdphoto3.wdp"/><Relationship Id="rId10" Type="http://schemas.openxmlformats.org/officeDocument/2006/relationships/image" Target="../media/image670.png"/><Relationship Id="rId4" Type="http://schemas.openxmlformats.org/officeDocument/2006/relationships/image" Target="../media/image79.png"/><Relationship Id="rId9" Type="http://schemas.openxmlformats.org/officeDocument/2006/relationships/image" Target="../media/image660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github.com/ancestor9/mathematics-for-machine-learning/blob/main/scripts/cell_contamin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0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dirty="0"/>
              <a:t>Modeling &amp; Simulation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506" y="3107695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79507" y="4097028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C140-19C1-FF60-32D3-115F3E66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54E0AC5-D3C1-B8B7-69EF-35F0F5F46456}"/>
              </a:ext>
            </a:extLst>
          </p:cNvPr>
          <p:cNvSpPr/>
          <p:nvPr/>
        </p:nvSpPr>
        <p:spPr>
          <a:xfrm>
            <a:off x="1104901" y="31084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FB2C369-3EAE-1018-CAB6-CC74CB2A6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2C8B3D-33E6-708C-8387-2690255B24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86185B-8542-FE99-5671-8DA2CA03F1E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3127431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B11-9DC9-C05E-223E-124C8342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DB16239-B20F-BC48-736D-3082EA50148A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B2BD48F-2F5A-4C41-BA71-11FED4C9D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377D60-D9A5-B173-E154-8880F0E3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7297F7-CF55-46BF-2B72-8695AB5D800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6811152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8BCF9-2DD5-4402-26A1-C70FD99A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D22EADE-B559-C35F-4511-5DFDCC9B3E05}"/>
              </a:ext>
            </a:extLst>
          </p:cNvPr>
          <p:cNvSpPr/>
          <p:nvPr/>
        </p:nvSpPr>
        <p:spPr>
          <a:xfrm>
            <a:off x="1104901" y="4165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9DA16A-B7E6-69AB-D30B-E53C7395F4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5CF079-75FE-E617-58C5-C2A52AF049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F731E5-EF4D-BDEC-96E8-D2D77C485533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0365759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534544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EF45-0E44-8A4B-3A79-11F316489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A7EFDDB-AC97-FC35-30F4-DF70038DB895}"/>
              </a:ext>
            </a:extLst>
          </p:cNvPr>
          <p:cNvSpPr/>
          <p:nvPr/>
        </p:nvSpPr>
        <p:spPr>
          <a:xfrm>
            <a:off x="1104901" y="47181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FCBFCC7-7159-7F0E-D7F2-FF26123BB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E5F6AC-401D-8053-31BC-31592DA0FC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77E61E-8B1A-CCCC-9AF8-A7075EBF4415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2092730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E16DE-16B8-5D03-3DCF-10B842B94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1B44F31-6A3C-4AA4-9525-B7425A2505C9}"/>
              </a:ext>
            </a:extLst>
          </p:cNvPr>
          <p:cNvSpPr/>
          <p:nvPr/>
        </p:nvSpPr>
        <p:spPr>
          <a:xfrm>
            <a:off x="1104901" y="52610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1AFA23-AF0B-3263-B529-4ABD6DD3C7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D58A28-2844-CBB4-61EF-CA14388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315CD-1D90-3AF7-99C4-58606224AE29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8685867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AE9-7C30-B07F-300B-81A6FF90B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9C2A4D7-4595-65F6-3A4E-3BBF6FA56DB4}"/>
              </a:ext>
            </a:extLst>
          </p:cNvPr>
          <p:cNvSpPr/>
          <p:nvPr/>
        </p:nvSpPr>
        <p:spPr>
          <a:xfrm>
            <a:off x="6675438" y="146236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AD57BD3-F577-1C73-79AA-F82B036FF6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D2CA4F-AF9C-5EA1-BE65-76D8E2EA8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17A29C-3AAA-607A-B866-8386BBF7368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6496972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694E7-A744-5544-58C7-C2882DEE0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0A3DE68-AE8B-41E6-DFDC-4559466BB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05BC95B-D4F1-883B-ADF3-9823AA45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21ED5C-BFD9-7329-57E1-1330A424F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68" y="2958268"/>
            <a:ext cx="7202239" cy="22117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C6AB0B-1B07-FBA5-D476-AE21D2BAC337}"/>
              </a:ext>
            </a:extLst>
          </p:cNvPr>
          <p:cNvSpPr txBox="1"/>
          <p:nvPr/>
        </p:nvSpPr>
        <p:spPr>
          <a:xfrm>
            <a:off x="1114169" y="1628775"/>
            <a:ext cx="1007657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수송 문제 데이터 테이블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및 수급 현황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셀의 숫자는 단위당 운송 비용을 의미하며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열과 마지막 행은 각각의 공급 능력과 수요량</a:t>
            </a:r>
          </a:p>
        </p:txBody>
      </p:sp>
    </p:spTree>
    <p:extLst>
      <p:ext uri="{BB962C8B-B14F-4D97-AF65-F5344CB8AC3E}">
        <p14:creationId xmlns:p14="http://schemas.microsoft.com/office/powerpoint/2010/main" val="18972955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31F0F-A8C2-0397-A51E-6E95A3354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B39C0762-138D-E049-9615-211F9E442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4" y="1349038"/>
            <a:ext cx="9296488" cy="5070812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3C9A3A30-5671-D16C-D64A-66DA96F96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498CEB8-5617-A027-AD81-FB8B5D670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3200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04E27-679C-9FCF-4CC2-413DD3AC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31540B3-ECA6-2E04-E471-D95EA7D1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ansportation Problems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27F7D4-8A8F-0FBA-87EA-C88EC6F77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7FBE2E0-2E29-5C4E-DEB9-66764A2D6094}"/>
              </a:ext>
            </a:extLst>
          </p:cNvPr>
          <p:cNvGrpSpPr/>
          <p:nvPr/>
        </p:nvGrpSpPr>
        <p:grpSpPr>
          <a:xfrm>
            <a:off x="1115972" y="1158210"/>
            <a:ext cx="6854186" cy="5382174"/>
            <a:chOff x="1115972" y="1158210"/>
            <a:chExt cx="6854186" cy="5382174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A86E72-6425-0EA9-4755-283C142B2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5972" y="2320809"/>
              <a:ext cx="6854186" cy="4219575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32C7BF-F2CA-3EE3-BFFF-84FBA5447D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5972" y="1158210"/>
              <a:ext cx="6853925" cy="1162599"/>
            </a:xfrm>
            <a:prstGeom prst="rect">
              <a:avLst/>
            </a:prstGeom>
          </p:spPr>
        </p:pic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8B2D94CA-A74B-2B8B-4F3F-C1960A04039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0951" y="2320809"/>
            <a:ext cx="3568998" cy="2284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4D572BC-A667-DAFC-DDA5-D22A47D1ED5E}"/>
              </a:ext>
            </a:extLst>
          </p:cNvPr>
          <p:cNvSpPr txBox="1"/>
          <p:nvPr/>
        </p:nvSpPr>
        <p:spPr>
          <a:xfrm>
            <a:off x="8400951" y="1724025"/>
            <a:ext cx="3757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선형계획법</a:t>
            </a:r>
            <a:r>
              <a:rPr lang="en-US" altLang="ko-KR" dirty="0"/>
              <a:t>(Linear Programming)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46800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96A74-E6E7-ECD7-8DD1-FF3E6F2F2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B77909E-2E56-FA46-BF2E-4A64A3E727A9}"/>
              </a:ext>
            </a:extLst>
          </p:cNvPr>
          <p:cNvSpPr/>
          <p:nvPr/>
        </p:nvSpPr>
        <p:spPr>
          <a:xfrm>
            <a:off x="6675438" y="20243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30AD9AC-B785-7358-1D90-9F8E4BB36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4BB305A-8596-83F3-8747-348D580CCF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7149DD-1A10-0B11-6E0F-2E6DE2BC52E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17086763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BF9B-1D11-3390-0C0C-334544E2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ADE4C9-5D44-4C0B-E4E8-3141942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CD0A05-60EA-3637-1B32-5ED51A296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지금이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원의 둘레가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둘레를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(0.5, 0)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시작벡터로 부터 아주 작은 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(epsilon=0.00001)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이동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 새로운 벡터와의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거리를 무수히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(100_000)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생성하여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누적거리를 구하는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적분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모의실험으로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math.sqrt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이외 원의 방정식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np.pi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등 어떠한 공식도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수치해석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(Numerical Analysis)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만을 사용하여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 b="-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9B305A31-5173-2279-71D1-F9F6B726F6DD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6228ACC3-A399-78D4-2432-915B2FED579A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988216AA-378D-6F6E-B560-C5B6363B914D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DB9DE03F-1A59-4090-FD2F-A81242760567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D82DF7-CD37-2AA8-7F58-C953C8210908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EE66E0-CA29-4ED7-3384-E013D6DB6B2A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554903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55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1009650" y="1235438"/>
            <a:ext cx="5638800" cy="5262979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math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0; steps = 0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0.5  # (1,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</a:t>
            </a:r>
          </a:p>
          <a:p>
            <a:pPr>
              <a:buNone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단위원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y = sqrt(1 - x²)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x**2)    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사이의 거리</a:t>
            </a:r>
          </a:p>
          <a:p>
            <a:pPr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steps += 1;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총 단계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{steps:,}")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누적 거리 합계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{total_distance:.10f}")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원주율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*4:.10f}")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48450" y="1561854"/>
            <a:ext cx="4019550" cy="373429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B9F3531-27D9-88A2-80DE-10FDA2257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5821859"/>
            <a:ext cx="2217612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EC55-F36C-3EF2-2A0C-64ED17F2E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FF3D9CF-184B-D96E-5B39-928DB519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E090A-EAEA-05A5-AD9E-3C906FDE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원주율을 구하는 모의실험 코드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넓이는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np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  <a:blipFill>
                <a:blip r:embed="rId2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>
            <a:extLst>
              <a:ext uri="{FF2B5EF4-FFF2-40B4-BE49-F238E27FC236}">
                <a16:creationId xmlns:a16="http://schemas.microsoft.com/office/drawing/2014/main" id="{E06383BC-F98A-7155-6846-99523539B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46" y="2473875"/>
            <a:ext cx="4037993" cy="397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EE6840-F1F7-DEBF-A068-374A8CF3214E}"/>
              </a:ext>
            </a:extLst>
          </p:cNvPr>
          <p:cNvSpPr txBox="1"/>
          <p:nvPr/>
        </p:nvSpPr>
        <p:spPr>
          <a:xfrm>
            <a:off x="1029816" y="2473874"/>
            <a:ext cx="6462738" cy="397031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10_000_000  # 점의 개수 (많을수록 정확)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-1~1 사이의 무작위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좌표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원점으로부터의 거리가 1 이하인 점 = 원 안의 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x² + y² &lt;= 1  (피타고라스, π 사용 안 함!)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&lt;=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π 추정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4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f”점의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개수       : {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안의 점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f"추정된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π        : {pi_estimate:.6f}")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f"오차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):.6f}")</a:t>
            </a:r>
          </a:p>
        </p:txBody>
      </p:sp>
    </p:spTree>
    <p:extLst>
      <p:ext uri="{BB962C8B-B14F-4D97-AF65-F5344CB8AC3E}">
        <p14:creationId xmlns:p14="http://schemas.microsoft.com/office/powerpoint/2010/main" val="20981454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02A79-796A-0F10-5D7A-359C27CA0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58EAB55-435E-BC4B-21DF-B42E24C2B53B}"/>
              </a:ext>
            </a:extLst>
          </p:cNvPr>
          <p:cNvSpPr/>
          <p:nvPr/>
        </p:nvSpPr>
        <p:spPr>
          <a:xfrm>
            <a:off x="6675438" y="25863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933D5E-E3BA-0614-F4DE-8015CDB02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BB4E0AA-C5D0-0DF2-497C-52627462CE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5E2C09-4E17-4E54-B633-A4780891D6C7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6528427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3459-BD75-D432-BEA6-9C6B123A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85B3A8F-D9A1-03BF-1557-049F22586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58E022B-9CC7-3B06-E4F6-08C204E0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58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730D7B2-8F11-9986-6A3C-3F54951EE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–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39BC9-5604-0C54-A656-E0F72C6BD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37" y="3376095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212A4-8B49-3B6C-41A2-7EBEAC85A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943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86326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5E0C-50BB-F1AE-B91D-CD7055D9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A0B489-DABD-8485-0D53-A3B6771C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9166B6-5390-D265-7029-AF1A7582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59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BE3884-90D6-4205-75DE-61E2FC35D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아래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2392AE-FBAA-4939-6C80-3CA05F333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4779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9228610-B44F-2299-857C-27601FB50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316" y="254989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/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63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797F-FEEC-B823-2382-603B8BB0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EAB4AD8-69CE-0704-0F78-6C114454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B1CB07-4400-6BC2-0FC5-1EE76D14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60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1BFFC1A-4A14-F3B6-2AC3-14C41FE78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2"/>
            <a:ext cx="10876566" cy="15231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발생하며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81F12-DB99-FB5B-6A78-64FED969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981" y="2899845"/>
            <a:ext cx="8025132" cy="34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DE6F-6543-1CC5-84B7-38595329BB8F}"/>
              </a:ext>
            </a:extLst>
          </p:cNvPr>
          <p:cNvSpPr txBox="1"/>
          <p:nvPr/>
        </p:nvSpPr>
        <p:spPr>
          <a:xfrm>
            <a:off x="8829040" y="3533988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327584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6D3E2-09AF-E87A-3CEF-46469A2F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7CBD2D5-840A-1939-F816-4425D53FB31A}"/>
              </a:ext>
            </a:extLst>
          </p:cNvPr>
          <p:cNvSpPr/>
          <p:nvPr/>
        </p:nvSpPr>
        <p:spPr>
          <a:xfrm>
            <a:off x="6675438" y="31197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4713121-1123-AB5E-8834-F2E150E5B4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821A264-37CD-7155-DFB4-1E3685486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DEA79-31F4-8A1B-6DCF-5EFBEC55E61F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0078135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55D3D-F194-FF2A-491A-8A873F610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556CE03-35F1-D046-0275-50A16140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C66212E-BB83-C661-6D65-CD05B909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62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189BD10-8DA1-300F-CA8B-0DC91F762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Bootstrap Sample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이란 무엇인가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8706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857D7-1344-B58A-BDD9-A140227A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74E3F93-3B37-62D8-BEBE-62D5FAAA9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BA0B4F5-DAE4-3303-FB32-9B2A9096C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63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1828D43-DDF9-E3DE-4276-FB4399E64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64805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EF33-47B2-9FEA-0544-DA97EB8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F05D532-A9FD-B5D3-594E-38DF47B5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DFD7C5-1C3C-76A3-3F1E-1B278F95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데이터셋의 크기가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 때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원본 데이터에서 한 번 뽑은 데이터를 다시 넣고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복원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무작위로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번 추출하여 만든 새로운 샘플</a:t>
                </a:r>
                <a:endParaRPr lang="en-US" altLang="ko-KR" sz="1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중복 허용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동일한 데이터가 한 샘플 내에 여러 번 포함될 수 있음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미포함 데이터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확률적으로 원본 데이터의 약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36.8%(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600" i="0" dirty="0" smtClean="0">
                            <a:latin typeface="Cambria Math" panose="02040503050406030204" pitchFamily="18" charset="0"/>
                          </a:rPr>
                          <m:t>ⅇ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샘플에 포함되지 않는데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이를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OOB(Out-Of-Bag)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데이터라고 부르며 모델 검증용으로 활용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수치는 앞서 질문하신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선물을 못 받을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동일한 원리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Randomforest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모델의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</a:t>
                </a: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  <a:blipFill>
                <a:blip r:embed="rId2"/>
                <a:stretch>
                  <a:fillRect l="-1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>
            <a:extLst>
              <a:ext uri="{FF2B5EF4-FFF2-40B4-BE49-F238E27FC236}">
                <a16:creationId xmlns:a16="http://schemas.microsoft.com/office/drawing/2014/main" id="{83CD8436-2625-8128-83C4-23CE8FC95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862" y="3992687"/>
            <a:ext cx="5402483" cy="25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4918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FC7FC-0CD9-5C7C-DE74-4FB035E7B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BF7A0C5-DD05-C63B-13F9-7B6465BBBCED}"/>
              </a:ext>
            </a:extLst>
          </p:cNvPr>
          <p:cNvSpPr/>
          <p:nvPr/>
        </p:nvSpPr>
        <p:spPr>
          <a:xfrm>
            <a:off x="6675438" y="368168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C3B27C3-6565-5210-D21B-A3E71852F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95D255-9E96-EFD1-672F-B6114570CB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1ED29F-AD7A-AB68-9614-D207587A7F1B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21702415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2A364-1EBD-2EFD-D6BE-937CE143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CE9BC93-DDED-5445-834E-7678C8B6B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Theorm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D45968-6723-E03D-AD24-9D29D29A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66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6F887F-AE8F-1464-9EC1-7F7674022CBB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BBF2C-6413-4582-67FA-848627AD4379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643330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A5C1-2232-559A-62DE-2FBFA002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228FC41-607D-36E2-DD9F-8BFF042CC5E2}"/>
              </a:ext>
            </a:extLst>
          </p:cNvPr>
          <p:cNvSpPr/>
          <p:nvPr/>
        </p:nvSpPr>
        <p:spPr>
          <a:xfrm>
            <a:off x="6675438" y="42341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014E5E-1BD5-36AF-7F78-7E6022C5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C439E0B-0E1C-0A2A-CB51-B3FB7FB141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26F26C-37B9-0223-D76C-22FFA0464397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08311122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4CC3-0C25-936C-F4E5-BC6C8FAE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B6093B4-D84C-1182-BD67-09D1D89F1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Prince Frog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4CD2A0E-CCEC-F039-665F-40894A64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68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8D2309A-13E9-0BC5-9466-8BBC074E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9"/>
            <a:ext cx="10272637" cy="3012934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앞으로 인생에서 총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잠재적 파트너를 만날 수 있다고 가정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매칭되는 것이며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아래의 조건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번 거절한 사람에게는 다시 돌아갈 수 없음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만나는 순서는 무작위이며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좋은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선택할 확률을 최대화하려면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몇 번째 사람을 선책해야 하나요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07FF1A6-7C59-D849-56A1-6F4AF4D88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075" y="4357296"/>
            <a:ext cx="3334215" cy="199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10097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F5C5-515A-B7D3-2E61-F532DDB5E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BEC4F21-E175-78E6-E22E-8E0D0245E558}"/>
              </a:ext>
            </a:extLst>
          </p:cNvPr>
          <p:cNvSpPr/>
          <p:nvPr/>
        </p:nvSpPr>
        <p:spPr>
          <a:xfrm>
            <a:off x="6675438" y="4767537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73944A5-7027-1BCD-C48D-B09E9974E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B157A25-6F5B-1ED8-4901-B599F20A7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DEBB20-B4CC-5E76-4798-8AABCA78BD1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53673093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C8A9B-C99A-C323-49D3-D8FF332B2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E109C5D-CA46-86FE-B2F1-6B57CE974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Monty Hall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6715F2C-1C5F-58CD-F12C-7D8F314DC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C274E9-0890-E1EE-8815-6A6992A3E51A}"/>
              </a:ext>
            </a:extLst>
          </p:cNvPr>
          <p:cNvSpPr txBox="1"/>
          <p:nvPr/>
        </p:nvSpPr>
        <p:spPr>
          <a:xfrm>
            <a:off x="798974" y="1692410"/>
            <a:ext cx="2930832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CB3E241-1439-CF73-D1BF-D13C8F260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614" y="2724107"/>
            <a:ext cx="3466677" cy="192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E41BEFF-9277-101A-3ABF-53C7FEE19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2182" y="2764673"/>
            <a:ext cx="1619245" cy="9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BEF33F-CA64-0A15-EF29-6230B6B4D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3900957"/>
            <a:ext cx="815411" cy="9754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39BAFD2-095A-6333-05D9-AF58E4177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3900957"/>
            <a:ext cx="815411" cy="9754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13AB27E-3741-C7E7-A100-08C4C10D4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3900957"/>
            <a:ext cx="815411" cy="9754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137632-6EED-1197-4575-AD5C447484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3900957"/>
            <a:ext cx="815411" cy="97544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C9BAD1F-4835-0E00-BE05-7B991DEA5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3900957"/>
            <a:ext cx="815411" cy="9754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72470AC-D0CC-6A8D-F111-86F68089C0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3900957"/>
            <a:ext cx="815411" cy="9754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865E442-B4BD-7CFF-FCDF-2E85B2CB4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3900957"/>
            <a:ext cx="815411" cy="97544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F2D7143-68C6-2326-F00F-A8CD8AE3B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5158257"/>
            <a:ext cx="815411" cy="97544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728F616-5440-AC06-EAC7-44E4E6C96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5158257"/>
            <a:ext cx="815411" cy="97544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5F19E73-7B96-06A5-14A6-B60E4358AB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5158257"/>
            <a:ext cx="815411" cy="97544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21514DF-CA86-07A5-AD6C-AD2DEA2FE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5158257"/>
            <a:ext cx="815411" cy="97544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9CD22BE-CA91-2684-1E36-B34F6E837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5158257"/>
            <a:ext cx="815411" cy="97544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35F4664-A966-C87F-5C78-A301749DF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5158257"/>
            <a:ext cx="815411" cy="97544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EAAFF8B-1A89-D60D-75AB-E4265EDD2C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5158257"/>
            <a:ext cx="815411" cy="97544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EC7DF29-C3D6-F404-E972-77857EC56D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2724107"/>
            <a:ext cx="815411" cy="97544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7D508969-A288-B230-8DB6-EC39464787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2724107"/>
            <a:ext cx="815411" cy="9754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BD36F70-C846-8BF0-2823-F0053E6B7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2724107"/>
            <a:ext cx="815411" cy="97544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12697E6A-BB42-EA03-FEFB-7A44EA579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2724107"/>
            <a:ext cx="815411" cy="97544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EC62F4DC-1018-0126-1558-960B8E9E3342}"/>
              </a:ext>
            </a:extLst>
          </p:cNvPr>
          <p:cNvSpPr txBox="1"/>
          <p:nvPr/>
        </p:nvSpPr>
        <p:spPr>
          <a:xfrm>
            <a:off x="6051006" y="1692410"/>
            <a:ext cx="5342020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10,000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877497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EB95C-663F-55A3-2C59-BB57214F3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CB2A46-7281-C175-6EB6-C6A33407C013}"/>
              </a:ext>
            </a:extLst>
          </p:cNvPr>
          <p:cNvSpPr/>
          <p:nvPr/>
        </p:nvSpPr>
        <p:spPr>
          <a:xfrm>
            <a:off x="6675438" y="531046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6B83DF6-0F13-A6BD-2276-61C6896FA3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6031069-D79B-DC13-96CD-B14397EAE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508433-FC9D-459F-20CD-CAC1421288F5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9099620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AC54-C4ED-A5C3-A213-8356B5F64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10A659-B508-3847-D95D-D5EDC55F7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Genetic 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5590872-92AA-7F11-7855-536F5E7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41AEC-0375-D5D0-1BC0-45800051E25B}"/>
              </a:ext>
            </a:extLst>
          </p:cNvPr>
          <p:cNvSpPr txBox="1"/>
          <p:nvPr/>
        </p:nvSpPr>
        <p:spPr>
          <a:xfrm>
            <a:off x="675209" y="1437904"/>
            <a:ext cx="11377264" cy="454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유전자 알고리즘으로 구하는 파이썬 코드를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" name="그림 29" descr="Best Practices for Tuning Genetic Algorithm Parameters">
            <a:extLst>
              <a:ext uri="{FF2B5EF4-FFF2-40B4-BE49-F238E27FC236}">
                <a16:creationId xmlns:a16="http://schemas.microsoft.com/office/drawing/2014/main" id="{F123030E-E593-CC71-17F7-A38A55A62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790" y="2266684"/>
            <a:ext cx="5678585" cy="378572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DFA542B-465A-3FAA-9CFB-CC45AB510537}"/>
              </a:ext>
            </a:extLst>
          </p:cNvPr>
          <p:cNvSpPr txBox="1"/>
          <p:nvPr/>
        </p:nvSpPr>
        <p:spPr>
          <a:xfrm>
            <a:off x="1772790" y="6210299"/>
            <a:ext cx="83618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hlinkClick r:id="rId3"/>
              </a:rPr>
              <a:t>https://www.woodruff.dev/wp-content/uploads/2025/09/Best-Practices-for-Tuning-Genetic-Algorithm-Parameters.png</a:t>
            </a:r>
            <a:r>
              <a:rPr lang="ko-KR" altLang="en-US" sz="105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1158295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81843-0320-9E01-A949-B9D36E0E1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B51BC5E-1A6E-1357-814F-94F490713DA3}"/>
              </a:ext>
            </a:extLst>
          </p:cNvPr>
          <p:cNvSpPr/>
          <p:nvPr/>
        </p:nvSpPr>
        <p:spPr>
          <a:xfrm>
            <a:off x="6675438" y="5862912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06CFD27-BD7D-CF71-6FEA-6E881F54D2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BBCCE8-7E4F-D075-A615-A08547638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440AE8-F812-175A-98CA-BA4F82011F5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23893524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5953D-C500-5F1D-7DFF-6810FE097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915BB03-0ACC-F981-4BCD-AB72175E4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3EE4ECF-F522-E598-8198-62166279C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74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3BFE282-10B7-3563-1EAE-190C2973B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3" y="1339880"/>
            <a:ext cx="10257442" cy="409889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생물학적 또는 물리적 현상을 이해할 수 있도록 수학적으로 묘사하는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컴퓨터는 미분과 적분 연산에 최적화되어 있어 세포분열 현상을 미분식으로 표현하면 컴퓨터는 미래를 예측할 수 있음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미분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세포분열의 경우 분열 속도를 미분방정식으로 표현하고 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일정 시간 이후 세포는 몇 개까지 증식하는지는 적분하여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199179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E07E6-0097-53F1-CF57-CE83DD4F4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DAAAD77-063D-96F0-BB80-C0675F456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8C4E1BA-B6E4-E7CE-F181-F9A168C48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75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9FB737C-8207-A095-80A7-945984DC6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059" y="4113840"/>
            <a:ext cx="1116966" cy="2546683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37F876-EDC2-C2AF-3A20-8AEBD33F6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275426"/>
            <a:ext cx="9890853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아메바나 인체 세포는 일정 크기로 성장하면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분열하고 정상 세포는 보통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주기로 아래와 같이 분열한다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증식 속도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(Rate)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속도는 “늘어난 세포의 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걸린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시간”으로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정의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세포가 많을수록 분열하는 개체수도 늘어나므로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 속도는 현재 세포 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비례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E106E1-3309-58F0-CD71-036E1EAE6B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926303" y="4333492"/>
            <a:ext cx="1398297" cy="94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84409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E31F4-3629-1A16-B98B-58ACE0810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0ED49C8-B5F8-591F-577B-FDB854C59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CACF84-D19C-8F63-2D7B-5FCAF5557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76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3810B7BD-B816-1B3E-64B3-B86C9C7EE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618326"/>
            <a:ext cx="10350827" cy="337277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변화율 식을 시간에 대해 적분하면 시간에 따른 세포 수를 예측할 수 있고 이 결과를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축은 세포 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좌표에 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방식으로 코딩하거나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미분방정식을 정의하고 적분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757666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4C972-7F47-0F03-CA39-239005494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C50CE5F-703B-628B-E278-C73CF443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1204269-D9CC-2292-140C-7F7FF6FEA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77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7DC6FCB2-F7C1-D37F-A9DD-7D713B2C5E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7642" y="2450726"/>
            <a:ext cx="5800722" cy="4126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6A5471-1D29-1F73-8FD7-C24096714D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424329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이후에는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아니라 자연상수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오일러상수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2.718….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배가 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 수가 늘어남에 따라 증가 속도가 실시간으로 가속되어 기하급수적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(Exponential)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증가함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060B01F-E4BD-E2D1-75B0-48F2EEE16D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09896" y="2602882"/>
            <a:ext cx="1981007" cy="5933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71ABFD-946E-D12D-4E2E-CD43619BDA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4346" y="5316568"/>
            <a:ext cx="1646063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9083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B09BF-2EFA-5CFC-1E67-010A60511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4C2746F-56DA-F8D8-9041-05E04FAA2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AC6E2DD-E529-FB78-B038-B1FED6A27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78</a:t>
            </a:fld>
            <a:endParaRPr lang="en-US" dirty="0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785C4201-B3BA-4E6E-7C3B-F16863AB2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242" y="2707024"/>
            <a:ext cx="5760544" cy="376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612A4A-92A5-9BA1-C4A8-200B7C4CA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54097"/>
            <a:ext cx="10876566" cy="132920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변분법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(calculus of variations)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사고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에서는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 지금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1.17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속도로 올라가야 해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!＂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명령어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접선의 식은 그 명령어를 받아서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그럼 일단 이 방향으로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가볼게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그려본 가상의 직선 경로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25397D-E731-72CE-E943-A7168541C1AD}"/>
              </a:ext>
            </a:extLst>
          </p:cNvPr>
          <p:cNvSpPr txBox="1"/>
          <p:nvPr/>
        </p:nvSpPr>
        <p:spPr>
          <a:xfrm>
            <a:off x="6894055" y="2719003"/>
            <a:ext cx="4135896" cy="821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접선을 </a:t>
            </a:r>
            <a:r>
              <a:rPr lang="en-US" altLang="ko-KR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t=80 </a:t>
            </a:r>
            <a:r>
              <a:rPr lang="ko-KR" altLang="en-US" sz="1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근처에서 아주 짧게 그리면 실제 세포 수 곡선과 거의 일치하게 되며 이 원리를 이용해서 컴퓨터는 복잡한 미분 방정식을 한 단계씩 직선으로 연결하며 풀어나감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11AAC54-8BFB-E2C4-CCC4-3568C30B8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9654" y="3886200"/>
            <a:ext cx="3068557" cy="258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2546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03BA3-84EC-7D4E-9E83-258732FC5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36E194C-CF84-05F2-829A-D5469AA44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13E83F1-FF0D-A1E4-E03B-195B69B0A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79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60803C31-F401-2986-B0C3-AB38050D8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9914541" cy="199764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정상세포 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감염세포 수로 가정하고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다음과 같이 상호작용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시간안에 세포분열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X + X)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정상세포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24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시간안에 감염시킴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+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+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X,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대한 미분방정식을 만들어라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157BD95-8719-AE25-A87A-DC3525D52FD8}"/>
                  </a:ext>
                </a:extLst>
              </p:cNvPr>
              <p:cNvSpPr txBox="1"/>
              <p:nvPr/>
            </p:nvSpPr>
            <p:spPr>
              <a:xfrm>
                <a:off x="5695950" y="3746903"/>
                <a:ext cx="6096000" cy="1107804"/>
              </a:xfrm>
              <a:prstGeom prst="rect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7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i="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1700" i="0" dirty="0" err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i="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  <m:r>
                      <a:rPr lang="ko-KR" altLang="en-US" sz="1700" i="0" dirty="0" err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　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</a:t>
                </a:r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양이 시간에 따라 어떻게 변하는지.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＋</m:t>
                    </m:r>
                    <m:f>
                      <m:fPr>
                        <m:ctrlPr>
                          <a:rPr lang="ko-KR" altLang="en-US" sz="17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170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스스로 복제되는 증가 항.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－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만나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소모되는 감소 항.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157BD95-8719-AE25-A87A-DC3525D52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950" y="3746903"/>
                <a:ext cx="6096000" cy="1107804"/>
              </a:xfrm>
              <a:prstGeom prst="rect">
                <a:avLst/>
              </a:prstGeom>
              <a:blipFill>
                <a:blip r:embed="rId2"/>
                <a:stretch>
                  <a:fillRect l="-399" b="-6011"/>
                </a:stretch>
              </a:blipFill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EFC8F03-4097-2B23-E3E7-269E0653C04F}"/>
                  </a:ext>
                </a:extLst>
              </p:cNvPr>
              <p:cNvSpPr txBox="1"/>
              <p:nvPr/>
            </p:nvSpPr>
            <p:spPr>
              <a:xfrm>
                <a:off x="5695950" y="5182668"/>
                <a:ext cx="6096000" cy="999313"/>
              </a:xfrm>
              <a:prstGeom prst="rect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7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1700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smtClean="0">
                            <a:latin typeface="Cambria Math" panose="02040503050406030204" pitchFamily="18" charset="0"/>
                          </a:rPr>
                          <m:t>𝑌</m:t>
                        </m:r>
                      </m:num>
                      <m:den>
                        <m:r>
                          <a:rPr lang="ko-KR" altLang="en-US" sz="1700" i="0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17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17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ko-KR" altLang="en-US" sz="1700" i="0" smtClean="0">
                        <a:latin typeface="Cambria Math" panose="02040503050406030204" pitchFamily="18" charset="0"/>
                      </a:rPr>
                      <m:t>−ⅆ</m:t>
                    </m:r>
                    <m:r>
                      <a:rPr lang="ko-KR" altLang="en-US" sz="170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　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양이 시간에 따라 어떻게 변하는지.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 smtClean="0">
                        <a:latin typeface="Cambria Math" panose="02040503050406030204" pitchFamily="18" charset="0"/>
                      </a:rPr>
                      <m:t>＋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𝑘𝑋</m:t>
                    </m:r>
                    <m:r>
                      <a:rPr lang="ko-KR" altLang="en-US" sz="1700" i="1" dirty="0" err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만나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증가하는 증가 항.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－</m:t>
                    </m:r>
                    <m:r>
                      <a:rPr lang="ko-KR" altLang="en-US" sz="1700">
                        <a:latin typeface="Cambria Math" panose="02040503050406030204" pitchFamily="18" charset="0"/>
                      </a:rPr>
                      <m:t>ⅆ</m:t>
                    </m:r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소멸되는 감소 항.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EFC8F03-4097-2B23-E3E7-269E0653C0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950" y="5182668"/>
                <a:ext cx="6096000" cy="999313"/>
              </a:xfrm>
              <a:prstGeom prst="rect">
                <a:avLst/>
              </a:prstGeom>
              <a:blipFill>
                <a:blip r:embed="rId3"/>
                <a:stretch>
                  <a:fillRect l="-399" b="-6627"/>
                </a:stretch>
              </a:blipFill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EDBFDED1-B5CB-0038-345F-FCB775FCE7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7864" y="3739833"/>
            <a:ext cx="1737511" cy="6629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6D45B05-3F32-1279-AADB-08759DB757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7864" y="5184455"/>
            <a:ext cx="1722269" cy="6706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5CA98D-1DC3-FF38-7C36-9416B0CDFE93}"/>
                  </a:ext>
                </a:extLst>
              </p:cNvPr>
              <p:cNvSpPr txBox="1"/>
              <p:nvPr/>
            </p:nvSpPr>
            <p:spPr>
              <a:xfrm>
                <a:off x="454511" y="3914870"/>
                <a:ext cx="6529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80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5CA98D-1DC3-FF38-7C36-9416B0CDF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511" y="3914870"/>
                <a:ext cx="65292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D917CD-D06F-8342-BF29-D25FA66D84EE}"/>
                  </a:ext>
                </a:extLst>
              </p:cNvPr>
              <p:cNvSpPr txBox="1"/>
              <p:nvPr/>
            </p:nvSpPr>
            <p:spPr>
              <a:xfrm>
                <a:off x="454511" y="5255575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D917CD-D06F-8342-BF29-D25FA66D84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511" y="5255575"/>
                <a:ext cx="97551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081820-7717-617E-414D-9795A5CCF519}"/>
                  </a:ext>
                </a:extLst>
              </p:cNvPr>
              <p:cNvSpPr txBox="1"/>
              <p:nvPr/>
            </p:nvSpPr>
            <p:spPr>
              <a:xfrm>
                <a:off x="2741780" y="5255575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081820-7717-617E-414D-9795A5CCF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780" y="5255575"/>
                <a:ext cx="97551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DE5EB4F-0821-B003-81CA-29E18BAC8F12}"/>
                  </a:ext>
                </a:extLst>
              </p:cNvPr>
              <p:cNvSpPr txBox="1"/>
              <p:nvPr/>
            </p:nvSpPr>
            <p:spPr>
              <a:xfrm>
                <a:off x="2741780" y="3914870"/>
                <a:ext cx="9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8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＋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DE5EB4F-0821-B003-81CA-29E18BAC8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1780" y="3914870"/>
                <a:ext cx="97551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0D9C063-5369-C69C-E0B4-1274029A98F3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1107440" y="4099536"/>
            <a:ext cx="16343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3DB4534-49B1-6F64-BF85-5067A640AB67}"/>
              </a:ext>
            </a:extLst>
          </p:cNvPr>
          <p:cNvSpPr txBox="1"/>
          <p:nvPr/>
        </p:nvSpPr>
        <p:spPr>
          <a:xfrm>
            <a:off x="1538530" y="3669666"/>
            <a:ext cx="77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1/24</a:t>
            </a:r>
            <a:endParaRPr lang="ko-KR" altLang="en-US" sz="140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9A198041-6AC5-383B-4234-34E6192E933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1430021" y="5440241"/>
            <a:ext cx="131175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A93524F-66A7-C4A9-9346-A4BA2CF046F1}"/>
              </a:ext>
            </a:extLst>
          </p:cNvPr>
          <p:cNvSpPr txBox="1"/>
          <p:nvPr/>
        </p:nvSpPr>
        <p:spPr>
          <a:xfrm>
            <a:off x="1619810" y="4964800"/>
            <a:ext cx="77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59895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9" grpId="0"/>
      <p:bldP spid="10" grpId="0"/>
      <p:bldP spid="11" grpId="0"/>
      <p:bldP spid="12" grpId="0"/>
      <p:bldP spid="14" grpId="0"/>
      <p:bldP spid="1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60FD-E99D-D988-2B0E-5229AE05B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9DD9F4E-0D7D-776B-7505-4C818F90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3DB7B7C-2481-58D4-8C51-AE9453CA6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C3E6F98-F6E9-2CB8-A4A8-C95382A9B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10876566" cy="175798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대한 미분방정식을 만들고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시간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(t)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에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X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와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Y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의 그래프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제시하라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초기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정상세포와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감염세포의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수를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변경하면서 확인하라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감염률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(k)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과 감염세포의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소멸율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(d)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가 변화하면 어떤 그래프 모양인지 확인하라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ECBC3E-0DFD-90E3-AB55-0B8DDACFF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7188" y="2871439"/>
            <a:ext cx="6333142" cy="3431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2E0D2AA-2F8E-3F86-EDCA-19510A4FC9A9}"/>
              </a:ext>
            </a:extLst>
          </p:cNvPr>
          <p:cNvSpPr txBox="1"/>
          <p:nvPr/>
        </p:nvSpPr>
        <p:spPr>
          <a:xfrm>
            <a:off x="8435659" y="3986561"/>
            <a:ext cx="3756341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= 0.1      # Reaction rate for X + Y → Y + Y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 = 0.05   # Decay rate of Y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2B866B-E6FD-215D-D54D-20A7387A18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2134" y="2871439"/>
            <a:ext cx="870945" cy="957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94846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4AEA5-9006-EB24-FDDB-0055E87BD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D749A40-9BBB-899D-59C0-D2DF0EE6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24ADDE5-34BE-329C-8078-7E458126D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81</a:t>
            </a:fld>
            <a:endParaRPr lang="en-US" dirty="0"/>
          </a:p>
        </p:txBody>
      </p:sp>
      <p:pic>
        <p:nvPicPr>
          <p:cNvPr id="19" name="Picture 3">
            <a:extLst>
              <a:ext uri="{FF2B5EF4-FFF2-40B4-BE49-F238E27FC236}">
                <a16:creationId xmlns:a16="http://schemas.microsoft.com/office/drawing/2014/main" id="{1DA27186-1ACA-6302-0BC0-54B76F14B2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3616" y="2851047"/>
            <a:ext cx="4913104" cy="3665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내용 개체 틀 2">
                <a:extLst>
                  <a:ext uri="{FF2B5EF4-FFF2-40B4-BE49-F238E27FC236}">
                    <a16:creationId xmlns:a16="http://schemas.microsoft.com/office/drawing/2014/main" id="{A86EE2C1-9794-C1FA-DDBD-72517AC7D6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5384" y="1113456"/>
                <a:ext cx="10876566" cy="1895484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S</a:t>
                </a:r>
                <a:r>
                  <a:rPr lang="ko-KR" altLang="en-US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자 곡선</a:t>
                </a:r>
                <a:r>
                  <a:rPr lang="en-US" altLang="ko-KR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(S-shape)' </a:t>
                </a:r>
                <a:r>
                  <a:rPr lang="ko-KR" altLang="en-US" sz="24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형태의 전염병 확산 모델</a:t>
                </a:r>
                <a:endParaRPr lang="en-US" altLang="ko-KR" sz="24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sym typeface="Wingdings" panose="05000000000000000000" pitchFamily="2" charset="2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전염병 모델링에서 가장 대표적인 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'S-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자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' 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곡선은 로지스틱 성장 모델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(Logistic Growth Model)</a:t>
                </a: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이 모델은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ko-KR" altLang="en-US" sz="2000" dirty="0" err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sz="2000" i="1" dirty="0" err="1">
                            <a:latin typeface="Cambria Math" panose="02040503050406030204" pitchFamily="18" charset="0"/>
                          </a:rPr>
                          <m:t>𝑋</m:t>
                        </m:r>
                      </m:num>
                      <m:den>
                        <m:r>
                          <a:rPr lang="ko-KR" altLang="en-US" sz="2000" dirty="0" err="1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</m:oMath>
                </a14:m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와 같은 단순한 미분방정식으로 표현되지 않으며</a:t>
                </a:r>
                <a:r>
                  <a:rPr lang="en-US" altLang="ko-KR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, </a:t>
                </a:r>
                <a:r>
                  <a:rPr lang="ko-KR" altLang="en-US" sz="20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인구 수에 비례하여 확산 속도가 달라지는 형태</a:t>
                </a:r>
                <a:endParaRPr lang="en-US" altLang="ko-KR" sz="20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sym typeface="Wingdings" panose="05000000000000000000" pitchFamily="2" charset="2"/>
                </a:endParaRPr>
              </a:p>
              <a:p>
                <a:pPr lvl="1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2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0" name="내용 개체 틀 2">
                <a:extLst>
                  <a:ext uri="{FF2B5EF4-FFF2-40B4-BE49-F238E27FC236}">
                    <a16:creationId xmlns:a16="http://schemas.microsoft.com/office/drawing/2014/main" id="{A86EE2C1-9794-C1FA-DDBD-72517AC7D6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5384" y="1113456"/>
                <a:ext cx="10876566" cy="1895484"/>
              </a:xfrm>
              <a:blipFill>
                <a:blip r:embed="rId3"/>
                <a:stretch>
                  <a:fillRect l="-224" r="-1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81536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CA68-25FD-5A44-8B75-29A9B139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FC0E191-BBE0-B8E7-2D67-C4E4F0136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Equation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B8A9F04-3CDC-9615-1CAC-5C9FB352D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82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A7A6C9A-3EE0-44FB-5485-99F3AF260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384" y="1113457"/>
            <a:ext cx="10876566" cy="6988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자 곡선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(S-shape)'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형태의 전염병 확산 모델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05015587-3BF1-D836-871E-92509A13FA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5" y="1970212"/>
            <a:ext cx="5292048" cy="343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DDB58511-27CA-A866-3E0E-10B0F9012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5296" y="1970212"/>
            <a:ext cx="4941496" cy="343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87884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3197</TotalTime>
  <Words>5880</Words>
  <Application>Microsoft Office PowerPoint</Application>
  <PresentationFormat>와이드스크린</PresentationFormat>
  <Paragraphs>984</Paragraphs>
  <Slides>82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82</vt:i4>
      </vt:variant>
    </vt:vector>
  </HeadingPairs>
  <TitlesOfParts>
    <vt:vector size="92" baseType="lpstr">
      <vt:lpstr>D2Coding</vt:lpstr>
      <vt:lpstr>맑은 고딕</vt:lpstr>
      <vt:lpstr>맑은 고딕 Semilight</vt:lpstr>
      <vt:lpstr>Arial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  <vt:lpstr>Contents</vt:lpstr>
      <vt:lpstr>Transportation Problems</vt:lpstr>
      <vt:lpstr>Transportation Problems</vt:lpstr>
      <vt:lpstr>Transportation Problems</vt:lpstr>
      <vt:lpstr>Contents</vt:lpstr>
      <vt:lpstr>Simulation</vt:lpstr>
      <vt:lpstr>Simulation</vt:lpstr>
      <vt:lpstr>Simulation</vt:lpstr>
      <vt:lpstr>Contents</vt:lpstr>
      <vt:lpstr>Random walk simulation</vt:lpstr>
      <vt:lpstr>Random walk simulation</vt:lpstr>
      <vt:lpstr>Random walk simulation</vt:lpstr>
      <vt:lpstr>Contents</vt:lpstr>
      <vt:lpstr>Bootstrap sampling</vt:lpstr>
      <vt:lpstr>Bootstrap sampling</vt:lpstr>
      <vt:lpstr>Bootstrap sampling</vt:lpstr>
      <vt:lpstr>Contents</vt:lpstr>
      <vt:lpstr>Central Limit Theorm</vt:lpstr>
      <vt:lpstr>Contents</vt:lpstr>
      <vt:lpstr>Prince Frog</vt:lpstr>
      <vt:lpstr>Contents</vt:lpstr>
      <vt:lpstr>Monty Hall</vt:lpstr>
      <vt:lpstr>Contents</vt:lpstr>
      <vt:lpstr>Genetic algorithm</vt:lpstr>
      <vt:lpstr>Contents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  <vt:lpstr>Differential Equation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26</cp:revision>
  <dcterms:created xsi:type="dcterms:W3CDTF">2026-04-11T22:24:40Z</dcterms:created>
  <dcterms:modified xsi:type="dcterms:W3CDTF">2026-05-16T14:53:45Z</dcterms:modified>
</cp:coreProperties>
</file>