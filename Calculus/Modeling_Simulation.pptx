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8"/>
  </p:notesMasterIdLst>
  <p:sldIdLst>
    <p:sldId id="256" r:id="rId2"/>
    <p:sldId id="274" r:id="rId3"/>
    <p:sldId id="257" r:id="rId4"/>
    <p:sldId id="397" r:id="rId5"/>
    <p:sldId id="379" r:id="rId6"/>
    <p:sldId id="380" r:id="rId7"/>
    <p:sldId id="260" r:id="rId8"/>
    <p:sldId id="265" r:id="rId9"/>
    <p:sldId id="358" r:id="rId10"/>
    <p:sldId id="343" r:id="rId11"/>
    <p:sldId id="259" r:id="rId12"/>
    <p:sldId id="318" r:id="rId13"/>
    <p:sldId id="359" r:id="rId14"/>
    <p:sldId id="360" r:id="rId15"/>
    <p:sldId id="361" r:id="rId16"/>
    <p:sldId id="317" r:id="rId17"/>
    <p:sldId id="399" r:id="rId18"/>
    <p:sldId id="267" r:id="rId19"/>
    <p:sldId id="285" r:id="rId20"/>
    <p:sldId id="272" r:id="rId21"/>
    <p:sldId id="273" r:id="rId22"/>
    <p:sldId id="401" r:id="rId23"/>
    <p:sldId id="269" r:id="rId24"/>
    <p:sldId id="404" r:id="rId25"/>
    <p:sldId id="308" r:id="rId26"/>
    <p:sldId id="320" r:id="rId27"/>
    <p:sldId id="387" r:id="rId28"/>
    <p:sldId id="388" r:id="rId29"/>
    <p:sldId id="394" r:id="rId30"/>
    <p:sldId id="393" r:id="rId31"/>
    <p:sldId id="310" r:id="rId32"/>
    <p:sldId id="389" r:id="rId33"/>
    <p:sldId id="390" r:id="rId34"/>
    <p:sldId id="392" r:id="rId35"/>
    <p:sldId id="391" r:id="rId36"/>
    <p:sldId id="395" r:id="rId37"/>
    <p:sldId id="405" r:id="rId38"/>
    <p:sldId id="299" r:id="rId39"/>
    <p:sldId id="406" r:id="rId40"/>
    <p:sldId id="407" r:id="rId41"/>
    <p:sldId id="408" r:id="rId42"/>
    <p:sldId id="290" r:id="rId43"/>
    <p:sldId id="367" r:id="rId44"/>
    <p:sldId id="291" r:id="rId45"/>
    <p:sldId id="365" r:id="rId46"/>
    <p:sldId id="366" r:id="rId47"/>
    <p:sldId id="363" r:id="rId48"/>
    <p:sldId id="396" r:id="rId49"/>
    <p:sldId id="362" r:id="rId50"/>
    <p:sldId id="307" r:id="rId51"/>
    <p:sldId id="292" r:id="rId52"/>
    <p:sldId id="368" r:id="rId53"/>
    <p:sldId id="403" r:id="rId54"/>
    <p:sldId id="293" r:id="rId55"/>
    <p:sldId id="294" r:id="rId56"/>
    <p:sldId id="295" r:id="rId5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5845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en.wikipedia.org/wiki/Function_(mathematics)" TargetMode="External"/><Relationship Id="rId7" Type="http://schemas.openxmlformats.org/officeDocument/2006/relationships/image" Target="../media/image10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gif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jpeg"/><Relationship Id="rId9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8.png"/><Relationship Id="rId7" Type="http://schemas.openxmlformats.org/officeDocument/2006/relationships/image" Target="../media/image5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60.png"/><Relationship Id="rId10" Type="http://schemas.openxmlformats.org/officeDocument/2006/relationships/hyperlink" Target="https://en.wikipedia.org/wiki/Sign_function" TargetMode="External"/><Relationship Id="rId4" Type="http://schemas.openxmlformats.org/officeDocument/2006/relationships/image" Target="../media/image59.png"/><Relationship Id="rId9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cornell.edu/courses/cs4780/2018sp/lectures/lecturenote08.html" TargetMode="External"/><Relationship Id="rId7" Type="http://schemas.openxmlformats.org/officeDocument/2006/relationships/hyperlink" Target="https://en.wikipedia.org/wiki/Linear_regression" TargetMode="External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hyperlink" Target="https://scikit-learn.org/stable/auto_examples/linear_model/plot_ols_ridge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hyperlink" Target="https://mlu-explain.github.io/bias-variance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hyperlink" Target="https://plus.maths.org/mathematical-dating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e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hyperlink" Target="https://en.wikipedia.org/wiki/Leonhard_Euler" TargetMode="Externa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montecarlo_method.ipynb" TargetMode="External"/><Relationship Id="rId7" Type="http://schemas.openxmlformats.org/officeDocument/2006/relationships/hyperlink" Target="https://en.wikipedia.org/wiki/Random_sampling" TargetMode="External"/><Relationship Id="rId2" Type="http://schemas.openxmlformats.org/officeDocument/2006/relationships/image" Target="../media/image84.gif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Resampling_(statistics)" TargetMode="External"/><Relationship Id="rId5" Type="http://schemas.openxmlformats.org/officeDocument/2006/relationships/hyperlink" Target="https://en.wikipedia.org/wiki/Algorithm" TargetMode="External"/><Relationship Id="rId4" Type="http://schemas.openxmlformats.org/officeDocument/2006/relationships/hyperlink" Target="https://en.wikipedia.org/wiki/Computation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lgorithm" TargetMode="External"/><Relationship Id="rId7" Type="http://schemas.openxmlformats.org/officeDocument/2006/relationships/hyperlink" Target="https://en.wikipedia.org/wiki/Deterministic_system" TargetMode="External"/><Relationship Id="rId2" Type="http://schemas.openxmlformats.org/officeDocument/2006/relationships/hyperlink" Target="https://en.wikipedia.org/wiki/Computat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Randomness" TargetMode="External"/><Relationship Id="rId5" Type="http://schemas.openxmlformats.org/officeDocument/2006/relationships/hyperlink" Target="https://en.wikipedia.org/wiki/Random_sampling" TargetMode="External"/><Relationship Id="rId4" Type="http://schemas.openxmlformats.org/officeDocument/2006/relationships/hyperlink" Target="https://en.wikipedia.org/wiki/Resampling_(statistics)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1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65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1.png"/><Relationship Id="rId2" Type="http://schemas.openxmlformats.org/officeDocument/2006/relationships/hyperlink" Target="https://github.com/ancestor9/mathematics-for-machine-learning/blob/main/scripts/Image_representation.ipynb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101ai.net/vision/conv-kernels" TargetMode="Externa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gif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What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 err="1">
                <a:solidFill>
                  <a:schemeClr val="tx1"/>
                </a:solidFill>
              </a:rPr>
              <a:t>sympy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Random walk simulation</a:t>
            </a:r>
            <a:endParaRPr lang="en-US" altLang="ko-KR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DC34E-2124-47A9-3BA6-29D6AC73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8CD59E9-1860-DFE0-CB26-4BF1B50EC0BE}"/>
              </a:ext>
            </a:extLst>
          </p:cNvPr>
          <p:cNvSpPr/>
          <p:nvPr/>
        </p:nvSpPr>
        <p:spPr>
          <a:xfrm>
            <a:off x="1104901" y="20701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C40625-33EA-CE08-38CA-03C2DFFB86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E1F959A-62C3-5DD3-17B3-E9FB5096A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What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 err="1">
                <a:solidFill>
                  <a:schemeClr val="tx1"/>
                </a:solidFill>
              </a:rPr>
              <a:t>sympy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Random walk simulation</a:t>
            </a:r>
            <a:endParaRPr lang="en-US" altLang="ko-KR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1326712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35ECCF-FC83-07D0-E9CF-44010CCF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8883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The sensitivity to change(slope,</a:t>
            </a:r>
            <a:r>
              <a:rPr lang="ko-KR" altLang="en-US" dirty="0"/>
              <a:t> </a:t>
            </a:r>
            <a:r>
              <a:rPr lang="en-US" altLang="ko-KR" dirty="0"/>
              <a:t>instantaneous rate of change) of a </a:t>
            </a:r>
            <a:r>
              <a:rPr lang="en-US" altLang="ko-KR" dirty="0">
                <a:hlinkClick r:id="rId3" tooltip="Function (mathema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function</a:t>
            </a:r>
            <a:r>
              <a:rPr lang="en-US" altLang="ko-KR" dirty="0"/>
              <a:t>'s output with respect to its input</a:t>
            </a:r>
            <a:endParaRPr lang="ko-KR" alt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964697" y="3054516"/>
            <a:ext cx="2905125" cy="2082470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blipFill>
                <a:blip r:embed="rId4"/>
                <a:stretch>
                  <a:fillRect l="-274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Output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 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blipFill>
                <a:blip r:embed="rId5"/>
                <a:stretch>
                  <a:fillRect l="-3180" t="-10000" r="-2473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/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bg1"/>
                    </a:solidFill>
                    <a:hlinkClick r:id="rId3" tooltip="Function (mathematics)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Function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ko-KR" altLang="en-US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blipFill>
                <a:blip r:embed="rId6"/>
                <a:stretch>
                  <a:fillRect l="-1961" t="-4717"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그룹 13">
            <a:extLst>
              <a:ext uri="{FF2B5EF4-FFF2-40B4-BE49-F238E27FC236}">
                <a16:creationId xmlns:a16="http://schemas.microsoft.com/office/drawing/2014/main" id="{35EF7531-9F46-3380-2528-8B4EFF13B6B3}"/>
              </a:ext>
            </a:extLst>
          </p:cNvPr>
          <p:cNvGrpSpPr/>
          <p:nvPr/>
        </p:nvGrpSpPr>
        <p:grpSpPr>
          <a:xfrm>
            <a:off x="7577010" y="3054516"/>
            <a:ext cx="2903493" cy="2101519"/>
            <a:chOff x="6580019" y="2942772"/>
            <a:chExt cx="2903493" cy="2101519"/>
          </a:xfrm>
          <a:solidFill>
            <a:srgbClr val="FF0000"/>
          </a:solidFill>
        </p:grpSpPr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E8D100C2-F617-26FD-F7A3-83F01256CF89}"/>
                </a:ext>
              </a:extLst>
            </p:cNvPr>
            <p:cNvSpPr/>
            <p:nvPr/>
          </p:nvSpPr>
          <p:spPr>
            <a:xfrm rot="10800000">
              <a:off x="6580019" y="2942772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이등변 삼각형 10">
              <a:extLst>
                <a:ext uri="{FF2B5EF4-FFF2-40B4-BE49-F238E27FC236}">
                  <a16:creationId xmlns:a16="http://schemas.microsoft.com/office/drawing/2014/main" id="{B457D554-5251-08BB-A0C5-DCFF184FE2E6}"/>
                </a:ext>
              </a:extLst>
            </p:cNvPr>
            <p:cNvSpPr/>
            <p:nvPr/>
          </p:nvSpPr>
          <p:spPr>
            <a:xfrm>
              <a:off x="8569112" y="4352471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/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(</a:t>
                </a:r>
                <a:r>
                  <a:rPr lang="en-US" altLang="ko-KR" sz="2000" dirty="0"/>
                  <a:t>delta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/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blipFill>
                <a:blip r:embed="rId7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AF150070-0E0D-3155-821D-8A1536395133}"/>
              </a:ext>
            </a:extLst>
          </p:cNvPr>
          <p:cNvSpPr/>
          <p:nvPr/>
        </p:nvSpPr>
        <p:spPr>
          <a:xfrm>
            <a:off x="7111439" y="3489352"/>
            <a:ext cx="3689560" cy="1263621"/>
          </a:xfrm>
          <a:prstGeom prst="parallelogram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/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en-US" altLang="ko-KR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altLang="ko-KR" sz="1600" b="1" dirty="0">
                  <a:solidFill>
                    <a:schemeClr val="bg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Derivative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The sensitivity to change</a:t>
                </a:r>
                <a:endParaRPr lang="ko-KR" altLang="en-US" sz="16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blipFill>
                <a:blip r:embed="rId8"/>
                <a:stretch>
                  <a:fillRect l="-1302" b="-20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7AC0358-B3B5-F1BF-07C9-B4C610EDE35D}"/>
              </a:ext>
            </a:extLst>
          </p:cNvPr>
          <p:cNvCxnSpPr/>
          <p:nvPr/>
        </p:nvCxnSpPr>
        <p:spPr>
          <a:xfrm>
            <a:off x="4755419" y="4128080"/>
            <a:ext cx="1685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/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에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대한 </a:t>
                </a:r>
                <a:endParaRPr lang="en-US" altLang="ko-KR" sz="16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의 순간변화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율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blipFill>
                <a:blip r:embed="rId9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/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(delta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blipFill>
                <a:blip r:embed="rId10"/>
                <a:stretch>
                  <a:fillRect t="-7576" r="-200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8698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0" grpId="0" animBg="1"/>
      <p:bldP spid="25" grpId="0"/>
      <p:bldP spid="27" grpId="0"/>
      <p:bldP spid="2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E704-8DE1-7BB9-596D-EF10D125F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FA9A4C3-396E-10BE-66AA-AC7E6665B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F8158EE-7300-EB42-B21E-06B75CDED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BA1B3ED-4F9A-1705-B5AF-BEAEA4C662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1801027"/>
            <a:ext cx="3209285" cy="7381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7AC1963-C7C8-1FDE-46F5-DEAB658245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3661429"/>
            <a:ext cx="5094740" cy="842437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8FFBEB-DE2C-E643-392A-CA3C9DDA7306}"/>
              </a:ext>
            </a:extLst>
          </p:cNvPr>
          <p:cNvGrpSpPr/>
          <p:nvPr/>
        </p:nvGrpSpPr>
        <p:grpSpPr>
          <a:xfrm>
            <a:off x="7521538" y="1687958"/>
            <a:ext cx="4098962" cy="4612192"/>
            <a:chOff x="7521538" y="1687958"/>
            <a:chExt cx="4098962" cy="4612192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44F46D12-0BF6-2505-9A55-9CBC1C137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1062" y="1687958"/>
              <a:ext cx="4070003" cy="3874642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B6284489-BBFB-C41B-D708-43F281737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1538" y="5572126"/>
              <a:ext cx="4098962" cy="7280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/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ko-KR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= Derivative, The sensitivity to change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blipFill>
                <a:blip r:embed="rId7"/>
                <a:stretch>
                  <a:fillRect l="-106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/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blipFill>
                <a:blip r:embed="rId8"/>
                <a:stretch>
                  <a:fillRect t="-7143" b="-196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/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찰라</a:t>
                </a:r>
                <a:r>
                  <a:rPr lang="en-US" altLang="ko-KR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刹那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Instant, Moment)</a:t>
                </a:r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변화량에 대한 </a:t>
                </a:r>
                <a14:m>
                  <m:oMath xmlns:m="http://schemas.openxmlformats.org/officeDocument/2006/math">
                    <m:r>
                      <a:rPr lang="ko-KR" altLang="en-US" sz="1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변화량</a:t>
                </a:r>
                <a:endParaRPr lang="en-US" altLang="ko-KR" sz="14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blipFill>
                <a:blip r:embed="rId9"/>
                <a:stretch>
                  <a:fillRect l="-282" t="-3922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0790DE03-EAD9-8813-227A-18873952852E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4839002"/>
            <a:ext cx="5391612" cy="84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414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Random walk simulation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 descr="불꽃이 있는 우주 로켓">
            <a:extLst>
              <a:ext uri="{FF2B5EF4-FFF2-40B4-BE49-F238E27FC236}">
                <a16:creationId xmlns:a16="http://schemas.microsoft.com/office/drawing/2014/main" id="{4DD46942-20D7-B59E-C0D1-F08DDB0A8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9403" y="2740430"/>
            <a:ext cx="1232065" cy="1847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37E263C-2F2F-308B-A9E6-12A6BA145ACC}"/>
              </a:ext>
            </a:extLst>
          </p:cNvPr>
          <p:cNvSpPr txBox="1"/>
          <p:nvPr/>
        </p:nvSpPr>
        <p:spPr>
          <a:xfrm>
            <a:off x="8291821" y="2713227"/>
            <a:ext cx="3122286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(Velocity, Speed)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A229A77-5894-DDC2-D988-EB98393F9ADD}"/>
              </a:ext>
            </a:extLst>
          </p:cNvPr>
          <p:cNvCxnSpPr>
            <a:cxnSpLocks/>
          </p:cNvCxnSpPr>
          <p:nvPr/>
        </p:nvCxnSpPr>
        <p:spPr>
          <a:xfrm>
            <a:off x="8545675" y="3082559"/>
            <a:ext cx="0" cy="19625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AADB2BB-00F1-C005-DE32-A58D3050CFC2}"/>
              </a:ext>
            </a:extLst>
          </p:cNvPr>
          <p:cNvCxnSpPr>
            <a:cxnSpLocks/>
          </p:cNvCxnSpPr>
          <p:nvPr/>
        </p:nvCxnSpPr>
        <p:spPr>
          <a:xfrm flipH="1">
            <a:off x="8545675" y="5061096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90781" y="4891356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A6D832-DDA5-75AF-5F7C-1D7C5BD5A5E6}"/>
              </a:ext>
            </a:extLst>
          </p:cNvPr>
          <p:cNvCxnSpPr>
            <a:cxnSpLocks/>
          </p:cNvCxnSpPr>
          <p:nvPr/>
        </p:nvCxnSpPr>
        <p:spPr>
          <a:xfrm flipH="1">
            <a:off x="8545674" y="4227514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781" y="3902023"/>
            <a:ext cx="2428241" cy="611306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A1129D1-E02F-663C-DE78-044988D5F367}"/>
              </a:ext>
            </a:extLst>
          </p:cNvPr>
          <p:cNvCxnSpPr>
            <a:cxnSpLocks/>
          </p:cNvCxnSpPr>
          <p:nvPr/>
        </p:nvCxnSpPr>
        <p:spPr>
          <a:xfrm>
            <a:off x="5928995" y="3690004"/>
            <a:ext cx="0" cy="185866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8C1F9A6-971B-726E-5877-CBE6973EAEAC}"/>
              </a:ext>
            </a:extLst>
          </p:cNvPr>
          <p:cNvCxnSpPr>
            <a:cxnSpLocks/>
          </p:cNvCxnSpPr>
          <p:nvPr/>
        </p:nvCxnSpPr>
        <p:spPr>
          <a:xfrm>
            <a:off x="5351145" y="4153554"/>
            <a:ext cx="0" cy="139511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>
            <a:extLst>
              <a:ext uri="{FF2B5EF4-FFF2-40B4-BE49-F238E27FC236}">
                <a16:creationId xmlns:a16="http://schemas.microsoft.com/office/drawing/2014/main" id="{60BF6107-619C-08B0-29B9-4D6DA7EFDC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3783" y="4493465"/>
            <a:ext cx="214728" cy="20399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2BBB12B-4700-373C-9B8C-1DA4CFF4B8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289" y="4493465"/>
            <a:ext cx="214728" cy="203992"/>
          </a:xfrm>
          <a:prstGeom prst="rect">
            <a:avLst/>
          </a:prstGeom>
        </p:spPr>
      </p:pic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878AE90-89B1-9AB6-DB68-2D8F517F95D2}"/>
              </a:ext>
            </a:extLst>
          </p:cNvPr>
          <p:cNvCxnSpPr>
            <a:cxnSpLocks/>
          </p:cNvCxnSpPr>
          <p:nvPr/>
        </p:nvCxnSpPr>
        <p:spPr>
          <a:xfrm>
            <a:off x="1874520" y="3690004"/>
            <a:ext cx="405447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C896C9-A8B3-FD2C-676E-214761FCB465}"/>
              </a:ext>
            </a:extLst>
          </p:cNvPr>
          <p:cNvCxnSpPr>
            <a:cxnSpLocks/>
          </p:cNvCxnSpPr>
          <p:nvPr/>
        </p:nvCxnSpPr>
        <p:spPr>
          <a:xfrm>
            <a:off x="1874520" y="4153554"/>
            <a:ext cx="347662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B547E61-CFCB-50F6-E724-111F32E0B5A8}"/>
              </a:ext>
            </a:extLst>
          </p:cNvPr>
          <p:cNvCxnSpPr/>
          <p:nvPr/>
        </p:nvCxnSpPr>
        <p:spPr>
          <a:xfrm>
            <a:off x="5683783" y="4768890"/>
            <a:ext cx="21472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CC82431-068A-12FF-19F8-5C722F0C9752}"/>
              </a:ext>
            </a:extLst>
          </p:cNvPr>
          <p:cNvCxnSpPr>
            <a:cxnSpLocks/>
          </p:cNvCxnSpPr>
          <p:nvPr/>
        </p:nvCxnSpPr>
        <p:spPr>
          <a:xfrm flipH="1">
            <a:off x="5381676" y="4761067"/>
            <a:ext cx="1859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그림 34">
            <a:extLst>
              <a:ext uri="{FF2B5EF4-FFF2-40B4-BE49-F238E27FC236}">
                <a16:creationId xmlns:a16="http://schemas.microsoft.com/office/drawing/2014/main" id="{5F4FB917-B48B-E8F5-7FBC-6D2A29A918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6436" y="4174217"/>
            <a:ext cx="671025" cy="23083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EFB04A94-A944-9FC5-C3F3-94B5B74745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5616" y="3383328"/>
            <a:ext cx="654921" cy="225465"/>
          </a:xfrm>
          <a:prstGeom prst="rect">
            <a:avLst/>
          </a:prstGeom>
        </p:spPr>
      </p:pic>
      <p:sp>
        <p:nvSpPr>
          <p:cNvPr id="55" name="직각 삼각형 54">
            <a:extLst>
              <a:ext uri="{FF2B5EF4-FFF2-40B4-BE49-F238E27FC236}">
                <a16:creationId xmlns:a16="http://schemas.microsoft.com/office/drawing/2014/main" id="{1C4ED2C9-78D4-C636-721F-F63B5A6B5101}"/>
              </a:ext>
            </a:extLst>
          </p:cNvPr>
          <p:cNvSpPr/>
          <p:nvPr/>
        </p:nvSpPr>
        <p:spPr>
          <a:xfrm flipH="1">
            <a:off x="5370385" y="3699156"/>
            <a:ext cx="558609" cy="463316"/>
          </a:xfrm>
          <a:prstGeom prst="rtTriangle">
            <a:avLst/>
          </a:prstGeom>
          <a:solidFill>
            <a:schemeClr val="tx1">
              <a:lumMod val="85000"/>
            </a:schemeClr>
          </a:solidFill>
          <a:ln w="3175">
            <a:solidFill>
              <a:schemeClr val="tx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77196668-3F64-2517-AECE-1ADD46591312}"/>
              </a:ext>
            </a:extLst>
          </p:cNvPr>
          <p:cNvCxnSpPr>
            <a:cxnSpLocks/>
          </p:cNvCxnSpPr>
          <p:nvPr/>
        </p:nvCxnSpPr>
        <p:spPr>
          <a:xfrm flipV="1">
            <a:off x="4969506" y="3429000"/>
            <a:ext cx="1277832" cy="10644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D9BD5B1-7AB1-5066-C062-A12F9FD19571}"/>
              </a:ext>
            </a:extLst>
          </p:cNvPr>
          <p:cNvSpPr txBox="1"/>
          <p:nvPr/>
        </p:nvSpPr>
        <p:spPr>
          <a:xfrm>
            <a:off x="6367270" y="3167390"/>
            <a:ext cx="4927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  <p:cxnSp>
        <p:nvCxnSpPr>
          <p:cNvPr id="3073" name="직선 연결선 3072">
            <a:extLst>
              <a:ext uri="{FF2B5EF4-FFF2-40B4-BE49-F238E27FC236}">
                <a16:creationId xmlns:a16="http://schemas.microsoft.com/office/drawing/2014/main" id="{22B1AF3D-8145-24BC-DB0C-4A7D2588654C}"/>
              </a:ext>
            </a:extLst>
          </p:cNvPr>
          <p:cNvCxnSpPr>
            <a:cxnSpLocks/>
          </p:cNvCxnSpPr>
          <p:nvPr/>
        </p:nvCxnSpPr>
        <p:spPr>
          <a:xfrm flipV="1">
            <a:off x="2293687" y="5241311"/>
            <a:ext cx="1110390" cy="206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1" name="직선 연결선 3080">
            <a:extLst>
              <a:ext uri="{FF2B5EF4-FFF2-40B4-BE49-F238E27FC236}">
                <a16:creationId xmlns:a16="http://schemas.microsoft.com/office/drawing/2014/main" id="{DB4F4A22-E44A-C68E-7877-BA8A83659DF2}"/>
              </a:ext>
            </a:extLst>
          </p:cNvPr>
          <p:cNvCxnSpPr>
            <a:cxnSpLocks/>
          </p:cNvCxnSpPr>
          <p:nvPr/>
        </p:nvCxnSpPr>
        <p:spPr>
          <a:xfrm flipV="1">
            <a:off x="3556320" y="4794290"/>
            <a:ext cx="874285" cy="3876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93" name="그룹 3092">
            <a:extLst>
              <a:ext uri="{FF2B5EF4-FFF2-40B4-BE49-F238E27FC236}">
                <a16:creationId xmlns:a16="http://schemas.microsoft.com/office/drawing/2014/main" id="{DB0BB0C9-EC8A-3295-DB12-B048E5356A34}"/>
              </a:ext>
            </a:extLst>
          </p:cNvPr>
          <p:cNvGrpSpPr/>
          <p:nvPr/>
        </p:nvGrpSpPr>
        <p:grpSpPr>
          <a:xfrm>
            <a:off x="1905051" y="3920942"/>
            <a:ext cx="5645353" cy="2389220"/>
            <a:chOff x="1905051" y="3920942"/>
            <a:chExt cx="5645353" cy="2389220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F9FD547-46B8-E799-598A-81292210F4FB}"/>
                </a:ext>
              </a:extLst>
            </p:cNvPr>
            <p:cNvCxnSpPr>
              <a:cxnSpLocks/>
            </p:cNvCxnSpPr>
            <p:nvPr/>
          </p:nvCxnSpPr>
          <p:spPr>
            <a:xfrm>
              <a:off x="5640070" y="3921073"/>
              <a:ext cx="0" cy="1627600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6E56D11D-E723-12C5-5EF9-4771755500E2}"/>
                </a:ext>
              </a:extLst>
            </p:cNvPr>
            <p:cNvCxnSpPr>
              <a:cxnSpLocks/>
            </p:cNvCxnSpPr>
            <p:nvPr/>
          </p:nvCxnSpPr>
          <p:spPr>
            <a:xfrm>
              <a:off x="1905051" y="3920942"/>
              <a:ext cx="3735019" cy="6966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/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=7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에서 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(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순간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)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속도는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?</a:t>
                  </a:r>
                  <a:endPara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endParaRPr>
                </a:p>
              </p:txBody>
            </p:sp>
          </mc:Choice>
          <mc:Fallback xmlns="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blipFill>
                  <a:blip r:embed="rId9"/>
                  <a:stretch>
                    <a:fillRect t="-6000" b="-18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092" name="그래픽 3091" descr="위쪽 화살표 단색으로 채워진">
              <a:extLst>
                <a:ext uri="{FF2B5EF4-FFF2-40B4-BE49-F238E27FC236}">
                  <a16:creationId xmlns:a16="http://schemas.microsoft.com/office/drawing/2014/main" id="{D16EEB43-6588-09F2-68EB-9887D2CF1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452500" y="5629884"/>
              <a:ext cx="375140" cy="3751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6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</a:t>
            </a:r>
            <a:r>
              <a:rPr lang="en-US" altLang="ko-KR" dirty="0"/>
              <a:t>,</a:t>
            </a:r>
            <a:r>
              <a:rPr lang="ko-KR" altLang="en-US" dirty="0"/>
              <a:t>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4205544-8AFC-A571-2BA3-1FA12F75225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32256" y="4177613"/>
            <a:ext cx="828764" cy="482415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75BF96D6-B550-99CE-A26A-677FC7F4D897}"/>
              </a:ext>
            </a:extLst>
          </p:cNvPr>
          <p:cNvGrpSpPr/>
          <p:nvPr/>
        </p:nvGrpSpPr>
        <p:grpSpPr>
          <a:xfrm>
            <a:off x="6375576" y="4757168"/>
            <a:ext cx="1785444" cy="527169"/>
            <a:chOff x="6375576" y="4757168"/>
            <a:chExt cx="1785444" cy="527169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E623D1EF-EBAA-CEC6-4604-1E74B7DDA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352080" y="4757221"/>
              <a:ext cx="808940" cy="527116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CB5F9300-F8EC-A6E6-DC47-A86676DD6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6375576" y="4757168"/>
              <a:ext cx="1188939" cy="5271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0E2B9-9A4E-8789-4EEC-E762DBF68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C4804FE-D2F9-01F1-012C-353E907D112E}"/>
              </a:ext>
            </a:extLst>
          </p:cNvPr>
          <p:cNvSpPr/>
          <p:nvPr/>
        </p:nvSpPr>
        <p:spPr>
          <a:xfrm>
            <a:off x="1104901" y="3251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6A073A6-62A2-8E64-245E-4954047516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806A213-ACEA-EF2F-3BFF-C52C61BE0F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What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 err="1">
                <a:solidFill>
                  <a:schemeClr val="tx1"/>
                </a:solidFill>
              </a:rPr>
              <a:t>sympy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Random walk simulation</a:t>
            </a:r>
            <a:endParaRPr lang="en-US" altLang="ko-KR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12738839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F5846-018A-D2C6-40B1-8128459C1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96C4426-965B-1071-37C5-365CB84BA36C}"/>
              </a:ext>
            </a:extLst>
          </p:cNvPr>
          <p:cNvSpPr/>
          <p:nvPr/>
        </p:nvSpPr>
        <p:spPr>
          <a:xfrm>
            <a:off x="1104901" y="38513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FCDAFC1-43C8-29BA-C4E3-15B86A7AF2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FD13316-8AE8-2B20-30DD-AD499351E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What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 err="1">
                <a:solidFill>
                  <a:schemeClr val="tx1"/>
                </a:solidFill>
              </a:rPr>
              <a:t>sympy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Random walk simulation</a:t>
            </a:r>
            <a:endParaRPr lang="en-US" altLang="ko-KR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6224645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 with 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B4099-691C-ECE1-00FD-563BBB17F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71FB1AC-660C-C5CB-3F9B-64AA710DBF43}"/>
              </a:ext>
            </a:extLst>
          </p:cNvPr>
          <p:cNvSpPr/>
          <p:nvPr/>
        </p:nvSpPr>
        <p:spPr>
          <a:xfrm>
            <a:off x="1104901" y="44419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A7E0596-51BA-5E0D-B0D2-9C41DE20E3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3FADEB3-FD73-C4FF-1E13-478605EE7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What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 err="1">
                <a:solidFill>
                  <a:schemeClr val="tx1"/>
                </a:solidFill>
              </a:rPr>
              <a:t>sympy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Random walk simulation</a:t>
            </a:r>
            <a:endParaRPr lang="en-US" altLang="ko-KR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24204913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Function(L1,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21650F-00C5-3449-5259-48FFAB06FA7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063416"/>
            <a:ext cx="1404705" cy="4942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128B04-3C98-D55D-B84F-2CE3686DA68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813197"/>
            <a:ext cx="3726369" cy="4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Function(L1,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658" y="2886969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목적은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아니라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새로운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 각 모델의 예측 값은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5C64-2C1F-ED10-2305-AC3FEFC2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96BFBFB-182E-BE0D-F6EC-3B5802EE8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oefficients of L1, L2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DD22321-8722-5365-0508-9396C4052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C383C4-9714-B268-35CA-D128C720733C}"/>
              </a:ext>
            </a:extLst>
          </p:cNvPr>
          <p:cNvSpPr txBox="1"/>
          <p:nvPr/>
        </p:nvSpPr>
        <p:spPr>
          <a:xfrm>
            <a:off x="842210" y="1285138"/>
            <a:ext cx="10860262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모델의 특징별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값을 추출하여 아래와 같이 테이블을 생성하라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모델은 단순회귀식으로 변수가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계수 값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 values)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비교하고 토론하라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값을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만드는지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Sparsity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특징을 갖는지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28B006-1902-0666-407A-741D1CE81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171" y="3648633"/>
            <a:ext cx="10079974" cy="213177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04883D6-624A-023C-D671-0E4B17F02936}"/>
              </a:ext>
            </a:extLst>
          </p:cNvPr>
          <p:cNvSpPr/>
          <p:nvPr/>
        </p:nvSpPr>
        <p:spPr>
          <a:xfrm>
            <a:off x="842210" y="4856480"/>
            <a:ext cx="10644940" cy="9239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B25E70-BCF1-DC68-0FD1-C0D1FB71E0C5}"/>
              </a:ext>
            </a:extLst>
          </p:cNvPr>
          <p:cNvSpPr/>
          <p:nvPr/>
        </p:nvSpPr>
        <p:spPr>
          <a:xfrm>
            <a:off x="2284930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A86DACA-1022-D25F-AC9D-688EBEE12113}"/>
              </a:ext>
            </a:extLst>
          </p:cNvPr>
          <p:cNvSpPr/>
          <p:nvPr/>
        </p:nvSpPr>
        <p:spPr>
          <a:xfrm>
            <a:off x="3261360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D9F29E-EF8B-AB17-9748-FAFD9B2645FF}"/>
              </a:ext>
            </a:extLst>
          </p:cNvPr>
          <p:cNvSpPr/>
          <p:nvPr/>
        </p:nvSpPr>
        <p:spPr>
          <a:xfrm>
            <a:off x="50559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5B70380-E1C9-407F-1063-343E666EEB3A}"/>
              </a:ext>
            </a:extLst>
          </p:cNvPr>
          <p:cNvSpPr/>
          <p:nvPr/>
        </p:nvSpPr>
        <p:spPr>
          <a:xfrm>
            <a:off x="94247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1FE0331-8179-1003-51D9-52EF5A3EE439}"/>
              </a:ext>
            </a:extLst>
          </p:cNvPr>
          <p:cNvSpPr/>
          <p:nvPr/>
        </p:nvSpPr>
        <p:spPr>
          <a:xfrm>
            <a:off x="103899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164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9" grpId="0" animBg="1"/>
      <p:bldP spid="10" grpId="0" animBg="1"/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0444-002E-FCBE-575E-38E8737D9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AD03CC8-6144-796E-E068-ACC28125E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Derivatives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B0C7EE4-D340-7AFF-980F-0C37C2D30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9159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L1, L2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손실함수</a:t>
                </a: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형태에 따른  </a:t>
                </a:r>
                <a14:m>
                  <m:oMath xmlns:m="http://schemas.openxmlformats.org/officeDocument/2006/math">
                    <m:r>
                      <a:rPr lang="ko-KR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 각각의 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미분방정식의 직관적 이해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(Why sparsity?)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하자 </a:t>
                </a:r>
                <a:endParaRPr lang="en-US" altLang="ko-KR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915956"/>
              </a:xfrm>
              <a:prstGeom prst="rect">
                <a:avLst/>
              </a:prstGeom>
              <a:blipFill>
                <a:blip r:embed="rId2"/>
                <a:stretch>
                  <a:fillRect l="-505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BE45A263-58DF-F964-7347-38E892628C3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7" y="4230456"/>
            <a:ext cx="2705909" cy="7077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368B17-A096-1719-6EA7-6E190E78863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6" y="5265030"/>
            <a:ext cx="2705909" cy="6986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FD74CB3-01C8-09F0-9C2D-0ECD446FEF8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8" y="3378764"/>
            <a:ext cx="2705907" cy="70203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969455C-4E5A-6884-2B5D-DDB2E3919742}"/>
              </a:ext>
            </a:extLst>
          </p:cNvPr>
          <p:cNvSpPr txBox="1"/>
          <p:nvPr/>
        </p:nvSpPr>
        <p:spPr>
          <a:xfrm>
            <a:off x="1058369" y="2827549"/>
            <a:ext cx="46918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Minimization)</a:t>
            </a:r>
            <a:endParaRPr lang="ko-KR" altLang="en-US" dirty="0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F227F347-20D7-9EF9-B53E-DAD7117A3FA7}"/>
              </a:ext>
            </a:extLst>
          </p:cNvPr>
          <p:cNvGrpSpPr/>
          <p:nvPr/>
        </p:nvGrpSpPr>
        <p:grpSpPr>
          <a:xfrm>
            <a:off x="7233920" y="2834658"/>
            <a:ext cx="4169377" cy="1414373"/>
            <a:chOff x="842210" y="2627418"/>
            <a:chExt cx="4169377" cy="141437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A2F34F9-2651-37FB-82B9-C89F916BA1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268930" y="3147976"/>
              <a:ext cx="1318027" cy="463750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14DC66D-E0CC-98ED-4445-E081D43354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268930" y="3578041"/>
              <a:ext cx="3742657" cy="46375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37CF39F-F592-1877-0217-14EEDEB277D2}"/>
                </a:ext>
              </a:extLst>
            </p:cNvPr>
            <p:cNvSpPr txBox="1"/>
            <p:nvPr/>
          </p:nvSpPr>
          <p:spPr>
            <a:xfrm>
              <a:off x="842210" y="2627418"/>
              <a:ext cx="237152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800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</a:t>
              </a:r>
              <a:r>
                <a:rPr lang="en-US" altLang="ko-KR" sz="1800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(Model)</a:t>
              </a:r>
              <a:endParaRPr lang="ko-KR" altLang="en-US" dirty="0"/>
            </a:p>
          </p:txBody>
        </p:sp>
        <p:cxnSp>
          <p:nvCxnSpPr>
            <p:cNvPr id="3" name="연결선: 꺾임 2">
              <a:extLst>
                <a:ext uri="{FF2B5EF4-FFF2-40B4-BE49-F238E27FC236}">
                  <a16:creationId xmlns:a16="http://schemas.microsoft.com/office/drawing/2014/main" id="{0D98D96D-5A33-3C9B-40B6-38BD7F489B03}"/>
                </a:ext>
              </a:extLst>
            </p:cNvPr>
            <p:cNvCxnSpPr>
              <a:cxnSpLocks/>
              <a:stCxn id="13" idx="1"/>
              <a:endCxn id="16" idx="1"/>
            </p:cNvCxnSpPr>
            <p:nvPr/>
          </p:nvCxnSpPr>
          <p:spPr>
            <a:xfrm rot="10800000">
              <a:off x="842210" y="2812085"/>
              <a:ext cx="426720" cy="567767"/>
            </a:xfrm>
            <a:prstGeom prst="bentConnector3">
              <a:avLst>
                <a:gd name="adj1" fmla="val 15357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D97C7C43-BE96-B8F4-12B6-B7F4CB9219E9}"/>
              </a:ext>
            </a:extLst>
          </p:cNvPr>
          <p:cNvCxnSpPr>
            <a:cxnSpLocks/>
            <a:stCxn id="12" idx="1"/>
            <a:endCxn id="17" idx="1"/>
          </p:cNvCxnSpPr>
          <p:nvPr/>
        </p:nvCxnSpPr>
        <p:spPr>
          <a:xfrm rot="10800000">
            <a:off x="1058370" y="3012216"/>
            <a:ext cx="143979" cy="717567"/>
          </a:xfrm>
          <a:prstGeom prst="bentConnector3">
            <a:avLst>
              <a:gd name="adj1" fmla="val 258773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BCDE0432-2547-B13C-1538-0F9C4838889F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091134" y="5357612"/>
            <a:ext cx="3155291" cy="55415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3874D0E-10E7-C3B8-CDA9-DE9A92DF8F3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091134" y="4330311"/>
            <a:ext cx="2843057" cy="554155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91D1A00D-1024-D41A-62E8-50BA090F9AC4}"/>
              </a:ext>
            </a:extLst>
          </p:cNvPr>
          <p:cNvGrpSpPr/>
          <p:nvPr/>
        </p:nvGrpSpPr>
        <p:grpSpPr>
          <a:xfrm>
            <a:off x="6278880" y="5265030"/>
            <a:ext cx="2416704" cy="800625"/>
            <a:chOff x="6096000" y="5265030"/>
            <a:chExt cx="2416704" cy="800625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9B49639-B1A6-E30D-1423-A57B19474E8E}"/>
                </a:ext>
              </a:extLst>
            </p:cNvPr>
            <p:cNvSpPr txBox="1"/>
            <p:nvPr/>
          </p:nvSpPr>
          <p:spPr>
            <a:xfrm>
              <a:off x="7172272" y="5757878"/>
              <a:ext cx="13404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hlinkClick r:id="rId10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Sign_function</a:t>
              </a:r>
              <a:endParaRPr lang="ko-KR" altLang="en-US" sz="1400" dirty="0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DF5D77B2-EC22-D1CB-3044-6BC19D8AA2E9}"/>
                </a:ext>
              </a:extLst>
            </p:cNvPr>
            <p:cNvSpPr/>
            <p:nvPr/>
          </p:nvSpPr>
          <p:spPr>
            <a:xfrm>
              <a:off x="6096000" y="5265030"/>
              <a:ext cx="1076272" cy="75286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42AFFB4-33BC-A256-975B-871025AF235C}"/>
              </a:ext>
            </a:extLst>
          </p:cNvPr>
          <p:cNvSpPr/>
          <p:nvPr/>
        </p:nvSpPr>
        <p:spPr>
          <a:xfrm>
            <a:off x="6455221" y="4234804"/>
            <a:ext cx="616139" cy="752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4913514-4C91-9DE5-402F-7F683DFCCC09}"/>
              </a:ext>
            </a:extLst>
          </p:cNvPr>
          <p:cNvSpPr txBox="1"/>
          <p:nvPr/>
        </p:nvSpPr>
        <p:spPr>
          <a:xfrm>
            <a:off x="4772655" y="3765081"/>
            <a:ext cx="14800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Derivatives</a:t>
            </a:r>
            <a:endParaRPr lang="ko-KR" altLang="en-US" dirty="0">
              <a:solidFill>
                <a:schemeClr val="accent6">
                  <a:lumMod val="60000"/>
                  <a:lumOff val="4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2515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DC99D-D079-DDD9-15E8-893E52A36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94A967-5E85-1C5A-C050-07A1801972BD}"/>
                  </a:ext>
                </a:extLst>
              </p:cNvPr>
              <p:cNvSpPr txBox="1"/>
              <p:nvPr/>
            </p:nvSpPr>
            <p:spPr>
              <a:xfrm>
                <a:off x="6877250" y="3135181"/>
                <a:ext cx="5101390" cy="30001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크기와 상관없이 일정한 액수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세금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재산이 많든 적든 즉 가중치가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100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이든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0.1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이든 똑같이 </a:t>
                </a:r>
                <a14:m>
                  <m:oMath xmlns:m="http://schemas.openxmlformats.org/officeDocument/2006/math"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라는 힘으로 동일한 세금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특정 재산은 버리게 되는 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정확히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만드는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sparsity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형태의 재산을 보유하게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94A967-5E85-1C5A-C050-07A180197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250" y="3135181"/>
                <a:ext cx="5101390" cy="30001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74BF5ED3-EFC4-C68B-9DF7-715E3DB13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Metaphor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275DCE7-5346-F0A2-A517-180649C14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4BC8D5B-7A64-0E1F-A2D5-A3680306F960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국가에 납부하는 총 세금이며 가중치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각 특성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이고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penalty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강도를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로 가정하여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세금납부방식에 대한 국민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세금납부자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최적화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Oprimization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전략은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4BC8D5B-7A64-0E1F-A2D5-A3680306F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blipFill>
                <a:blip r:embed="rId3"/>
                <a:stretch>
                  <a:fillRect l="-337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03B8BD-FD01-46F0-2965-E4D750B489D7}"/>
                  </a:ext>
                </a:extLst>
              </p:cNvPr>
              <p:cNvSpPr txBox="1"/>
              <p:nvPr/>
            </p:nvSpPr>
            <p:spPr>
              <a:xfrm>
                <a:off x="1302738" y="3135181"/>
                <a:ext cx="4754102" cy="295920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가중치의 제곱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r>
                          <a:rPr lang="en-US" altLang="ko-KR" sz="14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비례해서 세금을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즉 재산이 많으면 세금을 엄청나게 많이 내지만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재산이 줄어들면 내야 하는 세금도 급격히 줄어들게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모든 재산을 갖지만 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향해 최소한의 재산을 보유하게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03B8BD-FD01-46F0-2965-E4D750B48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2738" y="3135181"/>
                <a:ext cx="4754102" cy="2959208"/>
              </a:xfrm>
              <a:prstGeom prst="rect">
                <a:avLst/>
              </a:prstGeom>
              <a:blipFill>
                <a:blip r:embed="rId4"/>
                <a:stretch>
                  <a:fillRect l="-12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8AFA3CC-7FCA-D386-C47C-9705F04C5D6C}"/>
              </a:ext>
            </a:extLst>
          </p:cNvPr>
          <p:cNvSpPr txBox="1"/>
          <p:nvPr/>
        </p:nvSpPr>
        <p:spPr>
          <a:xfrm>
            <a:off x="6575369" y="2846254"/>
            <a:ext cx="2578791" cy="41402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정액 세액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42E206-F2B4-548F-C1B9-4FB8760D43FB}"/>
              </a:ext>
            </a:extLst>
          </p:cNvPr>
          <p:cNvSpPr txBox="1"/>
          <p:nvPr/>
        </p:nvSpPr>
        <p:spPr>
          <a:xfrm>
            <a:off x="885768" y="2846254"/>
            <a:ext cx="2578791" cy="41402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Ridge(L2)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재산 비례세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51999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8E01-DDF8-919E-8C0F-D554958E1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A8FCF61-7371-9B73-E714-4283C7AB1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Contour map 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3DADE18-C221-6D25-3694-EA36DD689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183E7-1AC4-4900-0B37-C34B1205764D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L1, L2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손실함수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절편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(intercept)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zero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하는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선형회귀식을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peanalty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계수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를 상수로 취급하여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2D contour map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sympy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모듈을 사용하여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시각화하라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183E7-1AC4-4900-0B37-C34B12057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blipFill>
                <a:blip r:embed="rId2"/>
                <a:stretch>
                  <a:fillRect l="-337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12B8D6BF-0BC5-AF60-3FFC-1236A850E2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679" y="2620912"/>
            <a:ext cx="8369801" cy="3665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02751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Geometry metaphor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8508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78494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96476-D1BC-93EE-AD7F-698D18F9F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5E5055A-FEDA-CD90-6842-D10AD41D6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CF6EC08-194F-8A13-AF31-10653AAA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9F7DB-E7BE-3414-0C44-424E16526041}"/>
              </a:ext>
            </a:extLst>
          </p:cNvPr>
          <p:cNvSpPr txBox="1"/>
          <p:nvPr/>
        </p:nvSpPr>
        <p:spPr>
          <a:xfrm>
            <a:off x="842210" y="1285138"/>
            <a:ext cx="10860262" cy="32251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Scikit-learn</a:t>
            </a:r>
            <a:r>
              <a:rPr lang="ko-KR" altLang="en-US" dirty="0"/>
              <a:t>의 선형모델</a:t>
            </a:r>
            <a:r>
              <a:rPr lang="en-US" altLang="ko-KR" dirty="0"/>
              <a:t>(</a:t>
            </a:r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linear_model</a:t>
            </a:r>
            <a:r>
              <a:rPr lang="en-US" altLang="ko-KR" dirty="0"/>
              <a:t>)</a:t>
            </a:r>
            <a:r>
              <a:rPr lang="ko-KR" altLang="en-US" dirty="0"/>
              <a:t>의 수식</a:t>
            </a:r>
            <a:r>
              <a:rPr lang="en-US" altLang="ko-KR" dirty="0"/>
              <a:t>(L2 norm</a:t>
            </a:r>
            <a:r>
              <a:rPr lang="ko-KR" altLang="en-US" dirty="0"/>
              <a:t>을 제곱</a:t>
            </a:r>
            <a:r>
              <a:rPr lang="en-US" altLang="ko-KR" dirty="0"/>
              <a:t>)</a:t>
            </a:r>
            <a:r>
              <a:rPr lang="ko-KR" altLang="en-US" dirty="0"/>
              <a:t>에 대해 토론하라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선형회귀</a:t>
            </a:r>
            <a:r>
              <a:rPr lang="en-US" altLang="ko-KR" dirty="0"/>
              <a:t>, </a:t>
            </a:r>
            <a:r>
              <a:rPr lang="ko-KR" altLang="en-US" dirty="0"/>
              <a:t>기하학적</a:t>
            </a:r>
            <a:r>
              <a:rPr lang="en-US" altLang="ko-KR" dirty="0"/>
              <a:t> </a:t>
            </a:r>
            <a:r>
              <a:rPr lang="ko-KR" altLang="en-US" dirty="0"/>
              <a:t>투영</a:t>
            </a:r>
            <a:r>
              <a:rPr lang="en-US" altLang="ko-KR" dirty="0"/>
              <a:t>(projection), </a:t>
            </a:r>
            <a:r>
              <a:rPr lang="ko-KR" altLang="en-US" dirty="0"/>
              <a:t>미분</a:t>
            </a:r>
            <a:r>
              <a:rPr lang="en-US" altLang="ko-KR" dirty="0"/>
              <a:t>(derivative) </a:t>
            </a:r>
            <a:r>
              <a:rPr lang="ko-KR" altLang="en-US" dirty="0"/>
              <a:t>등 각각의 관점에 대해 토론하자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Task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Scikit-learn</a:t>
            </a:r>
            <a:r>
              <a:rPr lang="ko-KR" altLang="en-US" dirty="0"/>
              <a:t>의 </a:t>
            </a:r>
            <a:r>
              <a:rPr lang="en-US" altLang="ko-KR" dirty="0" err="1"/>
              <a:t>load_diabetes</a:t>
            </a:r>
            <a:r>
              <a:rPr lang="en-US" altLang="ko-KR" dirty="0"/>
              <a:t> </a:t>
            </a:r>
            <a:r>
              <a:rPr lang="ko-KR" altLang="en-US" dirty="0"/>
              <a:t>를 바탕으로 </a:t>
            </a:r>
            <a:r>
              <a:rPr lang="en-US" altLang="ko-KR" dirty="0" err="1"/>
              <a:t>train_test_split</a:t>
            </a:r>
            <a:r>
              <a:rPr lang="ko-KR" altLang="en-US" dirty="0"/>
              <a:t>를 통해 아래 </a:t>
            </a:r>
            <a:r>
              <a:rPr lang="en-US" altLang="ko-KR" dirty="0"/>
              <a:t>3</a:t>
            </a:r>
            <a:r>
              <a:rPr lang="ko-KR" altLang="en-US" dirty="0"/>
              <a:t>가지 방법으로 </a:t>
            </a:r>
            <a:r>
              <a:rPr lang="en-US" altLang="ko-KR" dirty="0"/>
              <a:t>parameters</a:t>
            </a:r>
            <a:r>
              <a:rPr lang="ko-KR" altLang="en-US" dirty="0"/>
              <a:t>를 구하고 각각 비교하라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from </a:t>
            </a:r>
            <a:r>
              <a:rPr lang="en-US" altLang="ko-KR" sz="1600" dirty="0" err="1"/>
              <a:t>sklearn.linear_model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LinearRegression</a:t>
            </a:r>
            <a:endParaRPr lang="en-US" altLang="ko-KR" sz="1600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import </a:t>
            </a:r>
            <a:r>
              <a:rPr lang="en-US" altLang="ko-KR" sz="1600" dirty="0" err="1"/>
              <a:t>statsmodels.api</a:t>
            </a:r>
            <a:r>
              <a:rPr lang="en-US" altLang="ko-KR" sz="1600" dirty="0"/>
              <a:t> as </a:t>
            </a:r>
            <a:r>
              <a:rPr lang="en-US" altLang="ko-KR" sz="1600" dirty="0" err="1"/>
              <a:t>sm</a:t>
            </a:r>
            <a:endParaRPr lang="en-US" altLang="ko-KR" sz="1600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import</a:t>
            </a:r>
            <a:r>
              <a:rPr lang="ko-KR" altLang="en-US" sz="1600" dirty="0"/>
              <a:t> </a:t>
            </a:r>
            <a:r>
              <a:rPr lang="en-US" altLang="ko-KR" sz="1600" dirty="0" err="1"/>
              <a:t>numpy</a:t>
            </a:r>
            <a:r>
              <a:rPr lang="ko-KR" altLang="en-US" sz="1600" dirty="0"/>
              <a:t> </a:t>
            </a:r>
            <a:r>
              <a:rPr lang="en-US" altLang="ko-KR" sz="1600" dirty="0"/>
              <a:t>as</a:t>
            </a:r>
            <a:r>
              <a:rPr lang="ko-KR" altLang="en-US" sz="1600" dirty="0"/>
              <a:t> </a:t>
            </a:r>
            <a:r>
              <a:rPr lang="en-US" altLang="ko-KR" sz="1600" dirty="0"/>
              <a:t>np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C0602C-5DA9-D570-FF09-907AA9270D7D}"/>
              </a:ext>
            </a:extLst>
          </p:cNvPr>
          <p:cNvSpPr txBox="1"/>
          <p:nvPr/>
        </p:nvSpPr>
        <p:spPr>
          <a:xfrm>
            <a:off x="4017505" y="5293023"/>
            <a:ext cx="31146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lectures/lecturenote08.html</a:t>
            </a:r>
            <a:endParaRPr lang="ko-KR" altLang="en-US" sz="16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63E79C3-FF2D-57CF-E818-B8E082950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1421" y="5164195"/>
            <a:ext cx="1557334" cy="43880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F696029-D14D-AE60-8266-EDE56876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1421" y="4311361"/>
            <a:ext cx="4114860" cy="43880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B22D6C6-4F06-FD9A-0DC6-9F8423CA48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421" y="4725388"/>
            <a:ext cx="1996140" cy="438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D73F87-A17D-4F08-EFF8-EDD4E14B8474}"/>
              </a:ext>
            </a:extLst>
          </p:cNvPr>
          <p:cNvSpPr txBox="1"/>
          <p:nvPr/>
        </p:nvSpPr>
        <p:spPr>
          <a:xfrm>
            <a:off x="4017505" y="5760405"/>
            <a:ext cx="7294880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wiki/</a:t>
            </a:r>
            <a:r>
              <a:rPr lang="en-US" altLang="ko-KR" sz="1600" dirty="0" err="1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Linear_regression</a:t>
            </a: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귀식의 </a:t>
            </a: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formation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이해하자</a:t>
            </a:r>
            <a:endParaRPr lang="en-US" altLang="ko-KR" sz="1600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77401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1F8B4-A99B-88EE-75C1-6CEF82FB5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0521C8-7C2C-7319-FE80-5CB704F46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053BC1-A3BE-48A2-D122-B726B63A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122338-7AAF-EE81-32F5-A4761D443AA3}"/>
              </a:ext>
            </a:extLst>
          </p:cNvPr>
          <p:cNvSpPr txBox="1"/>
          <p:nvPr/>
        </p:nvSpPr>
        <p:spPr>
          <a:xfrm>
            <a:off x="1020158" y="1143755"/>
            <a:ext cx="10866889" cy="5401479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sklearn.model_selection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statsmodels.api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pandas as pd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diabetes.data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diabetes.target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diabetes.feature_names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(X, y,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test_size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=0.2,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lr.fit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np.insert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_, 0,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lr.intercept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np.c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_[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np.ones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[0], 1)),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sm.OLS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).fit()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results.summary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xname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np.linalg.inv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({'Feature': 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정규 방정식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511E096-1FAC-C38C-D1F6-878AFA652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005" y="5666620"/>
            <a:ext cx="1557334" cy="438807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DACF2A-F3AC-276D-6B10-A239E42DF8EB}"/>
              </a:ext>
            </a:extLst>
          </p:cNvPr>
          <p:cNvSpPr/>
          <p:nvPr/>
        </p:nvSpPr>
        <p:spPr>
          <a:xfrm>
            <a:off x="666750" y="3895724"/>
            <a:ext cx="8610600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C7A19D3-0152-5C07-0663-6AC650D0DAF9}"/>
              </a:ext>
            </a:extLst>
          </p:cNvPr>
          <p:cNvSpPr/>
          <p:nvPr/>
        </p:nvSpPr>
        <p:spPr>
          <a:xfrm>
            <a:off x="666750" y="4791074"/>
            <a:ext cx="8610600" cy="76643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AF85A64-1293-53D7-E18B-43F362D66343}"/>
              </a:ext>
            </a:extLst>
          </p:cNvPr>
          <p:cNvSpPr/>
          <p:nvPr/>
        </p:nvSpPr>
        <p:spPr>
          <a:xfrm>
            <a:off x="666750" y="5657095"/>
            <a:ext cx="8610600" cy="45785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1ADA89B-7896-8D38-D27A-94A67FD3F725}"/>
              </a:ext>
            </a:extLst>
          </p:cNvPr>
          <p:cNvSpPr/>
          <p:nvPr/>
        </p:nvSpPr>
        <p:spPr>
          <a:xfrm>
            <a:off x="627380" y="1643723"/>
            <a:ext cx="8610600" cy="1954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BA7B5E5-2514-7ABA-6369-6A0B0BF68B8F}"/>
              </a:ext>
            </a:extLst>
          </p:cNvPr>
          <p:cNvSpPr/>
          <p:nvPr/>
        </p:nvSpPr>
        <p:spPr>
          <a:xfrm>
            <a:off x="627380" y="1873740"/>
            <a:ext cx="8610600" cy="19547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46D3C9-B628-D706-7DA8-A1956DCD6FB3}"/>
              </a:ext>
            </a:extLst>
          </p:cNvPr>
          <p:cNvSpPr/>
          <p:nvPr/>
        </p:nvSpPr>
        <p:spPr>
          <a:xfrm>
            <a:off x="627380" y="2111113"/>
            <a:ext cx="8610600" cy="19547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A99CD8-83C9-9A44-E48F-1843A01A2F01}"/>
              </a:ext>
            </a:extLst>
          </p:cNvPr>
          <p:cNvSpPr txBox="1"/>
          <p:nvPr/>
        </p:nvSpPr>
        <p:spPr>
          <a:xfrm>
            <a:off x="9481005" y="4804961"/>
            <a:ext cx="21398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머신러닝은</a:t>
            </a:r>
            <a:r>
              <a:rPr lang="ko-KR" altLang="en-US" sz="1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예측이 목적이지 통계적 의미는 별 관심이 없음</a:t>
            </a:r>
          </a:p>
        </p:txBody>
      </p:sp>
    </p:spTree>
    <p:extLst>
      <p:ext uri="{BB962C8B-B14F-4D97-AF65-F5344CB8AC3E}">
        <p14:creationId xmlns:p14="http://schemas.microsoft.com/office/powerpoint/2010/main" val="132551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8" grpId="0" animBg="1"/>
      <p:bldP spid="20" grpId="0" animBg="1"/>
      <p:bldP spid="21" grpId="0" animBg="1"/>
      <p:bldP spid="2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EAF48-CF91-BC8C-4E43-2D99D841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4A99C4B-35A4-CBC3-4F03-3302D7D99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 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27E457C-FF07-663C-A79D-7D1DEEDBF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C83025-B6A7-EBF2-E4F4-1FB0C4C4470A}"/>
              </a:ext>
            </a:extLst>
          </p:cNvPr>
          <p:cNvSpPr txBox="1"/>
          <p:nvPr/>
        </p:nvSpPr>
        <p:spPr>
          <a:xfrm>
            <a:off x="1137920" y="1605280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 learn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regress(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plot_ols_ridge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코드를 학습하고 이해하자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분산을 줄이는 대신 약간의 편향을 허용하는 모델인데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Why?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74" name="Picture 2" descr="ridge">
            <a:extLst>
              <a:ext uri="{FF2B5EF4-FFF2-40B4-BE49-F238E27FC236}">
                <a16:creationId xmlns:a16="http://schemas.microsoft.com/office/drawing/2014/main" id="{05B253A6-7236-2427-CE38-DAC9004E7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3252306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ols">
            <a:extLst>
              <a:ext uri="{FF2B5EF4-FFF2-40B4-BE49-F238E27FC236}">
                <a16:creationId xmlns:a16="http://schemas.microsoft.com/office/drawing/2014/main" id="{46F56E10-51C5-6931-4EEC-10F17AA38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9720" y="3261196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81912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85FDB-3663-640C-7B6F-F8058987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126342-5B6E-FEAA-E536-2DCC8EC92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bias-variance tradeoff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836632-3677-3ED3-5ACB-AC1C2DB46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497211-75CE-AC14-08DC-37F4B2017B48}"/>
              </a:ext>
            </a:extLst>
          </p:cNvPr>
          <p:cNvSpPr txBox="1"/>
          <p:nvPr/>
        </p:nvSpPr>
        <p:spPr>
          <a:xfrm>
            <a:off x="1026160" y="1123277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분산에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bias-variance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클릭하여 학습하자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의사결정나무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KNN,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어떤 경우에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BC1D491-6AE1-B98D-7FC9-7E42BE3B01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7930" y="2293320"/>
            <a:ext cx="4105910" cy="4056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10BB7-1E11-FECA-F32E-1CAE70D863A1}"/>
              </a:ext>
            </a:extLst>
          </p:cNvPr>
          <p:cNvSpPr txBox="1"/>
          <p:nvPr/>
        </p:nvSpPr>
        <p:spPr>
          <a:xfrm>
            <a:off x="1117600" y="6350058"/>
            <a:ext cx="3698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dirty="0"/>
              <a:t>http://scott.fortmann-roe.com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8BEBF6-4E13-AA48-3986-AB4544BAAD86}"/>
              </a:ext>
            </a:extLst>
          </p:cNvPr>
          <p:cNvSpPr txBox="1"/>
          <p:nvPr/>
        </p:nvSpPr>
        <p:spPr>
          <a:xfrm>
            <a:off x="5862320" y="2949258"/>
            <a:ext cx="6096000" cy="2116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(Bias)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예측모델의 평균 기대 값과 실제 값의 차이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예측모델의 평균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기대값의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퍼짐 정도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ED22D8C-6771-FA4F-3CD7-9C964D6E8D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3668089"/>
            <a:ext cx="3368332" cy="48010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CF4B57C-D498-1569-CFA8-4CA226EA647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5284002"/>
            <a:ext cx="3490262" cy="59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6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D1A8A-E315-6EA8-9513-BE13C8935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007DCD7-6836-45E1-63C8-84805F93B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bias-variance tradeoff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C4DB566-F3E7-60E5-31E8-16C2DFDC5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330EF0-398C-A4B5-3F85-2531A357D0C9}"/>
              </a:ext>
            </a:extLst>
          </p:cNvPr>
          <p:cNvSpPr txBox="1"/>
          <p:nvPr/>
        </p:nvSpPr>
        <p:spPr>
          <a:xfrm>
            <a:off x="842210" y="1285138"/>
            <a:ext cx="10860262" cy="958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못 맞추고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High Bias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예민해지는데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High Variance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EC8D13B-DD6E-5D1B-D754-E8E90C9A1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300" y="2622964"/>
            <a:ext cx="9144000" cy="36563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E90577-A317-9B20-749E-1EF3C1B3B4B3}"/>
              </a:ext>
            </a:extLst>
          </p:cNvPr>
          <p:cNvSpPr txBox="1"/>
          <p:nvPr/>
        </p:nvSpPr>
        <p:spPr>
          <a:xfrm>
            <a:off x="4133850" y="3872984"/>
            <a:ext cx="1400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High Bias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A9F1CD-587A-B1F6-6583-8177B45A4D8B}"/>
              </a:ext>
            </a:extLst>
          </p:cNvPr>
          <p:cNvSpPr txBox="1"/>
          <p:nvPr/>
        </p:nvSpPr>
        <p:spPr>
          <a:xfrm>
            <a:off x="8523740" y="4949309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High Variance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2061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86D6F-3D6B-0DB0-35CD-ECB308FCB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2C96EB8-D1D5-AE08-B21A-01C810FFBF5C}"/>
              </a:ext>
            </a:extLst>
          </p:cNvPr>
          <p:cNvSpPr/>
          <p:nvPr/>
        </p:nvSpPr>
        <p:spPr>
          <a:xfrm>
            <a:off x="1104901" y="50515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F21A43-91C7-89C7-B0F3-83CFF0CC5C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CE8520F-C35A-7334-2CA5-33E26D5C68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What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 err="1">
                <a:solidFill>
                  <a:schemeClr val="tx1"/>
                </a:solidFill>
              </a:rPr>
              <a:t>sympy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Random walk simulation</a:t>
            </a:r>
            <a:endParaRPr lang="en-US" altLang="ko-KR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22295997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4CC3-0C25-936C-F4E5-BC6C8FAE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B6093B4-D84C-1182-BD67-09D1D89F1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Prince Frog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4CD2A0E-CCEC-F039-665F-40894A64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8D2309A-13E9-0BC5-9466-8BBC074E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9"/>
            <a:ext cx="10272637" cy="3012934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앞으로 인생에서 총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잠재적 파트너를 만날 수 있다고 가정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매칭되는 것이며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아래의 조건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번 거절한 사람에게는 다시 돌아갈 수 없음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만나는 순서는 무작위이며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좋은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선택할 확률을 최대화하려면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몇 번째 사람을 선택해야 하나요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07FF1A6-7C59-D849-56A1-6F4AF4D88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075" y="4357296"/>
            <a:ext cx="3334215" cy="199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1009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9F4C1-9C19-334E-374F-20286DB22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7BD285D-6A53-81FA-8E94-99733F8C6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Prince Frog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510D165-5755-A60C-51C5-3B8B6BC2B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E04C1-22EB-B558-4E66-63480F27A3B6}"/>
              </a:ext>
            </a:extLst>
          </p:cNvPr>
          <p:cNvSpPr txBox="1"/>
          <p:nvPr/>
        </p:nvSpPr>
        <p:spPr>
          <a:xfrm>
            <a:off x="1001261" y="905523"/>
            <a:ext cx="9007594" cy="5755422"/>
          </a:xfrm>
          <a:prstGeom prst="rect">
            <a:avLst/>
          </a:prstGeom>
          <a:solidFill>
            <a:srgbClr val="00B0F0"/>
          </a:solidFill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</a:p>
          <a:p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simulate_marriage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(N, K):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부터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까지의 숫자를 무작위로 섞음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가장 이상적인 배우자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candidates =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np.random.permutation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+ 1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앞의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명은 무조건 거절하면서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그들 중 가장 좋은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숫자가 가장 작은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점수를 기록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 == 0: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best_in_group1 = float('inf')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else: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best_in_group1 =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np.min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(candidates[:K])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K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이후 사람들을 보면서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앞서 기록한 기준보다 좋은 사람이 나오면 즉시 선택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range(K,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N):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candidates[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&lt; best_in_group1: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candidates[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선택한 배우자의 등수 반환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끝까지 마음에 드는 사람을 못 찾으면 어쩔 수 없이 마지막 사람 선택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candidates[-1]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시뮬레이션 설정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 = 100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        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배우자 후보 수</a:t>
            </a: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simulations = 10_000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몬테카를로 반복 횟수</a:t>
            </a:r>
          </a:p>
          <a:p>
            <a:b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저장할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딕셔너리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(K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값 대비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등 배우자를 만난 확률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 = {}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34756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50B43-7FB6-240C-C171-B1DB5B895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2893128-333B-2564-7647-E1E62D43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Prince Frog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BB7CCFD-0732-DEC6-E580-BE95A153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5A0796-E194-EE68-881F-44945C7713E2}"/>
              </a:ext>
            </a:extLst>
          </p:cNvPr>
          <p:cNvSpPr txBox="1"/>
          <p:nvPr/>
        </p:nvSpPr>
        <p:spPr>
          <a:xfrm>
            <a:off x="994426" y="1220061"/>
            <a:ext cx="10136108" cy="5262979"/>
          </a:xfrm>
          <a:prstGeom prst="rect">
            <a:avLst/>
          </a:prstGeom>
          <a:solidFill>
            <a:srgbClr val="00B0F0"/>
          </a:solidFill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 = {}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K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명부터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명까지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바꾸어가며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실험</a:t>
            </a: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 in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range(0,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101):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success_count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0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 in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range(simulations):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선택한 배우자가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'1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이면 성공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simulate_marriage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(N,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K)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== 1: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success_count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+= 1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success_rate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success_count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/ simulations)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results[K]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success_rate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 출력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가장 높은 성공 확률을 가진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찾기</a:t>
            </a:r>
          </a:p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best_k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max(results,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key=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results.get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print(f"===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몬테카를로 모의실험 결과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{simulations:,}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 수행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===")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가장 이상적인 전략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앞의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best_k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명을 먼저 만나며 기준을 세운다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 후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best_k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+ 1}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사람부터 앞선 사람들보다 나은 사람이 나오면 바로 도장을 찍는다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!")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이때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등 배우자를 만날 확률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{results[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best_k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]:.2f}%\n")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print("---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주요 구간별 성공 확률 추이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---")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 in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[0,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10,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20,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37,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50,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60]: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앞의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{k:2d}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 패스 후 선택 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-&gt; 1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등을 만날 확률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{results[k]:.2f}%")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75964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DCDE0-BEA8-9C59-21C3-451A35BB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1B7CFF5-70CA-8612-D2BC-667BC4CFE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Prince Frog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307E684-656B-C644-B26E-1818CB8E4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CB01CCE-E2BD-E3A8-5F91-11DB55BA0A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371" y="1487227"/>
            <a:ext cx="7635009" cy="4554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레온하르트 오일러의 초상화">
            <a:extLst>
              <a:ext uri="{FF2B5EF4-FFF2-40B4-BE49-F238E27FC236}">
                <a16:creationId xmlns:a16="http://schemas.microsoft.com/office/drawing/2014/main" id="{429E316F-33EC-43FD-D702-3C91CFED38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0328" y="1766286"/>
            <a:ext cx="1528817" cy="197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D3F988-A1DC-F426-798E-2BE4D04A1560}"/>
              </a:ext>
            </a:extLst>
          </p:cNvPr>
          <p:cNvSpPr txBox="1"/>
          <p:nvPr/>
        </p:nvSpPr>
        <p:spPr>
          <a:xfrm>
            <a:off x="9740328" y="3819353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hlinkClick r:id="rId4"/>
              </a:rPr>
              <a:t>Leonhard_Euler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7482F6-8595-BC61-1D6C-ACE8A0458E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9299" y="4565760"/>
            <a:ext cx="1346008" cy="805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3207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25990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521A-B01B-FF2E-FACB-441C57859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456858D-67E0-A8F4-729F-A1E3789BF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Montecarlo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6B8D633-2C7C-F8E0-6516-FABE7D7BC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C997C98-B8D3-098E-BC84-FFD20EF1CE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25" y="1714500"/>
            <a:ext cx="6096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15DA4A-456C-CBBA-4E0E-3B57A345BCBC}"/>
              </a:ext>
            </a:extLst>
          </p:cNvPr>
          <p:cNvSpPr txBox="1"/>
          <p:nvPr/>
        </p:nvSpPr>
        <p:spPr>
          <a:xfrm>
            <a:off x="915383" y="1219200"/>
            <a:ext cx="3975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scripts/</a:t>
            </a:r>
            <a:r>
              <a:rPr lang="en-US" altLang="ko-KR" dirty="0" err="1">
                <a:hlinkClick r:id="rId3"/>
              </a:rPr>
              <a:t>montecarlo_method.ipynb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AE53D0-3F30-C4A3-1C46-D2F463AB817D}"/>
              </a:ext>
            </a:extLst>
          </p:cNvPr>
          <p:cNvSpPr txBox="1"/>
          <p:nvPr/>
        </p:nvSpPr>
        <p:spPr>
          <a:xfrm>
            <a:off x="7305675" y="2256622"/>
            <a:ext cx="4800600" cy="1728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dirty="0">
                <a:hlinkClick r:id="rId4" tooltip="Computation"/>
              </a:rPr>
              <a:t>computational</a:t>
            </a:r>
            <a:r>
              <a:rPr lang="en-US" altLang="ko-KR" dirty="0"/>
              <a:t> </a:t>
            </a:r>
            <a:r>
              <a:rPr lang="en-US" altLang="ko-KR" dirty="0">
                <a:hlinkClick r:id="rId5" tooltip="Algorithm"/>
              </a:rPr>
              <a:t>algorithms</a:t>
            </a:r>
            <a:r>
              <a:rPr lang="en-US" altLang="ko-KR" dirty="0"/>
              <a:t> </a:t>
            </a:r>
          </a:p>
          <a:p>
            <a:pPr>
              <a:lnSpc>
                <a:spcPct val="200000"/>
              </a:lnSpc>
            </a:pPr>
            <a:r>
              <a:rPr lang="en-US" altLang="ko-KR" dirty="0"/>
              <a:t>based on </a:t>
            </a:r>
            <a:r>
              <a:rPr lang="en-US" altLang="ko-KR" sz="2000" b="1" dirty="0">
                <a:solidFill>
                  <a:srgbClr val="FF0000"/>
                </a:solidFill>
                <a:hlinkClick r:id="rId6" tooltip="Resampling (statis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repeated</a:t>
            </a:r>
            <a:r>
              <a:rPr lang="en-US" altLang="ko-KR" sz="2000" b="1" dirty="0">
                <a:solidFill>
                  <a:srgbClr val="FF0000"/>
                </a:solidFill>
              </a:rPr>
              <a:t> </a:t>
            </a:r>
            <a:r>
              <a:rPr lang="en-US" altLang="ko-KR" sz="2000" b="1" dirty="0">
                <a:solidFill>
                  <a:srgbClr val="FF0000"/>
                </a:solidFill>
                <a:hlinkClick r:id="rId7" tooltip="Random sampl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sampling</a:t>
            </a:r>
            <a:r>
              <a:rPr lang="en-US" altLang="ko-KR" sz="2000" b="1" dirty="0">
                <a:solidFill>
                  <a:srgbClr val="FF0000"/>
                </a:solidFill>
              </a:rPr>
              <a:t> </a:t>
            </a:r>
          </a:p>
          <a:p>
            <a:pPr>
              <a:lnSpc>
                <a:spcPct val="200000"/>
              </a:lnSpc>
            </a:pPr>
            <a:r>
              <a:rPr lang="en-US" altLang="ko-KR" dirty="0"/>
              <a:t>for obtaining numerical results.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51063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BF9B-1D11-3390-0C0C-334544E2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ADE4C9-5D44-4C0B-E4E8-3141942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Montecarlo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CD0A05-60EA-3637-1B32-5ED51A296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E254081-038C-0151-1EAC-C8D3FE509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4608" y="1261578"/>
            <a:ext cx="10962783" cy="4348647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수많은 무작위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(Random)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숫자를 대입해 보면서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발생할 수 있는 복잡한 결과의 확률적 분포를 알아내는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 공식이나 방정식으로 명확한 답을 내리기 어려울 정도로 불확실성이 크거나 변수가 많을 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컴퓨터에게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주사위를 수만 번 던지게 해서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통계적인 결과로 정답을 찾아가는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아주 똑똑한 노가다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(Brute Force Algorithm)</a:t>
            </a: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en-US" altLang="ko-KR" b="1" dirty="0"/>
              <a:t>Monte Carlo methods</a:t>
            </a:r>
            <a:r>
              <a:rPr lang="en-US" altLang="ko-KR" dirty="0"/>
              <a:t>, also called the </a:t>
            </a:r>
            <a:r>
              <a:rPr lang="en-US" altLang="ko-KR" b="1" dirty="0"/>
              <a:t>Monte Carlo experiments</a:t>
            </a:r>
            <a:r>
              <a:rPr lang="en-US" altLang="ko-KR" dirty="0"/>
              <a:t> or </a:t>
            </a:r>
            <a:r>
              <a:rPr lang="en-US" altLang="ko-KR" b="1" dirty="0"/>
              <a:t>Monte Carlo simulations</a:t>
            </a:r>
            <a:r>
              <a:rPr lang="en-US" altLang="ko-KR" dirty="0"/>
              <a:t>, are a broad class of </a:t>
            </a:r>
            <a:r>
              <a:rPr lang="en-US" altLang="ko-KR" dirty="0">
                <a:hlinkClick r:id="rId2" tooltip="Computation"/>
              </a:rPr>
              <a:t>computational</a:t>
            </a:r>
            <a:r>
              <a:rPr lang="en-US" altLang="ko-KR" dirty="0"/>
              <a:t> </a:t>
            </a:r>
            <a:r>
              <a:rPr lang="en-US" altLang="ko-KR" dirty="0">
                <a:hlinkClick r:id="rId3" tooltip="Algorithm"/>
              </a:rPr>
              <a:t>algorithms</a:t>
            </a:r>
            <a:r>
              <a:rPr lang="en-US" altLang="ko-KR" dirty="0"/>
              <a:t> based on </a:t>
            </a:r>
            <a:r>
              <a:rPr lang="en-US" altLang="ko-KR" sz="2200" b="1" dirty="0">
                <a:solidFill>
                  <a:srgbClr val="FF0000"/>
                </a:solidFill>
                <a:hlinkClick r:id="rId4" tooltip="Resampling (statis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repeated</a:t>
            </a:r>
            <a:r>
              <a:rPr lang="en-US" altLang="ko-KR" sz="2200" b="1" dirty="0">
                <a:solidFill>
                  <a:srgbClr val="FF0000"/>
                </a:solidFill>
              </a:rPr>
              <a:t> </a:t>
            </a:r>
            <a:r>
              <a:rPr lang="en-US" altLang="ko-KR" sz="2200" b="1" dirty="0">
                <a:solidFill>
                  <a:srgbClr val="FF0000"/>
                </a:solidFill>
                <a:hlinkClick r:id="rId5" tooltip="Random sampl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sampling</a:t>
            </a:r>
            <a:r>
              <a:rPr lang="en-US" altLang="ko-KR" sz="2200" b="1" dirty="0">
                <a:solidFill>
                  <a:srgbClr val="FF0000"/>
                </a:solidFill>
              </a:rPr>
              <a:t> </a:t>
            </a:r>
            <a:r>
              <a:rPr lang="en-US" altLang="ko-KR" dirty="0"/>
              <a:t>for obtaining numerical results. The underlying concept is to use </a:t>
            </a:r>
            <a:r>
              <a:rPr lang="en-US" altLang="ko-KR" dirty="0">
                <a:hlinkClick r:id="rId6" tooltip="Randomness"/>
              </a:rPr>
              <a:t>randomness</a:t>
            </a:r>
            <a:r>
              <a:rPr lang="en-US" altLang="ko-KR" dirty="0"/>
              <a:t> to solve </a:t>
            </a:r>
            <a:r>
              <a:rPr lang="en-US" altLang="ko-KR" dirty="0">
                <a:hlinkClick r:id="rId7" tooltip="Deterministic system"/>
              </a:rPr>
              <a:t>deterministic</a:t>
            </a:r>
            <a:r>
              <a:rPr lang="en-US" altLang="ko-KR" dirty="0"/>
              <a:t> problems. 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(Wikipedia)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55490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6757-A0EA-711D-A697-8F6124A18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D4929C2-0AB6-4650-74DF-6DB99B74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BB2D0-6737-1F36-562E-2C493D60A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DE096E-41CF-DF10-C586-715EC0041847}"/>
              </a:ext>
            </a:extLst>
          </p:cNvPr>
          <p:cNvSpPr txBox="1"/>
          <p:nvPr/>
        </p:nvSpPr>
        <p:spPr>
          <a:xfrm>
            <a:off x="1000973" y="2857035"/>
            <a:ext cx="5571278" cy="3539430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sims = 1000000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wait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15, sims)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mean_wait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prob_10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 &gt;= 10)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=(8,5))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plt.hist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(wait, bins=30, density=True,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edgecolor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='white')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plt.axvline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color='red')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plt.title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("Bus Waiting Time Distribution")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plt.xlabel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("Waiting Time (minutes)")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plt.ylabel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("Density")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FBC77F-810C-1744-F332-509C62D6F7B7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8705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균등분포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(Uniform Distribution)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 분석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통학 버스가 정확히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간격으로 도착할 경우 임의의 시간에 정류장에 도착한다고 가정하면 평균 기다리는 시간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𝑊</m:t>
                    </m:r>
                  </m:oMath>
                </a14:m>
                <a:r>
                  <a:rPr lang="en-US" altLang="ko-KR" dirty="0"/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10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이상 기다리는 확률을 구하라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FBC77F-810C-1744-F332-509C62D6F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870559"/>
              </a:xfrm>
              <a:prstGeom prst="rect">
                <a:avLst/>
              </a:prstGeom>
              <a:blipFill>
                <a:blip r:embed="rId2"/>
                <a:stretch>
                  <a:fillRect l="-450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4C1C48-CC51-1AC4-930A-14868A389F75}"/>
                  </a:ext>
                </a:extLst>
              </p:cNvPr>
              <p:cNvSpPr txBox="1"/>
              <p:nvPr/>
            </p:nvSpPr>
            <p:spPr>
              <a:xfrm>
                <a:off x="6092264" y="2256870"/>
                <a:ext cx="301857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𝑊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∼ Uniform(0, 15)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4C1C48-CC51-1AC4-930A-14868A389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2264" y="2256870"/>
                <a:ext cx="3018577" cy="369332"/>
              </a:xfrm>
              <a:prstGeom prst="rect">
                <a:avLst/>
              </a:prstGeom>
              <a:blipFill>
                <a:blip r:embed="rId3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6AA5D543-61FF-2B27-FF4C-3883A9FFB2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4175" y="2853437"/>
            <a:ext cx="5271491" cy="353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86296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26289-E7C5-E8B2-31C5-301C79902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8D61ACC-6369-6D07-77DA-84CE632EF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E6A6FF1-7C31-76DB-57B6-9F2389E37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18DAFA-1122-758D-18C0-C17DD9ED4073}"/>
              </a:ext>
            </a:extLst>
          </p:cNvPr>
          <p:cNvSpPr txBox="1"/>
          <p:nvPr/>
        </p:nvSpPr>
        <p:spPr>
          <a:xfrm>
            <a:off x="1000973" y="2857035"/>
            <a:ext cx="5571278" cy="3108543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sims = 1000000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5, sims)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6, sims)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duration = A + B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plt.hist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duration,density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True,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edgecolor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='white')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plt.axvline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(9, color='r')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print((duration &gt; 9).sum()/sims)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1ACD6A-9A84-FDF9-6B81-FD4FE0EE195D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12860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균등분포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(Uniform Distribution)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합의 확률 분석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어떤 작업은 두 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이루어지는데 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소요시간은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1~5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사이에서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소요시간은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2~6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사이에서 각각 균등하게 발생할 경우 전체 작업 시간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+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 이상일 확률을 구하라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1ACD6A-9A84-FDF9-6B81-FD4FE0EE1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1286058"/>
              </a:xfrm>
              <a:prstGeom prst="rect">
                <a:avLst/>
              </a:prstGeom>
              <a:blipFill>
                <a:blip r:embed="rId2"/>
                <a:stretch>
                  <a:fillRect l="-450" b="-6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A96C89DA-F251-A96D-2175-7F13E49F8E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3152" y="2857035"/>
            <a:ext cx="4184867" cy="3108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69108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371AE-A305-E146-7873-AFB6589C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C26F222-72AF-FDC5-8B60-5BA9D3629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F3E82D9-4F61-E75C-27B9-5BE961C27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7391454-8B09-622C-E59D-96B0DF5D4298}"/>
              </a:ext>
            </a:extLst>
          </p:cNvPr>
          <p:cNvGraphicFramePr>
            <a:graphicFrameLocks noGrp="1"/>
          </p:cNvGraphicFramePr>
          <p:nvPr/>
        </p:nvGraphicFramePr>
        <p:xfrm>
          <a:off x="1060449" y="2026038"/>
          <a:ext cx="2844804" cy="238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4134">
                  <a:extLst>
                    <a:ext uri="{9D8B030D-6E8A-4147-A177-3AD203B41FA5}">
                      <a16:colId xmlns:a16="http://schemas.microsoft.com/office/drawing/2014/main" val="1464939122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622014842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186541205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1698163927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3034248227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1182341501"/>
                    </a:ext>
                  </a:extLst>
                </a:gridCol>
              </a:tblGrid>
              <a:tr h="39788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105601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182599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154359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031032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10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highlight>
                          <a:srgbClr val="0000FF"/>
                        </a:highlight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6570330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11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highlight>
                          <a:srgbClr val="0000FF"/>
                        </a:highlight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11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highlight>
                          <a:srgbClr val="0000FF"/>
                        </a:highlight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69261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C85782-433C-A624-77C5-1952CAF0286B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455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확률변수의 합의 확률변수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+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합성곱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(convolution)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CNN(Convolutional Neural Network)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C85782-433C-A624-77C5-1952CAF02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455061"/>
              </a:xfrm>
              <a:prstGeom prst="rect">
                <a:avLst/>
              </a:prstGeom>
              <a:blipFill>
                <a:blip r:embed="rId2"/>
                <a:stretch>
                  <a:fillRect b="-21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그림 16">
            <a:extLst>
              <a:ext uri="{FF2B5EF4-FFF2-40B4-BE49-F238E27FC236}">
                <a16:creationId xmlns:a16="http://schemas.microsoft.com/office/drawing/2014/main" id="{4F8EFD58-27C5-1565-14B7-0184A66FE64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906266" y="1975168"/>
            <a:ext cx="3866260" cy="4704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2551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F9BBC-013A-5D6B-9809-C5DDEF5B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0321A05-D855-CE61-06A6-C7F6EFB6463C}"/>
              </a:ext>
            </a:extLst>
          </p:cNvPr>
          <p:cNvCxnSpPr/>
          <p:nvPr/>
        </p:nvCxnSpPr>
        <p:spPr>
          <a:xfrm>
            <a:off x="5057775" y="3076575"/>
            <a:ext cx="39909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제목 1">
            <a:extLst>
              <a:ext uri="{FF2B5EF4-FFF2-40B4-BE49-F238E27FC236}">
                <a16:creationId xmlns:a16="http://schemas.microsoft.com/office/drawing/2014/main" id="{B6D0278B-C871-6F1C-F2ED-8DC9F21F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4F600C5-080A-9972-A8A0-E9B40F0FB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22C13-FD7E-9828-C69A-FFFC61A44B86}"/>
              </a:ext>
            </a:extLst>
          </p:cNvPr>
          <p:cNvSpPr txBox="1"/>
          <p:nvPr/>
        </p:nvSpPr>
        <p:spPr>
          <a:xfrm>
            <a:off x="915383" y="1238250"/>
            <a:ext cx="3361342" cy="455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solidFill>
                  <a:srgbClr val="FFFF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Image_representation.ipynb</a:t>
            </a:r>
            <a:endParaRPr lang="ko-KR" altLang="en-US" dirty="0">
              <a:solidFill>
                <a:srgbClr val="FFFF0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5F7E36-85A9-960E-11A7-BA3CA501A0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385" y="1861559"/>
            <a:ext cx="1778830" cy="187943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94D23789-463A-057F-8DB7-DBC853881D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646" y="1861559"/>
            <a:ext cx="1778831" cy="187943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58CF572-A9CA-2574-258C-F5DF5BD662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1908" y="1861559"/>
            <a:ext cx="1778831" cy="18794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4A6F06-80E2-6302-BC79-973DA112F75D}"/>
              </a:ext>
            </a:extLst>
          </p:cNvPr>
          <p:cNvSpPr txBox="1"/>
          <p:nvPr/>
        </p:nvSpPr>
        <p:spPr>
          <a:xfrm>
            <a:off x="1002348" y="4019550"/>
            <a:ext cx="1593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FF00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conv-kernels</a:t>
            </a:r>
            <a:endParaRPr lang="ko-KR" altLang="en-US" dirty="0">
              <a:solidFill>
                <a:srgbClr val="FFFF00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FFA08F-367B-42D4-C78D-93FF5AE962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7385" y="4429125"/>
            <a:ext cx="4509290" cy="20910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18F16BA-8F7F-8799-CE1D-C125934983C7}"/>
              </a:ext>
            </a:extLst>
          </p:cNvPr>
          <p:cNvSpPr txBox="1"/>
          <p:nvPr/>
        </p:nvSpPr>
        <p:spPr>
          <a:xfrm>
            <a:off x="4885938" y="2647386"/>
            <a:ext cx="1208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convolution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624088-690D-FAE1-A189-A08F769286F6}"/>
              </a:ext>
            </a:extLst>
          </p:cNvPr>
          <p:cNvSpPr txBox="1"/>
          <p:nvPr/>
        </p:nvSpPr>
        <p:spPr>
          <a:xfrm>
            <a:off x="8354320" y="2647386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pooling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879784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BC28-E343-3EC9-71CA-AB663FCF5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0A8C696-895D-C6E6-C9DA-9817BB984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E0D118D-6E80-4688-6D49-D2D08A8D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B11978B-6E15-7CB6-94B3-05A4B5D0B4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지금이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원의 둘레가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둘레를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(0.5, 0)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시작벡터로 부터 아주 작은 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(epsilon=0.00001)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이동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 새로운 벡터와의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거리를 무수히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(100_000)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생성하여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누적거리를 구하는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적분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모의실험으로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math.sqrt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이외 원의 방정식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np.pi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등 어떠한 공식도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수치해석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(Numerical Analysis)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만을 사용하여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 b="-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09579038-E13D-D991-40D1-55EA84023D52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AB6EF399-39DC-FDA3-9D9A-860347DEA39F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C76968DB-6CB1-FCCB-4542-56E86B63398F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752005EC-171E-A258-B6A3-337E6C4D4009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0B46FFD-A1C4-3EF1-AA5F-BA30250E559F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D498B4-E8BE-C00F-62B5-AD3BC19E47AF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18653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1009650" y="1235438"/>
            <a:ext cx="5638800" cy="5262979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math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0; steps = 0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0.5  # (1,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</a:t>
            </a:r>
          </a:p>
          <a:p>
            <a:pPr>
              <a:buNone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단위원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y = sqrt(1 - x²)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x**2)    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사이의 거리</a:t>
            </a:r>
          </a:p>
          <a:p>
            <a:pPr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steps += 1;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총 단계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{steps:,}")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누적 거리 합계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{total_distance:.10f}")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원주율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*4:.10f}")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48450" y="1561854"/>
            <a:ext cx="4019550" cy="373429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B9F3531-27D9-88A2-80DE-10FDA2257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5821859"/>
            <a:ext cx="2217612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EC55-F36C-3EF2-2A0C-64ED17F2E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FF3D9CF-184B-D96E-5B39-928DB519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E090A-EAEA-05A5-AD9E-3C906FDE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  <p:pic>
        <p:nvPicPr>
          <p:cNvPr id="5122" name="Picture 2" descr="undefined">
            <a:extLst>
              <a:ext uri="{FF2B5EF4-FFF2-40B4-BE49-F238E27FC236}">
                <a16:creationId xmlns:a16="http://schemas.microsoft.com/office/drawing/2014/main" id="{599656F1-1AE4-0E0A-C4A6-9536C9F1BA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6963" y="1412997"/>
            <a:ext cx="4090987" cy="483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814545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FB1A1-2F32-AFF2-8AD4-5F61A8103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F1C0053-34DC-C83A-5E7B-3C793C7A8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4C7C5E6-E407-DFBA-6AA8-82665258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06050766-8508-04E0-2D82-0BC2E51CC4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원주율을 구하는 모의실험 코드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넓이는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np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  <a:blipFill>
                <a:blip r:embed="rId2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>
            <a:extLst>
              <a:ext uri="{FF2B5EF4-FFF2-40B4-BE49-F238E27FC236}">
                <a16:creationId xmlns:a16="http://schemas.microsoft.com/office/drawing/2014/main" id="{9C63E928-990D-DF12-476C-86ABF649F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46" y="2473875"/>
            <a:ext cx="4037993" cy="397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8F465B-65F1-380F-A7B2-1E92437D0265}"/>
              </a:ext>
            </a:extLst>
          </p:cNvPr>
          <p:cNvSpPr txBox="1"/>
          <p:nvPr/>
        </p:nvSpPr>
        <p:spPr>
          <a:xfrm>
            <a:off x="1029816" y="2473874"/>
            <a:ext cx="6462738" cy="397031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10_000_000  # 점의 개수 (많을수록 정확)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-1~1 사이의 무작위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좌표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원점으로부터의 거리가 1 이하인 점 = 원 안의 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x² + y² &lt;= 1  (피타고라스, π 사용 안 함!)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&lt;=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π 추정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4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f”점의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개수       : {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안의 점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f"추정된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π        : {pi_estimate:.6f}")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f"오차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):.6f}")</a:t>
            </a:r>
          </a:p>
        </p:txBody>
      </p:sp>
    </p:spTree>
    <p:extLst>
      <p:ext uri="{BB962C8B-B14F-4D97-AF65-F5344CB8AC3E}">
        <p14:creationId xmlns:p14="http://schemas.microsoft.com/office/powerpoint/2010/main" val="37714939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2D351-4F95-8CB3-E3DC-0CB603FD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C4704FD-8D1A-A10A-C2D7-B9FD61056BCF}"/>
              </a:ext>
            </a:extLst>
          </p:cNvPr>
          <p:cNvSpPr/>
          <p:nvPr/>
        </p:nvSpPr>
        <p:spPr>
          <a:xfrm>
            <a:off x="1104901" y="55849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E7BBF12-83A4-8489-DAF3-9DA9CEC8BE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068492-5DBD-D4F8-ED35-CFBD898339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528394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What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 err="1">
                <a:solidFill>
                  <a:schemeClr val="tx1"/>
                </a:solidFill>
              </a:rPr>
              <a:t>sympy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Random walk simulation</a:t>
            </a:r>
            <a:endParaRPr lang="en-US" altLang="ko-KR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16791524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3459-BD75-D432-BEA6-9C6B123A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85B3A8F-D9A1-03BF-1557-049F22586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58E022B-9CC7-3B06-E4F6-08C204E0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730D7B2-8F11-9986-6A3C-3F54951EE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–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39BC9-5604-0C54-A656-E0F72C6BD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37" y="3376095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212A4-8B49-3B6C-41A2-7EBEAC85A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943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86326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5E0C-50BB-F1AE-B91D-CD7055D9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A0B489-DABD-8485-0D53-A3B6771C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9166B6-5390-D265-7029-AF1A7582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55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BE3884-90D6-4205-75DE-61E2FC35D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아래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2392AE-FBAA-4939-6C80-3CA05F333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4779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9228610-B44F-2299-857C-27601FB50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316" y="254989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/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63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797F-FEEC-B823-2382-603B8BB0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EAB4AD8-69CE-0704-0F78-6C114454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B1CB07-4400-6BC2-0FC5-1EE76D14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56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1BFFC1A-4A14-F3B6-2AC3-14C41FE78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2"/>
            <a:ext cx="10876566" cy="15231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발생하며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81F12-DB99-FB5B-6A78-64FED969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981" y="2899845"/>
            <a:ext cx="8025132" cy="34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DE6F-6543-1CC5-84B7-38595329BB8F}"/>
              </a:ext>
            </a:extLst>
          </p:cNvPr>
          <p:cNvSpPr txBox="1"/>
          <p:nvPr/>
        </p:nvSpPr>
        <p:spPr>
          <a:xfrm>
            <a:off x="8829040" y="3533988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3275848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4610</TotalTime>
  <Words>4671</Words>
  <Application>Microsoft Office PowerPoint</Application>
  <PresentationFormat>와이드스크린</PresentationFormat>
  <Paragraphs>612</Paragraphs>
  <Slides>56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5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</vt:lpstr>
      <vt:lpstr>Contents</vt:lpstr>
      <vt:lpstr>Modeling</vt:lpstr>
      <vt:lpstr>Contents</vt:lpstr>
      <vt:lpstr>Derivative</vt:lpstr>
      <vt:lpstr>Derivative</vt:lpstr>
      <vt:lpstr>python sympy</vt:lpstr>
      <vt:lpstr>python sympy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Linear Regression with Optimization</vt:lpstr>
      <vt:lpstr>Contents</vt:lpstr>
      <vt:lpstr>Optimization of Loss Function(L1, L2)</vt:lpstr>
      <vt:lpstr>Optimization of Loss Function(L1, L2)</vt:lpstr>
      <vt:lpstr>coefficients of L1, L2 regression</vt:lpstr>
      <vt:lpstr>Derivatives of L1, L2 Loss Function</vt:lpstr>
      <vt:lpstr>Metaphor of L1, L2 Loss Function</vt:lpstr>
      <vt:lpstr>Contour map of L1, L2</vt:lpstr>
      <vt:lpstr>Geometry metaphor of L1, L2</vt:lpstr>
      <vt:lpstr>Optimization task of L1, L2</vt:lpstr>
      <vt:lpstr>Optimization of Loss Function</vt:lpstr>
      <vt:lpstr>Ridge linear regression</vt:lpstr>
      <vt:lpstr>bias-variance tradeoff</vt:lpstr>
      <vt:lpstr>bias-variance tradeoff</vt:lpstr>
      <vt:lpstr>Contents</vt:lpstr>
      <vt:lpstr>Prince Frog</vt:lpstr>
      <vt:lpstr>Prince Frog</vt:lpstr>
      <vt:lpstr>Prince Frog</vt:lpstr>
      <vt:lpstr>Prince Frog</vt:lpstr>
      <vt:lpstr>Simulation</vt:lpstr>
      <vt:lpstr>Montecarlo Simulation</vt:lpstr>
      <vt:lpstr>Montecarlo Simulation</vt:lpstr>
      <vt:lpstr>Simulation</vt:lpstr>
      <vt:lpstr>Simulation</vt:lpstr>
      <vt:lpstr>Simulation</vt:lpstr>
      <vt:lpstr>Image Representation</vt:lpstr>
      <vt:lpstr>Simulation</vt:lpstr>
      <vt:lpstr>Simulation</vt:lpstr>
      <vt:lpstr>Simulation</vt:lpstr>
      <vt:lpstr>Simulation</vt:lpstr>
      <vt:lpstr>Contents</vt:lpstr>
      <vt:lpstr>Random walk simulation</vt:lpstr>
      <vt:lpstr>Random walk simulation</vt:lpstr>
      <vt:lpstr>Random walk simulation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62</cp:revision>
  <dcterms:created xsi:type="dcterms:W3CDTF">2026-04-11T22:24:40Z</dcterms:created>
  <dcterms:modified xsi:type="dcterms:W3CDTF">2026-06-05T21:01:09Z</dcterms:modified>
</cp:coreProperties>
</file>