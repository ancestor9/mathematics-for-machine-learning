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7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58" r:id="rId13"/>
    <p:sldId id="343" r:id="rId14"/>
    <p:sldId id="259" r:id="rId15"/>
    <p:sldId id="318" r:id="rId16"/>
    <p:sldId id="359" r:id="rId17"/>
    <p:sldId id="360" r:id="rId18"/>
    <p:sldId id="361" r:id="rId19"/>
    <p:sldId id="317" r:id="rId20"/>
    <p:sldId id="319" r:id="rId21"/>
    <p:sldId id="284" r:id="rId22"/>
    <p:sldId id="287" r:id="rId23"/>
    <p:sldId id="286" r:id="rId24"/>
    <p:sldId id="266" r:id="rId25"/>
    <p:sldId id="288" r:id="rId26"/>
    <p:sldId id="344" r:id="rId27"/>
    <p:sldId id="267" r:id="rId28"/>
    <p:sldId id="285" r:id="rId29"/>
    <p:sldId id="272" r:id="rId30"/>
    <p:sldId id="273" r:id="rId31"/>
    <p:sldId id="345" r:id="rId32"/>
    <p:sldId id="269" r:id="rId33"/>
    <p:sldId id="346" r:id="rId34"/>
    <p:sldId id="308" r:id="rId35"/>
    <p:sldId id="320" r:id="rId36"/>
    <p:sldId id="310" r:id="rId37"/>
    <p:sldId id="311" r:id="rId38"/>
    <p:sldId id="312" r:id="rId39"/>
    <p:sldId id="347" r:id="rId40"/>
    <p:sldId id="321" r:id="rId41"/>
    <p:sldId id="322" r:id="rId42"/>
    <p:sldId id="323" r:id="rId43"/>
    <p:sldId id="324" r:id="rId44"/>
    <p:sldId id="348" r:id="rId45"/>
    <p:sldId id="335" r:id="rId46"/>
    <p:sldId id="336" r:id="rId47"/>
    <p:sldId id="337" r:id="rId48"/>
    <p:sldId id="338" r:id="rId49"/>
    <p:sldId id="349" r:id="rId50"/>
    <p:sldId id="340" r:id="rId51"/>
    <p:sldId id="339" r:id="rId52"/>
    <p:sldId id="341" r:id="rId53"/>
    <p:sldId id="350" r:id="rId54"/>
    <p:sldId id="291" r:id="rId55"/>
    <p:sldId id="365" r:id="rId56"/>
    <p:sldId id="363" r:id="rId57"/>
    <p:sldId id="362" r:id="rId58"/>
    <p:sldId id="307" r:id="rId59"/>
    <p:sldId id="292" r:id="rId60"/>
    <p:sldId id="351" r:id="rId61"/>
    <p:sldId id="293" r:id="rId62"/>
    <p:sldId id="294" r:id="rId63"/>
    <p:sldId id="295" r:id="rId64"/>
    <p:sldId id="352" r:id="rId65"/>
    <p:sldId id="296" r:id="rId66"/>
    <p:sldId id="297" r:id="rId67"/>
    <p:sldId id="298" r:id="rId68"/>
    <p:sldId id="353" r:id="rId69"/>
    <p:sldId id="301" r:id="rId70"/>
    <p:sldId id="354" r:id="rId71"/>
    <p:sldId id="299" r:id="rId72"/>
    <p:sldId id="355" r:id="rId73"/>
    <p:sldId id="300" r:id="rId74"/>
    <p:sldId id="356" r:id="rId75"/>
    <p:sldId id="302" r:id="rId76"/>
    <p:sldId id="357" r:id="rId77"/>
    <p:sldId id="325" r:id="rId78"/>
    <p:sldId id="326" r:id="rId79"/>
    <p:sldId id="327" r:id="rId80"/>
    <p:sldId id="328" r:id="rId81"/>
    <p:sldId id="329" r:id="rId82"/>
    <p:sldId id="330" r:id="rId83"/>
    <p:sldId id="334" r:id="rId84"/>
    <p:sldId id="331" r:id="rId85"/>
    <p:sldId id="332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721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ko.wikipedia.org/wiki/%EB%AA%AC%ED%8B%B0_%ED%99%80_%EB%AC%B8%EC%A0%9C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odruff.dev/wp-content/uploads/2025/09/Best-Practices-for-Tuning-Genetic-Algorithm-Parameters.png" TargetMode="External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ell_division" TargetMode="External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78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ell_division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microsoft.com/office/2007/relationships/hdphoto" Target="../media/hdphoto2.wdp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0.png"/><Relationship Id="rId3" Type="http://schemas.openxmlformats.org/officeDocument/2006/relationships/image" Target="../media/image620.png"/><Relationship Id="rId7" Type="http://schemas.microsoft.com/office/2007/relationships/hdphoto" Target="../media/hdphoto4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11" Type="http://schemas.openxmlformats.org/officeDocument/2006/relationships/image" Target="../media/image680.png"/><Relationship Id="rId5" Type="http://schemas.microsoft.com/office/2007/relationships/hdphoto" Target="../media/hdphoto3.wdp"/><Relationship Id="rId10" Type="http://schemas.openxmlformats.org/officeDocument/2006/relationships/image" Target="../media/image670.png"/><Relationship Id="rId4" Type="http://schemas.openxmlformats.org/officeDocument/2006/relationships/image" Target="../media/image85.png"/><Relationship Id="rId9" Type="http://schemas.openxmlformats.org/officeDocument/2006/relationships/image" Target="../media/image66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hyperlink" Target="https://github.com/ancestor9/mathematics-for-machine-learning/blob/main/scripts/cell_contamin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dirty="0"/>
              <a:t>Modeling &amp; Simulation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C140-19C1-FF60-32D3-115F3E66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54E0AC5-D3C1-B8B7-69EF-35F0F5F46456}"/>
              </a:ext>
            </a:extLst>
          </p:cNvPr>
          <p:cNvSpPr/>
          <p:nvPr/>
        </p:nvSpPr>
        <p:spPr>
          <a:xfrm>
            <a:off x="1104901" y="31084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B2C369-3EAE-1018-CAB6-CC74CB2A6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2C8B3D-33E6-708C-8387-2690255B2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6185B-8542-FE99-5671-8DA2CA03F1E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3127431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B11-9DC9-C05E-223E-124C8342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DB16239-B20F-BC48-736D-3082EA50148A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2BD48F-2F5A-4C41-BA71-11FED4C9D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377D60-D9A5-B173-E154-8880F0E3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7297F7-CF55-46BF-2B72-8695AB5D800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811152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8BCF9-2DD5-4402-26A1-C70FD99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D22EADE-B559-C35F-4511-5DFDCC9B3E05}"/>
              </a:ext>
            </a:extLst>
          </p:cNvPr>
          <p:cNvSpPr/>
          <p:nvPr/>
        </p:nvSpPr>
        <p:spPr>
          <a:xfrm>
            <a:off x="1104901" y="4165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9DA16A-B7E6-69AB-D30B-E53C7395F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5CF079-75FE-E617-58C5-C2A52AF049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31E5-EF4D-BDEC-96E8-D2D77C485533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0365759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EF45-0E44-8A4B-3A79-11F31648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A7EFDDB-AC97-FC35-30F4-DF70038DB895}"/>
              </a:ext>
            </a:extLst>
          </p:cNvPr>
          <p:cNvSpPr/>
          <p:nvPr/>
        </p:nvSpPr>
        <p:spPr>
          <a:xfrm>
            <a:off x="1104901" y="47181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CBFCC7-7159-7F0E-D7F2-FF26123BB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E5F6AC-401D-8053-31BC-31592DA0F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77E61E-8B1A-CCCC-9AF8-A7075EBF441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2092730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E16DE-16B8-5D03-3DCF-10B842B9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1B44F31-6A3C-4AA4-9525-B7425A2505C9}"/>
              </a:ext>
            </a:extLst>
          </p:cNvPr>
          <p:cNvSpPr/>
          <p:nvPr/>
        </p:nvSpPr>
        <p:spPr>
          <a:xfrm>
            <a:off x="1104901" y="52610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1AFA23-AF0B-3263-B529-4ABD6DD3C7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D58A28-2844-CBB4-61EF-CA14388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315CD-1D90-3AF7-99C4-58606224AE29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8685867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AE9-7C30-B07F-300B-81A6FF90B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9C2A4D7-4595-65F6-3A4E-3BBF6FA56DB4}"/>
              </a:ext>
            </a:extLst>
          </p:cNvPr>
          <p:cNvSpPr/>
          <p:nvPr/>
        </p:nvSpPr>
        <p:spPr>
          <a:xfrm>
            <a:off x="6675438" y="14623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AD57BD3-F577-1C73-79AA-F82B036FF6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D2CA4F-AF9C-5EA1-BE65-76D8E2EA8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17A29C-3AAA-607A-B866-8386BBF7368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6496972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694E7-A744-5544-58C7-C2882DEE0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0A3DE68-AE8B-41E6-DFDC-4559466BB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05BC95B-D4F1-883B-ADF3-9823AA45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21ED5C-BFD9-7329-57E1-1330A424F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68" y="2958268"/>
            <a:ext cx="7202239" cy="22117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C6AB0B-1B07-FBA5-D476-AE21D2BAC337}"/>
              </a:ext>
            </a:extLst>
          </p:cNvPr>
          <p:cNvSpPr txBox="1"/>
          <p:nvPr/>
        </p:nvSpPr>
        <p:spPr>
          <a:xfrm>
            <a:off x="1114169" y="1628775"/>
            <a:ext cx="1007657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수송 문제 데이터 테이블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및 수급 현황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셀의 숫자는 단위당 운송 비용을 의미하며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열과 마지막 행은 각각의 공급 능력과 수요량</a:t>
            </a:r>
          </a:p>
        </p:txBody>
      </p:sp>
    </p:spTree>
    <p:extLst>
      <p:ext uri="{BB962C8B-B14F-4D97-AF65-F5344CB8AC3E}">
        <p14:creationId xmlns:p14="http://schemas.microsoft.com/office/powerpoint/2010/main" val="18972955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31F0F-A8C2-0397-A51E-6E95A3354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39C0762-138D-E049-9615-211F9E442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4" y="1349038"/>
            <a:ext cx="9296488" cy="5070812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3C9A3A30-5671-D16C-D64A-66DA96F96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498CEB8-5617-A027-AD81-FB8B5D670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3200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04E27-679C-9FCF-4CC2-413DD3AC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31540B3-ECA6-2E04-E471-D95EA7D1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27F7D4-8A8F-0FBA-87EA-C88EC6F77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7FBE2E0-2E29-5C4E-DEB9-66764A2D6094}"/>
              </a:ext>
            </a:extLst>
          </p:cNvPr>
          <p:cNvGrpSpPr/>
          <p:nvPr/>
        </p:nvGrpSpPr>
        <p:grpSpPr>
          <a:xfrm>
            <a:off x="1115972" y="1158210"/>
            <a:ext cx="6854186" cy="5382174"/>
            <a:chOff x="1115972" y="1158210"/>
            <a:chExt cx="6854186" cy="538217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A86E72-6425-0EA9-4755-283C142B2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5972" y="2320809"/>
              <a:ext cx="6854186" cy="4219575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32C7BF-F2CA-3EE3-BFFF-84FBA5447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5972" y="1158210"/>
              <a:ext cx="6853925" cy="1162599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8B2D94CA-A74B-2B8B-4F3F-C1960A04039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0951" y="2320809"/>
            <a:ext cx="3568998" cy="2284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D572BC-A667-DAFC-DDA5-D22A47D1ED5E}"/>
              </a:ext>
            </a:extLst>
          </p:cNvPr>
          <p:cNvSpPr txBox="1"/>
          <p:nvPr/>
        </p:nvSpPr>
        <p:spPr>
          <a:xfrm>
            <a:off x="8400951" y="1724025"/>
            <a:ext cx="375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선형계획법</a:t>
            </a:r>
            <a:r>
              <a:rPr lang="en-US" altLang="ko-KR" dirty="0"/>
              <a:t>(Linear Programming)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46800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96A74-E6E7-ECD7-8DD1-FF3E6F2F2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B77909E-2E56-FA46-BF2E-4A64A3E727A9}"/>
              </a:ext>
            </a:extLst>
          </p:cNvPr>
          <p:cNvSpPr/>
          <p:nvPr/>
        </p:nvSpPr>
        <p:spPr>
          <a:xfrm>
            <a:off x="6675438" y="20243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0AD9AC-B785-7358-1D90-9F8E4BB36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BB305A-8596-83F3-8747-348D580CCF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7149DD-1A10-0B11-6E0F-2E6DE2BC52E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7086763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E254081-038C-0151-1EAC-C8D3FE509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608" y="1261578"/>
            <a:ext cx="10962783" cy="2386497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수많은 무작위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(Random)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숫자를 대입해 보면서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발생할 수 있는 복잡한 결과의 확률적 분포를 알아내는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 공식이나 방정식으로 명확한 답을 내리기 어려울 정도로 불확실성이 크거나 변수가 많을 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컴퓨터에게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주사위를 수만 번 던지게 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통계적인 결과로 정답을 찾아가는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아주 똑똑한 노가다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6757-A0EA-711D-A697-8F6124A1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D4929C2-0AB6-4650-74DF-6DB99B74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BB2D0-6737-1F36-562E-2C493D60A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DE096E-41CF-DF10-C586-715EC0041847}"/>
              </a:ext>
            </a:extLst>
          </p:cNvPr>
          <p:cNvSpPr txBox="1"/>
          <p:nvPr/>
        </p:nvSpPr>
        <p:spPr>
          <a:xfrm>
            <a:off x="1000973" y="2857035"/>
            <a:ext cx="5571278" cy="3539430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wait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15, sims)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mean_wait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prob_10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 &gt;= 10)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=(8,5))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(wait, bins=30, density=True,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color='red')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("Bus Waiting Time Distribution")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plt.xlabel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("Waiting Time (minutes)")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("Density")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통학 버스가 정확히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간격으로 도착할 경우 임의의 시간에 정류장에 도착한다고 가정하면 평균 기다리는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/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10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이상 기다리는 확률을 구하라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blipFill>
                <a:blip r:embed="rId2"/>
                <a:stretch>
                  <a:fillRect l="-450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/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∼ Uniform(0, 15)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blipFill>
                <a:blip r:embed="rId3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AA5D543-61FF-2B27-FF4C-3883A9FFB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4175" y="2853437"/>
            <a:ext cx="5271491" cy="353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6296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371AE-A305-E146-7873-AFB6589C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C26F222-72AF-FDC5-8B60-5BA9D3629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F3E82D9-4F61-E75C-27B9-5BE961C27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9A2792-AA3D-7876-8C13-8E46AC9823BA}"/>
              </a:ext>
            </a:extLst>
          </p:cNvPr>
          <p:cNvSpPr txBox="1"/>
          <p:nvPr/>
        </p:nvSpPr>
        <p:spPr>
          <a:xfrm>
            <a:off x="1000973" y="2857035"/>
            <a:ext cx="5571278" cy="310854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5, sims)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6, sims)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duration = A + B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duration,density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(9, color='r')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print((duration &gt; 9).sum()/sims)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4083D0-044C-F10F-EA27-E9C02FC82742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합의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어떤 작업은 두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이루어지는데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1~5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2~6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 각각 균등하게 발생할 경우 전체 작업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 이상일 확률을 구하라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4083D0-044C-F10F-EA27-E9C02FC82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blipFill>
                <a:blip r:embed="rId2"/>
                <a:stretch>
                  <a:fillRect l="-450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8310B2F9-B85C-A7C1-325B-C8E5A31FE0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3152" y="2857035"/>
            <a:ext cx="4184867" cy="3108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72551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BC28-E343-3EC9-71CA-AB663FCF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A8C696-895D-C6E6-C9DA-9817BB98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E0D118D-6E80-4688-6D49-D2D08A8D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B11978B-6E15-7CB6-94B3-05A4B5D0B4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09579038-E13D-D991-40D1-55EA84023D52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B6EF399-39DC-FDA3-9D9A-860347DEA39F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C76968DB-6CB1-FCCB-4542-56E86B63398F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752005EC-171E-A258-B6A3-337E6C4D4009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0B46FFD-A1C4-3EF1-AA5F-BA30250E559F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D498B4-E8BE-C00F-62B5-AD3BC19E47AF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186530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58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E06383BC-F98A-7155-6846-99523539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EE6840-F1F7-DEBF-A068-374A8CF3214E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02A79-796A-0F10-5D7A-359C27CA0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58EAB55-435E-BC4B-21DF-B42E24C2B53B}"/>
              </a:ext>
            </a:extLst>
          </p:cNvPr>
          <p:cNvSpPr/>
          <p:nvPr/>
        </p:nvSpPr>
        <p:spPr>
          <a:xfrm>
            <a:off x="6675438" y="25863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933D5E-E3BA-0614-F4DE-8015CDB02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BB4E0AA-C5D0-0DF2-497C-52627462C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E2C09-4E17-4E54-B633-A4780891D6C7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528427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61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62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6D3E2-09AF-E87A-3CEF-46469A2F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BD2D5-840A-1939-F816-4425D53FB31A}"/>
              </a:ext>
            </a:extLst>
          </p:cNvPr>
          <p:cNvSpPr/>
          <p:nvPr/>
        </p:nvSpPr>
        <p:spPr>
          <a:xfrm>
            <a:off x="6675438" y="31197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713121-1123-AB5E-8834-F2E150E5B4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821A264-37CD-7155-DFB4-1E3685486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DEA79-31F4-8A1B-6DCF-5EFBEC55E61F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0078135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66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FC7FC-0CD9-5C7C-DE74-4FB035E7B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BF7A0C5-DD05-C63B-13F9-7B6465BBBCED}"/>
              </a:ext>
            </a:extLst>
          </p:cNvPr>
          <p:cNvSpPr/>
          <p:nvPr/>
        </p:nvSpPr>
        <p:spPr>
          <a:xfrm>
            <a:off x="6675438" y="368168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C3B27C3-6565-5210-D21B-A3E71852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95D255-9E96-EFD1-672F-B6114570C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1ED29F-AD7A-AB68-9614-D207587A7F1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2170241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A5C1-2232-559A-62DE-2FBFA002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228FC41-607D-36E2-DD9F-8BFF042CC5E2}"/>
              </a:ext>
            </a:extLst>
          </p:cNvPr>
          <p:cNvSpPr/>
          <p:nvPr/>
        </p:nvSpPr>
        <p:spPr>
          <a:xfrm>
            <a:off x="6675438" y="42341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014E5E-1BD5-36AF-7F78-7E6022C5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C439E0B-0E1C-0A2A-CB51-B3FB7FB141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26F26C-37B9-0223-D76C-22FFA0464397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08311122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71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F5C5-515A-B7D3-2E61-F532DDB5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BEC4F21-E175-78E6-E22E-8E0D0245E558}"/>
              </a:ext>
            </a:extLst>
          </p:cNvPr>
          <p:cNvSpPr/>
          <p:nvPr/>
        </p:nvSpPr>
        <p:spPr>
          <a:xfrm>
            <a:off x="6675438" y="47675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3944A5-7027-1BCD-C48D-B09E9974E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B157A25-6F5B-1ED8-4901-B599F20A7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DEBB20-B4CC-5E76-4798-8AABCA78BD1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53673093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C8A9B-C99A-C323-49D3-D8FF332B2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E109C5D-CA46-86FE-B2F1-6B57CE97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Monty Hall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6715F2C-1C5F-58CD-F12C-7D8F314D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274E9-0890-E1EE-8815-6A6992A3E51A}"/>
              </a:ext>
            </a:extLst>
          </p:cNvPr>
          <p:cNvSpPr txBox="1"/>
          <p:nvPr/>
        </p:nvSpPr>
        <p:spPr>
          <a:xfrm>
            <a:off x="798974" y="1692410"/>
            <a:ext cx="2930832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CB3E241-1439-CF73-D1BF-D13C8F26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E41BEFF-9277-101A-3ABF-53C7FEE19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BEF33F-CA64-0A15-EF29-6230B6B4D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9BAFD2-095A-6333-05D9-AF58E4177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3AB27E-3741-C7E7-A100-08C4C10D4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137632-6EED-1197-4575-AD5C44748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C9BAD1F-4835-0E00-BE05-7B991DEA5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72470AC-D0CC-6A8D-F111-86F68089C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865E442-B4BD-7CFF-FCDF-2E85B2CB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F2D7143-68C6-2326-F00F-A8CD8AE3B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28F616-5440-AC06-EAC7-44E4E6C96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5F19E73-7B96-06A5-14A6-B60E4358A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21514DF-CA86-07A5-AD6C-AD2DEA2FE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9CD22BE-CA91-2684-1E36-B34F6E83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35F4664-A966-C87F-5C78-A301749D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EAAFF8B-1A89-D60D-75AB-E4265EDD2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EC7DF29-C3D6-F404-E972-77857EC56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D508969-A288-B230-8DB6-EC3946478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BD36F70-C846-8BF0-2823-F0053E6B7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2697E6A-BB42-EA03-FEFB-7A44EA57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C62F4DC-1018-0126-1558-960B8E9E3342}"/>
              </a:ext>
            </a:extLst>
          </p:cNvPr>
          <p:cNvSpPr txBox="1"/>
          <p:nvPr/>
        </p:nvSpPr>
        <p:spPr>
          <a:xfrm>
            <a:off x="6051006" y="1692410"/>
            <a:ext cx="5342020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8774975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EB95C-663F-55A3-2C59-BB57214F3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CB2A46-7281-C175-6EB6-C6A33407C013}"/>
              </a:ext>
            </a:extLst>
          </p:cNvPr>
          <p:cNvSpPr/>
          <p:nvPr/>
        </p:nvSpPr>
        <p:spPr>
          <a:xfrm>
            <a:off x="6675438" y="53104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6B83DF6-0F13-A6BD-2276-61C6896FA3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6031069-D79B-DC13-96CD-B14397EAE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508433-FC9D-459F-20CD-CAC1421288F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90996206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AC54-C4ED-A5C3-A213-8356B5F6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10A659-B508-3847-D95D-D5EDC55F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Genetic 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590872-92AA-7F11-7855-536F5E7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41AEC-0375-D5D0-1BC0-45800051E25B}"/>
              </a:ext>
            </a:extLst>
          </p:cNvPr>
          <p:cNvSpPr txBox="1"/>
          <p:nvPr/>
        </p:nvSpPr>
        <p:spPr>
          <a:xfrm>
            <a:off x="675209" y="1437904"/>
            <a:ext cx="11377264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유전자 알고리즘으로 구하는 파이썬 코드를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" name="그림 29" descr="Best Practices for Tuning Genetic Algorithm Parameters">
            <a:extLst>
              <a:ext uri="{FF2B5EF4-FFF2-40B4-BE49-F238E27FC236}">
                <a16:creationId xmlns:a16="http://schemas.microsoft.com/office/drawing/2014/main" id="{F123030E-E593-CC71-17F7-A38A55A62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90" y="2266684"/>
            <a:ext cx="5678585" cy="37857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DFA542B-465A-3FAA-9CFB-CC45AB510537}"/>
              </a:ext>
            </a:extLst>
          </p:cNvPr>
          <p:cNvSpPr txBox="1"/>
          <p:nvPr/>
        </p:nvSpPr>
        <p:spPr>
          <a:xfrm>
            <a:off x="1772790" y="6210299"/>
            <a:ext cx="83618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https://www.woodruff.dev/wp-content/uploads/2025/09/Best-Practices-for-Tuning-Genetic-Algorithm-Parameters.png</a:t>
            </a:r>
            <a:r>
              <a:rPr lang="ko-KR" alt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58295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81843-0320-9E01-A949-B9D36E0E1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B51BC5E-1A6E-1357-814F-94F490713DA3}"/>
              </a:ext>
            </a:extLst>
          </p:cNvPr>
          <p:cNvSpPr/>
          <p:nvPr/>
        </p:nvSpPr>
        <p:spPr>
          <a:xfrm>
            <a:off x="6675438" y="58629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06CFD27-BD7D-CF71-6FEA-6E881F54D2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BBCCE8-7E4F-D075-A615-A08547638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40AE8-F812-175A-98CA-BA4F82011F5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2389352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53D-C500-5F1D-7DFF-6810FE097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915BB03-0ACC-F981-4BCD-AB72175E4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3EE4ECF-F522-E598-8198-62166279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77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3BFE282-10B7-3563-1EAE-190C2973B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339880"/>
            <a:ext cx="10257442" cy="409889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생물학적 또는 물리적 현상을 이해할 수 있도록 수학적으로 묘사하는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컴퓨터는 미분과 적분 연산에 최적화되어 있어 세포분열 현상을 미분식으로 표현하면 컴퓨터는 미래를 예측할 수 있음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미분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세포분열의 경우 분열 속도를 미분방정식으로 표현하고 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일정 시간 이후 세포는 몇 개까지 증식하는지는 적분하여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19917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E07E6-0097-53F1-CF57-CE83DD4F4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DAAAD77-063D-96F0-BB80-C0675F456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8C4E1BA-B6E4-E7CE-F181-F9A168C4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78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FB737C-8207-A095-80A7-945984DC6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059" y="4113840"/>
            <a:ext cx="1116966" cy="2546683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37F876-EDC2-C2AF-3A20-8AEBD33F6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275426"/>
            <a:ext cx="9890853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아메바나 인체 세포는 일정 크기로 성장하면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분열하고 정상 세포는 보통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주기로 아래와 같이 분열한다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증식 속도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(Rate)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“늘어난 세포의 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걸린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시간”으로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정의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세포가 많을수록 분열하는 개체수도 늘어나므로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 속도는 현재 세포 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비례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E106E1-3309-58F0-CD71-036E1EAE6B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26303" y="4333492"/>
            <a:ext cx="1398297" cy="94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440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E31F4-3629-1A16-B98B-58ACE0810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0ED49C8-B5F8-591F-577B-FDB854C59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CACF84-D19C-8F63-2D7B-5FCAF5557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3810B7BD-B816-1B3E-64B3-B86C9C7EE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10350827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변화율 식을 시간에 대해 적분하면 시간에 따른 세포 수를 예측할 수 있고 이 결과를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 세포 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좌표에 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방식으로 코딩하거나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미분방정식을 정의하고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75766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4C972-7F47-0F03-CA39-23900549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C50CE5F-703B-628B-E278-C73CF443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1204269-D9CC-2292-140C-7F7FF6FEA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DC6FCB2-F7C1-D37F-A9DD-7D713B2C5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7642" y="2450726"/>
            <a:ext cx="5800722" cy="4126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6A5471-1D29-1F73-8FD7-C24096714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424329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이후에는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아니라 자연상수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2.718….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 수가 늘어남에 따라 증가 속도가 실시간으로 가속되어 기하급수적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(Exponential)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60B01F-E4BD-E2D1-75B0-48F2EEE16D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09896" y="2602882"/>
            <a:ext cx="1981007" cy="5933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71ABFD-946E-D12D-4E2E-CD43619BDA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4346" y="5316568"/>
            <a:ext cx="1646063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0837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B09BF-2EFA-5CFC-1E67-010A60511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4C2746F-56DA-F8D8-9041-05E04FAA2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AC6E2DD-E529-FB78-B038-B1FED6A2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81</a:t>
            </a:fld>
            <a:endParaRPr lang="en-US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785C4201-B3BA-4E6E-7C3B-F16863AB2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242" y="2707024"/>
            <a:ext cx="5760544" cy="376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612A4A-92A5-9BA1-C4A8-200B7C4CA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32920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변분법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(calculus of variations)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사고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에서는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 지금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1.17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속도로 올라가야 해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명령어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접선의 식은 그 명령어를 받아서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그럼 일단 이 방향으로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가볼게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그려본 가상의 직선 경로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5397D-E731-72CE-E943-A7168541C1AD}"/>
              </a:ext>
            </a:extLst>
          </p:cNvPr>
          <p:cNvSpPr txBox="1"/>
          <p:nvPr/>
        </p:nvSpPr>
        <p:spPr>
          <a:xfrm>
            <a:off x="6894055" y="2719003"/>
            <a:ext cx="4135896" cy="821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접선을 </a:t>
            </a:r>
            <a:r>
              <a:rPr lang="en-US" altLang="ko-KR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 </a:t>
            </a: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근처에서 아주 짧게 그리면 실제 세포 수 곡선과 거의 일치하게 되며 이 원리를 이용해서 컴퓨터는 복잡한 미분 방정식을 한 단계씩 직선으로 연결하며 풀어나감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11AAC54-8BFB-E2C4-CCC4-3568C30B8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9654" y="3886200"/>
            <a:ext cx="3068557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2546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03BA3-84EC-7D4E-9E83-258732FC5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36E194C-CF84-05F2-829A-D5469AA4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13E83F1-FF0D-A1E4-E03B-195B69B0A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82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0803C31-F401-2986-B0C3-AB38050D8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9914541" cy="199764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정상세포 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감염세포 수로 가정하고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다음과 같이 상호작용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시간안에 세포분열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X + X)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정상세포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시간안에 감염시킴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만들어라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/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＋</m:t>
                    </m:r>
                    <m:f>
                      <m:fPr>
                        <m:ctrlPr>
                          <a:rPr lang="ko-KR" altLang="en-US" sz="17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스스로 복제되는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소모되는 감소 항.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blipFill>
                <a:blip r:embed="rId2"/>
                <a:stretch>
                  <a:fillRect l="-399" b="-6011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/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𝑌</m:t>
                        </m:r>
                      </m:num>
                      <m:den>
                        <m:r>
                          <a:rPr lang="ko-KR" altLang="en-US" sz="1700" i="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−ⅆ</m:t>
                    </m:r>
                    <m:r>
                      <a:rPr lang="ko-KR" altLang="en-US" sz="170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 smtClean="0">
                        <a:latin typeface="Cambria Math" panose="02040503050406030204" pitchFamily="18" charset="0"/>
                      </a:rPr>
                      <m:t>＋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증가하는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>
                        <a:latin typeface="Cambria Math" panose="02040503050406030204" pitchFamily="18" charset="0"/>
                      </a:rPr>
                      <m:t>ⅆ</m:t>
                    </m:r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소멸되는 감소 항.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blipFill>
                <a:blip r:embed="rId3"/>
                <a:stretch>
                  <a:fillRect l="-399" b="-6627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EDBFDED1-B5CB-0038-345F-FCB775FCE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3739833"/>
            <a:ext cx="1737511" cy="6629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6D45B05-3F32-1279-AADB-08759DB757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5184455"/>
            <a:ext cx="1722269" cy="6706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/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80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/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/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/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0D9C063-5369-C69C-E0B4-1274029A98F3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1107440" y="4099536"/>
            <a:ext cx="16343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3DB4534-49B1-6F64-BF85-5067A640AB67}"/>
              </a:ext>
            </a:extLst>
          </p:cNvPr>
          <p:cNvSpPr txBox="1"/>
          <p:nvPr/>
        </p:nvSpPr>
        <p:spPr>
          <a:xfrm>
            <a:off x="1538530" y="3669666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A198041-6AC5-383B-4234-34E6192E933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1430021" y="5440241"/>
            <a:ext cx="13117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A93524F-66A7-C4A9-9346-A4BA2CF046F1}"/>
              </a:ext>
            </a:extLst>
          </p:cNvPr>
          <p:cNvSpPr txBox="1"/>
          <p:nvPr/>
        </p:nvSpPr>
        <p:spPr>
          <a:xfrm>
            <a:off x="1619810" y="4964800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59895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9" grpId="0"/>
      <p:bldP spid="10" grpId="0"/>
      <p:bldP spid="11" grpId="0"/>
      <p:bldP spid="12" grpId="0"/>
      <p:bldP spid="14" grpId="0"/>
      <p:bldP spid="1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60FD-E99D-D988-2B0E-5229AE05B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9DD9F4E-0D7D-776B-7505-4C818F90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3DB7B7C-2481-58D4-8C51-AE9453CA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C3E6F98-F6E9-2CB8-A4A8-C95382A9B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175798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만들고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(t)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와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의 그래프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제시하라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초기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정상세포와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감염세포의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수를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변경하면서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감염률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(k)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과 감염세포의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소멸율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(d)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가 변화하면 어떤 그래프 모양인지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ECBC3E-0DFD-90E3-AB55-0B8DDACFF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188" y="2871439"/>
            <a:ext cx="6333142" cy="3431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E0D2AA-2F8E-3F86-EDCA-19510A4FC9A9}"/>
              </a:ext>
            </a:extLst>
          </p:cNvPr>
          <p:cNvSpPr txBox="1"/>
          <p:nvPr/>
        </p:nvSpPr>
        <p:spPr>
          <a:xfrm>
            <a:off x="8435659" y="3986561"/>
            <a:ext cx="3756341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= 0.1      # Reaction rate for X + Y → Y + Y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 = 0.05   # Decay rate of 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2B866B-E6FD-215D-D54D-20A7387A1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2134" y="2871439"/>
            <a:ext cx="870945" cy="95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94846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4AEA5-9006-EB24-FDDB-0055E87B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D749A40-9BBB-899D-59C0-D2DF0EE6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24ADDE5-34BE-329C-8078-7E458126D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84</a:t>
            </a:fld>
            <a:endParaRPr lang="en-US" dirty="0"/>
          </a:p>
        </p:txBody>
      </p:sp>
      <p:pic>
        <p:nvPicPr>
          <p:cNvPr id="19" name="Picture 3">
            <a:extLst>
              <a:ext uri="{FF2B5EF4-FFF2-40B4-BE49-F238E27FC236}">
                <a16:creationId xmlns:a16="http://schemas.microsoft.com/office/drawing/2014/main" id="{1DA27186-1ACA-6302-0BC0-54B76F14B2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616" y="2851047"/>
            <a:ext cx="4913104" cy="3665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S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 곡선</a:t>
                </a: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(S-shape)' 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형태의 전염병 확산 모델</a:t>
                </a:r>
                <a:endParaRPr lang="en-US" altLang="ko-KR" sz="24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전염병 모델링에서 가장 대표적인 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'S-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곡선은 로지스틱 성장 모델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(Logistic Growth Model)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이 모델은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200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와 같은 단순한 미분방정식으로 표현되지 않으며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,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인구 수에 비례하여 확산 속도가 달라지는 형태</a:t>
                </a:r>
                <a:endParaRPr lang="en-US" altLang="ko-KR" sz="20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2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  <a:blipFill>
                <a:blip r:embed="rId3"/>
                <a:stretch>
                  <a:fillRect l="-224" r="-1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81536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CA68-25FD-5A44-8B75-29A9B139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FC0E191-BBE0-B8E7-2D67-C4E4F0136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B8A9F04-3CDC-9615-1CAC-5C9FB352D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A7A6C9A-3EE0-44FB-5485-99F3AF260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6988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자 곡선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(S-shape)'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형태의 전염병 확산 모델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05015587-3BF1-D836-871E-92509A13F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5" y="1970212"/>
            <a:ext cx="5292048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DDB58511-27CA-A866-3E0E-10B0F9012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5296" y="1970212"/>
            <a:ext cx="4941496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87884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3221</TotalTime>
  <Words>6225</Words>
  <Application>Microsoft Office PowerPoint</Application>
  <PresentationFormat>와이드스크린</PresentationFormat>
  <Paragraphs>1026</Paragraphs>
  <Slides>85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85</vt:i4>
      </vt:variant>
    </vt:vector>
  </HeadingPairs>
  <TitlesOfParts>
    <vt:vector size="95" baseType="lpstr">
      <vt:lpstr>D2Coding</vt:lpstr>
      <vt:lpstr>맑은 고딕</vt:lpstr>
      <vt:lpstr>맑은 고딕 Semilight</vt:lpstr>
      <vt:lpstr>Arial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  <vt:lpstr>Contents</vt:lpstr>
      <vt:lpstr>Transportation Problems</vt:lpstr>
      <vt:lpstr>Transportation Problems</vt:lpstr>
      <vt:lpstr>Transportation Problems</vt:lpstr>
      <vt:lpstr>Contents</vt:lpstr>
      <vt:lpstr>Montecarlo Simulation</vt:lpstr>
      <vt:lpstr>Simulation</vt:lpstr>
      <vt:lpstr>Simulation</vt:lpstr>
      <vt:lpstr>Simulation</vt:lpstr>
      <vt:lpstr>Simulation</vt:lpstr>
      <vt:lpstr>Simulation</vt:lpstr>
      <vt:lpstr>Contents</vt:lpstr>
      <vt:lpstr>Random walk simulation</vt:lpstr>
      <vt:lpstr>Random walk simulation</vt:lpstr>
      <vt:lpstr>Random walk simulation</vt:lpstr>
      <vt:lpstr>Contents</vt:lpstr>
      <vt:lpstr>Bootstrap sampling</vt:lpstr>
      <vt:lpstr>Bootstrap sampling</vt:lpstr>
      <vt:lpstr>Bootstrap sampling</vt:lpstr>
      <vt:lpstr>Contents</vt:lpstr>
      <vt:lpstr>Central Limit Theorm</vt:lpstr>
      <vt:lpstr>Contents</vt:lpstr>
      <vt:lpstr>Prince Frog</vt:lpstr>
      <vt:lpstr>Contents</vt:lpstr>
      <vt:lpstr>Monty Hall</vt:lpstr>
      <vt:lpstr>Contents</vt:lpstr>
      <vt:lpstr>Genetic algorithm</vt:lpstr>
      <vt:lpstr>Contents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27</cp:revision>
  <dcterms:created xsi:type="dcterms:W3CDTF">2026-04-11T22:24:40Z</dcterms:created>
  <dcterms:modified xsi:type="dcterms:W3CDTF">2026-05-19T11:52:44Z</dcterms:modified>
</cp:coreProperties>
</file>