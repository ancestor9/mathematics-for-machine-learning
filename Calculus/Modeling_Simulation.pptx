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8"/>
  </p:notesMasterIdLst>
  <p:sldIdLst>
    <p:sldId id="256" r:id="rId2"/>
    <p:sldId id="274" r:id="rId3"/>
    <p:sldId id="257" r:id="rId4"/>
    <p:sldId id="290" r:id="rId5"/>
    <p:sldId id="313" r:id="rId6"/>
    <p:sldId id="314" r:id="rId7"/>
    <p:sldId id="315" r:id="rId8"/>
    <p:sldId id="316" r:id="rId9"/>
    <p:sldId id="342" r:id="rId10"/>
    <p:sldId id="260" r:id="rId11"/>
    <p:sldId id="265" r:id="rId12"/>
    <p:sldId id="358" r:id="rId13"/>
    <p:sldId id="343" r:id="rId14"/>
    <p:sldId id="259" r:id="rId15"/>
    <p:sldId id="318" r:id="rId16"/>
    <p:sldId id="359" r:id="rId17"/>
    <p:sldId id="360" r:id="rId18"/>
    <p:sldId id="361" r:id="rId19"/>
    <p:sldId id="317" r:id="rId20"/>
    <p:sldId id="319" r:id="rId21"/>
    <p:sldId id="284" r:id="rId22"/>
    <p:sldId id="287" r:id="rId23"/>
    <p:sldId id="286" r:id="rId24"/>
    <p:sldId id="266" r:id="rId25"/>
    <p:sldId id="288" r:id="rId26"/>
    <p:sldId id="344" r:id="rId27"/>
    <p:sldId id="267" r:id="rId28"/>
    <p:sldId id="285" r:id="rId29"/>
    <p:sldId id="272" r:id="rId30"/>
    <p:sldId id="273" r:id="rId31"/>
    <p:sldId id="345" r:id="rId32"/>
    <p:sldId id="269" r:id="rId33"/>
    <p:sldId id="346" r:id="rId34"/>
    <p:sldId id="308" r:id="rId35"/>
    <p:sldId id="320" r:id="rId36"/>
    <p:sldId id="310" r:id="rId37"/>
    <p:sldId id="311" r:id="rId38"/>
    <p:sldId id="312" r:id="rId39"/>
    <p:sldId id="347" r:id="rId40"/>
    <p:sldId id="321" r:id="rId41"/>
    <p:sldId id="322" r:id="rId42"/>
    <p:sldId id="323" r:id="rId43"/>
    <p:sldId id="324" r:id="rId44"/>
    <p:sldId id="348" r:id="rId45"/>
    <p:sldId id="335" r:id="rId46"/>
    <p:sldId id="336" r:id="rId47"/>
    <p:sldId id="337" r:id="rId48"/>
    <p:sldId id="338" r:id="rId49"/>
    <p:sldId id="349" r:id="rId50"/>
    <p:sldId id="340" r:id="rId51"/>
    <p:sldId id="339" r:id="rId52"/>
    <p:sldId id="341" r:id="rId53"/>
    <p:sldId id="350" r:id="rId54"/>
    <p:sldId id="291" r:id="rId55"/>
    <p:sldId id="365" r:id="rId56"/>
    <p:sldId id="366" r:id="rId57"/>
    <p:sldId id="363" r:id="rId58"/>
    <p:sldId id="362" r:id="rId59"/>
    <p:sldId id="307" r:id="rId60"/>
    <p:sldId id="292" r:id="rId61"/>
    <p:sldId id="351" r:id="rId62"/>
    <p:sldId id="293" r:id="rId63"/>
    <p:sldId id="294" r:id="rId64"/>
    <p:sldId id="295" r:id="rId65"/>
    <p:sldId id="352" r:id="rId66"/>
    <p:sldId id="296" r:id="rId67"/>
    <p:sldId id="297" r:id="rId68"/>
    <p:sldId id="298" r:id="rId69"/>
    <p:sldId id="353" r:id="rId70"/>
    <p:sldId id="301" r:id="rId71"/>
    <p:sldId id="354" r:id="rId72"/>
    <p:sldId id="299" r:id="rId73"/>
    <p:sldId id="355" r:id="rId74"/>
    <p:sldId id="300" r:id="rId75"/>
    <p:sldId id="356" r:id="rId76"/>
    <p:sldId id="302" r:id="rId77"/>
    <p:sldId id="357" r:id="rId78"/>
    <p:sldId id="325" r:id="rId79"/>
    <p:sldId id="326" r:id="rId80"/>
    <p:sldId id="327" r:id="rId81"/>
    <p:sldId id="328" r:id="rId82"/>
    <p:sldId id="329" r:id="rId83"/>
    <p:sldId id="330" r:id="rId84"/>
    <p:sldId id="334" r:id="rId85"/>
    <p:sldId id="331" r:id="rId86"/>
    <p:sldId id="332" r:id="rId8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97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17EF-B0C5-4F2B-99F2-8DD7659ECF32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33B1C-0D5F-42ED-944D-ADB4310BB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3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cestor9/mathematics-for-machine-learning/blob/main/Calculus/w2/data/prices.csv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github.com/ancestor9/mathematics-for-machine-learning/blob/main/Calculus/w2/C2_W1_Assignment.ipynb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auto_examples/linear_model/plot_sgd_loss_functions.html" TargetMode="Externa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github.com/ancestor9/mathematics-for-machine-learning/blob/main/scripts/Random_Walk_Simulation.ipyn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hyperlink" Target="https://plus.maths.org/mathematical-dating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ko.wikipedia.org/wiki/%EB%AA%AC%ED%8B%B0_%ED%99%80_%EB%AC%B8%EC%A0%9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odruff.dev/wp-content/uploads/2025/09/Best-Practices-for-Tuning-Genetic-Algorithm-Parameters.png" TargetMode="Externa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ell_division" TargetMode="External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81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ell_division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microsoft.com/office/2007/relationships/hdphoto" Target="../media/hdphoto2.wdp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png"/><Relationship Id="rId3" Type="http://schemas.openxmlformats.org/officeDocument/2006/relationships/image" Target="../media/image620.png"/><Relationship Id="rId7" Type="http://schemas.microsoft.com/office/2007/relationships/hdphoto" Target="../media/hdphoto4.wdp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680.png"/><Relationship Id="rId5" Type="http://schemas.microsoft.com/office/2007/relationships/hdphoto" Target="../media/hdphoto3.wdp"/><Relationship Id="rId10" Type="http://schemas.openxmlformats.org/officeDocument/2006/relationships/image" Target="../media/image670.png"/><Relationship Id="rId4" Type="http://schemas.openxmlformats.org/officeDocument/2006/relationships/image" Target="../media/image87.png"/><Relationship Id="rId9" Type="http://schemas.openxmlformats.org/officeDocument/2006/relationships/image" Target="../media/image66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hyperlink" Target="https://github.com/ancestor9/mathematics-for-machine-learning/blob/main/scripts/cell_contamination.ipyn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E07EC-FAE3-CD22-0A12-F95D0F9F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10465545" cy="1362075"/>
          </a:xfrm>
        </p:spPr>
        <p:txBody>
          <a:bodyPr/>
          <a:lstStyle/>
          <a:p>
            <a:r>
              <a:rPr lang="en-US" altLang="ko-KR" dirty="0"/>
              <a:t>Modeling &amp; Simulation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22A912-C269-5DE4-418A-0B0B11B2D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179265"/>
            <a:ext cx="8825658" cy="861420"/>
          </a:xfrm>
        </p:spPr>
        <p:txBody>
          <a:bodyPr>
            <a:normAutofit/>
          </a:bodyPr>
          <a:lstStyle/>
          <a:p>
            <a:r>
              <a:rPr lang="en-US" altLang="ko-KR" sz="2800" cap="none" dirty="0">
                <a:solidFill>
                  <a:schemeClr val="tx1"/>
                </a:solidFill>
              </a:rPr>
              <a:t>Calculus, Statistics, Probability, …..</a:t>
            </a:r>
            <a:endParaRPr lang="ko-KR" altLang="en-US" cap="none" dirty="0">
              <a:solidFill>
                <a:schemeClr val="tx1"/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126B61E-1F39-452D-5C3B-A004CC62B8A8}"/>
              </a:ext>
            </a:extLst>
          </p:cNvPr>
          <p:cNvSpPr txBox="1">
            <a:spLocks/>
          </p:cNvSpPr>
          <p:nvPr/>
        </p:nvSpPr>
        <p:spPr>
          <a:xfrm>
            <a:off x="1183530" y="44460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sz="2800" cap="none" dirty="0"/>
              <a:t>2026 Spring</a:t>
            </a:r>
          </a:p>
          <a:p>
            <a:r>
              <a:rPr lang="ko-KR" altLang="en-US" sz="2200" cap="none" dirty="0" err="1"/>
              <a:t>조상구교수</a:t>
            </a:r>
            <a:endParaRPr lang="ko-KR" altLang="en-US" sz="2800" cap="none" dirty="0"/>
          </a:p>
        </p:txBody>
      </p:sp>
    </p:spTree>
    <p:extLst>
      <p:ext uri="{BB962C8B-B14F-4D97-AF65-F5344CB8AC3E}">
        <p14:creationId xmlns:p14="http://schemas.microsoft.com/office/powerpoint/2010/main" val="28983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77253-55D9-C5A4-DDCA-2C64C197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729BEC0-2EC4-2A16-AF3A-F5E8C4679D53}"/>
              </a:ext>
            </a:extLst>
          </p:cNvPr>
          <p:cNvSpPr/>
          <p:nvPr/>
        </p:nvSpPr>
        <p:spPr>
          <a:xfrm>
            <a:off x="1104901" y="1498696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C5E9264-71FE-D065-0983-B32E54057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DBA114-17ED-5D92-F01E-E672ACB5D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30838-4E3E-A4C9-B8DA-D8F8AF26F2BB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550686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884FF29-4B25-404E-81DC-1CCAE143C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9994572" cy="43554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복잡한 현실 세계의 현상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시스템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사물 등을 일정한 규칙이나 관점에 따라 </a:t>
            </a:r>
            <a:r>
              <a:rPr lang="ko-KR" altLang="en-US" sz="18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추상화하여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단순한 형태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표현하는 과정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단순화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미래에 대한 결과를 논리적으로 추정하는 행위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통계적 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머신러닝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시뮬레이션 및 테스트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수학적 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데이터베이스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모델링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(ERD)……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960D66E-6DAA-C869-2E3C-06CF487E3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230" y="3194913"/>
            <a:ext cx="4608512" cy="302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6D14F0A-2182-0C24-04C8-A2858EE5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0C3A8B-E6BF-2A69-18BA-06D331E7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75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73C1C-752E-1492-75CD-9260CD39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0209EB2-DA90-3A5C-9F40-6CC699307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65A7FF-E730-2207-3FF2-2E5E8228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F9EEEA1-E59F-8F64-113D-54452538E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17" y="1661628"/>
            <a:ext cx="10876566" cy="3936532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불확실한 결과를 예측하기 위해 반복적인 무작위 추출을 사용하는 통계적 기법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결과가 확률에 의존하는 도박처럼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수학적으로 계산하기 너무 복잡한 문제들을 수만 번의 가상 실험을 통해 그 근삿값을 찾아내는 방식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몬테카를로의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작동 원리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 정의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결과에 영향을 주는 불확실한 요소들을 정의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 분포 할당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각 변수가 가질 수 있는 값의 범위와 확률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 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설정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반복 실험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컴퓨터를 이용해 무작위 값을 입력하며 수천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수만 번의 시뮬레이션을 실행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 분석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도출된 수많은 결과값의 평균이나 분포를 통해 최종 결과를 예측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0714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C0F1-45B0-02D2-01DD-EEBCC8B1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ADDB57D-11B6-0AD2-0C31-FBCCB80C1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+ Object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C34F863-C394-51E7-8700-7871213B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B8655C-497D-4F31-C687-69B4C8092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0888"/>
              </p:ext>
            </p:extLst>
          </p:nvPr>
        </p:nvGraphicFramePr>
        <p:xfrm>
          <a:off x="1037302" y="2721743"/>
          <a:ext cx="10839737" cy="30216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990378">
                  <a:extLst>
                    <a:ext uri="{9D8B030D-6E8A-4147-A177-3AD203B41FA5}">
                      <a16:colId xmlns:a16="http://schemas.microsoft.com/office/drawing/2014/main" val="201321095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912667715"/>
                    </a:ext>
                  </a:extLst>
                </a:gridCol>
                <a:gridCol w="3677920">
                  <a:extLst>
                    <a:ext uri="{9D8B030D-6E8A-4147-A177-3AD203B41FA5}">
                      <a16:colId xmlns:a16="http://schemas.microsoft.com/office/drawing/2014/main" val="1005779961"/>
                    </a:ext>
                  </a:extLst>
                </a:gridCol>
                <a:gridCol w="3555999">
                  <a:extLst>
                    <a:ext uri="{9D8B030D-6E8A-4147-A177-3AD203B41FA5}">
                      <a16:colId xmlns:a16="http://schemas.microsoft.com/office/drawing/2014/main" val="3215655874"/>
                    </a:ext>
                  </a:extLst>
                </a:gridCol>
              </a:tblGrid>
              <a:tr h="5897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단계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주요 활동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설명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구성 요소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832515464"/>
                  </a:ext>
                </a:extLst>
              </a:tr>
              <a:tr h="1215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추상화 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Abstraction)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 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추출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현실 세계의 사람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사물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현상에서 불필요한 부분은 제거하고 서비스에 필요한 본질만 뽑아내는 과정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색상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이름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나이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달리기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멈추기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말하기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095169941"/>
                  </a:ext>
                </a:extLst>
              </a:tr>
              <a:tr h="1215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객체화 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Objectification)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정의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추상화된 개념을 프로그래밍 언어의 구조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(Class)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에 담아 실제 동작 가능한 단위로 만드는 과정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 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(Variable):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 저장</a:t>
                      </a:r>
                      <a:endParaRPr lang="en-US" altLang="ko-KR" sz="1800" b="1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 </a:t>
                      </a:r>
                      <a:r>
                        <a:rPr lang="en-US" altLang="ko-KR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(Function): </a:t>
                      </a:r>
                      <a:r>
                        <a:rPr lang="ko-KR" altLang="en-US" sz="1800" b="1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로직 수행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5754941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0799CB3-D046-93B1-88CF-F39C1364E05E}"/>
              </a:ext>
            </a:extLst>
          </p:cNvPr>
          <p:cNvSpPr txBox="1"/>
          <p:nvPr/>
        </p:nvSpPr>
        <p:spPr>
          <a:xfrm>
            <a:off x="915382" y="1414115"/>
            <a:ext cx="10118378" cy="956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복잡한 현실 세계는 시간에 따라 움직이고 있기 때문에 미분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(derivative)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이해하고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추상화와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모델링에 대한 이해를 하자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추상화는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OOP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구현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77317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F0051-1600-0186-2252-0ACB412D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E42708D-8AF6-90B1-C846-4BA65C5C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+ Object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BDC3750-B88D-6FD2-8537-70ECD176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4DA2C2F-442D-D2EB-C2E4-9E071E47C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602857"/>
              </p:ext>
            </p:extLst>
          </p:nvPr>
        </p:nvGraphicFramePr>
        <p:xfrm>
          <a:off x="637698" y="1767918"/>
          <a:ext cx="10916603" cy="383024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130142">
                  <a:extLst>
                    <a:ext uri="{9D8B030D-6E8A-4147-A177-3AD203B41FA5}">
                      <a16:colId xmlns:a16="http://schemas.microsoft.com/office/drawing/2014/main" val="4106552240"/>
                    </a:ext>
                  </a:extLst>
                </a:gridCol>
                <a:gridCol w="3125915">
                  <a:extLst>
                    <a:ext uri="{9D8B030D-6E8A-4147-A177-3AD203B41FA5}">
                      <a16:colId xmlns:a16="http://schemas.microsoft.com/office/drawing/2014/main" val="2267932678"/>
                    </a:ext>
                  </a:extLst>
                </a:gridCol>
                <a:gridCol w="3925125">
                  <a:extLst>
                    <a:ext uri="{9D8B030D-6E8A-4147-A177-3AD203B41FA5}">
                      <a16:colId xmlns:a16="http://schemas.microsoft.com/office/drawing/2014/main" val="310495391"/>
                    </a:ext>
                  </a:extLst>
                </a:gridCol>
                <a:gridCol w="2735421">
                  <a:extLst>
                    <a:ext uri="{9D8B030D-6E8A-4147-A177-3AD203B41FA5}">
                      <a16:colId xmlns:a16="http://schemas.microsoft.com/office/drawing/2014/main" val="276542089"/>
                    </a:ext>
                  </a:extLst>
                </a:gridCol>
              </a:tblGrid>
              <a:tr h="571679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대상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추상화 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 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&amp;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객체화 </a:t>
                      </a:r>
                      <a:r>
                        <a:rPr lang="en-US" altLang="ko-KR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 </a:t>
                      </a:r>
                      <a:r>
                        <a:rPr lang="en-US" altLang="ko-KR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&amp; </a:t>
                      </a:r>
                      <a:r>
                        <a:rPr lang="ko-KR" altLang="en-US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b="1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코드 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980183908"/>
                  </a:ext>
                </a:extLst>
              </a:tr>
              <a:tr h="1086188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자동차 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사물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모델명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연료 타입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가속한다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경적을 울린다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model, fuel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accelerate(), honk()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it-IT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car.model = "Tesla"car.accelerate()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6683253"/>
                  </a:ext>
                </a:extLst>
              </a:tr>
              <a:tr h="1086188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은행원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사람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사원번호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소속 지점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입금 처리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상담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emp_id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branch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deposit(), consult()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staff.emp_id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= 101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staff.deposit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()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349304262"/>
                  </a:ext>
                </a:extLst>
              </a:tr>
              <a:tr h="1086188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주문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현상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주문 번호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결제 금액</a:t>
                      </a:r>
                      <a:endParaRPr lang="en-US" altLang="ko-KR" sz="1800" b="1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주문 취소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상태를 변경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order_id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amount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cancel(), </a:t>
                      </a: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update_status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order.amount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= 500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b="1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order.cancel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()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935888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4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55BEE-F066-C987-AEE2-D963B9A5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BAC3D81-BA21-7C79-3849-E16FE484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- python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B75353E-AEB2-F738-D4BC-B431AD2B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B3F3D-5A65-3E67-C0FA-B47717BAA45E}"/>
              </a:ext>
            </a:extLst>
          </p:cNvPr>
          <p:cNvSpPr txBox="1"/>
          <p:nvPr/>
        </p:nvSpPr>
        <p:spPr>
          <a:xfrm>
            <a:off x="915383" y="1190864"/>
            <a:ext cx="9508777" cy="54168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class Account: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def __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__(self, owner, balance=0):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속성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(Attributes)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self.owner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owner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balance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메소드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(Methods)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def deposit(self, amount):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amount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return f"{amount}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 입금 완료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def withdraw(self, amount):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if amount &gt;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return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잔액이 부족합니다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amount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return f"{amount}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 출금 완료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객체화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인스턴스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my_acc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Account("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김철수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1000)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my_acc.deposit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(500))   # 500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 입금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my_acc.withdraw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(2000))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 부족 확인</a:t>
            </a:r>
          </a:p>
        </p:txBody>
      </p:sp>
    </p:spTree>
    <p:extLst>
      <p:ext uri="{BB962C8B-B14F-4D97-AF65-F5344CB8AC3E}">
        <p14:creationId xmlns:p14="http://schemas.microsoft.com/office/powerpoint/2010/main" val="2658800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88B81-AD91-F370-8D32-FF6C2C9A9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2CA6881-A4DF-DB25-5F01-36F36E9B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Proto_OOP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java script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95EC99B-BF2A-8481-22BC-D44961AE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8AA32-2422-26FE-27E7-BEAFCCF66B1C}"/>
              </a:ext>
            </a:extLst>
          </p:cNvPr>
          <p:cNvSpPr txBox="1"/>
          <p:nvPr/>
        </p:nvSpPr>
        <p:spPr>
          <a:xfrm>
            <a:off x="1001260" y="905523"/>
            <a:ext cx="9351279" cy="5755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constructor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owner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// 속성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Attributes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this.owner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owner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// 메소드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Methods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deposit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`${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 입금 완료. 잔액: 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}원`;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withdraw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&gt;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"잔액이 부족합니다.";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`${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 출금 완료. 잔액: 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}원`;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// 객체화 (인스턴스 생성)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myAcc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("이영희", 2000);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console.log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myAcc.deposit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(1000));  // 1000원 입금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console.log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myAcc.withdraw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(500));  // 500원 출금</a:t>
            </a:r>
          </a:p>
        </p:txBody>
      </p:sp>
    </p:spTree>
    <p:extLst>
      <p:ext uri="{BB962C8B-B14F-4D97-AF65-F5344CB8AC3E}">
        <p14:creationId xmlns:p14="http://schemas.microsoft.com/office/powerpoint/2010/main" val="4290643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326A7-A289-AC58-C248-EC55ACDA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C5EF994-9F5C-02E6-8FFD-4FDE4EA86D7C}"/>
              </a:ext>
            </a:extLst>
          </p:cNvPr>
          <p:cNvSpPr/>
          <p:nvPr/>
        </p:nvSpPr>
        <p:spPr>
          <a:xfrm>
            <a:off x="1104901" y="2041621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25D138-34DE-EB1E-567C-DB8A2F216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8F94AB-65E7-00F1-41BD-652EBCF59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51142-A7C7-214A-07CB-527CDE6D0BA4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443712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DCFB-7AB3-D3D2-F2B2-E0D460FAB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2A0FD5B-2339-E38C-4A56-DE98C9747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7"/>
            <a:ext cx="10629571" cy="47840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400" dirty="0" err="1"/>
              <a:t>sympy</a:t>
            </a:r>
            <a:r>
              <a:rPr lang="ko-KR" altLang="en-US" sz="2400" dirty="0"/>
              <a:t>는 </a:t>
            </a:r>
            <a:r>
              <a:rPr lang="ko-KR" altLang="en-US" sz="2400" dirty="0" err="1"/>
              <a:t>파이썬에서</a:t>
            </a:r>
            <a:r>
              <a:rPr lang="ko-KR" altLang="en-US" sz="2400" dirty="0"/>
              <a:t> 사용 가능한 대수</a:t>
            </a:r>
            <a:r>
              <a:rPr lang="en-US" altLang="ko-KR" sz="2400" dirty="0"/>
              <a:t>(algebra)</a:t>
            </a:r>
            <a:r>
              <a:rPr lang="ko-KR" altLang="en-US" sz="2400" dirty="0"/>
              <a:t> 계산 라이브러리로</a:t>
            </a:r>
            <a:r>
              <a:rPr lang="en-US" altLang="ko-KR" sz="2400" dirty="0"/>
              <a:t>, </a:t>
            </a:r>
            <a:r>
              <a:rPr lang="ko-KR" altLang="en-US" sz="2400" dirty="0"/>
              <a:t>기호 연산과 수학적 공식 표현을 지원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기호 연산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방정식 풀기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미분과 적분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방정식 그래프 그리기</a:t>
            </a:r>
            <a:endParaRPr lang="ko-KR" altLang="en-US" sz="2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0FB6319-F468-D130-A036-538E8745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D8D5A3D-86BD-1768-B2E9-BFC0D77D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48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531E-AB77-8E51-290D-2773B075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FB19550-EB7C-EB2B-ACE4-48FF2EDEB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559583"/>
            <a:ext cx="4241471" cy="1450318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symbols</a:t>
            </a:r>
          </a:p>
          <a:p>
            <a:r>
              <a:rPr lang="en-US" altLang="ko-KR" dirty="0"/>
              <a:t>x, y = symbols('x y')</a:t>
            </a:r>
          </a:p>
          <a:p>
            <a:r>
              <a:rPr lang="en-US" altLang="ko-KR" dirty="0"/>
              <a:t>expr = x + 2*y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6ACA4DB-B8FA-FE1C-66A3-A6ACC6000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7D15890-D0EE-8C14-F2F7-700699B1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B0035CB-472C-77A2-93FC-E6DE07F7868F}"/>
              </a:ext>
            </a:extLst>
          </p:cNvPr>
          <p:cNvSpPr txBox="1">
            <a:spLocks/>
          </p:cNvSpPr>
          <p:nvPr/>
        </p:nvSpPr>
        <p:spPr>
          <a:xfrm>
            <a:off x="978229" y="4217058"/>
            <a:ext cx="4241471" cy="1450318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Eq, solve</a:t>
            </a:r>
          </a:p>
          <a:p>
            <a:r>
              <a:rPr lang="en-US" altLang="ko-KR" dirty="0"/>
              <a:t>eq = Eq(x**2 + 2*x + 1, 0)</a:t>
            </a:r>
          </a:p>
          <a:p>
            <a:r>
              <a:rPr lang="en-US" altLang="ko-KR" dirty="0"/>
              <a:t>sol = solve(eq, x)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561FB-B458-7456-44E7-3D6042485AB8}"/>
              </a:ext>
            </a:extLst>
          </p:cNvPr>
          <p:cNvSpPr txBox="1">
            <a:spLocks/>
          </p:cNvSpPr>
          <p:nvPr/>
        </p:nvSpPr>
        <p:spPr>
          <a:xfrm>
            <a:off x="6092264" y="1559583"/>
            <a:ext cx="4241471" cy="1450318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diff, integrate</a:t>
            </a:r>
          </a:p>
          <a:p>
            <a:r>
              <a:rPr lang="en-US" altLang="ko-KR" dirty="0"/>
              <a:t>expr = x**2 + 3*x + 2</a:t>
            </a:r>
          </a:p>
          <a:p>
            <a:r>
              <a:rPr lang="en-US" altLang="ko-KR" dirty="0"/>
              <a:t>derivative = diff(expr, x)</a:t>
            </a:r>
          </a:p>
          <a:p>
            <a:r>
              <a:rPr lang="en-US" altLang="ko-KR" dirty="0"/>
              <a:t>integral = integrate(expr, x)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4AFFB05-5355-FE27-BD3B-B918ABE8E1E5}"/>
              </a:ext>
            </a:extLst>
          </p:cNvPr>
          <p:cNvSpPr txBox="1">
            <a:spLocks/>
          </p:cNvSpPr>
          <p:nvPr/>
        </p:nvSpPr>
        <p:spPr>
          <a:xfrm>
            <a:off x="6092263" y="4217058"/>
            <a:ext cx="4241471" cy="1450318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sympy.plotting</a:t>
            </a:r>
            <a:r>
              <a:rPr lang="en-US" altLang="ko-KR" dirty="0"/>
              <a:t> import plot</a:t>
            </a:r>
          </a:p>
          <a:p>
            <a:r>
              <a:rPr lang="en-US" altLang="ko-KR" dirty="0"/>
              <a:t>expr = x**2 - 3*x + 2</a:t>
            </a:r>
          </a:p>
          <a:p>
            <a:r>
              <a:rPr lang="en-US" altLang="ko-KR" dirty="0"/>
              <a:t>plot(expr, (x, -5, 5))</a:t>
            </a:r>
          </a:p>
          <a:p>
            <a:r>
              <a:rPr lang="en-US" altLang="ko-KR" dirty="0"/>
              <a:t>plot(diff(expr, x))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90416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0863D-8B9C-4B2D-5CA8-C102E2B6F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8533B6C-7B95-56E7-4AFB-8A273A3F4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B964FA8-F6A5-1FFC-915D-5DB51A56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AA712C-4D11-7672-960E-36CD713F6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39" y="2064793"/>
            <a:ext cx="5745786" cy="425980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1004B2B-1922-84AE-9056-5A562BD99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434" y="2064792"/>
            <a:ext cx="3223215" cy="423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80196E0-95CC-D647-011C-1196D09D1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7"/>
            <a:ext cx="10629571" cy="47840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dirty="0"/>
              <a:t>아래 </a:t>
            </a:r>
            <a:r>
              <a:rPr lang="en-US" altLang="ko-KR" sz="2000" dirty="0"/>
              <a:t>4</a:t>
            </a:r>
            <a:r>
              <a:rPr lang="ko-KR" altLang="en-US" sz="2000" dirty="0"/>
              <a:t>개 코드를 실습하기</a:t>
            </a:r>
            <a:r>
              <a:rPr lang="en-US" altLang="ko-KR" sz="2000" dirty="0"/>
              <a:t>(recap)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43943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8E22-3D6A-F0D1-BFCB-703DB02B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42EF175-A5B6-83D3-B8D9-AAA96784DEAF}"/>
              </a:ext>
            </a:extLst>
          </p:cNvPr>
          <p:cNvSpPr/>
          <p:nvPr/>
        </p:nvSpPr>
        <p:spPr>
          <a:xfrm>
            <a:off x="1104901" y="2575021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7BC68D-65E8-91BA-96D8-08D9E6A26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BA9A-E6B8-4CE7-C391-DF80A39A5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3C9FA-70E0-22C5-8445-F239B9F7A462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1182799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DBF7-AB87-CB1E-4F78-323C7FAF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02B9442-5172-8A2C-4B61-7CAEF63007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8"/>
                <a:ext cx="10518446" cy="76643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위치함수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ko-KR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에 대한 순간 속도를 </a:t>
                </a:r>
                <a:r>
                  <a:rPr lang="ko-KR" altLang="en-US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중앙차분법과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numpy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함수를 이용하여 구해보자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02B9442-5172-8A2C-4B61-7CAEF6300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8"/>
                <a:ext cx="10518446" cy="766439"/>
              </a:xfrm>
              <a:blipFill>
                <a:blip r:embed="rId2"/>
                <a:stretch>
                  <a:fillRect l="-232" r="-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E0AD441E-5917-450E-4906-51D94A1D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93C5350-3870-2D8F-063A-AD4B66AB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E18C21-4770-2BC0-8BD7-B0587A0B5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506" y="3107695"/>
            <a:ext cx="2428241" cy="611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1B5042-81F3-1D81-50D6-FAD08CC36ACA}"/>
              </a:ext>
            </a:extLst>
          </p:cNvPr>
          <p:cNvSpPr txBox="1"/>
          <p:nvPr/>
        </p:nvSpPr>
        <p:spPr>
          <a:xfrm>
            <a:off x="9179507" y="4097028"/>
            <a:ext cx="2428240" cy="3075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np.gradient</a:t>
            </a:r>
            <a:r>
              <a:rPr lang="en-US" altLang="ko-KR" sz="16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(s, dt)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0D2425C-5D0B-8F86-601F-AFC41FBF7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009" y="2087898"/>
            <a:ext cx="6356032" cy="379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554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5B32-3A82-65C8-07D9-E80625DED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AD07620-1C56-7E04-E640-894F6911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91CE662-B35B-C77A-D49F-4A75B2A8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9CA904-9641-C50F-FC09-6A1532A4D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58" y="966071"/>
            <a:ext cx="2428241" cy="611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9DAC9E-F85E-19E4-742B-1724AC7EFD2F}"/>
              </a:ext>
            </a:extLst>
          </p:cNvPr>
          <p:cNvSpPr txBox="1"/>
          <p:nvPr/>
        </p:nvSpPr>
        <p:spPr>
          <a:xfrm>
            <a:off x="6449007" y="1269792"/>
            <a:ext cx="2428240" cy="3075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np.gradient</a:t>
            </a:r>
            <a:r>
              <a:rPr lang="en-US" altLang="ko-KR" sz="16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(s, dt)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E3A5D-3E52-D6C6-5536-BF9FA2893FD5}"/>
              </a:ext>
            </a:extLst>
          </p:cNvPr>
          <p:cNvSpPr txBox="1"/>
          <p:nvPr/>
        </p:nvSpPr>
        <p:spPr>
          <a:xfrm>
            <a:off x="6454087" y="1665406"/>
            <a:ext cx="5480988" cy="33239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 위치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초부터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초까지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0.1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 간격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101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지점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np.linspace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(0, 10, 101)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dt = t[1] - t[0]  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간격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(delta 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위치 함수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s(t) = t^2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이론적 속도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v(t) = 2t)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 = t**2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velocity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np.gradient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(s, dt)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결과 확인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이론값과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비교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theoretical_v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2 * t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초에서 수치적 속도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{velocity[50]:.2f}")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초에서 이론적 속도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theoretical_v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[50]:.2f}")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F8188-0C4C-AB10-D6DB-02DAAE7695C3}"/>
              </a:ext>
            </a:extLst>
          </p:cNvPr>
          <p:cNvSpPr txBox="1"/>
          <p:nvPr/>
        </p:nvSpPr>
        <p:spPr>
          <a:xfrm>
            <a:off x="360626" y="1665406"/>
            <a:ext cx="5735374" cy="50475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central_difference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(f, x, eps=1e-6):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"""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중앙 차분법을 이용한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미분값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계산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미분할 함수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    x: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미분값을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구할 지점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eps: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아주 작은 변화량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(epsilon)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"""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공식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v(t) ≈ [s(t + 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t) - s(t - 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t)] / (2 * 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numerator = f(x + eps) - f(x - eps)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denominator = 2 * eps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numerator / denominator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target_function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x**2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설정값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5; epsilon = 0.000001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result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central_difference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target_function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epsilon)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 =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미분값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{result}")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이론값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(2x): {2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오차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{abs(result - 2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)}")</a:t>
            </a:r>
          </a:p>
        </p:txBody>
      </p:sp>
    </p:spTree>
    <p:extLst>
      <p:ext uri="{BB962C8B-B14F-4D97-AF65-F5344CB8AC3E}">
        <p14:creationId xmlns:p14="http://schemas.microsoft.com/office/powerpoint/2010/main" val="2057866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1D2E0-2257-774C-2CE0-9876494C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ECC3E1B-5FE9-5AB9-82E8-AB76F65A3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437916" cy="882141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시속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10km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등속도로 달리는 자동차로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시간을 주행하면 이동한 전체 거리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(km)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구하는 파이썬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코드를 제시하라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감속도 경우도 이해하자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D5C4B0A-829B-B462-60CD-D89B11EA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C93499E-0D1F-5A9E-8275-13B1A27A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C1459-41A7-5694-0A39-8BF657E0807E}"/>
              </a:ext>
            </a:extLst>
          </p:cNvPr>
          <p:cNvSpPr txBox="1"/>
          <p:nvPr/>
        </p:nvSpPr>
        <p:spPr>
          <a:xfrm>
            <a:off x="1052944" y="2628212"/>
            <a:ext cx="2493820" cy="3046988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sympy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위치 함수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 = 10 * t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속도 함수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sp.diff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(s, t)</a:t>
            </a:r>
          </a:p>
          <a:p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가속도 함수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sp.diff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(v, t)</a:t>
            </a:r>
          </a:p>
          <a:p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s, v, a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29581A-6140-FAB3-D8B4-AB6A5C8EA40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48768" y="3402581"/>
            <a:ext cx="1571501" cy="9532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5D6A34-286E-BDEC-B6BB-6AF863338077}"/>
              </a:ext>
            </a:extLst>
          </p:cNvPr>
          <p:cNvSpPr txBox="1"/>
          <p:nvPr/>
        </p:nvSpPr>
        <p:spPr>
          <a:xfrm>
            <a:off x="3823854" y="2933134"/>
            <a:ext cx="27801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등속도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미분방정식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EA65AE1-F844-91FE-6133-9E7323AB2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330" y="2619534"/>
            <a:ext cx="5749634" cy="382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264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9D3E-46A4-A2C8-CC98-FF671370E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7CD448D-1021-7984-7067-77CC4C9CF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437916" cy="601593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가속과 감속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890EB10-8295-8E50-EBB3-4C2900D80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08E7932-647B-ADCF-0E30-92D86F52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49171-8FC8-5680-9D88-653EA5CA2F72}"/>
              </a:ext>
            </a:extLst>
          </p:cNvPr>
          <p:cNvSpPr txBox="1"/>
          <p:nvPr/>
        </p:nvSpPr>
        <p:spPr>
          <a:xfrm>
            <a:off x="1071998" y="2241826"/>
            <a:ext cx="2493820" cy="58477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위치 함수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 = 10 * t**2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BB5C8-A7B3-5F37-E73B-25905D6DFA79}"/>
              </a:ext>
            </a:extLst>
          </p:cNvPr>
          <p:cNvSpPr txBox="1"/>
          <p:nvPr/>
        </p:nvSpPr>
        <p:spPr>
          <a:xfrm>
            <a:off x="4137886" y="1842539"/>
            <a:ext cx="2239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미분방정식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0E20D3-7340-6EC1-3CFB-F354537006BE}"/>
              </a:ext>
            </a:extLst>
          </p:cNvPr>
          <p:cNvSpPr txBox="1"/>
          <p:nvPr/>
        </p:nvSpPr>
        <p:spPr>
          <a:xfrm>
            <a:off x="6691161" y="2241826"/>
            <a:ext cx="2493820" cy="58477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위치 함수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 = -10 * t**2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A1ACF6B-DA24-9223-CADC-E6844CD0E88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85981" y="2241826"/>
            <a:ext cx="1228896" cy="68589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CAF0C1F-41C9-AFA7-9BEE-35F4303172E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77593" y="2252491"/>
            <a:ext cx="1491552" cy="6506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CC940B2-079A-E14D-2F2D-DB1CF9884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161" y="3142959"/>
            <a:ext cx="4640729" cy="34621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7655B3F-31F3-478E-C886-97E0DB3F4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486" y="3142959"/>
            <a:ext cx="4640729" cy="34621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A6947-364D-704F-BB63-14199E244514}"/>
              </a:ext>
            </a:extLst>
          </p:cNvPr>
          <p:cNvSpPr txBox="1"/>
          <p:nvPr/>
        </p:nvSpPr>
        <p:spPr>
          <a:xfrm>
            <a:off x="9463538" y="1842539"/>
            <a:ext cx="2239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감속도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미분방정식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6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8860BDD-01C8-4C63-3084-CD719ECAF9B8}"/>
              </a:ext>
            </a:extLst>
          </p:cNvPr>
          <p:cNvSpPr/>
          <p:nvPr/>
        </p:nvSpPr>
        <p:spPr>
          <a:xfrm flipH="1">
            <a:off x="6131273" y="2252491"/>
            <a:ext cx="45719" cy="4352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922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F30E-439F-770B-C6C4-74A30CCC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8E77E8C-81BD-48CF-FE7B-CF7176CF2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437916" cy="126472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위치를 미분 → 속도</a:t>
            </a:r>
            <a:r>
              <a:rPr lang="en-US" altLang="ko-KR" dirty="0"/>
              <a:t>, </a:t>
            </a:r>
            <a:r>
              <a:rPr lang="ko-KR" altLang="en-US" dirty="0"/>
              <a:t> 속도를 미분 → 가속도</a:t>
            </a:r>
            <a:endParaRPr lang="en-US" altLang="ko-KR" dirty="0"/>
          </a:p>
          <a:p>
            <a:pPr>
              <a:lnSpc>
                <a:spcPct val="17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가속도를 적분 → 속도 속도를 적분 → 위치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970EE199-FE2E-AB1B-C3EB-95C827C7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EC39897-BF60-C6EF-7B13-1CF8519A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19D29E6-B971-8A00-3814-384568163F8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08101" y="3210438"/>
            <a:ext cx="3645353" cy="210143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24428A9-29B9-D20F-2705-B5F974D3A0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2667" y="3210438"/>
            <a:ext cx="7161642" cy="212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5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BAD0D-64F0-5C6E-557E-EF4FB2FC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D5494DE-863C-9F38-C650-4485FDD2E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45332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미분과 적분은 단순히 복잡한 수식이 아니라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움직이는 변화를 관찰하는 도구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미분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(Differentiation)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위치를 시간에 대해 미분하면 속도가 되고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미분하면 가속도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순간적인 변화율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적분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(Integration)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가속도를 시간에 대해 적분하면 속도가 되고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적분하면 변화된 거리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: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누적된 총량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74C09B2-C18A-C9AE-7C68-6315A1CD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180848-7044-645C-DB72-202A5595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27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A9388-4461-4D86-EE45-54E602498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9FE60DC-EB95-02F6-B6AA-DAAC2BEEC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84908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시간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(t)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따른 위치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(s),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속도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(v),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가속도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(a)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관계는 미적분을 이해하는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물리적 모델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759C1A96-2896-D5AC-2AD0-BAC2EBE2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F203B95-93F2-4E16-BAE4-CC801D24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A69836-79B6-A2DA-1A54-CCE1425AE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947866"/>
            <a:ext cx="8100291" cy="44755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D1F81D-9D73-A277-AF02-F1D09CEEC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369" y="2672372"/>
            <a:ext cx="1365027" cy="47396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BB9B605-A74B-AE8D-B47A-481A2156A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662" y="3429000"/>
            <a:ext cx="2287684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70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F85AD-4242-C287-E9AC-59ECC4A9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2288B82-8279-02EE-6D4C-834A12616B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당신은 서울에서 강릉까지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(180 km)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여행을 가는데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처음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 km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교통체증으로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분이 걸렸고 뒤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 km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도로가 뻥 뚫려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45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 만에 달렸다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전체 평균속도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𝑎𝑣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km/h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단위로 계산하세요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각 구간의 속도는 각각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60 km/h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120 km/h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입니다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단순히 두 속도의 산술평균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(90 km/h)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 왜 다를까요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? “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총 거리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÷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총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시간”이라는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평균속도의 정의를 이용해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설명하시오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2288B82-8279-02EE-6D4C-834A12616B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  <a:blipFill>
                <a:blip r:embed="rId2"/>
                <a:stretch>
                  <a:fillRect l="-232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8B94D30B-61C5-F50A-881E-9D567962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7E7BEBB-7AF7-A56F-1FDB-111BF55E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58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C9BB-C576-5D76-A621-12F6D2D3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CC1FF3CA-0FF4-CF72-D678-8EE97947D8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당신은 마블의 순간 이동 능력으로 당신의 위치가 시간에 따라 아래와 같이 주어졌어요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𝑥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d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=4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p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2</m:t>
                        </m:r>
                      </m:sup>
                    </m:sSup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+2</m:t>
                    </m:r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𝑡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m, t: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𝑡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=0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초부터 𝑡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=5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초까지의 평균속도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𝑎𝑣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구하시오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순간속도 함수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𝑣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d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𝑑𝑥</m:t>
                        </m:r>
                      </m:num>
                      <m:den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𝑑𝑡</m:t>
                        </m:r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𝑡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=3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초에서의 순간속도를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계산하시오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평균속도과 순간속도를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설명하시오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CC1FF3CA-0FF4-CF72-D678-8EE97947D8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AB17F3EE-D6F0-304C-76DD-092CEB6B8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FB34E9E-4A02-7B86-AD9B-8F5BC007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777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DB512-E367-6CB3-6427-170A65758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92E82CDE-27C5-644F-77A7-4B7B8E305E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7"/>
                <a:ext cx="10518446" cy="190190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마블의 순간 이동에 따른 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변화된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함수가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b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+9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 인 어떤 물체의 움직임을 살펴보자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거리변화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속도 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특정시간에 위치는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일 때 나의 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움직인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</a:t>
                </a: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92E82CDE-27C5-644F-77A7-4B7B8E305E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7"/>
                <a:ext cx="10518446" cy="1901900"/>
              </a:xfrm>
              <a:blipFill>
                <a:blip r:embed="rId2"/>
                <a:stretch>
                  <a:fillRect l="-58" b="-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E1DEF03F-E099-05C7-39C4-D8D08C14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C8490EB-72B1-37E5-1777-33C45371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C714919-2A05-70C7-C618-3BD78C956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351" y="3429000"/>
            <a:ext cx="8954202" cy="294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4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762A-CD1D-F0CB-9A99-FC8EA8D4C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7F0CC4A2-4B44-9CAA-B20A-151E69FCFE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7"/>
                <a:ext cx="10518446" cy="158366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변화된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함수가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b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+9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 인 어떤 물체의 움직임을 살펴보자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거리변화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속도 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특정시간에 위치는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일 때 나의 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움직인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</a:t>
                </a: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7F0CC4A2-4B44-9CAA-B20A-151E69FCF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7"/>
                <a:ext cx="10518446" cy="1583667"/>
              </a:xfrm>
              <a:blipFill>
                <a:blip r:embed="rId2"/>
                <a:stretch>
                  <a:fillRect l="-232" t="-4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33FA9756-4D60-95AD-C21F-D0BF91D49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5AB88AB-AF58-CDCF-02C5-0714062F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A8962F5-C54B-FA99-98A0-64D114B85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440" y="3070225"/>
            <a:ext cx="9373736" cy="308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369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53342-2425-B552-0F6D-02A599DF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1A20275-9114-67D7-400E-3F605E1DB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379" y="1220061"/>
            <a:ext cx="10642271" cy="132014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그림은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1,000 US dollars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은행에 복리이자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(compound interest)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월복리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분기복리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복리 그리고 시간을 무한히 나누어 복리이자를 한 경우의 그래프이다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미분방정식과 미래 가치 등을 계산하여 시각화를 재현하라 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22A52C4-A097-F5B5-CE72-E072B1D76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33A2C10-ABF7-FF0C-AC9E-C8A89559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6430F4-CAAD-D9B3-D0F2-334DB356A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967" y="2696848"/>
            <a:ext cx="6118009" cy="382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93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C140-19C1-FF60-32D3-115F3E660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54E0AC5-D3C1-B8B7-69EF-35F0F5F46456}"/>
              </a:ext>
            </a:extLst>
          </p:cNvPr>
          <p:cNvSpPr/>
          <p:nvPr/>
        </p:nvSpPr>
        <p:spPr>
          <a:xfrm>
            <a:off x="1104901" y="3108421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FB2C369-3EAE-1018-CAB6-CC74CB2A6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2C8B3D-33E6-708C-8387-2690255B2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6185B-8542-FE99-5671-8DA2CA03F1E6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2312743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7F15-CC48-EF66-DE9B-044C76CC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B86733F-17E8-F77E-0D2D-9C8ACE002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1172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군데 공급업체의 물품 가격 추세선을 바탕으로 최적 조달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비율을 결정하라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배경설명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데이터는 </a:t>
            </a:r>
            <a:r>
              <a:rPr lang="en-US" altLang="ko-KR" dirty="0">
                <a:latin typeface="맑은 고딕" panose="020B0503020000020004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Obtain_data_prices.csv</a:t>
            </a:r>
            <a:r>
              <a:rPr lang="en-US" altLang="ko-KR" dirty="0">
                <a:latin typeface="맑은 고딕" panose="020B0503020000020004" pitchFamily="50" charset="-127"/>
                <a:cs typeface="맑은 고딕 Semilight" panose="020B0502040204020203" pitchFamily="50" charset="-127"/>
              </a:rPr>
              <a:t> )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759CEC3-8C62-8AED-B57C-6AC41CB5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00ACED5-0EA9-66A8-294D-E39924E5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761D9-3270-411C-4820-CE4B86A769DC}"/>
              </a:ext>
            </a:extLst>
          </p:cNvPr>
          <p:cNvSpPr txBox="1"/>
          <p:nvPr/>
        </p:nvSpPr>
        <p:spPr>
          <a:xfrm>
            <a:off x="1919202" y="2493818"/>
            <a:ext cx="9423053" cy="35421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제품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 (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생산 공정의 필수 원자재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기간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2018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월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~ 2020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월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과거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26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개월 데이터 기반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목적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향후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12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개월 예산 수립을 위한 공급업체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(A, B) 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간 최적 구매 비율 결정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분석 시나리오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예상 분석 프로세스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: 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공급업체 선정 및 비율 결정을 위해 다음 세 가지 지표를 검토하라</a:t>
            </a:r>
            <a:endParaRPr lang="en-US" altLang="ko-KR" sz="14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산술 평균 가격 비교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기대 비용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업체 중 어느 곳이 전반적으로 더 저렴한가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만약  라면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비용 절감 측면에서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유리하지만 단순히 평균만 봐서는 안 되며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특정 시점의 가격 역전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(Price Cross)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빈도를 확인</a:t>
            </a:r>
            <a:r>
              <a:rPr lang="ko-KR" altLang="en-US" sz="1200" dirty="0">
                <a:solidFill>
                  <a:srgbClr val="FFFFFF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하라</a:t>
            </a:r>
            <a:endParaRPr lang="en-US" altLang="ko-KR" sz="12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변동성 및 리스크 분석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표준편차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가격이 얼마나 널뛰는가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예산 모델링에서 안정성은 매우 </a:t>
            </a:r>
            <a:r>
              <a:rPr lang="ko-KR" altLang="en-US" sz="1200" b="0" i="0" dirty="0" err="1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중요하기때문에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평균 가격이 낮더라도 변동성이 너무 크면 예산 초과 리스크가 발생</a:t>
            </a:r>
            <a:endParaRPr lang="en-US" altLang="ko-KR" sz="12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상관관계 분석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포트폴리오 효과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업체의 가격이 같이 움직이는가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상관계수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확인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업체의 가격 상관관계가 낮거나 음수라면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물량을 나누어 구매함으로써 전체 조달 비용의 변동성을 상쇄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(Hedge)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할 수 있음</a:t>
            </a:r>
            <a:endParaRPr lang="en-US" altLang="ko-KR" sz="12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8368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218E5-3E28-1CD8-FEE2-5661777B4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FE9F5D6-547A-F4CE-3159-6BF1FB221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1172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군데 공급업체의 물품 가격 추세선을 바탕으로 최적의 주문 비율을 정하라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24C7295-8C9B-4984-1744-BA1E610BF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3B57F09-7FBE-6536-DDB5-1C49E76C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067C35D-C18A-EE13-477B-33829D7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531" y="2191429"/>
            <a:ext cx="9993935" cy="29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547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44E43-CB59-8F5C-4388-4811D5B1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518745B-AC4C-DDD2-8292-D26BA8532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11645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군데 공급업체의 물품 가격의 이동평균과 이동 표준편차를 고려하라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(Hints)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가격의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변동성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분산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큰 것은 위험한 것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 Minimization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C2D05B7-AC60-6082-2034-4BCDC4EF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FD1F052-3979-3A26-E065-56AF8FA9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29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E337E23-A785-0D8C-E673-31CA7D63D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424" y="2744067"/>
            <a:ext cx="9228590" cy="3036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018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7A33-2D8C-8206-106E-DD18CAAB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810804F-F0BA-ECEF-4EB9-DFFA04EB9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766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sympy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비용함수를 만들어 최적화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 값이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zero)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되는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w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찾으면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0.7023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3FE925E-53B4-0BD5-7DDB-C1DBEFCD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7E96ED0-98E2-AE92-8E7D-773680F5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30</a:t>
            </a:fld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436B390-E3E2-8328-29E8-1FA5AA40C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38" y="2345939"/>
            <a:ext cx="51530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757515-8BAB-A0AF-2D1F-FA9AD75392E2}"/>
              </a:ext>
            </a:extLst>
          </p:cNvPr>
          <p:cNvSpPr txBox="1"/>
          <p:nvPr/>
        </p:nvSpPr>
        <p:spPr>
          <a:xfrm>
            <a:off x="6543675" y="2310488"/>
            <a:ext cx="5153025" cy="358046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as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</a:t>
            </a: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기호 정의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w: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배분 비율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A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B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A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공분산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w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sp.symbols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('omega')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sp.symbols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('sigma_A^2 sigma_B^2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sigma_AB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리스크 함수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정의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L(w) = Var(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*w +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*(1-w))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전개식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w^2*Var(A) + (1-w)^2*Var(B) + 2*w*(1-w)*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Cov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(A,B)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 = w**2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+ (1-w)**2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+ 2*w*(1-w)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sAB</a:t>
            </a:r>
            <a:b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</a:b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최적화를 위한 미분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(dL/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dw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0)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diff_L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sp.diff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(L, w)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optimal_w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sp.solve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diff_L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w)[0]</a:t>
            </a:r>
          </a:p>
        </p:txBody>
      </p:sp>
    </p:spTree>
    <p:extLst>
      <p:ext uri="{BB962C8B-B14F-4D97-AF65-F5344CB8AC3E}">
        <p14:creationId xmlns:p14="http://schemas.microsoft.com/office/powerpoint/2010/main" val="19303661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72B11-9DC9-C05E-223E-124C8342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DB16239-B20F-BC48-736D-3082EA50148A}"/>
              </a:ext>
            </a:extLst>
          </p:cNvPr>
          <p:cNvSpPr/>
          <p:nvPr/>
        </p:nvSpPr>
        <p:spPr>
          <a:xfrm>
            <a:off x="1104901" y="3632296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B2BD48F-2F5A-4C41-BA71-11FED4C9D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377D60-D9A5-B173-E154-8880F0E3D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7297F7-CF55-46BF-2B72-8695AB5D8006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2681115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2365C-2FC7-5245-0848-EAD4EECDB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B2126BE-317A-FC6D-1EFF-328494D8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911645E-4FD6-1363-3E45-0A247404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32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131A6A-B13C-CBF5-A2D9-F3D965A1F0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21775" y="3063940"/>
            <a:ext cx="4673771" cy="102133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FA0E69-D0BF-D5B0-8F1E-C0EF9C65DE9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42066" y="4376481"/>
            <a:ext cx="4633188" cy="112955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5B7088D-3D0B-DB8A-8968-53C063BAF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775" y="1622010"/>
            <a:ext cx="5159187" cy="1150720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1C2C48BE-9BC7-5AC2-EEEF-B0EB00AFA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5" y="1622010"/>
            <a:ext cx="53530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5B14EC5A-44EC-8A71-55DA-2308077F4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5" y="1624058"/>
            <a:ext cx="53530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3B44A2-52A5-F573-88BA-ED032686EDA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25363" y="3544801"/>
            <a:ext cx="1045904" cy="30727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71B9045-AEBD-DD1A-465A-F80A2DB51B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0792" y="2071264"/>
            <a:ext cx="283635" cy="3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3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8BCF9-2DD5-4402-26A1-C70FD99A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D22EADE-B559-C35F-4511-5DFDCC9B3E05}"/>
              </a:ext>
            </a:extLst>
          </p:cNvPr>
          <p:cNvSpPr/>
          <p:nvPr/>
        </p:nvSpPr>
        <p:spPr>
          <a:xfrm>
            <a:off x="1104901" y="4165696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9DA16A-B7E6-69AB-D30B-E53C7395F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5CF079-75FE-E617-58C5-C2A52AF04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731E5-EF4D-BDEC-96E8-D2D77C485533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30365759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AFA8D-EFC0-F006-D4AB-47B69926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F9712C-5B4D-1BD5-FE8A-54E45DDEC35E}"/>
              </a:ext>
            </a:extLst>
          </p:cNvPr>
          <p:cNvSpPr txBox="1"/>
          <p:nvPr/>
        </p:nvSpPr>
        <p:spPr>
          <a:xfrm>
            <a:off x="1010497" y="1068787"/>
            <a:ext cx="6921227" cy="549381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sklearn.linear_model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, Ridge, Lasso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sklearn.preprocessing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np.random.RandomState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(1234)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X = 10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rng.rand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(100); y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np.cos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(X) + 0.25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rng.randn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(100)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np.linspace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(0, 10, 100)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models = {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'Linear': 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'Polynomial':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(20),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'Ridge':      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(20), Ridge(alpha=1)),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'Lasso':      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(20), Lasso(alpha=1)),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plt.figure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figsize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=(20, 6));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plt.scatter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(X, y)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styles = ['r-', 'g-', 'b-', 'k-’]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for (name, model), style in zip(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models.items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(), styles):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(X[:,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np.newaxis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], y)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plt.plot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model.predict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[:,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np.newaxis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]), style, label=name)</a:t>
            </a:r>
          </a:p>
          <a:p>
            <a:b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plt.legend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fontsize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=16);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plt.ylim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(-4, 4)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plt.show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7F26F4B-F240-5660-DE77-05421AF31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D804364-33A8-ACB2-C2E5-864D11EB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34</a:t>
            </a:fld>
            <a:endParaRPr 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E121FA0-5424-CAF3-1125-68C64E1BB051}"/>
              </a:ext>
            </a:extLst>
          </p:cNvPr>
          <p:cNvSpPr/>
          <p:nvPr/>
        </p:nvSpPr>
        <p:spPr>
          <a:xfrm>
            <a:off x="8340436" y="2789382"/>
            <a:ext cx="692728" cy="1385454"/>
          </a:xfrm>
          <a:prstGeom prst="rightArrow">
            <a:avLst>
              <a:gd name="adj1" fmla="val 64667"/>
              <a:gd name="adj2" fmla="val 50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87D16-AA64-F12D-47ED-51AE537B5490}"/>
              </a:ext>
            </a:extLst>
          </p:cNvPr>
          <p:cNvSpPr txBox="1"/>
          <p:nvPr/>
        </p:nvSpPr>
        <p:spPr>
          <a:xfrm>
            <a:off x="9264073" y="2789382"/>
            <a:ext cx="23737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MSE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함수에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L1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L2 penalty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부여한 새로운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설정하여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코드를 생성하라</a:t>
            </a:r>
          </a:p>
        </p:txBody>
      </p:sp>
    </p:spTree>
    <p:extLst>
      <p:ext uri="{BB962C8B-B14F-4D97-AF65-F5344CB8AC3E}">
        <p14:creationId xmlns:p14="http://schemas.microsoft.com/office/powerpoint/2010/main" val="115406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6FA6-74C7-88C9-BFBA-D8AD157D4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752A388-439D-EEB9-26EA-BBB92E20A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34BF533-F31A-6BF6-753A-09DAEB8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35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7FEE754-8B21-C573-D5AF-C8267A4B4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83" y="2534544"/>
            <a:ext cx="10428324" cy="33305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D070F2-82F7-2C59-5420-070887EC6108}"/>
              </a:ext>
            </a:extLst>
          </p:cNvPr>
          <p:cNvSpPr txBox="1"/>
          <p:nvPr/>
        </p:nvSpPr>
        <p:spPr>
          <a:xfrm>
            <a:off x="842210" y="1285138"/>
            <a:ext cx="1086026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모델이 너무 단순하면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못 맞추고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너무 복잡하면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(Polynomial)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예민해지는데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적절한 규제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(Lasso, Ridge)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주면 훨씬 안정적인 예측 모델이 된다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것을 시각적으로 표현</a:t>
            </a:r>
          </a:p>
        </p:txBody>
      </p:sp>
    </p:spTree>
    <p:extLst>
      <p:ext uri="{BB962C8B-B14F-4D97-AF65-F5344CB8AC3E}">
        <p14:creationId xmlns:p14="http://schemas.microsoft.com/office/powerpoint/2010/main" val="1171652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F0C96-3B27-BB48-DA78-0CFBBF4E8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E1DE821-57A7-BE4B-1984-B5F99A559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2BC1B00-91CB-AC63-78CA-FAF87EAC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36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36D9234-AC50-5FCB-71B1-2935B19F2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251" y="2513766"/>
            <a:ext cx="3726797" cy="3748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EC122D-E7BB-BE6B-B3A0-157E9953BF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08708" y="2527951"/>
            <a:ext cx="1775583" cy="63131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CE945B4-C646-B222-F74D-3C0DBC99C4B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08706" y="4285662"/>
            <a:ext cx="1775583" cy="6523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BD6D12-C63F-13C0-6BC9-77A7B60A3405}"/>
              </a:ext>
            </a:extLst>
          </p:cNvPr>
          <p:cNvSpPr txBox="1"/>
          <p:nvPr/>
        </p:nvSpPr>
        <p:spPr>
          <a:xfrm>
            <a:off x="5308706" y="3210529"/>
            <a:ext cx="6412239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가중치의 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절대값 합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페널티로 사용하여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중요하지 않은 변수의 계수를 정확히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만들어 변수 선택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 Selection)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효과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5E84E4-F875-478E-C686-9758ADE9AAD8}"/>
              </a:ext>
            </a:extLst>
          </p:cNvPr>
          <p:cNvSpPr txBox="1"/>
          <p:nvPr/>
        </p:nvSpPr>
        <p:spPr>
          <a:xfrm>
            <a:off x="5308706" y="5011642"/>
            <a:ext cx="6504602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가중치의 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제곱 합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페널티로 사용하여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계수를 완전히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만들지는 않지만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전체적으로 크기를 줄여서 모델의 분산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(Variance)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낮추고 과적합을 방지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0A7C9-3270-0BD3-5B1C-B6B2217CA9FD}"/>
              </a:ext>
            </a:extLst>
          </p:cNvPr>
          <p:cNvSpPr txBox="1"/>
          <p:nvPr/>
        </p:nvSpPr>
        <p:spPr>
          <a:xfrm>
            <a:off x="1173019" y="1234376"/>
            <a:ext cx="1084349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Lasso(L1 penalty)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중요하지 않은 변수를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만들어 없애 버리는 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불필요한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weight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 제거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Ridge(L2 penalty)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모든 변수를 안고 가되 그 힘을 골고루 빼놓는 모래주머니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모든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weight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 줄임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)"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62028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4CD8-1D16-6AD6-B54E-7388453B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6E90116-C523-D76C-F59D-44C18205E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BD4E204-6627-F492-F83A-589BDCFE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37</a:t>
            </a:fld>
            <a:endParaRPr 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7CC84CE-B9A5-2280-2812-A5EDCAF2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491" y="3281109"/>
            <a:ext cx="9524208" cy="30315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4405D29-D6D4-9CE0-F89E-3F54C70037AC}"/>
              </a:ext>
            </a:extLst>
          </p:cNvPr>
          <p:cNvSpPr txBox="1"/>
          <p:nvPr/>
        </p:nvSpPr>
        <p:spPr>
          <a:xfrm>
            <a:off x="825500" y="1167597"/>
            <a:ext cx="10591800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72920" algn="just">
              <a:lnSpc>
                <a:spcPct val="150000"/>
              </a:lnSpc>
            </a:pP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데이터를 정확하게 예측 판단하지 못하는</a:t>
            </a:r>
            <a:r>
              <a:rPr lang="en-US" altLang="ko-KR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(Loss)</a:t>
            </a: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비율</a:t>
            </a:r>
          </a:p>
          <a:p>
            <a:pPr marR="0" algn="just">
              <a:lnSpc>
                <a:spcPct val="150000"/>
              </a:lnSpc>
            </a:pP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허위음성율</a:t>
            </a:r>
            <a:r>
              <a:rPr lang="en-US" altLang="ko-KR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(FNR, False Negative Ratio)</a:t>
            </a: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허위양성율</a:t>
            </a:r>
            <a:r>
              <a:rPr lang="en-US" altLang="ko-KR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(FPR, False Positive Ratio)</a:t>
            </a: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최소화하는 것이 목적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58BBE36-A70D-B74B-BAC8-1688AFDF019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99093" y="2213027"/>
            <a:ext cx="4439005" cy="88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68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7586-3465-1D7A-31A0-DE17D4543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49C7335-0937-BF0A-7257-FEF83D06F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DAC531A-330A-E70F-AAF7-4CD509A4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38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F2C866-AFC2-4BB2-B62D-131ABEC60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76" y="2004810"/>
            <a:ext cx="4943950" cy="2111911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B4DC94A1-2481-AD85-5509-B66CEB38C98D}"/>
              </a:ext>
            </a:extLst>
          </p:cNvPr>
          <p:cNvGrpSpPr/>
          <p:nvPr/>
        </p:nvGrpSpPr>
        <p:grpSpPr>
          <a:xfrm>
            <a:off x="915383" y="1785765"/>
            <a:ext cx="4228117" cy="4702670"/>
            <a:chOff x="1432947" y="1241371"/>
            <a:chExt cx="4301103" cy="4934140"/>
          </a:xfrm>
        </p:grpSpPr>
        <p:pic>
          <p:nvPicPr>
            <p:cNvPr id="5" name="그림 4" descr="plot sgd loss functions">
              <a:extLst>
                <a:ext uri="{FF2B5EF4-FFF2-40B4-BE49-F238E27FC236}">
                  <a16:creationId xmlns:a16="http://schemas.microsoft.com/office/drawing/2014/main" id="{5F49B6A3-1F88-DA90-EF99-F850EDDAD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2947" y="2949683"/>
              <a:ext cx="4301103" cy="3225828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4BA405C-1BDA-9D33-44AF-91EAB0128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2947" y="1241371"/>
              <a:ext cx="4301103" cy="1708311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5DE5ECE-63FB-B037-2FD5-1FF750880A29}"/>
              </a:ext>
            </a:extLst>
          </p:cNvPr>
          <p:cNvSpPr txBox="1"/>
          <p:nvPr/>
        </p:nvSpPr>
        <p:spPr>
          <a:xfrm>
            <a:off x="813783" y="1385655"/>
            <a:ext cx="3134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plot_sgd_loss_functions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6722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8EF45-0E44-8A4B-3A79-11F316489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A7EFDDB-AC97-FC35-30F4-DF70038DB895}"/>
              </a:ext>
            </a:extLst>
          </p:cNvPr>
          <p:cNvSpPr/>
          <p:nvPr/>
        </p:nvSpPr>
        <p:spPr>
          <a:xfrm>
            <a:off x="1104901" y="4718146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FCBFCC7-7159-7F0E-D7F2-FF26123BB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E5F6AC-401D-8053-31BC-31592DA0F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7E61E-8B1A-CCCC-9AF8-A7075EBF4415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4209273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D1764-7834-EF6C-66DB-456EAE59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02E4FFB2-6E61-AF40-0847-AEFB3ECBE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83" y="2726242"/>
            <a:ext cx="6588418" cy="3332813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511C401-1BDD-EEDF-0775-5E0E7A5F3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15DFB23-88D1-D4A1-4363-B544A9A5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40</a:t>
            </a:fld>
            <a:endParaRPr 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5162F18-6756-C855-7D54-013E71047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525338"/>
              </p:ext>
            </p:extLst>
          </p:nvPr>
        </p:nvGraphicFramePr>
        <p:xfrm>
          <a:off x="7682466" y="2726242"/>
          <a:ext cx="3508273" cy="239260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31010">
                  <a:extLst>
                    <a:ext uri="{9D8B030D-6E8A-4147-A177-3AD203B41FA5}">
                      <a16:colId xmlns:a16="http://schemas.microsoft.com/office/drawing/2014/main" val="289503742"/>
                    </a:ext>
                  </a:extLst>
                </a:gridCol>
                <a:gridCol w="783208">
                  <a:extLst>
                    <a:ext uri="{9D8B030D-6E8A-4147-A177-3AD203B41FA5}">
                      <a16:colId xmlns:a16="http://schemas.microsoft.com/office/drawing/2014/main" val="1735848410"/>
                    </a:ext>
                  </a:extLst>
                </a:gridCol>
                <a:gridCol w="1056908">
                  <a:extLst>
                    <a:ext uri="{9D8B030D-6E8A-4147-A177-3AD203B41FA5}">
                      <a16:colId xmlns:a16="http://schemas.microsoft.com/office/drawing/2014/main" val="3082597179"/>
                    </a:ext>
                  </a:extLst>
                </a:gridCol>
                <a:gridCol w="1137147">
                  <a:extLst>
                    <a:ext uri="{9D8B030D-6E8A-4147-A177-3AD203B41FA5}">
                      <a16:colId xmlns:a16="http://schemas.microsoft.com/office/drawing/2014/main" val="313110005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노드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도시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위도 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Latitude)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경도 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Longitude)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702843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서울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37.5665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126.9780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4954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수원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37.2636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127.0286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88487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원주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37.3422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127.9202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47656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천안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36.8151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127.1139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3127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대전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36.3504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127.3845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9982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대구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35.8714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128.6014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05682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울산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35.5384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129.3114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454846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h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부산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35.1796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129.0756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42074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485A23B-8E19-CE69-B78C-E7D437BC98CB}"/>
              </a:ext>
            </a:extLst>
          </p:cNvPr>
          <p:cNvSpPr txBox="1"/>
          <p:nvPr/>
        </p:nvSpPr>
        <p:spPr>
          <a:xfrm>
            <a:off x="775854" y="1228235"/>
            <a:ext cx="11330822" cy="87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서울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(Node a)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부산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(Node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까지 가는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가지 경로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(Edge)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있다고 가정하고 경로별로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도학하는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시간은 거리에 비례한다고 가정한다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어느 경로로 가는 것이 최단거리인지 해를 구하라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56098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51CA-EE0F-066F-FF91-91F7D8D51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CA80E44-6C64-0E6E-9F21-868A0A76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B88E5B-D17C-39F7-4F11-46BD15D6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5615C-98F5-472C-7F9D-75B04AAA493B}"/>
              </a:ext>
            </a:extLst>
          </p:cNvPr>
          <p:cNvSpPr txBox="1"/>
          <p:nvPr/>
        </p:nvSpPr>
        <p:spPr>
          <a:xfrm>
            <a:off x="373188" y="1774002"/>
            <a:ext cx="6415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서울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(Node a)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부산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(Node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까지 가는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가지 경로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(Edge)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54EBE0-DCDB-B23B-70BC-8A24354C5342}"/>
              </a:ext>
            </a:extLst>
          </p:cNvPr>
          <p:cNvSpPr txBox="1"/>
          <p:nvPr/>
        </p:nvSpPr>
        <p:spPr>
          <a:xfrm>
            <a:off x="7204364" y="1774002"/>
            <a:ext cx="3986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 x 8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인접 행렬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(Adjacency Matrix)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ED4C402-C662-6A33-8686-D1EB0B4EECC1}"/>
              </a:ext>
            </a:extLst>
          </p:cNvPr>
          <p:cNvSpPr/>
          <p:nvPr/>
        </p:nvSpPr>
        <p:spPr>
          <a:xfrm>
            <a:off x="6152855" y="3325091"/>
            <a:ext cx="757382" cy="1080654"/>
          </a:xfrm>
          <a:prstGeom prst="rightArrow">
            <a:avLst>
              <a:gd name="adj1" fmla="val 68803"/>
              <a:gd name="adj2" fmla="val 50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223E270-3011-96C4-589B-2E626D436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975" y="2336163"/>
            <a:ext cx="3534268" cy="356284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EACF8577-B992-2BF5-6E5B-FCD6AE92F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21" y="2278140"/>
            <a:ext cx="5270897" cy="373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644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8016F-EEAA-CC02-CFF7-904029DB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433690E-A7AA-7170-F389-52518C6B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CD9F13F-4115-EC82-3A2A-1421C9E0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A8878-3763-5744-EBE7-2940EB92CEA8}"/>
              </a:ext>
            </a:extLst>
          </p:cNvPr>
          <p:cNvSpPr txBox="1"/>
          <p:nvPr/>
        </p:nvSpPr>
        <p:spPr>
          <a:xfrm>
            <a:off x="373188" y="1774002"/>
            <a:ext cx="6415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도시의 위경도로 거리 구하기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6055F1-EEAD-88C0-10D6-F9C1AE59EF39}"/>
              </a:ext>
            </a:extLst>
          </p:cNvPr>
          <p:cNvSpPr txBox="1"/>
          <p:nvPr/>
        </p:nvSpPr>
        <p:spPr>
          <a:xfrm>
            <a:off x="7204364" y="1774002"/>
            <a:ext cx="3986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거리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도시간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8 x 8 matrix)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20B4FD27-701E-5161-98E3-D4B58B0FA555}"/>
              </a:ext>
            </a:extLst>
          </p:cNvPr>
          <p:cNvSpPr/>
          <p:nvPr/>
        </p:nvSpPr>
        <p:spPr>
          <a:xfrm>
            <a:off x="4656565" y="3251200"/>
            <a:ext cx="757382" cy="1080654"/>
          </a:xfrm>
          <a:prstGeom prst="rightArrow">
            <a:avLst>
              <a:gd name="adj1" fmla="val 68803"/>
              <a:gd name="adj2" fmla="val 50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4A51931-87C8-EE1B-F407-FE9EDBD75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63728"/>
              </p:ext>
            </p:extLst>
          </p:nvPr>
        </p:nvGraphicFramePr>
        <p:xfrm>
          <a:off x="551993" y="2744715"/>
          <a:ext cx="3508273" cy="239260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31010">
                  <a:extLst>
                    <a:ext uri="{9D8B030D-6E8A-4147-A177-3AD203B41FA5}">
                      <a16:colId xmlns:a16="http://schemas.microsoft.com/office/drawing/2014/main" val="289503742"/>
                    </a:ext>
                  </a:extLst>
                </a:gridCol>
                <a:gridCol w="783208">
                  <a:extLst>
                    <a:ext uri="{9D8B030D-6E8A-4147-A177-3AD203B41FA5}">
                      <a16:colId xmlns:a16="http://schemas.microsoft.com/office/drawing/2014/main" val="1735848410"/>
                    </a:ext>
                  </a:extLst>
                </a:gridCol>
                <a:gridCol w="1056908">
                  <a:extLst>
                    <a:ext uri="{9D8B030D-6E8A-4147-A177-3AD203B41FA5}">
                      <a16:colId xmlns:a16="http://schemas.microsoft.com/office/drawing/2014/main" val="3082597179"/>
                    </a:ext>
                  </a:extLst>
                </a:gridCol>
                <a:gridCol w="1137147">
                  <a:extLst>
                    <a:ext uri="{9D8B030D-6E8A-4147-A177-3AD203B41FA5}">
                      <a16:colId xmlns:a16="http://schemas.microsoft.com/office/drawing/2014/main" val="313110005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노드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도시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위도 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Latitude)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경도 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Longitude)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702843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서울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37.5665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126.9780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4954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수원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37.2636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127.0286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88487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원주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37.3422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127.9202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47656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천안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36.8151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127.1139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3127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대전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36.3504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127.3845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9982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대구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35.8714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128.6014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05682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울산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35.5384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129.3114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454846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h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부산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35.1796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129.0756</a:t>
                      </a:r>
                    </a:p>
                  </a:txBody>
                  <a:tcPr marL="21583" marR="21583" marT="14389" marB="14389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42074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2E48D7A-8CC1-2646-7A66-C5F5B3CC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506" y="2355749"/>
            <a:ext cx="5786954" cy="369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25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9FF93-4513-A3F5-1057-7397261E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9F9F3E4-C9A2-3AEF-54FD-9E0EBAB10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FF4D8F7-7729-834F-4D77-1D80CFE2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770CA-B7CA-4928-3BA9-613BC7EF3674}"/>
              </a:ext>
            </a:extLst>
          </p:cNvPr>
          <p:cNvSpPr txBox="1"/>
          <p:nvPr/>
        </p:nvSpPr>
        <p:spPr>
          <a:xfrm>
            <a:off x="535712" y="2790002"/>
            <a:ext cx="233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Adjacency Matrix</a:t>
            </a:r>
          </a:p>
          <a:p>
            <a:pPr algn="ctr"/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(8, 8)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D549DF-AE9C-BFCB-7ADB-4C61096744E4}"/>
              </a:ext>
            </a:extLst>
          </p:cNvPr>
          <p:cNvSpPr txBox="1"/>
          <p:nvPr/>
        </p:nvSpPr>
        <p:spPr>
          <a:xfrm>
            <a:off x="4416959" y="2790001"/>
            <a:ext cx="1810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도시간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거리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algn="ctr"/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(8, 8)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C57B053-1D05-D974-6448-2D17C6725D9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6252" y="3886150"/>
            <a:ext cx="2667011" cy="219854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647D088-3BCA-FE95-1AF8-EA1A131618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83280" y="3886150"/>
            <a:ext cx="3898859" cy="21985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420B1AC-58BB-401D-30EB-38ED0ED86CD3}"/>
              </a:ext>
            </a:extLst>
          </p:cNvPr>
          <p:cNvSpPr txBox="1"/>
          <p:nvPr/>
        </p:nvSpPr>
        <p:spPr>
          <a:xfrm>
            <a:off x="3061295" y="430958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@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740C12-D167-6F95-8461-C890BFDAA6D6}"/>
              </a:ext>
            </a:extLst>
          </p:cNvPr>
          <p:cNvSpPr txBox="1"/>
          <p:nvPr/>
        </p:nvSpPr>
        <p:spPr>
          <a:xfrm>
            <a:off x="3040208" y="279976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@</a:t>
            </a:r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71F5277-2813-C525-26A7-1C7870DC7EA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61745" y="3886150"/>
            <a:ext cx="3307400" cy="219137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8C9E7E7-5514-B0CE-8091-E24848223919}"/>
              </a:ext>
            </a:extLst>
          </p:cNvPr>
          <p:cNvSpPr txBox="1"/>
          <p:nvPr/>
        </p:nvSpPr>
        <p:spPr>
          <a:xfrm>
            <a:off x="7437494" y="430958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3EB724-F3FC-938C-1727-FDA20A822FCA}"/>
              </a:ext>
            </a:extLst>
          </p:cNvPr>
          <p:cNvSpPr txBox="1"/>
          <p:nvPr/>
        </p:nvSpPr>
        <p:spPr>
          <a:xfrm>
            <a:off x="7437494" y="279976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3BA7E5-90FF-0EAE-F46B-CAFEF29402C3}"/>
              </a:ext>
            </a:extLst>
          </p:cNvPr>
          <p:cNvSpPr txBox="1"/>
          <p:nvPr/>
        </p:nvSpPr>
        <p:spPr>
          <a:xfrm>
            <a:off x="7961745" y="2799766"/>
            <a:ext cx="4156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이웃 거리의 합산 → 최단 경로와 무관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E25907B-0F24-80B1-C6B2-CE219D9B3D83}"/>
              </a:ext>
            </a:extLst>
          </p:cNvPr>
          <p:cNvCxnSpPr/>
          <p:nvPr/>
        </p:nvCxnSpPr>
        <p:spPr>
          <a:xfrm>
            <a:off x="701964" y="3583707"/>
            <a:ext cx="112037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18162E-858C-9B1B-8924-FD719D8EA231}"/>
              </a:ext>
            </a:extLst>
          </p:cNvPr>
          <p:cNvSpPr/>
          <p:nvPr/>
        </p:nvSpPr>
        <p:spPr>
          <a:xfrm>
            <a:off x="7761622" y="3894970"/>
            <a:ext cx="3898859" cy="27709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D55AB2-EFF2-2AFE-2018-5E3263607681}"/>
              </a:ext>
            </a:extLst>
          </p:cNvPr>
          <p:cNvSpPr txBox="1"/>
          <p:nvPr/>
        </p:nvSpPr>
        <p:spPr>
          <a:xfrm>
            <a:off x="535712" y="1420336"/>
            <a:ext cx="11124769" cy="87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인접행렬과 도시간 거리 행렬을 </a:t>
            </a:r>
            <a:r>
              <a:rPr lang="ko-KR" altLang="en-US" dirty="0" err="1"/>
              <a:t>내적하면</a:t>
            </a:r>
            <a:r>
              <a:rPr lang="ko-KR" altLang="en-US" dirty="0"/>
              <a:t> 각 행은 출발도시에서 각 열 도시까지의 도달하는데 가능한 모든 경로에 해당되는 누적 거리</a:t>
            </a:r>
            <a:r>
              <a:rPr lang="en-US" altLang="ko-KR" dirty="0"/>
              <a:t>, </a:t>
            </a:r>
            <a:r>
              <a:rPr lang="ko-KR" altLang="en-US" dirty="0"/>
              <a:t>노란색 박스는 서울</a:t>
            </a:r>
            <a:r>
              <a:rPr lang="en-US" altLang="ko-KR" dirty="0"/>
              <a:t>(Node a)</a:t>
            </a:r>
            <a:r>
              <a:rPr lang="ko-KR" altLang="en-US" dirty="0"/>
              <a:t>에서 각 도시까지 가는데 걸리는 누적합산 거리</a:t>
            </a:r>
          </a:p>
        </p:txBody>
      </p:sp>
    </p:spTree>
    <p:extLst>
      <p:ext uri="{BB962C8B-B14F-4D97-AF65-F5344CB8AC3E}">
        <p14:creationId xmlns:p14="http://schemas.microsoft.com/office/powerpoint/2010/main" val="25903601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E16DE-16B8-5D03-3DCF-10B842B9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1B44F31-6A3C-4AA4-9525-B7425A2505C9}"/>
              </a:ext>
            </a:extLst>
          </p:cNvPr>
          <p:cNvSpPr/>
          <p:nvPr/>
        </p:nvSpPr>
        <p:spPr>
          <a:xfrm>
            <a:off x="1104901" y="5261071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1AFA23-AF0B-3263-B529-4ABD6DD3C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D58A28-2844-CBB4-61EF-CA14388AA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315CD-1D90-3AF7-99C4-58606224AE29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8685867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0E3F-5EEC-F1A6-FAA6-F087DE60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A98E502-D2A8-03BA-7C44-261709BC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Programming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797A6E5-801E-04CF-7599-F1B28EB9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45</a:t>
            </a:fld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F3237E-DE96-394F-6719-57C4AE5790F0}"/>
              </a:ext>
            </a:extLst>
          </p:cNvPr>
          <p:cNvSpPr/>
          <p:nvPr/>
        </p:nvSpPr>
        <p:spPr>
          <a:xfrm>
            <a:off x="535712" y="2286000"/>
            <a:ext cx="10218013" cy="427627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7CEBF4-443F-B850-DC6E-5B092470F7FF}"/>
              </a:ext>
            </a:extLst>
          </p:cNvPr>
          <p:cNvSpPr txBox="1"/>
          <p:nvPr/>
        </p:nvSpPr>
        <p:spPr>
          <a:xfrm>
            <a:off x="535712" y="1420336"/>
            <a:ext cx="10655027" cy="493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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선형계획법으로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이익을 최대화하는 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목표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의자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(x1)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책상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(x2)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생산하는 공장에서 이익을 최대화하는 의자와 책상의 생산량은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이익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의자 한 개당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 원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책상 한 개당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 원의 이익</a:t>
            </a:r>
            <a:endParaRPr lang="en-US" altLang="ko-KR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자원 제약</a:t>
            </a:r>
            <a:r>
              <a:rPr lang="en-US" altLang="ko-KR" sz="20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목재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의자는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단위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책상은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단위가 필요하며 총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단위 까지만 사용 가능</a:t>
            </a:r>
            <a:endParaRPr lang="en-US" altLang="ko-KR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노동 시간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의자는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책상은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시간이 필요하며 총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16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까지만 가능</a:t>
            </a:r>
            <a:endParaRPr lang="en-US" altLang="ko-KR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98233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CFB8-C82A-C9EC-8C92-54F29EACE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880B0E6-0815-D986-2AED-FC39C14B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Programming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473C62C-0AC1-9AC7-F526-A8401B46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46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C13FC1-D6FB-5231-32F7-05813662EB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35221" y="1897275"/>
            <a:ext cx="4877970" cy="32081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FF4F533-BD65-29C3-2F21-91D9A1A84F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20767" y="1897275"/>
            <a:ext cx="3624446" cy="320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245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60B8A-82C9-541F-276F-C1D6CAF4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71D4C38-0B8A-1401-DC59-7A08AEEAD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Programming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1CA4E00-AB04-9B2D-80E5-6A85328B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E7E16-5BA5-50B2-EB8C-8D7A05B2B80D}"/>
              </a:ext>
            </a:extLst>
          </p:cNvPr>
          <p:cNvSpPr txBox="1"/>
          <p:nvPr/>
        </p:nvSpPr>
        <p:spPr>
          <a:xfrm>
            <a:off x="915383" y="1206291"/>
            <a:ext cx="8591550" cy="52629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99CC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C99CC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np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99CC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scipy.optimize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C99CC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linprog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목적 함수 계수 </a:t>
            </a: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(Maximize 3x1 + 5x2 =&gt; Minimize -3x1 - 5x2)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 =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-3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-5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제약 조건 행렬 </a:t>
            </a: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벡터 </a:t>
            </a: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 (Ax &lt;= b)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[2x1 + 3x2 &lt;= 30]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[1x1 + 2x2 &lt;= 16]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 =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]]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 =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30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16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b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변수 범위 </a:t>
            </a: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(x1 &gt;= 0, x2 &gt;= 0)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x_bounds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None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y_bounds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None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600" b="0" dirty="0">
                <a:solidFill>
                  <a:srgbClr val="82B76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선형계획법 실행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 =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linprog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A_ub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=A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b_ub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=b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bounds=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x_bounds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y_bounds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method=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'highs'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>
                <a:solidFill>
                  <a:srgbClr val="69A5D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최적 생산량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의자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res.x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:.1f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책상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res.x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:.1f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>
                <a:solidFill>
                  <a:srgbClr val="69A5D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최대 이익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-res.fun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:.1f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만원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dirty="0">
                <a:solidFill>
                  <a:srgbClr val="DCDCD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48471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2DBB-244C-74AC-E76C-A954C9BF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70CF4E9-3386-9B1A-C330-77E769B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Programming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C4E3899-DB20-D685-8662-50D353A3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48</a:t>
            </a:fld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2F5AE7D-B530-2A8D-6B21-3D63CA9CA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786" y="1206291"/>
            <a:ext cx="6977062" cy="5145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838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29AE9-7C30-B07F-300B-81A6FF90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2A4D7-4595-65F6-3A4E-3BBF6FA56DB4}"/>
              </a:ext>
            </a:extLst>
          </p:cNvPr>
          <p:cNvSpPr/>
          <p:nvPr/>
        </p:nvSpPr>
        <p:spPr>
          <a:xfrm>
            <a:off x="6675438" y="1462362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AD57BD3-F577-1C73-79AA-F82B036FF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D2CA4F-AF9C-5EA1-BE65-76D8E2EA8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17A29C-3AAA-607A-B866-8386BBF73682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36496972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94E7-A744-5544-58C7-C2882DEE0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0A3DE68-AE8B-41E6-DFDC-4559466BB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ansportation Problems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05BC95B-D4F1-883B-ADF3-9823AA45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50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21ED5C-BFD9-7329-57E1-1330A424F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68" y="2958268"/>
            <a:ext cx="7202239" cy="22117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C6AB0B-1B07-FBA5-D476-AE21D2BAC337}"/>
              </a:ext>
            </a:extLst>
          </p:cNvPr>
          <p:cNvSpPr txBox="1"/>
          <p:nvPr/>
        </p:nvSpPr>
        <p:spPr>
          <a:xfrm>
            <a:off x="1114169" y="1628775"/>
            <a:ext cx="1007657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수송 문제 데이터 테이블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비용 및 수급 현황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셀의 숫자는 단위당 운송 비용을 의미하며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마지막 열과 마지막 행은 각각의 공급 능력과 수요량</a:t>
            </a:r>
          </a:p>
        </p:txBody>
      </p:sp>
    </p:spTree>
    <p:extLst>
      <p:ext uri="{BB962C8B-B14F-4D97-AF65-F5344CB8AC3E}">
        <p14:creationId xmlns:p14="http://schemas.microsoft.com/office/powerpoint/2010/main" val="18972955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31F0F-A8C2-0397-A51E-6E95A3354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39C0762-138D-E049-9615-211F9E442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4" y="1349038"/>
            <a:ext cx="9296488" cy="5070812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3C9A3A30-5671-D16C-D64A-66DA96F9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ansportation Problems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498CEB8-5617-A027-AD81-FB8B5D67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3200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4E27-679C-9FCF-4CC2-413DD3ACE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31540B3-ECA6-2E04-E471-D95EA7D1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ansportation Problems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527F7D4-8A8F-0FBA-87EA-C88EC6F7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52</a:t>
            </a:fld>
            <a:endParaRPr 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7FBE2E0-2E29-5C4E-DEB9-66764A2D6094}"/>
              </a:ext>
            </a:extLst>
          </p:cNvPr>
          <p:cNvGrpSpPr/>
          <p:nvPr/>
        </p:nvGrpSpPr>
        <p:grpSpPr>
          <a:xfrm>
            <a:off x="1115972" y="1158210"/>
            <a:ext cx="6854186" cy="5382174"/>
            <a:chOff x="1115972" y="1158210"/>
            <a:chExt cx="6854186" cy="538217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BA86E72-6425-0EA9-4755-283C142B2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972" y="2320809"/>
              <a:ext cx="6854186" cy="421957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432C7BF-F2CA-3EE3-BFFF-84FBA5447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972" y="1158210"/>
              <a:ext cx="6853925" cy="1162599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8B2D94CA-A74B-2B8B-4F3F-C1960A04039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00951" y="2320809"/>
            <a:ext cx="3568998" cy="22841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D572BC-A667-DAFC-DDA5-D22A47D1ED5E}"/>
              </a:ext>
            </a:extLst>
          </p:cNvPr>
          <p:cNvSpPr txBox="1"/>
          <p:nvPr/>
        </p:nvSpPr>
        <p:spPr>
          <a:xfrm>
            <a:off x="8400951" y="1724025"/>
            <a:ext cx="375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선형계획법</a:t>
            </a:r>
            <a:r>
              <a:rPr lang="en-US" altLang="ko-KR" dirty="0"/>
              <a:t>(Linear Programming)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46800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6A74-E6E7-ECD7-8DD1-FF3E6F2F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B77909E-2E56-FA46-BF2E-4A64A3E727A9}"/>
              </a:ext>
            </a:extLst>
          </p:cNvPr>
          <p:cNvSpPr/>
          <p:nvPr/>
        </p:nvSpPr>
        <p:spPr>
          <a:xfrm>
            <a:off x="6675438" y="2024337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30AD9AC-B785-7358-1D90-9F8E4BB36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BB305A-8596-83F3-8747-348D580CC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149DD-1A10-0B11-6E0F-2E6DE2BC52E2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17086763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BF9B-1D11-3390-0C0C-334544E2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7ADE4C9-5D44-4C0B-E4E8-31419423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Montecarlo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BCD0A05-60EA-3637-1B32-5ED51A296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54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E254081-038C-0151-1EAC-C8D3FE509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08" y="1261578"/>
            <a:ext cx="10962783" cy="2386497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수많은 무작위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(Random)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숫자를 대입해 보면서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발생할 수 있는 복잡한 결과의 확률적 분포를 알아내는 기법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 공식이나 방정식으로 명확한 답을 내리기 어려울 정도로 불확실성이 크거나 변수가 많을 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컴퓨터에게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주사위를 수만 번 던지게 해서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 통계적인 결과로 정답을 찾아가는 기법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아주 똑똑한 노가다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5490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6757-A0EA-711D-A697-8F6124A18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D4929C2-0AB6-4650-74DF-6DB99B74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0CBB2D0-6737-1F36-562E-2C493D60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DE096E-41CF-DF10-C586-715EC0041847}"/>
              </a:ext>
            </a:extLst>
          </p:cNvPr>
          <p:cNvSpPr txBox="1"/>
          <p:nvPr/>
        </p:nvSpPr>
        <p:spPr>
          <a:xfrm>
            <a:off x="1000973" y="2857035"/>
            <a:ext cx="5571278" cy="353943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sims = 1000000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wait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(0, 15, sims)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mean_wait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(wait)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prob_10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(wait &gt;= 10)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plt.figure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figsize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=(8,5))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plt.hist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(wait, bins=30, density=True,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edgecolor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='white')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plt.axvline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(10, color='red')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plt.title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("Bus Waiting Time Distribution")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plt.xlabel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("Waiting Time (minutes)")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plt.ylabel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("Density")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plt.show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FBC77F-810C-1744-F332-509C62D6F7B7}"/>
                  </a:ext>
                </a:extLst>
              </p:cNvPr>
              <p:cNvSpPr txBox="1"/>
              <p:nvPr/>
            </p:nvSpPr>
            <p:spPr>
              <a:xfrm>
                <a:off x="915383" y="1238250"/>
                <a:ext cx="10828942" cy="870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균등분포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(Uniform Distribution)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확률 분석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통학 버스가 정확히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15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 간격으로 도착할 경우 임의의 시간에 정류장에 도착한다고 가정하면 평균 기다리는 시간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𝑊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10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 이상 기다리는 확률을 구하라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FBC77F-810C-1744-F332-509C62D6F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83" y="1238250"/>
                <a:ext cx="10828942" cy="870559"/>
              </a:xfrm>
              <a:prstGeom prst="rect">
                <a:avLst/>
              </a:prstGeom>
              <a:blipFill>
                <a:blip r:embed="rId2"/>
                <a:stretch>
                  <a:fillRect l="-450" b="-9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4C1C48-CC51-1AC4-930A-14868A389F75}"/>
                  </a:ext>
                </a:extLst>
              </p:cNvPr>
              <p:cNvSpPr txBox="1"/>
              <p:nvPr/>
            </p:nvSpPr>
            <p:spPr>
              <a:xfrm>
                <a:off x="6092264" y="2256870"/>
                <a:ext cx="30185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𝑊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∼ Uniform(0, 15)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4C1C48-CC51-1AC4-930A-14868A389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264" y="2256870"/>
                <a:ext cx="3018577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6AA5D543-61FF-2B27-FF4C-3883A9FFB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175" y="2853437"/>
            <a:ext cx="5271491" cy="353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6296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6289-E7C5-E8B2-31C5-301C7990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8D61ACC-6369-6D07-77DA-84CE632EF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E6A6FF1-7C31-76DB-57B6-9F2389E3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18DAFA-1122-758D-18C0-C17DD9ED4073}"/>
              </a:ext>
            </a:extLst>
          </p:cNvPr>
          <p:cNvSpPr txBox="1"/>
          <p:nvPr/>
        </p:nvSpPr>
        <p:spPr>
          <a:xfrm>
            <a:off x="1000973" y="2857035"/>
            <a:ext cx="5571278" cy="310854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sims = 1000000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 5, sims)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(2, 6, sims)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duration = A + B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plt.figure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plt.hist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duration,density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edgecolor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='white')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plt.axvline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(9, color='r')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plt.show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print((duration &gt; 9).sum()/sims)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1ACD6A-9A84-FDF9-6B81-FD4FE0EE195D}"/>
                  </a:ext>
                </a:extLst>
              </p:cNvPr>
              <p:cNvSpPr txBox="1"/>
              <p:nvPr/>
            </p:nvSpPr>
            <p:spPr>
              <a:xfrm>
                <a:off x="915383" y="1238250"/>
                <a:ext cx="10828942" cy="1286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균등분포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(Uniform Distribution)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합의 확률 분석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어떤 작업은 두 단계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𝐵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이루어지는데 단계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소요시간은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1~5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사이에서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단계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𝐵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소요시간은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2~6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사이에서 각각 균등하게 발생할 경우 전체 작업 시간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+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𝐵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 이상일 확률을 구하라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1ACD6A-9A84-FDF9-6B81-FD4FE0EE1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83" y="1238250"/>
                <a:ext cx="10828942" cy="1286058"/>
              </a:xfrm>
              <a:prstGeom prst="rect">
                <a:avLst/>
              </a:prstGeom>
              <a:blipFill>
                <a:blip r:embed="rId2"/>
                <a:stretch>
                  <a:fillRect l="-450" b="-66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A96C89DA-F251-A96D-2175-7F13E49F8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152" y="2857035"/>
            <a:ext cx="4184867" cy="3108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9108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371AE-A305-E146-7873-AFB6589C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C26F222-72AF-FDC5-8B60-5BA9D362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F3E82D9-4F61-E75C-27B9-5BE961C2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57</a:t>
            </a:fld>
            <a:endParaRPr 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7391454-8B09-622C-E59D-96B0DF5D4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048496"/>
              </p:ext>
            </p:extLst>
          </p:nvPr>
        </p:nvGraphicFramePr>
        <p:xfrm>
          <a:off x="1060449" y="2026038"/>
          <a:ext cx="2844804" cy="238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134">
                  <a:extLst>
                    <a:ext uri="{9D8B030D-6E8A-4147-A177-3AD203B41FA5}">
                      <a16:colId xmlns:a16="http://schemas.microsoft.com/office/drawing/2014/main" val="1464939122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622014842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186541205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1698163927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3034248227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1182341501"/>
                    </a:ext>
                  </a:extLst>
                </a:gridCol>
              </a:tblGrid>
              <a:tr h="39788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105601"/>
                  </a:ext>
                </a:extLst>
              </a:tr>
              <a:tr h="397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182599"/>
                  </a:ext>
                </a:extLst>
              </a:tr>
              <a:tr h="397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154359"/>
                  </a:ext>
                </a:extLst>
              </a:tr>
              <a:tr h="397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31032"/>
                  </a:ext>
                </a:extLst>
              </a:tr>
              <a:tr h="397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10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highlight>
                          <a:srgbClr val="0000FF"/>
                        </a:highlight>
                        <a:latin typeface="D2Coding" panose="020B0609020101020101" pitchFamily="49" charset="-127"/>
                        <a:ea typeface="D2Coding" panose="020B0609020101020101" pitchFamily="49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570330"/>
                  </a:ext>
                </a:extLst>
              </a:tr>
              <a:tr h="397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11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highlight>
                          <a:srgbClr val="0000FF"/>
                        </a:highlight>
                        <a:latin typeface="D2Coding" panose="020B0609020101020101" pitchFamily="49" charset="-127"/>
                        <a:ea typeface="D2Coding" panose="020B0609020101020101" pitchFamily="49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11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highlight>
                          <a:srgbClr val="0000FF"/>
                        </a:highlight>
                        <a:latin typeface="D2Coding" panose="020B0609020101020101" pitchFamily="49" charset="-127"/>
                        <a:ea typeface="D2Coding" panose="020B0609020101020101" pitchFamily="49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69261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C85782-433C-A624-77C5-1952CAF0286B}"/>
                  </a:ext>
                </a:extLst>
              </p:cNvPr>
              <p:cNvSpPr txBox="1"/>
              <p:nvPr/>
            </p:nvSpPr>
            <p:spPr>
              <a:xfrm>
                <a:off x="915383" y="1238250"/>
                <a:ext cx="10828942" cy="455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𝐵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확률변수의 합의 확률변수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+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𝐵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합성곱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(convolution)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CNN(Convolutional Neural Network)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C85782-433C-A624-77C5-1952CAF02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83" y="1238250"/>
                <a:ext cx="10828942" cy="455061"/>
              </a:xfrm>
              <a:prstGeom prst="rect">
                <a:avLst/>
              </a:prstGeom>
              <a:blipFill>
                <a:blip r:embed="rId2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4F8EFD58-27C5-1565-14B7-0184A66FE64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266" y="1975168"/>
            <a:ext cx="3866260" cy="47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551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BC28-E343-3EC9-71CA-AB663FCF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A8C696-895D-C6E6-C9DA-9817BB984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E0D118D-6E80-4688-6D49-D2D08A8D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B11978B-6E15-7CB6-94B3-05A4B5D0B4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</p:spPr>
            <p:txBody>
              <a:bodyPr>
                <a:normAutofit fontScale="92500" lnSpcReduction="10000"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지금이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원의 둘레가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원의 둘레를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(0.5, 0)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시작벡터로 부터 아주 작은 단위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(epsilon=0.00001)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이동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미분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한 새로운 벡터와의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L2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거리를 무수히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(100_000)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생성하여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누적거리를 구하는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적분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모의실험으로 원주율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685800" lvl="1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L2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거리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en-US" altLang="ko-KR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math.sqrt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이외 원의 방정식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en-US" altLang="ko-KR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np.pi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등 어떠한 공식도 사용하지 마라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수치해석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(Numerical Analysis)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만을 사용하여 원주율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구하는 코드를 제시하라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1E254081-038C-0151-1EAC-C8D3FE5094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  <a:blipFill>
                <a:blip r:embed="rId2"/>
                <a:stretch>
                  <a:fillRect l="-222" b="-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09579038-E13D-D991-40D1-55EA84023D52}"/>
              </a:ext>
            </a:extLst>
          </p:cNvPr>
          <p:cNvGrpSpPr/>
          <p:nvPr/>
        </p:nvGrpSpPr>
        <p:grpSpPr>
          <a:xfrm>
            <a:off x="6362700" y="4076700"/>
            <a:ext cx="1266825" cy="1266825"/>
            <a:chOff x="7572375" y="3219450"/>
            <a:chExt cx="1266825" cy="1266825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B6EF399-39DC-FDA3-9D9A-860347DEA39F}"/>
                </a:ext>
              </a:extLst>
            </p:cNvPr>
            <p:cNvSpPr/>
            <p:nvPr/>
          </p:nvSpPr>
          <p:spPr>
            <a:xfrm>
              <a:off x="7572375" y="3219450"/>
              <a:ext cx="1266825" cy="1266825"/>
            </a:xfrm>
            <a:prstGeom prst="ellips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C76968DB-6CB1-FCCB-4542-56E86B63398F}"/>
                </a:ext>
              </a:extLst>
            </p:cNvPr>
            <p:cNvCxnSpPr>
              <a:stCxn id="20" idx="0"/>
              <a:endCxn id="20" idx="4"/>
            </p:cNvCxnSpPr>
            <p:nvPr/>
          </p:nvCxnSpPr>
          <p:spPr>
            <a:xfrm>
              <a:off x="8205788" y="3219450"/>
              <a:ext cx="0" cy="12668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52005EC-171E-A258-B6A3-337E6C4D4009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2800350" y="5343525"/>
            <a:ext cx="4195763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0B46FFD-A1C4-3EF1-AA5F-BA30250E559F}"/>
              </a:ext>
            </a:extLst>
          </p:cNvPr>
          <p:cNvSpPr txBox="1"/>
          <p:nvPr/>
        </p:nvSpPr>
        <p:spPr>
          <a:xfrm>
            <a:off x="3486150" y="5486400"/>
            <a:ext cx="343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3.142857…… </a:t>
            </a:r>
            <a:r>
              <a:rPr lang="ko-KR" altLang="en-US" dirty="0" err="1"/>
              <a:t>무한소수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D498B4-E8BE-C00F-62B5-AD3BC19E47AF}"/>
              </a:ext>
            </a:extLst>
          </p:cNvPr>
          <p:cNvSpPr txBox="1"/>
          <p:nvPr/>
        </p:nvSpPr>
        <p:spPr>
          <a:xfrm>
            <a:off x="7781925" y="4525446"/>
            <a:ext cx="1152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지름 </a:t>
            </a:r>
            <a:r>
              <a:rPr lang="en-US" altLang="ko-KR" dirty="0"/>
              <a:t>=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18653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C214-9933-926A-13AA-0354966F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7082A12-E8F3-58A3-ACF8-CED699B7F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6B4DB0A-17C7-A23E-2C07-5A3B447A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59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7242DE-AAA7-83AF-EDD0-651EF4E51900}"/>
              </a:ext>
            </a:extLst>
          </p:cNvPr>
          <p:cNvSpPr txBox="1"/>
          <p:nvPr/>
        </p:nvSpPr>
        <p:spPr>
          <a:xfrm>
            <a:off x="1009650" y="1235438"/>
            <a:ext cx="5638800" cy="526297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math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epsilon = 0.000001</a:t>
            </a:r>
          </a:p>
          <a:p>
            <a:pPr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0; steps = 0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 = 0.5  # (1, 0)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시작</a:t>
            </a:r>
          </a:p>
          <a:p>
            <a:pPr>
              <a:buNone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while x &gt; 0.0: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max(x - epsilon, 0.0)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단위원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위의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값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y = sqrt(1 - x²)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y1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math.sqrt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(0.5**2 - x**2)    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y2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math.sqrt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(0.5**2 -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**2)</a:t>
            </a:r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두 점 사이의 거리</a:t>
            </a:r>
          </a:p>
          <a:p>
            <a:pPr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dist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math.sqrt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x)**2 + (y2 - y1)**2)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dist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steps += 1; x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총 단계 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{steps:,}")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누적 거리 합계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{total_distance:.10f}")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원주율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*4:.10f}")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6C5AAAD-1C32-4FE1-C2CC-B9A0966AE0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48450" y="1561854"/>
            <a:ext cx="4019550" cy="373429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B9F3531-27D9-88A2-80DE-10FDA2257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5821859"/>
            <a:ext cx="2217612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8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5EC55-F36C-3EF2-2A0C-64ED17F2E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FF3D9CF-184B-D96E-5B39-928DB519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0CE090A-EAEA-05A5-AD9E-3C906FDE2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5CAC146-9772-5312-EEF0-24A973D6C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981" y="1186708"/>
                <a:ext cx="10876566" cy="1319697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L2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거리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피타고라스 정리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원주율을 구하는 모의실험 코드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685800" lvl="1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원의 넓이는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np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pi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5CAC146-9772-5312-EEF0-24A973D6C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981" y="1186708"/>
                <a:ext cx="10876566" cy="1319697"/>
              </a:xfrm>
              <a:blipFill>
                <a:blip r:embed="rId2"/>
                <a:stretch>
                  <a:fillRect l="-2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E06383BC-F98A-7155-6846-99523539B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46" y="2473875"/>
            <a:ext cx="4037993" cy="397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EE6840-F1F7-DEBF-A068-374A8CF3214E}"/>
              </a:ext>
            </a:extLst>
          </p:cNvPr>
          <p:cNvSpPr txBox="1"/>
          <p:nvPr/>
        </p:nvSpPr>
        <p:spPr>
          <a:xfrm>
            <a:off x="1029816" y="2473874"/>
            <a:ext cx="6462738" cy="3970318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10_000_000  # 점의 개수 (많을수록 정확)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-1~1 사이의 무작위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좌표 생성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(-1, 1,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(-1, 1,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원점으로부터의 거리가 1 이하인 점 = 원 안의 점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x² + y² &lt;= 1  (피타고라스, π 사용 안 함!)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nside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**2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**2 &lt;= 1)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π 추정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pi_estimate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4 *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inside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f”점의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개수       : {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:,}개")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안의 점      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inside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:,}개")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f"추정된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π        : {pi_estimate:.6f}")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f"오차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abs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pi_estimate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np.pi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):.6f}")</a:t>
            </a:r>
          </a:p>
        </p:txBody>
      </p:sp>
    </p:spTree>
    <p:extLst>
      <p:ext uri="{BB962C8B-B14F-4D97-AF65-F5344CB8AC3E}">
        <p14:creationId xmlns:p14="http://schemas.microsoft.com/office/powerpoint/2010/main" val="20981454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02A79-796A-0F10-5D7A-359C27CA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58EAB55-435E-BC4B-21DF-B42E24C2B53B}"/>
              </a:ext>
            </a:extLst>
          </p:cNvPr>
          <p:cNvSpPr/>
          <p:nvPr/>
        </p:nvSpPr>
        <p:spPr>
          <a:xfrm>
            <a:off x="6675438" y="2586312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933D5E-E3BA-0614-F4DE-8015CDB02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B4E0AA-C5D0-0DF2-497C-52627462C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E2C09-4E17-4E54-B633-A4780891D6C7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26528427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23459-BD75-D432-BEA6-9C6B123A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85B3A8F-D9A1-03BF-1557-049F2258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walk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58E022B-9CC7-3B06-E4F6-08C204E0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62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730D7B2-8F11-9986-6A3C-3F54951EE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81" y="1220061"/>
            <a:ext cx="10876566" cy="1999389"/>
          </a:xfrm>
        </p:spPr>
        <p:txBody>
          <a:bodyPr>
            <a:normAutofit fontScale="70000" lnSpcReduction="2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단순 랜덤 워크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(1D Simple Random Walk) –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snippet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 던지기처럼 앞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(+1)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또는 뒤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(-1)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로만 움직이는 가장 기본인 형태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이산적 이동으로 매 스텝마다 이동 거리가 항상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±1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움직임이 고정된 크기로 제한됨</a:t>
            </a:r>
            <a:endParaRPr lang="en-US" altLang="ko-KR" sz="17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격자 위를 한 칸씩 움직이는 형태</a:t>
            </a:r>
            <a:endParaRPr lang="en-US" altLang="ko-KR" sz="19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39BC9-5604-0C54-A656-E0F72C6BD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537" y="3376095"/>
            <a:ext cx="4973727" cy="271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D212A4-8B49-3B6C-41A2-7EBEAC85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943" y="3074207"/>
            <a:ext cx="5537739" cy="301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8632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5E0C-50BB-F1AE-B91D-CD7055D9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EA0B489-DABD-8485-0D53-A3B6771C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walk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F9166B6-5390-D265-7029-AF1A7582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63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BE3884-90D6-4205-75DE-61E2FC35D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81" y="1220061"/>
            <a:ext cx="10876566" cy="19993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아래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모의실험을 베르누이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이항분포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Galton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Board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비교하여 이해하자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?, single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random walk ?,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여러 명이 술이 취해 걸으면 최종 어디에 많이 모일까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392AE-FBAA-4939-6C80-3CA05F333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779" y="3074207"/>
            <a:ext cx="5537739" cy="301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228610-B44F-2299-857C-27601FB50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316" y="2549890"/>
            <a:ext cx="2671321" cy="35373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8E3739-5A89-0A71-C6C0-30A3F32E06D4}"/>
                  </a:ext>
                </a:extLst>
              </p:cNvPr>
              <p:cNvSpPr txBox="1"/>
              <p:nvPr/>
            </p:nvSpPr>
            <p:spPr>
              <a:xfrm>
                <a:off x="7051545" y="3934385"/>
                <a:ext cx="65274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36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8E3739-5A89-0A71-C6C0-30A3F32E0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545" y="3934385"/>
                <a:ext cx="65274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63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797F-FEEC-B823-2382-603B8BB0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EAB4AD8-69CE-0704-0F78-6C114454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walk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7B1CB07-4400-6BC2-0FC5-1EE76D14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64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1BFFC1A-4A14-F3B6-2AC3-14C41FE78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81" y="1220062"/>
            <a:ext cx="10876566" cy="152313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</a:t>
            </a:r>
            <a:r>
              <a:rPr lang="en-US" altLang="ko-KR" sz="21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Guassian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랜덤 워크 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(Normal Distribution)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이용한 랜덤 워크는 </a:t>
            </a:r>
            <a:r>
              <a:rPr lang="ko-KR" altLang="en-US" sz="21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랜덤 워크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(Gaussian Random Walk)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하며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수학적으로는 브라운 운동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(Brownian Motion)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기초가 되는 모델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연속적 이동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 기반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이동 거리가 정규분포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모양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따름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대부분은 작게 움직이고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가끔 크게 이동하는 경우도 발생하며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세계 물리현상과 유사</a:t>
            </a:r>
            <a:endParaRPr lang="en-US" altLang="ko-KR" sz="19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781F12-DB99-FB5B-6A78-64FED969A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81" y="2899845"/>
            <a:ext cx="8025132" cy="34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B7DE6F-6543-1CC5-84B7-38595329BB8F}"/>
              </a:ext>
            </a:extLst>
          </p:cNvPr>
          <p:cNvSpPr txBox="1"/>
          <p:nvPr/>
        </p:nvSpPr>
        <p:spPr>
          <a:xfrm>
            <a:off x="8829040" y="3533988"/>
            <a:ext cx="3362960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미세 입자의 확산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브라운 운동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400" i="0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주식 가격 변동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열 운동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분자 운동의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3327584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6D3E2-09AF-E87A-3CEF-46469A2F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CBD2D5-840A-1939-F816-4425D53FB31A}"/>
              </a:ext>
            </a:extLst>
          </p:cNvPr>
          <p:cNvSpPr/>
          <p:nvPr/>
        </p:nvSpPr>
        <p:spPr>
          <a:xfrm>
            <a:off x="6675438" y="3119712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4713121-1123-AB5E-8834-F2E150E5B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21A264-37CD-7155-DFB4-1E3685486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DEA79-31F4-8A1B-6DCF-5EFBEC55E61F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20078135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55D3D-F194-FF2A-491A-8A873F610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556CE03-35F1-D046-0275-50A16140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C66212E-BB83-C661-6D65-CD05B909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66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189BD10-8DA1-300F-CA8B-0DC91F76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08" y="1503648"/>
            <a:ext cx="10272637" cy="4164739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학급에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ko-KR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=100)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있는 반을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상상해 보세요.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선생님이 무작위로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뽑고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주고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다시 전체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명에서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뽑습니다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100번 반복해서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주게 될 경우 내가 선물을 못박을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Bootstrap Sample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이란 무엇인가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무한대이고 무한으로 반복하면 내가 못 받을 확률은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68706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857D7-1344-B58A-BDD9-A140227A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74E3F93-3B37-62D8-BEBE-62D5FAAA9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BA0B4F5-DAE4-3303-FB32-9B2A9096C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67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1828D43-DDF9-E3DE-4276-FB4399E64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08" y="1503648"/>
            <a:ext cx="10272637" cy="4164739"/>
          </a:xfrm>
        </p:spPr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학급에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ko-KR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=100)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있는 반을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상상해 보세요.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선생님이 무작위로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뽑고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주고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다시 전체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명에서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뽑습니다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100번 반복해서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주게 될 경우 내가 선물을 못박을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무한대이고 무한으로 반복하면 내가 못 받을 확률은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64805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DEF33-47B2-9FEA-0544-DA97EB82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F05D532-A9FD-B5D3-594E-38DF47B5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3DFD7C5-1C3C-76A3-3F1E-1B278F95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CDA944F2-868C-8A90-5AC8-A7494D2229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708" y="1503649"/>
                <a:ext cx="10272637" cy="301293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전체 데이터셋의 크기가 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일 때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원본 데이터에서 한 번 뽑은 데이터를 다시 넣고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복원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무작위로 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번 추출하여 만든 새로운 샘플</a:t>
                </a:r>
                <a:endParaRPr lang="en-US" altLang="ko-KR" sz="18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중복 허용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동일한 데이터가 한 샘플 내에 여러 번 포함될 수 있음</a:t>
                </a: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미포함 데이터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확률적으로 원본 데이터의 약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36.8%(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ⅇ</m:t>
                        </m:r>
                      </m:den>
                    </m:f>
                  </m:oMath>
                </a14:m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샘플에 포함되지 않는데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이를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OOB(Out-Of-Bag)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데이터라고 부르며 모델 검증용으로 활용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수치는 앞서 질문하신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선물을 못 받을 확률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 동일한 원리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Randomforest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모델의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OOB</a:t>
                </a: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CDA944F2-868C-8A90-5AC8-A7494D222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708" y="1503649"/>
                <a:ext cx="10272637" cy="3012934"/>
              </a:xfrm>
              <a:blipFill>
                <a:blip r:embed="rId2"/>
                <a:stretch>
                  <a:fillRect l="-1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>
            <a:extLst>
              <a:ext uri="{FF2B5EF4-FFF2-40B4-BE49-F238E27FC236}">
                <a16:creationId xmlns:a16="http://schemas.microsoft.com/office/drawing/2014/main" id="{83CD8436-2625-8128-83C4-23CE8FC95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862" y="3992687"/>
            <a:ext cx="5402483" cy="256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491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FC7FC-0CD9-5C7C-DE74-4FB035E7B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F7A0C5-DD05-C63B-13F9-7B6465BBBCED}"/>
              </a:ext>
            </a:extLst>
          </p:cNvPr>
          <p:cNvSpPr/>
          <p:nvPr/>
        </p:nvSpPr>
        <p:spPr>
          <a:xfrm>
            <a:off x="6675438" y="3681687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3B27C3-6565-5210-D21B-A3E71852F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95D255-9E96-EFD1-672F-B6114570C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D29F-AD7A-AB68-9614-D207587A7F1B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32170241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A364-1EBD-2EFD-D6BE-937CE143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CE9BC93-DDED-5445-834E-7678C8B6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7D45968-6723-E03D-AD24-9D29D29A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F887F-AE8F-1464-9EC1-7F7674022CBB}"/>
              </a:ext>
            </a:extLst>
          </p:cNvPr>
          <p:cNvSpPr txBox="1"/>
          <p:nvPr/>
        </p:nvSpPr>
        <p:spPr>
          <a:xfrm>
            <a:off x="551384" y="2916953"/>
            <a:ext cx="11377264" cy="3184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학습의 안정성 확보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 , Cross-Entropy, Log-loss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학습이 가능한 이유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=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작은 샘플 평균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CLT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없이는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batch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도 없음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교차검증을 통한 모델의 평가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accuracy/loss,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 평균 등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CLT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적용으로 이  평균들은 → 정규분포 근사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→ 신뢰구간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→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통계적 비교 가능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A/B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테스트와 실험 설계의 핵심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광고 효과 비교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추천 알고리즘 비교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UI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개선 효과 측정  등 전부 평균 비교 문제로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CLT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덕분에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평균 차이 → 정규분포 근사 →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 가능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BBF2C-6413-4582-67FA-848627AD4379}"/>
              </a:ext>
            </a:extLst>
          </p:cNvPr>
          <p:cNvSpPr txBox="1"/>
          <p:nvPr/>
        </p:nvSpPr>
        <p:spPr>
          <a:xfrm>
            <a:off x="551384" y="1656979"/>
            <a:ext cx="1137726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중심극한정리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데이터는 불규칙하지만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평균은 예측 가능하다 → 그래서 학습이 가능하다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머신러닝에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접목하는 내용을 모의실험으로 파이썬 코드로 제시하라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64333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9A5C1-2232-559A-62DE-2FBFA002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28FC41-607D-36E2-DD9F-8BFF042CC5E2}"/>
              </a:ext>
            </a:extLst>
          </p:cNvPr>
          <p:cNvSpPr/>
          <p:nvPr/>
        </p:nvSpPr>
        <p:spPr>
          <a:xfrm>
            <a:off x="6675438" y="4234137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014E5E-1BD5-36AF-7F78-7E6022C58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439E0B-0E1C-0A2A-CB51-B3FB7FB14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6F26C-37B9-0223-D76C-22FFA0464397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40831112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4CC3-0C25-936C-F4E5-BC6C8FAE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B6093B4-D84C-1182-BD67-09D1D89F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Prince Frog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4CD2A0E-CCEC-F039-665F-40894A64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72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8D2309A-13E9-0BC5-9466-8BBC074EA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08" y="1503649"/>
            <a:ext cx="10272637" cy="301293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앞으로 인생에서 총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명의 잠재적 파트너를 만날 수 있다고 가정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당신의 목표는 그중 가장 뛰어난 사람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매칭되는 것이며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아래의 조건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번 거절한 사람에게는 다시 돌아갈 수 없음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만나는 순서는 무작위이며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상대를 만날 때마다 점수를 매길 수 있음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가장 좋은 사람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선택할 확률을 최대화하려면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몇 번째 사람을 선책해야 하나요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mathematical-dating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07FF1A6-7C59-D849-56A1-6F4AF4D88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075" y="4357296"/>
            <a:ext cx="3334215" cy="199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009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F5C5-515A-B7D3-2E61-F532DDB5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BEC4F21-E175-78E6-E22E-8E0D0245E558}"/>
              </a:ext>
            </a:extLst>
          </p:cNvPr>
          <p:cNvSpPr/>
          <p:nvPr/>
        </p:nvSpPr>
        <p:spPr>
          <a:xfrm>
            <a:off x="6675438" y="4767537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3944A5-7027-1BCD-C48D-B09E9974E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157A25-6F5B-1ED8-4901-B599F20A7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EBB20-B4CC-5E76-4798-8AABCA78BD12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25367309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C8A9B-C99A-C323-49D3-D8FF332B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E109C5D-CA46-86FE-B2F1-6B57CE974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Monty Hall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6715F2C-1C5F-58CD-F12C-7D8F314D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274E9-0890-E1EE-8815-6A6992A3E51A}"/>
              </a:ext>
            </a:extLst>
          </p:cNvPr>
          <p:cNvSpPr txBox="1"/>
          <p:nvPr/>
        </p:nvSpPr>
        <p:spPr>
          <a:xfrm>
            <a:off x="798974" y="1692410"/>
            <a:ext cx="2930832" cy="454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Monty Hall Problem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CB3E241-1439-CF73-D1BF-D13C8F260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14" y="2724107"/>
            <a:ext cx="3466677" cy="192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E41BEFF-9277-101A-3ABF-53C7FEE19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182" y="2764673"/>
            <a:ext cx="1619245" cy="9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CBEF33F-CA64-0A15-EF29-6230B6B4D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006" y="3900957"/>
            <a:ext cx="815411" cy="9754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39BAFD2-095A-6333-05D9-AF58E4177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23" y="3900957"/>
            <a:ext cx="815411" cy="9754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3AB27E-3741-C7E7-A100-08C4C10D4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240" y="3900957"/>
            <a:ext cx="815411" cy="97544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F137632-6EED-1197-4575-AD5C44748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857" y="3900957"/>
            <a:ext cx="815411" cy="97544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C9BAD1F-4835-0E00-BE05-7B991DEA5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474" y="3900957"/>
            <a:ext cx="815411" cy="97544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72470AC-D0CC-6A8D-F111-86F68089C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091" y="3900957"/>
            <a:ext cx="815411" cy="97544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865E442-B4BD-7CFF-FCDF-2E85B2CB4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707" y="3900957"/>
            <a:ext cx="815411" cy="97544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F2D7143-68C6-2326-F00F-A8CD8AE3B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006" y="5158257"/>
            <a:ext cx="815411" cy="97544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728F616-5440-AC06-EAC7-44E4E6C96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23" y="5158257"/>
            <a:ext cx="815411" cy="97544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5F19E73-7B96-06A5-14A6-B60E4358A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240" y="5158257"/>
            <a:ext cx="815411" cy="97544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21514DF-CA86-07A5-AD6C-AD2DEA2FE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857" y="5158257"/>
            <a:ext cx="815411" cy="97544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9CD22BE-CA91-2684-1E36-B34F6E837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474" y="5158257"/>
            <a:ext cx="815411" cy="97544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35F4664-A966-C87F-5C78-A301749DF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091" y="5158257"/>
            <a:ext cx="815411" cy="97544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EAAFF8B-1A89-D60D-75AB-E4265EDD2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707" y="5158257"/>
            <a:ext cx="815411" cy="97544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EC7DF29-C3D6-F404-E972-77857EC56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857" y="2724107"/>
            <a:ext cx="815411" cy="97544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D508969-A288-B230-8DB6-EC3946478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474" y="2724107"/>
            <a:ext cx="815411" cy="97544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BD36F70-C846-8BF0-2823-F0053E6B7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091" y="2724107"/>
            <a:ext cx="815411" cy="97544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2697E6A-BB42-EA03-FEFB-7A44EA57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707" y="2724107"/>
            <a:ext cx="815411" cy="97544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C62F4DC-1018-0126-1558-960B8E9E3342}"/>
              </a:ext>
            </a:extLst>
          </p:cNvPr>
          <p:cNvSpPr txBox="1"/>
          <p:nvPr/>
        </p:nvSpPr>
        <p:spPr>
          <a:xfrm>
            <a:off x="6051006" y="1692410"/>
            <a:ext cx="5342020" cy="454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Monty Hall Problem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10,000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라면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877497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EB95C-663F-55A3-2C59-BB57214F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8CB2A46-7281-C175-6EB6-C6A33407C013}"/>
              </a:ext>
            </a:extLst>
          </p:cNvPr>
          <p:cNvSpPr/>
          <p:nvPr/>
        </p:nvSpPr>
        <p:spPr>
          <a:xfrm>
            <a:off x="6675438" y="5310462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B83DF6-0F13-A6BD-2276-61C6896FA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031069-D79B-DC13-96CD-B14397EAE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08433-FC9D-459F-20CD-CAC1421288F5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29099620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0AC54-C4ED-A5C3-A213-8356B5F6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B10A659-B508-3847-D95D-D5EDC55F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5590872-92AA-7F11-7855-536F5E77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41AEC-0375-D5D0-1BC0-45800051E25B}"/>
              </a:ext>
            </a:extLst>
          </p:cNvPr>
          <p:cNvSpPr txBox="1"/>
          <p:nvPr/>
        </p:nvSpPr>
        <p:spPr>
          <a:xfrm>
            <a:off x="675209" y="1437904"/>
            <a:ext cx="1137726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단순회귀식의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유전자 알고리즘으로 구하는 파이썬 코드를 제시하라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" name="그림 29" descr="Best Practices for Tuning Genetic Algorithm Parameters">
            <a:extLst>
              <a:ext uri="{FF2B5EF4-FFF2-40B4-BE49-F238E27FC236}">
                <a16:creationId xmlns:a16="http://schemas.microsoft.com/office/drawing/2014/main" id="{F123030E-E593-CC71-17F7-A38A55A62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790" y="2266684"/>
            <a:ext cx="5678585" cy="378572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DFA542B-465A-3FAA-9CFB-CC45AB510537}"/>
              </a:ext>
            </a:extLst>
          </p:cNvPr>
          <p:cNvSpPr txBox="1"/>
          <p:nvPr/>
        </p:nvSpPr>
        <p:spPr>
          <a:xfrm>
            <a:off x="1772790" y="6210299"/>
            <a:ext cx="836180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hlinkClick r:id="rId3"/>
              </a:rPr>
              <a:t>https://www.woodruff.dev/wp-content/uploads/2025/09/Best-Practices-for-Tuning-Genetic-Algorithm-Parameters.png</a:t>
            </a:r>
            <a:r>
              <a:rPr lang="ko-KR" alt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5829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81843-0320-9E01-A949-B9D36E0E1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B51BC5E-1A6E-1357-814F-94F490713DA3}"/>
              </a:ext>
            </a:extLst>
          </p:cNvPr>
          <p:cNvSpPr/>
          <p:nvPr/>
        </p:nvSpPr>
        <p:spPr>
          <a:xfrm>
            <a:off x="6675438" y="5862912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6CFD27-BD7D-CF71-6FEA-6E881F54D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BBCCE8-7E4F-D075-A615-A08547638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40AE8-F812-175A-98CA-BA4F82011F56}"/>
              </a:ext>
            </a:extLst>
          </p:cNvPr>
          <p:cNvSpPr txBox="1"/>
          <p:nvPr/>
        </p:nvSpPr>
        <p:spPr>
          <a:xfrm>
            <a:off x="7239000" y="1338537"/>
            <a:ext cx="4400550" cy="499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Prince Frog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Month Hall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Genetic Algorithm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Differential </a:t>
            </a:r>
            <a:r>
              <a:rPr lang="en-US" altLang="ko-KR" dirty="0"/>
              <a:t>Equation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32389352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953D-C500-5F1D-7DFF-6810FE09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915BB03-0ACC-F981-4BCD-AB72175E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3EE4ECF-F522-E598-8198-62166279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78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3BFE282-10B7-3563-1EAE-190C2973B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3" y="1339880"/>
            <a:ext cx="10257442" cy="409889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컴퓨터가 생물학적 또는 물리적 현상을 이해할 수 있도록 수학적으로 묘사하는 과정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컴퓨터는 미분과 적분 연산에 최적화되어 있어 세포분열 현상을 미분식으로 표현하면 컴퓨터는 미래를 예측할 수 있음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속도는 미분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거리는 적분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세포분열의 경우 분열 속도를 미분방정식으로 표현하고 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일정 시간 이후 세포는 몇 개까지 증식하는지는 적분하여 예측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19917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E07E6-0097-53F1-CF57-CE83DD4F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DAAAD77-063D-96F0-BB80-C0675F456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8C4E1BA-B6E4-E7CE-F181-F9A168C4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79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9FB737C-8207-A095-80A7-945984DC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059" y="4113840"/>
            <a:ext cx="1116966" cy="2546683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37F876-EDC2-C2AF-3A20-8AEBD33F6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275426"/>
            <a:ext cx="9890853" cy="33727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Cell_division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아메바나 인체 세포는 일정 크기로 성장하면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개로 분열하고 정상 세포는 보통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주기로 아래와 같이 분열한다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증식 속도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(Rate)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속도는 “늘어난 세포의 수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걸린 </a:t>
            </a:r>
            <a:r>
              <a:rPr lang="ko-KR" altLang="en-US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시간”으로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정의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세포가 많을수록 분열하는 개체수도 늘어나므로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증가 속도는 현재 세포 수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비례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E106E1-3309-58F0-CD71-036E1EAE6B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26303" y="4333492"/>
            <a:ext cx="1398297" cy="94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440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31F4-3629-1A16-B98B-58ACE081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0ED49C8-B5F8-591F-577B-FDB854C5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CACF84-D19C-8F63-2D7B-5FCAF5557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80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3810B7BD-B816-1B3E-64B3-B86C9C7EE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618326"/>
            <a:ext cx="10350827" cy="33727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Cell_division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변화율 식을 시간에 대해 적분하면 시간에 따른 세포 수를 예측할 수 있고 이 결과를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축은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축은 세포 수를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좌표에 표시하라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오일러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방식으로 코딩하거나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모듈로 미분방정식을 정의하고 적분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757666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C972-7F47-0F03-CA39-23900549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C50CE5F-703B-628B-E278-C73CF443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1204269-D9CC-2292-140C-7F7FF6FE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81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DC6FCB2-F7C1-D37F-A9DD-7D713B2C5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642" y="2450726"/>
            <a:ext cx="5800722" cy="412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6A5471-1D29-1F73-8FD7-C24096714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54097"/>
            <a:ext cx="10876566" cy="142432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이후에는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배가 아니라 자연상수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오일러상수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2.718….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배가 됨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 수가 늘어남에 따라 증가 속도가 실시간으로 가속되어 기하급수적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(Exponential)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증가함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60B01F-E4BD-E2D1-75B0-48F2EEE16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9896" y="2602882"/>
            <a:ext cx="1981007" cy="5933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71ABFD-946E-D12D-4E2E-CD43619BD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4346" y="5316568"/>
            <a:ext cx="1646063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083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B09BF-2EFA-5CFC-1E67-010A6051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4C2746F-56DA-F8D8-9041-05E04FAA2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AC6E2DD-E529-FB78-B038-B1FED6A2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82</a:t>
            </a:fld>
            <a:endParaRPr lang="en-US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85C4201-B3BA-4E6E-7C3B-F16863AB2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242" y="2707024"/>
            <a:ext cx="5760544" cy="376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612A4A-92A5-9BA1-C4A8-200B7C4CA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54097"/>
            <a:ext cx="10876566" cy="132920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변분법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(calculus of variations)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사고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미분방정식이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t=80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에서는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＂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너 지금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1.17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속도로 올라가야 해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!＂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명령어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접선의 식은 그 명령어를 받아서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그럼 일단 이 방향으로 </a:t>
            </a:r>
            <a:r>
              <a:rPr lang="ko-KR" altLang="en-US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가볼게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그려본 가상의 직선 경로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25397D-E731-72CE-E943-A7168541C1AD}"/>
              </a:ext>
            </a:extLst>
          </p:cNvPr>
          <p:cNvSpPr txBox="1"/>
          <p:nvPr/>
        </p:nvSpPr>
        <p:spPr>
          <a:xfrm>
            <a:off x="6894055" y="2719003"/>
            <a:ext cx="4135896" cy="82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접선을 </a:t>
            </a:r>
            <a:r>
              <a:rPr lang="en-US" altLang="ko-KR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t=80 </a:t>
            </a:r>
            <a:r>
              <a:rPr lang="ko-KR" altLang="en-US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근처에서 아주 짧게 그리면 실제 세포 수 곡선과 거의 일치하게 되며 이 원리를 이용해서 컴퓨터는 복잡한 미분 방정식을 한 단계씩 직선으로 연결하며 풀어나감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1AAC54-8BFB-E2C4-CCC4-3568C30B8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654" y="3886200"/>
            <a:ext cx="3068557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2546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03BA3-84EC-7D4E-9E83-258732FC5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36E194C-CF84-05F2-829A-D5469AA4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13E83F1-FF0D-A1E4-E03B-195B69B0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83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60803C31-F401-2986-B0C3-AB38050D8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7"/>
            <a:ext cx="9914541" cy="199764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정상세포 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감염세포 수로 가정하고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 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다음과 같이 상호작용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시간안에 세포분열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X + X)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는 정상세포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시간안에 감염시킴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+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+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X,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대한 미분방정식을 만들어라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57BD95-8719-AE25-A87A-DC3525D52FD8}"/>
                  </a:ext>
                </a:extLst>
              </p:cNvPr>
              <p:cNvSpPr txBox="1"/>
              <p:nvPr/>
            </p:nvSpPr>
            <p:spPr>
              <a:xfrm>
                <a:off x="5695950" y="3746903"/>
                <a:ext cx="6096000" cy="1107804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7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i="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700" i="0" dirty="0" err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i="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ko-KR" altLang="en-US" sz="1700" i="0" dirty="0" err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　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</a:t>
                </a:r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양이 시간에 따라 어떻게 변하는지.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＋</m:t>
                    </m:r>
                    <m:f>
                      <m:fPr>
                        <m:ctrlPr>
                          <a:rPr lang="ko-KR" altLang="en-US" sz="17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스스로 복제되는 증가 항.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－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만나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소모되는 감소 항.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57BD95-8719-AE25-A87A-DC3525D52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3746903"/>
                <a:ext cx="6096000" cy="1107804"/>
              </a:xfrm>
              <a:prstGeom prst="rect">
                <a:avLst/>
              </a:prstGeom>
              <a:blipFill>
                <a:blip r:embed="rId2"/>
                <a:stretch>
                  <a:fillRect l="-399" b="-6011"/>
                </a:stretch>
              </a:blipFill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FC8F03-4097-2B23-E3E7-269E0653C04F}"/>
                  </a:ext>
                </a:extLst>
              </p:cNvPr>
              <p:cNvSpPr txBox="1"/>
              <p:nvPr/>
            </p:nvSpPr>
            <p:spPr>
              <a:xfrm>
                <a:off x="5695950" y="5182668"/>
                <a:ext cx="6096000" cy="999313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7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ko-KR" altLang="en-US" sz="1700" i="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70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ko-KR" altLang="en-US" sz="1700" i="0" smtClean="0">
                        <a:latin typeface="Cambria Math" panose="02040503050406030204" pitchFamily="18" charset="0"/>
                      </a:rPr>
                      <m:t>−ⅆ</m:t>
                    </m:r>
                    <m:r>
                      <a:rPr lang="ko-KR" altLang="en-US" sz="170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　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양이 시간에 따라 어떻게 변하는지.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 smtClean="0">
                        <a:latin typeface="Cambria Math" panose="02040503050406030204" pitchFamily="18" charset="0"/>
                      </a:rPr>
                      <m:t>＋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만나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증가하는 증가 항.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－</m:t>
                    </m:r>
                    <m:r>
                      <a:rPr lang="ko-KR" altLang="en-US" sz="1700">
                        <a:latin typeface="Cambria Math" panose="02040503050406030204" pitchFamily="18" charset="0"/>
                      </a:rPr>
                      <m:t>ⅆ</m:t>
                    </m:r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소멸되는 감소 항.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FC8F03-4097-2B23-E3E7-269E0653C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5182668"/>
                <a:ext cx="6096000" cy="999313"/>
              </a:xfrm>
              <a:prstGeom prst="rect">
                <a:avLst/>
              </a:prstGeom>
              <a:blipFill>
                <a:blip r:embed="rId3"/>
                <a:stretch>
                  <a:fillRect l="-399" b="-6627"/>
                </a:stretch>
              </a:blipFill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EDBFDED1-B5CB-0038-345F-FCB775FCE7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7864" y="3739833"/>
            <a:ext cx="1737511" cy="6629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6D45B05-3F32-1279-AADB-08759DB757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7864" y="5184455"/>
            <a:ext cx="1722269" cy="6706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5CA98D-1DC3-FF38-7C36-9416B0CDFE93}"/>
                  </a:ext>
                </a:extLst>
              </p:cNvPr>
              <p:cNvSpPr txBox="1"/>
              <p:nvPr/>
            </p:nvSpPr>
            <p:spPr>
              <a:xfrm>
                <a:off x="454511" y="3914870"/>
                <a:ext cx="6529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80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5CA98D-1DC3-FF38-7C36-9416B0CDF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1" y="3914870"/>
                <a:ext cx="6529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D917CD-D06F-8342-BF29-D25FA66D84EE}"/>
                  </a:ext>
                </a:extLst>
              </p:cNvPr>
              <p:cNvSpPr txBox="1"/>
              <p:nvPr/>
            </p:nvSpPr>
            <p:spPr>
              <a:xfrm>
                <a:off x="454511" y="5255575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D917CD-D06F-8342-BF29-D25FA66D8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1" y="5255575"/>
                <a:ext cx="97551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081820-7717-617E-414D-9795A5CCF519}"/>
                  </a:ext>
                </a:extLst>
              </p:cNvPr>
              <p:cNvSpPr txBox="1"/>
              <p:nvPr/>
            </p:nvSpPr>
            <p:spPr>
              <a:xfrm>
                <a:off x="2741780" y="5255575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081820-7717-617E-414D-9795A5CCF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780" y="5255575"/>
                <a:ext cx="97551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E5EB4F-0821-B003-81CA-29E18BAC8F12}"/>
                  </a:ext>
                </a:extLst>
              </p:cNvPr>
              <p:cNvSpPr txBox="1"/>
              <p:nvPr/>
            </p:nvSpPr>
            <p:spPr>
              <a:xfrm>
                <a:off x="2741780" y="3914870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E5EB4F-0821-B003-81CA-29E18BAC8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780" y="3914870"/>
                <a:ext cx="97551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0D9C063-5369-C69C-E0B4-1274029A98F3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1107440" y="4099536"/>
            <a:ext cx="16343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3DB4534-49B1-6F64-BF85-5067A640AB67}"/>
              </a:ext>
            </a:extLst>
          </p:cNvPr>
          <p:cNvSpPr txBox="1"/>
          <p:nvPr/>
        </p:nvSpPr>
        <p:spPr>
          <a:xfrm>
            <a:off x="1538530" y="3669666"/>
            <a:ext cx="77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1/24</a:t>
            </a:r>
            <a:endParaRPr lang="ko-KR" altLang="en-US" sz="14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A198041-6AC5-383B-4234-34E6192E933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1430021" y="5440241"/>
            <a:ext cx="13117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A93524F-66A7-C4A9-9346-A4BA2CF046F1}"/>
              </a:ext>
            </a:extLst>
          </p:cNvPr>
          <p:cNvSpPr txBox="1"/>
          <p:nvPr/>
        </p:nvSpPr>
        <p:spPr>
          <a:xfrm>
            <a:off x="1619810" y="4964800"/>
            <a:ext cx="77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5989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/>
      <p:bldP spid="10" grpId="0"/>
      <p:bldP spid="11" grpId="0"/>
      <p:bldP spid="12" grpId="0"/>
      <p:bldP spid="14" grpId="0"/>
      <p:bldP spid="1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60FD-E99D-D988-2B0E-5229AE05B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9DD9F4E-0D7D-776B-7505-4C818F90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3DB7B7C-2481-58D4-8C51-AE9453CA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84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C3E6F98-F6E9-2CB8-A4A8-C95382A9B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7"/>
            <a:ext cx="10876566" cy="17579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X,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대한 미분방정식을 만들고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시간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(t)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와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의 그래프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snippet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제시하라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초기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정상세포와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감염세포의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수를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변경하면서 확인하라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감염률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(k)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과 감염세포의 </a:t>
            </a:r>
            <a:r>
              <a:rPr lang="ko-KR" altLang="en-US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소멸율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(d)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가 변화하면 어떤 그래프 모양인지 확인하라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ECBC3E-0DFD-90E3-AB55-0B8DDACFF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188" y="2871439"/>
            <a:ext cx="6333142" cy="3431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E0D2AA-2F8E-3F86-EDCA-19510A4FC9A9}"/>
              </a:ext>
            </a:extLst>
          </p:cNvPr>
          <p:cNvSpPr txBox="1"/>
          <p:nvPr/>
        </p:nvSpPr>
        <p:spPr>
          <a:xfrm>
            <a:off x="8435659" y="3986561"/>
            <a:ext cx="3756341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 = 0.1      # Reaction rate for X + Y → Y + Y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 = 0.05   # Decay rate of 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2B866B-E6FD-215D-D54D-20A7387A1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134" y="2871439"/>
            <a:ext cx="870945" cy="95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484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4AEA5-9006-EB24-FDDB-0055E87BD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D749A40-9BBB-899D-59C0-D2DF0EE6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24ADDE5-34BE-329C-8078-7E458126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85</a:t>
            </a:fld>
            <a:endParaRPr lang="en-US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1DA27186-1ACA-6302-0BC0-54B76F14B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616" y="2851047"/>
            <a:ext cx="4913104" cy="366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내용 개체 틀 2">
                <a:extLst>
                  <a:ext uri="{FF2B5EF4-FFF2-40B4-BE49-F238E27FC236}">
                    <a16:creationId xmlns:a16="http://schemas.microsoft.com/office/drawing/2014/main" id="{A86EE2C1-9794-C1FA-DDBD-72517AC7D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384" y="1113456"/>
                <a:ext cx="10876566" cy="1895484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4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S</a:t>
                </a:r>
                <a:r>
                  <a:rPr lang="ko-KR" altLang="en-US" sz="24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자 곡선</a:t>
                </a:r>
                <a:r>
                  <a:rPr lang="en-US" altLang="ko-KR" sz="24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(S-shape)' </a:t>
                </a:r>
                <a:r>
                  <a:rPr lang="ko-KR" altLang="en-US" sz="24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형태의 전염병 확산 모델</a:t>
                </a:r>
                <a:endParaRPr lang="en-US" altLang="ko-KR" sz="24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  <a:sym typeface="Wingdings" panose="05000000000000000000" pitchFamily="2" charset="2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전염병 모델링에서 가장 대표적인 </a:t>
                </a:r>
                <a:r>
                  <a:rPr lang="en-US" altLang="ko-KR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'S-</a:t>
                </a:r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자</a:t>
                </a:r>
                <a:r>
                  <a:rPr lang="en-US" altLang="ko-KR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' </a:t>
                </a:r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곡선은 로지스틱 성장 모델</a:t>
                </a:r>
                <a:r>
                  <a:rPr lang="en-US" altLang="ko-KR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(Logistic Growth Model)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이 모델은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20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20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20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2000" dirty="0" err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2000" i="1" dirty="0" err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200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와 같은 단순한 미분방정식으로 표현되지 않으며</a:t>
                </a:r>
                <a:r>
                  <a:rPr lang="en-US" altLang="ko-KR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, </a:t>
                </a:r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인구 수에 비례하여 확산 속도가 달라지는 형태</a:t>
                </a:r>
                <a:endParaRPr lang="en-US" altLang="ko-KR" sz="20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28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20" name="내용 개체 틀 2">
                <a:extLst>
                  <a:ext uri="{FF2B5EF4-FFF2-40B4-BE49-F238E27FC236}">
                    <a16:creationId xmlns:a16="http://schemas.microsoft.com/office/drawing/2014/main" id="{A86EE2C1-9794-C1FA-DDBD-72517AC7D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384" y="1113456"/>
                <a:ext cx="10876566" cy="1895484"/>
              </a:xfrm>
              <a:blipFill>
                <a:blip r:embed="rId3"/>
                <a:stretch>
                  <a:fillRect l="-224" r="-1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1536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CA68-25FD-5A44-8B75-29A9B139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FC0E191-BBE0-B8E7-2D67-C4E4F0136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B8A9F04-3CDC-9615-1CAC-5C9FB352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86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A7A6C9A-3EE0-44FB-5485-99F3AF260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7"/>
            <a:ext cx="10876566" cy="6988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S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자 곡선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(S-shape)'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형태의 전염병 확산 모델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05015587-3BF1-D836-871E-92509A13F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85" y="1970212"/>
            <a:ext cx="5292048" cy="343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DB58511-27CA-A866-3E0E-10B0F9012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296" y="1970212"/>
            <a:ext cx="4941496" cy="343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7884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3258</TotalTime>
  <Words>6282</Words>
  <Application>Microsoft Office PowerPoint</Application>
  <PresentationFormat>와이드스크린</PresentationFormat>
  <Paragraphs>1064</Paragraphs>
  <Slides>86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86</vt:i4>
      </vt:variant>
    </vt:vector>
  </HeadingPairs>
  <TitlesOfParts>
    <vt:vector size="96" baseType="lpstr">
      <vt:lpstr>D2Coding</vt:lpstr>
      <vt:lpstr>맑은 고딕</vt:lpstr>
      <vt:lpstr>맑은 고딕 Semilight</vt:lpstr>
      <vt:lpstr>Arial</vt:lpstr>
      <vt:lpstr>Cambria Math</vt:lpstr>
      <vt:lpstr>Century Gothic</vt:lpstr>
      <vt:lpstr>Times New Roman</vt:lpstr>
      <vt:lpstr>Wingdings</vt:lpstr>
      <vt:lpstr>Wingdings 3</vt:lpstr>
      <vt:lpstr>이온</vt:lpstr>
      <vt:lpstr>Modeling &amp; Simulation</vt:lpstr>
      <vt:lpstr>Contents</vt:lpstr>
      <vt:lpstr>Modeling</vt:lpstr>
      <vt:lpstr>Simulation</vt:lpstr>
      <vt:lpstr>Abstract + Object</vt:lpstr>
      <vt:lpstr>Abstract + Object</vt:lpstr>
      <vt:lpstr>OOP - python</vt:lpstr>
      <vt:lpstr>Proto_OOP – java script</vt:lpstr>
      <vt:lpstr>Contents</vt:lpstr>
      <vt:lpstr>python sympy</vt:lpstr>
      <vt:lpstr>python sympy</vt:lpstr>
      <vt:lpstr>python sympy</vt:lpstr>
      <vt:lpstr>Contents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Contents</vt:lpstr>
      <vt:lpstr>Optimization</vt:lpstr>
      <vt:lpstr>Optimization</vt:lpstr>
      <vt:lpstr>Optimization</vt:lpstr>
      <vt:lpstr>Optimization</vt:lpstr>
      <vt:lpstr>Contents</vt:lpstr>
      <vt:lpstr>Optimization of Loss Function</vt:lpstr>
      <vt:lpstr>Contents</vt:lpstr>
      <vt:lpstr>Optimization of Loss Function</vt:lpstr>
      <vt:lpstr>Optimization of Loss Function</vt:lpstr>
      <vt:lpstr>Optimization of Loss Function</vt:lpstr>
      <vt:lpstr>Loss Functions</vt:lpstr>
      <vt:lpstr>Loss Functions</vt:lpstr>
      <vt:lpstr>Contents</vt:lpstr>
      <vt:lpstr>Short-Cut algorithm</vt:lpstr>
      <vt:lpstr>Short-Cut algorithm</vt:lpstr>
      <vt:lpstr>Short-Cut algorithm</vt:lpstr>
      <vt:lpstr>Short-Cut algorithm</vt:lpstr>
      <vt:lpstr>Contents</vt:lpstr>
      <vt:lpstr>Linear Programming</vt:lpstr>
      <vt:lpstr>Linear Programming</vt:lpstr>
      <vt:lpstr>Linear Programming</vt:lpstr>
      <vt:lpstr>Linear Programming</vt:lpstr>
      <vt:lpstr>Contents</vt:lpstr>
      <vt:lpstr>Transportation Problems</vt:lpstr>
      <vt:lpstr>Transportation Problems</vt:lpstr>
      <vt:lpstr>Transportation Problems</vt:lpstr>
      <vt:lpstr>Contents</vt:lpstr>
      <vt:lpstr>Montecarlo Simulation</vt:lpstr>
      <vt:lpstr>Simulation</vt:lpstr>
      <vt:lpstr>Simulation</vt:lpstr>
      <vt:lpstr>Simulation</vt:lpstr>
      <vt:lpstr>Simulation</vt:lpstr>
      <vt:lpstr>Simulation</vt:lpstr>
      <vt:lpstr>Simulation</vt:lpstr>
      <vt:lpstr>Contents</vt:lpstr>
      <vt:lpstr>Random walk simulation</vt:lpstr>
      <vt:lpstr>Random walk simulation</vt:lpstr>
      <vt:lpstr>Random walk simulation</vt:lpstr>
      <vt:lpstr>Contents</vt:lpstr>
      <vt:lpstr>Bootstrap sampling</vt:lpstr>
      <vt:lpstr>Bootstrap sampling</vt:lpstr>
      <vt:lpstr>Bootstrap sampling</vt:lpstr>
      <vt:lpstr>Contents</vt:lpstr>
      <vt:lpstr>Central Limit Theorm</vt:lpstr>
      <vt:lpstr>Contents</vt:lpstr>
      <vt:lpstr>Prince Frog</vt:lpstr>
      <vt:lpstr>Contents</vt:lpstr>
      <vt:lpstr>Monty Hall</vt:lpstr>
      <vt:lpstr>Contents</vt:lpstr>
      <vt:lpstr>Genetic algorithm</vt:lpstr>
      <vt:lpstr>Contents</vt:lpstr>
      <vt:lpstr>Differential Equation</vt:lpstr>
      <vt:lpstr>Differential Equation</vt:lpstr>
      <vt:lpstr>Differential Equation</vt:lpstr>
      <vt:lpstr>Differential Equation</vt:lpstr>
      <vt:lpstr>Differential Equation</vt:lpstr>
      <vt:lpstr>Differential Equation</vt:lpstr>
      <vt:lpstr>Differential Equation</vt:lpstr>
      <vt:lpstr>Differential Equation</vt:lpstr>
      <vt:lpstr>Differential Equation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29</cp:revision>
  <dcterms:created xsi:type="dcterms:W3CDTF">2026-04-11T22:24:40Z</dcterms:created>
  <dcterms:modified xsi:type="dcterms:W3CDTF">2026-05-19T12:29:50Z</dcterms:modified>
</cp:coreProperties>
</file>