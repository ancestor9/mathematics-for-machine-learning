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3"/>
  </p:notesMasterIdLst>
  <p:sldIdLst>
    <p:sldId id="256" r:id="rId2"/>
    <p:sldId id="274" r:id="rId3"/>
    <p:sldId id="257" r:id="rId4"/>
    <p:sldId id="397" r:id="rId5"/>
    <p:sldId id="379" r:id="rId6"/>
    <p:sldId id="380" r:id="rId7"/>
    <p:sldId id="260" r:id="rId8"/>
    <p:sldId id="265" r:id="rId9"/>
    <p:sldId id="358" r:id="rId10"/>
    <p:sldId id="343" r:id="rId11"/>
    <p:sldId id="259" r:id="rId12"/>
    <p:sldId id="318" r:id="rId13"/>
    <p:sldId id="359" r:id="rId14"/>
    <p:sldId id="360" r:id="rId15"/>
    <p:sldId id="361" r:id="rId16"/>
    <p:sldId id="317" r:id="rId17"/>
    <p:sldId id="399" r:id="rId18"/>
    <p:sldId id="267" r:id="rId19"/>
    <p:sldId id="285" r:id="rId20"/>
    <p:sldId id="272" r:id="rId21"/>
    <p:sldId id="273" r:id="rId22"/>
    <p:sldId id="401" r:id="rId23"/>
    <p:sldId id="269" r:id="rId24"/>
    <p:sldId id="308" r:id="rId25"/>
    <p:sldId id="320" r:id="rId26"/>
    <p:sldId id="387" r:id="rId27"/>
    <p:sldId id="388" r:id="rId28"/>
    <p:sldId id="394" r:id="rId29"/>
    <p:sldId id="393" r:id="rId30"/>
    <p:sldId id="310" r:id="rId31"/>
    <p:sldId id="389" r:id="rId32"/>
    <p:sldId id="390" r:id="rId33"/>
    <p:sldId id="392" r:id="rId34"/>
    <p:sldId id="391" r:id="rId35"/>
    <p:sldId id="395" r:id="rId36"/>
    <p:sldId id="402" r:id="rId37"/>
    <p:sldId id="290" r:id="rId38"/>
    <p:sldId id="367" r:id="rId39"/>
    <p:sldId id="291" r:id="rId40"/>
    <p:sldId id="365" r:id="rId41"/>
    <p:sldId id="366" r:id="rId42"/>
    <p:sldId id="363" r:id="rId43"/>
    <p:sldId id="396" r:id="rId44"/>
    <p:sldId id="362" r:id="rId45"/>
    <p:sldId id="307" r:id="rId46"/>
    <p:sldId id="292" r:id="rId47"/>
    <p:sldId id="368" r:id="rId48"/>
    <p:sldId id="403" r:id="rId49"/>
    <p:sldId id="293" r:id="rId50"/>
    <p:sldId id="294" r:id="rId51"/>
    <p:sldId id="295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0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8.png"/><Relationship Id="rId7" Type="http://schemas.openxmlformats.org/officeDocument/2006/relationships/image" Target="../media/image5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60.png"/><Relationship Id="rId10" Type="http://schemas.openxmlformats.org/officeDocument/2006/relationships/hyperlink" Target="https://en.wikipedia.org/wiki/Sign_function" TargetMode="External"/><Relationship Id="rId4" Type="http://schemas.openxmlformats.org/officeDocument/2006/relationships/image" Target="../media/image59.png"/><Relationship Id="rId9" Type="http://schemas.openxmlformats.org/officeDocument/2006/relationships/image" Target="../media/image6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780/2018sp/lectures/lecturenote08.html" TargetMode="External"/><Relationship Id="rId7" Type="http://schemas.openxmlformats.org/officeDocument/2006/relationships/hyperlink" Target="https://en.wikipedia.org/wiki/Linear_regression" TargetMode="External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scikit-learn.org/stable/auto_examples/linear_model/plot_ols_ridg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mlu-explain.github.io/bias-varia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montecarlo_method.ipynb" TargetMode="External"/><Relationship Id="rId7" Type="http://schemas.openxmlformats.org/officeDocument/2006/relationships/hyperlink" Target="https://en.wikipedia.org/wiki/Random_sampling" TargetMode="External"/><Relationship Id="rId2" Type="http://schemas.openxmlformats.org/officeDocument/2006/relationships/image" Target="../media/image81.gif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Resampling_(statistics)" TargetMode="External"/><Relationship Id="rId5" Type="http://schemas.openxmlformats.org/officeDocument/2006/relationships/hyperlink" Target="https://en.wikipedia.org/wiki/Algorithm" TargetMode="External"/><Relationship Id="rId4" Type="http://schemas.openxmlformats.org/officeDocument/2006/relationships/hyperlink" Target="https://en.wikipedia.org/wiki/Computation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lgorithm" TargetMode="External"/><Relationship Id="rId7" Type="http://schemas.openxmlformats.org/officeDocument/2006/relationships/hyperlink" Target="https://en.wikipedia.org/wiki/Deterministic_system" TargetMode="External"/><Relationship Id="rId2" Type="http://schemas.openxmlformats.org/officeDocument/2006/relationships/hyperlink" Target="https://en.wikipedia.org/wiki/Computa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Randomness" TargetMode="External"/><Relationship Id="rId5" Type="http://schemas.openxmlformats.org/officeDocument/2006/relationships/hyperlink" Target="https://en.wikipedia.org/wiki/Random_sampling" TargetMode="External"/><Relationship Id="rId4" Type="http://schemas.openxmlformats.org/officeDocument/2006/relationships/hyperlink" Target="https://en.wikipedia.org/wiki/Resampling_(statistics)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6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8.png"/><Relationship Id="rId2" Type="http://schemas.openxmlformats.org/officeDocument/2006/relationships/hyperlink" Target="https://github.com/ancestor9/mathematics-for-machine-learning/blob/main/scripts/Image_representation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101ai.net/vision/conv-kernels" TargetMode="Externa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gi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C34E-2124-47A9-3BA6-29D6AC73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8CD59E9-1860-DFE0-CB26-4BF1B50EC0BE}"/>
              </a:ext>
            </a:extLst>
          </p:cNvPr>
          <p:cNvSpPr/>
          <p:nvPr/>
        </p:nvSpPr>
        <p:spPr>
          <a:xfrm>
            <a:off x="1104901" y="20701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C40625-33EA-CE08-38CA-03C2DFFB8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E1F959A-62C3-5DD3-17B3-E9FB5096A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1326712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8698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414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walk simulation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 xmlns="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0E2B9-9A4E-8789-4EEC-E762DBF68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4804FE-D2F9-01F1-012C-353E907D112E}"/>
              </a:ext>
            </a:extLst>
          </p:cNvPr>
          <p:cNvSpPr/>
          <p:nvPr/>
        </p:nvSpPr>
        <p:spPr>
          <a:xfrm>
            <a:off x="1104901" y="3251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6A073A6-62A2-8E64-245E-4954047516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806A213-ACEA-EF2F-3BFF-C52C61BE0F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1273883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F5846-018A-D2C6-40B1-8128459C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96C4426-965B-1071-37C5-365CB84BA36C}"/>
              </a:ext>
            </a:extLst>
          </p:cNvPr>
          <p:cNvSpPr/>
          <p:nvPr/>
        </p:nvSpPr>
        <p:spPr>
          <a:xfrm>
            <a:off x="1104901" y="38513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FCDAFC1-43C8-29BA-C4E3-15B86A7AF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D13316-8AE8-2B20-30DD-AD499351E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6224645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 with 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21650F-00C5-3449-5259-48FFAB06FA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063416"/>
            <a:ext cx="1404705" cy="4942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128B04-3C98-D55D-B84F-2CE3686DA6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813197"/>
            <a:ext cx="3726369" cy="4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목적은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아니라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각 모델의 예측 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5C64-2C1F-ED10-2305-AC3FEFC2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6BFBFB-182E-BE0D-F6EC-3B5802EE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oefficients of L1, L2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DD22321-8722-5365-0508-9396C405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83C4-9714-B268-35CA-D128C720733C}"/>
              </a:ext>
            </a:extLst>
          </p:cNvPr>
          <p:cNvSpPr txBox="1"/>
          <p:nvPr/>
        </p:nvSpPr>
        <p:spPr>
          <a:xfrm>
            <a:off x="842210" y="1285138"/>
            <a:ext cx="1086026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모델의 특징별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값을 추출하여 아래와 같이 테이블을 생성하라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모델은 단순회귀식으로 변수가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계수 값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 values)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비교하고 토론하라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값을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만드는지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Sparsity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특징을 갖는지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8B006-1902-0666-407A-741D1CE81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171" y="3648633"/>
            <a:ext cx="10079974" cy="213177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04883D6-624A-023C-D671-0E4B17F02936}"/>
              </a:ext>
            </a:extLst>
          </p:cNvPr>
          <p:cNvSpPr/>
          <p:nvPr/>
        </p:nvSpPr>
        <p:spPr>
          <a:xfrm>
            <a:off x="842210" y="4856480"/>
            <a:ext cx="10644940" cy="9239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B25E70-BCF1-DC68-0FD1-C0D1FB71E0C5}"/>
              </a:ext>
            </a:extLst>
          </p:cNvPr>
          <p:cNvSpPr/>
          <p:nvPr/>
        </p:nvSpPr>
        <p:spPr>
          <a:xfrm>
            <a:off x="228493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86DACA-1022-D25F-AC9D-688EBEE12113}"/>
              </a:ext>
            </a:extLst>
          </p:cNvPr>
          <p:cNvSpPr/>
          <p:nvPr/>
        </p:nvSpPr>
        <p:spPr>
          <a:xfrm>
            <a:off x="326136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D9F29E-EF8B-AB17-9748-FAFD9B2645FF}"/>
              </a:ext>
            </a:extLst>
          </p:cNvPr>
          <p:cNvSpPr/>
          <p:nvPr/>
        </p:nvSpPr>
        <p:spPr>
          <a:xfrm>
            <a:off x="5055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B70380-E1C9-407F-1063-343E666EEB3A}"/>
              </a:ext>
            </a:extLst>
          </p:cNvPr>
          <p:cNvSpPr/>
          <p:nvPr/>
        </p:nvSpPr>
        <p:spPr>
          <a:xfrm>
            <a:off x="94247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1FE0331-8179-1003-51D9-52EF5A3EE439}"/>
              </a:ext>
            </a:extLst>
          </p:cNvPr>
          <p:cNvSpPr/>
          <p:nvPr/>
        </p:nvSpPr>
        <p:spPr>
          <a:xfrm>
            <a:off x="10389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0444-002E-FCBE-575E-38E8737D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AD03CC8-6144-796E-E068-ACC2812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Derivatives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B0C7EE4-D340-7AFF-980F-0C37C2D3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형태에 따른 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 각각의 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미분방정식의 직관적 이해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(Why sparsity?)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하자 </a:t>
                </a:r>
                <a:endParaRPr lang="en-US" altLang="ko-KR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blipFill>
                <a:blip r:embed="rId2"/>
                <a:stretch>
                  <a:fillRect l="-505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5A263-58DF-F964-7347-38E892628C3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7" y="4230456"/>
            <a:ext cx="2705909" cy="7077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368B17-A096-1719-6EA7-6E190E78863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6" y="5265030"/>
            <a:ext cx="2705909" cy="6986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FD74CB3-01C8-09F0-9C2D-0ECD446FEF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8" y="3378764"/>
            <a:ext cx="2705907" cy="70203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69455C-4E5A-6884-2B5D-DDB2E3919742}"/>
              </a:ext>
            </a:extLst>
          </p:cNvPr>
          <p:cNvSpPr txBox="1"/>
          <p:nvPr/>
        </p:nvSpPr>
        <p:spPr>
          <a:xfrm>
            <a:off x="1058369" y="2827549"/>
            <a:ext cx="46918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Minimization)</a:t>
            </a:r>
            <a:endParaRPr lang="ko-KR" altLang="en-US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227F347-20D7-9EF9-B53E-DAD7117A3FA7}"/>
              </a:ext>
            </a:extLst>
          </p:cNvPr>
          <p:cNvGrpSpPr/>
          <p:nvPr/>
        </p:nvGrpSpPr>
        <p:grpSpPr>
          <a:xfrm>
            <a:off x="7233920" y="2834658"/>
            <a:ext cx="4169377" cy="1414373"/>
            <a:chOff x="842210" y="2627418"/>
            <a:chExt cx="4169377" cy="141437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A2F34F9-2651-37FB-82B9-C89F916BA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147976"/>
              <a:ext cx="1318027" cy="463750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14DC66D-E0CC-98ED-4445-E081D4335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578041"/>
              <a:ext cx="3742657" cy="46375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37CF39F-F592-1877-0217-14EEDEB277D2}"/>
                </a:ext>
              </a:extLst>
            </p:cNvPr>
            <p:cNvSpPr txBox="1"/>
            <p:nvPr/>
          </p:nvSpPr>
          <p:spPr>
            <a:xfrm>
              <a:off x="842210" y="2627418"/>
              <a:ext cx="237152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</a:t>
              </a:r>
              <a:r>
                <a:rPr lang="en-US" altLang="ko-KR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(Model)</a:t>
              </a:r>
              <a:endParaRPr lang="ko-KR" altLang="en-US" dirty="0"/>
            </a:p>
          </p:txBody>
        </p:sp>
        <p:cxnSp>
          <p:nvCxnSpPr>
            <p:cNvPr id="3" name="연결선: 꺾임 2">
              <a:extLst>
                <a:ext uri="{FF2B5EF4-FFF2-40B4-BE49-F238E27FC236}">
                  <a16:creationId xmlns:a16="http://schemas.microsoft.com/office/drawing/2014/main" id="{0D98D96D-5A33-3C9B-40B6-38BD7F489B03}"/>
                </a:ext>
              </a:extLst>
            </p:cNvPr>
            <p:cNvCxnSpPr>
              <a:cxnSpLocks/>
              <a:stCxn id="13" idx="1"/>
              <a:endCxn id="16" idx="1"/>
            </p:cNvCxnSpPr>
            <p:nvPr/>
          </p:nvCxnSpPr>
          <p:spPr>
            <a:xfrm rot="10800000">
              <a:off x="842210" y="2812085"/>
              <a:ext cx="426720" cy="567767"/>
            </a:xfrm>
            <a:prstGeom prst="bentConnector3">
              <a:avLst>
                <a:gd name="adj1" fmla="val 15357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D97C7C43-BE96-B8F4-12B6-B7F4CB9219E9}"/>
              </a:ext>
            </a:extLst>
          </p:cNvPr>
          <p:cNvCxnSpPr>
            <a:cxnSpLocks/>
            <a:stCxn id="12" idx="1"/>
            <a:endCxn id="17" idx="1"/>
          </p:cNvCxnSpPr>
          <p:nvPr/>
        </p:nvCxnSpPr>
        <p:spPr>
          <a:xfrm rot="10800000">
            <a:off x="1058370" y="3012216"/>
            <a:ext cx="143979" cy="717567"/>
          </a:xfrm>
          <a:prstGeom prst="bentConnector3">
            <a:avLst>
              <a:gd name="adj1" fmla="val 25877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BCDE0432-2547-B13C-1538-0F9C4838889F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5357612"/>
            <a:ext cx="3155291" cy="55415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3874D0E-10E7-C3B8-CDA9-DE9A92DF8F3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4330311"/>
            <a:ext cx="2843057" cy="554155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91D1A00D-1024-D41A-62E8-50BA090F9AC4}"/>
              </a:ext>
            </a:extLst>
          </p:cNvPr>
          <p:cNvGrpSpPr/>
          <p:nvPr/>
        </p:nvGrpSpPr>
        <p:grpSpPr>
          <a:xfrm>
            <a:off x="6278880" y="5265030"/>
            <a:ext cx="2416704" cy="800625"/>
            <a:chOff x="6096000" y="5265030"/>
            <a:chExt cx="2416704" cy="80062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9B49639-B1A6-E30D-1423-A57B19474E8E}"/>
                </a:ext>
              </a:extLst>
            </p:cNvPr>
            <p:cNvSpPr txBox="1"/>
            <p:nvPr/>
          </p:nvSpPr>
          <p:spPr>
            <a:xfrm>
              <a:off x="7172272" y="5757878"/>
              <a:ext cx="13404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hlinkClick r:id="rId10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Sign_function</a:t>
              </a:r>
              <a:endParaRPr lang="ko-KR" altLang="en-US" sz="1400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F5D77B2-EC22-D1CB-3044-6BC19D8AA2E9}"/>
                </a:ext>
              </a:extLst>
            </p:cNvPr>
            <p:cNvSpPr/>
            <p:nvPr/>
          </p:nvSpPr>
          <p:spPr>
            <a:xfrm>
              <a:off x="6096000" y="5265030"/>
              <a:ext cx="1076272" cy="75286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42AFFB4-33BC-A256-975B-871025AF235C}"/>
              </a:ext>
            </a:extLst>
          </p:cNvPr>
          <p:cNvSpPr/>
          <p:nvPr/>
        </p:nvSpPr>
        <p:spPr>
          <a:xfrm>
            <a:off x="6455221" y="4234804"/>
            <a:ext cx="616139" cy="752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913514-4C91-9DE5-402F-7F683DFCCC09}"/>
              </a:ext>
            </a:extLst>
          </p:cNvPr>
          <p:cNvSpPr txBox="1"/>
          <p:nvPr/>
        </p:nvSpPr>
        <p:spPr>
          <a:xfrm>
            <a:off x="4772655" y="3765081"/>
            <a:ext cx="1480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Derivatives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251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DC99D-D079-DDD9-15E8-893E52A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/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크기와 상관없이 일정한 액수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많든 적든 즉 가중치가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0.1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 똑같이 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라는 힘으로 동일한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특정 재산은 버리게 되는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정확히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만드는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sparsity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형태의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74BF5ED3-EFC4-C68B-9DF7-715E3DB13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275DCE7-5346-F0A2-A517-180649C14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국가에 납부하는 총 세금이며 가중치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각 특성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이고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penalty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강도를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로 가정하여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세금납부방식에 대한 국민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세금납부자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최적화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Oprimization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전략은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3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/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가중치의 제곱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altLang="ko-KR" sz="1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비례해서 세금을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즉 재산이 많으면 세금을 엄청나게 많이 내지만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줄어들면 내야 하는 세금도 급격히 줄어들게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모든 재산을 갖지만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향해 최소한의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blipFill>
                <a:blip r:embed="rId4"/>
                <a:stretch>
                  <a:fillRect l="-12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8AFA3CC-7FCA-D386-C47C-9705F04C5D6C}"/>
              </a:ext>
            </a:extLst>
          </p:cNvPr>
          <p:cNvSpPr txBox="1"/>
          <p:nvPr/>
        </p:nvSpPr>
        <p:spPr>
          <a:xfrm>
            <a:off x="6575369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정액 세액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42E206-F2B4-548F-C1B9-4FB8760D43FB}"/>
              </a:ext>
            </a:extLst>
          </p:cNvPr>
          <p:cNvSpPr txBox="1"/>
          <p:nvPr/>
        </p:nvSpPr>
        <p:spPr>
          <a:xfrm>
            <a:off x="885768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Ridge(L2)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재산 비례세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5199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8E01-DDF8-919E-8C0F-D554958E1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A8FCF61-7371-9B73-E714-4283C7AB1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Contour map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3DADE18-C221-6D25-3694-EA36DD68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절편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(intercept)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zero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하는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선형회귀식을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peanalty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계수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를 상수로 취급하여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2D contour map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sympy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모듈을 사용하여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시각화하라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2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12B8D6BF-0BC5-AF60-3FFC-1236A850E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679" y="2620912"/>
            <a:ext cx="8369801" cy="3665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02751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Geometry 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8508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78494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6476-D1BC-93EE-AD7F-698D18F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5E5055A-FEDA-CD90-6842-D10AD41D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CF6EC08-194F-8A13-AF31-10653A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9F7DB-E7BE-3414-0C44-424E16526041}"/>
              </a:ext>
            </a:extLst>
          </p:cNvPr>
          <p:cNvSpPr txBox="1"/>
          <p:nvPr/>
        </p:nvSpPr>
        <p:spPr>
          <a:xfrm>
            <a:off x="842210" y="1285138"/>
            <a:ext cx="10860262" cy="32251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선형모델</a:t>
            </a:r>
            <a:r>
              <a:rPr lang="en-US" altLang="ko-KR" dirty="0"/>
              <a:t>(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linear_model</a:t>
            </a:r>
            <a:r>
              <a:rPr lang="en-US" altLang="ko-KR" dirty="0"/>
              <a:t>)</a:t>
            </a:r>
            <a:r>
              <a:rPr lang="ko-KR" altLang="en-US" dirty="0"/>
              <a:t>의 수식</a:t>
            </a:r>
            <a:r>
              <a:rPr lang="en-US" altLang="ko-KR" dirty="0"/>
              <a:t>(L2 norm</a:t>
            </a:r>
            <a:r>
              <a:rPr lang="ko-KR" altLang="en-US" dirty="0"/>
              <a:t>을 제곱</a:t>
            </a:r>
            <a:r>
              <a:rPr lang="en-US" altLang="ko-KR" dirty="0"/>
              <a:t>)</a:t>
            </a:r>
            <a:r>
              <a:rPr lang="ko-KR" altLang="en-US" dirty="0"/>
              <a:t>에 대해 토론하라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선형회귀</a:t>
            </a:r>
            <a:r>
              <a:rPr lang="en-US" altLang="ko-KR" dirty="0"/>
              <a:t>, </a:t>
            </a:r>
            <a:r>
              <a:rPr lang="ko-KR" altLang="en-US" dirty="0"/>
              <a:t>기하학적</a:t>
            </a:r>
            <a:r>
              <a:rPr lang="en-US" altLang="ko-KR" dirty="0"/>
              <a:t> </a:t>
            </a:r>
            <a:r>
              <a:rPr lang="ko-KR" altLang="en-US" dirty="0"/>
              <a:t>투영</a:t>
            </a:r>
            <a:r>
              <a:rPr lang="en-US" altLang="ko-KR" dirty="0"/>
              <a:t>(projection), </a:t>
            </a:r>
            <a:r>
              <a:rPr lang="ko-KR" altLang="en-US" dirty="0"/>
              <a:t>미분</a:t>
            </a:r>
            <a:r>
              <a:rPr lang="en-US" altLang="ko-KR" dirty="0"/>
              <a:t>(derivative) </a:t>
            </a:r>
            <a:r>
              <a:rPr lang="ko-KR" altLang="en-US" dirty="0"/>
              <a:t>등 각각의 관점에 대해 토론하자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Task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Scikit-learn</a:t>
            </a:r>
            <a:r>
              <a:rPr lang="ko-KR" altLang="en-US" dirty="0"/>
              <a:t>의 </a:t>
            </a:r>
            <a:r>
              <a:rPr lang="en-US" altLang="ko-KR" dirty="0" err="1"/>
              <a:t>load_diabetes</a:t>
            </a:r>
            <a:r>
              <a:rPr lang="en-US" altLang="ko-KR" dirty="0"/>
              <a:t> </a:t>
            </a:r>
            <a:r>
              <a:rPr lang="ko-KR" altLang="en-US" dirty="0"/>
              <a:t>를 바탕으로 </a:t>
            </a:r>
            <a:r>
              <a:rPr lang="en-US" altLang="ko-KR" dirty="0" err="1"/>
              <a:t>train_test_split</a:t>
            </a:r>
            <a:r>
              <a:rPr lang="ko-KR" altLang="en-US" dirty="0"/>
              <a:t>를 통해 아래 </a:t>
            </a:r>
            <a:r>
              <a:rPr lang="en-US" altLang="ko-KR" dirty="0"/>
              <a:t>3</a:t>
            </a:r>
            <a:r>
              <a:rPr lang="ko-KR" altLang="en-US" dirty="0"/>
              <a:t>가지 방법으로 </a:t>
            </a:r>
            <a:r>
              <a:rPr lang="en-US" altLang="ko-KR" dirty="0"/>
              <a:t>parameters</a:t>
            </a:r>
            <a:r>
              <a:rPr lang="ko-KR" altLang="en-US" dirty="0"/>
              <a:t>를 구하고 각각 비교하라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from </a:t>
            </a:r>
            <a:r>
              <a:rPr lang="en-US" altLang="ko-KR" sz="1600" dirty="0" err="1"/>
              <a:t>sklearn.linear_model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LinearRegression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 </a:t>
            </a:r>
            <a:r>
              <a:rPr lang="en-US" altLang="ko-KR" sz="1600" dirty="0" err="1"/>
              <a:t>statsmodels.api</a:t>
            </a:r>
            <a:r>
              <a:rPr lang="en-US" altLang="ko-KR" sz="1600" dirty="0"/>
              <a:t> as </a:t>
            </a:r>
            <a:r>
              <a:rPr lang="en-US" altLang="ko-KR" sz="1600" dirty="0" err="1"/>
              <a:t>sm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</a:t>
            </a:r>
            <a:r>
              <a:rPr lang="ko-KR" altLang="en-US" sz="1600" dirty="0"/>
              <a:t> </a:t>
            </a:r>
            <a:r>
              <a:rPr lang="en-US" altLang="ko-KR" sz="1600" dirty="0" err="1"/>
              <a:t>numpy</a:t>
            </a:r>
            <a:r>
              <a:rPr lang="ko-KR" altLang="en-US" sz="1600" dirty="0"/>
              <a:t> </a:t>
            </a:r>
            <a:r>
              <a:rPr lang="en-US" altLang="ko-KR" sz="1600" dirty="0"/>
              <a:t>as</a:t>
            </a:r>
            <a:r>
              <a:rPr lang="ko-KR" altLang="en-US" sz="1600" dirty="0"/>
              <a:t> </a:t>
            </a:r>
            <a:r>
              <a:rPr lang="en-US" altLang="ko-KR" sz="1600" dirty="0"/>
              <a:t>np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0602C-5DA9-D570-FF09-907AA9270D7D}"/>
              </a:ext>
            </a:extLst>
          </p:cNvPr>
          <p:cNvSpPr txBox="1"/>
          <p:nvPr/>
        </p:nvSpPr>
        <p:spPr>
          <a:xfrm>
            <a:off x="4017505" y="5293023"/>
            <a:ext cx="3114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lectures/lecturenote08.html</a:t>
            </a:r>
            <a:endParaRPr lang="ko-KR" altLang="en-US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63E79C3-FF2D-57CF-E818-B8E082950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21" y="5164195"/>
            <a:ext cx="1557334" cy="4388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96029-D14D-AE60-8266-EDE56876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421" y="4311361"/>
            <a:ext cx="4114860" cy="43880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2D6C6-4F06-FD9A-0DC6-9F8423CA4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421" y="4725388"/>
            <a:ext cx="1996140" cy="438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D73F87-A17D-4F08-EFF8-EDD4E14B8474}"/>
              </a:ext>
            </a:extLst>
          </p:cNvPr>
          <p:cNvSpPr txBox="1"/>
          <p:nvPr/>
        </p:nvSpPr>
        <p:spPr>
          <a:xfrm>
            <a:off x="4017505" y="5760405"/>
            <a:ext cx="7294880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wiki/</a:t>
            </a:r>
            <a:r>
              <a:rPr lang="en-US" altLang="ko-KR" sz="1600" dirty="0" err="1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Linear_regression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귀식의 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formation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이해하자</a:t>
            </a:r>
            <a:endParaRPr lang="en-US" altLang="ko-KR" sz="1600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77401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F8B4-A99B-88EE-75C1-6CEF82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0521C8-7C2C-7319-FE80-5CB704F4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053BC1-A3BE-48A2-D122-B726B63A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22338-7AAF-EE81-32F5-A4761D443AA3}"/>
              </a:ext>
            </a:extLst>
          </p:cNvPr>
          <p:cNvSpPr txBox="1"/>
          <p:nvPr/>
        </p:nvSpPr>
        <p:spPr>
          <a:xfrm>
            <a:off x="1020158" y="1143755"/>
            <a:ext cx="10866889" cy="5401479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statsmodels.api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diabetes.data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diabetes.target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diabetes.feature_names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=0.2,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lr.fit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np.insert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_, 0,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lr.intercept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np.c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_[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np.ones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[0], 1)),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sm.OLS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).fit()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results.summary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xname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np.linalg.inv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({'Feature': 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정규 방정식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511E096-1FAC-C38C-D1F6-878AFA65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005" y="5666620"/>
            <a:ext cx="1557334" cy="43880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DACF2A-F3AC-276D-6B10-A239E42DF8EB}"/>
              </a:ext>
            </a:extLst>
          </p:cNvPr>
          <p:cNvSpPr/>
          <p:nvPr/>
        </p:nvSpPr>
        <p:spPr>
          <a:xfrm>
            <a:off x="666750" y="3895724"/>
            <a:ext cx="8610600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7A19D3-0152-5C07-0663-6AC650D0DAF9}"/>
              </a:ext>
            </a:extLst>
          </p:cNvPr>
          <p:cNvSpPr/>
          <p:nvPr/>
        </p:nvSpPr>
        <p:spPr>
          <a:xfrm>
            <a:off x="666750" y="4791074"/>
            <a:ext cx="8610600" cy="76643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85A64-1293-53D7-E18B-43F362D66343}"/>
              </a:ext>
            </a:extLst>
          </p:cNvPr>
          <p:cNvSpPr/>
          <p:nvPr/>
        </p:nvSpPr>
        <p:spPr>
          <a:xfrm>
            <a:off x="666750" y="5657095"/>
            <a:ext cx="8610600" cy="45785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ADA89B-7896-8D38-D27A-94A67FD3F725}"/>
              </a:ext>
            </a:extLst>
          </p:cNvPr>
          <p:cNvSpPr/>
          <p:nvPr/>
        </p:nvSpPr>
        <p:spPr>
          <a:xfrm>
            <a:off x="627380" y="1643723"/>
            <a:ext cx="8610600" cy="1954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A7B5E5-2514-7ABA-6369-6A0B0BF68B8F}"/>
              </a:ext>
            </a:extLst>
          </p:cNvPr>
          <p:cNvSpPr/>
          <p:nvPr/>
        </p:nvSpPr>
        <p:spPr>
          <a:xfrm>
            <a:off x="627380" y="1873740"/>
            <a:ext cx="8610600" cy="19547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46D3C9-B628-D706-7DA8-A1956DCD6FB3}"/>
              </a:ext>
            </a:extLst>
          </p:cNvPr>
          <p:cNvSpPr/>
          <p:nvPr/>
        </p:nvSpPr>
        <p:spPr>
          <a:xfrm>
            <a:off x="627380" y="2111113"/>
            <a:ext cx="8610600" cy="1954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A99CD8-83C9-9A44-E48F-1843A01A2F01}"/>
              </a:ext>
            </a:extLst>
          </p:cNvPr>
          <p:cNvSpPr txBox="1"/>
          <p:nvPr/>
        </p:nvSpPr>
        <p:spPr>
          <a:xfrm>
            <a:off x="9481005" y="4804961"/>
            <a:ext cx="21398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머신러닝은</a:t>
            </a:r>
            <a:r>
              <a:rPr lang="ko-KR" altLang="en-US" sz="1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예측이 목적이지 통계적 의미는 별 관심이 없음</a:t>
            </a:r>
          </a:p>
        </p:txBody>
      </p:sp>
    </p:spTree>
    <p:extLst>
      <p:ext uri="{BB962C8B-B14F-4D97-AF65-F5344CB8AC3E}">
        <p14:creationId xmlns:p14="http://schemas.microsoft.com/office/powerpoint/2010/main" val="132551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8" grpId="0" animBg="1"/>
      <p:bldP spid="20" grpId="0" animBg="1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EAF48-CF91-BC8C-4E43-2D99D841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4A99C4B-35A4-CBC3-4F03-3302D7D99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 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7E457C-FF07-663C-A79D-7D1DEEDB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C83025-B6A7-EBF2-E4F4-1FB0C4C4470A}"/>
              </a:ext>
            </a:extLst>
          </p:cNvPr>
          <p:cNvSpPr txBox="1"/>
          <p:nvPr/>
        </p:nvSpPr>
        <p:spPr>
          <a:xfrm>
            <a:off x="1137920" y="1605280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 learn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plot_ols_ridge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코드를 학습하고 이해하자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분산을 줄이는 대신 약간의 편향을 허용하는 모델인데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Why?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 descr="ridge">
            <a:extLst>
              <a:ext uri="{FF2B5EF4-FFF2-40B4-BE49-F238E27FC236}">
                <a16:creationId xmlns:a16="http://schemas.microsoft.com/office/drawing/2014/main" id="{05B253A6-7236-2427-CE38-DAC9004E7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325230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ols">
            <a:extLst>
              <a:ext uri="{FF2B5EF4-FFF2-40B4-BE49-F238E27FC236}">
                <a16:creationId xmlns:a16="http://schemas.microsoft.com/office/drawing/2014/main" id="{46F56E10-51C5-6931-4EEC-10F17AA38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9720" y="326119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81912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5FDB-3663-640C-7B6F-F8058987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126342-5B6E-FEAA-E536-2DCC8EC92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836632-3677-3ED3-5ACB-AC1C2DB4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97211-75CE-AC14-08DC-37F4B2017B48}"/>
              </a:ext>
            </a:extLst>
          </p:cNvPr>
          <p:cNvSpPr txBox="1"/>
          <p:nvPr/>
        </p:nvSpPr>
        <p:spPr>
          <a:xfrm>
            <a:off x="1026160" y="1123277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분산에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bias-variance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클릭하여 학습하자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의사결정나무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KNN,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어떤 경우에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C1D491-6AE1-B98D-7FC9-7E42BE3B01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930" y="2293320"/>
            <a:ext cx="4105910" cy="405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10BB7-1E11-FECA-F32E-1CAE70D863A1}"/>
              </a:ext>
            </a:extLst>
          </p:cNvPr>
          <p:cNvSpPr txBox="1"/>
          <p:nvPr/>
        </p:nvSpPr>
        <p:spPr>
          <a:xfrm>
            <a:off x="1117600" y="6350058"/>
            <a:ext cx="3698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dirty="0"/>
              <a:t>http://scott.fortmann-roe.com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8BEBF6-4E13-AA48-3986-AB4544BAAD86}"/>
              </a:ext>
            </a:extLst>
          </p:cNvPr>
          <p:cNvSpPr txBox="1"/>
          <p:nvPr/>
        </p:nvSpPr>
        <p:spPr>
          <a:xfrm>
            <a:off x="5862320" y="2949258"/>
            <a:ext cx="6096000" cy="2116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(Bias)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예측모델의 평균 기대 값과 실제 값의 차이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예측모델의 평균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기대값의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퍼짐 정도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ED22D8C-6771-FA4F-3CD7-9C964D6E8D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3668089"/>
            <a:ext cx="3368332" cy="4801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F4B57C-D498-1569-CFA8-4CA226EA647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5284002"/>
            <a:ext cx="3490262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1A8A-E315-6EA8-9513-BE13C8935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07DCD7-6836-45E1-63C8-84805F93B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C4DB566-F3E7-60E5-31E8-16C2DFDC5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30EF0-398C-A4B5-3F85-2531A357D0C9}"/>
              </a:ext>
            </a:extLst>
          </p:cNvPr>
          <p:cNvSpPr txBox="1"/>
          <p:nvPr/>
        </p:nvSpPr>
        <p:spPr>
          <a:xfrm>
            <a:off x="842210" y="1285138"/>
            <a:ext cx="10860262" cy="958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못 맞추고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High Bias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예민해지는데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High Variance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EC8D13B-DD6E-5D1B-D754-E8E90C9A1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300" y="2622964"/>
            <a:ext cx="9144000" cy="36563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E90577-A317-9B20-749E-1EF3C1B3B4B3}"/>
              </a:ext>
            </a:extLst>
          </p:cNvPr>
          <p:cNvSpPr txBox="1"/>
          <p:nvPr/>
        </p:nvSpPr>
        <p:spPr>
          <a:xfrm>
            <a:off x="4133850" y="3872984"/>
            <a:ext cx="1400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High Bias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A9F1CD-587A-B1F6-6583-8177B45A4D8B}"/>
              </a:ext>
            </a:extLst>
          </p:cNvPr>
          <p:cNvSpPr txBox="1"/>
          <p:nvPr/>
        </p:nvSpPr>
        <p:spPr>
          <a:xfrm>
            <a:off x="8523740" y="4949309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High Variance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206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55894-B244-86AB-3405-C0A715796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5B674FB-8084-B789-406E-EBF761FBE1B8}"/>
              </a:ext>
            </a:extLst>
          </p:cNvPr>
          <p:cNvSpPr/>
          <p:nvPr/>
        </p:nvSpPr>
        <p:spPr>
          <a:xfrm>
            <a:off x="1104901" y="44323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4609125-735A-366E-024A-14F7D86C39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6D7351B-22C0-417B-73E5-0CB5E8A9AE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528394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528244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25990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521A-B01B-FF2E-FACB-441C57859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456858D-67E0-A8F4-729F-A1E3789BF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6B8D633-2C7C-F8E0-6516-FABE7D7B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C997C98-B8D3-098E-BC84-FFD20EF1C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1714500"/>
            <a:ext cx="6096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15DA4A-456C-CBBA-4E0E-3B57A345BCBC}"/>
              </a:ext>
            </a:extLst>
          </p:cNvPr>
          <p:cNvSpPr txBox="1"/>
          <p:nvPr/>
        </p:nvSpPr>
        <p:spPr>
          <a:xfrm>
            <a:off x="915383" y="1219200"/>
            <a:ext cx="3975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scripts/</a:t>
            </a:r>
            <a:r>
              <a:rPr lang="en-US" altLang="ko-KR" dirty="0" err="1">
                <a:hlinkClick r:id="rId3"/>
              </a:rPr>
              <a:t>montecarlo_method.ipynb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AE53D0-3F30-C4A3-1C46-D2F463AB817D}"/>
              </a:ext>
            </a:extLst>
          </p:cNvPr>
          <p:cNvSpPr txBox="1"/>
          <p:nvPr/>
        </p:nvSpPr>
        <p:spPr>
          <a:xfrm>
            <a:off x="7305675" y="2256622"/>
            <a:ext cx="4800600" cy="1728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dirty="0">
                <a:hlinkClick r:id="rId4" tooltip="Computation"/>
              </a:rPr>
              <a:t>computational</a:t>
            </a:r>
            <a:r>
              <a:rPr lang="en-US" altLang="ko-KR" dirty="0"/>
              <a:t> </a:t>
            </a:r>
            <a:r>
              <a:rPr lang="en-US" altLang="ko-KR" dirty="0">
                <a:hlinkClick r:id="rId5" tooltip="Algorithm"/>
              </a:rPr>
              <a:t>algorithms</a:t>
            </a:r>
            <a:r>
              <a:rPr lang="en-US" altLang="ko-KR" dirty="0"/>
              <a:t> 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based on </a:t>
            </a:r>
            <a:r>
              <a:rPr lang="en-US" altLang="ko-KR" sz="2000" b="1" dirty="0">
                <a:solidFill>
                  <a:srgbClr val="FF0000"/>
                </a:solidFill>
                <a:hlinkClick r:id="rId6" tooltip="Resampling (statis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repeated</a:t>
            </a:r>
            <a:r>
              <a:rPr lang="en-US" altLang="ko-KR" sz="2000" b="1" dirty="0">
                <a:solidFill>
                  <a:srgbClr val="FF0000"/>
                </a:solidFill>
              </a:rPr>
              <a:t> </a:t>
            </a:r>
            <a:r>
              <a:rPr lang="en-US" altLang="ko-KR" sz="2000" b="1" dirty="0">
                <a:solidFill>
                  <a:srgbClr val="FF0000"/>
                </a:solidFill>
                <a:hlinkClick r:id="rId7" tooltip="Random sampl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sampling</a:t>
            </a:r>
            <a:r>
              <a:rPr lang="en-US" altLang="ko-KR" sz="2000" b="1" dirty="0">
                <a:solidFill>
                  <a:srgbClr val="FF0000"/>
                </a:solidFill>
              </a:rPr>
              <a:t> </a:t>
            </a:r>
          </a:p>
          <a:p>
            <a:pPr>
              <a:lnSpc>
                <a:spcPct val="200000"/>
              </a:lnSpc>
            </a:pPr>
            <a:r>
              <a:rPr lang="en-US" altLang="ko-KR" dirty="0"/>
              <a:t>for obtaining numerical results.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5106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E254081-038C-0151-1EAC-C8D3FE509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608" y="1261578"/>
            <a:ext cx="10962783" cy="4348647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수많은 무작위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(Random)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숫자를 대입해 보면서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발생할 수 있는 복잡한 결과의 확률적 분포를 알아내는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 공식이나 방정식으로 명확한 답을 내리기 어려울 정도로 불확실성이 크거나 변수가 많을 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컴퓨터에게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주사위를 수만 번 던지게 해서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통계적인 결과로 정답을 찾아가는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아주 똑똑한 노가다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(Brute Force Algorithm)</a:t>
            </a: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en-US" altLang="ko-KR" b="1" dirty="0"/>
              <a:t>Monte Carlo methods</a:t>
            </a:r>
            <a:r>
              <a:rPr lang="en-US" altLang="ko-KR" dirty="0"/>
              <a:t>, also called the </a:t>
            </a:r>
            <a:r>
              <a:rPr lang="en-US" altLang="ko-KR" b="1" dirty="0"/>
              <a:t>Monte Carlo experiments</a:t>
            </a:r>
            <a:r>
              <a:rPr lang="en-US" altLang="ko-KR" dirty="0"/>
              <a:t> or </a:t>
            </a:r>
            <a:r>
              <a:rPr lang="en-US" altLang="ko-KR" b="1" dirty="0"/>
              <a:t>Monte Carlo simulations</a:t>
            </a:r>
            <a:r>
              <a:rPr lang="en-US" altLang="ko-KR" dirty="0"/>
              <a:t>, are a broad class of </a:t>
            </a:r>
            <a:r>
              <a:rPr lang="en-US" altLang="ko-KR" dirty="0">
                <a:hlinkClick r:id="rId2" tooltip="Computation"/>
              </a:rPr>
              <a:t>computational</a:t>
            </a:r>
            <a:r>
              <a:rPr lang="en-US" altLang="ko-KR" dirty="0"/>
              <a:t> </a:t>
            </a:r>
            <a:r>
              <a:rPr lang="en-US" altLang="ko-KR" dirty="0">
                <a:hlinkClick r:id="rId3" tooltip="Algorithm"/>
              </a:rPr>
              <a:t>algorithms</a:t>
            </a:r>
            <a:r>
              <a:rPr lang="en-US" altLang="ko-KR" dirty="0"/>
              <a:t> based on </a:t>
            </a:r>
            <a:r>
              <a:rPr lang="en-US" altLang="ko-KR" sz="2200" b="1" dirty="0">
                <a:solidFill>
                  <a:srgbClr val="FF0000"/>
                </a:solidFill>
                <a:hlinkClick r:id="rId4" tooltip="Resampling (statis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repeated</a:t>
            </a:r>
            <a:r>
              <a:rPr lang="en-US" altLang="ko-KR" sz="2200" b="1" dirty="0">
                <a:solidFill>
                  <a:srgbClr val="FF0000"/>
                </a:solidFill>
              </a:rPr>
              <a:t> </a:t>
            </a:r>
            <a:r>
              <a:rPr lang="en-US" altLang="ko-KR" sz="2200" b="1" dirty="0">
                <a:solidFill>
                  <a:srgbClr val="FF0000"/>
                </a:solidFill>
                <a:hlinkClick r:id="rId5" tooltip="Random sampl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sampling</a:t>
            </a:r>
            <a:r>
              <a:rPr lang="en-US" altLang="ko-KR" sz="2200" b="1" dirty="0">
                <a:solidFill>
                  <a:srgbClr val="FF0000"/>
                </a:solidFill>
              </a:rPr>
              <a:t> </a:t>
            </a:r>
            <a:r>
              <a:rPr lang="en-US" altLang="ko-KR" dirty="0"/>
              <a:t>for obtaining numerical results. The underlying concept is to use </a:t>
            </a:r>
            <a:r>
              <a:rPr lang="en-US" altLang="ko-KR" dirty="0">
                <a:hlinkClick r:id="rId6" tooltip="Randomness"/>
              </a:rPr>
              <a:t>randomness</a:t>
            </a:r>
            <a:r>
              <a:rPr lang="en-US" altLang="ko-KR" dirty="0"/>
              <a:t> to solve </a:t>
            </a:r>
            <a:r>
              <a:rPr lang="en-US" altLang="ko-KR" dirty="0">
                <a:hlinkClick r:id="rId7" tooltip="Deterministic system"/>
              </a:rPr>
              <a:t>deterministic</a:t>
            </a:r>
            <a:r>
              <a:rPr lang="en-US" altLang="ko-KR" dirty="0"/>
              <a:t> problems.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(Wikipedia)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6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6757-A0EA-711D-A697-8F6124A1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D4929C2-0AB6-4650-74DF-6DB99B74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BB2D0-6737-1F36-562E-2C493D60A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DE096E-41CF-DF10-C586-715EC0041847}"/>
              </a:ext>
            </a:extLst>
          </p:cNvPr>
          <p:cNvSpPr txBox="1"/>
          <p:nvPr/>
        </p:nvSpPr>
        <p:spPr>
          <a:xfrm>
            <a:off x="1000973" y="2857035"/>
            <a:ext cx="5571278" cy="3539430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wait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15, sims)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mean_wait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prob_10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 &gt;= 10)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=(8,5))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(wait, bins=30, density=True,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color='red')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("Bus Waiting Time Distribution")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plt.xlabel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("Waiting Time (minutes)")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plt.ylabel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("Density")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통학 버스가 정확히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간격으로 도착할 경우 임의의 시간에 정류장에 도착한다고 가정하면 평균 기다리는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/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10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이상 기다리는 확률을 구하라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FBC77F-810C-1744-F332-509C62D6F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870559"/>
              </a:xfrm>
              <a:prstGeom prst="rect">
                <a:avLst/>
              </a:prstGeom>
              <a:blipFill>
                <a:blip r:embed="rId2"/>
                <a:stretch>
                  <a:fillRect l="-45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/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𝑊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∼ Uniform(0, 15)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C1C48-CC51-1AC4-930A-14868A389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264" y="2256870"/>
                <a:ext cx="3018577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AA5D543-61FF-2B27-FF4C-3883A9FFB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4175" y="2853437"/>
            <a:ext cx="5271491" cy="3539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6296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26289-E7C5-E8B2-31C5-301C7990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8D61ACC-6369-6D07-77DA-84CE632EF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E6A6FF1-7C31-76DB-57B6-9F2389E37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18DAFA-1122-758D-18C0-C17DD9ED4073}"/>
              </a:ext>
            </a:extLst>
          </p:cNvPr>
          <p:cNvSpPr txBox="1"/>
          <p:nvPr/>
        </p:nvSpPr>
        <p:spPr>
          <a:xfrm>
            <a:off x="1000973" y="2857035"/>
            <a:ext cx="5571278" cy="310854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sims = 1000000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5, sims)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6, sims)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duration = A + B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plt.hist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duration,density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True,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edgecolor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='white')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plt.axvline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(9, color='r')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print((duration &gt; 9).sum()/sims)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1ACD6A-9A84-FDF9-6B81-FD4FE0EE195D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균등분포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(Uniform Distribution)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합의 확률 분석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어떤 작업은 두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이루어지는데 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1~5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단계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소요시간은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2~6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사이에서 각각 균등하게 발생할 경우 전체 작업 시간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 이상일 확률을 구하라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1ACD6A-9A84-FDF9-6B81-FD4FE0EE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1286058"/>
              </a:xfrm>
              <a:prstGeom prst="rect">
                <a:avLst/>
              </a:prstGeom>
              <a:blipFill>
                <a:blip r:embed="rId2"/>
                <a:stretch>
                  <a:fillRect l="-450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A96C89DA-F251-A96D-2175-7F13E49F8E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3152" y="2857035"/>
            <a:ext cx="4184867" cy="3108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69108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371AE-A305-E146-7873-AFB6589C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C26F222-72AF-FDC5-8B60-5BA9D362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F3E82D9-4F61-E75C-27B9-5BE961C27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7391454-8B09-622C-E59D-96B0DF5D4298}"/>
              </a:ext>
            </a:extLst>
          </p:cNvPr>
          <p:cNvGraphicFramePr>
            <a:graphicFrameLocks noGrp="1"/>
          </p:cNvGraphicFramePr>
          <p:nvPr/>
        </p:nvGraphicFramePr>
        <p:xfrm>
          <a:off x="1060449" y="2026038"/>
          <a:ext cx="2844804" cy="238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4134">
                  <a:extLst>
                    <a:ext uri="{9D8B030D-6E8A-4147-A177-3AD203B41FA5}">
                      <a16:colId xmlns:a16="http://schemas.microsoft.com/office/drawing/2014/main" val="1464939122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622014842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86541205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698163927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3034248227"/>
                    </a:ext>
                  </a:extLst>
                </a:gridCol>
                <a:gridCol w="474134">
                  <a:extLst>
                    <a:ext uri="{9D8B030D-6E8A-4147-A177-3AD203B41FA5}">
                      <a16:colId xmlns:a16="http://schemas.microsoft.com/office/drawing/2014/main" val="1182341501"/>
                    </a:ext>
                  </a:extLst>
                </a:gridCol>
              </a:tblGrid>
              <a:tr h="39788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105601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182599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154359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031032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10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570330"/>
                  </a:ext>
                </a:extLst>
              </a:tr>
              <a:tr h="397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highlight>
                            <a:srgbClr val="0000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11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highlight>
                          <a:srgbClr val="0000FF"/>
                        </a:highlight>
                        <a:latin typeface="D2Coding" panose="020B0609020101020101" pitchFamily="49" charset="-127"/>
                        <a:ea typeface="D2Coding" panose="020B0609020101020101" pitchFamily="49" charset="-127"/>
                        <a:cs typeface="맑은 고딕 Semilight" panose="020B0502040204020203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9261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C85782-433C-A624-77C5-1952CAF0286B}"/>
                  </a:ext>
                </a:extLst>
              </p:cNvPr>
              <p:cNvSpPr txBox="1"/>
              <p:nvPr/>
            </p:nvSpPr>
            <p:spPr>
              <a:xfrm>
                <a:off x="915383" y="1238250"/>
                <a:ext cx="10828942" cy="455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확률변수의 합의 확률변수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합성곱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(convolution)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CNN(Convolutional Neural Network)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C85782-433C-A624-77C5-1952CAF02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1238250"/>
                <a:ext cx="10828942" cy="455061"/>
              </a:xfrm>
              <a:prstGeom prst="rect">
                <a:avLst/>
              </a:prstGeom>
              <a:blipFill>
                <a:blip r:embed="rId2"/>
                <a:stretch>
                  <a:fillRect b="-21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그림 16">
            <a:extLst>
              <a:ext uri="{FF2B5EF4-FFF2-40B4-BE49-F238E27FC236}">
                <a16:creationId xmlns:a16="http://schemas.microsoft.com/office/drawing/2014/main" id="{4F8EFD58-27C5-1565-14B7-0184A66FE64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06266" y="1975168"/>
            <a:ext cx="3866260" cy="470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2551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F9BBC-013A-5D6B-9809-C5DDEF5B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0321A05-D855-CE61-06A6-C7F6EFB6463C}"/>
              </a:ext>
            </a:extLst>
          </p:cNvPr>
          <p:cNvCxnSpPr/>
          <p:nvPr/>
        </p:nvCxnSpPr>
        <p:spPr>
          <a:xfrm>
            <a:off x="5057775" y="3076575"/>
            <a:ext cx="39909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제목 1">
            <a:extLst>
              <a:ext uri="{FF2B5EF4-FFF2-40B4-BE49-F238E27FC236}">
                <a16:creationId xmlns:a16="http://schemas.microsoft.com/office/drawing/2014/main" id="{B6D0278B-C871-6F1C-F2ED-8DC9F21F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4F600C5-080A-9972-A8A0-E9B40F0FB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22C13-FD7E-9828-C69A-FFFC61A44B86}"/>
              </a:ext>
            </a:extLst>
          </p:cNvPr>
          <p:cNvSpPr txBox="1"/>
          <p:nvPr/>
        </p:nvSpPr>
        <p:spPr>
          <a:xfrm>
            <a:off x="915383" y="1238250"/>
            <a:ext cx="3361342" cy="455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solidFill>
                  <a:srgbClr val="FFFF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Image_representation.ipynb</a:t>
            </a:r>
            <a:endParaRPr lang="ko-KR" altLang="en-US" dirty="0">
              <a:solidFill>
                <a:srgbClr val="FFFF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5F7E36-85A9-960E-11A7-BA3CA501A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385" y="1861559"/>
            <a:ext cx="1778830" cy="187943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4D23789-463A-057F-8DB7-DBC853881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646" y="1861559"/>
            <a:ext cx="1778831" cy="187943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58CF572-A9CA-2574-258C-F5DF5BD66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1908" y="1861559"/>
            <a:ext cx="1778831" cy="18794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4A6F06-80E2-6302-BC79-973DA112F75D}"/>
              </a:ext>
            </a:extLst>
          </p:cNvPr>
          <p:cNvSpPr txBox="1"/>
          <p:nvPr/>
        </p:nvSpPr>
        <p:spPr>
          <a:xfrm>
            <a:off x="1002348" y="4019550"/>
            <a:ext cx="159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FF00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conv-kernels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FFA08F-367B-42D4-C78D-93FF5AE962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7385" y="4429125"/>
            <a:ext cx="4509290" cy="20910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18F16BA-8F7F-8799-CE1D-C125934983C7}"/>
              </a:ext>
            </a:extLst>
          </p:cNvPr>
          <p:cNvSpPr txBox="1"/>
          <p:nvPr/>
        </p:nvSpPr>
        <p:spPr>
          <a:xfrm>
            <a:off x="4885938" y="2647386"/>
            <a:ext cx="1208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convolution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624088-690D-FAE1-A189-A08F769286F6}"/>
              </a:ext>
            </a:extLst>
          </p:cNvPr>
          <p:cNvSpPr txBox="1"/>
          <p:nvPr/>
        </p:nvSpPr>
        <p:spPr>
          <a:xfrm>
            <a:off x="8354320" y="2647386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pooling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79784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BC28-E343-3EC9-71CA-AB663FCF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A8C696-895D-C6E6-C9DA-9817BB98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E0D118D-6E80-4688-6D49-D2D08A8D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09579038-E13D-D991-40D1-55EA84023D52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B6EF399-39DC-FDA3-9D9A-860347DEA39F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76968DB-6CB1-FCCB-4542-56E86B63398F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752005EC-171E-A258-B6A3-337E6C4D4009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0B46FFD-A1C4-3EF1-AA5F-BA30250E559F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D498B4-E8BE-C00F-62B5-AD3BC19E47AF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18653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pic>
        <p:nvPicPr>
          <p:cNvPr id="5122" name="Picture 2" descr="undefined">
            <a:extLst>
              <a:ext uri="{FF2B5EF4-FFF2-40B4-BE49-F238E27FC236}">
                <a16:creationId xmlns:a16="http://schemas.microsoft.com/office/drawing/2014/main" id="{599656F1-1AE4-0E0A-C4A6-9536C9F1BA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6963" y="1412997"/>
            <a:ext cx="4090987" cy="483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B1A1-2F32-AFF2-8AD4-5F61A810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F1C0053-34DC-C83A-5E7B-3C793C7A8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4C7C5E6-E407-DFBA-6AA8-82665258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06050766-8508-04E0-2D82-0BC2E51CC4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9C63E928-990D-DF12-476C-86ABF649F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8F465B-65F1-380F-A7B2-1E92437D0265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37714939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2D351-4F95-8CB3-E3DC-0CB603FD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C4704FD-8D1A-A10A-C2D7-B9FD61056BCF}"/>
              </a:ext>
            </a:extLst>
          </p:cNvPr>
          <p:cNvSpPr/>
          <p:nvPr/>
        </p:nvSpPr>
        <p:spPr>
          <a:xfrm>
            <a:off x="1104901" y="55849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E7BBF12-83A4-8489-DAF3-9DA9CEC8B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68492-5DBD-D4F8-ED35-CFBD898339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528394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What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>
                <a:solidFill>
                  <a:schemeClr val="tx1"/>
                </a:solidFill>
              </a:rPr>
              <a:t>is Modeling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Derivative with Python</a:t>
            </a:r>
            <a:r>
              <a:rPr lang="ko-KR" altLang="en-US" cap="none" dirty="0">
                <a:solidFill>
                  <a:schemeClr val="tx1"/>
                </a:solidFill>
              </a:rPr>
              <a:t> </a:t>
            </a:r>
            <a:r>
              <a:rPr lang="en-US" altLang="ko-KR" cap="none" dirty="0" err="1">
                <a:solidFill>
                  <a:schemeClr val="tx1"/>
                </a:solidFill>
              </a:rPr>
              <a:t>sympy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Optimization with L1, L2 Penalty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Montecarlo simulation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</a:rPr>
              <a:t>Random walk simulation</a:t>
            </a:r>
            <a:endParaRPr lang="en-US" altLang="ko-KR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16791524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4607</TotalTime>
  <Words>4097</Words>
  <Application>Microsoft Office PowerPoint</Application>
  <PresentationFormat>와이드스크린</PresentationFormat>
  <Paragraphs>544</Paragraphs>
  <Slides>51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60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</vt:lpstr>
      <vt:lpstr>Contents</vt:lpstr>
      <vt:lpstr>Modeling</vt:lpstr>
      <vt:lpstr>Contents</vt:lpstr>
      <vt:lpstr>Derivative</vt:lpstr>
      <vt:lpstr>Derivative</vt:lpstr>
      <vt:lpstr>python sympy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Linear Regression with Optimization</vt:lpstr>
      <vt:lpstr>Optimization of Loss Function(L1, L2)</vt:lpstr>
      <vt:lpstr>Optimization of Loss Function(L1, L2)</vt:lpstr>
      <vt:lpstr>coefficients of L1, L2 regression</vt:lpstr>
      <vt:lpstr>Derivatives of L1, L2 Loss Function</vt:lpstr>
      <vt:lpstr>Metaphor of L1, L2 Loss Function</vt:lpstr>
      <vt:lpstr>Contour map of L1, L2</vt:lpstr>
      <vt:lpstr>Geometry metaphor of L1, L2</vt:lpstr>
      <vt:lpstr>Optimization task of L1, L2</vt:lpstr>
      <vt:lpstr>Optimization of Loss Function</vt:lpstr>
      <vt:lpstr>Ridge linear regression</vt:lpstr>
      <vt:lpstr>bias-variance tradeoff</vt:lpstr>
      <vt:lpstr>bias-variance tradeoff</vt:lpstr>
      <vt:lpstr>Contents</vt:lpstr>
      <vt:lpstr>Simulation</vt:lpstr>
      <vt:lpstr>Montecarlo Simulation</vt:lpstr>
      <vt:lpstr>Montecarlo Simulation</vt:lpstr>
      <vt:lpstr>Simulation</vt:lpstr>
      <vt:lpstr>Simulation</vt:lpstr>
      <vt:lpstr>Simulation</vt:lpstr>
      <vt:lpstr>Image Representation</vt:lpstr>
      <vt:lpstr>Simulation</vt:lpstr>
      <vt:lpstr>Simulation</vt:lpstr>
      <vt:lpstr>Simulation</vt:lpstr>
      <vt:lpstr>Simulation</vt:lpstr>
      <vt:lpstr>Contents</vt:lpstr>
      <vt:lpstr>Random walk simulation</vt:lpstr>
      <vt:lpstr>Random walk simulation</vt:lpstr>
      <vt:lpstr>Random walk simulation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61</cp:revision>
  <dcterms:created xsi:type="dcterms:W3CDTF">2026-04-11T22:24:40Z</dcterms:created>
  <dcterms:modified xsi:type="dcterms:W3CDTF">2026-06-05T19:27:44Z</dcterms:modified>
</cp:coreProperties>
</file>