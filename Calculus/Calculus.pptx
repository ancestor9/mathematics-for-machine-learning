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37"/>
  </p:notesMasterIdLst>
  <p:sldIdLst>
    <p:sldId id="256" r:id="rId2"/>
    <p:sldId id="274" r:id="rId3"/>
    <p:sldId id="257" r:id="rId4"/>
    <p:sldId id="303" r:id="rId5"/>
    <p:sldId id="260" r:id="rId6"/>
    <p:sldId id="265" r:id="rId7"/>
    <p:sldId id="304" r:id="rId8"/>
    <p:sldId id="259" r:id="rId9"/>
    <p:sldId id="268" r:id="rId10"/>
    <p:sldId id="284" r:id="rId11"/>
    <p:sldId id="287" r:id="rId12"/>
    <p:sldId id="286" r:id="rId13"/>
    <p:sldId id="266" r:id="rId14"/>
    <p:sldId id="288" r:id="rId15"/>
    <p:sldId id="305" r:id="rId16"/>
    <p:sldId id="267" r:id="rId17"/>
    <p:sldId id="285" r:id="rId18"/>
    <p:sldId id="272" r:id="rId19"/>
    <p:sldId id="273" r:id="rId20"/>
    <p:sldId id="306" r:id="rId21"/>
    <p:sldId id="269" r:id="rId22"/>
    <p:sldId id="289" r:id="rId23"/>
    <p:sldId id="290" r:id="rId24"/>
    <p:sldId id="291" r:id="rId25"/>
    <p:sldId id="292" r:id="rId26"/>
    <p:sldId id="293" r:id="rId27"/>
    <p:sldId id="294" r:id="rId28"/>
    <p:sldId id="295" r:id="rId29"/>
    <p:sldId id="296" r:id="rId30"/>
    <p:sldId id="297" r:id="rId31"/>
    <p:sldId id="298" r:id="rId32"/>
    <p:sldId id="301" r:id="rId33"/>
    <p:sldId id="299" r:id="rId34"/>
    <p:sldId id="300" r:id="rId35"/>
    <p:sldId id="302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2026-05-06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mathematics-for-machine-learning/blob/main/Calculus/w2/data/prices.csv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ithub.com/ancestor9/mathematics-for-machine-learning/blob/main/Calculus/w2/C2_W1_Assignment.ipynb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github.com/ancestor9/mathematics-for-machine-learning/blob/main/scripts/Random_Walk_Simulation.ipyn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plus.maths.org/mathematical-dating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ko.wikipedia.org/wiki/%EB%AA%AC%ED%8B%B0_%ED%99%80_%EB%AC%B8%EC%A0%9C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oodruff.dev/wp-content/uploads/2025/09/Best-Practices-for-Tuning-Genetic-Algorithm-Parameters.png" TargetMode="External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1362075"/>
          </a:xfrm>
        </p:spPr>
        <p:txBody>
          <a:bodyPr/>
          <a:lstStyle/>
          <a:p>
            <a:r>
              <a:rPr lang="en-US" altLang="ko-KR" dirty="0"/>
              <a:t>Calculus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22A912-C269-5DE4-418A-0B0B11B2D1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2998290"/>
            <a:ext cx="8825658" cy="861420"/>
          </a:xfrm>
        </p:spPr>
        <p:txBody>
          <a:bodyPr>
            <a:normAutofit/>
          </a:bodyPr>
          <a:lstStyle/>
          <a:p>
            <a:r>
              <a:rPr lang="en-US" altLang="ko-KR" sz="2800" cap="none" dirty="0"/>
              <a:t>Modeling and simulation</a:t>
            </a:r>
            <a:endParaRPr lang="ko-KR" altLang="en-US" sz="2800" cap="none" dirty="0"/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44609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800" cap="none" dirty="0"/>
              <a:t>2026 Spring</a:t>
            </a:r>
          </a:p>
          <a:p>
            <a:r>
              <a:rPr lang="ko-KR" altLang="en-US" sz="2200" cap="none" dirty="0" err="1"/>
              <a:t>조상구교수</a:t>
            </a:r>
            <a:endParaRPr lang="ko-KR" altLang="en-US" sz="28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77253-55D9-C5A4-DDCA-2C64C197D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729BEC0-2EC4-2A16-AF3A-F5E8C4679D53}"/>
              </a:ext>
            </a:extLst>
          </p:cNvPr>
          <p:cNvSpPr/>
          <p:nvPr/>
        </p:nvSpPr>
        <p:spPr>
          <a:xfrm>
            <a:off x="612030" y="1960065"/>
            <a:ext cx="10351245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C5E9264-71FE-D065-0983-B32E54057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4DBA114-17ED-5D92-F01E-E672ACB5D2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What</a:t>
            </a:r>
            <a:r>
              <a:rPr lang="ko-KR" altLang="en-US" sz="2400" cap="none" dirty="0"/>
              <a:t> </a:t>
            </a:r>
            <a:r>
              <a:rPr lang="en-US" altLang="ko-KR" sz="2400" cap="none" dirty="0"/>
              <a:t>is Modeling?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Python</a:t>
            </a:r>
            <a:r>
              <a:rPr lang="ko-KR" altLang="en-US" sz="2400" cap="none" dirty="0"/>
              <a:t> </a:t>
            </a:r>
            <a:r>
              <a:rPr lang="en-US" altLang="ko-KR" sz="2400" cap="none" dirty="0" err="1"/>
              <a:t>sympy</a:t>
            </a: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Simulation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550686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84FF29-4B25-404E-81DC-1CCAE143C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3554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세계의 현상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시스템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사물 등을 일정한 규칙이나 관점에 따라 </a:t>
            </a:r>
            <a:r>
              <a:rPr lang="ko-KR" altLang="en-US" sz="18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추상화하여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단순한 형태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표현하는 과정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단순화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미래에 대한 결과를 논리적으로 추정하는 행위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통계적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시뮬레이션 및 테스트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수학적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데이터베이스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(ERD)……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960D66E-6DAA-C869-2E3C-06CF487E3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230" y="3194913"/>
            <a:ext cx="4608512" cy="302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26D14F0A-2182-0C24-04C8-A2858EE5C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0C3A8B-E6BF-2A69-18BA-06D331E7D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758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5087-E41C-8A71-61A5-59FEBEB47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FCF7855-8455-07D4-C58F-7C5B2F50ABD7}"/>
              </a:ext>
            </a:extLst>
          </p:cNvPr>
          <p:cNvSpPr/>
          <p:nvPr/>
        </p:nvSpPr>
        <p:spPr>
          <a:xfrm>
            <a:off x="612030" y="2502990"/>
            <a:ext cx="10351245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3F6958D-8AD6-474A-1C73-9EE71FFD6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54D6687-ED58-E061-9923-E03D9877FB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What</a:t>
            </a:r>
            <a:r>
              <a:rPr lang="ko-KR" altLang="en-US" sz="2400" cap="none" dirty="0"/>
              <a:t> </a:t>
            </a:r>
            <a:r>
              <a:rPr lang="en-US" altLang="ko-KR" sz="2400" cap="none" dirty="0"/>
              <a:t>is Modeling?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Python</a:t>
            </a:r>
            <a:r>
              <a:rPr lang="ko-KR" altLang="en-US" sz="2400" cap="none" dirty="0"/>
              <a:t> </a:t>
            </a:r>
            <a:r>
              <a:rPr lang="en-US" altLang="ko-KR" sz="2400" cap="none" dirty="0" err="1"/>
              <a:t>sympy</a:t>
            </a: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Simulation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4198032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DDCFB-7AB3-D3D2-F2B2-E0D460FAB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2A0FD5B-2339-E38C-4A56-DE98C9747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955642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dirty="0" err="1"/>
              <a:t>sympy</a:t>
            </a:r>
            <a:r>
              <a:rPr lang="ko-KR" altLang="en-US" dirty="0"/>
              <a:t>는 </a:t>
            </a:r>
            <a:r>
              <a:rPr lang="ko-KR" altLang="en-US" dirty="0" err="1"/>
              <a:t>파이썬에서</a:t>
            </a:r>
            <a:r>
              <a:rPr lang="ko-KR" altLang="en-US" dirty="0"/>
              <a:t> 사용 가능한 대수</a:t>
            </a:r>
            <a:r>
              <a:rPr lang="en-US" altLang="ko-KR" dirty="0"/>
              <a:t>(algebra)</a:t>
            </a:r>
            <a:r>
              <a:rPr lang="ko-KR" altLang="en-US" dirty="0"/>
              <a:t> 계산 라이브러리로</a:t>
            </a:r>
            <a:r>
              <a:rPr lang="en-US" altLang="ko-KR" dirty="0"/>
              <a:t>, </a:t>
            </a:r>
            <a:r>
              <a:rPr lang="ko-KR" altLang="en-US" dirty="0"/>
              <a:t>기호 연산과 수학적 공식 표현을 지원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기호 연산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풀기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미분과 적분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그래프 그리기</a:t>
            </a:r>
            <a:endParaRPr lang="ko-KR" altLang="en-US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0FB6319-F468-D130-A036-538E8745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D8D5A3D-86BD-1768-B2E9-BFC0D77DA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4488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6531E-AB77-8E51-290D-2773B0758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FB19550-EB7C-EB2B-ACE4-48FF2EDEB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559583"/>
            <a:ext cx="4241471" cy="1450318"/>
          </a:xfrm>
        </p:spPr>
        <p:txBody>
          <a:bodyPr>
            <a:normAutofit/>
          </a:bodyPr>
          <a:lstStyle/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symbols</a:t>
            </a:r>
          </a:p>
          <a:p>
            <a:r>
              <a:rPr lang="en-US" altLang="ko-KR" dirty="0"/>
              <a:t>x, y = symbols('x y')</a:t>
            </a:r>
          </a:p>
          <a:p>
            <a:r>
              <a:rPr lang="en-US" altLang="ko-KR" dirty="0"/>
              <a:t>expr = x + 2*y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6ACA4DB-B8FA-FE1C-66A3-A6ACC6000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7D15890-D0EE-8C14-F2F7-700699B1A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0B0035CB-472C-77A2-93FC-E6DE07F7868F}"/>
              </a:ext>
            </a:extLst>
          </p:cNvPr>
          <p:cNvSpPr txBox="1">
            <a:spLocks/>
          </p:cNvSpPr>
          <p:nvPr/>
        </p:nvSpPr>
        <p:spPr>
          <a:xfrm>
            <a:off x="978229" y="4217058"/>
            <a:ext cx="4241471" cy="1450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Eq, solve</a:t>
            </a:r>
          </a:p>
          <a:p>
            <a:r>
              <a:rPr lang="en-US" altLang="ko-KR" dirty="0"/>
              <a:t>eq = Eq(x**2 + 2*x + 1, 0)</a:t>
            </a:r>
          </a:p>
          <a:p>
            <a:r>
              <a:rPr lang="en-US" altLang="ko-KR" dirty="0"/>
              <a:t>sol = solve(eq, x)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561FB-B458-7456-44E7-3D6042485AB8}"/>
              </a:ext>
            </a:extLst>
          </p:cNvPr>
          <p:cNvSpPr txBox="1">
            <a:spLocks/>
          </p:cNvSpPr>
          <p:nvPr/>
        </p:nvSpPr>
        <p:spPr>
          <a:xfrm>
            <a:off x="6092264" y="1559583"/>
            <a:ext cx="4241471" cy="145031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diff, integrate</a:t>
            </a:r>
          </a:p>
          <a:p>
            <a:r>
              <a:rPr lang="en-US" altLang="ko-KR" dirty="0"/>
              <a:t>expr = x**2 + 3*x + 2</a:t>
            </a:r>
          </a:p>
          <a:p>
            <a:r>
              <a:rPr lang="en-US" altLang="ko-KR" dirty="0"/>
              <a:t>derivative = diff(expr, x)</a:t>
            </a:r>
          </a:p>
          <a:p>
            <a:r>
              <a:rPr lang="en-US" altLang="ko-KR" dirty="0"/>
              <a:t>integral = integrate(expr, x)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4AFFB05-5355-FE27-BD3B-B918ABE8E1E5}"/>
              </a:ext>
            </a:extLst>
          </p:cNvPr>
          <p:cNvSpPr txBox="1">
            <a:spLocks/>
          </p:cNvSpPr>
          <p:nvPr/>
        </p:nvSpPr>
        <p:spPr>
          <a:xfrm>
            <a:off x="6092263" y="4217058"/>
            <a:ext cx="4241471" cy="145031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sympy.plotting</a:t>
            </a:r>
            <a:r>
              <a:rPr lang="en-US" altLang="ko-KR" dirty="0"/>
              <a:t> import plot</a:t>
            </a:r>
          </a:p>
          <a:p>
            <a:r>
              <a:rPr lang="en-US" altLang="ko-KR" dirty="0"/>
              <a:t>expr = x**2 - 3*x + 2</a:t>
            </a:r>
          </a:p>
          <a:p>
            <a:r>
              <a:rPr lang="en-US" altLang="ko-KR" dirty="0"/>
              <a:t>plot(expr, (x, -5, 5))</a:t>
            </a:r>
          </a:p>
          <a:p>
            <a:r>
              <a:rPr lang="en-US" altLang="ko-KR" dirty="0"/>
              <a:t>plot(diff(expr, x))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90416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28334-E2FC-87A5-CF77-A6D5B47D5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E733D36D-6C73-13E4-D21A-A5C972360EF5}"/>
              </a:ext>
            </a:extLst>
          </p:cNvPr>
          <p:cNvSpPr/>
          <p:nvPr/>
        </p:nvSpPr>
        <p:spPr>
          <a:xfrm>
            <a:off x="612030" y="3017340"/>
            <a:ext cx="10351245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C8E2A4A-71D6-CC5F-C373-2A06099573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D6BBD99-7112-21BD-317B-9AD8FC6019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What</a:t>
            </a:r>
            <a:r>
              <a:rPr lang="ko-KR" altLang="en-US" sz="2400" cap="none" dirty="0"/>
              <a:t> </a:t>
            </a:r>
            <a:r>
              <a:rPr lang="en-US" altLang="ko-KR" sz="2400" cap="none" dirty="0"/>
              <a:t>is Modeling?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Python</a:t>
            </a:r>
            <a:r>
              <a:rPr lang="ko-KR" altLang="en-US" sz="2400" cap="none" dirty="0"/>
              <a:t> </a:t>
            </a:r>
            <a:r>
              <a:rPr lang="en-US" altLang="ko-KR" sz="2400" cap="none" dirty="0" err="1"/>
              <a:t>sympy</a:t>
            </a: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Simulation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757703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5DBF7-AB87-CB1E-4F78-323C7FAF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802B9442-5172-8A2C-4B61-7CAEF63007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43554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미분과 적분은 단순히 복잡한 수식이 아니라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움직이는 변화를 관찰하는 도구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(t)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에 따른 위치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(s),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(v),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(a)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의 관계는 미적분을 이해하기 가장 좋은 물리적 모델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(Differentiation)</a:t>
            </a: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위치를 시간에 대해 미분하면 속도가 되고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미분하면 가속도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순간적인 변화율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(Integration)</a:t>
            </a: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가속도를 시간에 대해 적분하면 속도가 되고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적분하면 변화된 거리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누적된 총량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E0AD441E-5917-450E-4906-51D94A1D0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3C5350-3870-2D8F-063A-AD4B66AB3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95547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3B1AB-73E4-323F-DBA4-700600A08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90ACADF-2BFB-89EA-4CEA-83CC7F2A4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54428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[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문제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]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시속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10km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인 자동차로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시간을 주행하면 이동한 전체 거리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(km)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구하는 파이썬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코드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31C0D103-A023-ED17-E303-9AE7F1459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B29F212-C4C7-C099-E8CD-444A510C0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9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216A4D-C550-0674-1A0D-2D86DB3F17EB}"/>
              </a:ext>
            </a:extLst>
          </p:cNvPr>
          <p:cNvSpPr txBox="1"/>
          <p:nvPr/>
        </p:nvSpPr>
        <p:spPr>
          <a:xfrm>
            <a:off x="1080653" y="1954829"/>
            <a:ext cx="9337966" cy="4278094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기호 및 변수 정의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sp.symbols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('t'); a = 2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가속도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= 2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v(t)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구하기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가속도를 시간에 대해 적분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v = integral(a) dt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sp.integrate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s(t)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구하기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속도를 시간에 대해 적분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sp.integrate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(v, t)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 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v(t) = {v},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거리 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s(t) = {s}")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 때의 값 계산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distance_at_5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s.subs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(t, 5); velocity_at_5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v.subs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(t, 5)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 후 속도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{velocity_at_5} m/s, 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 후 이동 거리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{distance_at_5} m")</a:t>
            </a:r>
          </a:p>
        </p:txBody>
      </p:sp>
    </p:spTree>
    <p:extLst>
      <p:ext uri="{BB962C8B-B14F-4D97-AF65-F5344CB8AC3E}">
        <p14:creationId xmlns:p14="http://schemas.microsoft.com/office/powerpoint/2010/main" val="19082563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F85AD-4242-C287-E9AC-59ECC4A92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서울에서 강릉까지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(180 km)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여행을 가는데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처음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교통체증으로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분이 걸렸고 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도로가 뻥 뚫려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45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만에 달렸다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𝑎𝑣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km/h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단위로 계산하세요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구간의 속도는 각각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60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120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입니다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단순히 두 속도의 산술평균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(90 km/h)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왜 다를까요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거리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÷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시간”이라는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평균속도의 정의를 이용해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 r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8B94D30B-61C5-F50A-881E-9D567962D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7E7BEBB-7AF7-A56F-1FDB-111BF55EB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73584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0C9BB-C576-5D76-A621-12F6D2D32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마블의 순간 이동 능력으로 당신의 위치가 시간에 따라 아래와 같이 주어졌어요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𝑥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=4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p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p>
                    </m:sSup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+2</m:t>
                    </m:r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𝑡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m, t: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초부터 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초까지의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𝑎𝑣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𝑥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구하시오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 함수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𝑣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𝑑𝑥</m:t>
                        </m:r>
                      </m:num>
                      <m:den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=3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초에서의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계산하시오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평균속도과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AB17F3EE-D6F0-304C-76DD-092CEB6B8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FB34E9E-4A02-7B86-AD9B-8F5BC007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7779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DB512-E367-6CB3-6427-170A65758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마블의 순간 이동에 따른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  <a:blipFill>
                <a:blip r:embed="rId2"/>
                <a:stretch>
                  <a:fillRect l="-58" b="-3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1DEF03F-E099-05C7-39C4-D8D08C141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C8490EB-72B1-37E5-1777-33C453713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12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C714919-2A05-70C7-C618-3BD78C956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0351" y="3429000"/>
            <a:ext cx="8954202" cy="2940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248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5762A-CD1D-F0CB-9A99-FC8EA8D4C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  <a:blipFill>
                <a:blip r:embed="rId2"/>
                <a:stretch>
                  <a:fillRect l="-232" t="-42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33FA9756-4D60-95AD-C21F-D0BF91D49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AB88AB-AF58-CDCF-02C5-0714062F6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A8962F5-C54B-FA99-98A0-64D114B85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440" y="3070225"/>
            <a:ext cx="9373736" cy="3084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13698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53342-2425-B552-0F6D-02A599DF8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1A20275-9114-67D7-400E-3F605E1DBA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379" y="1220061"/>
            <a:ext cx="10642271" cy="132014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 US dollars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은행에 복리이자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(compound interest)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분기복리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복리 그리고 시간을 무한히 나누어 복리이자를 한 경우의 그래프이다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미분방정식과 미래 가치 등을 계산하여 시각화를 재현하라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2A52C4-A097-F5B5-CE72-E072B1D76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33A2C10-ABF7-FF0C-AC9E-C8A89559A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B6430F4-CAAD-D9B3-D0F2-334DB356A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967" y="2696848"/>
            <a:ext cx="6118009" cy="3825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2936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7CA38-A875-3AAA-1D00-9E61E21AD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482AF068-BBCB-0F90-B9B7-4F0223E86D25}"/>
              </a:ext>
            </a:extLst>
          </p:cNvPr>
          <p:cNvSpPr/>
          <p:nvPr/>
        </p:nvSpPr>
        <p:spPr>
          <a:xfrm>
            <a:off x="612030" y="3531690"/>
            <a:ext cx="10351245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741A9EA-2BF6-82FF-85AC-A7C80B26E4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C8E50BC-458E-2CE3-0B12-53AD2C83E8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What</a:t>
            </a:r>
            <a:r>
              <a:rPr lang="ko-KR" altLang="en-US" sz="2400" cap="none" dirty="0"/>
              <a:t> </a:t>
            </a:r>
            <a:r>
              <a:rPr lang="en-US" altLang="ko-KR" sz="2400" cap="none" dirty="0"/>
              <a:t>is Modeling?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Python</a:t>
            </a:r>
            <a:r>
              <a:rPr lang="ko-KR" altLang="en-US" sz="2400" cap="none" dirty="0"/>
              <a:t> </a:t>
            </a:r>
            <a:r>
              <a:rPr lang="en-US" altLang="ko-KR" sz="2400" cap="none" dirty="0" err="1"/>
              <a:t>sympy</a:t>
            </a: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Simulation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9153268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A7F15-CC48-EF66-DE9B-044C76CC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B86733F-17E8-F77E-0D2D-9C8ACE002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 조달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비율을 결정하라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배경설명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Obtain_data_prices.csv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</a:rPr>
              <a:t> )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759CEC3-8C62-8AED-B57C-6AC41CB53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0ACED5-0EA9-66A8-294D-E39924E5C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16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761D9-3270-411C-4820-CE4B86A769DC}"/>
              </a:ext>
            </a:extLst>
          </p:cNvPr>
          <p:cNvSpPr txBox="1"/>
          <p:nvPr/>
        </p:nvSpPr>
        <p:spPr>
          <a:xfrm>
            <a:off x="1919202" y="2493818"/>
            <a:ext cx="9423053" cy="3542188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제품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 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생산 공정의 필수 원자재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기간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2018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~ 2020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26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데이터 기반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목적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향후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예산 수립을 위한 공급업체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(A, B)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최적 구매 비율 결정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분석 시나리오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예상 분석 프로세스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공급업체 선정 및 비율 결정을 위해 다음 세 가지 지표를 검토하라</a:t>
            </a:r>
            <a:endParaRPr lang="en-US" altLang="ko-KR" sz="14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산술 평균 가격 비교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 비용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 중 어느 곳이 전반적으로 더 저렴한가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  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 절감 측면에서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유리하지만 단순히 평균만 봐서는 안 되며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특정 시점의 가격 역전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(Price Cross)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빈도를 확인</a:t>
            </a:r>
            <a:r>
              <a:rPr lang="ko-KR" altLang="en-US" sz="1200" dirty="0">
                <a:solidFill>
                  <a:srgbClr val="FFFFFF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하라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변동성 및 리스크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가격이 얼마나 널뛰는가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예산 모델링에서 안정성은 매우 </a:t>
            </a:r>
            <a:r>
              <a:rPr lang="ko-KR" altLang="en-US" sz="1200" b="0" i="0" dirty="0" err="1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중요하기때문에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평균 가격이 낮더라도 변동성이 너무 크면 예산 초과 리스크가 발생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상관관계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포트폴리오 효과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가격이 같이 움직이는가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확인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 상관관계가 낮거나 음수라면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물량을 나누어 구매함으로써 전체 조달 비용의 변동성을 상쇄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(Hedge)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수 있음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83685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218E5-3E28-1CD8-FEE2-5661777B4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FE9F5D6-547A-F4CE-3159-6BF1FB221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최적의 주문 비율을 정하라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4C7295-8C9B-4984-1744-BA1E610B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3B57F09-7FBE-6536-DDB5-1C49E76C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17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067C35D-C18A-EE13-477B-33829D7920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1531" y="2191429"/>
            <a:ext cx="9993935" cy="294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5472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44E43-CB59-8F5C-4388-4811D5B12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518745B-AC4C-DDD2-8292-D26BA8532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645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가격의 이동평균과 이동 표준편차를 고려하라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(Hints)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가격의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변동성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이 큰 것은 위험한 것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Cost Minimization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C2D05B7-AC60-6082-2034-4BCDC4EF9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FD1F052-3979-3A26-E065-56AF8FA9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3E337E23-A785-0D8C-E673-31CA7D63DA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0424" y="2744067"/>
            <a:ext cx="9228590" cy="3036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0185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77A33-2D8C-8206-106E-DD18CAAB9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4810804F-F0BA-ECEF-4EB9-DFFA04EB9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76643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비용함수를 만들어 최적화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 값이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zero)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 되는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w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찾으면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0.7023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3FE925E-53B4-0BD5-7DDB-C1DBEFCDD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7E96ED0-98E2-AE92-8E7D-773680F57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9436B390-E3E2-8328-29E8-1FA5AA40C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6338" y="2345939"/>
            <a:ext cx="5153025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757515-8BAB-A0AF-2D1F-FA9AD75392E2}"/>
              </a:ext>
            </a:extLst>
          </p:cNvPr>
          <p:cNvSpPr txBox="1"/>
          <p:nvPr/>
        </p:nvSpPr>
        <p:spPr>
          <a:xfrm>
            <a:off x="6543675" y="2310488"/>
            <a:ext cx="5153025" cy="3580467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</a:t>
            </a: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기호 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w: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배분 비율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공분산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('omega')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('sigma_A^2 sigma_B^2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sigma_AB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리스크 함수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L(w) = Var(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*w +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*(1-w))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전개식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w^2*Var(A) + (1-w)^2*Var(B) + 2*w*(1-w)*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Cov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(A,B)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 = w**2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(1-w)**2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+ 2*w*(1-w)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b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</a:b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최적화를 위한 미분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(dL/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0)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(L, w)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optimal_w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w)[0]</a:t>
            </a:r>
          </a:p>
        </p:txBody>
      </p:sp>
    </p:spTree>
    <p:extLst>
      <p:ext uri="{BB962C8B-B14F-4D97-AF65-F5344CB8AC3E}">
        <p14:creationId xmlns:p14="http://schemas.microsoft.com/office/powerpoint/2010/main" val="19303661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751CB-97F3-FAD4-8FC7-69F95AC3C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D02CA89-5E6E-2293-60FD-38CF06B06C7E}"/>
              </a:ext>
            </a:extLst>
          </p:cNvPr>
          <p:cNvSpPr/>
          <p:nvPr/>
        </p:nvSpPr>
        <p:spPr>
          <a:xfrm>
            <a:off x="612030" y="4029076"/>
            <a:ext cx="10351245" cy="10287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74A26D1-8101-04B6-8195-B64141F75E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731E5B7-B79B-60B2-A47D-177A73EC9B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What</a:t>
            </a:r>
            <a:r>
              <a:rPr lang="ko-KR" altLang="en-US" sz="2400" cap="none" dirty="0"/>
              <a:t> </a:t>
            </a:r>
            <a:r>
              <a:rPr lang="en-US" altLang="ko-KR" sz="2400" cap="none" dirty="0"/>
              <a:t>is Modeling?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Python</a:t>
            </a:r>
            <a:r>
              <a:rPr lang="ko-KR" altLang="en-US" sz="2400" cap="none" dirty="0"/>
              <a:t> </a:t>
            </a:r>
            <a:r>
              <a:rPr lang="en-US" altLang="ko-KR" sz="2400" cap="none" dirty="0" err="1"/>
              <a:t>sympy</a:t>
            </a: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Simulation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1802232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2365C-2FC7-5245-0848-EAD4EECDB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2126BE-317A-FC6D-1EFF-328494D87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11645E-4FD6-1363-3E45-0A247404A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C131A6A-B13C-CBF5-A2D9-F3D965A1F04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392866" y="3034136"/>
            <a:ext cx="4673771" cy="102133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7FA0E69-D0BF-D5B0-8F1E-C0EF9C65DE9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392866" y="4316873"/>
            <a:ext cx="4633188" cy="112955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5B7088D-3D0B-DB8A-8968-53C063BAF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775" y="1622010"/>
            <a:ext cx="5159187" cy="115072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1C2C48BE-9BC7-5AC2-EEEF-B0EB00AFA2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2010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5B14EC5A-44EC-8A71-55DA-2308077F4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4058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F3B44A2-52A5-F573-88BA-ED032686EDA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25363" y="3544801"/>
            <a:ext cx="1045904" cy="30727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71B9045-AEBD-DD1A-465A-F80A2DB51B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80792" y="2071264"/>
            <a:ext cx="283635" cy="301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73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A55CF-E7EE-C827-C3D7-F2D302C8D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D0DE86-D4D4-A076-6A4D-505C27618FB5}"/>
              </a:ext>
            </a:extLst>
          </p:cNvPr>
          <p:cNvSpPr/>
          <p:nvPr/>
        </p:nvSpPr>
        <p:spPr>
          <a:xfrm>
            <a:off x="545355" y="5046165"/>
            <a:ext cx="10351245" cy="67836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052B242-5FD6-A7D7-9560-6A8CC35E2A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1DB4CA3-450A-0BD3-7E70-27691F6642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931490"/>
            <a:ext cx="10760820" cy="365016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Modeling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Python</a:t>
            </a:r>
            <a:r>
              <a:rPr lang="ko-KR" altLang="en-US" sz="2400" cap="none" dirty="0"/>
              <a:t> </a:t>
            </a:r>
            <a:r>
              <a:rPr lang="en-US" altLang="ko-KR" sz="2400" cap="none" dirty="0" err="1"/>
              <a:t>sympy</a:t>
            </a: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Time &amp; Space (w1)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(w2)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Optimization Using Gradient Descent: Linear Regression (w3)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Regression &amp; Classification with Perceptron (w4)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cap="none" dirty="0"/>
              <a:t>Simulation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cap="none" dirty="0"/>
          </a:p>
          <a:p>
            <a:pPr marL="514350" indent="-514350">
              <a:lnSpc>
                <a:spcPct val="150000"/>
              </a:lnSpc>
              <a:buAutoNum type="arabicPeriod"/>
            </a:pPr>
            <a:endParaRPr lang="ko-KR" altLang="en-US" sz="2400" cap="none" dirty="0"/>
          </a:p>
        </p:txBody>
      </p:sp>
    </p:spTree>
    <p:extLst>
      <p:ext uri="{BB962C8B-B14F-4D97-AF65-F5344CB8AC3E}">
        <p14:creationId xmlns:p14="http://schemas.microsoft.com/office/powerpoint/2010/main" val="9991071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73C1C-752E-1492-75CD-9260CD39C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0209EB2-DA90-3A5C-9F40-6CC699307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65A7FF-E730-2207-3FF2-2E5E8228A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F9EEEA1-E59F-8F64-113D-54452538E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717" y="1661628"/>
            <a:ext cx="10876566" cy="3936532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불확실한 결과를 예측하기 위해 반복적인 무작위 추출을 사용하는 통계적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결과가 확률에 의존하는 도박처럼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 계산하기 너무 복잡한 문제들을 수만 번의 가상 실험을 통해 그 근삿값을 찾아내는 방식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몬테카를로의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 정의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결과에 영향을 주는 불확실한 요소들을 정의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 분포 할당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변수가 가질 수 있는 값의 범위와 확률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설정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 실험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컴퓨터를 이용해 무작위 값을 입력하며 수천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번의 시뮬레이션을 실행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분석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도출된 수많은 결과값의 평균이나 분포를 통해 최종 결과를 예측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05232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ABF9B-1D11-3390-0C0C-334544E2B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7ADE4C9-5D44-4C0B-E4E8-314194232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BCD0A05-60EA-3637-1B32-5ED51A296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1E254081-038C-0151-1EAC-C8D3FE5094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7717" y="1661628"/>
                <a:ext cx="10876566" cy="3658517"/>
              </a:xfrm>
            </p:spPr>
            <p:txBody>
              <a:bodyPr>
                <a:norm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원의 둘레를 측정하기 위해 둘레는 아주 작은 단위로 나누어 모의실험으로 원주율을 구하라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/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 아래 조건을 충족하면서 몬테카를로 시뮬레이션으로 파이썬 코드로 제시하고 구하라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685800" lvl="1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원의 방정식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코드에 사용하지 마라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685800" lvl="1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np.pi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사용하지 마라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수치해석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(Numerical Analysis)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만을 사용하여 원주율을 구하는 코드를 제시하라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685800" lvl="1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2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차원 평면상 임의의 데이터 포인트가 아주 작은 각도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만큼 움직이는 선형변환 함수를 사용하라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1E254081-038C-0151-1EAC-C8D3FE5094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7717" y="1661628"/>
                <a:ext cx="10876566" cy="3658517"/>
              </a:xfrm>
              <a:blipFill>
                <a:blip r:embed="rId2"/>
                <a:stretch>
                  <a:fillRect l="-2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그림 3">
            <a:extLst>
              <a:ext uri="{FF2B5EF4-FFF2-40B4-BE49-F238E27FC236}">
                <a16:creationId xmlns:a16="http://schemas.microsoft.com/office/drawing/2014/main" id="{86DFEEE2-BFFE-B870-25B5-5A3ED24DD7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688" y="5196372"/>
            <a:ext cx="2998386" cy="775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5490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5EC55-F36C-3EF2-2A0C-64ED17F2E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6FF3D9CF-184B-D96E-5B39-928DB519C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0CE090A-EAEA-05A5-AD9E-3C906FDE2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55CAC146-9772-5312-EEF0-24A973D6C2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405783"/>
            <a:ext cx="10876566" cy="1319697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피타고라스 정리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원주율을 구한 후 원의 면적을 모의실험으로 구하라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E06383BC-F98A-7155-6846-99523539B9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8246" y="2321475"/>
            <a:ext cx="4037993" cy="3970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4EE6840-F1F7-DEBF-A068-374A8CF3214E}"/>
              </a:ext>
            </a:extLst>
          </p:cNvPr>
          <p:cNvSpPr txBox="1"/>
          <p:nvPr/>
        </p:nvSpPr>
        <p:spPr>
          <a:xfrm>
            <a:off x="1029816" y="2321474"/>
            <a:ext cx="6462738" cy="3970318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10_000_000  # 점의 개수 (많을수록 정확)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-1~1 사이의 무작위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좌표 생성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(-1, 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np.random.uniform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(-1, 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원점으로부터의 거리가 1 이하인 점 = 원 안의 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x² + y² &lt;= 1  (피타고라스, π 사용 안 함!)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**2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**2 &lt;=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π 추정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pi_estimate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4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f"점의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개수       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:,}개")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안의 점      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inside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:,}개")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f"추정된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π        : {pi_estimate:.6f}")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f"오차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abs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pi_estimate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np.pi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):.6f}")</a:t>
            </a:r>
          </a:p>
        </p:txBody>
      </p:sp>
    </p:spTree>
    <p:extLst>
      <p:ext uri="{BB962C8B-B14F-4D97-AF65-F5344CB8AC3E}">
        <p14:creationId xmlns:p14="http://schemas.microsoft.com/office/powerpoint/2010/main" val="20981454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23459-BD75-D432-BEA6-9C6B123A3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85B3A8F-D9A1-03BF-1557-049F22586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58E022B-9CC7-3B06-E4F6-08C204E0A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2730D7B2-8F11-9986-6A3C-3F54951EEF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1"/>
            <a:ext cx="10876566" cy="1999389"/>
          </a:xfrm>
        </p:spPr>
        <p:txBody>
          <a:bodyPr>
            <a:normAutofit fontScale="70000" lnSpcReduction="2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단순 랜덤 워크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(1D Simple Random Walk) –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snippet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 던지기처럼 앞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(+1)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또는 뒤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(-1)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로만 움직이는 가장 기본인 형태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이산적 이동으로 매 스텝마다 이동 거리가 항상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±1</a:t>
            </a: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움직임이 고정된 크기로 제한됨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85800"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격자 위를 한 칸씩 움직이는 형태</a:t>
            </a:r>
            <a:endParaRPr lang="en-US" altLang="ko-KR" sz="1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A39BC9-5604-0C54-A656-E0F72C6BDD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8537" y="3376095"/>
            <a:ext cx="4973727" cy="2711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D212A4-8B49-3B6C-41A2-7EBEAC85AD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3943" y="3074207"/>
            <a:ext cx="5537739" cy="3013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48632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65E0C-50BB-F1AE-B91D-CD7055D90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A0B489-DABD-8485-0D53-A3B6771C7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9166B6-5390-D265-7029-AF1A7582C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6CBE3884-90D6-4205-75DE-61E2FC35D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1"/>
            <a:ext cx="10876566" cy="199938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아래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모의실험을 베르누이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Galton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Board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비교하여 이해하자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?, single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 walk ?,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명이 술이 취해 걸으면 최종 어디에 많이 모일까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2392AE-FBAA-4939-6C80-3CA05F333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4779" y="3074207"/>
            <a:ext cx="5537739" cy="3013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F9228610-B44F-2299-857C-27601FB50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3316" y="2549890"/>
            <a:ext cx="2671321" cy="35373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8E3739-5A89-0A71-C6C0-30A3F32E06D4}"/>
                  </a:ext>
                </a:extLst>
              </p:cNvPr>
              <p:cNvSpPr txBox="1"/>
              <p:nvPr/>
            </p:nvSpPr>
            <p:spPr>
              <a:xfrm>
                <a:off x="7051545" y="3934385"/>
                <a:ext cx="65274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3600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8E3739-5A89-0A71-C6C0-30A3F32E0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1545" y="3934385"/>
                <a:ext cx="652743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063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7797F-FEEC-B823-2382-603B8BB02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EAB4AD8-69CE-0704-0F78-6C114454CD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walk 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7B1CB07-4400-6BC2-0FC5-1EE76D147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28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1BFFC1A-4A14-F3B6-2AC3-14C41FE78E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81" y="1220062"/>
            <a:ext cx="10876566" cy="152313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</a:t>
            </a:r>
            <a:r>
              <a:rPr lang="en-US" altLang="ko-KR" sz="21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Guassian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랜덤 워크  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(Normal Distribution)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이용한 랜덤 워크는 </a:t>
            </a:r>
            <a:r>
              <a:rPr lang="ko-KR" altLang="en-US" sz="21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랜덤 워크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(Gaussian Random Walk)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하며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수학적으로는 브라운 운동</a:t>
            </a:r>
            <a:r>
              <a:rPr lang="en-US" altLang="ko-KR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(Brownian Motion)</a:t>
            </a:r>
            <a:r>
              <a:rPr lang="ko-KR" altLang="en-US" sz="2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기초가 되는 모델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연속적 이동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기반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이동 거리가 정규분포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 모양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따름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대부분은 작게 움직이고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가끔 크게 이동하는 경우도 발생하며</a:t>
            </a:r>
            <a:r>
              <a:rPr lang="en-US" altLang="ko-KR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9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세계 물리현상과 유사</a:t>
            </a:r>
            <a:endParaRPr lang="en-US" altLang="ko-KR" sz="1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781F12-DB99-FB5B-6A78-64FED969A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981" y="2899845"/>
            <a:ext cx="8025132" cy="3408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2B7DE6F-6543-1CC5-84B7-38595329BB8F}"/>
              </a:ext>
            </a:extLst>
          </p:cNvPr>
          <p:cNvSpPr txBox="1"/>
          <p:nvPr/>
        </p:nvSpPr>
        <p:spPr>
          <a:xfrm>
            <a:off x="8829040" y="3533988"/>
            <a:ext cx="3362960" cy="1020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미세 입자의 확산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브라운 운동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i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주식 가격 변동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열 운동</a:t>
            </a:r>
            <a:r>
              <a:rPr lang="en-US" altLang="ko-KR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분자 운동의 시뮬레이션</a:t>
            </a:r>
          </a:p>
        </p:txBody>
      </p:sp>
    </p:spTree>
    <p:extLst>
      <p:ext uri="{BB962C8B-B14F-4D97-AF65-F5344CB8AC3E}">
        <p14:creationId xmlns:p14="http://schemas.microsoft.com/office/powerpoint/2010/main" val="3327584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55D3D-F194-FF2A-491A-8A873F610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556CE03-35F1-D046-0275-50A16140E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C66212E-BB83-C661-6D65-CD05B909E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29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8189BD10-8DA1-300F-CA8B-0DC91F762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8"/>
            <a:ext cx="10272637" cy="4164739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학급에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ko-KR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=100)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있는 반을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상상해 보세요.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선생님이 무작위로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뽑고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주고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다시 전체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명에서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뽑습니다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100번 반복해서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주게 될 경우 내가 선물을 못박을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Bootstrap Sample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이란 무엇인가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무한대이고 무한으로 반복하면 내가 못 받을 확률은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268706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857D7-1344-B58A-BDD9-A140227A3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E74E3F93-3B37-62D8-BEBE-62D5FAAA9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BA0B4F5-DAE4-3303-FB32-9B2A9096C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1828D43-DDF9-E3DE-4276-FB4399E64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8"/>
            <a:ext cx="10272637" cy="4164739"/>
          </a:xfrm>
        </p:spPr>
        <p:txBody>
          <a:bodyPr>
            <a:norm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학급에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ko-KR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=100)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있는 반을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상상해 보세요.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선생님이 무작위로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뽑고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주고</a:t>
            </a:r>
            <a:r>
              <a:rPr lang="ko-KR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다시 전체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명에서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명을 뽑습니다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100번 반복해서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선물을 주게 될 경우 내가 선물을 못박을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685800" lv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번을 반복했는데 내가 못 받을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무한대이고 무한으로 반복하면 내가 못 받을 확률은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64805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DEF33-47B2-9FEA-0544-DA97EB825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F05D532-A9FD-B5D3-594E-38DF47B5D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DFD7C5-1C3C-76A3-3F1E-1B278F95E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CDA944F2-868C-8A90-5AC8-A7494D2229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708" y="1503649"/>
                <a:ext cx="10272637" cy="3012934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데이터셋의 크기가 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일 때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원본 데이터에서 한 번 뽑은 데이터를 다시 넣고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복원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무작위로 </a:t>
                </a:r>
                <a:r>
                  <a:rPr lang="en-US" altLang="ko-KR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</a:t>
                </a:r>
                <a:r>
                  <a:rPr lang="ko-KR" altLang="en-US" sz="18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번 추출하여 만든 새로운 샘플</a:t>
                </a:r>
                <a:endParaRPr lang="en-US" altLang="ko-KR" sz="18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중복 허용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동일한 데이터가 한 샘플 내에 여러 번 포함될 수 있음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미포함 데이터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확률적으로 원본 데이터의 약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36.8%(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en-US" altLang="ko-KR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1600" i="0" dirty="0" smtClean="0">
                            <a:latin typeface="Cambria Math" panose="02040503050406030204" pitchFamily="18" charset="0"/>
                          </a:rPr>
                          <m:t>ⅇ</m:t>
                        </m:r>
                      </m:den>
                    </m:f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샘플에 포함되지 않는데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이를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OOB(Out-Of-Bag)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데이터라고 부르며 모델 검증용으로 활용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수치는 앞서 질문하신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선물을 못 받을 확률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동일한 원리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en-US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Randomforest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모델의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OOB</a:t>
                </a:r>
              </a:p>
            </p:txBody>
          </p:sp>
        </mc:Choice>
        <mc:Fallback xmlns="">
          <p:sp>
            <p:nvSpPr>
              <p:cNvPr id="7" name="내용 개체 틀 2">
                <a:extLst>
                  <a:ext uri="{FF2B5EF4-FFF2-40B4-BE49-F238E27FC236}">
                    <a16:creationId xmlns:a16="http://schemas.microsoft.com/office/drawing/2014/main" id="{CDA944F2-868C-8A90-5AC8-A7494D2229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708" y="1503649"/>
                <a:ext cx="10272637" cy="3012934"/>
              </a:xfrm>
              <a:blipFill>
                <a:blip r:embed="rId2"/>
                <a:stretch>
                  <a:fillRect l="-17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그림 1">
            <a:extLst>
              <a:ext uri="{FF2B5EF4-FFF2-40B4-BE49-F238E27FC236}">
                <a16:creationId xmlns:a16="http://schemas.microsoft.com/office/drawing/2014/main" id="{83CD8436-2625-8128-83C4-23CE8FC957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8862" y="3992687"/>
            <a:ext cx="5402483" cy="256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0491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2A364-1EBD-2EFD-D6BE-937CE143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CE9BC93-DDED-5445-834E-7678C8B6B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Theorm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7D45968-6723-E03D-AD24-9D29D29A0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6F887F-AE8F-1464-9EC1-7F7674022CBB}"/>
              </a:ext>
            </a:extLst>
          </p:cNvPr>
          <p:cNvSpPr txBox="1"/>
          <p:nvPr/>
        </p:nvSpPr>
        <p:spPr>
          <a:xfrm>
            <a:off x="551384" y="2916953"/>
            <a:ext cx="11377264" cy="31840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학습의 안정성 확보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 , Cross-Entropy, Log-loss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학습이 가능한 이유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=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작은 샘플 평균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CLT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없이는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batch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 없음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교차검증을 통한 모델의 평가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accuracy/loss,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 평균 등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CLT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적용으로 이  평균들은 → 정규분포 근사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→ 신뢰구간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→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통계적 비교 가능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A/B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테스트와 실험 설계의 핵심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광고 효과 비교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추천 알고리즘 비교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UI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개선 효과 측정  등 전부 평균 비교 문제로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CLT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덕분에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평균 차이 → 정규분포 근사 →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p-value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 가능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7BBF2C-6413-4582-67FA-848627AD4379}"/>
              </a:ext>
            </a:extLst>
          </p:cNvPr>
          <p:cNvSpPr txBox="1"/>
          <p:nvPr/>
        </p:nvSpPr>
        <p:spPr>
          <a:xfrm>
            <a:off x="551384" y="1656979"/>
            <a:ext cx="11377264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중심극한정리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데이터는 불규칙하지만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평균은 예측 가능하다 → 그래서 학습이 가능하다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머신러닝에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접목하는 내용을 모의실험으로 파이썬 코드로 제시하라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364333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94CC3-0C25-936C-F4E5-BC6C8FAE9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B6093B4-D84C-1182-BD67-09D1D89F10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Prince Frog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4CD2A0E-CCEC-F039-665F-40894A644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8D2309A-13E9-0BC5-9466-8BBC074EA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08" y="1503649"/>
            <a:ext cx="10272637" cy="3012934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당신은 앞으로 인생에서 총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명의 잠재적 파트너를 만날 수 있다고 가정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당신의 목표는 그중 가장 뛰어난 사람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매칭되는 것이며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아래의 조건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번 거절한 사람에게는 다시 돌아갈 수 없음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만나는 순서는 무작위이며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당신은 상대를 만날 때마다 점수를 매길 수 있음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가장 좋은 사람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선택할 확률을 최대화하려면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몇 번째 사람을 선책해야 하나요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mathematical-dating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07FF1A6-7C59-D849-56A1-6F4AF4D88B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8075" y="4357296"/>
            <a:ext cx="3334215" cy="1994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1009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C8A9B-C99A-C323-49D3-D8FF332B2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1E109C5D-CA46-86FE-B2F1-6B57CE974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Monty Hall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6715F2C-1C5F-58CD-F12C-7D8F314DC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34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C274E9-0890-E1EE-8815-6A6992A3E51A}"/>
              </a:ext>
            </a:extLst>
          </p:cNvPr>
          <p:cNvSpPr txBox="1"/>
          <p:nvPr/>
        </p:nvSpPr>
        <p:spPr>
          <a:xfrm>
            <a:off x="798974" y="1692410"/>
            <a:ext cx="2930832" cy="454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 Hall Problem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4CB3E241-1439-CF73-D1BF-D13C8F260B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3614" y="2724107"/>
            <a:ext cx="3466677" cy="1927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9E41BEFF-9277-101A-3ABF-53C7FEE19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2182" y="2764673"/>
            <a:ext cx="1619245" cy="900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CBEF33F-CA64-0A15-EF29-6230B6B4D9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1006" y="3900957"/>
            <a:ext cx="815411" cy="97544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39BAFD2-095A-6333-05D9-AF58E4177C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2623" y="3900957"/>
            <a:ext cx="815411" cy="97544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13AB27E-3741-C7E7-A100-08C4C10D46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4240" y="3900957"/>
            <a:ext cx="815411" cy="97544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0F137632-6EED-1197-4575-AD5C447484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857" y="3900957"/>
            <a:ext cx="815411" cy="975445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C9BAD1F-4835-0E00-BE05-7B991DEA53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474" y="3900957"/>
            <a:ext cx="815411" cy="975445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572470AC-D0CC-6A8D-F111-86F68089C0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091" y="3900957"/>
            <a:ext cx="815411" cy="97544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0865E442-B4BD-7CFF-FCDF-2E85B2CB4F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0707" y="3900957"/>
            <a:ext cx="815411" cy="97544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FF2D7143-68C6-2326-F00F-A8CD8AE3B1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1006" y="5158257"/>
            <a:ext cx="815411" cy="97544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4728F616-5440-AC06-EAC7-44E4E6C96B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2623" y="5158257"/>
            <a:ext cx="815411" cy="97544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D5F19E73-7B96-06A5-14A6-B60E4358AB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4240" y="5158257"/>
            <a:ext cx="815411" cy="975445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321514DF-CA86-07A5-AD6C-AD2DEA2FE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857" y="5158257"/>
            <a:ext cx="815411" cy="97544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9CD22BE-CA91-2684-1E36-B34F6E837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474" y="5158257"/>
            <a:ext cx="815411" cy="975445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735F4664-A966-C87F-5C78-A301749DF3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091" y="5158257"/>
            <a:ext cx="815411" cy="97544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BEAAFF8B-1A89-D60D-75AB-E4265EDD2C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0707" y="5158257"/>
            <a:ext cx="815411" cy="975445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1EC7DF29-C3D6-F404-E972-77857EC56D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857" y="2724107"/>
            <a:ext cx="815411" cy="975445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7D508969-A288-B230-8DB6-EC39464787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474" y="2724107"/>
            <a:ext cx="815411" cy="97544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7BD36F70-C846-8BF0-2823-F0053E6B7F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091" y="2724107"/>
            <a:ext cx="815411" cy="975445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12697E6A-BB42-EA03-FEFB-7A44EA579F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0707" y="2724107"/>
            <a:ext cx="815411" cy="975445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EC62F4DC-1018-0126-1558-960B8E9E3342}"/>
              </a:ext>
            </a:extLst>
          </p:cNvPr>
          <p:cNvSpPr txBox="1"/>
          <p:nvPr/>
        </p:nvSpPr>
        <p:spPr>
          <a:xfrm>
            <a:off x="6051006" y="1692410"/>
            <a:ext cx="5342020" cy="4542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 Hall Problem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10,000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라면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8774975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0AC54-C4ED-A5C3-A213-8356B5F64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10A659-B508-3847-D95D-D5EDC55F7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Genetic 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5590872-92AA-7F11-7855-536F5E774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141AEC-0375-D5D0-1BC0-45800051E25B}"/>
              </a:ext>
            </a:extLst>
          </p:cNvPr>
          <p:cNvSpPr txBox="1"/>
          <p:nvPr/>
        </p:nvSpPr>
        <p:spPr>
          <a:xfrm>
            <a:off x="675209" y="1437904"/>
            <a:ext cx="11377264" cy="454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유전자 알고리즘으로 구하는 파이썬 코드를 제시하라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0" name="그림 29" descr="Best Practices for Tuning Genetic Algorithm Parameters">
            <a:extLst>
              <a:ext uri="{FF2B5EF4-FFF2-40B4-BE49-F238E27FC236}">
                <a16:creationId xmlns:a16="http://schemas.microsoft.com/office/drawing/2014/main" id="{F123030E-E593-CC71-17F7-A38A55A622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790" y="2266684"/>
            <a:ext cx="5678585" cy="3785723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9DFA542B-465A-3FAA-9CFB-CC45AB510537}"/>
              </a:ext>
            </a:extLst>
          </p:cNvPr>
          <p:cNvSpPr txBox="1"/>
          <p:nvPr/>
        </p:nvSpPr>
        <p:spPr>
          <a:xfrm>
            <a:off x="1772790" y="6210299"/>
            <a:ext cx="836180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>
                <a:hlinkClick r:id="rId3"/>
              </a:rPr>
              <a:t>https://www.woodruff.dev/wp-content/uploads/2025/09/Best-Practices-for-Tuning-Genetic-Algorithm-Parameters.png</a:t>
            </a:r>
            <a:r>
              <a:rPr lang="ko-KR" altLang="en-US" sz="105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1158295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2504</TotalTime>
  <Words>2443</Words>
  <Application>Microsoft Office PowerPoint</Application>
  <PresentationFormat>와이드스크린</PresentationFormat>
  <Paragraphs>280</Paragraphs>
  <Slides>35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4" baseType="lpstr">
      <vt:lpstr>D2Coding</vt:lpstr>
      <vt:lpstr>맑은 고딕</vt:lpstr>
      <vt:lpstr>맑은 고딕 Semilight</vt:lpstr>
      <vt:lpstr>Cambria Math</vt:lpstr>
      <vt:lpstr>Century Gothic</vt:lpstr>
      <vt:lpstr>Times New Roman</vt:lpstr>
      <vt:lpstr>Wingdings</vt:lpstr>
      <vt:lpstr>Wingdings 3</vt:lpstr>
      <vt:lpstr>이온</vt:lpstr>
      <vt:lpstr>Calculus</vt:lpstr>
      <vt:lpstr>Contents</vt:lpstr>
      <vt:lpstr>Modeling</vt:lpstr>
      <vt:lpstr>Contents</vt:lpstr>
      <vt:lpstr>python sympy</vt:lpstr>
      <vt:lpstr>python sympy</vt:lpstr>
      <vt:lpstr>Contents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Contents</vt:lpstr>
      <vt:lpstr>Optimization</vt:lpstr>
      <vt:lpstr>Optimization</vt:lpstr>
      <vt:lpstr>Optimization</vt:lpstr>
      <vt:lpstr>Optimization</vt:lpstr>
      <vt:lpstr>Contents</vt:lpstr>
      <vt:lpstr>Optimization of Loss Function</vt:lpstr>
      <vt:lpstr>Contents</vt:lpstr>
      <vt:lpstr>Simulation</vt:lpstr>
      <vt:lpstr>Simulation</vt:lpstr>
      <vt:lpstr>Simulation</vt:lpstr>
      <vt:lpstr>Random walk simulation</vt:lpstr>
      <vt:lpstr>Random walk simulation</vt:lpstr>
      <vt:lpstr>Random walk simulation</vt:lpstr>
      <vt:lpstr>Bootstrap sampling</vt:lpstr>
      <vt:lpstr>Bootstrap sampling</vt:lpstr>
      <vt:lpstr>Bootstrap sampling</vt:lpstr>
      <vt:lpstr>Central Limit Theorm</vt:lpstr>
      <vt:lpstr>Prince Frog</vt:lpstr>
      <vt:lpstr>Monty Hall</vt:lpstr>
      <vt:lpstr>Genetic algorithm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조상구</cp:lastModifiedBy>
  <cp:revision>9</cp:revision>
  <dcterms:created xsi:type="dcterms:W3CDTF">2026-04-11T22:24:40Z</dcterms:created>
  <dcterms:modified xsi:type="dcterms:W3CDTF">2026-05-06T05:00:39Z</dcterms:modified>
</cp:coreProperties>
</file>