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9"/>
  </p:notesMasterIdLst>
  <p:sldIdLst>
    <p:sldId id="256" r:id="rId2"/>
    <p:sldId id="274" r:id="rId3"/>
    <p:sldId id="257" r:id="rId4"/>
    <p:sldId id="313" r:id="rId5"/>
    <p:sldId id="314" r:id="rId6"/>
    <p:sldId id="315" r:id="rId7"/>
    <p:sldId id="316" r:id="rId8"/>
    <p:sldId id="303" r:id="rId9"/>
    <p:sldId id="260" r:id="rId10"/>
    <p:sldId id="265" r:id="rId11"/>
    <p:sldId id="304" r:id="rId12"/>
    <p:sldId id="259" r:id="rId13"/>
    <p:sldId id="318" r:id="rId14"/>
    <p:sldId id="317" r:id="rId15"/>
    <p:sldId id="268" r:id="rId16"/>
    <p:sldId id="284" r:id="rId17"/>
    <p:sldId id="287" r:id="rId18"/>
    <p:sldId id="286" r:id="rId19"/>
    <p:sldId id="266" r:id="rId20"/>
    <p:sldId id="288" r:id="rId21"/>
    <p:sldId id="305" r:id="rId22"/>
    <p:sldId id="267" r:id="rId23"/>
    <p:sldId id="285" r:id="rId24"/>
    <p:sldId id="272" r:id="rId25"/>
    <p:sldId id="273" r:id="rId26"/>
    <p:sldId id="306" r:id="rId27"/>
    <p:sldId id="269" r:id="rId28"/>
    <p:sldId id="308" r:id="rId29"/>
    <p:sldId id="309" r:id="rId30"/>
    <p:sldId id="310" r:id="rId31"/>
    <p:sldId id="311" r:id="rId32"/>
    <p:sldId id="312" r:id="rId33"/>
    <p:sldId id="289" r:id="rId34"/>
    <p:sldId id="290" r:id="rId35"/>
    <p:sldId id="291" r:id="rId36"/>
    <p:sldId id="307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1" r:id="rId45"/>
    <p:sldId id="299" r:id="rId46"/>
    <p:sldId id="300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cestor9/mathematics-for-machine-learning/blob/main/Calculus/w2/data/prices.csv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ancestor9/mathematics-for-machine-learning/blob/main/Calculus/w2/C2_W1_Assignment.ipynb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auto_examples/linear_model/plot_sgd_loss_functions.html" TargetMode="Externa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github.com/ancestor9/mathematics-for-machine-learning/blob/main/scripts/Random_Walk_Simulation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plus.maths.org/mathematical-dating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ko.wikipedia.org/wiki/%EB%AA%AC%ED%8B%B0_%ED%99%80_%EB%AC%B8%EC%A0%9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odruff.dev/wp-content/uploads/2025/09/Best-Practices-for-Tuning-Genetic-Algorithm-Parameters.png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1362075"/>
          </a:xfrm>
        </p:spPr>
        <p:txBody>
          <a:bodyPr/>
          <a:lstStyle/>
          <a:p>
            <a:r>
              <a:rPr lang="en-US" altLang="ko-KR" dirty="0"/>
              <a:t>Calculus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22A912-C269-5DE4-418A-0B0B11B2D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998290"/>
            <a:ext cx="8825658" cy="861420"/>
          </a:xfrm>
        </p:spPr>
        <p:txBody>
          <a:bodyPr>
            <a:normAutofit/>
          </a:bodyPr>
          <a:lstStyle/>
          <a:p>
            <a:r>
              <a:rPr lang="en-US" altLang="ko-KR" sz="2800" cap="none" dirty="0"/>
              <a:t>Modeling and simulation</a:t>
            </a:r>
            <a:endParaRPr lang="ko-KR" altLang="en-US" sz="2800" cap="none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4460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800" cap="none" dirty="0"/>
              <a:t>2026 Spring</a:t>
            </a:r>
          </a:p>
          <a:p>
            <a:r>
              <a:rPr lang="ko-KR" altLang="en-US" sz="2200" cap="none" dirty="0" err="1"/>
              <a:t>조상구교수</a:t>
            </a:r>
            <a:endParaRPr lang="ko-KR" alt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77253-55D9-C5A4-DDCA-2C64C197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729BEC0-2EC4-2A16-AF3A-F5E8C4679D53}"/>
              </a:ext>
            </a:extLst>
          </p:cNvPr>
          <p:cNvSpPr/>
          <p:nvPr/>
        </p:nvSpPr>
        <p:spPr>
          <a:xfrm>
            <a:off x="612030" y="1960065"/>
            <a:ext cx="10351245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5E9264-71FE-D065-0983-B32E54057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DBA114-17ED-5D92-F01E-E672ACB5D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What</a:t>
            </a:r>
            <a:r>
              <a:rPr lang="ko-KR" altLang="en-US" sz="2400" cap="none" dirty="0"/>
              <a:t> </a:t>
            </a:r>
            <a:r>
              <a:rPr lang="en-US" altLang="ko-KR" sz="2400" cap="none" dirty="0"/>
              <a:t>is Modeling?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Python</a:t>
            </a:r>
            <a:r>
              <a:rPr lang="ko-KR" altLang="en-US" sz="2400" cap="none" dirty="0"/>
              <a:t> </a:t>
            </a:r>
            <a:r>
              <a:rPr lang="en-US" altLang="ko-KR" sz="2400" cap="none" dirty="0" err="1"/>
              <a:t>sympy</a:t>
            </a: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(w4)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Simulation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550686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884FF29-4B25-404E-81DC-1CCAE143C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9994572" cy="4355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복잡한 현실 세계의 현상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시스템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사물 등을 일정한 규칙이나 관점에 따라 </a:t>
            </a:r>
            <a:r>
              <a:rPr lang="ko-KR" altLang="en-US" sz="18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추상화하여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단순한 형태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표현하는 과정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단순화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미래에 대한 결과를 논리적으로 추정하는 행위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통계적 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시뮬레이션 및 테스트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수학적 모델링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데이터베이스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모델링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(ERD)……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960D66E-6DAA-C869-2E3C-06CF487E3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230" y="3194913"/>
            <a:ext cx="4608512" cy="302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6D14F0A-2182-0C24-04C8-A2858EE5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0C3A8B-E6BF-2A69-18BA-06D331E7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75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C0F1-45B0-02D2-01DD-EEBCC8B1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ADDB57D-11B6-0AD2-0C31-FBCCB80C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+ Object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C34F863-C394-51E7-8700-7871213B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2B8655C-497D-4F31-C687-69B4C8092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482076"/>
              </p:ext>
            </p:extLst>
          </p:nvPr>
        </p:nvGraphicFramePr>
        <p:xfrm>
          <a:off x="1037302" y="2721743"/>
          <a:ext cx="10839737" cy="30216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990378">
                  <a:extLst>
                    <a:ext uri="{9D8B030D-6E8A-4147-A177-3AD203B41FA5}">
                      <a16:colId xmlns:a16="http://schemas.microsoft.com/office/drawing/2014/main" val="201321095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912667715"/>
                    </a:ext>
                  </a:extLst>
                </a:gridCol>
                <a:gridCol w="3677920">
                  <a:extLst>
                    <a:ext uri="{9D8B030D-6E8A-4147-A177-3AD203B41FA5}">
                      <a16:colId xmlns:a16="http://schemas.microsoft.com/office/drawing/2014/main" val="1005779961"/>
                    </a:ext>
                  </a:extLst>
                </a:gridCol>
                <a:gridCol w="3555999">
                  <a:extLst>
                    <a:ext uri="{9D8B030D-6E8A-4147-A177-3AD203B41FA5}">
                      <a16:colId xmlns:a16="http://schemas.microsoft.com/office/drawing/2014/main" val="3215655874"/>
                    </a:ext>
                  </a:extLst>
                </a:gridCol>
              </a:tblGrid>
              <a:tr h="58970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단계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주요 활동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설명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구성 요소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832515464"/>
                  </a:ext>
                </a:extLst>
              </a:tr>
              <a:tr h="1215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추상화 </a:t>
                      </a:r>
                      <a:endParaRPr lang="en-US" altLang="ko-KR" sz="1800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Abstraction)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 </a:t>
                      </a:r>
                      <a:endParaRPr lang="en-US" altLang="ko-KR" sz="1800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추출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현실 세계의 사람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사물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현상에서 불필요한 부분은 제거하고 서비스에 필요한 본질만 뽑아내는 과정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색상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이름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나이</a:t>
                      </a:r>
                      <a:endParaRPr lang="en-US" altLang="ko-KR" sz="1800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달리기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멈추기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말하기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095169941"/>
                  </a:ext>
                </a:extLst>
              </a:tr>
              <a:tr h="1215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객체화 </a:t>
                      </a:r>
                      <a:endParaRPr lang="en-US" altLang="ko-KR" sz="1800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Objectification)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endParaRPr lang="en-US" altLang="ko-KR" sz="1800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정의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추상화된 개념을 프로그래밍 언어의 구조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(Class)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에 담아 실제 동작 가능한 단위로 만드는 과정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 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(Variable):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 저장</a:t>
                      </a:r>
                      <a:endParaRPr lang="en-US" altLang="ko-KR" sz="1800" baseline="0" dirty="0"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 </a:t>
                      </a:r>
                      <a:r>
                        <a:rPr lang="en-US" altLang="ko-KR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(Function): </a:t>
                      </a:r>
                      <a:r>
                        <a:rPr lang="ko-KR" altLang="en-US" sz="180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로직 수행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5754941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799CB3-D046-93B1-88CF-F39C1364E05E}"/>
              </a:ext>
            </a:extLst>
          </p:cNvPr>
          <p:cNvSpPr txBox="1"/>
          <p:nvPr/>
        </p:nvSpPr>
        <p:spPr>
          <a:xfrm>
            <a:off x="915382" y="1414115"/>
            <a:ext cx="10118378" cy="956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복잡한 현실 세계는 시간에 따라 움직이고 있기 때문에 미분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(derivative)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이해하고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추상화에 대한 훈련은 프로그래밍의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객체에 대한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OOP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구현으로 경험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77317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0051-1600-0186-2252-0ACB412D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E42708D-8AF6-90B1-C846-4BA65C5C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+ Object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BDC3750-B88D-6FD2-8537-70ECD176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4DA2C2F-442D-D2EB-C2E4-9E071E47C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3760"/>
              </p:ext>
            </p:extLst>
          </p:nvPr>
        </p:nvGraphicFramePr>
        <p:xfrm>
          <a:off x="637698" y="1767918"/>
          <a:ext cx="10916603" cy="383024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30142">
                  <a:extLst>
                    <a:ext uri="{9D8B030D-6E8A-4147-A177-3AD203B41FA5}">
                      <a16:colId xmlns:a16="http://schemas.microsoft.com/office/drawing/2014/main" val="4106552240"/>
                    </a:ext>
                  </a:extLst>
                </a:gridCol>
                <a:gridCol w="3125915">
                  <a:extLst>
                    <a:ext uri="{9D8B030D-6E8A-4147-A177-3AD203B41FA5}">
                      <a16:colId xmlns:a16="http://schemas.microsoft.com/office/drawing/2014/main" val="2267932678"/>
                    </a:ext>
                  </a:extLst>
                </a:gridCol>
                <a:gridCol w="3925125">
                  <a:extLst>
                    <a:ext uri="{9D8B030D-6E8A-4147-A177-3AD203B41FA5}">
                      <a16:colId xmlns:a16="http://schemas.microsoft.com/office/drawing/2014/main" val="310495391"/>
                    </a:ext>
                  </a:extLst>
                </a:gridCol>
                <a:gridCol w="2735421">
                  <a:extLst>
                    <a:ext uri="{9D8B030D-6E8A-4147-A177-3AD203B41FA5}">
                      <a16:colId xmlns:a16="http://schemas.microsoft.com/office/drawing/2014/main" val="276542089"/>
                    </a:ext>
                  </a:extLst>
                </a:gridCol>
              </a:tblGrid>
              <a:tr h="571679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대상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추상화 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 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&amp;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객체화 </a:t>
                      </a:r>
                      <a:r>
                        <a:rPr lang="en-US" altLang="ko-KR" sz="1800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 </a:t>
                      </a:r>
                      <a:r>
                        <a:rPr lang="en-US" altLang="ko-KR" sz="1800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&amp; </a:t>
                      </a:r>
                      <a:r>
                        <a:rPr lang="ko-KR" altLang="en-US" sz="1800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kern="1200" baseline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코드 </a:t>
                      </a:r>
                      <a:endParaRPr lang="en-US" altLang="ko-KR" sz="1800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980183908"/>
                  </a:ext>
                </a:extLst>
              </a:tr>
              <a:tr h="1086188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자동차 </a:t>
                      </a:r>
                      <a:endParaRPr lang="en-US" altLang="ko-KR" sz="1800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사물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모델명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연료 타입</a:t>
                      </a:r>
                      <a:endParaRPr lang="en-US" altLang="ko-KR" sz="1800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가속한다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경적을 울린다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model, fuel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accelerate(), honk()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it-IT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car.model = "Tesla"car.accelerate()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6683253"/>
                  </a:ext>
                </a:extLst>
              </a:tr>
              <a:tr h="1086188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은행원</a:t>
                      </a:r>
                      <a:endParaRPr lang="en-US" altLang="ko-KR" sz="1800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사람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사원번호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소속 지점</a:t>
                      </a:r>
                      <a:endParaRPr lang="en-US" altLang="ko-KR" sz="1800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입금 처리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상담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emp_id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branch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deposit(), consult()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staff.emp_id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= 101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staff.deposit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349304262"/>
                  </a:ext>
                </a:extLst>
              </a:tr>
              <a:tr h="1086188"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주문</a:t>
                      </a:r>
                      <a:endParaRPr lang="en-US" altLang="ko-KR" sz="1800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현상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특징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주문 번호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결제 금액</a:t>
                      </a:r>
                      <a:endParaRPr lang="en-US" altLang="ko-KR" sz="1800" kern="1200" baseline="0" dirty="0">
                        <a:solidFill>
                          <a:schemeClr val="dk1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기능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주문 취소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상태를 변경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order_id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amount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메소드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cancel(), </a:t>
                      </a: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update_status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()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order.amount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= 500</a:t>
                      </a:r>
                    </a:p>
                    <a:p>
                      <a:pPr marL="0" algn="l" defTabSz="457200" rtl="0" eaLnBrk="1" fontAlgn="b" latinLnBrk="1" hangingPunct="1">
                        <a:buNone/>
                      </a:pP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order.cancel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()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935888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46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55BEE-F066-C987-AEE2-D963B9A5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BAC3D81-BA21-7C79-3849-E16FE484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- python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B75353E-AEB2-F738-D4BC-B431AD2B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B3F3D-5A65-3E67-C0FA-B47717BAA45E}"/>
              </a:ext>
            </a:extLst>
          </p:cNvPr>
          <p:cNvSpPr txBox="1"/>
          <p:nvPr/>
        </p:nvSpPr>
        <p:spPr>
          <a:xfrm>
            <a:off x="915383" y="1190864"/>
            <a:ext cx="9508777" cy="5416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class Account: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def __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__(self, owner, balance=0):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속성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(Attributes)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self.owner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owner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balance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메소드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(Methods)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def deposit(self, amount):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amount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return f"{amount}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 입금 완료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def withdraw(self, amount):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if amount &gt;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return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잔액이 부족합니다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amount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return f"{amount}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 출금 완료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self.balance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객체화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인스턴스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my_acc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Account("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김철수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1000)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my_acc.deposit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(500))   # 500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 입금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my_acc.withdraw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(2000))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잔액 부족 확인</a:t>
            </a:r>
          </a:p>
        </p:txBody>
      </p:sp>
    </p:spTree>
    <p:extLst>
      <p:ext uri="{BB962C8B-B14F-4D97-AF65-F5344CB8AC3E}">
        <p14:creationId xmlns:p14="http://schemas.microsoft.com/office/powerpoint/2010/main" val="2658800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8B81-AD91-F370-8D32-FF6C2C9A9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2CA6881-A4DF-DB25-5F01-36F36E9B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OOP – java script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95EC99B-BF2A-8481-22BC-D44961AE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8AA32-2422-26FE-27E7-BEAFCCF66B1C}"/>
              </a:ext>
            </a:extLst>
          </p:cNvPr>
          <p:cNvSpPr txBox="1"/>
          <p:nvPr/>
        </p:nvSpPr>
        <p:spPr>
          <a:xfrm>
            <a:off x="1001260" y="905523"/>
            <a:ext cx="9351279" cy="5755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constructor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owner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// 속성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Attributes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this.owner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owner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// 메소드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Methods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deposit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`${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 입금 완료. 잔액: 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}원`;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withdraw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&gt;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"잔액이 부족합니다.";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`${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 출금 완료. 잔액: ${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this.balance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}원`;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// 객체화 (인스턴스 생성)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myAcc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("이영희", 2000);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myAcc.deposit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(1000));  // 1000원 입금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console.log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myAcc.withdraw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(500));  // 500원 출금</a:t>
            </a:r>
          </a:p>
        </p:txBody>
      </p:sp>
    </p:spTree>
    <p:extLst>
      <p:ext uri="{BB962C8B-B14F-4D97-AF65-F5344CB8AC3E}">
        <p14:creationId xmlns:p14="http://schemas.microsoft.com/office/powerpoint/2010/main" val="429064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5087-E41C-8A71-61A5-59FEBEB4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FCF7855-8455-07D4-C58F-7C5B2F50ABD7}"/>
              </a:ext>
            </a:extLst>
          </p:cNvPr>
          <p:cNvSpPr/>
          <p:nvPr/>
        </p:nvSpPr>
        <p:spPr>
          <a:xfrm>
            <a:off x="612030" y="2502990"/>
            <a:ext cx="10351245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F6958D-8AD6-474A-1C73-9EE71FFD6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4D6687-ED58-E061-9923-E03D9877F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What</a:t>
            </a:r>
            <a:r>
              <a:rPr lang="ko-KR" altLang="en-US" sz="2400" cap="none" dirty="0"/>
              <a:t> </a:t>
            </a:r>
            <a:r>
              <a:rPr lang="en-US" altLang="ko-KR" sz="2400" cap="none" dirty="0"/>
              <a:t>is Modeling?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Python</a:t>
            </a:r>
            <a:r>
              <a:rPr lang="ko-KR" altLang="en-US" sz="2400" cap="none" dirty="0"/>
              <a:t> </a:t>
            </a:r>
            <a:r>
              <a:rPr lang="en-US" altLang="ko-KR" sz="2400" cap="none" dirty="0" err="1"/>
              <a:t>sympy</a:t>
            </a: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(w4)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Simulation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419803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DCFB-7AB3-D3D2-F2B2-E0D460FA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2A0FD5B-2339-E38C-4A56-DE98C9747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7"/>
            <a:ext cx="9556421" cy="47840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dirty="0" err="1"/>
              <a:t>sympy</a:t>
            </a:r>
            <a:r>
              <a:rPr lang="ko-KR" altLang="en-US" dirty="0"/>
              <a:t>는 </a:t>
            </a:r>
            <a:r>
              <a:rPr lang="ko-KR" altLang="en-US" dirty="0" err="1"/>
              <a:t>파이썬에서</a:t>
            </a:r>
            <a:r>
              <a:rPr lang="ko-KR" altLang="en-US" dirty="0"/>
              <a:t> 사용 가능한 대수</a:t>
            </a:r>
            <a:r>
              <a:rPr lang="en-US" altLang="ko-KR" dirty="0"/>
              <a:t>(algebra)</a:t>
            </a:r>
            <a:r>
              <a:rPr lang="ko-KR" altLang="en-US" dirty="0"/>
              <a:t> 계산 라이브러리로</a:t>
            </a:r>
            <a:r>
              <a:rPr lang="en-US" altLang="ko-KR" dirty="0"/>
              <a:t>, </a:t>
            </a:r>
            <a:r>
              <a:rPr lang="ko-KR" altLang="en-US" dirty="0"/>
              <a:t>기호 연산과 수학적 공식 표현을 지원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기호 연산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방정식 풀기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미분과 적분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방정식 그래프 그리기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0FB6319-F468-D130-A036-538E8745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D8D5A3D-86BD-1768-B2E9-BFC0D77D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4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531E-AB77-8E51-290D-2773B075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FB19550-EB7C-EB2B-ACE4-48FF2EDEB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559583"/>
            <a:ext cx="4241471" cy="1450318"/>
          </a:xfrm>
        </p:spPr>
        <p:txBody>
          <a:bodyPr>
            <a:normAutofit/>
          </a:bodyPr>
          <a:lstStyle/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symbols</a:t>
            </a:r>
          </a:p>
          <a:p>
            <a:r>
              <a:rPr lang="en-US" altLang="ko-KR" dirty="0"/>
              <a:t>x, y = symbols('x y')</a:t>
            </a:r>
          </a:p>
          <a:p>
            <a:r>
              <a:rPr lang="en-US" altLang="ko-KR" dirty="0"/>
              <a:t>expr = x + 2*y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6ACA4DB-B8FA-FE1C-66A3-A6ACC600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sympy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7D15890-D0EE-8C14-F2F7-700699B1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B0035CB-472C-77A2-93FC-E6DE07F7868F}"/>
              </a:ext>
            </a:extLst>
          </p:cNvPr>
          <p:cNvSpPr txBox="1">
            <a:spLocks/>
          </p:cNvSpPr>
          <p:nvPr/>
        </p:nvSpPr>
        <p:spPr>
          <a:xfrm>
            <a:off x="978229" y="4217058"/>
            <a:ext cx="4241471" cy="1450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Eq, solve</a:t>
            </a:r>
          </a:p>
          <a:p>
            <a:r>
              <a:rPr lang="en-US" altLang="ko-KR" dirty="0"/>
              <a:t>eq = Eq(x**2 + 2*x + 1, 0)</a:t>
            </a:r>
          </a:p>
          <a:p>
            <a:r>
              <a:rPr lang="en-US" altLang="ko-KR" dirty="0"/>
              <a:t>sol = solve(eq, x)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561FB-B458-7456-44E7-3D6042485AB8}"/>
              </a:ext>
            </a:extLst>
          </p:cNvPr>
          <p:cNvSpPr txBox="1">
            <a:spLocks/>
          </p:cNvSpPr>
          <p:nvPr/>
        </p:nvSpPr>
        <p:spPr>
          <a:xfrm>
            <a:off x="6092264" y="1559583"/>
            <a:ext cx="4241471" cy="14503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</a:t>
            </a:r>
            <a:r>
              <a:rPr lang="en-US" altLang="ko-KR" dirty="0"/>
              <a:t> import diff, integrate</a:t>
            </a:r>
          </a:p>
          <a:p>
            <a:r>
              <a:rPr lang="en-US" altLang="ko-KR" dirty="0"/>
              <a:t>expr = x**2 + 3*x + 2</a:t>
            </a:r>
          </a:p>
          <a:p>
            <a:r>
              <a:rPr lang="en-US" altLang="ko-KR" dirty="0"/>
              <a:t>derivative = diff(expr, x)</a:t>
            </a:r>
          </a:p>
          <a:p>
            <a:r>
              <a:rPr lang="en-US" altLang="ko-KR" dirty="0"/>
              <a:t>integral = integrate(expr, x)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4AFFB05-5355-FE27-BD3B-B918ABE8E1E5}"/>
              </a:ext>
            </a:extLst>
          </p:cNvPr>
          <p:cNvSpPr txBox="1">
            <a:spLocks/>
          </p:cNvSpPr>
          <p:nvPr/>
        </p:nvSpPr>
        <p:spPr>
          <a:xfrm>
            <a:off x="6092263" y="4217058"/>
            <a:ext cx="4241471" cy="14503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dirty="0"/>
              <a:t>from </a:t>
            </a:r>
            <a:r>
              <a:rPr lang="en-US" altLang="ko-KR" dirty="0" err="1"/>
              <a:t>sympy.plotting</a:t>
            </a:r>
            <a:r>
              <a:rPr lang="en-US" altLang="ko-KR" dirty="0"/>
              <a:t> import plot</a:t>
            </a:r>
          </a:p>
          <a:p>
            <a:r>
              <a:rPr lang="en-US" altLang="ko-KR" dirty="0"/>
              <a:t>expr = x**2 - 3*x + 2</a:t>
            </a:r>
          </a:p>
          <a:p>
            <a:r>
              <a:rPr lang="en-US" altLang="ko-KR" dirty="0"/>
              <a:t>plot(expr, (x, -5, 5))</a:t>
            </a:r>
          </a:p>
          <a:p>
            <a:r>
              <a:rPr lang="en-US" altLang="ko-KR" dirty="0"/>
              <a:t>plot(diff(expr, x))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90416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28334-E2FC-87A5-CF77-A6D5B47D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733D36D-6C73-13E4-D21A-A5C972360EF5}"/>
              </a:ext>
            </a:extLst>
          </p:cNvPr>
          <p:cNvSpPr/>
          <p:nvPr/>
        </p:nvSpPr>
        <p:spPr>
          <a:xfrm>
            <a:off x="612030" y="3017340"/>
            <a:ext cx="10351245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C8E2A4A-71D6-CC5F-C373-2A0609957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6BBD99-7112-21BD-317B-9AD8FC601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What</a:t>
            </a:r>
            <a:r>
              <a:rPr lang="ko-KR" altLang="en-US" sz="2400" cap="none" dirty="0"/>
              <a:t> </a:t>
            </a:r>
            <a:r>
              <a:rPr lang="en-US" altLang="ko-KR" sz="2400" cap="none" dirty="0"/>
              <a:t>is Modeling?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Python</a:t>
            </a:r>
            <a:r>
              <a:rPr lang="ko-KR" altLang="en-US" sz="2400" cap="none" dirty="0"/>
              <a:t> </a:t>
            </a:r>
            <a:r>
              <a:rPr lang="en-US" altLang="ko-KR" sz="2400" cap="none" dirty="0" err="1"/>
              <a:t>sympy</a:t>
            </a: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(w4)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Simulation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7577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DBF7-AB87-CB1E-4F78-323C7FAF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02B9442-5172-8A2C-4B61-7CAEF6300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8"/>
                <a:ext cx="10518446" cy="76643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위치함수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ko-KR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에 대한 순간 속도를 </a:t>
                </a:r>
                <a:r>
                  <a:rPr lang="ko-KR" altLang="en-US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중앙차분법과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numpy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함수를 이용하여 구해보자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02B9442-5172-8A2C-4B61-7CAEF6300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8"/>
                <a:ext cx="10518446" cy="766439"/>
              </a:xfrm>
              <a:blipFill>
                <a:blip r:embed="rId2"/>
                <a:stretch>
                  <a:fillRect l="-232" r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E0AD441E-5917-450E-4906-51D94A1D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93C5350-3870-2D8F-063A-AD4B66AB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E18C21-4770-2BC0-8BD7-B0587A0B5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506" y="3107695"/>
            <a:ext cx="2428241" cy="611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1B5042-81F3-1D81-50D6-FAD08CC36ACA}"/>
              </a:ext>
            </a:extLst>
          </p:cNvPr>
          <p:cNvSpPr txBox="1"/>
          <p:nvPr/>
        </p:nvSpPr>
        <p:spPr>
          <a:xfrm>
            <a:off x="9179507" y="4097028"/>
            <a:ext cx="2428240" cy="3075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np.gradient</a:t>
            </a:r>
            <a:r>
              <a:rPr lang="en-US" altLang="ko-KR" sz="16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(s, dt)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D2425C-5D0B-8F86-601F-AFC41FBF7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009" y="2087898"/>
            <a:ext cx="6356032" cy="379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554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5B32-3A82-65C8-07D9-E80625DED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AD07620-1C56-7E04-E640-894F6911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91CE662-B35B-C77A-D49F-4A75B2A8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9CA904-9641-C50F-FC09-6A1532A4D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46" y="966071"/>
            <a:ext cx="2428241" cy="611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9DAC9E-F85E-19E4-742B-1724AC7EFD2F}"/>
              </a:ext>
            </a:extLst>
          </p:cNvPr>
          <p:cNvSpPr txBox="1"/>
          <p:nvPr/>
        </p:nvSpPr>
        <p:spPr>
          <a:xfrm>
            <a:off x="6233107" y="1269792"/>
            <a:ext cx="2428240" cy="3075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np.gradient</a:t>
            </a:r>
            <a:r>
              <a:rPr lang="en-US" altLang="ko-KR" sz="16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(s, dt)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E3A5D-3E52-D6C6-5536-BF9FA2893FD5}"/>
              </a:ext>
            </a:extLst>
          </p:cNvPr>
          <p:cNvSpPr txBox="1"/>
          <p:nvPr/>
        </p:nvSpPr>
        <p:spPr>
          <a:xfrm>
            <a:off x="6161987" y="1767006"/>
            <a:ext cx="5480988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위치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초부터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초까지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0.1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 간격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지점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np.linspace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(0, 10, 101)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dt = t[1] - t[0]  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간격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(delta 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위치 함수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s(t) = t^2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이론적 속도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v(t) = 2t)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 = t**2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velocity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np.gradient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(s, dt)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확인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이론값과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비교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theoretical_v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2 * t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초에서 수치적 속도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{velocity[50]:.2f}")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초에서 이론적 속도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theoretical_v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[50]:.2f}")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F8188-0C4C-AB10-D6DB-02DAAE7695C3}"/>
              </a:ext>
            </a:extLst>
          </p:cNvPr>
          <p:cNvSpPr txBox="1"/>
          <p:nvPr/>
        </p:nvSpPr>
        <p:spPr>
          <a:xfrm>
            <a:off x="360626" y="1680045"/>
            <a:ext cx="5735374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central_difference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(f, x, eps=1e-6):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중앙 차분법을 이용한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계산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미분할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    x: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구할 지점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eps: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아주 작은 변화량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(epsilon)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v(t) ≈ [s(t +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t) - s(t -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t)] / (2 *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numerator = f(x + eps) - f(x - eps)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denominator = 2 * eps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numerator / denominator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target_function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x**2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설정값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5; epsilon = 0.000001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result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central_difference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target_function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epsilon)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=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미분값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{result}")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(2x): {2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오차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{abs(result - 2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x_point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)}")</a:t>
            </a:r>
          </a:p>
        </p:txBody>
      </p:sp>
    </p:spTree>
    <p:extLst>
      <p:ext uri="{BB962C8B-B14F-4D97-AF65-F5344CB8AC3E}">
        <p14:creationId xmlns:p14="http://schemas.microsoft.com/office/powerpoint/2010/main" val="2057866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BAD0D-64F0-5C6E-557E-EF4FB2FC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D5494DE-863C-9F38-C650-4485FDD2E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4355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미분과 적분은 단순히 복잡한 수식이 아니라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움직이는 변화를 관찰하는 도구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(t)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따른 위치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(s),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(v),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(a)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관계는 미적분을 이해하기 가장 좋은 물리적 모델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(Differentiation)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위치를 시간에 대해 미분하면 속도가 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미분하면 가속도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순간적인 변화율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(Integration)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가속도를 시간에 대해 적분하면 속도가 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속도를 적분하면 변화된 거리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누적된 총량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74C09B2-C18A-C9AE-7C68-6315A1CD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180848-7044-645C-DB72-202A5595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2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3B1AB-73E4-323F-DBA4-700600A0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90ACADF-2BFB-89EA-4CEA-83CC7F2A4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5442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[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문제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]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시속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10km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인 자동차로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시간을 주행하면 이동한 전체 거리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(km)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구하는 파이썬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코드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1C0D103-A023-ED17-E303-9AE7F145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B29F212-C4C7-C099-E8CD-444A510C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16A4D-C550-0674-1A0D-2D86DB3F17EB}"/>
              </a:ext>
            </a:extLst>
          </p:cNvPr>
          <p:cNvSpPr txBox="1"/>
          <p:nvPr/>
        </p:nvSpPr>
        <p:spPr>
          <a:xfrm>
            <a:off x="1080653" y="1954829"/>
            <a:ext cx="9337966" cy="427809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sympy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기호 및 변수 정의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sp.symbols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('t'); a = 2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가속도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 = 2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속도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v(t)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구하기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가속도를 시간에 대해 적분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v = integral(a) dt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sp.integrate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(a, t)</a:t>
            </a:r>
          </a:p>
          <a:p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s(t)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구하기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속도를 시간에 대해 적분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sp.integrate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(v, t)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속도 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v(t) = {v},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거리 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s(t) = {s}")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4. 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초 때의 값 계산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distance_at_5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s.subs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(t, 5); velocity_at_5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v.subs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(t, 5)</a:t>
            </a:r>
          </a:p>
          <a:p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초 후 속도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{velocity_at_5} m/s, 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초 후 이동 거리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{distance_at_5} m")</a:t>
            </a:r>
          </a:p>
        </p:txBody>
      </p:sp>
    </p:spTree>
    <p:extLst>
      <p:ext uri="{BB962C8B-B14F-4D97-AF65-F5344CB8AC3E}">
        <p14:creationId xmlns:p14="http://schemas.microsoft.com/office/powerpoint/2010/main" val="190825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F85AD-4242-C287-E9AC-59ECC4A9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2288B82-8279-02EE-6D4C-834A12616B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서울에서 강릉까지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(180 km)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여행을 가는데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처음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교통체증으로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분이 걸렸고 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도로가 뻥 뚫려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45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 만에 달렸다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전체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𝑎𝑣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km/h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단위로 계산하세요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각 구간의 속도는 각각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60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120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입니다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단순히 두 속도의 산술평균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(90 km/h)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 왜 다를까요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? “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거리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÷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시간”이라는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평균속도의 정의를 이용해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82288B82-8279-02EE-6D4C-834A12616B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  <a:blipFill>
                <a:blip r:embed="rId2"/>
                <a:stretch>
                  <a:fillRect l="-232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8B94D30B-61C5-F50A-881E-9D567962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7E7BEBB-7AF7-A56F-1FDB-111BF55E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58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C9BB-C576-5D76-A621-12F6D2D3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CC1FF3CA-0FF4-CF72-D678-8EE97947D8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마블의 순간 이동 능력으로 당신의 위치가 시간에 따라 아래와 같이 주어졌어요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𝑥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=4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p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p>
                    </m:sSup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+2</m:t>
                    </m:r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m, t: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𝑡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=0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초부터 𝑡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=5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초까지의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𝑎𝑣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구하시오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 함수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𝑣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𝑑𝑥</m:t>
                        </m:r>
                      </m:num>
                      <m:den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𝑑𝑡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𝑡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=3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초에서의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계산하시오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평균속도과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CC1FF3CA-0FF4-CF72-D678-8EE97947D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6"/>
                <a:ext cx="10518446" cy="4109526"/>
              </a:xfrm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AB17F3EE-D6F0-304C-76DD-092CEB6B8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FB34E9E-4A02-7B86-AD9B-8F5BC007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777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DB512-E367-6CB3-6427-170A6575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92E82CDE-27C5-644F-77A7-4B7B8E305E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7"/>
                <a:ext cx="10518446" cy="190190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마블의 순간 이동에 따른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변화된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함수가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+9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 인 어떤 물체의 움직임을 살펴보자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거리변화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속도 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70000"/>
                  </a:lnSpc>
                </a:pP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특정시간에 위치는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일 때 나의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움직인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92E82CDE-27C5-644F-77A7-4B7B8E305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7"/>
                <a:ext cx="10518446" cy="1901900"/>
              </a:xfrm>
              <a:blipFill>
                <a:blip r:embed="rId2"/>
                <a:stretch>
                  <a:fillRect l="-58" b="-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E1DEF03F-E099-05C7-39C4-D8D08C14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C8490EB-72B1-37E5-1777-33C45371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C714919-2A05-70C7-C618-3BD78C956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351" y="3429000"/>
            <a:ext cx="8954202" cy="294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4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762A-CD1D-F0CB-9A99-FC8EA8D4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7F0CC4A2-4B44-9CAA-B20A-151E69FCF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변화된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함수가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b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ko-KR" altLang="en-US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+9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 인 어떤 물체의 움직임을 살펴보자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거리변화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시간변화 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속도 변화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cs typeface="맑은 고딕 Semilight" panose="020B0502040204020203" pitchFamily="50" charset="-127"/>
                </a:endParaRPr>
              </a:p>
              <a:p>
                <a:pPr lvl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특정시간에 위치는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일 때 나의 위치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움직인 거리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는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 Semilight" panose="020B0502040204020203" pitchFamily="50" charset="-127"/>
                  </a:rPr>
                  <a:t>?</a:t>
                </a:r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7F0CC4A2-4B44-9CAA-B20A-151E69FCF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8229" y="1321457"/>
                <a:ext cx="10518446" cy="1583667"/>
              </a:xfrm>
              <a:blipFill>
                <a:blip r:embed="rId2"/>
                <a:stretch>
                  <a:fillRect l="-232" t="-4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제목 1">
            <a:extLst>
              <a:ext uri="{FF2B5EF4-FFF2-40B4-BE49-F238E27FC236}">
                <a16:creationId xmlns:a16="http://schemas.microsoft.com/office/drawing/2014/main" id="{33FA9756-4D60-95AD-C21F-D0BF91D49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AB88AB-AF58-CDCF-02C5-0714062F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A8962F5-C54B-FA99-98A0-64D114B85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440" y="3070225"/>
            <a:ext cx="9373736" cy="308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369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3342-2425-B552-0F6D-02A599DF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1A20275-9114-67D7-400E-3F605E1DB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379" y="1220061"/>
            <a:ext cx="10642271" cy="132014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그림은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1,000 US dollars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은행에 복리이자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(compound interest)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월복리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분기복리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복리 그리고 시간을 무한히 나누어 복리이자를 한 경우의 그래프이다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미분방정식과 미래 가치 등을 계산하여 시각화를 재현하라 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22A52C4-A097-F5B5-CE72-E072B1D76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Space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33A2C10-ABF7-FF0C-AC9E-C8A89559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6430F4-CAAD-D9B3-D0F2-334DB356A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967" y="2696848"/>
            <a:ext cx="6118009" cy="382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93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7CA38-A875-3AAA-1D00-9E61E21A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82AF068-BBCB-0F90-B9B7-4F0223E86D25}"/>
              </a:ext>
            </a:extLst>
          </p:cNvPr>
          <p:cNvSpPr/>
          <p:nvPr/>
        </p:nvSpPr>
        <p:spPr>
          <a:xfrm>
            <a:off x="612030" y="3531690"/>
            <a:ext cx="10351245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741A9EA-2BF6-82FF-85AC-A7C80B26E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8E50BC-458E-2CE3-0B12-53AD2C83E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What</a:t>
            </a:r>
            <a:r>
              <a:rPr lang="ko-KR" altLang="en-US" sz="2400" cap="none" dirty="0"/>
              <a:t> </a:t>
            </a:r>
            <a:r>
              <a:rPr lang="en-US" altLang="ko-KR" sz="2400" cap="none" dirty="0"/>
              <a:t>is Modeling?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Python</a:t>
            </a:r>
            <a:r>
              <a:rPr lang="ko-KR" altLang="en-US" sz="2400" cap="none" dirty="0"/>
              <a:t> </a:t>
            </a:r>
            <a:r>
              <a:rPr lang="en-US" altLang="ko-KR" sz="2400" cap="none" dirty="0" err="1"/>
              <a:t>sympy</a:t>
            </a: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(w4)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Simulation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915326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7F15-CC48-EF66-DE9B-044C76CC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B86733F-17E8-F77E-0D2D-9C8ACE002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72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 추세선을 바탕으로 최적 조달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비율을 결정하라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배경설명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데이터는 </a:t>
            </a:r>
            <a:r>
              <a:rPr lang="en-US" altLang="ko-KR" dirty="0">
                <a:latin typeface="맑은 고딕" panose="020B0503020000020004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Obtain_data_prices.csv</a:t>
            </a:r>
            <a:r>
              <a:rPr lang="en-US" altLang="ko-KR" dirty="0">
                <a:latin typeface="맑은 고딕" panose="020B0503020000020004" pitchFamily="50" charset="-127"/>
                <a:cs typeface="맑은 고딕 Semilight" panose="020B0502040204020203" pitchFamily="50" charset="-127"/>
              </a:rPr>
              <a:t> )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759CEC3-8C62-8AED-B57C-6AC41CB5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00ACED5-0EA9-66A8-294D-E39924E5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761D9-3270-411C-4820-CE4B86A769DC}"/>
              </a:ext>
            </a:extLst>
          </p:cNvPr>
          <p:cNvSpPr txBox="1"/>
          <p:nvPr/>
        </p:nvSpPr>
        <p:spPr>
          <a:xfrm>
            <a:off x="1919202" y="2493818"/>
            <a:ext cx="9423053" cy="35421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제품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 (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생산 공정의 필수 원자재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기간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2018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~ 2020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년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월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과거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26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개월 데이터 기반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목적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향후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12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개월 예산 수립을 위한 공급업체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(A, B) 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간 최적 구매 비율 결정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분석 시나리오 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예상 분석 프로세스</a:t>
            </a:r>
            <a:r>
              <a:rPr lang="en-US" altLang="ko-KR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: </a:t>
            </a:r>
            <a:r>
              <a:rPr lang="ko-KR" altLang="en-US" sz="14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공급업체 선정 및 비율 결정을 위해 다음 세 가지 지표를 검토하라</a:t>
            </a:r>
            <a:endParaRPr lang="en-US" altLang="ko-KR" sz="14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산술 평균 가격 비교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기대 비용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업체 중 어느 곳이 전반적으로 더 저렴한가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만약  라면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비용 절감 측면에서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유리하지만 단순히 평균만 봐서는 안 되며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특정 시점의 가격 역전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(Price Cross)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빈도를 확인</a:t>
            </a:r>
            <a:r>
              <a:rPr lang="ko-KR" altLang="en-US" sz="1200" dirty="0">
                <a:solidFill>
                  <a:srgbClr val="FFFFFF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하라</a:t>
            </a:r>
            <a:endParaRPr lang="en-US" altLang="ko-KR" sz="12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변동성 및 리스크 분석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표준편차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가격이 얼마나 널뛰는가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예산 모델링에서 안정성은 매우 </a:t>
            </a:r>
            <a:r>
              <a:rPr lang="ko-KR" altLang="en-US" sz="1200" b="0" i="0" dirty="0" err="1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중요하기때문에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평균 가격이 낮더라도 변동성이 너무 크면 예산 초과 리스크가 발생</a:t>
            </a:r>
            <a:endParaRPr lang="en-US" altLang="ko-KR" sz="12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상관관계 분석 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포트폴리오 효과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업체의 가격이 같이 움직이는가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상관계수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확인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업체의 가격 상관관계가 낮거나 음수라면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물량을 나누어 구매함으로써 전체 조달 비용의 변동성을 상쇄</a:t>
            </a:r>
            <a:r>
              <a:rPr lang="en-US" altLang="ko-KR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(Hedge)</a:t>
            </a:r>
            <a:r>
              <a:rPr lang="ko-KR" altLang="en-US" sz="1200" b="0" i="0" dirty="0">
                <a:solidFill>
                  <a:srgbClr val="FFFFFF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할 수 있음</a:t>
            </a:r>
            <a:endParaRPr lang="en-US" altLang="ko-KR" sz="1200" b="0" i="0" dirty="0">
              <a:solidFill>
                <a:srgbClr val="FFFFFF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8368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218E5-3E28-1CD8-FEE2-5661777B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FE9F5D6-547A-F4CE-3159-6BF1FB221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72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 추세선을 바탕으로 최적의 주문 비율을 정하라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24C7295-8C9B-4984-1744-BA1E610BF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3B57F09-7FBE-6536-DDB5-1C49E76C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67C35D-C18A-EE13-477B-33829D7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531" y="2191429"/>
            <a:ext cx="9993935" cy="29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547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44E43-CB59-8F5C-4388-4811D5B1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518745B-AC4C-DDD2-8292-D26BA853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11645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군데 공급업체의 물품 가격의 이동평균과 이동 표준편차를 고려하라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(Hints)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가격의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변동성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분산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큰 것은 위험한 것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 Minimization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C2D05B7-AC60-6082-2034-4BCDC4EF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FD1F052-3979-3A26-E065-56AF8FA9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E337E23-A785-0D8C-E673-31CA7D63D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424" y="2744067"/>
            <a:ext cx="9228590" cy="303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018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7A33-2D8C-8206-106E-DD18CAAB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810804F-F0BA-ECEF-4EB9-DFFA04EB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10518446" cy="766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비용함수를 만들어 최적화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미분 값이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zero)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되는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w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찾으면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0.7023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3FE925E-53B4-0BD5-7DDB-C1DBEFCD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7E96ED0-98E2-AE92-8E7D-773680F5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436B390-E3E2-8328-29E8-1FA5AA40C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2345939"/>
            <a:ext cx="51530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757515-8BAB-A0AF-2D1F-FA9AD75392E2}"/>
              </a:ext>
            </a:extLst>
          </p:cNvPr>
          <p:cNvSpPr txBox="1"/>
          <p:nvPr/>
        </p:nvSpPr>
        <p:spPr>
          <a:xfrm>
            <a:off x="6543675" y="2310488"/>
            <a:ext cx="5153025" cy="358046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</a:t>
            </a: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기호 정의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w: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배분 비율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A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B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A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공분산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w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('omega')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sp.symbols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('sigma_A^2 sigma_B^2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sigma_AB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리스크 함수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분산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정의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L(w) = Var(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*w +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*(1-w))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전개식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w^2*Var(A) + (1-w)^2*Var(B) + 2*w*(1-w)*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Cov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(A,B)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 = w**2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+ (1-w)**2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sB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+ 2*w*(1-w) *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sAB</a:t>
            </a:r>
            <a:b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</a:br>
            <a:endParaRPr lang="en-US" altLang="ko-KR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최적화를 위한 미분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(dL/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dw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0)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diff_L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sp.diff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(L, w)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optimal_w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sp.solve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diff_L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w)[0]</a:t>
            </a:r>
          </a:p>
        </p:txBody>
      </p:sp>
    </p:spTree>
    <p:extLst>
      <p:ext uri="{BB962C8B-B14F-4D97-AF65-F5344CB8AC3E}">
        <p14:creationId xmlns:p14="http://schemas.microsoft.com/office/powerpoint/2010/main" val="1930366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751CB-97F3-FAD4-8FC7-69F95AC3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D02CA89-5E6E-2293-60FD-38CF06B06C7E}"/>
              </a:ext>
            </a:extLst>
          </p:cNvPr>
          <p:cNvSpPr/>
          <p:nvPr/>
        </p:nvSpPr>
        <p:spPr>
          <a:xfrm>
            <a:off x="612030" y="4029076"/>
            <a:ext cx="10351245" cy="10287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4A26D1-8101-04B6-8195-B64141F75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31E5B7-B79B-60B2-A47D-177A73EC9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What</a:t>
            </a:r>
            <a:r>
              <a:rPr lang="ko-KR" altLang="en-US" sz="2400" cap="none" dirty="0"/>
              <a:t> </a:t>
            </a:r>
            <a:r>
              <a:rPr lang="en-US" altLang="ko-KR" sz="2400" cap="none" dirty="0"/>
              <a:t>is Modeling?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Python</a:t>
            </a:r>
            <a:r>
              <a:rPr lang="ko-KR" altLang="en-US" sz="2400" cap="none" dirty="0"/>
              <a:t> </a:t>
            </a:r>
            <a:r>
              <a:rPr lang="en-US" altLang="ko-KR" sz="2400" cap="none" dirty="0" err="1"/>
              <a:t>sympy</a:t>
            </a: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(w4)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Simulation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180223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2365C-2FC7-5245-0848-EAD4EECDB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B2126BE-317A-FC6D-1EFF-328494D8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911645E-4FD6-1363-3E45-0A247404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131A6A-B13C-CBF5-A2D9-F3D965A1F0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92866" y="3034136"/>
            <a:ext cx="4673771" cy="102133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FA0E69-D0BF-D5B0-8F1E-C0EF9C65DE9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92866" y="4316873"/>
            <a:ext cx="4633188" cy="112955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5B7088D-3D0B-DB8A-8968-53C063BAF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775" y="1622010"/>
            <a:ext cx="5159187" cy="1150720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1C2C48BE-9BC7-5AC2-EEEF-B0EB00AFA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5" y="1622010"/>
            <a:ext cx="53530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5B14EC5A-44EC-8A71-55DA-2308077F4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5" y="1624058"/>
            <a:ext cx="53530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3B44A2-52A5-F573-88BA-ED032686EDA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25363" y="3544801"/>
            <a:ext cx="1045904" cy="30727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71B9045-AEBD-DD1A-465A-F80A2DB51B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0792" y="2071264"/>
            <a:ext cx="283635" cy="3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3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AFA8D-EFC0-F006-D4AB-47B69926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F9712C-5B4D-1BD5-FE8A-54E45DDEC35E}"/>
              </a:ext>
            </a:extLst>
          </p:cNvPr>
          <p:cNvSpPr txBox="1"/>
          <p:nvPr/>
        </p:nvSpPr>
        <p:spPr>
          <a:xfrm>
            <a:off x="1010497" y="1068787"/>
            <a:ext cx="6921227" cy="549381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sklearn.linear_model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Ridge, Lasso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sklearn.preprocessing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np.random.RandomState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(1234)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X = 10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rng.rand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(100); y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np.cos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(X) + 0.25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rng.randn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(100)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np.linspace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(0, 10, 100)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models = {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'Linear':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'Polynomial':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(20),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LinearRegression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'Ridge':      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(20), Ridge(alpha=1)),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'Lasso':      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make_pipeline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PolynomialFeatures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(20), Lasso(alpha=1)),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plt.figure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figsize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=(20, 6));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plt.scatter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(X, y)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styles = ['r-', 'g-', 'b-', 'k-’]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for (name, model), style in zip(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models.items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(), styles):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(X[:,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], y)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model.predict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Xfit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[:,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np.newaxis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]), style, label=name)</a:t>
            </a:r>
          </a:p>
          <a:p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plt.legend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fontsize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=16);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plt.ylim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(-4, 4)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7F26F4B-F240-5660-DE77-05421AF31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D804364-33A8-ACB2-C2E5-864D11EB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E121FA0-5424-CAF3-1125-68C64E1BB051}"/>
              </a:ext>
            </a:extLst>
          </p:cNvPr>
          <p:cNvSpPr/>
          <p:nvPr/>
        </p:nvSpPr>
        <p:spPr>
          <a:xfrm>
            <a:off x="8340436" y="2789382"/>
            <a:ext cx="692728" cy="1385454"/>
          </a:xfrm>
          <a:prstGeom prst="rightArrow">
            <a:avLst>
              <a:gd name="adj1" fmla="val 64667"/>
              <a:gd name="adj2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87D16-AA64-F12D-47ED-51AE537B5490}"/>
              </a:ext>
            </a:extLst>
          </p:cNvPr>
          <p:cNvSpPr txBox="1"/>
          <p:nvPr/>
        </p:nvSpPr>
        <p:spPr>
          <a:xfrm>
            <a:off x="9264073" y="2789382"/>
            <a:ext cx="23737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함수에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L2 penalty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부여한 새로운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설정하여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코드를 생성하라</a:t>
            </a:r>
          </a:p>
        </p:txBody>
      </p:sp>
    </p:spTree>
    <p:extLst>
      <p:ext uri="{BB962C8B-B14F-4D97-AF65-F5344CB8AC3E}">
        <p14:creationId xmlns:p14="http://schemas.microsoft.com/office/powerpoint/2010/main" val="115406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C6248-6D72-599D-744F-432D5336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085A04D-EF04-3F8D-A947-FE4D089E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CB7F988-D5C4-5870-D9A5-B64851E4D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A3345F55-6DC8-BA9A-C400-4AD8D293AEEB}"/>
              </a:ext>
            </a:extLst>
          </p:cNvPr>
          <p:cNvSpPr/>
          <p:nvPr/>
        </p:nvSpPr>
        <p:spPr>
          <a:xfrm>
            <a:off x="222655" y="2586182"/>
            <a:ext cx="692728" cy="1385454"/>
          </a:xfrm>
          <a:prstGeom prst="rightArrow">
            <a:avLst>
              <a:gd name="adj1" fmla="val 64667"/>
              <a:gd name="adj2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887B91-54A7-95FF-9AFE-3DFCE4E3D89F}"/>
              </a:ext>
            </a:extLst>
          </p:cNvPr>
          <p:cNvSpPr txBox="1"/>
          <p:nvPr/>
        </p:nvSpPr>
        <p:spPr>
          <a:xfrm>
            <a:off x="1136072" y="1502896"/>
            <a:ext cx="6216074" cy="4532651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기본 손실 함수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MSE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mse_loss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y_pred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** 2)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Penalty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계산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l1_penalty = l1_lambda *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torch.abs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(w).sum()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l2_penalty = l2_lambda *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torch.pow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(w, 2).sum()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전체 비용 함수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(Total Loss)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loss_lasso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mse_loss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alpha*l1_penalty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loss_ridge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mse_loss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alpha*l2_penalty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loss_elastic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mse_loss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l1_penalty + l2_penalty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8861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F0C96-3B27-BB48-DA78-0CFBBF4E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1DE821-57A7-BE4B-1984-B5F99A559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Loss Function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2BC1B00-91CB-AC63-78CA-FAF87EAC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36D9234-AC50-5FCB-71B1-2935B19F2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305" y="1401080"/>
            <a:ext cx="4634549" cy="466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EC122D-E7BB-BE6B-B3A0-157E9953BF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74090" y="1401081"/>
            <a:ext cx="2572109" cy="9145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CE945B4-C646-B222-F74D-3C0DBC99C4B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74090" y="4147686"/>
            <a:ext cx="2572109" cy="9450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BD6D12-C63F-13C0-6BC9-77A7B60A3405}"/>
              </a:ext>
            </a:extLst>
          </p:cNvPr>
          <p:cNvSpPr txBox="1"/>
          <p:nvPr/>
        </p:nvSpPr>
        <p:spPr>
          <a:xfrm>
            <a:off x="6541544" y="2399835"/>
            <a:ext cx="5209309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가중치의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절대값 합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페널티로 사용하여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중요하지 않은 변수의 계수를 정확히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만들어 변수 선택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 Selection)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효과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5E84E4-F875-478E-C686-9758ADE9AAD8}"/>
              </a:ext>
            </a:extLst>
          </p:cNvPr>
          <p:cNvSpPr txBox="1"/>
          <p:nvPr/>
        </p:nvSpPr>
        <p:spPr>
          <a:xfrm>
            <a:off x="6541544" y="5198073"/>
            <a:ext cx="5209309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가중치의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제곱 합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페널티로 사용하여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계수를 완전히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만들지는 않지만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전체적으로 크기를 줄여서 모델의 분산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(Variance)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낮추고 과적합을 방지</a:t>
            </a:r>
          </a:p>
        </p:txBody>
      </p:sp>
    </p:spTree>
    <p:extLst>
      <p:ext uri="{BB962C8B-B14F-4D97-AF65-F5344CB8AC3E}">
        <p14:creationId xmlns:p14="http://schemas.microsoft.com/office/powerpoint/2010/main" val="2546202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4CD8-1D16-6AD6-B54E-7388453B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6E90116-C523-D76C-F59D-44C18205E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BD4E204-6627-F492-F83A-589BDCFE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7CC84CE-B9A5-2280-2812-A5EDCAF2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91" y="3281109"/>
            <a:ext cx="9524208" cy="30315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4405D29-D6D4-9CE0-F89E-3F54C70037AC}"/>
              </a:ext>
            </a:extLst>
          </p:cNvPr>
          <p:cNvSpPr txBox="1"/>
          <p:nvPr/>
        </p:nvSpPr>
        <p:spPr>
          <a:xfrm>
            <a:off x="825500" y="1167597"/>
            <a:ext cx="10591800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72920" algn="just">
              <a:lnSpc>
                <a:spcPct val="150000"/>
              </a:lnSpc>
            </a:pP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데이터를 정확하게 예측 판단하지 못하는</a:t>
            </a:r>
            <a:r>
              <a:rPr lang="en-US" altLang="ko-KR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(Loss)</a:t>
            </a: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비율</a:t>
            </a:r>
          </a:p>
          <a:p>
            <a:pPr marR="0" algn="just">
              <a:lnSpc>
                <a:spcPct val="150000"/>
              </a:lnSpc>
            </a:pP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허위음성율</a:t>
            </a:r>
            <a:r>
              <a:rPr lang="en-US" altLang="ko-KR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(FNR, False Negative Ratio)</a:t>
            </a: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허위양성율</a:t>
            </a:r>
            <a:r>
              <a:rPr lang="en-US" altLang="ko-KR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(FPR, False Positive Ratio)</a:t>
            </a:r>
            <a:r>
              <a:rPr lang="ko-KR" altLang="en-US" sz="1600" b="0" i="0" u="none" strike="noStrike" baseline="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최소화하는 것이 목적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58BBE36-A70D-B74B-BAC8-1688AFDF019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99093" y="2213027"/>
            <a:ext cx="4439005" cy="88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68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7586-3465-1D7A-31A0-DE17D4543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49C7335-0937-BF0A-7257-FEF83D06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DAC531A-330A-E70F-AAF7-4CD509A4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F2C866-AFC2-4BB2-B62D-131ABEC60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76" y="2004810"/>
            <a:ext cx="4943950" cy="2111911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B4DC94A1-2481-AD85-5509-B66CEB38C98D}"/>
              </a:ext>
            </a:extLst>
          </p:cNvPr>
          <p:cNvGrpSpPr/>
          <p:nvPr/>
        </p:nvGrpSpPr>
        <p:grpSpPr>
          <a:xfrm>
            <a:off x="915383" y="1785765"/>
            <a:ext cx="4228117" cy="4702670"/>
            <a:chOff x="1432947" y="1241371"/>
            <a:chExt cx="4301103" cy="4934140"/>
          </a:xfrm>
        </p:grpSpPr>
        <p:pic>
          <p:nvPicPr>
            <p:cNvPr id="5" name="그림 4" descr="plot sgd loss functions">
              <a:extLst>
                <a:ext uri="{FF2B5EF4-FFF2-40B4-BE49-F238E27FC236}">
                  <a16:creationId xmlns:a16="http://schemas.microsoft.com/office/drawing/2014/main" id="{5F49B6A3-1F88-DA90-EF99-F850EDDAD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2947" y="2949683"/>
              <a:ext cx="4301103" cy="3225828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4BA405C-1BDA-9D33-44AF-91EAB0128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2947" y="1241371"/>
              <a:ext cx="4301103" cy="170831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5DE5ECE-63FB-B037-2FD5-1FF750880A29}"/>
              </a:ext>
            </a:extLst>
          </p:cNvPr>
          <p:cNvSpPr txBox="1"/>
          <p:nvPr/>
        </p:nvSpPr>
        <p:spPr>
          <a:xfrm>
            <a:off x="813783" y="1385655"/>
            <a:ext cx="3134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plot_sgd_loss_functions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672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A55CF-E7EE-C827-C3D7-F2D302C8D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CD0DE86-D4D4-A076-6A4D-505C27618FB5}"/>
              </a:ext>
            </a:extLst>
          </p:cNvPr>
          <p:cNvSpPr/>
          <p:nvPr/>
        </p:nvSpPr>
        <p:spPr>
          <a:xfrm>
            <a:off x="545355" y="5046165"/>
            <a:ext cx="10351245" cy="6783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052B242-5FD6-A7D7-9560-6A8CC35E2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DB4CA3-450A-0BD3-7E70-27691F664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31490"/>
            <a:ext cx="10760820" cy="365016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Modeling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Python</a:t>
            </a:r>
            <a:r>
              <a:rPr lang="ko-KR" altLang="en-US" sz="2400" cap="none" dirty="0"/>
              <a:t> </a:t>
            </a:r>
            <a:r>
              <a:rPr lang="en-US" altLang="ko-KR" sz="2400" cap="none" dirty="0" err="1"/>
              <a:t>sympy</a:t>
            </a: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Time &amp; Space (w1)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(w2)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Optimization Using Gradient Descent: Linear Regression (w3)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Regression &amp; Classification with Perceptron (w4)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cap="none" dirty="0"/>
              <a:t>Simulation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cap="none" dirty="0"/>
          </a:p>
          <a:p>
            <a:pPr marL="514350" indent="-514350">
              <a:lnSpc>
                <a:spcPct val="150000"/>
              </a:lnSpc>
              <a:buAutoNum type="arabicPeriod"/>
            </a:pPr>
            <a:endParaRPr lang="ko-KR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999107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3C1C-752E-1492-75CD-9260CD39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0209EB2-DA90-3A5C-9F40-6CC699307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65A7FF-E730-2207-3FF2-2E5E8228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F9EEEA1-E59F-8F64-113D-54452538E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17" y="1661628"/>
            <a:ext cx="10876566" cy="3936532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불확실한 결과를 예측하기 위해 반복적인 무작위 추출을 사용하는 통계적 기법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결과가 확률에 의존하는 도박처럼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수학적으로 계산하기 너무 복잡한 문제들을 수만 번의 가상 실험을 통해 그 근삿값을 찾아내는 방식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몬테카를로의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작동 원리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 정의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결과에 영향을 주는 불확실한 요소들을 정의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 분포 할당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각 변수가 가질 수 있는 값의 범위와 확률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설정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반복 실험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컴퓨터를 이용해 무작위 값을 입력하며 수천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수만 번의 시뮬레이션을 실행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 분석</a:t>
            </a:r>
            <a:r>
              <a:rPr lang="en-US" altLang="ko-KR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도출된 수많은 결과값의 평균이나 분포를 통해 최종 결과를 예측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0523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BF9B-1D11-3390-0C0C-334544E2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7ADE4C9-5D44-4C0B-E4E8-31419423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BCD0A05-60EA-3637-1B32-5ED51A296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1E254081-038C-0151-1EAC-C8D3FE5094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</p:spPr>
            <p:txBody>
              <a:bodyPr>
                <a:normAutofit fontScale="92500" lnSpcReduction="10000"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지금이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원의 둘레가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원의 둘레를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(0.5, 0)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시작벡터로 부터 아주 작은 단위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(epsilon=0.00001)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이동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미분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한 새로운 벡터와의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L2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거리를 무수히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(100_000)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생성하여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누적거리를 구하는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적분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모의실험으로 원주율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685800" lvl="1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L2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en-US" altLang="ko-KR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math.sqrt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이외 원의 방정식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en-US" altLang="ko-KR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np.pi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등 어떠한 공식도 사용하지 마라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수치해석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(Numerical Analysis)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만을 사용하여 원주율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구하는 코드를 제시하라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1E254081-038C-0151-1EAC-C8D3FE509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  <a:blipFill>
                <a:blip r:embed="rId2"/>
                <a:stretch>
                  <a:fillRect l="-222" b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9B305A31-5173-2279-71D1-F9F6B726F6DD}"/>
              </a:ext>
            </a:extLst>
          </p:cNvPr>
          <p:cNvGrpSpPr/>
          <p:nvPr/>
        </p:nvGrpSpPr>
        <p:grpSpPr>
          <a:xfrm>
            <a:off x="6362700" y="4076700"/>
            <a:ext cx="1266825" cy="1266825"/>
            <a:chOff x="7572375" y="3219450"/>
            <a:chExt cx="1266825" cy="1266825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228ACC3-A399-78D4-2432-915B2FED579A}"/>
                </a:ext>
              </a:extLst>
            </p:cNvPr>
            <p:cNvSpPr/>
            <p:nvPr/>
          </p:nvSpPr>
          <p:spPr>
            <a:xfrm>
              <a:off x="7572375" y="3219450"/>
              <a:ext cx="1266825" cy="1266825"/>
            </a:xfrm>
            <a:prstGeom prst="ellips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88216AA-378D-6F6E-B560-C5B6363B914D}"/>
                </a:ext>
              </a:extLst>
            </p:cNvPr>
            <p:cNvCxnSpPr>
              <a:stCxn id="20" idx="0"/>
              <a:endCxn id="20" idx="4"/>
            </p:cNvCxnSpPr>
            <p:nvPr/>
          </p:nvCxnSpPr>
          <p:spPr>
            <a:xfrm>
              <a:off x="8205788" y="3219450"/>
              <a:ext cx="0" cy="12668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B9DE03F-1A59-4090-FD2F-A81242760567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2800350" y="5343525"/>
            <a:ext cx="419576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D82DF7-CD37-2AA8-7F58-C953C8210908}"/>
              </a:ext>
            </a:extLst>
          </p:cNvPr>
          <p:cNvSpPr txBox="1"/>
          <p:nvPr/>
        </p:nvSpPr>
        <p:spPr>
          <a:xfrm>
            <a:off x="3486150" y="5486400"/>
            <a:ext cx="343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3.142857…… </a:t>
            </a:r>
            <a:r>
              <a:rPr lang="ko-KR" altLang="en-US" dirty="0" err="1"/>
              <a:t>무한소수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EE66E0-CA29-4ED7-3384-E013D6DB6B2A}"/>
              </a:ext>
            </a:extLst>
          </p:cNvPr>
          <p:cNvSpPr txBox="1"/>
          <p:nvPr/>
        </p:nvSpPr>
        <p:spPr>
          <a:xfrm>
            <a:off x="7781925" y="4525446"/>
            <a:ext cx="115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지름 </a:t>
            </a:r>
            <a:r>
              <a:rPr lang="en-US" altLang="ko-KR" dirty="0"/>
              <a:t>=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5549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C214-9933-926A-13AA-0354966F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7082A12-E8F3-58A3-ACF8-CED699B7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6B4DB0A-17C7-A23E-2C07-5A3B447A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7242DE-AAA7-83AF-EDD0-651EF4E51900}"/>
              </a:ext>
            </a:extLst>
          </p:cNvPr>
          <p:cNvSpPr txBox="1"/>
          <p:nvPr/>
        </p:nvSpPr>
        <p:spPr>
          <a:xfrm>
            <a:off x="1009650" y="1235438"/>
            <a:ext cx="5638800" cy="526297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math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epsilon = 0.000001</a:t>
            </a:r>
          </a:p>
          <a:p>
            <a:pPr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0; steps = 0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0.5  # (1, 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시작</a:t>
            </a:r>
          </a:p>
          <a:p>
            <a:pPr>
              <a:buNone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while x &gt; 0.0: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max(x - epsilon, 0.0)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단위원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위의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값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y = sqrt(1 - x²)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y1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math.sqrt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(0.5**2 - x**2)    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y2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math.sqrt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(0.5**2 -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**2)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두 점 사이의 거리</a:t>
            </a:r>
          </a:p>
          <a:p>
            <a:pPr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dist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math.sqrt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x)**2 + (y2 - y1)**2)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dist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steps += 1; 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총 단계 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{steps:,}")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누적 거리 합계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{total_distance:.10f}")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원주율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*4:.10f}")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6C5AAAD-1C32-4FE1-C2CC-B9A0966AE0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48450" y="1561854"/>
            <a:ext cx="4019550" cy="373429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B9F3531-27D9-88A2-80DE-10FDA2257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5821859"/>
            <a:ext cx="2217612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8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EC55-F36C-3EF2-2A0C-64ED17F2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FF3D9CF-184B-D96E-5B39-928DB519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0CE090A-EAEA-05A5-AD9E-3C906FDE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5CAC146-9772-5312-EEF0-24A973D6C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981" y="1186708"/>
                <a:ext cx="10876566" cy="1319697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L2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피타고라스 정리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원주율을 구하는 모의실험 코드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685800" lvl="1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원의 넓이는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pi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5CAC146-9772-5312-EEF0-24A973D6C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981" y="1186708"/>
                <a:ext cx="10876566" cy="1319697"/>
              </a:xfrm>
              <a:blipFill>
                <a:blip r:embed="rId2"/>
                <a:stretch>
                  <a:fillRect l="-2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E06383BC-F98A-7155-6846-99523539B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46" y="2473875"/>
            <a:ext cx="4037993" cy="397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E6840-F1F7-DEBF-A068-374A8CF3214E}"/>
              </a:ext>
            </a:extLst>
          </p:cNvPr>
          <p:cNvSpPr txBox="1"/>
          <p:nvPr/>
        </p:nvSpPr>
        <p:spPr>
          <a:xfrm>
            <a:off x="1029816" y="2473874"/>
            <a:ext cx="6462738" cy="3970318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10_000_000  # 점의 개수 (많을수록 정확)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-1~1 사이의 무작위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좌표 생성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(-1, 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(-1, 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원점으로부터의 거리가 1 이하인 점 = 원 안의 점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x² + y² &lt;= 1  (피타고라스, π 사용 안 함!)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nside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**2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**2 &lt;= 1)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π 추정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pi_estimate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4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inside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f”점의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개수       : {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:,}개")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안의 점      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inside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:,}개")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f"추정된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π        : {pi_estimate:.6f}")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f"오차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abs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pi_estimate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):.6f}")</a:t>
            </a:r>
          </a:p>
        </p:txBody>
      </p:sp>
    </p:spTree>
    <p:extLst>
      <p:ext uri="{BB962C8B-B14F-4D97-AF65-F5344CB8AC3E}">
        <p14:creationId xmlns:p14="http://schemas.microsoft.com/office/powerpoint/2010/main" val="2098145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23459-BD75-D432-BEA6-9C6B123A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85B3A8F-D9A1-03BF-1557-049F2258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58E022B-9CC7-3B06-E4F6-08C204E0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38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730D7B2-8F11-9986-6A3C-3F54951EE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81" y="1220061"/>
            <a:ext cx="10876566" cy="1999389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단순 랜덤 워크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(1D Simple Random Walk) –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snippet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 던지기처럼 앞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(+1)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또는 뒤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(-1)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로만 움직이는 가장 기본인 형태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이산적 이동으로 매 스텝마다 이동 거리가 항상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±1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움직임이 고정된 크기로 제한됨</a:t>
            </a:r>
            <a:endParaRPr lang="en-US" altLang="ko-KR" sz="17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격자 위를 한 칸씩 움직이는 형태</a:t>
            </a:r>
            <a:endParaRPr lang="en-US" altLang="ko-KR" sz="19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39BC9-5604-0C54-A656-E0F72C6BD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37" y="3376095"/>
            <a:ext cx="4973727" cy="271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D212A4-8B49-3B6C-41A2-7EBEAC85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943" y="3074207"/>
            <a:ext cx="5537739" cy="301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863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5E0C-50BB-F1AE-B91D-CD7055D9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A0B489-DABD-8485-0D53-A3B6771C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F9166B6-5390-D265-7029-AF1A7582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39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BE3884-90D6-4205-75DE-61E2FC35D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81" y="1220061"/>
            <a:ext cx="10876566" cy="19993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아래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모의실험을 베르누이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이항분포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Galton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Board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비교하여 이해하자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?, single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 walk ?,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여러 명이 술이 취해 걸으면 최종 어디에 많이 모일까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392AE-FBAA-4939-6C80-3CA05F333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779" y="3074207"/>
            <a:ext cx="5537739" cy="301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228610-B44F-2299-857C-27601FB50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316" y="2549890"/>
            <a:ext cx="2671321" cy="3537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8E3739-5A89-0A71-C6C0-30A3F32E06D4}"/>
                  </a:ext>
                </a:extLst>
              </p:cNvPr>
              <p:cNvSpPr txBox="1"/>
              <p:nvPr/>
            </p:nvSpPr>
            <p:spPr>
              <a:xfrm>
                <a:off x="7051545" y="3934385"/>
                <a:ext cx="65274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36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8E3739-5A89-0A71-C6C0-30A3F32E0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545" y="3934385"/>
                <a:ext cx="65274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6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797F-FEEC-B823-2382-603B8BB0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EAB4AD8-69CE-0704-0F78-6C114454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7B1CB07-4400-6BC2-0FC5-1EE76D14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40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1BFFC1A-4A14-F3B6-2AC3-14C41FE78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81" y="1220062"/>
            <a:ext cx="10876566" cy="152313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</a:t>
            </a:r>
            <a:r>
              <a:rPr lang="en-US" altLang="ko-KR" sz="21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Guassian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랜덤 워크 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(Normal Distribution)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이용한 랜덤 워크는 </a:t>
            </a:r>
            <a:r>
              <a:rPr lang="ko-KR" altLang="en-US" sz="21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랜덤 워크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(Gaussian Random Walk)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하며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수학적으로는 브라운 운동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(Brownian Motion)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기초가 되는 모델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연속적 이동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기반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이동 거리가 정규분포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모양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따름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대부분은 작게 움직이고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가끔 크게 이동하는 경우도 발생하며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세계 물리현상과 유사</a:t>
            </a:r>
            <a:endParaRPr lang="en-US" altLang="ko-KR" sz="19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781F12-DB99-FB5B-6A78-64FED969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81" y="2899845"/>
            <a:ext cx="8025132" cy="34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B7DE6F-6543-1CC5-84B7-38595329BB8F}"/>
              </a:ext>
            </a:extLst>
          </p:cNvPr>
          <p:cNvSpPr txBox="1"/>
          <p:nvPr/>
        </p:nvSpPr>
        <p:spPr>
          <a:xfrm>
            <a:off x="8829040" y="3533988"/>
            <a:ext cx="3362960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미세 입자의 확산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브라운 운동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i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주식 가격 변동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열 운동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분자 운동의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3327584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55D3D-F194-FF2A-491A-8A873F610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556CE03-35F1-D046-0275-50A16140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C66212E-BB83-C661-6D65-CD05B909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41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189BD10-8DA1-300F-CA8B-0DC91F76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8" y="1503648"/>
            <a:ext cx="10272637" cy="4164739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학급에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ko-KR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=100)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있는 반을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상상해 보세요.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선생님이 무작위로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뽑고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주고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다시 전체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명에서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뽑습니다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100번 반복해서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주게 될 경우 내가 선물을 못박을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Bootstrap Sample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이란 무엇인가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무한대이고 무한으로 반복하면 내가 못 받을 확률은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8706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857D7-1344-B58A-BDD9-A140227A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74E3F93-3B37-62D8-BEBE-62D5FAAA9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BA0B4F5-DAE4-3303-FB32-9B2A9096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42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1828D43-DDF9-E3DE-4276-FB4399E64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8" y="1503648"/>
            <a:ext cx="10272637" cy="4164739"/>
          </a:xfrm>
        </p:spPr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학급에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ko-KR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=100)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있는 반을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상상해 보세요.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선생님이 무작위로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뽑고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주고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다시 전체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명에서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뽑습니다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100번 반복해서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주게 될 경우 내가 선물을 못박을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무한대이고 무한으로 반복하면 내가 못 받을 확률은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6480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EF33-47B2-9FEA-0544-DA97EB82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F05D532-A9FD-B5D3-594E-38DF47B5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3DFD7C5-1C3C-76A3-3F1E-1B278F95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DA944F2-868C-8A90-5AC8-A7494D2229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708" y="1503649"/>
                <a:ext cx="10272637" cy="301293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전체 데이터셋의 크기가 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일 때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원본 데이터에서 한 번 뽑은 데이터를 다시 넣고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복원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무작위로 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번 추출하여 만든 새로운 샘플</a:t>
                </a:r>
                <a:endParaRPr lang="en-US" altLang="ko-KR" sz="18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중복 허용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동일한 데이터가 한 샘플 내에 여러 번 포함될 수 있음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미포함 데이터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확률적으로 원본 데이터의 약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36.8%(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ⅇ</m:t>
                        </m:r>
                      </m:den>
                    </m:f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샘플에 포함되지 않는데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이를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OOB(Out-Of-Bag)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데이터라고 부르며 모델 검증용으로 활용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수치는 앞서 질문하신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선물을 못 받을 확률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 동일한 원리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Randomforest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모델의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OOB</a:t>
                </a: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DA944F2-868C-8A90-5AC8-A7494D222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708" y="1503649"/>
                <a:ext cx="10272637" cy="3012934"/>
              </a:xfrm>
              <a:blipFill>
                <a:blip r:embed="rId2"/>
                <a:stretch>
                  <a:fillRect l="-1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>
            <a:extLst>
              <a:ext uri="{FF2B5EF4-FFF2-40B4-BE49-F238E27FC236}">
                <a16:creationId xmlns:a16="http://schemas.microsoft.com/office/drawing/2014/main" id="{83CD8436-2625-8128-83C4-23CE8FC95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862" y="3992687"/>
            <a:ext cx="5402483" cy="256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49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A364-1EBD-2EFD-D6BE-937CE143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CE9BC93-DDED-5445-834E-7678C8B6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7D45968-6723-E03D-AD24-9D29D29A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F887F-AE8F-1464-9EC1-7F7674022CBB}"/>
              </a:ext>
            </a:extLst>
          </p:cNvPr>
          <p:cNvSpPr txBox="1"/>
          <p:nvPr/>
        </p:nvSpPr>
        <p:spPr>
          <a:xfrm>
            <a:off x="551384" y="2916953"/>
            <a:ext cx="11377264" cy="3184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학습의 안정성 확보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 , Cross-Entropy, Log-loss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학습이 가능한 이유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=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작은 샘플 평균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CLT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없이는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batch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 없음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교차검증을 통한 모델의 평가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accuracy/loss,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 평균 등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CLT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적용으로 이  평균들은 → 정규분포 근사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→ 신뢰구간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→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통계적 비교 가능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A/B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테스트와 실험 설계의 핵심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광고 효과 비교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추천 알고리즘 비교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UI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개선 효과 측정  등 전부 평균 비교 문제로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CLT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덕분에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평균 차이 → 정규분포 근사 →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 가능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BBF2C-6413-4582-67FA-848627AD4379}"/>
              </a:ext>
            </a:extLst>
          </p:cNvPr>
          <p:cNvSpPr txBox="1"/>
          <p:nvPr/>
        </p:nvSpPr>
        <p:spPr>
          <a:xfrm>
            <a:off x="551384" y="1656979"/>
            <a:ext cx="113772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중심극한정리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데이터는 불규칙하지만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평균은 예측 가능하다 → 그래서 학습이 가능하다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머신러닝에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접목하는 내용을 모의실험으로 파이썬 코드로 제시하라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64333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4CC3-0C25-936C-F4E5-BC6C8FAE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B6093B4-D84C-1182-BD67-09D1D89F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Prince Frog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4CD2A0E-CCEC-F039-665F-40894A64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45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8D2309A-13E9-0BC5-9466-8BBC074EA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8" y="1503649"/>
            <a:ext cx="10272637" cy="301293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앞으로 인생에서 총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명의 잠재적 파트너를 만날 수 있다고 가정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당신의 목표는 그중 가장 뛰어난 사람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매칭되는 것이며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아래의 조건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번 거절한 사람에게는 다시 돌아갈 수 없음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만나는 순서는 무작위이며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상대를 만날 때마다 점수를 매길 수 있음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가장 좋은 사람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선택할 확률을 최대화하려면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몇 번째 사람을 선책해야 하나요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mathematical-dating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07FF1A6-7C59-D849-56A1-6F4AF4D88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075" y="4357296"/>
            <a:ext cx="3334215" cy="199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009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8A9B-C99A-C323-49D3-D8FF332B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E109C5D-CA46-86FE-B2F1-6B57CE97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Monty Hall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6715F2C-1C5F-58CD-F12C-7D8F314D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274E9-0890-E1EE-8815-6A6992A3E51A}"/>
              </a:ext>
            </a:extLst>
          </p:cNvPr>
          <p:cNvSpPr txBox="1"/>
          <p:nvPr/>
        </p:nvSpPr>
        <p:spPr>
          <a:xfrm>
            <a:off x="798974" y="1692410"/>
            <a:ext cx="2930832" cy="45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CB3E241-1439-CF73-D1BF-D13C8F260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14" y="2724107"/>
            <a:ext cx="3466677" cy="192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E41BEFF-9277-101A-3ABF-53C7FEE19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182" y="2764673"/>
            <a:ext cx="1619245" cy="9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BEF33F-CA64-0A15-EF29-6230B6B4D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006" y="3900957"/>
            <a:ext cx="815411" cy="9754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9BAFD2-095A-6333-05D9-AF58E4177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23" y="3900957"/>
            <a:ext cx="815411" cy="9754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3AB27E-3741-C7E7-A100-08C4C10D4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40" y="3900957"/>
            <a:ext cx="815411" cy="9754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F137632-6EED-1197-4575-AD5C44748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857" y="3900957"/>
            <a:ext cx="815411" cy="9754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C9BAD1F-4835-0E00-BE05-7B991DEA5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474" y="3900957"/>
            <a:ext cx="815411" cy="9754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72470AC-D0CC-6A8D-F111-86F68089C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091" y="3900957"/>
            <a:ext cx="815411" cy="97544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865E442-B4BD-7CFF-FCDF-2E85B2CB4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07" y="3900957"/>
            <a:ext cx="815411" cy="97544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2D7143-68C6-2326-F00F-A8CD8AE3B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006" y="5158257"/>
            <a:ext cx="815411" cy="97544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28F616-5440-AC06-EAC7-44E4E6C96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23" y="5158257"/>
            <a:ext cx="815411" cy="97544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5F19E73-7B96-06A5-14A6-B60E4358A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40" y="5158257"/>
            <a:ext cx="815411" cy="97544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21514DF-CA86-07A5-AD6C-AD2DEA2FE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857" y="5158257"/>
            <a:ext cx="815411" cy="97544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9CD22BE-CA91-2684-1E36-B34F6E83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474" y="5158257"/>
            <a:ext cx="815411" cy="97544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35F4664-A966-C87F-5C78-A301749DF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091" y="5158257"/>
            <a:ext cx="815411" cy="97544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EAAFF8B-1A89-D60D-75AB-E4265EDD2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07" y="5158257"/>
            <a:ext cx="815411" cy="97544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EC7DF29-C3D6-F404-E972-77857EC56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857" y="2724107"/>
            <a:ext cx="815411" cy="97544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D508969-A288-B230-8DB6-EC3946478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474" y="2724107"/>
            <a:ext cx="815411" cy="97544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BD36F70-C846-8BF0-2823-F0053E6B7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091" y="2724107"/>
            <a:ext cx="815411" cy="97544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2697E6A-BB42-EA03-FEFB-7A44EA57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07" y="2724107"/>
            <a:ext cx="815411" cy="9754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C62F4DC-1018-0126-1558-960B8E9E3342}"/>
              </a:ext>
            </a:extLst>
          </p:cNvPr>
          <p:cNvSpPr txBox="1"/>
          <p:nvPr/>
        </p:nvSpPr>
        <p:spPr>
          <a:xfrm>
            <a:off x="6051006" y="1692410"/>
            <a:ext cx="5342020" cy="45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10,000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라면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877497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AC54-C4ED-A5C3-A213-8356B5F6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B10A659-B508-3847-D95D-D5EDC55F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5590872-92AA-7F11-7855-536F5E77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41AEC-0375-D5D0-1BC0-45800051E25B}"/>
              </a:ext>
            </a:extLst>
          </p:cNvPr>
          <p:cNvSpPr txBox="1"/>
          <p:nvPr/>
        </p:nvSpPr>
        <p:spPr>
          <a:xfrm>
            <a:off x="675209" y="1437904"/>
            <a:ext cx="113772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단순회귀식의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유전자 알고리즘으로 구하는 파이썬 코드를 제시하라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" name="그림 29" descr="Best Practices for Tuning Genetic Algorithm Parameters">
            <a:extLst>
              <a:ext uri="{FF2B5EF4-FFF2-40B4-BE49-F238E27FC236}">
                <a16:creationId xmlns:a16="http://schemas.microsoft.com/office/drawing/2014/main" id="{F123030E-E593-CC71-17F7-A38A55A6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790" y="2266684"/>
            <a:ext cx="5678585" cy="378572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DFA542B-465A-3FAA-9CFB-CC45AB510537}"/>
              </a:ext>
            </a:extLst>
          </p:cNvPr>
          <p:cNvSpPr txBox="1"/>
          <p:nvPr/>
        </p:nvSpPr>
        <p:spPr>
          <a:xfrm>
            <a:off x="1772790" y="6210299"/>
            <a:ext cx="83618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hlinkClick r:id="rId3"/>
              </a:rPr>
              <a:t>https://www.woodruff.dev/wp-content/uploads/2025/09/Best-Practices-for-Tuning-Genetic-Algorithm-Parameters.png</a:t>
            </a:r>
            <a:r>
              <a:rPr lang="ko-KR" alt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5829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2690</TotalTime>
  <Words>4115</Words>
  <Application>Microsoft Office PowerPoint</Application>
  <PresentationFormat>와이드스크린</PresentationFormat>
  <Paragraphs>495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7" baseType="lpstr">
      <vt:lpstr>D2Coding</vt:lpstr>
      <vt:lpstr>맑은 고딕</vt:lpstr>
      <vt:lpstr>맑은 고딕 Semilight</vt:lpstr>
      <vt:lpstr>Arial</vt:lpstr>
      <vt:lpstr>Cambria Math</vt:lpstr>
      <vt:lpstr>Century Gothic</vt:lpstr>
      <vt:lpstr>Times New Roman</vt:lpstr>
      <vt:lpstr>Wingdings</vt:lpstr>
      <vt:lpstr>Wingdings 3</vt:lpstr>
      <vt:lpstr>이온</vt:lpstr>
      <vt:lpstr>Calculus</vt:lpstr>
      <vt:lpstr>Contents</vt:lpstr>
      <vt:lpstr>Modeling</vt:lpstr>
      <vt:lpstr>Abstract + Object</vt:lpstr>
      <vt:lpstr>Abstract + Object</vt:lpstr>
      <vt:lpstr>OOP - python</vt:lpstr>
      <vt:lpstr>OOP – java script</vt:lpstr>
      <vt:lpstr>Contents</vt:lpstr>
      <vt:lpstr>python sympy</vt:lpstr>
      <vt:lpstr>python sympy</vt:lpstr>
      <vt:lpstr>Contents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Time &amp; Space</vt:lpstr>
      <vt:lpstr>Contents</vt:lpstr>
      <vt:lpstr>Optimization</vt:lpstr>
      <vt:lpstr>Optimization</vt:lpstr>
      <vt:lpstr>Optimization</vt:lpstr>
      <vt:lpstr>Optimization</vt:lpstr>
      <vt:lpstr>Contents</vt:lpstr>
      <vt:lpstr>Optimization of Loss Function</vt:lpstr>
      <vt:lpstr>Optimization of Loss Function</vt:lpstr>
      <vt:lpstr>Optimization of Loss Function</vt:lpstr>
      <vt:lpstr>Optimization of Loss Function</vt:lpstr>
      <vt:lpstr>Loss Functions</vt:lpstr>
      <vt:lpstr>Loss Functions</vt:lpstr>
      <vt:lpstr>Contents</vt:lpstr>
      <vt:lpstr>Simulation</vt:lpstr>
      <vt:lpstr>Simulation</vt:lpstr>
      <vt:lpstr>Simulation</vt:lpstr>
      <vt:lpstr>Simulation</vt:lpstr>
      <vt:lpstr>Random walk simulation</vt:lpstr>
      <vt:lpstr>Random walk simulation</vt:lpstr>
      <vt:lpstr>Random walk simulation</vt:lpstr>
      <vt:lpstr>Bootstrap sampling</vt:lpstr>
      <vt:lpstr>Bootstrap sampling</vt:lpstr>
      <vt:lpstr>Bootstrap sampling</vt:lpstr>
      <vt:lpstr>Central Limit Theorm</vt:lpstr>
      <vt:lpstr>Prince Frog</vt:lpstr>
      <vt:lpstr>Monty Hall</vt:lpstr>
      <vt:lpstr>Genetic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16</cp:revision>
  <dcterms:created xsi:type="dcterms:W3CDTF">2026-04-11T22:24:40Z</dcterms:created>
  <dcterms:modified xsi:type="dcterms:W3CDTF">2026-05-11T08:18:36Z</dcterms:modified>
</cp:coreProperties>
</file>