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648" r:id="rId1"/>
  </p:sldMasterIdLst>
  <p:notesMasterIdLst>
    <p:notesMasterId r:id="rId64"/>
  </p:notesMasterIdLst>
  <p:sldIdLst>
    <p:sldId id="256" r:id="rId2"/>
    <p:sldId id="274" r:id="rId3"/>
    <p:sldId id="257" r:id="rId4"/>
    <p:sldId id="313" r:id="rId5"/>
    <p:sldId id="314" r:id="rId6"/>
    <p:sldId id="315" r:id="rId7"/>
    <p:sldId id="316" r:id="rId8"/>
    <p:sldId id="303" r:id="rId9"/>
    <p:sldId id="260" r:id="rId10"/>
    <p:sldId id="265" r:id="rId11"/>
    <p:sldId id="304" r:id="rId12"/>
    <p:sldId id="259" r:id="rId13"/>
    <p:sldId id="318" r:id="rId14"/>
    <p:sldId id="317" r:id="rId15"/>
    <p:sldId id="319" r:id="rId16"/>
    <p:sldId id="268" r:id="rId17"/>
    <p:sldId id="284" r:id="rId18"/>
    <p:sldId id="287" r:id="rId19"/>
    <p:sldId id="286" r:id="rId20"/>
    <p:sldId id="266" r:id="rId21"/>
    <p:sldId id="288" r:id="rId22"/>
    <p:sldId id="305" r:id="rId23"/>
    <p:sldId id="267" r:id="rId24"/>
    <p:sldId id="285" r:id="rId25"/>
    <p:sldId id="272" r:id="rId26"/>
    <p:sldId id="273" r:id="rId27"/>
    <p:sldId id="306" r:id="rId28"/>
    <p:sldId id="269" r:id="rId29"/>
    <p:sldId id="308" r:id="rId30"/>
    <p:sldId id="320" r:id="rId31"/>
    <p:sldId id="310" r:id="rId32"/>
    <p:sldId id="311" r:id="rId33"/>
    <p:sldId id="312" r:id="rId34"/>
    <p:sldId id="289" r:id="rId35"/>
    <p:sldId id="290" r:id="rId36"/>
    <p:sldId id="321" r:id="rId37"/>
    <p:sldId id="322" r:id="rId38"/>
    <p:sldId id="323" r:id="rId39"/>
    <p:sldId id="324" r:id="rId40"/>
    <p:sldId id="291" r:id="rId41"/>
    <p:sldId id="307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301" r:id="rId50"/>
    <p:sldId id="299" r:id="rId51"/>
    <p:sldId id="300" r:id="rId52"/>
    <p:sldId id="302" r:id="rId53"/>
    <p:sldId id="325" r:id="rId54"/>
    <p:sldId id="326" r:id="rId55"/>
    <p:sldId id="327" r:id="rId56"/>
    <p:sldId id="328" r:id="rId57"/>
    <p:sldId id="329" r:id="rId58"/>
    <p:sldId id="330" r:id="rId59"/>
    <p:sldId id="334" r:id="rId60"/>
    <p:sldId id="331" r:id="rId61"/>
    <p:sldId id="332" r:id="rId62"/>
    <p:sldId id="333" r:id="rId6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08FB837D-C827-4EFA-A057-4D05807E0F7C}" styleName="테마 스타일 1 - 강조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638B1855-1B75-4FBE-930C-398BA8C253C6}" styleName="테마 스타일 2 - 강조 6">
    <a:tblBg>
      <a:fillRef idx="3">
        <a:schemeClr val="accent6"/>
      </a:fillRef>
      <a:effectRef idx="3">
        <a:schemeClr val="accent6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6">
                <a:tint val="50000"/>
              </a:schemeClr>
            </a:lnRef>
          </a:left>
          <a:right>
            <a:lnRef idx="1">
              <a:schemeClr val="accent6">
                <a:tint val="50000"/>
              </a:schemeClr>
            </a:lnRef>
          </a:right>
          <a:top>
            <a:lnRef idx="1">
              <a:schemeClr val="accent6">
                <a:tint val="50000"/>
              </a:schemeClr>
            </a:lnRef>
          </a:top>
          <a:bottom>
            <a:lnRef idx="1">
              <a:schemeClr val="accent6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10A1B5D5-9B99-4C35-A422-299274C87663}" styleName="보통 스타일 1 - 강조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5DA37D80-6434-44D0-A028-1B22A696006F}" styleName="밝은 스타일 3 - 강조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4995" autoAdjust="0"/>
    <p:restoredTop sz="94660"/>
  </p:normalViewPr>
  <p:slideViewPr>
    <p:cSldViewPr snapToGrid="0">
      <p:cViewPr varScale="1">
        <p:scale>
          <a:sx n="80" d="100"/>
          <a:sy n="80" d="100"/>
        </p:scale>
        <p:origin x="782" y="67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slide" Target="slides/slide62.xml"/><Relationship Id="rId68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viewProps" Target="view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08017EF-B0C5-4F2B-99F2-8DD7659ECF32}" type="datetimeFigureOut">
              <a:rPr lang="ko-KR" altLang="en-US" smtClean="0"/>
              <a:t>2026-05-12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0233B1C-0D5F-42ED-944D-ADB4310BB8E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937322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dirty="0"/>
              <a:t>5/12/2026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5/12/2026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5/12/2026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5/12/2026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5/12/2026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5/12/2026</a:t>
            </a:fld>
            <a:endParaRPr lang="en-US" dirty="0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5/12/2026</a:t>
            </a:fld>
            <a:endParaRPr lang="en-US"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5/12/2026</a:t>
            </a:fld>
            <a:endParaRPr lang="en-US" dirty="0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5/12/2026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캡션 있는 파노라마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5/12/2026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 및 캡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5/12/2026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캡션 있는 인용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5/12/2026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명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5/12/2026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5/12/2026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그림 열 3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5/12/2026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5/12/2026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5/12/2026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ko-KR" altLang="en-US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ko-KR" alt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4AAD347D-5ACD-4C99-B74B-A9C85AD731AF}" type="datetimeFigureOut">
              <a:rPr lang="en-US" dirty="0"/>
              <a:t>5/12/2026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8" r:id="rId9"/>
    <p:sldLayoutId id="2147483667" r:id="rId10"/>
    <p:sldLayoutId id="2147483661" r:id="rId11"/>
    <p:sldLayoutId id="2147483664" r:id="rId12"/>
    <p:sldLayoutId id="2147483662" r:id="rId13"/>
    <p:sldLayoutId id="2147483669" r:id="rId14"/>
    <p:sldLayoutId id="2147483670" r:id="rId15"/>
    <p:sldLayoutId id="2147483658" r:id="rId16"/>
    <p:sldLayoutId id="2147483659" r:id="rId17"/>
  </p:sldLayoutIdLst>
  <p:hf sldNum="0" hdr="0" ftr="0" dt="0"/>
  <p:txStyles>
    <p:titleStyle>
      <a:lvl1pPr algn="l" defTabSz="457200" rtl="0" eaLnBrk="1" latinLnBrk="1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latinLnBrk="1" hangingPunct="1">
        <a:defRPr>
          <a:solidFill>
            <a:schemeClr val="tx2"/>
          </a:solidFill>
        </a:defRPr>
      </a:lvl2pPr>
      <a:lvl3pPr eaLnBrk="1" latinLnBrk="1" hangingPunct="1">
        <a:defRPr>
          <a:solidFill>
            <a:schemeClr val="tx2"/>
          </a:solidFill>
        </a:defRPr>
      </a:lvl3pPr>
      <a:lvl4pPr eaLnBrk="1" latinLnBrk="1" hangingPunct="1">
        <a:defRPr>
          <a:solidFill>
            <a:schemeClr val="tx2"/>
          </a:solidFill>
        </a:defRPr>
      </a:lvl4pPr>
      <a:lvl5pPr eaLnBrk="1" latinLnBrk="1" hangingPunct="1">
        <a:defRPr>
          <a:solidFill>
            <a:schemeClr val="tx2"/>
          </a:solidFill>
        </a:defRPr>
      </a:lvl5pPr>
      <a:lvl6pPr eaLnBrk="1" latinLnBrk="1" hangingPunct="1">
        <a:defRPr>
          <a:solidFill>
            <a:schemeClr val="tx2"/>
          </a:solidFill>
        </a:defRPr>
      </a:lvl6pPr>
      <a:lvl7pPr eaLnBrk="1" latinLnBrk="1" hangingPunct="1">
        <a:defRPr>
          <a:solidFill>
            <a:schemeClr val="tx2"/>
          </a:solidFill>
        </a:defRPr>
      </a:lvl7pPr>
      <a:lvl8pPr eaLnBrk="1" latinLnBrk="1" hangingPunct="1">
        <a:defRPr>
          <a:solidFill>
            <a:schemeClr val="tx2"/>
          </a:solidFill>
        </a:defRPr>
      </a:lvl8pPr>
      <a:lvl9pPr eaLnBrk="1" latin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ancestor9/mathematics-for-machine-learning/blob/main/Calculus/w2/data/prices.csv" TargetMode="Externa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hyperlink" Target="https://github.com/ancestor9/mathematics-for-machine-learning/blob/main/Calculus/w2/C2_W1_Assignment.ipynb" TargetMode="Externa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scikit-learn.org/stable/auto_examples/linear_model/plot_sgd_loss_functions.html" TargetMode="External"/><Relationship Id="rId4" Type="http://schemas.openxmlformats.org/officeDocument/2006/relationships/image" Target="../media/image34.png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.png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0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260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hyperlink" Target="https://github.com/ancestor9/mathematics-for-machine-learning/blob/main/scripts/Random_Walk_Simulation.ipynb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6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0.png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310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hyperlink" Target="https://plus.maths.org/mathematical-dating" TargetMode="Externa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hyperlink" Target="https://ko.wikipedia.org/wiki/%EB%AA%AC%ED%8B%B0_%ED%99%80_%EB%AC%B8%EC%A0%9C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2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woodruff.dev/wp-content/uploads/2025/09/Best-Practices-for-Tuning-Genetic-Algorithm-Parameters.png" TargetMode="External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Cell_division" TargetMode="External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Relationship Id="rId5" Type="http://schemas.microsoft.com/office/2007/relationships/hdphoto" Target="../media/hdphoto1.wdp"/><Relationship Id="rId4" Type="http://schemas.openxmlformats.org/officeDocument/2006/relationships/image" Target="../media/image55.png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Cell_division" TargetMode="Externa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8.png"/><Relationship Id="rId4" Type="http://schemas.microsoft.com/office/2007/relationships/hdphoto" Target="../media/hdphoto2.wdp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5.png"/><Relationship Id="rId3" Type="http://schemas.openxmlformats.org/officeDocument/2006/relationships/image" Target="../media/image62.png"/><Relationship Id="rId7" Type="http://schemas.microsoft.com/office/2007/relationships/hdphoto" Target="../media/hdphoto4.wdp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4.png"/><Relationship Id="rId11" Type="http://schemas.openxmlformats.org/officeDocument/2006/relationships/image" Target="../media/image68.png"/><Relationship Id="rId5" Type="http://schemas.microsoft.com/office/2007/relationships/hdphoto" Target="../media/hdphoto3.wdp"/><Relationship Id="rId10" Type="http://schemas.openxmlformats.org/officeDocument/2006/relationships/image" Target="../media/image67.png"/><Relationship Id="rId4" Type="http://schemas.openxmlformats.org/officeDocument/2006/relationships/image" Target="../media/image63.png"/><Relationship Id="rId9" Type="http://schemas.openxmlformats.org/officeDocument/2006/relationships/image" Target="../media/image66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hyperlink" Target="https://github.com/ancestor9/mathematics-for-machine-learning/blob/main/scripts/cell_contamination.ipynb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1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13E07EC-FAE3-CD22-0A12-F95D0F9FDF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1362075"/>
          </a:xfrm>
        </p:spPr>
        <p:txBody>
          <a:bodyPr/>
          <a:lstStyle/>
          <a:p>
            <a:r>
              <a:rPr lang="en-US" altLang="ko-KR" dirty="0"/>
              <a:t>Calculus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CC22A912-C269-5DE4-418A-0B0B11B2D1F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54955" y="2998290"/>
            <a:ext cx="8825658" cy="861420"/>
          </a:xfrm>
        </p:spPr>
        <p:txBody>
          <a:bodyPr>
            <a:normAutofit/>
          </a:bodyPr>
          <a:lstStyle/>
          <a:p>
            <a:r>
              <a:rPr lang="en-US" altLang="ko-KR" sz="3600" cap="none" dirty="0">
                <a:solidFill>
                  <a:schemeClr val="tx1"/>
                </a:solidFill>
              </a:rPr>
              <a:t>Modeling and Simulation</a:t>
            </a:r>
            <a:endParaRPr lang="ko-KR" altLang="en-US" sz="2800" cap="none" dirty="0">
              <a:solidFill>
                <a:schemeClr val="tx1"/>
              </a:solidFill>
            </a:endParaRPr>
          </a:p>
        </p:txBody>
      </p:sp>
      <p:sp>
        <p:nvSpPr>
          <p:cNvPr id="4" name="부제목 2">
            <a:extLst>
              <a:ext uri="{FF2B5EF4-FFF2-40B4-BE49-F238E27FC236}">
                <a16:creationId xmlns:a16="http://schemas.microsoft.com/office/drawing/2014/main" id="{4126B61E-1F39-452D-5C3B-A004CC62B8A8}"/>
              </a:ext>
            </a:extLst>
          </p:cNvPr>
          <p:cNvSpPr txBox="1">
            <a:spLocks/>
          </p:cNvSpPr>
          <p:nvPr/>
        </p:nvSpPr>
        <p:spPr>
          <a:xfrm>
            <a:off x="1183530" y="4446090"/>
            <a:ext cx="8825658" cy="861420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10000"/>
          </a:bodyPr>
          <a:lstStyle>
            <a:lvl1pPr marL="0" indent="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ko-KR" sz="2800" cap="none" dirty="0"/>
              <a:t>2026 Spring</a:t>
            </a:r>
          </a:p>
          <a:p>
            <a:r>
              <a:rPr lang="ko-KR" altLang="en-US" sz="2200" cap="none" dirty="0" err="1"/>
              <a:t>조상구교수</a:t>
            </a:r>
            <a:endParaRPr lang="ko-KR" altLang="en-US" sz="2800" cap="none" dirty="0"/>
          </a:p>
        </p:txBody>
      </p:sp>
    </p:spTree>
    <p:extLst>
      <p:ext uri="{BB962C8B-B14F-4D97-AF65-F5344CB8AC3E}">
        <p14:creationId xmlns:p14="http://schemas.microsoft.com/office/powerpoint/2010/main" val="28983045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577253-55D9-C5A4-DDCA-2C64C197D7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3729BEC0-2EC4-2A16-AF3A-F5E8C4679D53}"/>
              </a:ext>
            </a:extLst>
          </p:cNvPr>
          <p:cNvSpPr/>
          <p:nvPr/>
        </p:nvSpPr>
        <p:spPr>
          <a:xfrm>
            <a:off x="612030" y="1960065"/>
            <a:ext cx="10351245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C5E9264-71FE-D065-0983-B32E540572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54DBA114-17ED-5D92-F01E-E672ACB5D2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54955" y="1931490"/>
            <a:ext cx="10760820" cy="3650160"/>
          </a:xfrm>
        </p:spPr>
        <p:txBody>
          <a:bodyPr>
            <a:normAutofit fontScale="85000" lnSpcReduction="20000"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What</a:t>
            </a:r>
            <a:r>
              <a:rPr lang="ko-KR" altLang="en-US" sz="2400" cap="none" dirty="0"/>
              <a:t> </a:t>
            </a:r>
            <a:r>
              <a:rPr lang="en-US" altLang="ko-KR" sz="2400" cap="none" dirty="0"/>
              <a:t>is Modeling? 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Python</a:t>
            </a:r>
            <a:r>
              <a:rPr lang="ko-KR" altLang="en-US" sz="2400" cap="none" dirty="0"/>
              <a:t> </a:t>
            </a:r>
            <a:r>
              <a:rPr lang="en-US" altLang="ko-KR" sz="2400" cap="none" dirty="0" err="1"/>
              <a:t>sympy</a:t>
            </a:r>
            <a:endParaRPr lang="en-US" altLang="ko-KR" sz="2400" cap="none" dirty="0"/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Time &amp; Space (w1)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Optimization (w2)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Optimization Using Gradient Descent: Linear Regression (w3)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Regression &amp; Classification with Perceptron (w4)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Simulation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endParaRPr lang="en-US" altLang="ko-KR" sz="2400" cap="none" dirty="0"/>
          </a:p>
          <a:p>
            <a:pPr marL="514350" indent="-514350">
              <a:lnSpc>
                <a:spcPct val="150000"/>
              </a:lnSpc>
              <a:buAutoNum type="arabicPeriod"/>
            </a:pPr>
            <a:endParaRPr lang="ko-KR" altLang="en-US" sz="2400" cap="none" dirty="0"/>
          </a:p>
        </p:txBody>
      </p:sp>
    </p:spTree>
    <p:extLst>
      <p:ext uri="{BB962C8B-B14F-4D97-AF65-F5344CB8AC3E}">
        <p14:creationId xmlns:p14="http://schemas.microsoft.com/office/powerpoint/2010/main" val="5506869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B884FF29-4B25-404E-81DC-1CCAE143CF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9994572" cy="435544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복잡한 현실 세계의 현상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시스템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사물 등을 일정한 규칙이나 관점에 따라 </a:t>
            </a:r>
            <a:r>
              <a:rPr lang="ko-KR" altLang="en-US" sz="1800" dirty="0" err="1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추상화하여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단순한 형태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모델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로 표현하는 과정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추상화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단순화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미래에 대한 결과를 논리적으로 추정하는 행위</a:t>
            </a:r>
            <a:endParaRPr lang="en-US" altLang="ko-KR" sz="1800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통계적 모델링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 err="1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머신러닝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모델링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시뮬레이션 및 테스트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수학적 모델링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데이터베이스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모델링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(ERD)……</a:t>
            </a:r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7960D66E-6DAA-C869-2E3C-06CF487E31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49230" y="3194913"/>
            <a:ext cx="4608512" cy="30231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제목 1">
            <a:extLst>
              <a:ext uri="{FF2B5EF4-FFF2-40B4-BE49-F238E27FC236}">
                <a16:creationId xmlns:a16="http://schemas.microsoft.com/office/drawing/2014/main" id="{26D14F0A-2182-0C24-04C8-A2858EE5C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Modeling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860C3A8B-E6BF-2A69-18BA-06D331E7D6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17586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2EC0F1-45B0-02D2-01DD-EEBCC8B11F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BADDB57D-11B6-0AD2-0C31-FBCCB80C1D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Abstract + Object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2C34F863-C394-51E7-8700-7871213B04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</a:t>
            </a:fld>
            <a:endParaRPr lang="en-US" dirty="0"/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22B8655C-497D-4F31-C687-69B4C8092C2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740888"/>
              </p:ext>
            </p:extLst>
          </p:nvPr>
        </p:nvGraphicFramePr>
        <p:xfrm>
          <a:off x="1037302" y="2721743"/>
          <a:ext cx="10839737" cy="3021640"/>
        </p:xfrm>
        <a:graphic>
          <a:graphicData uri="http://schemas.openxmlformats.org/drawingml/2006/table">
            <a:tbl>
              <a:tblPr>
                <a:tableStyleId>{08FB837D-C827-4EFA-A057-4D05807E0F7C}</a:tableStyleId>
              </a:tblPr>
              <a:tblGrid>
                <a:gridCol w="1990378">
                  <a:extLst>
                    <a:ext uri="{9D8B030D-6E8A-4147-A177-3AD203B41FA5}">
                      <a16:colId xmlns:a16="http://schemas.microsoft.com/office/drawing/2014/main" val="2013210951"/>
                    </a:ext>
                  </a:extLst>
                </a:gridCol>
                <a:gridCol w="1615440">
                  <a:extLst>
                    <a:ext uri="{9D8B030D-6E8A-4147-A177-3AD203B41FA5}">
                      <a16:colId xmlns:a16="http://schemas.microsoft.com/office/drawing/2014/main" val="912667715"/>
                    </a:ext>
                  </a:extLst>
                </a:gridCol>
                <a:gridCol w="3677920">
                  <a:extLst>
                    <a:ext uri="{9D8B030D-6E8A-4147-A177-3AD203B41FA5}">
                      <a16:colId xmlns:a16="http://schemas.microsoft.com/office/drawing/2014/main" val="1005779961"/>
                    </a:ext>
                  </a:extLst>
                </a:gridCol>
                <a:gridCol w="3555999">
                  <a:extLst>
                    <a:ext uri="{9D8B030D-6E8A-4147-A177-3AD203B41FA5}">
                      <a16:colId xmlns:a16="http://schemas.microsoft.com/office/drawing/2014/main" val="3215655874"/>
                    </a:ext>
                  </a:extLst>
                </a:gridCol>
              </a:tblGrid>
              <a:tr h="589700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단계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주요 활동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설명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구성 요소</a:t>
                      </a:r>
                    </a:p>
                  </a:txBody>
                  <a:tcPr marL="22860" marR="22860" marT="15240" marB="15240" anchor="ctr"/>
                </a:tc>
                <a:extLst>
                  <a:ext uri="{0D108BD9-81ED-4DB2-BD59-A6C34878D82A}">
                    <a16:rowId xmlns:a16="http://schemas.microsoft.com/office/drawing/2014/main" val="3832515464"/>
                  </a:ext>
                </a:extLst>
              </a:tr>
              <a:tr h="1215970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추상화 </a:t>
                      </a:r>
                      <a:endParaRPr lang="en-US" altLang="ko-KR" sz="1800" b="1" baseline="0" dirty="0"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Abstraction)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특징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기능 </a:t>
                      </a:r>
                      <a:endParaRPr lang="en-US" altLang="ko-KR" sz="1800" b="1" baseline="0" dirty="0"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추출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현실 세계의 사람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사물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현상에서 불필요한 부분은 제거하고 서비스에 필요한 본질만 뽑아내는 과정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특징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색상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이름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나이</a:t>
                      </a:r>
                      <a:endParaRPr lang="en-US" altLang="ko-KR" sz="1800" b="1" baseline="0" dirty="0"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기능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달리기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멈추기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말하기</a:t>
                      </a:r>
                    </a:p>
                  </a:txBody>
                  <a:tcPr marL="22860" marR="22860" marT="15240" marB="15240" anchor="ctr"/>
                </a:tc>
                <a:extLst>
                  <a:ext uri="{0D108BD9-81ED-4DB2-BD59-A6C34878D82A}">
                    <a16:rowId xmlns:a16="http://schemas.microsoft.com/office/drawing/2014/main" val="2095169941"/>
                  </a:ext>
                </a:extLst>
              </a:tr>
              <a:tr h="1215970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객체화 </a:t>
                      </a:r>
                      <a:endParaRPr lang="en-US" altLang="ko-KR" sz="1800" b="1" baseline="0" dirty="0"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Objectification)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속성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메소드</a:t>
                      </a:r>
                      <a:endParaRPr lang="en-US" altLang="ko-KR" sz="1800" b="1" baseline="0" dirty="0"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정의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추상화된 개념을 프로그래밍 언어의 구조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(Class)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에 담아 실제 동작 가능한 단위로 만드는 과정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속성 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(Variable):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데이터 저장</a:t>
                      </a:r>
                      <a:endParaRPr lang="en-US" altLang="ko-KR" sz="1800" b="1" baseline="0" dirty="0"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메소드 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(Function):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로직 수행</a:t>
                      </a:r>
                    </a:p>
                  </a:txBody>
                  <a:tcPr marL="22860" marR="22860" marT="15240" marB="15240" anchor="ctr"/>
                </a:tc>
                <a:extLst>
                  <a:ext uri="{0D108BD9-81ED-4DB2-BD59-A6C34878D82A}">
                    <a16:rowId xmlns:a16="http://schemas.microsoft.com/office/drawing/2014/main" val="3575494118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90799CB3-D046-93B1-88CF-F39C1364E05E}"/>
              </a:ext>
            </a:extLst>
          </p:cNvPr>
          <p:cNvSpPr txBox="1"/>
          <p:nvPr/>
        </p:nvSpPr>
        <p:spPr>
          <a:xfrm>
            <a:off x="915382" y="1414115"/>
            <a:ext cx="10118378" cy="9569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복잡한 현실 세계는 시간에 따라 움직이고 있기 때문에 미분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(derivative)</a:t>
            </a: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을 이해하고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추상화와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모델링에 대한 이해를 하자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추상화는 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OOP</a:t>
            </a: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구현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endParaRPr lang="ko-KR" altLang="en-US" sz="2000" dirty="0"/>
          </a:p>
        </p:txBody>
      </p:sp>
    </p:spTree>
    <p:extLst>
      <p:ext uri="{BB962C8B-B14F-4D97-AF65-F5344CB8AC3E}">
        <p14:creationId xmlns:p14="http://schemas.microsoft.com/office/powerpoint/2010/main" val="13773171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1F0051-1600-0186-2252-0ACB412DA8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DE42708D-8AF6-90B1-C846-4BA65C5CEE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Abstract + Object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6BDC3750-B88D-6FD2-8537-70ECD176FF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5</a:t>
            </a:fld>
            <a:endParaRPr lang="en-US" dirty="0"/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24DA2C2F-442D-D2EB-C2E4-9E071E47C8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79602857"/>
              </p:ext>
            </p:extLst>
          </p:nvPr>
        </p:nvGraphicFramePr>
        <p:xfrm>
          <a:off x="637698" y="1767918"/>
          <a:ext cx="10916603" cy="3830243"/>
        </p:xfrm>
        <a:graphic>
          <a:graphicData uri="http://schemas.openxmlformats.org/drawingml/2006/table">
            <a:tbl>
              <a:tblPr>
                <a:tableStyleId>{08FB837D-C827-4EFA-A057-4D05807E0F7C}</a:tableStyleId>
              </a:tblPr>
              <a:tblGrid>
                <a:gridCol w="1130142">
                  <a:extLst>
                    <a:ext uri="{9D8B030D-6E8A-4147-A177-3AD203B41FA5}">
                      <a16:colId xmlns:a16="http://schemas.microsoft.com/office/drawing/2014/main" val="4106552240"/>
                    </a:ext>
                  </a:extLst>
                </a:gridCol>
                <a:gridCol w="3125915">
                  <a:extLst>
                    <a:ext uri="{9D8B030D-6E8A-4147-A177-3AD203B41FA5}">
                      <a16:colId xmlns:a16="http://schemas.microsoft.com/office/drawing/2014/main" val="2267932678"/>
                    </a:ext>
                  </a:extLst>
                </a:gridCol>
                <a:gridCol w="3925125">
                  <a:extLst>
                    <a:ext uri="{9D8B030D-6E8A-4147-A177-3AD203B41FA5}">
                      <a16:colId xmlns:a16="http://schemas.microsoft.com/office/drawing/2014/main" val="310495391"/>
                    </a:ext>
                  </a:extLst>
                </a:gridCol>
                <a:gridCol w="2735421">
                  <a:extLst>
                    <a:ext uri="{9D8B030D-6E8A-4147-A177-3AD203B41FA5}">
                      <a16:colId xmlns:a16="http://schemas.microsoft.com/office/drawing/2014/main" val="276542089"/>
                    </a:ext>
                  </a:extLst>
                </a:gridCol>
              </a:tblGrid>
              <a:tr h="571679"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대상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추상화 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특징 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&amp;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기능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객체화 </a:t>
                      </a:r>
                      <a:r>
                        <a:rPr lang="en-US" altLang="ko-KR" sz="1800" b="1" kern="1200" baseline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800" b="1" kern="1200" baseline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속성 </a:t>
                      </a:r>
                      <a:r>
                        <a:rPr lang="en-US" altLang="ko-KR" sz="1800" b="1" kern="1200" baseline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&amp; </a:t>
                      </a:r>
                      <a:r>
                        <a:rPr lang="ko-KR" altLang="en-US" sz="1800" b="1" kern="1200" baseline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메소드</a:t>
                      </a:r>
                      <a:r>
                        <a:rPr lang="en-US" altLang="ko-KR" sz="1800" b="1" kern="1200" baseline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코드 </a:t>
                      </a:r>
                      <a:endParaRPr lang="en-US" altLang="ko-KR" sz="1800" b="1" kern="1200" baseline="0" dirty="0">
                        <a:solidFill>
                          <a:schemeClr val="dk1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22860" marR="22860" marT="15240" marB="15240" anchor="ctr"/>
                </a:tc>
                <a:extLst>
                  <a:ext uri="{0D108BD9-81ED-4DB2-BD59-A6C34878D82A}">
                    <a16:rowId xmlns:a16="http://schemas.microsoft.com/office/drawing/2014/main" val="980183908"/>
                  </a:ext>
                </a:extLst>
              </a:tr>
              <a:tr h="1086188"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자동차 </a:t>
                      </a:r>
                      <a:endParaRPr lang="en-US" altLang="ko-KR" sz="1800" b="1" kern="1200" baseline="0" dirty="0">
                        <a:solidFill>
                          <a:schemeClr val="dk1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사물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특징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모델명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연료 타입</a:t>
                      </a:r>
                      <a:endParaRPr lang="en-US" altLang="ko-KR" sz="1800" b="1" kern="1200" baseline="0" dirty="0">
                        <a:solidFill>
                          <a:schemeClr val="dk1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기능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가속한다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경적을 울린다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속성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model, fuel</a:t>
                      </a: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메소드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accelerate(), honk()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it-IT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car.model = "Tesla"car.accelerate()</a:t>
                      </a:r>
                    </a:p>
                  </a:txBody>
                  <a:tcPr marL="22860" marR="22860" marT="15240" marB="15240" anchor="ctr"/>
                </a:tc>
                <a:extLst>
                  <a:ext uri="{0D108BD9-81ED-4DB2-BD59-A6C34878D82A}">
                    <a16:rowId xmlns:a16="http://schemas.microsoft.com/office/drawing/2014/main" val="136683253"/>
                  </a:ext>
                </a:extLst>
              </a:tr>
              <a:tr h="1086188"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은행원</a:t>
                      </a:r>
                      <a:endParaRPr lang="en-US" altLang="ko-KR" sz="1800" b="1" kern="1200" baseline="0" dirty="0">
                        <a:solidFill>
                          <a:schemeClr val="dk1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사람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특징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사원번호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소속 지점</a:t>
                      </a:r>
                      <a:endParaRPr lang="en-US" altLang="ko-KR" sz="1800" b="1" kern="1200" baseline="0" dirty="0">
                        <a:solidFill>
                          <a:schemeClr val="dk1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기능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입금 처리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상담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속성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en-US" sz="1800" b="1" kern="1200" baseline="0" dirty="0" err="1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emp_id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branch</a:t>
                      </a: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메소드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deposit(), consult()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en-US" sz="1800" b="1" kern="1200" baseline="0" dirty="0" err="1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staff.emp_id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= 101</a:t>
                      </a: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en-US" sz="1800" b="1" kern="1200" baseline="0" dirty="0" err="1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staff.deposit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()</a:t>
                      </a:r>
                    </a:p>
                  </a:txBody>
                  <a:tcPr marL="22860" marR="22860" marT="15240" marB="15240" anchor="ctr"/>
                </a:tc>
                <a:extLst>
                  <a:ext uri="{0D108BD9-81ED-4DB2-BD59-A6C34878D82A}">
                    <a16:rowId xmlns:a16="http://schemas.microsoft.com/office/drawing/2014/main" val="3349304262"/>
                  </a:ext>
                </a:extLst>
              </a:tr>
              <a:tr h="1086188"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주문</a:t>
                      </a:r>
                      <a:endParaRPr lang="en-US" altLang="ko-KR" sz="1800" b="1" kern="1200" baseline="0" dirty="0">
                        <a:solidFill>
                          <a:schemeClr val="dk1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현상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특징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주문 번호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결제 금액</a:t>
                      </a:r>
                      <a:endParaRPr lang="en-US" altLang="ko-KR" sz="1800" b="1" kern="1200" baseline="0" dirty="0">
                        <a:solidFill>
                          <a:schemeClr val="dk1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기능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주문 취소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상태를 변경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속성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en-US" sz="1800" b="1" kern="1200" baseline="0" dirty="0" err="1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order_id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amount</a:t>
                      </a: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메소드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cancel(), </a:t>
                      </a:r>
                      <a:r>
                        <a:rPr lang="en-US" sz="1800" b="1" kern="1200" baseline="0" dirty="0" err="1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update_status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en-US" sz="1800" b="1" kern="1200" baseline="0" dirty="0" err="1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order.amount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= 500</a:t>
                      </a: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en-US" sz="1800" b="1" kern="1200" baseline="0" dirty="0" err="1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order.cancel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()</a:t>
                      </a:r>
                    </a:p>
                  </a:txBody>
                  <a:tcPr marL="22860" marR="22860" marT="15240" marB="15240" anchor="ctr"/>
                </a:tc>
                <a:extLst>
                  <a:ext uri="{0D108BD9-81ED-4DB2-BD59-A6C34878D82A}">
                    <a16:rowId xmlns:a16="http://schemas.microsoft.com/office/drawing/2014/main" val="19358882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80460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055BEE-F066-C987-AEE2-D963B9A592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ABAC3D81-BA21-7C79-3849-E16FE48480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OOP - python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B75353E-AEB2-F738-D4BC-B431AD2B6E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6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2BB3F3D-5A65-3E67-C0FA-B47717BAA45E}"/>
              </a:ext>
            </a:extLst>
          </p:cNvPr>
          <p:cNvSpPr txBox="1"/>
          <p:nvPr/>
        </p:nvSpPr>
        <p:spPr>
          <a:xfrm>
            <a:off x="915383" y="1190864"/>
            <a:ext cx="9508777" cy="541686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class Account: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def __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init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__(self, owner, balance=0):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속성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(Attributes)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self.owner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owner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self.balance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balance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메소드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(Methods)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def deposit(self, amount):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self.balance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+= amount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return f"{amount}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 입금 완료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잔액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{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self.balance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def withdraw(self, amount):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if amount &gt;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self.balance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 return 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잔액이 부족합니다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."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self.balance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-= amount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return f"{amount}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 출금 완료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잔액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{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self.balance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객체화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인스턴스 생성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my_acc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Account("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김철수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 1000)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my_acc.deposit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(500))   # 500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 입금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my_acc.withdraw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(2000)) 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잔액 부족 확인</a:t>
            </a:r>
          </a:p>
        </p:txBody>
      </p:sp>
    </p:spTree>
    <p:extLst>
      <p:ext uri="{BB962C8B-B14F-4D97-AF65-F5344CB8AC3E}">
        <p14:creationId xmlns:p14="http://schemas.microsoft.com/office/powerpoint/2010/main" val="26588005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588B81-AD91-F370-8D32-FF6C2C9A91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F2CA6881-A4DF-DB25-5F01-36F36E9B48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Proto_OOP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java script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95EC99B-BF2A-8481-22BC-D44961AE4E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7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F58AA32-2422-26FE-27E7-BEAFCCF66B1C}"/>
              </a:ext>
            </a:extLst>
          </p:cNvPr>
          <p:cNvSpPr txBox="1"/>
          <p:nvPr/>
        </p:nvSpPr>
        <p:spPr>
          <a:xfrm>
            <a:off x="1001260" y="905523"/>
            <a:ext cx="9351279" cy="575542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class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Account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{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constructor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owner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balance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0) {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// 속성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Attributes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this.owner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owner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this.balance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balance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}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// 메소드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Methods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deposit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amount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{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this.balance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+=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amount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`${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amount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}원 입금 완료. 잔액: ${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this.balance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}원`;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}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withdraw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amount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{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if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amount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&gt;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this.balance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{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"잔액이 부족합니다.";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}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this.balance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-=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amount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`${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amount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}원 출금 완료. 잔액: ${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this.balance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}원`;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}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// 객체화 (인스턴스 생성)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const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myAcc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new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Account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("이영희", 2000);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console.log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myAcc.deposit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(1000));  // 1000원 입금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console.log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myAcc.withdraw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(500));  // 500원 출금</a:t>
            </a:r>
          </a:p>
        </p:txBody>
      </p:sp>
    </p:spTree>
    <p:extLst>
      <p:ext uri="{BB962C8B-B14F-4D97-AF65-F5344CB8AC3E}">
        <p14:creationId xmlns:p14="http://schemas.microsoft.com/office/powerpoint/2010/main" val="42906430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995087-E41C-8A71-61A5-59FEBEB477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EFCF7855-8455-07D4-C58F-7C5B2F50ABD7}"/>
              </a:ext>
            </a:extLst>
          </p:cNvPr>
          <p:cNvSpPr/>
          <p:nvPr/>
        </p:nvSpPr>
        <p:spPr>
          <a:xfrm>
            <a:off x="612030" y="2502990"/>
            <a:ext cx="10351245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3F6958D-8AD6-474A-1C73-9EE71FFD642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54D6687-ED58-E061-9923-E03D9877FB7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54955" y="1931490"/>
            <a:ext cx="10760820" cy="3650160"/>
          </a:xfrm>
        </p:spPr>
        <p:txBody>
          <a:bodyPr>
            <a:normAutofit fontScale="85000" lnSpcReduction="20000"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What</a:t>
            </a:r>
            <a:r>
              <a:rPr lang="ko-KR" altLang="en-US" sz="2400" cap="none" dirty="0"/>
              <a:t> </a:t>
            </a:r>
            <a:r>
              <a:rPr lang="en-US" altLang="ko-KR" sz="2400" cap="none" dirty="0"/>
              <a:t>is Modeling? 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Python</a:t>
            </a:r>
            <a:r>
              <a:rPr lang="ko-KR" altLang="en-US" sz="2400" cap="none" dirty="0"/>
              <a:t> </a:t>
            </a:r>
            <a:r>
              <a:rPr lang="en-US" altLang="ko-KR" sz="2400" cap="none" dirty="0" err="1"/>
              <a:t>sympy</a:t>
            </a:r>
            <a:endParaRPr lang="en-US" altLang="ko-KR" sz="2400" cap="none" dirty="0"/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Time &amp; Space (w1)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Optimization (w2)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Optimization Using Gradient Descent: Linear Regression (w3)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Regression &amp; Classification with Perceptron (w4)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Simulation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endParaRPr lang="en-US" altLang="ko-KR" sz="2400" cap="none" dirty="0"/>
          </a:p>
          <a:p>
            <a:pPr marL="514350" indent="-514350">
              <a:lnSpc>
                <a:spcPct val="150000"/>
              </a:lnSpc>
              <a:buAutoNum type="arabicPeriod"/>
            </a:pPr>
            <a:endParaRPr lang="ko-KR" altLang="en-US" sz="2400" cap="none" dirty="0"/>
          </a:p>
        </p:txBody>
      </p:sp>
    </p:spTree>
    <p:extLst>
      <p:ext uri="{BB962C8B-B14F-4D97-AF65-F5344CB8AC3E}">
        <p14:creationId xmlns:p14="http://schemas.microsoft.com/office/powerpoint/2010/main" val="41980325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6DDCFB-7AB3-D3D2-F2B2-E0D460FABE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22A0FD5B-2339-E38C-4A56-DE98C9747F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7"/>
            <a:ext cx="10629571" cy="4784067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en-US" altLang="ko-KR" sz="2400" dirty="0" err="1"/>
              <a:t>sympy</a:t>
            </a:r>
            <a:r>
              <a:rPr lang="ko-KR" altLang="en-US" sz="2400" dirty="0"/>
              <a:t>는 </a:t>
            </a:r>
            <a:r>
              <a:rPr lang="ko-KR" altLang="en-US" sz="2400" dirty="0" err="1"/>
              <a:t>파이썬에서</a:t>
            </a:r>
            <a:r>
              <a:rPr lang="ko-KR" altLang="en-US" sz="2400" dirty="0"/>
              <a:t> 사용 가능한 대수</a:t>
            </a:r>
            <a:r>
              <a:rPr lang="en-US" altLang="ko-KR" sz="2400" dirty="0"/>
              <a:t>(algebra)</a:t>
            </a:r>
            <a:r>
              <a:rPr lang="ko-KR" altLang="en-US" sz="2400" dirty="0"/>
              <a:t> 계산 라이브러리로</a:t>
            </a:r>
            <a:r>
              <a:rPr lang="en-US" altLang="ko-KR" sz="2400" dirty="0"/>
              <a:t>, </a:t>
            </a:r>
            <a:r>
              <a:rPr lang="ko-KR" altLang="en-US" sz="2400" dirty="0"/>
              <a:t>기호 연산과 수학적 공식 표현을 지원</a:t>
            </a:r>
            <a:endParaRPr lang="en-US" altLang="ko-KR" sz="18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기호 연산</a:t>
            </a:r>
            <a:endParaRPr lang="en-US" altLang="ko-KR" sz="2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방정식 풀기</a:t>
            </a:r>
            <a:endParaRPr lang="en-US" altLang="ko-KR" sz="2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미분과 적분</a:t>
            </a:r>
            <a:endParaRPr lang="en-US" altLang="ko-KR" sz="2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방정식 그래프 그리기</a:t>
            </a:r>
            <a:endParaRPr lang="ko-KR" altLang="en-US" sz="2000" dirty="0"/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C0FB6319-F468-D130-A036-538E8745B8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sympy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6D8D5A3D-86BD-1768-B2E9-BFC0D77DAE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34488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56531E-AB77-8E51-290D-2773B07585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0FB19550-EB7C-EB2B-ACE4-48FF2EDEB9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559583"/>
            <a:ext cx="4241471" cy="1450318"/>
          </a:xfrm>
          <a:ln w="28575">
            <a:solidFill>
              <a:schemeClr val="tx1"/>
            </a:solidFill>
          </a:ln>
        </p:spPr>
        <p:txBody>
          <a:bodyPr>
            <a:normAutofit/>
          </a:bodyPr>
          <a:lstStyle/>
          <a:p>
            <a:r>
              <a:rPr lang="en-US" altLang="ko-KR" dirty="0"/>
              <a:t>from </a:t>
            </a:r>
            <a:r>
              <a:rPr lang="en-US" altLang="ko-KR" dirty="0" err="1"/>
              <a:t>sympy</a:t>
            </a:r>
            <a:r>
              <a:rPr lang="en-US" altLang="ko-KR" dirty="0"/>
              <a:t> import symbols</a:t>
            </a:r>
          </a:p>
          <a:p>
            <a:r>
              <a:rPr lang="en-US" altLang="ko-KR" dirty="0"/>
              <a:t>x, y = symbols('x y')</a:t>
            </a:r>
          </a:p>
          <a:p>
            <a:r>
              <a:rPr lang="en-US" altLang="ko-KR" dirty="0"/>
              <a:t>expr = x + 2*y</a:t>
            </a: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66ACA4DB-B8FA-FE1C-66A3-A6ACC6000C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sympy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D7D15890-D0EE-8C14-F2F7-700699B1A3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10</a:t>
            </a:fld>
            <a:endParaRPr lang="en-US" dirty="0"/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0B0035CB-472C-77A2-93FC-E6DE07F7868F}"/>
              </a:ext>
            </a:extLst>
          </p:cNvPr>
          <p:cNvSpPr txBox="1">
            <a:spLocks/>
          </p:cNvSpPr>
          <p:nvPr/>
        </p:nvSpPr>
        <p:spPr>
          <a:xfrm>
            <a:off x="978229" y="4217058"/>
            <a:ext cx="4241471" cy="1450318"/>
          </a:xfrm>
          <a:prstGeom prst="rect">
            <a:avLst/>
          </a:prstGeom>
          <a:ln w="28575">
            <a:solidFill>
              <a:schemeClr val="tx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20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742950" indent="-28575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1143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6002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20574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2506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9718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3429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38862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ko-KR" dirty="0"/>
              <a:t>from </a:t>
            </a:r>
            <a:r>
              <a:rPr lang="en-US" altLang="ko-KR" dirty="0" err="1"/>
              <a:t>sympy</a:t>
            </a:r>
            <a:r>
              <a:rPr lang="en-US" altLang="ko-KR" dirty="0"/>
              <a:t> import Eq, solve</a:t>
            </a:r>
          </a:p>
          <a:p>
            <a:r>
              <a:rPr lang="en-US" altLang="ko-KR" dirty="0"/>
              <a:t>eq = Eq(x**2 + 2*x + 1, 0)</a:t>
            </a:r>
          </a:p>
          <a:p>
            <a:r>
              <a:rPr lang="en-US" altLang="ko-KR" dirty="0"/>
              <a:t>sol = solve(eq, x)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0C561FB-B458-7456-44E7-3D6042485AB8}"/>
              </a:ext>
            </a:extLst>
          </p:cNvPr>
          <p:cNvSpPr txBox="1">
            <a:spLocks/>
          </p:cNvSpPr>
          <p:nvPr/>
        </p:nvSpPr>
        <p:spPr>
          <a:xfrm>
            <a:off x="6092264" y="1559583"/>
            <a:ext cx="4241471" cy="1450318"/>
          </a:xfrm>
          <a:prstGeom prst="rect">
            <a:avLst/>
          </a:prstGeom>
          <a:ln w="28575">
            <a:solidFill>
              <a:schemeClr val="tx1"/>
            </a:solidFill>
          </a:ln>
        </p:spPr>
        <p:txBody>
          <a:bodyPr vert="horz" lIns="91440" tIns="45720" rIns="91440" bIns="45720" rtlCol="0">
            <a:normAutofit fontScale="85000" lnSpcReduction="10000"/>
          </a:bodyPr>
          <a:lstStyle>
            <a:lvl1pPr marL="342900" indent="-3429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20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742950" indent="-28575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1143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6002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20574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2506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9718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3429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38862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ko-KR" dirty="0"/>
              <a:t>from </a:t>
            </a:r>
            <a:r>
              <a:rPr lang="en-US" altLang="ko-KR" dirty="0" err="1"/>
              <a:t>sympy</a:t>
            </a:r>
            <a:r>
              <a:rPr lang="en-US" altLang="ko-KR" dirty="0"/>
              <a:t> import diff, integrate</a:t>
            </a:r>
          </a:p>
          <a:p>
            <a:r>
              <a:rPr lang="en-US" altLang="ko-KR" dirty="0"/>
              <a:t>expr = x**2 + 3*x + 2</a:t>
            </a:r>
          </a:p>
          <a:p>
            <a:r>
              <a:rPr lang="en-US" altLang="ko-KR" dirty="0"/>
              <a:t>derivative = diff(expr, x)</a:t>
            </a:r>
          </a:p>
          <a:p>
            <a:r>
              <a:rPr lang="en-US" altLang="ko-KR" dirty="0"/>
              <a:t>integral = integrate(expr, x)</a:t>
            </a: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54AFFB05-5355-FE27-BD3B-B918ABE8E1E5}"/>
              </a:ext>
            </a:extLst>
          </p:cNvPr>
          <p:cNvSpPr txBox="1">
            <a:spLocks/>
          </p:cNvSpPr>
          <p:nvPr/>
        </p:nvSpPr>
        <p:spPr>
          <a:xfrm>
            <a:off x="6092263" y="4217058"/>
            <a:ext cx="4241471" cy="1450318"/>
          </a:xfrm>
          <a:prstGeom prst="rect">
            <a:avLst/>
          </a:prstGeom>
          <a:ln w="28575">
            <a:solidFill>
              <a:schemeClr val="tx1"/>
            </a:solidFill>
          </a:ln>
        </p:spPr>
        <p:txBody>
          <a:bodyPr vert="horz" lIns="91440" tIns="45720" rIns="91440" bIns="45720" rtlCol="0">
            <a:normAutofit fontScale="92500" lnSpcReduction="20000"/>
          </a:bodyPr>
          <a:lstStyle>
            <a:lvl1pPr marL="342900" indent="-3429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20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742950" indent="-28575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1143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6002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20574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2506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9718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3429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38862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ko-KR" dirty="0"/>
              <a:t>from </a:t>
            </a:r>
            <a:r>
              <a:rPr lang="en-US" altLang="ko-KR" dirty="0" err="1"/>
              <a:t>sympy.plotting</a:t>
            </a:r>
            <a:r>
              <a:rPr lang="en-US" altLang="ko-KR" dirty="0"/>
              <a:t> import plot</a:t>
            </a:r>
          </a:p>
          <a:p>
            <a:r>
              <a:rPr lang="en-US" altLang="ko-KR" dirty="0"/>
              <a:t>expr = x**2 - 3*x + 2</a:t>
            </a:r>
          </a:p>
          <a:p>
            <a:r>
              <a:rPr lang="en-US" altLang="ko-KR" dirty="0"/>
              <a:t>plot(expr, (x, -5, 5))</a:t>
            </a:r>
          </a:p>
          <a:p>
            <a:r>
              <a:rPr lang="en-US" altLang="ko-KR" dirty="0"/>
              <a:t>plot(diff(expr, x))</a:t>
            </a:r>
          </a:p>
          <a:p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89041651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F28334-E2FC-87A5-CF77-A6D5B47D51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E733D36D-6C73-13E4-D21A-A5C972360EF5}"/>
              </a:ext>
            </a:extLst>
          </p:cNvPr>
          <p:cNvSpPr/>
          <p:nvPr/>
        </p:nvSpPr>
        <p:spPr>
          <a:xfrm>
            <a:off x="612030" y="3017340"/>
            <a:ext cx="10351245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C8E2A4A-71D6-CC5F-C373-2A060995735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0D6BBD99-7112-21BD-317B-9AD8FC6019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54955" y="1931490"/>
            <a:ext cx="10760820" cy="3650160"/>
          </a:xfrm>
        </p:spPr>
        <p:txBody>
          <a:bodyPr>
            <a:normAutofit fontScale="85000" lnSpcReduction="20000"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What</a:t>
            </a:r>
            <a:r>
              <a:rPr lang="ko-KR" altLang="en-US" sz="2400" cap="none" dirty="0"/>
              <a:t> </a:t>
            </a:r>
            <a:r>
              <a:rPr lang="en-US" altLang="ko-KR" sz="2400" cap="none" dirty="0"/>
              <a:t>is Modeling? 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Python</a:t>
            </a:r>
            <a:r>
              <a:rPr lang="ko-KR" altLang="en-US" sz="2400" cap="none" dirty="0"/>
              <a:t> </a:t>
            </a:r>
            <a:r>
              <a:rPr lang="en-US" altLang="ko-KR" sz="2400" cap="none" dirty="0" err="1"/>
              <a:t>sympy</a:t>
            </a:r>
            <a:endParaRPr lang="en-US" altLang="ko-KR" sz="2400" cap="none" dirty="0"/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Time &amp; Space (w1)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Optimization (w2)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Optimization Using Gradient Descent: Linear Regression (w3)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Regression &amp; Classification with Perceptron (w4)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Simulation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endParaRPr lang="en-US" altLang="ko-KR" sz="2400" cap="none" dirty="0"/>
          </a:p>
          <a:p>
            <a:pPr marL="514350" indent="-514350">
              <a:lnSpc>
                <a:spcPct val="150000"/>
              </a:lnSpc>
              <a:buAutoNum type="arabicPeriod"/>
            </a:pPr>
            <a:endParaRPr lang="ko-KR" altLang="en-US" sz="2400" cap="none" dirty="0"/>
          </a:p>
        </p:txBody>
      </p:sp>
    </p:spTree>
    <p:extLst>
      <p:ext uri="{BB962C8B-B14F-4D97-AF65-F5344CB8AC3E}">
        <p14:creationId xmlns:p14="http://schemas.microsoft.com/office/powerpoint/2010/main" val="7577032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85DBF7-AB87-CB1E-4F78-323C7FAF6A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802B9442-5172-8A2C-4B61-7CAEF63007F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78229" y="1321458"/>
                <a:ext cx="10518446" cy="766439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위치함수 </a:t>
                </a:r>
                <a14:m>
                  <m:oMath xmlns:m="http://schemas.openxmlformats.org/officeDocument/2006/math">
                    <m:r>
                      <a:rPr lang="en-US" altLang="ko-KR" i="1" smtClean="0">
                        <a:latin typeface="Cambria Math" panose="02040503050406030204" pitchFamily="18" charset="0"/>
                      </a:rPr>
                      <m:t>𝑠</m:t>
                    </m:r>
                    <m:d>
                      <m:dPr>
                        <m:ctrlPr>
                          <a:rPr lang="en-US" altLang="ko-KR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altLang="ko-KR" i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ko-KR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altLang="ko-KR" i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에 대한 순간 속도를 </a:t>
                </a:r>
                <a:r>
                  <a:rPr lang="ko-KR" altLang="en-US" dirty="0" err="1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중앙차분법과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 </a:t>
                </a:r>
                <a:r>
                  <a:rPr lang="en-US" altLang="ko-KR" dirty="0" err="1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numpy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 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함수를 이용하여 구해보자</a:t>
                </a:r>
                <a:endParaRPr lang="en-US" altLang="ko-KR" dirty="0"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</p:txBody>
          </p:sp>
        </mc:Choice>
        <mc:Fallback xmlns="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802B9442-5172-8A2C-4B61-7CAEF63007F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78229" y="1321458"/>
                <a:ext cx="10518446" cy="766439"/>
              </a:xfrm>
              <a:blipFill>
                <a:blip r:embed="rId2"/>
                <a:stretch>
                  <a:fillRect l="-232" r="-46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제목 1">
            <a:extLst>
              <a:ext uri="{FF2B5EF4-FFF2-40B4-BE49-F238E27FC236}">
                <a16:creationId xmlns:a16="http://schemas.microsoft.com/office/drawing/2014/main" id="{E0AD441E-5917-450E-4906-51D94A1D09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93C5350-3870-2D8F-063A-AD4B66AB35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12</a:t>
            </a:fld>
            <a:endParaRPr lang="en-US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7FE18C21-4770-2BC0-8BD7-B0587A0B5D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79506" y="3107695"/>
            <a:ext cx="2428241" cy="61130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71B5042-81F3-1D81-50D6-FAD08CC36ACA}"/>
              </a:ext>
            </a:extLst>
          </p:cNvPr>
          <p:cNvSpPr txBox="1"/>
          <p:nvPr/>
        </p:nvSpPr>
        <p:spPr>
          <a:xfrm>
            <a:off x="9179507" y="4097028"/>
            <a:ext cx="2428240" cy="307585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np.gradient</a:t>
            </a:r>
            <a:r>
              <a:rPr lang="en-US" altLang="ko-KR" sz="16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(s, dt)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10D2425C-5D0B-8F86-601F-AFC41FBF77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57009" y="2087898"/>
            <a:ext cx="6356032" cy="37917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1955474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925B32-3A82-65C8-07D9-E80625DED3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0AD07620-1C56-7E04-E640-894F691149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91CE662-B35B-C77A-D49F-4A75B2A80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13</a:t>
            </a:fld>
            <a:endParaRPr lang="en-US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A19CA904-9641-C50F-FC09-6A1532A4DD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858" y="966071"/>
            <a:ext cx="2428241" cy="61130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C9DAC9E-F85E-19E4-742B-1724AC7EFD2F}"/>
              </a:ext>
            </a:extLst>
          </p:cNvPr>
          <p:cNvSpPr txBox="1"/>
          <p:nvPr/>
        </p:nvSpPr>
        <p:spPr>
          <a:xfrm>
            <a:off x="6449007" y="1269792"/>
            <a:ext cx="2428240" cy="307585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np.gradient</a:t>
            </a:r>
            <a:r>
              <a:rPr lang="en-US" altLang="ko-KR" sz="16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(s, dt)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70E3A5D-3E52-D6C6-5536-BF9FA2893FD5}"/>
              </a:ext>
            </a:extLst>
          </p:cNvPr>
          <p:cNvSpPr txBox="1"/>
          <p:nvPr/>
        </p:nvSpPr>
        <p:spPr>
          <a:xfrm>
            <a:off x="6454087" y="1665406"/>
            <a:ext cx="5480988" cy="332398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as np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matplotlib.pyplot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as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</a:t>
            </a:r>
            <a:b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1.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 생성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시간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와 위치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초부터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초까지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0.1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초 간격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총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101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 지점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np.linspace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(0, 10, 101)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dt = t[1] - t[0]  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시간 간격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(delta t)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위치 함수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s(t) = t^2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이론적 속도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v(t) = 2t)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 = t**2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velocity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np.gradient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(s, dt)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3.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결과 확인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이론값과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비교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theoretical_v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2 * t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시간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초에서 수치적 속도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{velocity[50]:.2f}")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시간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초에서 이론적 속도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theoretical_v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[50]:.2f}")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2EF8188-0C4C-AB10-D6DB-02DAAE7695C3}"/>
              </a:ext>
            </a:extLst>
          </p:cNvPr>
          <p:cNvSpPr txBox="1"/>
          <p:nvPr/>
        </p:nvSpPr>
        <p:spPr>
          <a:xfrm>
            <a:off x="360626" y="1665406"/>
            <a:ext cx="5735374" cy="504753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as np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def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central_difference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(f, x, eps=1e-6):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"""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중앙 차분법을 이용한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미분값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계산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미분할 함수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    x: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미분값을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구할 지점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eps: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아주 작은 변화량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(epsilon)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"""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공식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v(t) ≈ [s(t + </a:t>
            </a:r>
            <a:r>
              <a:rPr lang="el-G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t) - s(t - </a:t>
            </a:r>
            <a:r>
              <a:rPr lang="el-G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t)] / (2 * </a:t>
            </a:r>
            <a:r>
              <a:rPr lang="el-G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numerator = f(x + eps) - f(x - eps)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denominator = 2 * eps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return numerator / denominator</a:t>
            </a:r>
          </a:p>
          <a:p>
            <a:b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def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target_function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(x):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return x**2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설정값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x_point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5; epsilon = 0.000001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실행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result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central_difference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target_function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x_point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epsilon)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지점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 =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x_point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}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에서의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미분값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{result}")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실제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이론값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(2x): {2 *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x_point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}")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오차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{abs(result - 2 *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x_point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)}")</a:t>
            </a:r>
          </a:p>
        </p:txBody>
      </p:sp>
    </p:spTree>
    <p:extLst>
      <p:ext uri="{BB962C8B-B14F-4D97-AF65-F5344CB8AC3E}">
        <p14:creationId xmlns:p14="http://schemas.microsoft.com/office/powerpoint/2010/main" val="205786679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ABAD0D-64F0-5C6E-557E-EF4FB2FCA8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9D5494DE-863C-9F38-C650-4485FDD2E9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518446" cy="453324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ko-KR" altLang="en-US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미분과 적분은 단순히 복잡한 수식이 아니라</a:t>
            </a:r>
            <a:r>
              <a:rPr lang="en-US" altLang="ko-KR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움직이는 변화를 관찰하는 도구</a:t>
            </a:r>
            <a:endParaRPr lang="en-US" altLang="ko-KR" sz="2400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</a:pP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미분 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(Differentiation)</a:t>
            </a:r>
          </a:p>
          <a:p>
            <a:pPr lvl="2">
              <a:lnSpc>
                <a:spcPct val="150000"/>
              </a:lnSpc>
            </a:pP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위치를 시간에 대해 미분하면 속도가 되고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속도를 미분하면 가속도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: 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순간적인 변화율</a:t>
            </a:r>
            <a:endParaRPr lang="en-US" altLang="ko-KR" sz="18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lvl="1">
              <a:lnSpc>
                <a:spcPct val="150000"/>
              </a:lnSpc>
            </a:pP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적분 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(Integration)</a:t>
            </a:r>
          </a:p>
          <a:p>
            <a:pPr lvl="2">
              <a:lnSpc>
                <a:spcPct val="150000"/>
              </a:lnSpc>
            </a:pP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가속도를 시간에 대해 적분하면 속도가 되고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속도를 적분하면 변화된 거리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위치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 : 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누적된 총량</a:t>
            </a:r>
            <a:endParaRPr lang="en-US" altLang="ko-KR" sz="18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074C09B2-C18A-C9AE-7C68-6315A1CD8E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1180848-7044-645C-DB72-202A5595E8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8522721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EA9388-4461-4D86-EE45-54E6024986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69FE60DC-EB95-02F6-B6AA-DAAC2BEECE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518446" cy="849087"/>
          </a:xfrm>
        </p:spPr>
        <p:txBody>
          <a:bodyPr>
            <a:normAutofit fontScale="85000" lnSpcReduction="10000"/>
          </a:bodyPr>
          <a:lstStyle/>
          <a:p>
            <a:pPr>
              <a:lnSpc>
                <a:spcPct val="150000"/>
              </a:lnSpc>
            </a:pPr>
            <a:r>
              <a:rPr lang="ko-KR" altLang="en-US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시간</a:t>
            </a:r>
            <a:r>
              <a:rPr lang="en-US" altLang="ko-KR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(t)</a:t>
            </a:r>
            <a:r>
              <a:rPr lang="ko-KR" altLang="en-US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에 따른 위치</a:t>
            </a:r>
            <a:r>
              <a:rPr lang="en-US" altLang="ko-KR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(s), </a:t>
            </a:r>
            <a:r>
              <a:rPr lang="ko-KR" altLang="en-US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속도</a:t>
            </a:r>
            <a:r>
              <a:rPr lang="en-US" altLang="ko-KR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(v), </a:t>
            </a:r>
            <a:r>
              <a:rPr lang="ko-KR" altLang="en-US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가속도</a:t>
            </a:r>
            <a:r>
              <a:rPr lang="en-US" altLang="ko-KR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(a)</a:t>
            </a:r>
            <a:r>
              <a:rPr lang="ko-KR" altLang="en-US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의 관계는 미적분을 이해하는</a:t>
            </a:r>
            <a:r>
              <a:rPr lang="en-US" altLang="ko-KR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물리적 모델</a:t>
            </a:r>
            <a:endParaRPr lang="en-US" altLang="ko-KR" sz="2400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759C1A96-2896-D5AC-2AD0-BAC2EBE2FE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1F203B95-93F2-4E16-BAE4-CC801D243B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15</a:t>
            </a:fld>
            <a:endParaRPr lang="en-US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A4A69836-79B6-A2DA-1A54-CCE1425AE8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0800" y="1947866"/>
            <a:ext cx="8100291" cy="4475524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F8D1F81D-9D73-A277-AF02-F1D09CEEC2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76369" y="2672372"/>
            <a:ext cx="1365027" cy="473968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6BB9B605-A74B-AE8D-B47A-481A2156A3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63662" y="3429000"/>
            <a:ext cx="2287684" cy="5182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207042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63B1AB-73E4-323F-DBA4-700600A082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690ACADF-2BFB-89EA-4CEA-83CC7F2A47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518446" cy="544288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[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문제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]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시속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10km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인 자동차로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시간을 주행하면 이동한 전체 거리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(km)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를 구하는 파이썬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코드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31C0D103-A023-ED17-E303-9AE7F1459C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DB29F212-C4C7-C099-E8CD-444A510C04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16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D216A4D-C550-0674-1A0D-2D86DB3F17EB}"/>
              </a:ext>
            </a:extLst>
          </p:cNvPr>
          <p:cNvSpPr txBox="1"/>
          <p:nvPr/>
        </p:nvSpPr>
        <p:spPr>
          <a:xfrm>
            <a:off x="1080653" y="1954829"/>
            <a:ext cx="9337966" cy="4278094"/>
          </a:xfrm>
          <a:prstGeom prst="rect">
            <a:avLst/>
          </a:prstGeom>
          <a:solidFill>
            <a:srgbClr val="0070C0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sympy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as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1.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기호 및 변수 정의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sp.symbols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('t'); a = 2 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시간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가속도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 = 2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2.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속도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v(t)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구하기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가속도를 시간에 대해 적분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v = integral(a) dt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v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sp.integrate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(a, t)</a:t>
            </a:r>
          </a:p>
          <a:p>
            <a:b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3.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거리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s(t)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구하기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속도를 시간에 대해 적분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sp.integrate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(v, t)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속도 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v(t) = {v},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거리 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s(t) = {s}")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4. 5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초 때의 값 계산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5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대입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distance_at_5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s.subs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(t, 5); velocity_at_5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v.subs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(t, 5)</a:t>
            </a:r>
          </a:p>
          <a:p>
            <a:b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print(f"5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초 후 속도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{velocity_at_5} m/s, 5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초 후 이동 거리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{distance_at_5} m")</a:t>
            </a:r>
          </a:p>
        </p:txBody>
      </p:sp>
    </p:spTree>
    <p:extLst>
      <p:ext uri="{BB962C8B-B14F-4D97-AF65-F5344CB8AC3E}">
        <p14:creationId xmlns:p14="http://schemas.microsoft.com/office/powerpoint/2010/main" val="190825632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2F85AD-4242-C287-E9AC-59ECC4A929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82288B82-8279-02EE-6D4C-834A12616BA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78229" y="1321456"/>
                <a:ext cx="10518446" cy="4109526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17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당신은 서울에서 강릉까지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(180 km)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여행을 가는데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처음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90 km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는 교통체증으로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90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분이 걸렸고 뒤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90 km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는 도로가 뻥 뚫려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45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분 만에 달렸다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.</a:t>
                </a:r>
              </a:p>
              <a:p>
                <a:pPr lvl="1">
                  <a:lnSpc>
                    <a:spcPct val="17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전체 평균속도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ko-KR" altLang="en-US">
                            <a:latin typeface="Cambria Math" panose="02040503050406030204" pitchFamily="18" charset="0"/>
                          </a:rPr>
                          <m:t>𝑎𝑣</m:t>
                        </m:r>
                      </m:sub>
                    </m:sSub>
                    <m:r>
                      <a:rPr lang="ko-KR" alt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km/h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단위로 계산하세요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. </a:t>
                </a:r>
              </a:p>
              <a:p>
                <a:pPr lvl="1">
                  <a:lnSpc>
                    <a:spcPct val="17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각 구간의 속도는 각각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60 km/h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와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120 km/h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입니다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. </a:t>
                </a:r>
              </a:p>
              <a:p>
                <a:pPr lvl="1">
                  <a:lnSpc>
                    <a:spcPct val="17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단순히 두 속도의 산술평균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(90 km/h)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과 왜 다를까요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? “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총 거리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÷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총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시간”이라는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평균속도의 정의를 이용해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설명하시오</a:t>
                </a:r>
                <a:endParaRPr lang="ko-KR" altLang="en-US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82288B82-8279-02EE-6D4C-834A12616BA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78229" y="1321456"/>
                <a:ext cx="10518446" cy="4109526"/>
              </a:xfrm>
              <a:blipFill>
                <a:blip r:embed="rId2"/>
                <a:stretch>
                  <a:fillRect l="-232" r="-23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제목 1">
            <a:extLst>
              <a:ext uri="{FF2B5EF4-FFF2-40B4-BE49-F238E27FC236}">
                <a16:creationId xmlns:a16="http://schemas.microsoft.com/office/drawing/2014/main" id="{8B94D30B-61C5-F50A-881E-9D567962DB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77E7BEBB-7AF7-A56F-1FDB-111BF55EBD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735845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90C9BB-C576-5D76-A621-12F6D2D325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CC1FF3CA-0FF4-CF72-D678-8EE97947D8F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78229" y="1321456"/>
                <a:ext cx="10518446" cy="4109526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17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당신은 마블의 순간 이동 능력으로 당신의 위치가 시간에 따라 아래와 같이 주어졌어요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. </a:t>
                </a:r>
              </a:p>
              <a:p>
                <a:pPr lvl="1">
                  <a:lnSpc>
                    <a:spcPct val="170000"/>
                  </a:lnSpc>
                </a:pPr>
                <a14:m>
                  <m:oMath xmlns:m="http://schemas.openxmlformats.org/officeDocument/2006/math">
                    <m:r>
                      <a:rPr lang="ko-KR" altLang="en-US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𝑥</m:t>
                    </m:r>
                    <m:d>
                      <m:dPr>
                        <m:ctrlPr>
                          <a:rPr lang="ko-KR" altLang="en-US" i="1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dPr>
                      <m:e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𝑡</m:t>
                        </m:r>
                      </m:e>
                    </m:d>
                    <m:r>
                      <a:rPr lang="en-US" altLang="ko-KR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=4</m:t>
                    </m:r>
                    <m:sSup>
                      <m:sSupPr>
                        <m:ctrlPr>
                          <a:rPr lang="ko-KR" altLang="en-US" i="1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sSupPr>
                      <m:e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𝑡</m:t>
                        </m:r>
                      </m:e>
                      <m:sup>
                        <m:r>
                          <a:rPr lang="en-US" altLang="ko-KR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2</m:t>
                        </m:r>
                      </m:sup>
                    </m:sSup>
                    <m:r>
                      <a:rPr lang="en-US" altLang="ko-KR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+2</m:t>
                    </m:r>
                    <m:r>
                      <a:rPr lang="ko-KR" altLang="en-US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𝑡</m:t>
                    </m:r>
                  </m:oMath>
                </a14:m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(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단위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: m, t: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초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</a:p>
              <a:p>
                <a:pPr>
                  <a:lnSpc>
                    <a:spcPct val="17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𝑡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=0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초부터 𝑡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=5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초까지의 평균속도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i="1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sSubPr>
                      <m:e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𝑣</m:t>
                        </m:r>
                      </m:e>
                      <m:sub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𝑎𝑣</m:t>
                        </m:r>
                      </m:sub>
                    </m:sSub>
                    <m:r>
                      <a:rPr lang="en-US" altLang="ko-KR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=</m:t>
                    </m:r>
                    <m:f>
                      <m:fPr>
                        <m:ctrlPr>
                          <a:rPr lang="ko-KR" altLang="en-US" i="1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altLang="ko-KR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Δ</m:t>
                        </m:r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𝑥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altLang="ko-KR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Δ</m:t>
                        </m:r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𝑡</m:t>
                        </m:r>
                      </m:den>
                    </m:f>
                    <m:r>
                      <a:rPr lang="ko-KR" altLang="en-US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 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구하시오</a:t>
                </a:r>
                <a:endParaRPr lang="ko-KR" altLang="en-US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>
                  <a:lnSpc>
                    <a:spcPct val="17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순간속도 함수 </a:t>
                </a:r>
                <a14:m>
                  <m:oMath xmlns:m="http://schemas.openxmlformats.org/officeDocument/2006/math">
                    <m:r>
                      <a:rPr lang="ko-KR" altLang="en-US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𝑣</m:t>
                    </m:r>
                    <m:d>
                      <m:dPr>
                        <m:ctrlPr>
                          <a:rPr lang="ko-KR" altLang="en-US" i="1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dPr>
                      <m:e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𝑡</m:t>
                        </m:r>
                      </m:e>
                    </m:d>
                    <m:r>
                      <a:rPr lang="en-US" altLang="ko-KR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=</m:t>
                    </m:r>
                    <m:f>
                      <m:fPr>
                        <m:ctrlPr>
                          <a:rPr lang="ko-KR" altLang="en-US" i="1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fPr>
                      <m:num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𝑑𝑥</m:t>
                        </m:r>
                      </m:num>
                      <m:den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𝑑𝑡</m:t>
                        </m:r>
                      </m:den>
                    </m:f>
                    <m:r>
                      <a:rPr lang="ko-KR" altLang="en-US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 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구하고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𝑡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=3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초에서의 순간속도를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계산하시오</a:t>
                </a:r>
                <a:endParaRPr lang="ko-KR" altLang="en-US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>
                  <a:lnSpc>
                    <a:spcPct val="17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평균속도과 순간속도를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설명하시오</a:t>
                </a:r>
                <a:endParaRPr lang="ko-KR" altLang="en-US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CC1FF3CA-0FF4-CF72-D678-8EE97947D8F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78229" y="1321456"/>
                <a:ext cx="10518446" cy="4109526"/>
              </a:xfrm>
              <a:blipFill>
                <a:blip r:embed="rId2"/>
                <a:stretch>
                  <a:fillRect l="-23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제목 1">
            <a:extLst>
              <a:ext uri="{FF2B5EF4-FFF2-40B4-BE49-F238E27FC236}">
                <a16:creationId xmlns:a16="http://schemas.microsoft.com/office/drawing/2014/main" id="{AB17F3EE-D6F0-304C-76DD-092CEB6B85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FB34E9E-4A02-7B86-AD9B-8F5BC00767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2677799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4DB512-E367-6CB3-6427-170A657581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92E82CDE-27C5-644F-77A7-4B7B8E305E2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78229" y="1321457"/>
                <a:ext cx="10518446" cy="1901900"/>
              </a:xfrm>
            </p:spPr>
            <p:txBody>
              <a:bodyPr>
                <a:normAutofit fontScale="85000" lnSpcReduction="20000"/>
              </a:bodyPr>
              <a:lstStyle/>
              <a:p>
                <a:pPr>
                  <a:lnSpc>
                    <a:spcPct val="170000"/>
                  </a:lnSpc>
                </a:pP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마블의 순간 이동에 따른 위치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변화된 거리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함수가 </a:t>
                </a:r>
                <a14:m>
                  <m:oMath xmlns:m="http://schemas.openxmlformats.org/officeDocument/2006/math"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𝑠</m:t>
                    </m:r>
                    <m:d>
                      <m:dPr>
                        <m:ctrlPr>
                          <a:rPr lang="ko-KR" alt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ko-KR" altLang="en-US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ko-KR" altLang="en-US" i="0" smtClean="0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ko-KR" altLang="en-US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e>
                      <m:sub>
                        <m:r>
                          <a:rPr lang="ko-KR" altLang="en-US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ko-KR" altLang="en-US" i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ko-KR" altLang="en-US" i="0" smtClean="0">
                        <a:latin typeface="Cambria Math" panose="02040503050406030204" pitchFamily="18" charset="0"/>
                      </a:rPr>
                      <m:t>+9</m:t>
                    </m:r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 인 어떤 물체의 움직임을 살펴보자</a:t>
                </a:r>
                <a:endParaRPr lang="en-US" altLang="ko-KR" dirty="0">
                  <a:latin typeface="맑은 고딕" panose="020B0503020000020004" pitchFamily="50" charset="-127"/>
                  <a:ea typeface="맑은 고딕" panose="020B0503020000020004" pitchFamily="50" charset="-127"/>
                  <a:cs typeface="맑은 고딕 Semilight" panose="020B0502040204020203" pitchFamily="50" charset="-127"/>
                </a:endParaRPr>
              </a:p>
              <a:p>
                <a:pPr lvl="1">
                  <a:lnSpc>
                    <a:spcPct val="170000"/>
                  </a:lnSpc>
                </a:pP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시간변화 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 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거리변화</a:t>
                </a:r>
                <a:endParaRPr lang="en-US" altLang="ko-KR" dirty="0">
                  <a:latin typeface="맑은 고딕" panose="020B0503020000020004" pitchFamily="50" charset="-127"/>
                  <a:ea typeface="맑은 고딕" panose="020B0503020000020004" pitchFamily="50" charset="-127"/>
                  <a:cs typeface="맑은 고딕 Semilight" panose="020B0502040204020203" pitchFamily="50" charset="-127"/>
                </a:endParaRPr>
              </a:p>
              <a:p>
                <a:pPr lvl="1">
                  <a:lnSpc>
                    <a:spcPct val="170000"/>
                  </a:lnSpc>
                </a:pP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시간변화 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 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속도 변화</a:t>
                </a:r>
                <a:endParaRPr lang="en-US" altLang="ko-KR" dirty="0">
                  <a:latin typeface="맑은 고딕" panose="020B0503020000020004" pitchFamily="50" charset="-127"/>
                  <a:ea typeface="맑은 고딕" panose="020B0503020000020004" pitchFamily="50" charset="-127"/>
                  <a:cs typeface="맑은 고딕 Semilight" panose="020B0502040204020203" pitchFamily="50" charset="-127"/>
                </a:endParaRPr>
              </a:p>
              <a:p>
                <a:pPr lvl="1">
                  <a:lnSpc>
                    <a:spcPct val="170000"/>
                  </a:lnSpc>
                </a:pP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특정시간에 위치는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? (</a:t>
                </a:r>
                <a14:m>
                  <m:oMath xmlns:m="http://schemas.openxmlformats.org/officeDocument/2006/math">
                    <m:r>
                      <a:rPr lang="ko-KR" altLang="en-US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일 때 나의 위치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움직인 거리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는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?</a:t>
                </a:r>
              </a:p>
            </p:txBody>
          </p:sp>
        </mc:Choice>
        <mc:Fallback xmlns="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92E82CDE-27C5-644F-77A7-4B7B8E305E2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78229" y="1321457"/>
                <a:ext cx="10518446" cy="1901900"/>
              </a:xfrm>
              <a:blipFill>
                <a:blip r:embed="rId2"/>
                <a:stretch>
                  <a:fillRect l="-58" b="-32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제목 1">
            <a:extLst>
              <a:ext uri="{FF2B5EF4-FFF2-40B4-BE49-F238E27FC236}">
                <a16:creationId xmlns:a16="http://schemas.microsoft.com/office/drawing/2014/main" id="{E1DEF03F-E099-05C7-39C4-D8D08C1415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1C8490EB-72B1-37E5-1777-33C4537136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19</a:t>
            </a:fld>
            <a:endParaRPr lang="en-US" dirty="0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0C714919-2A05-70C7-C618-3BD78C956D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60351" y="3429000"/>
            <a:ext cx="8954202" cy="29404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52482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E5762A-CD1D-F0CB-9A99-FC8EA8D4C9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7F0CC4A2-4B44-9CAA-B20A-151E69FCFEA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78229" y="1321457"/>
                <a:ext cx="10518446" cy="1583667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위치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변화된 거리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함수가 </a:t>
                </a:r>
                <a14:m>
                  <m:oMath xmlns:m="http://schemas.openxmlformats.org/officeDocument/2006/math"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𝑠</m:t>
                    </m:r>
                    <m:d>
                      <m:dPr>
                        <m:ctrlPr>
                          <a:rPr lang="ko-KR" alt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ko-KR" altLang="en-US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ko-KR" altLang="en-US" i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ko-KR" altLang="en-US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ko-KR" altLang="en-US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ko-KR" altLang="en-US" i="0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ko-KR" altLang="en-US" i="0" smtClean="0">
                        <a:latin typeface="Cambria Math" panose="02040503050406030204" pitchFamily="18" charset="0"/>
                      </a:rPr>
                      <m:t>−</m:t>
                    </m:r>
                    <m:sSubSup>
                      <m:sSubSupPr>
                        <m:ctrlPr>
                          <a:rPr lang="ko-KR" altLang="en-US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e>
                      <m:sub>
                        <m:r>
                          <a:rPr lang="ko-KR" altLang="en-US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ko-KR" altLang="en-US" i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ko-KR" altLang="en-US" i="0" smtClean="0">
                        <a:latin typeface="Cambria Math" panose="02040503050406030204" pitchFamily="18" charset="0"/>
                      </a:rPr>
                      <m:t>+9</m:t>
                    </m:r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 인 어떤 물체의 움직임을 살펴보자</a:t>
                </a:r>
                <a:endParaRPr lang="en-US" altLang="ko-KR" dirty="0">
                  <a:latin typeface="맑은 고딕" panose="020B0503020000020004" pitchFamily="50" charset="-127"/>
                  <a:ea typeface="맑은 고딕" panose="020B0503020000020004" pitchFamily="50" charset="-127"/>
                  <a:cs typeface="맑은 고딕 Semilight" panose="020B0502040204020203" pitchFamily="50" charset="-127"/>
                </a:endParaRPr>
              </a:p>
              <a:p>
                <a:pPr lvl="1"/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시간변화 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 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거리변화</a:t>
                </a:r>
                <a:endParaRPr lang="en-US" altLang="ko-KR" dirty="0">
                  <a:latin typeface="맑은 고딕" panose="020B0503020000020004" pitchFamily="50" charset="-127"/>
                  <a:ea typeface="맑은 고딕" panose="020B0503020000020004" pitchFamily="50" charset="-127"/>
                  <a:cs typeface="맑은 고딕 Semilight" panose="020B0502040204020203" pitchFamily="50" charset="-127"/>
                </a:endParaRPr>
              </a:p>
              <a:p>
                <a:pPr lvl="1"/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시간변화 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 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속도 변화</a:t>
                </a:r>
                <a:endParaRPr lang="en-US" altLang="ko-KR" dirty="0">
                  <a:latin typeface="맑은 고딕" panose="020B0503020000020004" pitchFamily="50" charset="-127"/>
                  <a:ea typeface="맑은 고딕" panose="020B0503020000020004" pitchFamily="50" charset="-127"/>
                  <a:cs typeface="맑은 고딕 Semilight" panose="020B0502040204020203" pitchFamily="50" charset="-127"/>
                </a:endParaRPr>
              </a:p>
              <a:p>
                <a:pPr lvl="1"/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특정시간에 위치는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? (</a:t>
                </a:r>
                <a14:m>
                  <m:oMath xmlns:m="http://schemas.openxmlformats.org/officeDocument/2006/math">
                    <m:r>
                      <a:rPr lang="ko-KR" altLang="en-US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일 때 나의 위치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움직인 거리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는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?</a:t>
                </a:r>
              </a:p>
            </p:txBody>
          </p:sp>
        </mc:Choice>
        <mc:Fallback xmlns="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7F0CC4A2-4B44-9CAA-B20A-151E69FCFEA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78229" y="1321457"/>
                <a:ext cx="10518446" cy="1583667"/>
              </a:xfrm>
              <a:blipFill>
                <a:blip r:embed="rId2"/>
                <a:stretch>
                  <a:fillRect l="-232" t="-423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제목 1">
            <a:extLst>
              <a:ext uri="{FF2B5EF4-FFF2-40B4-BE49-F238E27FC236}">
                <a16:creationId xmlns:a16="http://schemas.microsoft.com/office/drawing/2014/main" id="{33FA9756-4D60-95AD-C21F-D0BF91D49F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B5AB88AB-AF58-CDCF-02C5-0714062F60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20</a:t>
            </a:fld>
            <a:endParaRPr lang="en-US" dirty="0"/>
          </a:p>
        </p:txBody>
      </p:sp>
      <p:pic>
        <p:nvPicPr>
          <p:cNvPr id="3076" name="Picture 4">
            <a:extLst>
              <a:ext uri="{FF2B5EF4-FFF2-40B4-BE49-F238E27FC236}">
                <a16:creationId xmlns:a16="http://schemas.microsoft.com/office/drawing/2014/main" id="{BA8962F5-C54B-FA99-98A0-64D114B85F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51440" y="3070225"/>
            <a:ext cx="9373736" cy="30843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3136984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B53342-2425-B552-0F6D-02A599DF8B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B1A20275-9114-67D7-400E-3F605E1DBA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35379" y="1220061"/>
            <a:ext cx="10642271" cy="1320142"/>
          </a:xfrm>
        </p:spPr>
        <p:txBody>
          <a:bodyPr>
            <a:normAutofit fontScale="85000" lnSpcReduction="20000"/>
          </a:bodyPr>
          <a:lstStyle/>
          <a:p>
            <a:pPr>
              <a:lnSpc>
                <a:spcPct val="17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 그림은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1,000 US dollars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은행에 복리이자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(compound interest)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월복리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1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분기복리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년 복리 그리고 시간을 무한히 나누어 복리이자를 한 경우의 그래프이다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 </a:t>
            </a:r>
          </a:p>
          <a:p>
            <a:pPr lvl="1">
              <a:lnSpc>
                <a:spcPct val="17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미분방정식과 미래 가치 등을 계산하여 시각화를 재현하라 </a:t>
            </a: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622A52C4-A097-F5B5-CE72-E072B1D76F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C33A2C10-ABF7-FF0C-AC9E-C8A89559A2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21</a:t>
            </a:fld>
            <a:endParaRPr 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1B6430F4-CAAD-D9B3-D0F2-334DB356AA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8967" y="2696848"/>
            <a:ext cx="6118009" cy="38258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729363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97CA38-A875-3AAA-1D00-9E61E21AD8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482AF068-BBCB-0F90-B9B7-4F0223E86D25}"/>
              </a:ext>
            </a:extLst>
          </p:cNvPr>
          <p:cNvSpPr/>
          <p:nvPr/>
        </p:nvSpPr>
        <p:spPr>
          <a:xfrm>
            <a:off x="612030" y="3531690"/>
            <a:ext cx="10351245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6741A9EA-2BF6-82FF-85AC-A7C80B26E4F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C8E50BC-458E-2CE3-0B12-53AD2C83E8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54955" y="1931490"/>
            <a:ext cx="10760820" cy="3650160"/>
          </a:xfrm>
        </p:spPr>
        <p:txBody>
          <a:bodyPr>
            <a:normAutofit fontScale="85000" lnSpcReduction="20000"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What</a:t>
            </a:r>
            <a:r>
              <a:rPr lang="ko-KR" altLang="en-US" sz="2400" cap="none" dirty="0"/>
              <a:t> </a:t>
            </a:r>
            <a:r>
              <a:rPr lang="en-US" altLang="ko-KR" sz="2400" cap="none" dirty="0"/>
              <a:t>is Modeling? 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Python</a:t>
            </a:r>
            <a:r>
              <a:rPr lang="ko-KR" altLang="en-US" sz="2400" cap="none" dirty="0"/>
              <a:t> </a:t>
            </a:r>
            <a:r>
              <a:rPr lang="en-US" altLang="ko-KR" sz="2400" cap="none" dirty="0" err="1"/>
              <a:t>sympy</a:t>
            </a:r>
            <a:endParaRPr lang="en-US" altLang="ko-KR" sz="2400" cap="none" dirty="0"/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Time &amp; Space (w1)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Optimization (w2)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Optimization Using Gradient Descent: Linear Regression (w3)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Regression &amp; Classification with Perceptron (w4)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Simulation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endParaRPr lang="en-US" altLang="ko-KR" sz="2400" cap="none" dirty="0"/>
          </a:p>
          <a:p>
            <a:pPr marL="514350" indent="-514350">
              <a:lnSpc>
                <a:spcPct val="150000"/>
              </a:lnSpc>
              <a:buAutoNum type="arabicPeriod"/>
            </a:pPr>
            <a:endParaRPr lang="ko-KR" altLang="en-US" sz="2400" cap="none" dirty="0"/>
          </a:p>
        </p:txBody>
      </p:sp>
    </p:spTree>
    <p:extLst>
      <p:ext uri="{BB962C8B-B14F-4D97-AF65-F5344CB8AC3E}">
        <p14:creationId xmlns:p14="http://schemas.microsoft.com/office/powerpoint/2010/main" val="91532688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4A7F15-CC48-EF66-DE9B-044C76CC1B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5B86733F-17E8-F77E-0D2D-9C8ACE0028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518446" cy="1172360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A,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B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군데 공급업체의 물품 가격 추세선을 바탕으로 최적 조달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비율을 결정하라 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2">
              <a:lnSpc>
                <a:spcPct val="150000"/>
              </a:lnSpc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배경설명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데이터는 </a:t>
            </a:r>
            <a:r>
              <a:rPr lang="en-US" altLang="ko-KR" dirty="0">
                <a:latin typeface="맑은 고딕" panose="020B0503020000020004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Obtain_data_prices.csv</a:t>
            </a:r>
            <a:r>
              <a:rPr lang="en-US" altLang="ko-KR" dirty="0">
                <a:latin typeface="맑은 고딕" panose="020B0503020000020004" pitchFamily="50" charset="-127"/>
                <a:cs typeface="맑은 고딕 Semilight" panose="020B0502040204020203" pitchFamily="50" charset="-127"/>
              </a:rPr>
              <a:t> )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B759CEC3-8C62-8AED-B57C-6AC41CB532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200ACED5-0EA9-66A8-294D-E39924E5CA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23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3A761D9-3270-411C-4820-CE4B86A769DC}"/>
              </a:ext>
            </a:extLst>
          </p:cNvPr>
          <p:cNvSpPr txBox="1"/>
          <p:nvPr/>
        </p:nvSpPr>
        <p:spPr>
          <a:xfrm>
            <a:off x="1919202" y="2493818"/>
            <a:ext cx="9423053" cy="3542188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square">
            <a:spAutoFit/>
          </a:bodyPr>
          <a:lstStyle/>
          <a:p>
            <a:pPr marL="285750" indent="-285750" algn="l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제품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 (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생산 공정의 필수 원자재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기간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2018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년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월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~ 2020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년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월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과거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26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개월 데이터 기반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pPr marL="285750" indent="-285750" algn="l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목적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향후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12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개월 예산 수립을 위한 공급업체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(A, B) 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간 최적 구매 비율 결정</a:t>
            </a:r>
          </a:p>
          <a:p>
            <a:pPr marL="285750" indent="-285750" algn="l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 분석 시나리오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예상 분석 프로세스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: 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공급업체 선정 및 비율 결정을 위해 다음 세 가지 지표를 검토하라</a:t>
            </a:r>
            <a:endParaRPr lang="en-US" altLang="ko-KR" sz="1400" b="0" i="0" dirty="0">
              <a:solidFill>
                <a:srgbClr val="FFFFFF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800100" lvl="1" indent="-342900">
              <a:lnSpc>
                <a:spcPct val="200000"/>
              </a:lnSpc>
              <a:buFont typeface="+mj-lt"/>
              <a:buAutoNum type="arabicParenR"/>
            </a:pP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산술 평균 가격 비교 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기대 비용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두 업체 중 어느 곳이 전반적으로 더 저렴한가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만약  라면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비용 절감 측면에서 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유리하지만 단순히 평균만 봐서는 안 되며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특정 시점의 가격 역전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(Price Cross) 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빈도를 확인</a:t>
            </a:r>
            <a:r>
              <a:rPr lang="ko-KR" altLang="en-US" sz="1200" dirty="0">
                <a:solidFill>
                  <a:srgbClr val="FFFFFF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하라</a:t>
            </a:r>
            <a:endParaRPr lang="en-US" altLang="ko-KR" sz="1200" b="0" i="0" dirty="0">
              <a:solidFill>
                <a:srgbClr val="FFFFFF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800100" lvl="1" indent="-342900">
              <a:lnSpc>
                <a:spcPct val="200000"/>
              </a:lnSpc>
              <a:buFont typeface="+mj-lt"/>
              <a:buAutoNum type="arabicParenR"/>
            </a:pP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변동성 및 리스크 분석 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표준편차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가격이 얼마나 널뛰는가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예산 모델링에서 안정성은 매우 </a:t>
            </a:r>
            <a:r>
              <a:rPr lang="ko-KR" altLang="en-US" sz="1200" b="0" i="0" dirty="0" err="1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중요하기때문에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평균 가격이 낮더라도 변동성이 너무 크면 예산 초과 리스크가 발생</a:t>
            </a:r>
            <a:endParaRPr lang="en-US" altLang="ko-KR" sz="1200" b="0" i="0" dirty="0">
              <a:solidFill>
                <a:srgbClr val="FFFFFF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800100" lvl="1" indent="-342900">
              <a:lnSpc>
                <a:spcPct val="200000"/>
              </a:lnSpc>
              <a:buFont typeface="+mj-lt"/>
              <a:buAutoNum type="arabicParenR"/>
            </a:pP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상관관계 분석 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포트폴리오 효과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두 업체의 가격이 같이 움직이는가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상관계수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확인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두 업체의 가격 상관관계가 낮거나 음수라면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물량을 나누어 구매함으로써 전체 조달 비용의 변동성을 상쇄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(Hedge)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할 수 있음</a:t>
            </a:r>
            <a:endParaRPr lang="en-US" altLang="ko-KR" sz="1200" b="0" i="0" dirty="0">
              <a:solidFill>
                <a:srgbClr val="FFFFFF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3836858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F218E5-3E28-1CD8-FEE2-5661777B40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FFE9F5D6-547A-F4CE-3159-6BF1FB221B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518446" cy="1172360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A,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B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군데 공급업체의 물품 가격 추세선을 바탕으로 최적의 주문 비율을 정하라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624C7295-8C9B-4984-1744-BA1E610BF0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3B57F09-7FBE-6536-DDB5-1C49E76C83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24</a:t>
            </a:fld>
            <a:endParaRPr lang="en-US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7067C35D-C18A-EE13-477B-33829D7920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81531" y="2191429"/>
            <a:ext cx="9993935" cy="2949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2154727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844E43-CB59-8F5C-4388-4811D5B124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6518745B-AC4C-DDD2-8292-D26BA8532A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518446" cy="1164567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A,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B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군데 공급업체의 물품 가격의 이동평균과 이동 표준편차를 고려하라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(Hints)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가격의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변동성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분산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이 큰 것은 위험한 것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Cost Minimization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CC2D05B7-AC60-6082-2034-4BCDC4EF98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AFD1F052-3979-3A26-E065-56AF8FA9E6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25</a:t>
            </a:fld>
            <a:endParaRPr lang="en-US" dirty="0"/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3E337E23-A785-0D8C-E673-31CA7D63DA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50424" y="2744067"/>
            <a:ext cx="9228590" cy="30365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2301855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377A33-2D8C-8206-106E-DD18CAAB95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4810804F-F0BA-ECEF-4EB9-DFFA04EB94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518446" cy="766439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 err="1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sympy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로 비용함수를 만들어 최적화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미분 값이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zero)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가 되는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w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를 찾으면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0.7023</a:t>
            </a: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C3FE925E-53B4-0BD5-7DDB-C1DBEFCDDA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7E96ED0-98E2-AE92-8E7D-773680F57B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26</a:t>
            </a:fld>
            <a:endParaRPr lang="en-US" dirty="0"/>
          </a:p>
        </p:txBody>
      </p:sp>
      <p:pic>
        <p:nvPicPr>
          <p:cNvPr id="9218" name="Picture 2">
            <a:extLst>
              <a:ext uri="{FF2B5EF4-FFF2-40B4-BE49-F238E27FC236}">
                <a16:creationId xmlns:a16="http://schemas.microsoft.com/office/drawing/2014/main" id="{9436B390-E3E2-8328-29E8-1FA5AA40CF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76338" y="2345939"/>
            <a:ext cx="5153025" cy="3714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F757515-8BAB-A0AF-2D1F-FA9AD75392E2}"/>
              </a:ext>
            </a:extLst>
          </p:cNvPr>
          <p:cNvSpPr txBox="1"/>
          <p:nvPr/>
        </p:nvSpPr>
        <p:spPr>
          <a:xfrm>
            <a:off x="6543675" y="2310488"/>
            <a:ext cx="5153025" cy="3580467"/>
          </a:xfrm>
          <a:prstGeom prst="rect">
            <a:avLst/>
          </a:prstGeom>
          <a:solidFill>
            <a:srgbClr val="00B0F0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sympy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as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sp</a:t>
            </a:r>
            <a:endParaRPr lang="en-US" altLang="ko-KR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endParaRPr lang="en-US" altLang="ko-KR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1.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기호 정의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w: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배분 비율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sA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: A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의 분산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sB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: B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의 분산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sAB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: A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와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B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의 공분산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w =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sp.symbols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('omega')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sA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sB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sAB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sp.symbols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('sigma_A^2 sigma_B^2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sigma_AB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')</a:t>
            </a:r>
          </a:p>
          <a:p>
            <a:pPr>
              <a:lnSpc>
                <a:spcPts val="1575"/>
              </a:lnSpc>
              <a:buNone/>
            </a:pPr>
            <a:endParaRPr lang="en-US" altLang="ko-KR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2.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리스크 함수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분산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정의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L(w) = Var(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pA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*w +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pB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*(1-w))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전개식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: w^2*Var(A) + (1-w)^2*Var(B) + 2*w*(1-w)*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Cov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(A,B)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 = w**2 *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sA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+ (1-w)**2 *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sB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+ 2*w*(1-w) *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sAB</a:t>
            </a:r>
            <a:b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</a:br>
            <a:endParaRPr lang="en-US" altLang="ko-KR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3.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최적화를 위한 미분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(dL/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dw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0)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diff_L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sp.diff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(L, w)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optimal_w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sp.solve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diff_L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w)[0]</a:t>
            </a:r>
          </a:p>
        </p:txBody>
      </p:sp>
    </p:spTree>
    <p:extLst>
      <p:ext uri="{BB962C8B-B14F-4D97-AF65-F5344CB8AC3E}">
        <p14:creationId xmlns:p14="http://schemas.microsoft.com/office/powerpoint/2010/main" val="193036617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8751CB-97F3-FAD4-8FC7-69F95AC3C6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BD02CA89-5E6E-2293-60FD-38CF06B06C7E}"/>
              </a:ext>
            </a:extLst>
          </p:cNvPr>
          <p:cNvSpPr/>
          <p:nvPr/>
        </p:nvSpPr>
        <p:spPr>
          <a:xfrm>
            <a:off x="612030" y="4029076"/>
            <a:ext cx="10351245" cy="1028700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74A26D1-8101-04B6-8195-B64141F75EE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C731E5B7-B79B-60B2-A47D-177A73EC9BA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54955" y="1931490"/>
            <a:ext cx="10760820" cy="3650160"/>
          </a:xfrm>
        </p:spPr>
        <p:txBody>
          <a:bodyPr>
            <a:normAutofit fontScale="85000" lnSpcReduction="20000"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What</a:t>
            </a:r>
            <a:r>
              <a:rPr lang="ko-KR" altLang="en-US" sz="2400" cap="none" dirty="0"/>
              <a:t> </a:t>
            </a:r>
            <a:r>
              <a:rPr lang="en-US" altLang="ko-KR" sz="2400" cap="none" dirty="0"/>
              <a:t>is Modeling? 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Python</a:t>
            </a:r>
            <a:r>
              <a:rPr lang="ko-KR" altLang="en-US" sz="2400" cap="none" dirty="0"/>
              <a:t> </a:t>
            </a:r>
            <a:r>
              <a:rPr lang="en-US" altLang="ko-KR" sz="2400" cap="none" dirty="0" err="1"/>
              <a:t>sympy</a:t>
            </a:r>
            <a:endParaRPr lang="en-US" altLang="ko-KR" sz="2400" cap="none" dirty="0"/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Time &amp; Space (w1)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Optimization (w2)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Optimization Using Gradient Descent: Linear Regression (w3)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Regression &amp; Classification with Perceptron (w4)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Simulation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endParaRPr lang="en-US" altLang="ko-KR" sz="2400" cap="none" dirty="0"/>
          </a:p>
          <a:p>
            <a:pPr marL="514350" indent="-514350">
              <a:lnSpc>
                <a:spcPct val="150000"/>
              </a:lnSpc>
              <a:buAutoNum type="arabicPeriod"/>
            </a:pPr>
            <a:endParaRPr lang="ko-KR" altLang="en-US" sz="2400" cap="none" dirty="0"/>
          </a:p>
        </p:txBody>
      </p:sp>
    </p:spTree>
    <p:extLst>
      <p:ext uri="{BB962C8B-B14F-4D97-AF65-F5344CB8AC3E}">
        <p14:creationId xmlns:p14="http://schemas.microsoft.com/office/powerpoint/2010/main" val="18022326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A2365C-2FC7-5245-0848-EAD4EECDB6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5B2126BE-317A-FC6D-1EFF-328494D87A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 Loss Function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6911645E-4FD6-1363-3E45-0A247404AC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28</a:t>
            </a:fld>
            <a:endParaRPr 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EC131A6A-B13C-CBF5-A2D9-F3D965A1F046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6221775" y="3063940"/>
            <a:ext cx="4673771" cy="1021331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47FA0E69-D0BF-D5B0-8F1E-C0EF9C65DE95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6242066" y="4376481"/>
            <a:ext cx="4633188" cy="1129551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95B7088D-3D0B-DB8A-8968-53C063BAF5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1775" y="1622010"/>
            <a:ext cx="5159187" cy="1150720"/>
          </a:xfrm>
          <a:prstGeom prst="rect">
            <a:avLst/>
          </a:prstGeom>
        </p:spPr>
      </p:pic>
      <p:pic>
        <p:nvPicPr>
          <p:cNvPr id="7170" name="Picture 2">
            <a:extLst>
              <a:ext uri="{FF2B5EF4-FFF2-40B4-BE49-F238E27FC236}">
                <a16:creationId xmlns:a16="http://schemas.microsoft.com/office/drawing/2014/main" id="{1C2C48BE-9BC7-5AC2-EEEF-B0EB00AFA2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6085" y="1622010"/>
            <a:ext cx="5353050" cy="411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2" name="Picture 4">
            <a:extLst>
              <a:ext uri="{FF2B5EF4-FFF2-40B4-BE49-F238E27FC236}">
                <a16:creationId xmlns:a16="http://schemas.microsoft.com/office/drawing/2014/main" id="{5B14EC5A-44EC-8A71-55DA-2308077F43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6085" y="1624058"/>
            <a:ext cx="5353050" cy="411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8F3B44A2-52A5-F573-88BA-ED032686EDAA}"/>
              </a:ext>
            </a:extLst>
          </p:cNvPr>
          <p:cNvPicPr>
            <a:picLocks noChangeAspect="1"/>
          </p:cNvPicPr>
          <p:nvPr/>
        </p:nvPicPr>
        <p:blipFill>
          <a:blip r:embed="rId7">
            <a:duotone>
              <a:prstClr val="black"/>
              <a:schemeClr val="accent2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1125363" y="3544801"/>
            <a:ext cx="1045904" cy="307271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E71B9045-AEBD-DD1A-465A-F80A2DB51BD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80792" y="2071264"/>
            <a:ext cx="283635" cy="3013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67302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9AFA8D-EFC0-F006-D4AB-47B69926D7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1F9712C-5B4D-1BD5-FE8A-54E45DDEC35E}"/>
              </a:ext>
            </a:extLst>
          </p:cNvPr>
          <p:cNvSpPr txBox="1"/>
          <p:nvPr/>
        </p:nvSpPr>
        <p:spPr>
          <a:xfrm>
            <a:off x="1010497" y="1068787"/>
            <a:ext cx="6921227" cy="5493812"/>
          </a:xfrm>
          <a:prstGeom prst="rect">
            <a:avLst/>
          </a:prstGeom>
          <a:solidFill>
            <a:srgbClr val="0070C0"/>
          </a:solidFill>
        </p:spPr>
        <p:txBody>
          <a:bodyPr wrap="square" rtlCol="0">
            <a:spAutoFit/>
          </a:bodyPr>
          <a:lstStyle/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as np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matplotlib.pyplot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as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</a:t>
            </a: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sklearn.linear_model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LinearRegression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, Ridge, Lasso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sklearn.preprocessing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PolynomialFeatures</a:t>
            </a: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sklearn.pipeline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make_pipeline</a:t>
            </a: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rng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np.random.RandomState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(1234)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X = 10 *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rng.rand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(100); y =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np.cos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(X) + 0.25 *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rng.randn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(100)</a:t>
            </a:r>
          </a:p>
          <a:p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Xfit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np.linspace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(0, 10, 100)</a:t>
            </a:r>
          </a:p>
          <a:p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models = {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'Linear':    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make_pipeline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LinearRegression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()),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'Polynomial':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make_pipeline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PolynomialFeatures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(20),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LinearRegression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()),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'Ridge':      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make_pipeline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PolynomialFeatures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(20), Ridge(alpha=1)),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'Lasso':      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make_pipeline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PolynomialFeatures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(20), Lasso(alpha=1)),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</a:p>
          <a:p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plt.figure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figsize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=(20, 6));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plt.scatter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(X, y)</a:t>
            </a:r>
          </a:p>
          <a:p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styles = ['r-', 'g-', 'b-', 'k-’]</a:t>
            </a:r>
          </a:p>
          <a:p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for (name, model), style in zip(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models.items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(), styles):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model.fit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(X[:,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np.newaxis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], y)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plt.plot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Xfit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model.predict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Xfit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[:,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np.newaxis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]), style, label=name)</a:t>
            </a:r>
          </a:p>
          <a:p>
            <a:b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plt.legend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fontsize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=16);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plt.ylim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(-4, 4)</a:t>
            </a:r>
          </a:p>
          <a:p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plt.show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47F26F4B-F240-5660-DE77-05421AF31D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 Loss Function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BD804364-33A8-ACB2-C2E5-864D11EBB8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29</a:t>
            </a:fld>
            <a:endParaRPr lang="en-US" dirty="0"/>
          </a:p>
        </p:txBody>
      </p:sp>
      <p:sp>
        <p:nvSpPr>
          <p:cNvPr id="9" name="화살표: 오른쪽 8">
            <a:extLst>
              <a:ext uri="{FF2B5EF4-FFF2-40B4-BE49-F238E27FC236}">
                <a16:creationId xmlns:a16="http://schemas.microsoft.com/office/drawing/2014/main" id="{0E121FA0-5424-CAF3-1125-68C64E1BB051}"/>
              </a:ext>
            </a:extLst>
          </p:cNvPr>
          <p:cNvSpPr/>
          <p:nvPr/>
        </p:nvSpPr>
        <p:spPr>
          <a:xfrm>
            <a:off x="8340436" y="2789382"/>
            <a:ext cx="692728" cy="1385454"/>
          </a:xfrm>
          <a:prstGeom prst="rightArrow">
            <a:avLst>
              <a:gd name="adj1" fmla="val 64667"/>
              <a:gd name="adj2" fmla="val 50000"/>
            </a:avLst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B887D16-AA64-F12D-47ED-51AE537B5490}"/>
              </a:ext>
            </a:extLst>
          </p:cNvPr>
          <p:cNvSpPr txBox="1"/>
          <p:nvPr/>
        </p:nvSpPr>
        <p:spPr>
          <a:xfrm>
            <a:off x="9264073" y="2789382"/>
            <a:ext cx="2373745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MSE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Loss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함수에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L1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L2 penalty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부여한 새로운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Loss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설정하여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pytorch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로 코드를 생성하라</a:t>
            </a:r>
          </a:p>
        </p:txBody>
      </p:sp>
    </p:spTree>
    <p:extLst>
      <p:ext uri="{BB962C8B-B14F-4D97-AF65-F5344CB8AC3E}">
        <p14:creationId xmlns:p14="http://schemas.microsoft.com/office/powerpoint/2010/main" val="11540680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6F6FA6-74C7-88C9-BFBA-D8AD157D4F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3752A388-439D-EEB9-26EA-BBB92E20A0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 Loss Function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834BF533-F31A-6BF6-753A-09DAEB85E3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30</a:t>
            </a:fld>
            <a:endParaRPr lang="en-US"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C7FEE754-8B21-C573-D5AF-C8267A4B40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5383" y="2534544"/>
            <a:ext cx="10428324" cy="333054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3D070F2-82F7-2C59-5420-070887EC6108}"/>
              </a:ext>
            </a:extLst>
          </p:cNvPr>
          <p:cNvSpPr txBox="1"/>
          <p:nvPr/>
        </p:nvSpPr>
        <p:spPr>
          <a:xfrm>
            <a:off x="842210" y="1285138"/>
            <a:ext cx="10860262" cy="8697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모델이 너무 단순하면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(Linear)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못 맞추고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너무 복잡하면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(Polynomial)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예민해지는데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적절한 규제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(Lasso, Ridge)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주면 훨씬 안정적인 예측 모델이 된다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것을 시각적으로 표현</a:t>
            </a:r>
          </a:p>
        </p:txBody>
      </p:sp>
    </p:spTree>
    <p:extLst>
      <p:ext uri="{BB962C8B-B14F-4D97-AF65-F5344CB8AC3E}">
        <p14:creationId xmlns:p14="http://schemas.microsoft.com/office/powerpoint/2010/main" val="117165274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6F0C96-3B27-BB48-DA78-0CFBBF4E81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9E1DE821-57A7-BE4B-1984-B5F99A5597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 Loss Function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32BC1B00-91CB-AC63-78CA-FAF87EACC6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31</a:t>
            </a:fld>
            <a:endParaRPr lang="en-US" dirty="0"/>
          </a:p>
        </p:txBody>
      </p:sp>
      <p:pic>
        <p:nvPicPr>
          <p:cNvPr id="2" name="Picture 2">
            <a:extLst>
              <a:ext uri="{FF2B5EF4-FFF2-40B4-BE49-F238E27FC236}">
                <a16:creationId xmlns:a16="http://schemas.microsoft.com/office/drawing/2014/main" id="{336D9234-AC50-5FCB-71B1-2935B19F25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58251" y="2513766"/>
            <a:ext cx="3726797" cy="37484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A1EC122D-E7BB-BE6B-B3A0-157E9953BF31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4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5308708" y="2527951"/>
            <a:ext cx="1775583" cy="631319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8CE945B4-C646-B222-F74D-3C0DBC99C4B3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5308706" y="4285662"/>
            <a:ext cx="1775583" cy="652392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54BD6D12-C63F-13C0-6BC9-77A7B60A3405}"/>
              </a:ext>
            </a:extLst>
          </p:cNvPr>
          <p:cNvSpPr txBox="1"/>
          <p:nvPr/>
        </p:nvSpPr>
        <p:spPr>
          <a:xfrm>
            <a:off x="5308706" y="3210529"/>
            <a:ext cx="6412239" cy="697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가중치의 </a:t>
            </a:r>
            <a:r>
              <a:rPr lang="ko-KR" altLang="en-US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절대값 합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페널티로 사용하여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중요하지 않은 변수의 계수를 정확히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만들어 변수 선택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(Feature Selection)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효과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E5E84E4-F875-478E-C686-9758ADE9AAD8}"/>
              </a:ext>
            </a:extLst>
          </p:cNvPr>
          <p:cNvSpPr txBox="1"/>
          <p:nvPr/>
        </p:nvSpPr>
        <p:spPr>
          <a:xfrm>
            <a:off x="5308706" y="5011642"/>
            <a:ext cx="6504602" cy="697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가중치의 </a:t>
            </a:r>
            <a:r>
              <a:rPr lang="ko-KR" altLang="en-US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제곱 합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페널티로 사용하여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계수를 완전히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만들지는 않지만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전체적으로 크기를 줄여서 모델의 분산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(Variance)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낮추고 과적합을 방지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410A7C9-3270-0BD3-5B1C-B6B2217CA9FD}"/>
              </a:ext>
            </a:extLst>
          </p:cNvPr>
          <p:cNvSpPr txBox="1"/>
          <p:nvPr/>
        </p:nvSpPr>
        <p:spPr>
          <a:xfrm>
            <a:off x="1173019" y="1234376"/>
            <a:ext cx="10843490" cy="8697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Lasso(L1 penalty)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중요하지 않은 변수를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만들어 없애 버리는 칼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이고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불필요한 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weight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 제거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), Ridge(L2 penalty)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모든 변수를 안고 가되 그 힘을 골고루 빼놓는 모래주머니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모든 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weight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 줄임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)"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4620284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2E4CD8-1D16-6AD6-B54E-7388453BBF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36E90116-C523-D76C-F59D-44C18205E0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Loss Functions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1BD4E204-6627-F492-F83A-589BDCFED5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32</a:t>
            </a:fld>
            <a:endParaRPr lang="en-US" dirty="0"/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47CC84CE-B9A5-2280-2812-A5EDCAF22A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6491" y="3281109"/>
            <a:ext cx="9524208" cy="3031515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14405D29-D6D4-9CE0-F89E-3F54C70037AC}"/>
              </a:ext>
            </a:extLst>
          </p:cNvPr>
          <p:cNvSpPr txBox="1"/>
          <p:nvPr/>
        </p:nvSpPr>
        <p:spPr>
          <a:xfrm>
            <a:off x="825500" y="1167597"/>
            <a:ext cx="10591800" cy="7833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72920" algn="just">
              <a:lnSpc>
                <a:spcPct val="150000"/>
              </a:lnSpc>
            </a:pPr>
            <a:r>
              <a:rPr lang="ko-KR" altLang="en-US" sz="1600" b="0" i="0" u="none" strike="noStrike" baseline="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실제 데이터를 정확하게 예측 판단하지 못하는</a:t>
            </a:r>
            <a:r>
              <a:rPr lang="en-US" altLang="ko-KR" sz="1600" b="0" i="0" u="none" strike="noStrike" baseline="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(Loss)</a:t>
            </a:r>
            <a:r>
              <a:rPr lang="ko-KR" altLang="en-US" sz="1600" b="0" i="0" u="none" strike="noStrike" baseline="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비율</a:t>
            </a:r>
          </a:p>
          <a:p>
            <a:pPr marR="0" algn="just">
              <a:lnSpc>
                <a:spcPct val="150000"/>
              </a:lnSpc>
            </a:pPr>
            <a:r>
              <a:rPr lang="ko-KR" altLang="en-US" sz="1600" b="0" i="0" u="none" strike="noStrike" baseline="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허위음성율</a:t>
            </a:r>
            <a:r>
              <a:rPr lang="en-US" altLang="ko-KR" sz="1600" b="0" i="0" u="none" strike="noStrike" baseline="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(FNR, False Negative Ratio)</a:t>
            </a:r>
            <a:r>
              <a:rPr lang="ko-KR" altLang="en-US" sz="1600" b="0" i="0" u="none" strike="noStrike" baseline="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 허위양성율</a:t>
            </a:r>
            <a:r>
              <a:rPr lang="en-US" altLang="ko-KR" sz="1600" b="0" i="0" u="none" strike="noStrike" baseline="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(FPR, False Positive Ratio)</a:t>
            </a:r>
            <a:r>
              <a:rPr lang="ko-KR" altLang="en-US" sz="1600" b="0" i="0" u="none" strike="noStrike" baseline="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최소화하는 것이 목적</a:t>
            </a:r>
          </a:p>
        </p:txBody>
      </p:sp>
      <p:pic>
        <p:nvPicPr>
          <p:cNvPr id="23" name="그림 22">
            <a:extLst>
              <a:ext uri="{FF2B5EF4-FFF2-40B4-BE49-F238E27FC236}">
                <a16:creationId xmlns:a16="http://schemas.microsoft.com/office/drawing/2014/main" id="{D58BBE36-A70D-B74B-BAC8-1688AFDF0196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1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3699093" y="2213027"/>
            <a:ext cx="4439005" cy="881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606861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567586-3465-1D7A-31A0-DE17D4543D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249C7335-0937-BF0A-7257-FEF83D06FB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Loss Functions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7DAC531A-330A-E70F-AAF7-4CD509A48D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33</a:t>
            </a:fld>
            <a:endParaRPr 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3EF2C866-AFC2-4BB2-B62D-131ABEC606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7976" y="2004810"/>
            <a:ext cx="4943950" cy="2111911"/>
          </a:xfrm>
          <a:prstGeom prst="rect">
            <a:avLst/>
          </a:prstGeom>
        </p:spPr>
      </p:pic>
      <p:grpSp>
        <p:nvGrpSpPr>
          <p:cNvPr id="10" name="그룹 9">
            <a:extLst>
              <a:ext uri="{FF2B5EF4-FFF2-40B4-BE49-F238E27FC236}">
                <a16:creationId xmlns:a16="http://schemas.microsoft.com/office/drawing/2014/main" id="{B4DC94A1-2481-AD85-5509-B66CEB38C98D}"/>
              </a:ext>
            </a:extLst>
          </p:cNvPr>
          <p:cNvGrpSpPr/>
          <p:nvPr/>
        </p:nvGrpSpPr>
        <p:grpSpPr>
          <a:xfrm>
            <a:off x="915383" y="1785765"/>
            <a:ext cx="4228117" cy="4702670"/>
            <a:chOff x="1432947" y="1241371"/>
            <a:chExt cx="4301103" cy="4934140"/>
          </a:xfrm>
        </p:grpSpPr>
        <p:pic>
          <p:nvPicPr>
            <p:cNvPr id="5" name="그림 4" descr="plot sgd loss functions">
              <a:extLst>
                <a:ext uri="{FF2B5EF4-FFF2-40B4-BE49-F238E27FC236}">
                  <a16:creationId xmlns:a16="http://schemas.microsoft.com/office/drawing/2014/main" id="{5F49B6A3-1F88-DA90-EF99-F850EDDADB0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432947" y="2949683"/>
              <a:ext cx="4301103" cy="3225828"/>
            </a:xfrm>
            <a:prstGeom prst="rect">
              <a:avLst/>
            </a:prstGeom>
          </p:spPr>
        </p:pic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44BA405C-1BDA-9D33-44AF-91EAB012806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432947" y="1241371"/>
              <a:ext cx="4301103" cy="1708311"/>
            </a:xfrm>
            <a:prstGeom prst="rect">
              <a:avLst/>
            </a:prstGeom>
          </p:spPr>
        </p:pic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B5DE5ECE-63FB-B037-2FD5-1FF750880A29}"/>
              </a:ext>
            </a:extLst>
          </p:cNvPr>
          <p:cNvSpPr txBox="1"/>
          <p:nvPr/>
        </p:nvSpPr>
        <p:spPr>
          <a:xfrm>
            <a:off x="813783" y="1385655"/>
            <a:ext cx="31341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plot_sgd_loss_functions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9167221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CA55CF-E7EE-C827-C3D7-F2D302C8DA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7CD0DE86-D4D4-A076-6A4D-505C27618FB5}"/>
              </a:ext>
            </a:extLst>
          </p:cNvPr>
          <p:cNvSpPr/>
          <p:nvPr/>
        </p:nvSpPr>
        <p:spPr>
          <a:xfrm>
            <a:off x="545355" y="5046165"/>
            <a:ext cx="10351245" cy="678360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1052B242-5FD6-A7D7-9560-6A8CC35E2AC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71DB4CA3-450A-0BD3-7E70-27691F6642B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54955" y="1931490"/>
            <a:ext cx="10760820" cy="3650160"/>
          </a:xfrm>
        </p:spPr>
        <p:txBody>
          <a:bodyPr>
            <a:normAutofit fontScale="85000" lnSpcReduction="20000"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Modeling 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Python</a:t>
            </a:r>
            <a:r>
              <a:rPr lang="ko-KR" altLang="en-US" sz="2400" cap="none" dirty="0"/>
              <a:t> </a:t>
            </a:r>
            <a:r>
              <a:rPr lang="en-US" altLang="ko-KR" sz="2400" cap="none" dirty="0" err="1"/>
              <a:t>sympy</a:t>
            </a:r>
            <a:endParaRPr lang="en-US" altLang="ko-KR" sz="2400" cap="none" dirty="0"/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Time &amp; Space (w1)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Optimization (w2)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Optimization Using Gradient Descent: Linear Regression (w3)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Regression &amp; Classification with Perceptron (w4)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Simulation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endParaRPr lang="en-US" altLang="ko-KR" sz="2400" cap="none" dirty="0"/>
          </a:p>
          <a:p>
            <a:pPr marL="514350" indent="-514350">
              <a:lnSpc>
                <a:spcPct val="150000"/>
              </a:lnSpc>
              <a:buAutoNum type="arabicPeriod"/>
            </a:pPr>
            <a:endParaRPr lang="ko-KR" altLang="en-US" sz="2400" cap="none" dirty="0"/>
          </a:p>
        </p:txBody>
      </p:sp>
    </p:spTree>
    <p:extLst>
      <p:ext uri="{BB962C8B-B14F-4D97-AF65-F5344CB8AC3E}">
        <p14:creationId xmlns:p14="http://schemas.microsoft.com/office/powerpoint/2010/main" val="99910712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F73C1C-752E-1492-75CD-9260CD39C1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80209EB2-DA90-3A5C-9F40-6CC699307D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Simulation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E65A7FF-E730-2207-3FF2-2E5E8228A8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35</a:t>
            </a:fld>
            <a:endParaRPr 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CF9EEEA1-E59F-8F64-113D-54452538E7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7717" y="1661628"/>
            <a:ext cx="10876566" cy="3936532"/>
          </a:xfrm>
        </p:spPr>
        <p:txBody>
          <a:bodyPr>
            <a:normAutofit fontScale="92500" lnSpcReduction="10000"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불확실한 결과를 예측하기 위해 반복적인 무작위 추출을 사용하는 통계적 기법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결과가 확률에 의존하는 도박처럼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수학적으로 계산하기 너무 복잡한 문제들을 수만 번의 가상 실험을 통해 그 근삿값을 찾아내는 방식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몬테카를로의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작동 원리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변수 정의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결과에 영향을 주는 불확실한 요소들을 정의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확률 분포 할당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각 변수가 가질 수 있는 값의 범위와 확률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정규분포 등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설정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반복 실험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컴퓨터를 이용해 무작위 값을 입력하며 수천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수만 번의 시뮬레이션을 실행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결과 분석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도출된 수많은 결과값의 평균이나 분포를 통해 최종 결과를 예측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1052324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5D1764-7834-EF6C-66DB-456EAE59B8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그림 14">
            <a:extLst>
              <a:ext uri="{FF2B5EF4-FFF2-40B4-BE49-F238E27FC236}">
                <a16:creationId xmlns:a16="http://schemas.microsoft.com/office/drawing/2014/main" id="{02E4FFB2-6E61-AF40-0847-AEFB3ECBEB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5383" y="2726242"/>
            <a:ext cx="6588418" cy="3332813"/>
          </a:xfrm>
          <a:prstGeom prst="rect">
            <a:avLst/>
          </a:prstGeom>
        </p:spPr>
      </p:pic>
      <p:sp>
        <p:nvSpPr>
          <p:cNvPr id="6" name="제목 1">
            <a:extLst>
              <a:ext uri="{FF2B5EF4-FFF2-40B4-BE49-F238E27FC236}">
                <a16:creationId xmlns:a16="http://schemas.microsoft.com/office/drawing/2014/main" id="{8511C401-1BDD-EEDF-0775-5E0E7A5F3E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Short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Cut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algorithm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15DFB23-88D1-D4A1-4363-B544A9A524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36</a:t>
            </a:fld>
            <a:endParaRPr lang="en-US" dirty="0"/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D5162F18-6756-C855-7D54-013E710477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46525338"/>
              </p:ext>
            </p:extLst>
          </p:nvPr>
        </p:nvGraphicFramePr>
        <p:xfrm>
          <a:off x="7682466" y="2726242"/>
          <a:ext cx="3508273" cy="2392602"/>
        </p:xfrm>
        <a:graphic>
          <a:graphicData uri="http://schemas.openxmlformats.org/drawingml/2006/table">
            <a:tbl>
              <a:tblPr>
                <a:tableStyleId>{5DA37D80-6434-44D0-A028-1B22A696006F}</a:tableStyleId>
              </a:tblPr>
              <a:tblGrid>
                <a:gridCol w="531010">
                  <a:extLst>
                    <a:ext uri="{9D8B030D-6E8A-4147-A177-3AD203B41FA5}">
                      <a16:colId xmlns:a16="http://schemas.microsoft.com/office/drawing/2014/main" val="289503742"/>
                    </a:ext>
                  </a:extLst>
                </a:gridCol>
                <a:gridCol w="783208">
                  <a:extLst>
                    <a:ext uri="{9D8B030D-6E8A-4147-A177-3AD203B41FA5}">
                      <a16:colId xmlns:a16="http://schemas.microsoft.com/office/drawing/2014/main" val="1735848410"/>
                    </a:ext>
                  </a:extLst>
                </a:gridCol>
                <a:gridCol w="1056908">
                  <a:extLst>
                    <a:ext uri="{9D8B030D-6E8A-4147-A177-3AD203B41FA5}">
                      <a16:colId xmlns:a16="http://schemas.microsoft.com/office/drawing/2014/main" val="3082597179"/>
                    </a:ext>
                  </a:extLst>
                </a:gridCol>
                <a:gridCol w="1137147">
                  <a:extLst>
                    <a:ext uri="{9D8B030D-6E8A-4147-A177-3AD203B41FA5}">
                      <a16:colId xmlns:a16="http://schemas.microsoft.com/office/drawing/2014/main" val="313110005"/>
                    </a:ext>
                  </a:extLst>
                </a:gridCol>
              </a:tblGrid>
              <a:tr h="313690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노드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도시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위도 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Latitude)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경도 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Longitude)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6702843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서울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37.5665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126.9780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79004954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b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수원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37.2636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127.0286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5884871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원주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37.3422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127.9202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1847656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천안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36.8151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127.1139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531271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e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대전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36.3504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127.3845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1969982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대구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35.8714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128.6014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3056821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g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울산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35.5384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129.3114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73454846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h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부산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35.1796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129.0756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3420745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4485A23B-8E19-CE69-B78C-E7D437BC98CB}"/>
              </a:ext>
            </a:extLst>
          </p:cNvPr>
          <p:cNvSpPr txBox="1"/>
          <p:nvPr/>
        </p:nvSpPr>
        <p:spPr>
          <a:xfrm>
            <a:off x="775854" y="1228235"/>
            <a:ext cx="11330822" cy="8704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서울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(Node a)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부산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(Node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까지 가는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가지 경로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(Edge)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있다고 가정하고 경로별로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도학하는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시간은 거리에 비례한다고 가정한다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어느 경로로 가는 것이 최단거리인지 해를 구하라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4560987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D051CA-EE0F-066F-FF91-91F7D8D51D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3CA80E44-6C64-0E6E-9F21-868A0A7646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Short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Cut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algorithm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1B88E5B-D17C-39F7-4F11-46BD15D6CA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37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085615C-98F5-472C-7F9D-75B04AAA493B}"/>
              </a:ext>
            </a:extLst>
          </p:cNvPr>
          <p:cNvSpPr txBox="1"/>
          <p:nvPr/>
        </p:nvSpPr>
        <p:spPr>
          <a:xfrm>
            <a:off x="373188" y="1774002"/>
            <a:ext cx="641553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서울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(Node a)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부산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(Node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까지 가는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가지 경로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(Edge)</a:t>
            </a:r>
            <a:endParaRPr lang="ko-KR" alt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F54EBE0-DCDB-B23B-70BC-8A24354C5342}"/>
              </a:ext>
            </a:extLst>
          </p:cNvPr>
          <p:cNvSpPr txBox="1"/>
          <p:nvPr/>
        </p:nvSpPr>
        <p:spPr>
          <a:xfrm>
            <a:off x="7204364" y="1774002"/>
            <a:ext cx="39863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8 x 8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인접 행렬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(Adjacency Matrix)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20" name="화살표: 오른쪽 19">
            <a:extLst>
              <a:ext uri="{FF2B5EF4-FFF2-40B4-BE49-F238E27FC236}">
                <a16:creationId xmlns:a16="http://schemas.microsoft.com/office/drawing/2014/main" id="{AED4C402-C662-6A33-8686-D1EB0B4EECC1}"/>
              </a:ext>
            </a:extLst>
          </p:cNvPr>
          <p:cNvSpPr/>
          <p:nvPr/>
        </p:nvSpPr>
        <p:spPr>
          <a:xfrm>
            <a:off x="6152855" y="3325091"/>
            <a:ext cx="757382" cy="1080654"/>
          </a:xfrm>
          <a:prstGeom prst="rightArrow">
            <a:avLst>
              <a:gd name="adj1" fmla="val 68803"/>
              <a:gd name="adj2" fmla="val 50000"/>
            </a:avLst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24" name="그림 23">
            <a:extLst>
              <a:ext uri="{FF2B5EF4-FFF2-40B4-BE49-F238E27FC236}">
                <a16:creationId xmlns:a16="http://schemas.microsoft.com/office/drawing/2014/main" id="{6223E270-3011-96C4-589B-2E626D4367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2975" y="2336163"/>
            <a:ext cx="3534268" cy="3562847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EACF8577-B992-2BF5-6E5B-FCD6AE92FD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21" y="2278140"/>
            <a:ext cx="5270897" cy="37379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796446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88016F-EEAA-CC02-CFF7-904029DB58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7433690E-A7AA-7170-F389-52518C6B66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Short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Cut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algorithm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3CD9F13F-4115-EC82-3A2A-1421C9E08C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38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38A8878-3763-5744-EBE7-2940EB92CEA8}"/>
              </a:ext>
            </a:extLst>
          </p:cNvPr>
          <p:cNvSpPr txBox="1"/>
          <p:nvPr/>
        </p:nvSpPr>
        <p:spPr>
          <a:xfrm>
            <a:off x="373188" y="1774002"/>
            <a:ext cx="641553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각 도시의 위경도로 거리 구하기</a:t>
            </a:r>
            <a:endParaRPr lang="ko-KR" alt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76055F1-EEAD-88C0-10D6-F9C1AE59EF39}"/>
              </a:ext>
            </a:extLst>
          </p:cNvPr>
          <p:cNvSpPr txBox="1"/>
          <p:nvPr/>
        </p:nvSpPr>
        <p:spPr>
          <a:xfrm>
            <a:off x="7204364" y="1774002"/>
            <a:ext cx="39863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L2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거리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도시간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8 x 8 matrix)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20" name="화살표: 오른쪽 19">
            <a:extLst>
              <a:ext uri="{FF2B5EF4-FFF2-40B4-BE49-F238E27FC236}">
                <a16:creationId xmlns:a16="http://schemas.microsoft.com/office/drawing/2014/main" id="{20B4FD27-701E-5161-98E3-D4B58B0FA555}"/>
              </a:ext>
            </a:extLst>
          </p:cNvPr>
          <p:cNvSpPr/>
          <p:nvPr/>
        </p:nvSpPr>
        <p:spPr>
          <a:xfrm>
            <a:off x="4656565" y="3251200"/>
            <a:ext cx="757382" cy="1080654"/>
          </a:xfrm>
          <a:prstGeom prst="rightArrow">
            <a:avLst>
              <a:gd name="adj1" fmla="val 68803"/>
              <a:gd name="adj2" fmla="val 50000"/>
            </a:avLst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14A51931-87C8-EE1B-F407-FE9EDBD757A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2763728"/>
              </p:ext>
            </p:extLst>
          </p:nvPr>
        </p:nvGraphicFramePr>
        <p:xfrm>
          <a:off x="551993" y="2744715"/>
          <a:ext cx="3508273" cy="2392602"/>
        </p:xfrm>
        <a:graphic>
          <a:graphicData uri="http://schemas.openxmlformats.org/drawingml/2006/table">
            <a:tbl>
              <a:tblPr>
                <a:tableStyleId>{5DA37D80-6434-44D0-A028-1B22A696006F}</a:tableStyleId>
              </a:tblPr>
              <a:tblGrid>
                <a:gridCol w="531010">
                  <a:extLst>
                    <a:ext uri="{9D8B030D-6E8A-4147-A177-3AD203B41FA5}">
                      <a16:colId xmlns:a16="http://schemas.microsoft.com/office/drawing/2014/main" val="289503742"/>
                    </a:ext>
                  </a:extLst>
                </a:gridCol>
                <a:gridCol w="783208">
                  <a:extLst>
                    <a:ext uri="{9D8B030D-6E8A-4147-A177-3AD203B41FA5}">
                      <a16:colId xmlns:a16="http://schemas.microsoft.com/office/drawing/2014/main" val="1735848410"/>
                    </a:ext>
                  </a:extLst>
                </a:gridCol>
                <a:gridCol w="1056908">
                  <a:extLst>
                    <a:ext uri="{9D8B030D-6E8A-4147-A177-3AD203B41FA5}">
                      <a16:colId xmlns:a16="http://schemas.microsoft.com/office/drawing/2014/main" val="3082597179"/>
                    </a:ext>
                  </a:extLst>
                </a:gridCol>
                <a:gridCol w="1137147">
                  <a:extLst>
                    <a:ext uri="{9D8B030D-6E8A-4147-A177-3AD203B41FA5}">
                      <a16:colId xmlns:a16="http://schemas.microsoft.com/office/drawing/2014/main" val="313110005"/>
                    </a:ext>
                  </a:extLst>
                </a:gridCol>
              </a:tblGrid>
              <a:tr h="313690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노드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도시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위도 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Latitude)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경도 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Longitude)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6702843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서울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37.5665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126.9780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79004954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b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수원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37.2636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127.0286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5884871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원주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37.3422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127.9202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1847656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천안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36.8151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127.1139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531271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e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대전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36.3504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127.3845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1969982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대구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35.8714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128.6014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3056821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g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울산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35.5384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129.3114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73454846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h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부산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35.1796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129.0756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3420745"/>
                  </a:ext>
                </a:extLst>
              </a:tr>
            </a:tbl>
          </a:graphicData>
        </a:graphic>
      </p:graphicFrame>
      <p:pic>
        <p:nvPicPr>
          <p:cNvPr id="5" name="그림 4">
            <a:extLst>
              <a:ext uri="{FF2B5EF4-FFF2-40B4-BE49-F238E27FC236}">
                <a16:creationId xmlns:a16="http://schemas.microsoft.com/office/drawing/2014/main" id="{D2E48D7A-8CC1-2646-7A66-C5F5B3CCA6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6506" y="2355749"/>
            <a:ext cx="5786954" cy="36940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172592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D9FF93-4513-A3F5-1057-7397261E76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59F9F3E4-C9A2-3AEF-54FD-9E0EBAB10B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Short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Cut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algorithm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1FF4D8F7-7729-834F-4D77-1D80CFE254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39</a:t>
            </a:fld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0B770CA-B7CA-4928-3BA9-613BC7EF3674}"/>
              </a:ext>
            </a:extLst>
          </p:cNvPr>
          <p:cNvSpPr txBox="1"/>
          <p:nvPr/>
        </p:nvSpPr>
        <p:spPr>
          <a:xfrm>
            <a:off x="535712" y="2790002"/>
            <a:ext cx="23368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Adjacency Matrix</a:t>
            </a:r>
          </a:p>
          <a:p>
            <a:pPr algn="ctr"/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(8, 8)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5D549DF-AE9C-BFCB-7ADB-4C61096744E4}"/>
              </a:ext>
            </a:extLst>
          </p:cNvPr>
          <p:cNvSpPr txBox="1"/>
          <p:nvPr/>
        </p:nvSpPr>
        <p:spPr>
          <a:xfrm>
            <a:off x="4416959" y="2790001"/>
            <a:ext cx="181032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도시간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L2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거리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algn="ctr"/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(8, 8)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1C57B053-1D05-D974-6448-2D17C6725D9D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446252" y="3886150"/>
            <a:ext cx="2667011" cy="2198547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8647D088-3BCA-FE95-1AF8-EA1A13161837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3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3483280" y="3886150"/>
            <a:ext cx="3898859" cy="2198547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9420B1AC-58BB-401D-30EB-38ED0ED86CD3}"/>
              </a:ext>
            </a:extLst>
          </p:cNvPr>
          <p:cNvSpPr txBox="1"/>
          <p:nvPr/>
        </p:nvSpPr>
        <p:spPr>
          <a:xfrm>
            <a:off x="3061295" y="4309580"/>
            <a:ext cx="3850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@</a:t>
            </a:r>
            <a:endParaRPr lang="ko-KR" alt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3740C12-D167-6F95-8461-C890BFDAA6D6}"/>
              </a:ext>
            </a:extLst>
          </p:cNvPr>
          <p:cNvSpPr txBox="1"/>
          <p:nvPr/>
        </p:nvSpPr>
        <p:spPr>
          <a:xfrm>
            <a:off x="3040208" y="2799766"/>
            <a:ext cx="3850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@</a:t>
            </a:r>
            <a:endParaRPr lang="ko-KR" altLang="en-US" dirty="0"/>
          </a:p>
        </p:txBody>
      </p:sp>
      <p:pic>
        <p:nvPicPr>
          <p:cNvPr id="22" name="그림 21">
            <a:extLst>
              <a:ext uri="{FF2B5EF4-FFF2-40B4-BE49-F238E27FC236}">
                <a16:creationId xmlns:a16="http://schemas.microsoft.com/office/drawing/2014/main" id="{671F5277-2813-C525-26A7-1C7870DC7EA7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schemeClr val="accent6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961745" y="3886150"/>
            <a:ext cx="3307400" cy="2191374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98C9E7E7-5514-B0CE-8091-E24848223919}"/>
              </a:ext>
            </a:extLst>
          </p:cNvPr>
          <p:cNvSpPr txBox="1"/>
          <p:nvPr/>
        </p:nvSpPr>
        <p:spPr>
          <a:xfrm>
            <a:off x="7437494" y="4309580"/>
            <a:ext cx="3241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=</a:t>
            </a:r>
            <a:endParaRPr lang="ko-KR" altLang="en-US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23EB724-F3FC-938C-1727-FDA20A822FCA}"/>
              </a:ext>
            </a:extLst>
          </p:cNvPr>
          <p:cNvSpPr txBox="1"/>
          <p:nvPr/>
        </p:nvSpPr>
        <p:spPr>
          <a:xfrm>
            <a:off x="7437494" y="2799766"/>
            <a:ext cx="3241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=</a:t>
            </a:r>
            <a:endParaRPr lang="ko-KR" altLang="en-US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73BA7E5-90FF-0EAE-F46B-CAFEF29402C3}"/>
              </a:ext>
            </a:extLst>
          </p:cNvPr>
          <p:cNvSpPr txBox="1"/>
          <p:nvPr/>
        </p:nvSpPr>
        <p:spPr>
          <a:xfrm>
            <a:off x="7961745" y="2799766"/>
            <a:ext cx="415636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이웃 거리의 합산 → 최단 경로와 무관</a:t>
            </a:r>
          </a:p>
        </p:txBody>
      </p: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2E25907B-0F24-80B1-C6B2-CE219D9B3D83}"/>
              </a:ext>
            </a:extLst>
          </p:cNvPr>
          <p:cNvCxnSpPr/>
          <p:nvPr/>
        </p:nvCxnSpPr>
        <p:spPr>
          <a:xfrm>
            <a:off x="701964" y="3583707"/>
            <a:ext cx="1120370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C818162E-858C-9B1B-8924-FD719D8EA231}"/>
              </a:ext>
            </a:extLst>
          </p:cNvPr>
          <p:cNvSpPr/>
          <p:nvPr/>
        </p:nvSpPr>
        <p:spPr>
          <a:xfrm>
            <a:off x="7761622" y="3894970"/>
            <a:ext cx="3898859" cy="277091"/>
          </a:xfrm>
          <a:prstGeom prst="rect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4D55AB2-EFF2-2AFE-2018-5E3263607681}"/>
              </a:ext>
            </a:extLst>
          </p:cNvPr>
          <p:cNvSpPr txBox="1"/>
          <p:nvPr/>
        </p:nvSpPr>
        <p:spPr>
          <a:xfrm>
            <a:off x="535712" y="1420336"/>
            <a:ext cx="11124769" cy="8704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/>
              <a:t>인접행렬과 도시간 거리 행렬을 </a:t>
            </a:r>
            <a:r>
              <a:rPr lang="ko-KR" altLang="en-US" dirty="0" err="1"/>
              <a:t>내적하면</a:t>
            </a:r>
            <a:r>
              <a:rPr lang="ko-KR" altLang="en-US" dirty="0"/>
              <a:t> 각 행은 출발도시에서 각 열 도시까지의 도달하는데 가능한 모든 경로에 해당되는 누적 거리</a:t>
            </a:r>
            <a:r>
              <a:rPr lang="en-US" altLang="ko-KR" dirty="0"/>
              <a:t>, </a:t>
            </a:r>
            <a:r>
              <a:rPr lang="ko-KR" altLang="en-US" dirty="0"/>
              <a:t>노란색 박스는 서울</a:t>
            </a:r>
            <a:r>
              <a:rPr lang="en-US" altLang="ko-KR" dirty="0"/>
              <a:t>(Node a)</a:t>
            </a:r>
            <a:r>
              <a:rPr lang="ko-KR" altLang="en-US" dirty="0"/>
              <a:t>에서 각 도시까지 가는데 걸리는 누적합산 거리</a:t>
            </a:r>
          </a:p>
        </p:txBody>
      </p:sp>
    </p:spTree>
    <p:extLst>
      <p:ext uri="{BB962C8B-B14F-4D97-AF65-F5344CB8AC3E}">
        <p14:creationId xmlns:p14="http://schemas.microsoft.com/office/powerpoint/2010/main" val="259036011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1ABF9B-1D11-3390-0C0C-334544E2B0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C7ADE4C9-5D44-4C0B-E4E8-3141942325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Simulation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2BCD0A05-60EA-3637-1B32-5ED51A2965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40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내용 개체 틀 2">
                <a:extLst>
                  <a:ext uri="{FF2B5EF4-FFF2-40B4-BE49-F238E27FC236}">
                    <a16:creationId xmlns:a16="http://schemas.microsoft.com/office/drawing/2014/main" id="{1E254081-038C-0151-1EAC-C8D3FE50945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14608" y="1261578"/>
                <a:ext cx="10962783" cy="2386497"/>
              </a:xfrm>
            </p:spPr>
            <p:txBody>
              <a:bodyPr>
                <a:normAutofit fontScale="92500" lnSpcReduction="10000"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지금이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1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인 원의 둘레가 </a:t>
                </a:r>
                <a14:m>
                  <m:oMath xmlns:m="http://schemas.openxmlformats.org/officeDocument/2006/math">
                    <m:r>
                      <a:rPr lang="en-US" altLang="ko-KR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이다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.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원의 둘레를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(0.5, 0)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시작벡터로 부터 아주 작은 단위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(epsilon=0.00001)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로 이동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미분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한 새로운 벡터와의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L2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거리를 무수히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(100_000)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생성하여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누적거리를 구하는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적분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모의실험으로 원주율 </a:t>
                </a:r>
                <a14:m>
                  <m:oMath xmlns:m="http://schemas.openxmlformats.org/officeDocument/2006/math">
                    <m:r>
                      <a:rPr lang="en-US" altLang="ko-KR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구하라</a:t>
                </a:r>
                <a:endParaRPr lang="en-US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685800" lvl="1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단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: L2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거리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en-US" altLang="ko-KR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math.sqrt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이외 원의 방정식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en-US" altLang="ko-KR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np.pi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등 어떠한 공식도 사용하지 마라</a:t>
                </a:r>
                <a:endParaRPr lang="en-US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수치해석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(Numerical Analysis)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만을 사용하여 원주율 </a:t>
                </a:r>
                <a14:m>
                  <m:oMath xmlns:m="http://schemas.openxmlformats.org/officeDocument/2006/math">
                    <m:r>
                      <a:rPr lang="en-US" altLang="ko-KR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구하는 코드를 제시하라</a:t>
                </a:r>
                <a:endParaRPr lang="en-US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7" name="내용 개체 틀 2">
                <a:extLst>
                  <a:ext uri="{FF2B5EF4-FFF2-40B4-BE49-F238E27FC236}">
                    <a16:creationId xmlns:a16="http://schemas.microsoft.com/office/drawing/2014/main" id="{1E254081-038C-0151-1EAC-C8D3FE50945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14608" y="1261578"/>
                <a:ext cx="10962783" cy="2386497"/>
              </a:xfrm>
              <a:blipFill>
                <a:blip r:embed="rId2"/>
                <a:stretch>
                  <a:fillRect l="-222" b="-25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9" name="그룹 18">
            <a:extLst>
              <a:ext uri="{FF2B5EF4-FFF2-40B4-BE49-F238E27FC236}">
                <a16:creationId xmlns:a16="http://schemas.microsoft.com/office/drawing/2014/main" id="{9B305A31-5173-2279-71D1-F9F6B726F6DD}"/>
              </a:ext>
            </a:extLst>
          </p:cNvPr>
          <p:cNvGrpSpPr/>
          <p:nvPr/>
        </p:nvGrpSpPr>
        <p:grpSpPr>
          <a:xfrm>
            <a:off x="6362700" y="4076700"/>
            <a:ext cx="1266825" cy="1266825"/>
            <a:chOff x="7572375" y="3219450"/>
            <a:chExt cx="1266825" cy="1266825"/>
          </a:xfrm>
        </p:grpSpPr>
        <p:sp>
          <p:nvSpPr>
            <p:cNvPr id="20" name="타원 19">
              <a:extLst>
                <a:ext uri="{FF2B5EF4-FFF2-40B4-BE49-F238E27FC236}">
                  <a16:creationId xmlns:a16="http://schemas.microsoft.com/office/drawing/2014/main" id="{6228ACC3-A399-78D4-2432-915B2FED579A}"/>
                </a:ext>
              </a:extLst>
            </p:cNvPr>
            <p:cNvSpPr/>
            <p:nvPr/>
          </p:nvSpPr>
          <p:spPr>
            <a:xfrm>
              <a:off x="7572375" y="3219450"/>
              <a:ext cx="1266825" cy="1266825"/>
            </a:xfrm>
            <a:prstGeom prst="ellipse">
              <a:avLst/>
            </a:prstGeom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cxnSp>
          <p:nvCxnSpPr>
            <p:cNvPr id="21" name="직선 연결선 20">
              <a:extLst>
                <a:ext uri="{FF2B5EF4-FFF2-40B4-BE49-F238E27FC236}">
                  <a16:creationId xmlns:a16="http://schemas.microsoft.com/office/drawing/2014/main" id="{988216AA-378D-6F6E-B560-C5B6363B914D}"/>
                </a:ext>
              </a:extLst>
            </p:cNvPr>
            <p:cNvCxnSpPr>
              <a:stCxn id="20" idx="0"/>
              <a:endCxn id="20" idx="4"/>
            </p:cNvCxnSpPr>
            <p:nvPr/>
          </p:nvCxnSpPr>
          <p:spPr>
            <a:xfrm>
              <a:off x="8205788" y="3219450"/>
              <a:ext cx="0" cy="1266825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DB9DE03F-1A59-4090-FD2F-A81242760567}"/>
              </a:ext>
            </a:extLst>
          </p:cNvPr>
          <p:cNvCxnSpPr>
            <a:cxnSpLocks/>
            <a:stCxn id="20" idx="4"/>
          </p:cNvCxnSpPr>
          <p:nvPr/>
        </p:nvCxnSpPr>
        <p:spPr>
          <a:xfrm flipH="1">
            <a:off x="2800350" y="5343525"/>
            <a:ext cx="4195763" cy="0"/>
          </a:xfrm>
          <a:prstGeom prst="line">
            <a:avLst/>
          </a:prstGeom>
          <a:ln w="19050">
            <a:solidFill>
              <a:srgbClr val="00B0F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3DD82DF7-CD37-2AA8-7F58-C953C8210908}"/>
              </a:ext>
            </a:extLst>
          </p:cNvPr>
          <p:cNvSpPr txBox="1"/>
          <p:nvPr/>
        </p:nvSpPr>
        <p:spPr>
          <a:xfrm>
            <a:off x="3486150" y="5486400"/>
            <a:ext cx="34385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3.142857…… </a:t>
            </a:r>
            <a:r>
              <a:rPr lang="ko-KR" altLang="en-US" dirty="0" err="1"/>
              <a:t>무한소수</a:t>
            </a:r>
            <a:r>
              <a:rPr lang="en-US" altLang="ko-KR" dirty="0"/>
              <a:t> </a:t>
            </a:r>
            <a:endParaRPr lang="ko-KR" altLang="en-US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8EE66E0-CA29-4ED7-3384-E013D6DB6B2A}"/>
              </a:ext>
            </a:extLst>
          </p:cNvPr>
          <p:cNvSpPr txBox="1"/>
          <p:nvPr/>
        </p:nvSpPr>
        <p:spPr>
          <a:xfrm>
            <a:off x="7781925" y="4525446"/>
            <a:ext cx="11525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지름 </a:t>
            </a:r>
            <a:r>
              <a:rPr lang="en-US" altLang="ko-KR" dirty="0"/>
              <a:t>= 1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3554903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3FC214-9933-926A-13AA-0354966F26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F7082A12-E8F3-58A3-ACF8-CED699B7FA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Simulation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E6B4DB0A-17C7-A23E-2C07-5A3B447A26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41</a:t>
            </a:fld>
            <a:endParaRPr 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17242DE-AAA7-83AF-EDD0-651EF4E51900}"/>
              </a:ext>
            </a:extLst>
          </p:cNvPr>
          <p:cNvSpPr txBox="1"/>
          <p:nvPr/>
        </p:nvSpPr>
        <p:spPr>
          <a:xfrm>
            <a:off x="1009650" y="1235438"/>
            <a:ext cx="5638800" cy="5262979"/>
          </a:xfrm>
          <a:prstGeom prst="rect">
            <a:avLst/>
          </a:prstGeom>
          <a:solidFill>
            <a:srgbClr val="0070C0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import math</a:t>
            </a:r>
          </a:p>
          <a:p>
            <a:pPr>
              <a:buNone/>
            </a:pP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epsilon = 0.000001</a:t>
            </a:r>
          </a:p>
          <a:p>
            <a:pPr>
              <a:buNone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total_distance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0; steps = 0</a:t>
            </a: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x = 0.5  # (1, 0)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 시작</a:t>
            </a:r>
          </a:p>
          <a:p>
            <a:pPr>
              <a:buNone/>
            </a:pP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while x &gt; 0.0:</a:t>
            </a: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x_next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max(x - epsilon, 0.0)</a:t>
            </a:r>
          </a:p>
          <a:p>
            <a:pPr>
              <a:buNone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단위원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위의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값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y = sqrt(1 - x²)</a:t>
            </a: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y1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math.sqrt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(0.5**2 - x**2)    </a:t>
            </a: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y2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math.sqrt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(0.5**2 -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x_next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**2)</a:t>
            </a:r>
            <a:b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두 점 사이의 거리</a:t>
            </a:r>
          </a:p>
          <a:p>
            <a:pPr>
              <a:buNone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dist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math.sqrt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x_next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- x)**2 + (y2 - y1)**2)</a:t>
            </a: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total_distance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+=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dist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steps += 1; x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x_next</a:t>
            </a:r>
            <a:b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총 단계 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{steps:,}")</a:t>
            </a: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누적 거리 합계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{total_distance:.10f}")</a:t>
            </a: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원주율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{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total_distance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*4:.10f}")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36C5AAAD-1C32-4FE1-C2CC-B9A0966AE0FD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6648450" y="1561854"/>
            <a:ext cx="4019550" cy="3734291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8B9F3531-27D9-88A2-80DE-10FDA22576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450" y="5821859"/>
            <a:ext cx="2217612" cy="7011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71812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25EC55-F36C-3EF2-2A0C-64ED17F2E8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6FF3D9CF-184B-D96E-5B39-928DB519CA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Simulation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90CE090A-EAEA-05A5-AD9E-3C906FDE24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42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내용 개체 틀 2">
                <a:extLst>
                  <a:ext uri="{FF2B5EF4-FFF2-40B4-BE49-F238E27FC236}">
                    <a16:creationId xmlns:a16="http://schemas.microsoft.com/office/drawing/2014/main" id="{55CAC146-9772-5312-EEF0-24A973D6C28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53981" y="1186708"/>
                <a:ext cx="10876566" cy="1319697"/>
              </a:xfrm>
            </p:spPr>
            <p:txBody>
              <a:bodyPr>
                <a:norm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L2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거리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피타고라스 정리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로 원주율을 구하는 모의실험 코드</a:t>
                </a:r>
                <a:endParaRPr lang="en-US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685800" lvl="1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원의 넓이는 </a:t>
                </a:r>
                <a14:m>
                  <m:oMath xmlns:m="http://schemas.openxmlformats.org/officeDocument/2006/math">
                    <m:r>
                      <a:rPr lang="ko-KR" altLang="en-US" i="1">
                        <a:latin typeface="Cambria Math" panose="02040503050406030204" pitchFamily="18" charset="0"/>
                      </a:rPr>
                      <m:t>𝜋</m:t>
                    </m:r>
                    <m:sSup>
                      <m:sSupPr>
                        <m:ctrlPr>
                          <a:rPr lang="ko-KR" alt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ko-KR" altLang="en-US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p>
                        <m:r>
                          <a:rPr lang="ko-KR" altLang="en-US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ko-KR" b="0" i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ko-KR" altLang="en-US" i="1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altLang="ko-KR" b="0" i="0" smtClean="0">
                        <a:latin typeface="Cambria Math" panose="02040503050406030204" pitchFamily="18" charset="0"/>
                      </a:rPr>
                      <m:t> =</m:t>
                    </m:r>
                    <m:r>
                      <m:rPr>
                        <m:sty m:val="p"/>
                      </m:rPr>
                      <a:rPr lang="en-US" altLang="ko-KR" b="0" i="0" smtClean="0">
                        <a:latin typeface="Cambria Math" panose="02040503050406030204" pitchFamily="18" charset="0"/>
                      </a:rPr>
                      <m:t>np</m:t>
                    </m:r>
                    <m:r>
                      <a:rPr lang="en-US" altLang="ko-KR" b="0" i="0" smtClean="0">
                        <a:latin typeface="Cambria Math" panose="02040503050406030204" pitchFamily="18" charset="0"/>
                      </a:rPr>
                      <m:t>.</m:t>
                    </m:r>
                    <m:r>
                      <m:rPr>
                        <m:sty m:val="p"/>
                      </m:rPr>
                      <a:rPr lang="en-US" altLang="ko-KR" b="0" i="0" smtClean="0">
                        <a:latin typeface="Cambria Math" panose="02040503050406030204" pitchFamily="18" charset="0"/>
                      </a:rPr>
                      <m:t>pi</m:t>
                    </m:r>
                    <m:r>
                      <a:rPr lang="en-US" altLang="ko-KR" b="0" i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7" name="내용 개체 틀 2">
                <a:extLst>
                  <a:ext uri="{FF2B5EF4-FFF2-40B4-BE49-F238E27FC236}">
                    <a16:creationId xmlns:a16="http://schemas.microsoft.com/office/drawing/2014/main" id="{55CAC146-9772-5312-EEF0-24A973D6C28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53981" y="1186708"/>
                <a:ext cx="10876566" cy="1319697"/>
              </a:xfrm>
              <a:blipFill>
                <a:blip r:embed="rId2"/>
                <a:stretch>
                  <a:fillRect l="-22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" name="Picture 2">
            <a:extLst>
              <a:ext uri="{FF2B5EF4-FFF2-40B4-BE49-F238E27FC236}">
                <a16:creationId xmlns:a16="http://schemas.microsoft.com/office/drawing/2014/main" id="{E06383BC-F98A-7155-6846-99523539B9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88246" y="2473875"/>
            <a:ext cx="4037993" cy="39703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4EE6840-F1F7-DEBF-A068-374A8CF3214E}"/>
              </a:ext>
            </a:extLst>
          </p:cNvPr>
          <p:cNvSpPr txBox="1"/>
          <p:nvPr/>
        </p:nvSpPr>
        <p:spPr>
          <a:xfrm>
            <a:off x="1029816" y="2473874"/>
            <a:ext cx="6462738" cy="3970318"/>
          </a:xfrm>
          <a:prstGeom prst="rect">
            <a:avLst/>
          </a:prstGeom>
          <a:solidFill>
            <a:srgbClr val="0070C0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mport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10_000_000  # 점의 개수 (많을수록 정확)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1. -1~1 사이의 무작위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좌표 생성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np.random.uniform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(-1, 1,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;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np.random.uniform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(-1, 1,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2. 원점으로부터의 거리가 1 이하인 점 = 원 안의 점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x² + y² &lt;= 1  (피타고라스, π 사용 안 함!)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nside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np.sum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**2 +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**2 &lt;= 1)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3. π 추정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pi_estimate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4 *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inside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/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N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f”점의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개수       : {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:,}개")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f"원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안의 점      : {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inside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:,}개")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f"추정된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π        : {pi_estimate:.6f}")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f"오차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 : {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abs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pi_estimate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-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np.pi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):.6f}")</a:t>
            </a:r>
          </a:p>
        </p:txBody>
      </p:sp>
    </p:spTree>
    <p:extLst>
      <p:ext uri="{BB962C8B-B14F-4D97-AF65-F5344CB8AC3E}">
        <p14:creationId xmlns:p14="http://schemas.microsoft.com/office/powerpoint/2010/main" val="209814545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823459-BD75-D432-BEA6-9C6B123A3F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985B3A8F-D9A1-03BF-1557-049F22586A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Random walk simulation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658E022B-9CC7-3B06-E4F6-08C204E0A4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43</a:t>
            </a:fld>
            <a:endParaRPr 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2730D7B2-8F11-9986-6A3C-3F54951EEF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3981" y="1220061"/>
            <a:ext cx="10876566" cy="1999389"/>
          </a:xfrm>
        </p:spPr>
        <p:txBody>
          <a:bodyPr>
            <a:normAutofit fontScale="70000" lnSpcReduction="20000"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차원 단순 랜덤 워크 </a:t>
            </a: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(1D Simple Random Walk) – </a:t>
            </a: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snippet</a:t>
            </a:r>
            <a:endParaRPr lang="en-US" altLang="ko-KR" sz="21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동전 던지기처럼 앞</a:t>
            </a: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(+1) 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또는 뒤</a:t>
            </a: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(-1)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로만 움직이는 가장 기본인 형태</a:t>
            </a:r>
            <a:endParaRPr lang="en-US" altLang="ko-KR" sz="21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685800" lvl="1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이산적 이동으로 매 스텝마다 이동 거리가 항상 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±1</a:t>
            </a:r>
          </a:p>
          <a:p>
            <a:pPr marL="685800" lvl="1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움직임이 고정된 크기로 제한됨</a:t>
            </a:r>
            <a:endParaRPr lang="en-US" altLang="ko-KR" sz="17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685800" lvl="1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격자 위를 한 칸씩 움직이는 형태</a:t>
            </a:r>
            <a:endParaRPr lang="en-US" altLang="ko-KR" sz="19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DA39BC9-5604-0C54-A656-E0F72C6BDD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8537" y="3376095"/>
            <a:ext cx="4973727" cy="27111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AD212A4-8B49-3B6C-41A2-7EBEAC85AD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3943" y="3074207"/>
            <a:ext cx="5537739" cy="30130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9486326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565E0C-50BB-F1AE-B91D-CD7055D90A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9EA0B489-DABD-8485-0D53-A3B6771C71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Random walk simulation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F9166B6-5390-D265-7029-AF1A7582C2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44</a:t>
            </a:fld>
            <a:endParaRPr 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6CBE3884-90D6-4205-75DE-61E2FC35D6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3981" y="1220061"/>
            <a:ext cx="10876566" cy="1999389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차원 아래</a:t>
            </a: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모의실험을 베르누이</a:t>
            </a: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이항분포</a:t>
            </a: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Galton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Board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비교하여 이해하자</a:t>
            </a:r>
            <a:endParaRPr lang="en-US" altLang="ko-KR" sz="21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구슬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?, single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random walk ?,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여러 명이 술이 취해 걸으면 최종 어디에 많이 모일까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02392AE-FBAA-4939-6C80-3CA05F333E3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44779" y="3074207"/>
            <a:ext cx="5537739" cy="30130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F9228610-B44F-2299-857C-27601FB50A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3316" y="2549890"/>
            <a:ext cx="2671321" cy="353733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98E3739-5A89-0A71-C6C0-30A3F32E06D4}"/>
                  </a:ext>
                </a:extLst>
              </p:cNvPr>
              <p:cNvSpPr txBox="1"/>
              <p:nvPr/>
            </p:nvSpPr>
            <p:spPr>
              <a:xfrm>
                <a:off x="7051545" y="3934385"/>
                <a:ext cx="652743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36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ko-KR" altLang="en-US" sz="3600" b="1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98E3739-5A89-0A71-C6C0-30A3F32E06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51545" y="3934385"/>
                <a:ext cx="652743" cy="64633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10632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87797F-FEEC-B823-2382-603B8BB023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CEAB4AD8-69CE-0704-0F78-6C114454CD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Random walk simulation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7B1CB07-4400-6BC2-0FC5-1EE76D147E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45</a:t>
            </a:fld>
            <a:endParaRPr 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E1BFFC1A-4A14-F3B6-2AC3-14C41FE78E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3981" y="1220062"/>
            <a:ext cx="10876566" cy="1523137"/>
          </a:xfrm>
        </p:spPr>
        <p:txBody>
          <a:bodyPr>
            <a:normAutofit fontScale="70000" lnSpcReduction="200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차원 </a:t>
            </a:r>
            <a:r>
              <a:rPr lang="en-US" altLang="ko-KR" sz="21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Guassian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랜덤 워크  </a:t>
            </a: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정규분포</a:t>
            </a: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(Normal Distribution)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이용한 랜덤 워크는 </a:t>
            </a:r>
            <a:r>
              <a:rPr lang="ko-KR" altLang="en-US" sz="21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가우시안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랜덤 워크</a:t>
            </a: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(Gaussian Random Walk)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라고 하며</a:t>
            </a: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수학적으로는 브라운 운동</a:t>
            </a: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(Brownian Motion)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기초가 되는 모델</a:t>
            </a:r>
            <a:endParaRPr lang="en-US" altLang="ko-KR" sz="21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연속적 이동</a:t>
            </a:r>
            <a:r>
              <a:rPr lang="en-US" altLang="ko-KR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정규분포 기반</a:t>
            </a:r>
            <a:r>
              <a:rPr lang="en-US" altLang="ko-KR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), </a:t>
            </a:r>
            <a:r>
              <a:rPr lang="ko-KR" altLang="en-US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이동 거리가 정규분포</a:t>
            </a:r>
            <a:r>
              <a:rPr lang="en-US" altLang="ko-KR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종 모양</a:t>
            </a:r>
            <a:r>
              <a:rPr lang="en-US" altLang="ko-KR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따름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대부분은 작게 움직이고</a:t>
            </a:r>
            <a:r>
              <a:rPr lang="en-US" altLang="ko-KR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가끔 크게 이동하는 경우도 발생하며</a:t>
            </a:r>
            <a:r>
              <a:rPr lang="en-US" altLang="ko-KR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실제 세계 물리현상과 유사</a:t>
            </a:r>
            <a:endParaRPr lang="en-US" altLang="ko-KR" sz="19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8781F12-DB99-FB5B-6A78-64FED969A3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3981" y="2899845"/>
            <a:ext cx="8025132" cy="34085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2B7DE6F-6543-1CC5-84B7-38595329BB8F}"/>
              </a:ext>
            </a:extLst>
          </p:cNvPr>
          <p:cNvSpPr txBox="1"/>
          <p:nvPr/>
        </p:nvSpPr>
        <p:spPr>
          <a:xfrm>
            <a:off x="8829040" y="3533988"/>
            <a:ext cx="3362960" cy="1020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40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미세 입자의 확산</a:t>
            </a:r>
            <a:r>
              <a:rPr lang="en-US" altLang="ko-KR" sz="140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브라운 운동</a:t>
            </a:r>
            <a:r>
              <a:rPr lang="en-US" altLang="ko-KR" sz="140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sz="1400" i="0" dirty="0"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40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주식 가격 변동</a:t>
            </a:r>
          </a:p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40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열 운동</a:t>
            </a:r>
            <a:r>
              <a:rPr lang="en-US" altLang="ko-KR" sz="140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분자 운동의 시뮬레이션</a:t>
            </a:r>
          </a:p>
        </p:txBody>
      </p:sp>
    </p:spTree>
    <p:extLst>
      <p:ext uri="{BB962C8B-B14F-4D97-AF65-F5344CB8AC3E}">
        <p14:creationId xmlns:p14="http://schemas.microsoft.com/office/powerpoint/2010/main" val="33275848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455D3D-F194-FF2A-491A-8A873F6107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0556CE03-35F1-D046-0275-50A16140ED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Bootstrap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sampling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6C66212E-BB83-C661-6D65-CD05B909EB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46</a:t>
            </a:fld>
            <a:endParaRPr 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8189BD10-8DA1-300F-CA8B-0DC91F7626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708" y="1503648"/>
            <a:ext cx="10272637" cy="4164739"/>
          </a:xfrm>
        </p:spPr>
        <p:txBody>
          <a:bodyPr>
            <a:normAutofit fontScale="92500" lnSpcReduction="10000"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한 학급에 </a:t>
            </a:r>
            <a:r>
              <a:rPr lang="ko-KR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100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명</a:t>
            </a:r>
            <a:r>
              <a:rPr lang="ko-KR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ko-KR" sz="18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</a:t>
            </a:r>
            <a:r>
              <a:rPr lang="ko-KR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=100)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있는 반을 </a:t>
            </a:r>
            <a:r>
              <a:rPr lang="ko-KR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상상해 보세요.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선생님이 무작위로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명을 </a:t>
            </a:r>
            <a:r>
              <a:rPr lang="ko-KR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뽑고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선물을 주고</a:t>
            </a:r>
            <a:r>
              <a:rPr lang="ko-KR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다시 전체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100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명에서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명을 뽑습니다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 </a:t>
            </a:r>
          </a:p>
          <a:p>
            <a:pPr marL="685800" lvl="1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100번 반복해서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선물을 주게 될 경우 내가 선물을 못박을 확률은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 </a:t>
            </a:r>
          </a:p>
          <a:p>
            <a:pPr marL="685800" lvl="1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200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번을 반복했는데 내가 못 받을 확률은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 marL="685800" lvl="1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300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번을 반복했는데 내가 못 받을 확률은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 marL="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Bootstrap Sample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이란 무엇인가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 marL="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무한대이고 무한으로 반복하면 내가 못 받을 확률은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 marL="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18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2687067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E857D7-1344-B58A-BDD9-A140227A3E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E74E3F93-3B37-62D8-BEBE-62D5FAAA95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Bootstrap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sampling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BA0B4F5-DAE4-3303-FB32-9B2A9096CA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47</a:t>
            </a:fld>
            <a:endParaRPr 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01828D43-DDF9-E3DE-4276-FB4399E649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708" y="1503648"/>
            <a:ext cx="10272637" cy="4164739"/>
          </a:xfrm>
        </p:spPr>
        <p:txBody>
          <a:bodyPr>
            <a:norm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한 학급에 </a:t>
            </a:r>
            <a:r>
              <a:rPr lang="ko-KR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100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명</a:t>
            </a:r>
            <a:r>
              <a:rPr lang="ko-KR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ko-KR" sz="18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</a:t>
            </a:r>
            <a:r>
              <a:rPr lang="ko-KR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=100)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있는 반을 </a:t>
            </a:r>
            <a:r>
              <a:rPr lang="ko-KR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상상해 보세요.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선생님이 무작위로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명을 </a:t>
            </a:r>
            <a:r>
              <a:rPr lang="ko-KR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뽑고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선물을 주고</a:t>
            </a:r>
            <a:r>
              <a:rPr lang="ko-KR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다시 전체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100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명에서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명을 뽑습니다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 </a:t>
            </a:r>
          </a:p>
          <a:p>
            <a:pPr marL="685800" lvl="1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100번 반복해서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선물을 주게 될 경우 내가 선물을 못박을 확률은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 </a:t>
            </a:r>
          </a:p>
          <a:p>
            <a:pPr marL="685800" lvl="1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200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번을 반복했는데 내가 못 받을 확률은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 marL="685800" lvl="1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300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번을 반복했는데 내가 못 받을 확률은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 marL="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무한대이고 무한으로 반복하면 내가 못 받을 확률은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 marL="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18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8648059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9DEF33-47B2-9FEA-0544-DA97EB8253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4F05D532-A9FD-B5D3-594E-38DF47B5D2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Bootstrap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sampling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83DFD7C5-1C3C-76A3-3F1E-1B278F95E3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48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내용 개체 틀 2">
                <a:extLst>
                  <a:ext uri="{FF2B5EF4-FFF2-40B4-BE49-F238E27FC236}">
                    <a16:creationId xmlns:a16="http://schemas.microsoft.com/office/drawing/2014/main" id="{CDA944F2-868C-8A90-5AC8-A7494D22299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708" y="1503649"/>
                <a:ext cx="10272637" cy="3012934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18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전체 데이터셋의 크기가 </a:t>
                </a:r>
                <a:r>
                  <a:rPr lang="en-US" altLang="ko-KR" sz="18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</a:t>
                </a:r>
                <a:r>
                  <a:rPr lang="ko-KR" altLang="en-US" sz="18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일 때</a:t>
                </a:r>
                <a:r>
                  <a:rPr lang="en-US" altLang="ko-KR" sz="18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sz="18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원본 데이터에서 한 번 뽑은 데이터를 다시 넣고</a:t>
                </a:r>
                <a:r>
                  <a:rPr lang="en-US" altLang="ko-KR" sz="18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sz="18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복원</a:t>
                </a:r>
                <a:r>
                  <a:rPr lang="en-US" altLang="ko-KR" sz="18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8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무작위로 </a:t>
                </a:r>
                <a:r>
                  <a:rPr lang="en-US" altLang="ko-KR" sz="18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</a:t>
                </a:r>
                <a:r>
                  <a:rPr lang="ko-KR" altLang="en-US" sz="18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번 추출하여 만든 새로운 샘플</a:t>
                </a:r>
                <a:endParaRPr lang="en-US" altLang="ko-KR" sz="18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lvl="1">
                  <a:lnSpc>
                    <a:spcPct val="150000"/>
                  </a:lnSpc>
                </a:pP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중복 허용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: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동일한 데이터가 한 샘플 내에 여러 번 포함될 수 있음</a:t>
                </a:r>
                <a:endParaRPr lang="en-US" altLang="ko-KR" sz="16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lvl="1">
                  <a:lnSpc>
                    <a:spcPct val="150000"/>
                  </a:lnSpc>
                </a:pP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미포함 데이터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: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확률적으로 원본 데이터의 약 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36.8%(</a:t>
                </a:r>
                <a14:m>
                  <m:oMath xmlns:m="http://schemas.openxmlformats.org/officeDocument/2006/math">
                    <m:f>
                      <m:fPr>
                        <m:type m:val="skw"/>
                        <m:ctrlPr>
                          <a:rPr lang="en-US" altLang="ko-KR" sz="160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1600" dirty="0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ko-KR" sz="1600" i="0" dirty="0" smtClean="0">
                            <a:latin typeface="Cambria Math" panose="02040503050406030204" pitchFamily="18" charset="0"/>
                          </a:rPr>
                          <m:t>ⅇ</m:t>
                        </m:r>
                      </m:den>
                    </m:f>
                  </m:oMath>
                </a14:m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는 샘플에 포함되지 않는데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이를 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OOB(Out-Of-Bag)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데이터라고 부르며 모델 검증용으로 활용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이 수치는 앞서 질문하신 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'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선물을 못 받을 확률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'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과 동일한 원리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 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 </a:t>
                </a:r>
                <a:r>
                  <a:rPr lang="en-US" altLang="ko-KR" sz="1600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Randomforest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모델의 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OOB</a:t>
                </a:r>
              </a:p>
            </p:txBody>
          </p:sp>
        </mc:Choice>
        <mc:Fallback xmlns="">
          <p:sp>
            <p:nvSpPr>
              <p:cNvPr id="7" name="내용 개체 틀 2">
                <a:extLst>
                  <a:ext uri="{FF2B5EF4-FFF2-40B4-BE49-F238E27FC236}">
                    <a16:creationId xmlns:a16="http://schemas.microsoft.com/office/drawing/2014/main" id="{CDA944F2-868C-8A90-5AC8-A7494D22299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708" y="1503649"/>
                <a:ext cx="10272637" cy="3012934"/>
              </a:xfrm>
              <a:blipFill>
                <a:blip r:embed="rId2"/>
                <a:stretch>
                  <a:fillRect l="-17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" name="그림 1">
            <a:extLst>
              <a:ext uri="{FF2B5EF4-FFF2-40B4-BE49-F238E27FC236}">
                <a16:creationId xmlns:a16="http://schemas.microsoft.com/office/drawing/2014/main" id="{83CD8436-2625-8128-83C4-23CE8FC957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08862" y="3992687"/>
            <a:ext cx="5402483" cy="2569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404918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72A364-1EBD-2EFD-D6BE-937CE1431F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2CE9BC93-DDED-5445-834E-7678C8B6B6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Central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Limit </a:t>
            </a:r>
            <a:r>
              <a:rPr lang="en-US" altLang="ko-KR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Theorm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27D45968-6723-E03D-AD24-9D29D29A0A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49</a:t>
            </a:fld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86F887F-AE8F-1464-9EC1-7F7674022CBB}"/>
              </a:ext>
            </a:extLst>
          </p:cNvPr>
          <p:cNvSpPr txBox="1"/>
          <p:nvPr/>
        </p:nvSpPr>
        <p:spPr>
          <a:xfrm>
            <a:off x="551384" y="2916953"/>
            <a:ext cx="11377264" cy="31840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 학습의 안정성 확보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MSE , Cross-Entropy, Log-loss 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Mini-batch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학습이 가능한 이유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Mini-batch =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작은 샘플 평균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CLT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없이는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mini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batch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도 없음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교차검증을 통한 모델의 평가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평균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accuracy/loss,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교차검증 평균 등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CLT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적용으로 이  평균들은 → 정규분포 근사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→ 신뢰구간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→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통계적 비교 가능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A/B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테스트와 실험 설계의 핵심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광고 효과 비교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추천 알고리즘 비교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UI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개선 효과 측정  등 전부 평균 비교 문제로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CLT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덕분에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두 평균 차이 → 정규분포 근사 →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p-value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계산 가능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97BBF2C-6413-4582-67FA-848627AD4379}"/>
              </a:ext>
            </a:extLst>
          </p:cNvPr>
          <p:cNvSpPr txBox="1"/>
          <p:nvPr/>
        </p:nvSpPr>
        <p:spPr>
          <a:xfrm>
            <a:off x="551384" y="1656979"/>
            <a:ext cx="11377264" cy="8697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중심극한정리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데이터는 불규칙하지만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평균은 예측 가능하다 → 그래서 학습이 가능하다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머신러닝에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접목하는 내용을 모의실험으로 파이썬 코드로 제시하라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3643330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794CC3-0C25-936C-F4E5-BC6C8FAE90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FB6093B4-D84C-1182-BD67-09D1D89F10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Prince Frog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04CD2A0E-CCEC-F039-665F-40894A644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50</a:t>
            </a:fld>
            <a:endParaRPr 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E8D2309A-13E9-0BC5-9466-8BBC074EAE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708" y="1503649"/>
            <a:ext cx="10272637" cy="3012934"/>
          </a:xfrm>
        </p:spPr>
        <p:txBody>
          <a:bodyPr>
            <a:normAutofit fontScale="92500" lnSpcReduction="10000"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당신은 앞으로 인생에서 총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명의 잠재적 파트너를 만날 수 있다고 가정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당신의 목표는 그중 가장 뛰어난 사람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(X)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 매칭되는 것이며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아래의 조건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한 번 거절한 사람에게는 다시 돌아갈 수 없음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만나는 순서는 무작위이며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당신은 상대를 만날 때마다 점수를 매길 수 있음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가장 좋은 사람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(X)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선택할 확률을 최대화하려면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몇 번째 사람을 선책해야 하나요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mathematical-dating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E07FF1A6-7C59-D849-56A1-6F4AF4D88B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78075" y="4357296"/>
            <a:ext cx="3334215" cy="1994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710097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8C8A9B-C99A-C323-49D3-D8FF332B28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1E109C5D-CA46-86FE-B2F1-6B57CE974A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Monty Hall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D6715F2C-1C5F-58CD-F12C-7D8F314DCF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51</a:t>
            </a:fld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0C274E9-0890-E1EE-8815-6A6992A3E51A}"/>
              </a:ext>
            </a:extLst>
          </p:cNvPr>
          <p:cNvSpPr txBox="1"/>
          <p:nvPr/>
        </p:nvSpPr>
        <p:spPr>
          <a:xfrm>
            <a:off x="798974" y="1692410"/>
            <a:ext cx="2930832" cy="4542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Monty Hall Problem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</a:p>
        </p:txBody>
      </p:sp>
      <p:pic>
        <p:nvPicPr>
          <p:cNvPr id="9" name="Picture 2">
            <a:extLst>
              <a:ext uri="{FF2B5EF4-FFF2-40B4-BE49-F238E27FC236}">
                <a16:creationId xmlns:a16="http://schemas.microsoft.com/office/drawing/2014/main" id="{4CB3E241-1439-CF73-D1BF-D13C8F260B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3614" y="2724107"/>
            <a:ext cx="3466677" cy="19274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2">
            <a:extLst>
              <a:ext uri="{FF2B5EF4-FFF2-40B4-BE49-F238E27FC236}">
                <a16:creationId xmlns:a16="http://schemas.microsoft.com/office/drawing/2014/main" id="{9E41BEFF-9277-101A-3ABF-53C7FEE193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32182" y="2764673"/>
            <a:ext cx="1619245" cy="9003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6CBEF33F-CA64-0A15-EF29-6230B6B4D9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51006" y="3900957"/>
            <a:ext cx="815411" cy="975445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D39BAFD2-095A-6333-05D9-AF58E4177CC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2623" y="3900957"/>
            <a:ext cx="815411" cy="975445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E13AB27E-3741-C7E7-A100-08C4C10D46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94240" y="3900957"/>
            <a:ext cx="815411" cy="975445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0F137632-6EED-1197-4575-AD5C447484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65857" y="3900957"/>
            <a:ext cx="815411" cy="975445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AC9BAD1F-4835-0E00-BE05-7B991DEA534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7474" y="3900957"/>
            <a:ext cx="815411" cy="975445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572470AC-D0CC-6A8D-F111-86F68089C04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9091" y="3900957"/>
            <a:ext cx="815411" cy="975445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0865E442-B4BD-7CFF-FCDF-2E85B2CB4F5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80707" y="3900957"/>
            <a:ext cx="815411" cy="975445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FF2D7143-68C6-2326-F00F-A8CD8AE3B1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51006" y="5158257"/>
            <a:ext cx="815411" cy="975445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4728F616-5440-AC06-EAC7-44E4E6C96BA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2623" y="5158257"/>
            <a:ext cx="815411" cy="975445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D5F19E73-7B96-06A5-14A6-B60E4358AB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94240" y="5158257"/>
            <a:ext cx="815411" cy="975445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321514DF-CA86-07A5-AD6C-AD2DEA2FE1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65857" y="5158257"/>
            <a:ext cx="815411" cy="975445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09CD22BE-CA91-2684-1E36-B34F6E8373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7474" y="5158257"/>
            <a:ext cx="815411" cy="975445"/>
          </a:xfrm>
          <a:prstGeom prst="rect">
            <a:avLst/>
          </a:prstGeom>
        </p:spPr>
      </p:pic>
      <p:pic>
        <p:nvPicPr>
          <p:cNvPr id="23" name="그림 22">
            <a:extLst>
              <a:ext uri="{FF2B5EF4-FFF2-40B4-BE49-F238E27FC236}">
                <a16:creationId xmlns:a16="http://schemas.microsoft.com/office/drawing/2014/main" id="{735F4664-A966-C87F-5C78-A301749DF38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9091" y="5158257"/>
            <a:ext cx="815411" cy="975445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BEAAFF8B-1A89-D60D-75AB-E4265EDD2C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80707" y="5158257"/>
            <a:ext cx="815411" cy="975445"/>
          </a:xfrm>
          <a:prstGeom prst="rect">
            <a:avLst/>
          </a:prstGeom>
        </p:spPr>
      </p:pic>
      <p:pic>
        <p:nvPicPr>
          <p:cNvPr id="25" name="그림 24">
            <a:extLst>
              <a:ext uri="{FF2B5EF4-FFF2-40B4-BE49-F238E27FC236}">
                <a16:creationId xmlns:a16="http://schemas.microsoft.com/office/drawing/2014/main" id="{1EC7DF29-C3D6-F404-E972-77857EC56D4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65857" y="2724107"/>
            <a:ext cx="815411" cy="975445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7D508969-A288-B230-8DB6-EC39464787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7474" y="2724107"/>
            <a:ext cx="815411" cy="975445"/>
          </a:xfrm>
          <a:prstGeom prst="rect">
            <a:avLst/>
          </a:prstGeom>
        </p:spPr>
      </p:pic>
      <p:pic>
        <p:nvPicPr>
          <p:cNvPr id="27" name="그림 26">
            <a:extLst>
              <a:ext uri="{FF2B5EF4-FFF2-40B4-BE49-F238E27FC236}">
                <a16:creationId xmlns:a16="http://schemas.microsoft.com/office/drawing/2014/main" id="{7BD36F70-C846-8BF0-2823-F0053E6B7F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9091" y="2724107"/>
            <a:ext cx="815411" cy="975445"/>
          </a:xfrm>
          <a:prstGeom prst="rect">
            <a:avLst/>
          </a:prstGeom>
        </p:spPr>
      </p:pic>
      <p:pic>
        <p:nvPicPr>
          <p:cNvPr id="28" name="그림 27">
            <a:extLst>
              <a:ext uri="{FF2B5EF4-FFF2-40B4-BE49-F238E27FC236}">
                <a16:creationId xmlns:a16="http://schemas.microsoft.com/office/drawing/2014/main" id="{12697E6A-BB42-EA03-FEFB-7A44EA579F5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80707" y="2724107"/>
            <a:ext cx="815411" cy="975445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EC62F4DC-1018-0126-1558-960B8E9E3342}"/>
              </a:ext>
            </a:extLst>
          </p:cNvPr>
          <p:cNvSpPr txBox="1"/>
          <p:nvPr/>
        </p:nvSpPr>
        <p:spPr>
          <a:xfrm>
            <a:off x="6051006" y="1692410"/>
            <a:ext cx="5342020" cy="4542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Monty Hall Problem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문이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10,000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라면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408774975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A0AC54-C4ED-A5C3-A213-8356B5F645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5B10A659-B508-3847-D95D-D5EDC55F78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Genetic algorithm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05590872-92AA-7F11-7855-536F5E7745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52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1141AEC-0375-D5D0-1BC0-45800051E25B}"/>
              </a:ext>
            </a:extLst>
          </p:cNvPr>
          <p:cNvSpPr txBox="1"/>
          <p:nvPr/>
        </p:nvSpPr>
        <p:spPr>
          <a:xfrm>
            <a:off x="675209" y="1437904"/>
            <a:ext cx="11377264" cy="4542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단순회귀식의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유전자 알고리즘으로 구하는 파이썬 코드를 제시하라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30" name="그림 29" descr="Best Practices for Tuning Genetic Algorithm Parameters">
            <a:extLst>
              <a:ext uri="{FF2B5EF4-FFF2-40B4-BE49-F238E27FC236}">
                <a16:creationId xmlns:a16="http://schemas.microsoft.com/office/drawing/2014/main" id="{F123030E-E593-CC71-17F7-A38A55A622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2790" y="2266684"/>
            <a:ext cx="5678585" cy="3785723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9DFA542B-465A-3FAA-9CFB-CC45AB510537}"/>
              </a:ext>
            </a:extLst>
          </p:cNvPr>
          <p:cNvSpPr txBox="1"/>
          <p:nvPr/>
        </p:nvSpPr>
        <p:spPr>
          <a:xfrm>
            <a:off x="1772790" y="6210299"/>
            <a:ext cx="8361809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50" dirty="0">
                <a:hlinkClick r:id="rId3"/>
              </a:rPr>
              <a:t>https://www.woodruff.dev/wp-content/uploads/2025/09/Best-Practices-for-Tuning-Genetic-Algorithm-Parameters.png</a:t>
            </a:r>
            <a:r>
              <a:rPr lang="ko-KR" altLang="en-US" sz="105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81158295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65953D-C500-5F1D-7DFF-6810FE097E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A915BB03-0ACC-F981-4BCD-AB72175E43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Differential Equation</a:t>
            </a:r>
            <a:endParaRPr lang="ko-KR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23EE4ECF-F522-E598-8198-62166279C4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53</a:t>
            </a:fld>
            <a:endParaRPr lang="en-US" dirty="0"/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43BFE282-10B7-3563-1EAE-190C2973B8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5383" y="1339880"/>
            <a:ext cx="10257442" cy="4098895"/>
          </a:xfrm>
        </p:spPr>
        <p:txBody>
          <a:bodyPr>
            <a:normAutofit/>
          </a:bodyPr>
          <a:lstStyle/>
          <a:p>
            <a:pPr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컴퓨터가 생물학적 또는 물리적 현상을 이해할 수 있도록 수학적으로 묘사하는 과정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컴퓨터는 미분과 적분 연산에 최적화되어 있어 세포분열 현상을 미분식으로 표현하면 컴퓨터는 미래를 예측할 수 있음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ko-KR" altLang="en-US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속도는 미분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거리는 적분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세포분열의 경우 분열 속도를 미분방정식으로 표현하고 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2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일정 시간 이후 세포는 몇 개까지 증식하는지는 적분하여 예측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7199179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9E07E6-0097-53F1-CF57-CE83DD4F4B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EDAAAD77-063D-96F0-BB80-C0675F4560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Differential Equation</a:t>
            </a:r>
            <a:endParaRPr lang="ko-KR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8C4E1BA-B6E4-E7CE-F181-F9A168C481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54</a:t>
            </a:fld>
            <a:endParaRPr lang="en-US"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69FB737C-8207-A095-80A7-945984DC6F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4059" y="4113840"/>
            <a:ext cx="1116966" cy="2546683"/>
          </a:xfrm>
          <a:prstGeom prst="rect">
            <a:avLst/>
          </a:prstGeom>
        </p:spPr>
      </p:pic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137F876-EDC2-C2AF-3A20-8AEBD33F6D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5384" y="1275426"/>
            <a:ext cx="9890853" cy="3372774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세포분열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Cell_division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아메바나 인체 세포는 일정 크기로 성장하면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개로 분열하고 정상 세포는 보통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24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시간 주기로 아래와 같이 분열한다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증식 속도 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(Rate)</a:t>
            </a:r>
          </a:p>
          <a:p>
            <a:pPr lvl="2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속도는 “늘어난 세포의 수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/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걸린 </a:t>
            </a:r>
            <a:r>
              <a:rPr lang="ko-KR" altLang="en-US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시간”으로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정의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2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세포가 많을수록 분열하는 개체수도 늘어나므로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증가 속도는 현재 세포 수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(X)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비례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24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4BE106E1-3309-58F0-CD71-036E1EAE6B2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2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926303" y="4333492"/>
            <a:ext cx="1398297" cy="941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984409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2E31F4-3629-1A16-B98B-58ACE08103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C0ED49C8-B5F8-591F-577B-FDB854C59E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Differential Equation</a:t>
            </a:r>
            <a:endParaRPr lang="ko-KR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5CACF84-D19C-8F63-2D7B-5FCAF5557E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55</a:t>
            </a:fld>
            <a:endParaRPr lang="en-US" dirty="0"/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3810B7BD-B816-1B3E-64B3-B86C9C7EE5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5384" y="1618326"/>
            <a:ext cx="10350827" cy="3372774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세포분열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Cell_division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변화율 식을 시간에 대해 적분하면 시간에 따른 세포 수를 예측할 수 있고 이 결과를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축은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시간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축은 세포 수를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차원 좌표에 표시하라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en-US" altLang="ko-KR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numpy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</a:t>
            </a:r>
            <a:r>
              <a:rPr lang="ko-KR" altLang="en-US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오일러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방식으로 코딩하거나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en-US" altLang="ko-KR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sympy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모듈로 미분방정식을 정의하고 적분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ko-KR" altLang="en-US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24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0757666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E4C972-7F47-0F03-CA39-239005494D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0C50CE5F-703B-628B-E278-C73CF443A3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Differential Equation</a:t>
            </a:r>
            <a:endParaRPr lang="ko-KR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61204269-D9CC-2292-140C-7F7FF6FEA3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56</a:t>
            </a:fld>
            <a:endParaRPr lang="en-US" dirty="0"/>
          </a:p>
        </p:txBody>
      </p:sp>
      <p:pic>
        <p:nvPicPr>
          <p:cNvPr id="2" name="Picture 2">
            <a:extLst>
              <a:ext uri="{FF2B5EF4-FFF2-40B4-BE49-F238E27FC236}">
                <a16:creationId xmlns:a16="http://schemas.microsoft.com/office/drawing/2014/main" id="{7DC6FCB2-F7C1-D37F-A9DD-7D713B2C5E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77642" y="2450726"/>
            <a:ext cx="5800722" cy="41267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56A5471-1D29-1F73-8FD7-C24096714D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5384" y="1154097"/>
            <a:ext cx="10876566" cy="1424329"/>
          </a:xfrm>
        </p:spPr>
        <p:txBody>
          <a:bodyPr>
            <a:normAutofit fontScale="925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24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시간 이후에는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배가 아니라 자연상수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오일러상수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인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2.718….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배가 됨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세포 수가 늘어남에 따라 증가 속도가 실시간으로 가속되어 기하급수적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(Exponential)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증가함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ko-KR" altLang="en-US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24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D060B01F-E4BD-E2D1-75B0-48F2EEE16D2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409896" y="2602882"/>
            <a:ext cx="1981007" cy="593345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CB71ABFD-946E-D12D-4E2E-CD43619BDA5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54346" y="5316568"/>
            <a:ext cx="1646063" cy="327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790837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0B09BF-2EFA-5CFC-1E67-010A605113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F4C2746F-56DA-F8D8-9041-05E04FAA2C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Differential Equation</a:t>
            </a:r>
            <a:endParaRPr lang="ko-KR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8AC6E2DD-E529-FB78-B038-B1FED6A278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57</a:t>
            </a:fld>
            <a:endParaRPr lang="en-US" dirty="0"/>
          </a:p>
        </p:txBody>
      </p:sp>
      <p:pic>
        <p:nvPicPr>
          <p:cNvPr id="2" name="Picture 4">
            <a:extLst>
              <a:ext uri="{FF2B5EF4-FFF2-40B4-BE49-F238E27FC236}">
                <a16:creationId xmlns:a16="http://schemas.microsoft.com/office/drawing/2014/main" id="{785C4201-B3BA-4E6E-7C3B-F16863AB22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1242" y="2707024"/>
            <a:ext cx="5760544" cy="37604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7612A4A-92A5-9BA1-C4A8-200B7C4CA1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5384" y="1154097"/>
            <a:ext cx="10876566" cy="1329209"/>
          </a:xfrm>
        </p:spPr>
        <p:txBody>
          <a:bodyPr>
            <a:normAutofit fontScale="85000" lnSpcReduction="200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변분법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(calculus of variations)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사고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미분방정식이 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t=80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에서는 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＂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너 지금 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1.17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속도로 올라가야 해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!＂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 명령어</a:t>
            </a:r>
            <a:endParaRPr lang="en-US" altLang="ko-KR" sz="17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접선의 식은 그 명령어를 받아서 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그럼 일단 이 방향으로 </a:t>
            </a:r>
            <a:r>
              <a:rPr lang="ko-KR" altLang="en-US" sz="17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가볼게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라고 그려본 가상의 직선 경로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225397D-E731-72CE-E943-A7168541C1AD}"/>
              </a:ext>
            </a:extLst>
          </p:cNvPr>
          <p:cNvSpPr txBox="1"/>
          <p:nvPr/>
        </p:nvSpPr>
        <p:spPr>
          <a:xfrm>
            <a:off x="6894055" y="2719003"/>
            <a:ext cx="4135896" cy="8213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접선을 </a:t>
            </a:r>
            <a:r>
              <a:rPr lang="en-US" altLang="ko-KR" sz="1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t=80 </a:t>
            </a:r>
            <a:r>
              <a:rPr lang="ko-KR" altLang="en-US" sz="1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근처에서 아주 짧게 그리면 실제 세포 수 곡선과 거의 일치하게 되며 이 원리를 이용해서 컴퓨터는 복잡한 미분 방정식을 한 단계씩 직선으로 연결하며 풀어나감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A11AAC54-8BFB-E2C4-CCC4-3568C30B8A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69654" y="3886200"/>
            <a:ext cx="3068557" cy="2581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5254698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E03BA3-84EC-7D4E-9E83-258732FC53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836E194C-CF84-05F2-829A-D5469AA444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Differential Equation</a:t>
            </a:r>
            <a:endParaRPr lang="ko-KR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213E83F1-FF0D-A1E4-E03B-195B69B0A5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58</a:t>
            </a:fld>
            <a:endParaRPr lang="en-US" dirty="0"/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60803C31-F401-2986-B0C3-AB38050D8F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5384" y="1113457"/>
            <a:ext cx="9914541" cy="1997640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정상세포 수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감염세포 수로 가정하고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X, Y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다음과 같이 상호작용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24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시간안에 세포분열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(X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 X + X)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Y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는 정상세포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X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를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24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시간안에 감염시킴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(X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+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Y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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Y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+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Y)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X,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Y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에 대한 미분방정식을 만들어라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  <a:sym typeface="Wingdings" panose="05000000000000000000" pitchFamily="2" charset="2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157BD95-8719-AE25-A87A-DC3525D52FD8}"/>
                  </a:ext>
                </a:extLst>
              </p:cNvPr>
              <p:cNvSpPr txBox="1"/>
              <p:nvPr/>
            </p:nvSpPr>
            <p:spPr>
              <a:xfrm>
                <a:off x="5695950" y="3746903"/>
                <a:ext cx="6096000" cy="1107804"/>
              </a:xfrm>
              <a:prstGeom prst="rect">
                <a:avLst/>
              </a:prstGeom>
              <a:noFill/>
              <a:ln>
                <a:solidFill>
                  <a:schemeClr val="bg1">
                    <a:lumMod val="50000"/>
                  </a:schemeClr>
                </a:solidFill>
                <a:prstDash val="sysDot"/>
              </a:ln>
            </p:spPr>
            <p:txBody>
              <a:bodyPr wrap="square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f>
                      <m:fPr>
                        <m:ctrlPr>
                          <a:rPr lang="ko-KR" altLang="en-US" sz="170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ko-KR" altLang="en-US" sz="1700" dirty="0" err="1">
                            <a:latin typeface="Cambria Math" panose="02040503050406030204" pitchFamily="18" charset="0"/>
                          </a:rPr>
                          <m:t>ⅆ</m:t>
                        </m:r>
                        <m:r>
                          <a:rPr lang="ko-KR" altLang="en-US" sz="1700" i="1" dirty="0" err="1">
                            <a:latin typeface="Cambria Math" panose="02040503050406030204" pitchFamily="18" charset="0"/>
                          </a:rPr>
                          <m:t>𝑋</m:t>
                        </m:r>
                      </m:num>
                      <m:den>
                        <m:r>
                          <a:rPr lang="ko-KR" altLang="en-US" sz="1700" i="0" dirty="0" err="1">
                            <a:latin typeface="Cambria Math" panose="02040503050406030204" pitchFamily="18" charset="0"/>
                          </a:rPr>
                          <m:t>ⅆ</m:t>
                        </m:r>
                        <m:r>
                          <a:rPr lang="ko-KR" altLang="en-US" sz="1700" i="1" dirty="0" err="1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r>
                      <a:rPr lang="ko-KR" altLang="en-US" sz="1700" i="0" dirty="0" err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ko-KR" altLang="en-US" sz="1700" i="1" dirty="0" err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ko-KR" altLang="en-US" sz="1700" i="1" dirty="0" err="1">
                            <a:latin typeface="Cambria Math" panose="02040503050406030204" pitchFamily="18" charset="0"/>
                          </a:rPr>
                          <m:t>𝑋</m:t>
                        </m:r>
                      </m:num>
                      <m:den>
                        <m:r>
                          <a:rPr lang="ko-KR" altLang="en-US" sz="1700" i="0" dirty="0" err="1">
                            <a:latin typeface="Cambria Math" panose="02040503050406030204" pitchFamily="18" charset="0"/>
                          </a:rPr>
                          <m:t>24</m:t>
                        </m:r>
                      </m:den>
                    </m:f>
                    <m:r>
                      <a:rPr lang="ko-KR" altLang="en-US" sz="1700" i="0" dirty="0" err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ko-KR" altLang="en-US" sz="1700" i="1" dirty="0" err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ko-KR" altLang="en-US" sz="17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ko-KR" altLang="en-US" sz="1700" i="1" dirty="0" err="1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ko-KR" altLang="en-US" sz="17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: 　</a:t>
                </a:r>
                <a14:m>
                  <m:oMath xmlns:m="http://schemas.openxmlformats.org/officeDocument/2006/math">
                    <m:r>
                      <a:rPr lang="ko-KR" altLang="en-US" sz="17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ko-KR" altLang="en-US" sz="1700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의</a:t>
                </a:r>
                <a:r>
                  <a:rPr lang="ko-KR" altLang="en-US" sz="17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양이 시간에 따라 어떻게 변하는지.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ko-KR" altLang="en-US" sz="1700" i="1" dirty="0">
                        <a:latin typeface="Cambria Math" panose="02040503050406030204" pitchFamily="18" charset="0"/>
                      </a:rPr>
                      <m:t>＋</m:t>
                    </m:r>
                    <m:f>
                      <m:fPr>
                        <m:ctrlPr>
                          <a:rPr lang="ko-KR" altLang="en-US" sz="170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ko-KR" altLang="en-US" sz="1700" i="1" dirty="0" err="1">
                            <a:latin typeface="Cambria Math" panose="02040503050406030204" pitchFamily="18" charset="0"/>
                          </a:rPr>
                          <m:t>𝑋</m:t>
                        </m:r>
                      </m:num>
                      <m:den>
                        <m:r>
                          <a:rPr lang="ko-KR" altLang="en-US" sz="1700" dirty="0" err="1">
                            <a:latin typeface="Cambria Math" panose="02040503050406030204" pitchFamily="18" charset="0"/>
                          </a:rPr>
                          <m:t>24</m:t>
                        </m:r>
                      </m:den>
                    </m:f>
                  </m:oMath>
                </a14:m>
                <a:r>
                  <a:rPr lang="ko-KR" altLang="en-US" sz="17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: </a:t>
                </a:r>
                <a14:m>
                  <m:oMath xmlns:m="http://schemas.openxmlformats.org/officeDocument/2006/math">
                    <m:r>
                      <a:rPr lang="ko-KR" altLang="en-US" sz="17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ko-KR" altLang="en-US" sz="17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가 스스로 복제되는 증가 항.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ko-KR" altLang="en-US" sz="1700" i="1" dirty="0">
                        <a:latin typeface="Cambria Math" panose="02040503050406030204" pitchFamily="18" charset="0"/>
                      </a:rPr>
                      <m:t>－</m:t>
                    </m:r>
                    <m:r>
                      <a:rPr lang="ko-KR" altLang="en-US" sz="1700" i="1" dirty="0">
                        <a:latin typeface="Cambria Math" panose="02040503050406030204" pitchFamily="18" charset="0"/>
                      </a:rPr>
                      <m:t>𝑘𝑋𝑌</m:t>
                    </m:r>
                  </m:oMath>
                </a14:m>
                <a:r>
                  <a:rPr lang="ko-KR" altLang="en-US" sz="17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: </a:t>
                </a:r>
                <a14:m>
                  <m:oMath xmlns:m="http://schemas.openxmlformats.org/officeDocument/2006/math">
                    <m:r>
                      <a:rPr lang="ko-KR" altLang="en-US" sz="17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ko-KR" altLang="en-US" sz="17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와 </a:t>
                </a:r>
                <a14:m>
                  <m:oMath xmlns:m="http://schemas.openxmlformats.org/officeDocument/2006/math">
                    <m:r>
                      <a:rPr lang="ko-KR" altLang="en-US" sz="1700" i="1" dirty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ko-KR" altLang="en-US" sz="17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가 만나 </a:t>
                </a:r>
                <a14:m>
                  <m:oMath xmlns:m="http://schemas.openxmlformats.org/officeDocument/2006/math">
                    <m:r>
                      <a:rPr lang="ko-KR" altLang="en-US" sz="17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ko-KR" altLang="en-US" sz="17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가 소모되는 감소 항.</a:t>
                </a: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157BD95-8719-AE25-A87A-DC3525D52F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95950" y="3746903"/>
                <a:ext cx="6096000" cy="1107804"/>
              </a:xfrm>
              <a:prstGeom prst="rect">
                <a:avLst/>
              </a:prstGeom>
              <a:blipFill>
                <a:blip r:embed="rId2"/>
                <a:stretch>
                  <a:fillRect l="-399" b="-6011"/>
                </a:stretch>
              </a:blipFill>
              <a:ln>
                <a:solidFill>
                  <a:schemeClr val="bg1">
                    <a:lumMod val="50000"/>
                  </a:schemeClr>
                </a:solidFill>
                <a:prstDash val="sysDot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BEFC8F03-4097-2B23-E3E7-269E0653C04F}"/>
                  </a:ext>
                </a:extLst>
              </p:cNvPr>
              <p:cNvSpPr txBox="1"/>
              <p:nvPr/>
            </p:nvSpPr>
            <p:spPr>
              <a:xfrm>
                <a:off x="5695950" y="5182668"/>
                <a:ext cx="6096000" cy="999313"/>
              </a:xfrm>
              <a:prstGeom prst="rect">
                <a:avLst/>
              </a:prstGeom>
              <a:noFill/>
              <a:ln>
                <a:solidFill>
                  <a:schemeClr val="bg1">
                    <a:lumMod val="50000"/>
                  </a:schemeClr>
                </a:solidFill>
                <a:prstDash val="sysDot"/>
              </a:ln>
            </p:spPr>
            <p:txBody>
              <a:bodyPr wrap="square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f>
                      <m:fPr>
                        <m:ctrlPr>
                          <a:rPr lang="ko-KR" altLang="en-US" sz="17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ko-KR" altLang="en-US" sz="1700" smtClean="0">
                            <a:latin typeface="Cambria Math" panose="02040503050406030204" pitchFamily="18" charset="0"/>
                          </a:rPr>
                          <m:t>ⅆ</m:t>
                        </m:r>
                        <m:r>
                          <a:rPr lang="ko-KR" altLang="en-US" sz="1700" i="1" smtClean="0">
                            <a:latin typeface="Cambria Math" panose="02040503050406030204" pitchFamily="18" charset="0"/>
                          </a:rPr>
                          <m:t>𝑌</m:t>
                        </m:r>
                      </m:num>
                      <m:den>
                        <m:r>
                          <a:rPr lang="ko-KR" altLang="en-US" sz="1700" i="0" smtClean="0">
                            <a:latin typeface="Cambria Math" panose="02040503050406030204" pitchFamily="18" charset="0"/>
                          </a:rPr>
                          <m:t>ⅆ</m:t>
                        </m:r>
                        <m:r>
                          <a:rPr lang="ko-KR" altLang="en-US" sz="1700" i="1" smtClean="0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r>
                      <a:rPr lang="ko-KR" altLang="en-US" sz="170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ko-KR" altLang="en-US" sz="1700" i="1" dirty="0">
                        <a:latin typeface="Cambria Math" panose="02040503050406030204" pitchFamily="18" charset="0"/>
                      </a:rPr>
                      <m:t>𝑘𝑋</m:t>
                    </m:r>
                    <m:r>
                      <a:rPr lang="ko-KR" altLang="en-US" sz="1700" i="1" dirty="0" err="1">
                        <a:latin typeface="Cambria Math" panose="02040503050406030204" pitchFamily="18" charset="0"/>
                      </a:rPr>
                      <m:t>𝑌</m:t>
                    </m:r>
                    <m:r>
                      <a:rPr lang="ko-KR" altLang="en-US" sz="1700" i="0" smtClean="0">
                        <a:latin typeface="Cambria Math" panose="02040503050406030204" pitchFamily="18" charset="0"/>
                      </a:rPr>
                      <m:t>−ⅆ</m:t>
                    </m:r>
                    <m:r>
                      <a:rPr lang="ko-KR" altLang="en-US" sz="1700" i="1" smtClean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ko-KR" altLang="en-US" sz="17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: 　</a:t>
                </a:r>
                <a14:m>
                  <m:oMath xmlns:m="http://schemas.openxmlformats.org/officeDocument/2006/math">
                    <m:r>
                      <a:rPr lang="ko-KR" altLang="en-US" sz="1700" i="1" dirty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ko-KR" altLang="en-US" sz="17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의 양이 시간에 따라 어떻게 변하는지.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ko-KR" altLang="en-US" sz="1700" i="1" dirty="0" smtClean="0">
                        <a:latin typeface="Cambria Math" panose="02040503050406030204" pitchFamily="18" charset="0"/>
                      </a:rPr>
                      <m:t>＋</m:t>
                    </m:r>
                    <m:r>
                      <a:rPr lang="ko-KR" altLang="en-US" sz="1700" i="1" dirty="0">
                        <a:latin typeface="Cambria Math" panose="02040503050406030204" pitchFamily="18" charset="0"/>
                      </a:rPr>
                      <m:t>𝑘𝑋</m:t>
                    </m:r>
                    <m:r>
                      <a:rPr lang="ko-KR" altLang="en-US" sz="1700" i="1" dirty="0" err="1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ko-KR" altLang="en-US" sz="17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: </a:t>
                </a:r>
                <a14:m>
                  <m:oMath xmlns:m="http://schemas.openxmlformats.org/officeDocument/2006/math">
                    <m:r>
                      <a:rPr lang="ko-KR" altLang="en-US" sz="17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ko-KR" altLang="en-US" sz="17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와 </a:t>
                </a:r>
                <a14:m>
                  <m:oMath xmlns:m="http://schemas.openxmlformats.org/officeDocument/2006/math">
                    <m:r>
                      <a:rPr lang="ko-KR" altLang="en-US" sz="1700" i="1" dirty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ko-KR" altLang="en-US" sz="17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가 만나 </a:t>
                </a:r>
                <a14:m>
                  <m:oMath xmlns:m="http://schemas.openxmlformats.org/officeDocument/2006/math">
                    <m:r>
                      <a:rPr lang="ko-KR" altLang="en-US" sz="1700" i="1" dirty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ko-KR" altLang="en-US" sz="17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가 증가하는 증가 항.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ko-KR" altLang="en-US" sz="1700" i="1" dirty="0">
                        <a:latin typeface="Cambria Math" panose="02040503050406030204" pitchFamily="18" charset="0"/>
                      </a:rPr>
                      <m:t>－</m:t>
                    </m:r>
                    <m:r>
                      <a:rPr lang="ko-KR" altLang="en-US" sz="1700">
                        <a:latin typeface="Cambria Math" panose="02040503050406030204" pitchFamily="18" charset="0"/>
                      </a:rPr>
                      <m:t>ⅆ</m:t>
                    </m:r>
                    <m:r>
                      <a:rPr lang="ko-KR" altLang="en-US" sz="1700" i="1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ko-KR" altLang="en-US" sz="17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: </a:t>
                </a:r>
                <a14:m>
                  <m:oMath xmlns:m="http://schemas.openxmlformats.org/officeDocument/2006/math">
                    <m:r>
                      <a:rPr lang="ko-KR" altLang="en-US" sz="1700" i="1" dirty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ko-KR" altLang="en-US" sz="17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가 소멸되는 감소 항.</a:t>
                </a: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BEFC8F03-4097-2B23-E3E7-269E0653C0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95950" y="5182668"/>
                <a:ext cx="6096000" cy="999313"/>
              </a:xfrm>
              <a:prstGeom prst="rect">
                <a:avLst/>
              </a:prstGeom>
              <a:blipFill>
                <a:blip r:embed="rId3"/>
                <a:stretch>
                  <a:fillRect l="-399" b="-6627"/>
                </a:stretch>
              </a:blipFill>
              <a:ln>
                <a:solidFill>
                  <a:schemeClr val="bg1">
                    <a:lumMod val="50000"/>
                  </a:schemeClr>
                </a:solidFill>
                <a:prstDash val="sysDot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그림 4">
            <a:extLst>
              <a:ext uri="{FF2B5EF4-FFF2-40B4-BE49-F238E27FC236}">
                <a16:creationId xmlns:a16="http://schemas.microsoft.com/office/drawing/2014/main" id="{EDBFDED1-B5CB-0038-345F-FCB775FCE79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contrast="-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837864" y="3739833"/>
            <a:ext cx="1737511" cy="662997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06D45B05-3F32-1279-AADB-08759DB7577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bright="-2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837864" y="5184455"/>
            <a:ext cx="1722269" cy="670618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A5CA98D-1DC3-FF38-7C36-9416B0CDFE93}"/>
                  </a:ext>
                </a:extLst>
              </p:cNvPr>
              <p:cNvSpPr txBox="1"/>
              <p:nvPr/>
            </p:nvSpPr>
            <p:spPr>
              <a:xfrm>
                <a:off x="454511" y="3914870"/>
                <a:ext cx="65292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1800" i="1" dirty="0" smtClean="0">
                          <a:latin typeface="Cambria Math" panose="02040503050406030204" pitchFamily="18" charset="0"/>
                        </a:rPr>
                        <m:t>𝑋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A5CA98D-1DC3-FF38-7C36-9416B0CDFE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4511" y="3914870"/>
                <a:ext cx="652929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2D917CD-D06F-8342-BF29-D25FA66D84EE}"/>
                  </a:ext>
                </a:extLst>
              </p:cNvPr>
              <p:cNvSpPr txBox="1"/>
              <p:nvPr/>
            </p:nvSpPr>
            <p:spPr>
              <a:xfrm>
                <a:off x="454511" y="5255575"/>
                <a:ext cx="97551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ko-KR" altLang="en-US" sz="1800" i="1" dirty="0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altLang="ko-KR" sz="1800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ko-KR" altLang="en-US" i="1" dirty="0">
                        <a:latin typeface="Cambria Math" panose="02040503050406030204" pitchFamily="18" charset="0"/>
                      </a:rPr>
                      <m:t>＋</m:t>
                    </m:r>
                  </m:oMath>
                </a14:m>
                <a:r>
                  <a:rPr lang="ko-KR" altLang="en-US" dirty="0"/>
                  <a:t> </a:t>
                </a:r>
                <a14:m>
                  <m:oMath xmlns:m="http://schemas.openxmlformats.org/officeDocument/2006/math">
                    <m:r>
                      <a:rPr lang="ko-KR" altLang="en-US" i="1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endParaRPr lang="ko-KR" altLang="en-US" dirty="0"/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2D917CD-D06F-8342-BF29-D25FA66D84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4511" y="5255575"/>
                <a:ext cx="975510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0081820-7717-617E-414D-9795A5CCF519}"/>
                  </a:ext>
                </a:extLst>
              </p:cNvPr>
              <p:cNvSpPr txBox="1"/>
              <p:nvPr/>
            </p:nvSpPr>
            <p:spPr>
              <a:xfrm>
                <a:off x="2741780" y="5255575"/>
                <a:ext cx="97551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ko-KR" altLang="en-US" i="1"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altLang="ko-KR" sz="1800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ko-KR" altLang="en-US" i="1" dirty="0">
                        <a:latin typeface="Cambria Math" panose="02040503050406030204" pitchFamily="18" charset="0"/>
                      </a:rPr>
                      <m:t>＋</m:t>
                    </m:r>
                  </m:oMath>
                </a14:m>
                <a:r>
                  <a:rPr lang="ko-KR" altLang="en-US" dirty="0"/>
                  <a:t> </a:t>
                </a:r>
                <a14:m>
                  <m:oMath xmlns:m="http://schemas.openxmlformats.org/officeDocument/2006/math">
                    <m:r>
                      <a:rPr lang="ko-KR" altLang="en-US" i="1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endParaRPr lang="ko-KR" altLang="en-US" dirty="0"/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0081820-7717-617E-414D-9795A5CCF5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41780" y="5255575"/>
                <a:ext cx="975510" cy="36933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6DE5EB4F-0821-B003-81CA-29E18BAC8F12}"/>
                  </a:ext>
                </a:extLst>
              </p:cNvPr>
              <p:cNvSpPr txBox="1"/>
              <p:nvPr/>
            </p:nvSpPr>
            <p:spPr>
              <a:xfrm>
                <a:off x="2741780" y="3914870"/>
                <a:ext cx="97551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ko-KR" altLang="en-US" sz="1800" i="1" dirty="0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altLang="ko-KR" sz="1800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ko-KR" altLang="en-US" i="1" dirty="0">
                        <a:latin typeface="Cambria Math" panose="02040503050406030204" pitchFamily="18" charset="0"/>
                      </a:rPr>
                      <m:t>＋</m:t>
                    </m:r>
                  </m:oMath>
                </a14:m>
                <a:r>
                  <a:rPr lang="ko-KR" altLang="en-US" dirty="0"/>
                  <a:t> </a:t>
                </a:r>
                <a14:m>
                  <m:oMath xmlns:m="http://schemas.openxmlformats.org/officeDocument/2006/math">
                    <m:r>
                      <a:rPr lang="ko-KR" altLang="en-US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endParaRPr lang="ko-KR" altLang="en-US" dirty="0"/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6DE5EB4F-0821-B003-81CA-29E18BAC8F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41780" y="3914870"/>
                <a:ext cx="975510" cy="369332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90D9C063-5369-C69C-E0B4-1274029A98F3}"/>
              </a:ext>
            </a:extLst>
          </p:cNvPr>
          <p:cNvCxnSpPr>
            <a:cxnSpLocks/>
            <a:stCxn id="9" idx="3"/>
            <a:endCxn id="12" idx="1"/>
          </p:cNvCxnSpPr>
          <p:nvPr/>
        </p:nvCxnSpPr>
        <p:spPr>
          <a:xfrm>
            <a:off x="1107440" y="4099536"/>
            <a:ext cx="16343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43DB4534-49B1-6F64-BF85-5067A640AB67}"/>
              </a:ext>
            </a:extLst>
          </p:cNvPr>
          <p:cNvSpPr txBox="1"/>
          <p:nvPr/>
        </p:nvSpPr>
        <p:spPr>
          <a:xfrm>
            <a:off x="1538530" y="3669666"/>
            <a:ext cx="7721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1/24</a:t>
            </a:r>
            <a:endParaRPr lang="ko-KR" altLang="en-US" sz="1400" dirty="0"/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9A198041-6AC5-383B-4234-34E6192E933C}"/>
              </a:ext>
            </a:extLst>
          </p:cNvPr>
          <p:cNvCxnSpPr>
            <a:cxnSpLocks/>
            <a:stCxn id="10" idx="3"/>
            <a:endCxn id="11" idx="1"/>
          </p:cNvCxnSpPr>
          <p:nvPr/>
        </p:nvCxnSpPr>
        <p:spPr>
          <a:xfrm>
            <a:off x="1430021" y="5440241"/>
            <a:ext cx="1311759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3A93524F-66A7-C4A9-9346-A4BA2CF046F1}"/>
              </a:ext>
            </a:extLst>
          </p:cNvPr>
          <p:cNvSpPr txBox="1"/>
          <p:nvPr/>
        </p:nvSpPr>
        <p:spPr>
          <a:xfrm>
            <a:off x="1619810" y="4964800"/>
            <a:ext cx="7721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1/24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3598958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9" grpId="0"/>
      <p:bldP spid="10" grpId="0"/>
      <p:bldP spid="11" grpId="0"/>
      <p:bldP spid="12" grpId="0"/>
      <p:bldP spid="14" grpId="0"/>
      <p:bldP spid="16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4660FD-E99D-D988-2B0E-5229AE05B4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B9DD9F4E-0D7D-776B-7505-4C818F90F0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Differential Equation</a:t>
            </a:r>
            <a:endParaRPr lang="ko-KR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B3DB7B7C-2481-58D4-8C51-AE9453CA6D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59</a:t>
            </a:fld>
            <a:endParaRPr lang="en-US" dirty="0"/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4C3E6F98-F6E9-2CB8-A4A8-C95382A9B5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5384" y="1113457"/>
            <a:ext cx="10876566" cy="175798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X,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 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Y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에 대한 미분방정식을 만들고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, 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시간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(t)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에 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X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와 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Y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의 그래프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(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snippet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)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 제시하라</a:t>
            </a:r>
            <a:endParaRPr lang="en-US" altLang="ko-KR" sz="19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  <a:sym typeface="Wingdings" panose="05000000000000000000" pitchFamily="2" charset="2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초기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 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정상세포와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 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감염세포의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 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수를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 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변경하면서 확인하라</a:t>
            </a:r>
            <a:endParaRPr lang="en-US" altLang="ko-KR" sz="17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  <a:sym typeface="Wingdings" panose="05000000000000000000" pitchFamily="2" charset="2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감염률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(k)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과 감염세포의 </a:t>
            </a:r>
            <a:r>
              <a:rPr lang="ko-KR" altLang="en-US" sz="17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소멸율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(d)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가 변화하면 어떤 그래프 모양인지 확인하라</a:t>
            </a:r>
            <a:endParaRPr lang="en-US" altLang="ko-KR" sz="17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  <a:sym typeface="Wingdings" panose="05000000000000000000" pitchFamily="2" charset="2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19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EECBC3E-0DFD-90E3-AB55-0B8DDACFF5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87188" y="2871439"/>
            <a:ext cx="6333142" cy="34311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2E0D2AA-2F8E-3F86-EDCA-19510A4FC9A9}"/>
              </a:ext>
            </a:extLst>
          </p:cNvPr>
          <p:cNvSpPr txBox="1"/>
          <p:nvPr/>
        </p:nvSpPr>
        <p:spPr>
          <a:xfrm>
            <a:off x="8435659" y="3986561"/>
            <a:ext cx="3756341" cy="5027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k = 0.1      # Reaction rate for X + Y → Y + Y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 = 0.05   # Decay rate of Y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B2B866B-E6FD-215D-D54D-20A7387A18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92134" y="2871439"/>
            <a:ext cx="870945" cy="9570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894846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64AEA5-9006-EB24-FDDB-0055E87BD5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9D749A40-9BBB-899D-59C0-D2DF0EE647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Differential Equation</a:t>
            </a:r>
            <a:endParaRPr lang="ko-KR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024ADDE5-34BE-329C-8078-7E458126D0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60</a:t>
            </a:fld>
            <a:endParaRPr lang="en-US" dirty="0"/>
          </a:p>
        </p:txBody>
      </p:sp>
      <p:pic>
        <p:nvPicPr>
          <p:cNvPr id="19" name="Picture 3">
            <a:extLst>
              <a:ext uri="{FF2B5EF4-FFF2-40B4-BE49-F238E27FC236}">
                <a16:creationId xmlns:a16="http://schemas.microsoft.com/office/drawing/2014/main" id="{1DA27186-1ACA-6302-0BC0-54B76F14B2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33616" y="2851047"/>
            <a:ext cx="4913104" cy="36653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20" name="내용 개체 틀 2">
                <a:extLst>
                  <a:ext uri="{FF2B5EF4-FFF2-40B4-BE49-F238E27FC236}">
                    <a16:creationId xmlns:a16="http://schemas.microsoft.com/office/drawing/2014/main" id="{A86EE2C1-9794-C1FA-DDBD-72517AC7D68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15384" y="1113456"/>
                <a:ext cx="10876566" cy="1895484"/>
              </a:xfrm>
            </p:spPr>
            <p:txBody>
              <a:bodyPr>
                <a:normAutofit fontScale="85000" lnSpcReduction="20000"/>
              </a:bodyPr>
              <a:lstStyle/>
              <a:p>
                <a:pPr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24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S</a:t>
                </a:r>
                <a:r>
                  <a:rPr lang="ko-KR" altLang="en-US" sz="24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자 곡선</a:t>
                </a:r>
                <a:r>
                  <a:rPr lang="en-US" altLang="ko-KR" sz="24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(S-shape)' </a:t>
                </a:r>
                <a:r>
                  <a:rPr lang="ko-KR" altLang="en-US" sz="24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형태의 전염병 확산 모델</a:t>
                </a:r>
                <a:endParaRPr lang="en-US" altLang="ko-KR" sz="2400" cap="none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  <a:sym typeface="Wingdings" panose="05000000000000000000" pitchFamily="2" charset="2"/>
                </a:endParaRP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ko-KR" altLang="en-US" sz="20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전염병 모델링에서 가장 대표적인 </a:t>
                </a:r>
                <a:r>
                  <a:rPr lang="en-US" altLang="ko-KR" sz="20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'S-</a:t>
                </a:r>
                <a:r>
                  <a:rPr lang="ko-KR" altLang="en-US" sz="20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자</a:t>
                </a:r>
                <a:r>
                  <a:rPr lang="en-US" altLang="ko-KR" sz="20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' </a:t>
                </a:r>
                <a:r>
                  <a:rPr lang="ko-KR" altLang="en-US" sz="20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곡선은 로지스틱 성장 모델</a:t>
                </a:r>
                <a:r>
                  <a:rPr lang="en-US" altLang="ko-KR" sz="20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(Logistic Growth Model)</a:t>
                </a:r>
              </a:p>
              <a:p>
                <a:pPr lvl="1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sz="20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이 모델은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ko-KR" altLang="en-US" sz="200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ko-KR" altLang="en-US" sz="2000" dirty="0" err="1">
                            <a:latin typeface="Cambria Math" panose="02040503050406030204" pitchFamily="18" charset="0"/>
                          </a:rPr>
                          <m:t>ⅆ</m:t>
                        </m:r>
                        <m:r>
                          <a:rPr lang="ko-KR" altLang="en-US" sz="2000" i="1" dirty="0" err="1">
                            <a:latin typeface="Cambria Math" panose="02040503050406030204" pitchFamily="18" charset="0"/>
                          </a:rPr>
                          <m:t>𝑋</m:t>
                        </m:r>
                      </m:num>
                      <m:den>
                        <m:r>
                          <a:rPr lang="ko-KR" altLang="en-US" sz="2000" dirty="0" err="1">
                            <a:latin typeface="Cambria Math" panose="02040503050406030204" pitchFamily="18" charset="0"/>
                          </a:rPr>
                          <m:t>ⅆ</m:t>
                        </m:r>
                        <m:r>
                          <a:rPr lang="ko-KR" altLang="en-US" sz="2000" i="1" dirty="0" err="1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r>
                      <a:rPr lang="ko-KR" altLang="en-US" sz="2000" dirty="0" err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ko-KR" altLang="en-US" sz="2000" i="1" dirty="0" err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ko-KR" altLang="en-US" sz="2000" i="1" dirty="0" err="1">
                            <a:latin typeface="Cambria Math" panose="02040503050406030204" pitchFamily="18" charset="0"/>
                          </a:rPr>
                          <m:t>𝑋</m:t>
                        </m:r>
                      </m:num>
                      <m:den>
                        <m:r>
                          <a:rPr lang="ko-KR" altLang="en-US" sz="2000" dirty="0" err="1">
                            <a:latin typeface="Cambria Math" panose="02040503050406030204" pitchFamily="18" charset="0"/>
                          </a:rPr>
                          <m:t>24</m:t>
                        </m:r>
                      </m:den>
                    </m:f>
                  </m:oMath>
                </a14:m>
                <a:r>
                  <a:rPr lang="ko-KR" altLang="en-US" sz="20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와 같은 단순한 미분방정식으로 표현되지 않으며</a:t>
                </a:r>
                <a:r>
                  <a:rPr lang="en-US" altLang="ko-KR" sz="20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, </a:t>
                </a:r>
                <a:r>
                  <a:rPr lang="ko-KR" altLang="en-US" sz="20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인구 수에 비례하여 확산 속도가 달라지는 형태</a:t>
                </a:r>
                <a:endParaRPr lang="en-US" altLang="ko-KR" sz="2000" cap="none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  <a:sym typeface="Wingdings" panose="05000000000000000000" pitchFamily="2" charset="2"/>
                </a:endParaRPr>
              </a:p>
              <a:p>
                <a:pPr lvl="1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endParaRPr lang="en-US" altLang="ko-KR" sz="2800" cap="none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>
          <p:sp>
            <p:nvSpPr>
              <p:cNvPr id="20" name="내용 개체 틀 2">
                <a:extLst>
                  <a:ext uri="{FF2B5EF4-FFF2-40B4-BE49-F238E27FC236}">
                    <a16:creationId xmlns:a16="http://schemas.microsoft.com/office/drawing/2014/main" id="{A86EE2C1-9794-C1FA-DDBD-72517AC7D68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15384" y="1113456"/>
                <a:ext cx="10876566" cy="1895484"/>
              </a:xfrm>
              <a:blipFill>
                <a:blip r:embed="rId3"/>
                <a:stretch>
                  <a:fillRect l="-224" r="-11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081536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B9CA68-25FD-5A44-8B75-29A9B13939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9FC0E191-BBE0-B8E7-2D67-C4E4F01367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Differential Equation</a:t>
            </a:r>
            <a:endParaRPr lang="ko-KR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CB8A9F04-3CDC-9615-1CAC-5C9FB352D5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61</a:t>
            </a:fld>
            <a:endParaRPr lang="en-US" dirty="0"/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BA7A6C9A-3EE0-44FB-5485-99F3AF2607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5384" y="1113457"/>
            <a:ext cx="10876566" cy="69886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S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자 곡선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(S-shape)'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형태의 전염병 확산 모델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  <a:sym typeface="Wingdings" panose="05000000000000000000" pitchFamily="2" charset="2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24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3" name="Picture 5">
            <a:extLst>
              <a:ext uri="{FF2B5EF4-FFF2-40B4-BE49-F238E27FC236}">
                <a16:creationId xmlns:a16="http://schemas.microsoft.com/office/drawing/2014/main" id="{05015587-3BF1-D836-871E-92509A13FA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5385" y="1970212"/>
            <a:ext cx="5292048" cy="34367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2">
            <a:extLst>
              <a:ext uri="{FF2B5EF4-FFF2-40B4-BE49-F238E27FC236}">
                <a16:creationId xmlns:a16="http://schemas.microsoft.com/office/drawing/2014/main" id="{DDB58511-27CA-A866-3E0E-10B0F9012E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55296" y="1970212"/>
            <a:ext cx="4941496" cy="34367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58788460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23F444-D16E-2075-8F5F-591065AFE1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36DBE527-E376-4249-B8F7-FDF0931034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Differential Equation</a:t>
            </a:r>
            <a:endParaRPr lang="ko-KR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871BBED6-4F12-9335-7B53-2ED8DEAF72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62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9143503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이온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3069</TotalTime>
  <Words>4840</Words>
  <Application>Microsoft Office PowerPoint</Application>
  <PresentationFormat>와이드스크린</PresentationFormat>
  <Paragraphs>651</Paragraphs>
  <Slides>62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62</vt:i4>
      </vt:variant>
    </vt:vector>
  </HeadingPairs>
  <TitlesOfParts>
    <vt:vector size="72" baseType="lpstr">
      <vt:lpstr>D2Coding</vt:lpstr>
      <vt:lpstr>맑은 고딕</vt:lpstr>
      <vt:lpstr>맑은 고딕 Semilight</vt:lpstr>
      <vt:lpstr>Arial</vt:lpstr>
      <vt:lpstr>Cambria Math</vt:lpstr>
      <vt:lpstr>Century Gothic</vt:lpstr>
      <vt:lpstr>Times New Roman</vt:lpstr>
      <vt:lpstr>Wingdings</vt:lpstr>
      <vt:lpstr>Wingdings 3</vt:lpstr>
      <vt:lpstr>이온</vt:lpstr>
      <vt:lpstr>Calculus</vt:lpstr>
      <vt:lpstr>Contents</vt:lpstr>
      <vt:lpstr>Modeling</vt:lpstr>
      <vt:lpstr>Abstract + Object</vt:lpstr>
      <vt:lpstr>Abstract + Object</vt:lpstr>
      <vt:lpstr>OOP - python</vt:lpstr>
      <vt:lpstr>Proto_OOP – java script</vt:lpstr>
      <vt:lpstr>Contents</vt:lpstr>
      <vt:lpstr>python sympy</vt:lpstr>
      <vt:lpstr>python sympy</vt:lpstr>
      <vt:lpstr>Contents</vt:lpstr>
      <vt:lpstr>Time &amp; Space</vt:lpstr>
      <vt:lpstr>Time &amp; Space</vt:lpstr>
      <vt:lpstr>Time &amp; Space</vt:lpstr>
      <vt:lpstr>Time &amp; Space</vt:lpstr>
      <vt:lpstr>Time &amp; Space</vt:lpstr>
      <vt:lpstr>Time &amp; Space</vt:lpstr>
      <vt:lpstr>Time &amp; Space</vt:lpstr>
      <vt:lpstr>Time &amp; Space</vt:lpstr>
      <vt:lpstr>Time &amp; Space</vt:lpstr>
      <vt:lpstr>Time &amp; Space</vt:lpstr>
      <vt:lpstr>Contents</vt:lpstr>
      <vt:lpstr>Optimization</vt:lpstr>
      <vt:lpstr>Optimization</vt:lpstr>
      <vt:lpstr>Optimization</vt:lpstr>
      <vt:lpstr>Optimization</vt:lpstr>
      <vt:lpstr>Contents</vt:lpstr>
      <vt:lpstr>Optimization of Loss Function</vt:lpstr>
      <vt:lpstr>Optimization of Loss Function</vt:lpstr>
      <vt:lpstr>Optimization of Loss Function</vt:lpstr>
      <vt:lpstr>Optimization of Loss Function</vt:lpstr>
      <vt:lpstr>Loss Functions</vt:lpstr>
      <vt:lpstr>Loss Functions</vt:lpstr>
      <vt:lpstr>Contents</vt:lpstr>
      <vt:lpstr>Simulation</vt:lpstr>
      <vt:lpstr>Short-Cut algorithm</vt:lpstr>
      <vt:lpstr>Short-Cut algorithm</vt:lpstr>
      <vt:lpstr>Short-Cut algorithm</vt:lpstr>
      <vt:lpstr>Short-Cut algorithm</vt:lpstr>
      <vt:lpstr>Simulation</vt:lpstr>
      <vt:lpstr>Simulation</vt:lpstr>
      <vt:lpstr>Simulation</vt:lpstr>
      <vt:lpstr>Random walk simulation</vt:lpstr>
      <vt:lpstr>Random walk simulation</vt:lpstr>
      <vt:lpstr>Random walk simulation</vt:lpstr>
      <vt:lpstr>Bootstrap sampling</vt:lpstr>
      <vt:lpstr>Bootstrap sampling</vt:lpstr>
      <vt:lpstr>Bootstrap sampling</vt:lpstr>
      <vt:lpstr>Central Limit Theorm</vt:lpstr>
      <vt:lpstr>Prince Frog</vt:lpstr>
      <vt:lpstr>Monty Hall</vt:lpstr>
      <vt:lpstr>Genetic algorithm</vt:lpstr>
      <vt:lpstr>Differential Equation</vt:lpstr>
      <vt:lpstr>Differential Equation</vt:lpstr>
      <vt:lpstr>Differential Equation</vt:lpstr>
      <vt:lpstr>Differential Equation</vt:lpstr>
      <vt:lpstr>Differential Equation</vt:lpstr>
      <vt:lpstr>Differential Equation</vt:lpstr>
      <vt:lpstr>Differential Equation</vt:lpstr>
      <vt:lpstr>Differential Equation</vt:lpstr>
      <vt:lpstr>Differential Equation</vt:lpstr>
      <vt:lpstr>Differential Equation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Sanggoo Cho</dc:creator>
  <cp:lastModifiedBy>Sanggoo Cho</cp:lastModifiedBy>
  <cp:revision>19</cp:revision>
  <dcterms:created xsi:type="dcterms:W3CDTF">2026-04-11T22:24:40Z</dcterms:created>
  <dcterms:modified xsi:type="dcterms:W3CDTF">2026-05-12T11:03:42Z</dcterms:modified>
</cp:coreProperties>
</file>