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48" r:id="rId1"/>
  </p:sldMasterIdLst>
  <p:notesMasterIdLst>
    <p:notesMasterId r:id="rId62"/>
  </p:notesMasterIdLst>
  <p:sldIdLst>
    <p:sldId id="256" r:id="rId2"/>
    <p:sldId id="274" r:id="rId3"/>
    <p:sldId id="257" r:id="rId4"/>
    <p:sldId id="290" r:id="rId5"/>
    <p:sldId id="313" r:id="rId6"/>
    <p:sldId id="314" r:id="rId7"/>
    <p:sldId id="315" r:id="rId8"/>
    <p:sldId id="316" r:id="rId9"/>
    <p:sldId id="342" r:id="rId10"/>
    <p:sldId id="260" r:id="rId11"/>
    <p:sldId id="265" r:id="rId12"/>
    <p:sldId id="343" r:id="rId13"/>
    <p:sldId id="379" r:id="rId14"/>
    <p:sldId id="380" r:id="rId15"/>
    <p:sldId id="358" r:id="rId16"/>
    <p:sldId id="381" r:id="rId17"/>
    <p:sldId id="259" r:id="rId18"/>
    <p:sldId id="318" r:id="rId19"/>
    <p:sldId id="359" r:id="rId20"/>
    <p:sldId id="360" r:id="rId21"/>
    <p:sldId id="361" r:id="rId22"/>
    <p:sldId id="317" r:id="rId23"/>
    <p:sldId id="319" r:id="rId24"/>
    <p:sldId id="284" r:id="rId25"/>
    <p:sldId id="287" r:id="rId26"/>
    <p:sldId id="286" r:id="rId27"/>
    <p:sldId id="266" r:id="rId28"/>
    <p:sldId id="288" r:id="rId29"/>
    <p:sldId id="382" r:id="rId30"/>
    <p:sldId id="267" r:id="rId31"/>
    <p:sldId id="285" r:id="rId32"/>
    <p:sldId id="272" r:id="rId33"/>
    <p:sldId id="273" r:id="rId34"/>
    <p:sldId id="383" r:id="rId35"/>
    <p:sldId id="269" r:id="rId36"/>
    <p:sldId id="384" r:id="rId37"/>
    <p:sldId id="308" r:id="rId38"/>
    <p:sldId id="320" r:id="rId39"/>
    <p:sldId id="387" r:id="rId40"/>
    <p:sldId id="388" r:id="rId41"/>
    <p:sldId id="394" r:id="rId42"/>
    <p:sldId id="393" r:id="rId43"/>
    <p:sldId id="310" r:id="rId44"/>
    <p:sldId id="389" r:id="rId45"/>
    <p:sldId id="390" r:id="rId46"/>
    <p:sldId id="391" r:id="rId47"/>
    <p:sldId id="395" r:id="rId48"/>
    <p:sldId id="392" r:id="rId49"/>
    <p:sldId id="311" r:id="rId50"/>
    <p:sldId id="312" r:id="rId51"/>
    <p:sldId id="385" r:id="rId52"/>
    <p:sldId id="321" r:id="rId53"/>
    <p:sldId id="322" r:id="rId54"/>
    <p:sldId id="323" r:id="rId55"/>
    <p:sldId id="324" r:id="rId56"/>
    <p:sldId id="386" r:id="rId57"/>
    <p:sldId id="335" r:id="rId58"/>
    <p:sldId id="336" r:id="rId59"/>
    <p:sldId id="337" r:id="rId60"/>
    <p:sldId id="338" r:id="rId6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8FB837D-C827-4EFA-A057-4D05807E0F7C}" styleName="테마 스타일 1 - 강조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638B1855-1B75-4FBE-930C-398BA8C253C6}" styleName="테마 스타일 2 - 강조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10A1B5D5-9B99-4C35-A422-299274C87663}" styleName="보통 스타일 1 - 강조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5DA37D80-6434-44D0-A028-1B22A696006F}" styleName="밝은 스타일 3 - 강조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75" d="100"/>
          <a:sy n="75" d="100"/>
        </p:scale>
        <p:origin x="1950" y="72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9156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08017EF-B0C5-4F2B-99F2-8DD7659ECF32}" type="datetimeFigureOut">
              <a:rPr lang="ko-KR" altLang="en-US" smtClean="0"/>
              <a:t>2026-06-05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0233B1C-0D5F-42ED-944D-ADB4310BB8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37322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6/5/2026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6/5/2026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6/5/2026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6/5/2026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6/5/2026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6/5/2026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6/5/2026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파노라마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캡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인용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명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6/5/2026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그림 열 3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6/5/2026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AAD347D-5ACD-4C99-B74B-A9C85AD731AF}" type="datetimeFigureOut">
              <a:rPr lang="en-US" dirty="0"/>
              <a:t>6/5/2026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64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1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latinLnBrk="1" hangingPunct="1">
        <a:defRPr>
          <a:solidFill>
            <a:schemeClr val="tx2"/>
          </a:solidFill>
        </a:defRPr>
      </a:lvl2pPr>
      <a:lvl3pPr eaLnBrk="1" latinLnBrk="1" hangingPunct="1">
        <a:defRPr>
          <a:solidFill>
            <a:schemeClr val="tx2"/>
          </a:solidFill>
        </a:defRPr>
      </a:lvl3pPr>
      <a:lvl4pPr eaLnBrk="1" latinLnBrk="1" hangingPunct="1">
        <a:defRPr>
          <a:solidFill>
            <a:schemeClr val="tx2"/>
          </a:solidFill>
        </a:defRPr>
      </a:lvl4pPr>
      <a:lvl5pPr eaLnBrk="1" latinLnBrk="1" hangingPunct="1">
        <a:defRPr>
          <a:solidFill>
            <a:schemeClr val="tx2"/>
          </a:solidFill>
        </a:defRPr>
      </a:lvl5pPr>
      <a:lvl6pPr eaLnBrk="1" latinLnBrk="1" hangingPunct="1">
        <a:defRPr>
          <a:solidFill>
            <a:schemeClr val="tx2"/>
          </a:solidFill>
        </a:defRPr>
      </a:lvl6pPr>
      <a:lvl7pPr eaLnBrk="1" latinLnBrk="1" hangingPunct="1">
        <a:defRPr>
          <a:solidFill>
            <a:schemeClr val="tx2"/>
          </a:solidFill>
        </a:defRPr>
      </a:lvl7pPr>
      <a:lvl8pPr eaLnBrk="1" latinLnBrk="1" hangingPunct="1">
        <a:defRPr>
          <a:solidFill>
            <a:schemeClr val="tx2"/>
          </a:solidFill>
        </a:defRPr>
      </a:lvl8pPr>
      <a:lvl9pPr eaLnBrk="1" latin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hyperlink" Target="https://en.wikipedia.org/wiki/Function_(mathematics)" TargetMode="External"/><Relationship Id="rId7" Type="http://schemas.openxmlformats.org/officeDocument/2006/relationships/image" Target="../media/image10.png"/><Relationship Id="rId2" Type="http://schemas.openxmlformats.org/officeDocument/2006/relationships/hyperlink" Target="https://en.wikipedia.org/wiki/Derivative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hyperlink" Target="https://en.wikipedia.org/wiki/Derivative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gif"/><Relationship Id="rId10" Type="http://schemas.openxmlformats.org/officeDocument/2006/relationships/image" Target="../media/image21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2" Type="http://schemas.openxmlformats.org/officeDocument/2006/relationships/image" Target="../media/image7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10" Type="http://schemas.openxmlformats.org/officeDocument/2006/relationships/image" Target="../media/image30.svg"/><Relationship Id="rId4" Type="http://schemas.openxmlformats.org/officeDocument/2006/relationships/image" Target="../media/image25.jpeg"/><Relationship Id="rId9" Type="http://schemas.openxmlformats.org/officeDocument/2006/relationships/image" Target="../media/image30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ncestor9/mathematics-for-machine-learning/blob/main/Calculus/w2/data/prices.csv" TargetMode="Externa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hyperlink" Target="https://github.com/ancestor9/mathematics-for-machine-learning/blob/main/Calculus/w2/C2_W1_Assignment.ipynb" TargetMode="Externa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png"/><Relationship Id="rId3" Type="http://schemas.openxmlformats.org/officeDocument/2006/relationships/image" Target="../media/image52.png"/><Relationship Id="rId7" Type="http://schemas.openxmlformats.org/officeDocument/2006/relationships/image" Target="../media/image56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5.png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6.png"/><Relationship Id="rId3" Type="http://schemas.openxmlformats.org/officeDocument/2006/relationships/image" Target="../media/image62.png"/><Relationship Id="rId7" Type="http://schemas.openxmlformats.org/officeDocument/2006/relationships/image" Target="../media/image59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.png"/><Relationship Id="rId5" Type="http://schemas.openxmlformats.org/officeDocument/2006/relationships/image" Target="../media/image65.png"/><Relationship Id="rId10" Type="http://schemas.openxmlformats.org/officeDocument/2006/relationships/hyperlink" Target="https://en.wikipedia.org/wiki/Sign_function" TargetMode="External"/><Relationship Id="rId4" Type="http://schemas.openxmlformats.org/officeDocument/2006/relationships/image" Target="../media/image63.png"/><Relationship Id="rId9" Type="http://schemas.openxmlformats.org/officeDocument/2006/relationships/image" Target="../media/image67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3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6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.cornell.edu/courses/cs4780/2018sp/lectures/lecturenote08.html" TargetMode="External"/><Relationship Id="rId7" Type="http://schemas.openxmlformats.org/officeDocument/2006/relationships/hyperlink" Target="https://en.wikipedia.org/wiki/Linear_regression" TargetMode="External"/><Relationship Id="rId2" Type="http://schemas.openxmlformats.org/officeDocument/2006/relationships/hyperlink" Target="https://scikit-learn.org/stable/modules/linear_model.html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9.png"/><Relationship Id="rId5" Type="http://schemas.openxmlformats.org/officeDocument/2006/relationships/image" Target="../media/image78.png"/><Relationship Id="rId4" Type="http://schemas.openxmlformats.org/officeDocument/2006/relationships/image" Target="../media/image77.png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hyperlink" Target="https://mlu-explain.github.io/bias-variance/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3.png"/><Relationship Id="rId4" Type="http://schemas.openxmlformats.org/officeDocument/2006/relationships/image" Target="../media/image82.png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hyperlink" Target="https://scikit-learn.org/stable/auto_examples/linear_model/plot_ols_ridge.html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6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png"/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scikit-learn.org/stable/auto_examples/linear_model/plot_sgd_loss_functions.html" TargetMode="External"/><Relationship Id="rId4" Type="http://schemas.openxmlformats.org/officeDocument/2006/relationships/image" Target="../media/image93.png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png"/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png"/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0.png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png"/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3E07EC-FAE3-CD22-0A12-F95D0F9FDF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4" y="1447800"/>
            <a:ext cx="10465545" cy="1362075"/>
          </a:xfrm>
        </p:spPr>
        <p:txBody>
          <a:bodyPr/>
          <a:lstStyle/>
          <a:p>
            <a:r>
              <a:rPr lang="en-US" altLang="ko-KR" sz="6600" dirty="0"/>
              <a:t>Modeling &amp; Simulation 1</a:t>
            </a:r>
            <a:endParaRPr lang="ko-KR" altLang="en-US" sz="66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C22A912-C269-5DE4-418A-0B0B11B2D1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3179265"/>
            <a:ext cx="8825658" cy="861420"/>
          </a:xfrm>
        </p:spPr>
        <p:txBody>
          <a:bodyPr>
            <a:normAutofit/>
          </a:bodyPr>
          <a:lstStyle/>
          <a:p>
            <a:r>
              <a:rPr lang="en-US" altLang="ko-KR" sz="2800" cap="none" dirty="0">
                <a:solidFill>
                  <a:schemeClr val="tx1"/>
                </a:solidFill>
              </a:rPr>
              <a:t>Calculus, Statistics, Probability, …..</a:t>
            </a:r>
            <a:endParaRPr lang="ko-KR" altLang="en-US" cap="none" dirty="0">
              <a:solidFill>
                <a:schemeClr val="tx1"/>
              </a:solidFill>
            </a:endParaRPr>
          </a:p>
        </p:txBody>
      </p:sp>
      <p:sp>
        <p:nvSpPr>
          <p:cNvPr id="4" name="부제목 2">
            <a:extLst>
              <a:ext uri="{FF2B5EF4-FFF2-40B4-BE49-F238E27FC236}">
                <a16:creationId xmlns:a16="http://schemas.microsoft.com/office/drawing/2014/main" id="{4126B61E-1F39-452D-5C3B-A004CC62B8A8}"/>
              </a:ext>
            </a:extLst>
          </p:cNvPr>
          <p:cNvSpPr txBox="1">
            <a:spLocks/>
          </p:cNvSpPr>
          <p:nvPr/>
        </p:nvSpPr>
        <p:spPr>
          <a:xfrm>
            <a:off x="1183530" y="4446090"/>
            <a:ext cx="8825658" cy="861420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10000"/>
          </a:bodyPr>
          <a:lstStyle>
            <a:lvl1pPr marL="0" indent="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ko-KR" sz="2800" cap="none" dirty="0"/>
              <a:t>2026 Spring</a:t>
            </a:r>
          </a:p>
          <a:p>
            <a:r>
              <a:rPr lang="ko-KR" altLang="en-US" sz="2200" cap="none" dirty="0" err="1"/>
              <a:t>조상구교수</a:t>
            </a:r>
            <a:endParaRPr lang="ko-KR" altLang="en-US" sz="2800" cap="none" dirty="0"/>
          </a:p>
        </p:txBody>
      </p:sp>
    </p:spTree>
    <p:extLst>
      <p:ext uri="{BB962C8B-B14F-4D97-AF65-F5344CB8AC3E}">
        <p14:creationId xmlns:p14="http://schemas.microsoft.com/office/powerpoint/2010/main" val="28983045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577253-55D9-C5A4-DDCA-2C64C197D7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3729BEC0-2EC4-2A16-AF3A-F5E8C4679D53}"/>
              </a:ext>
            </a:extLst>
          </p:cNvPr>
          <p:cNvSpPr/>
          <p:nvPr/>
        </p:nvSpPr>
        <p:spPr>
          <a:xfrm>
            <a:off x="1104901" y="1498696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C5E9264-71FE-D065-0983-B32E540572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4DBA114-17ED-5D92-F01E-E672ACB5D2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sympy</a:t>
            </a:r>
            <a:endParaRPr lang="en-US" altLang="ko-KR" sz="1800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Derivative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Programming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8C30838-4E3E-A4C9-B8DA-D8F8AF26F2BB}"/>
              </a:ext>
            </a:extLst>
          </p:cNvPr>
          <p:cNvSpPr txBox="1"/>
          <p:nvPr/>
        </p:nvSpPr>
        <p:spPr>
          <a:xfrm>
            <a:off x="7239000" y="1338537"/>
            <a:ext cx="4400550" cy="33290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Random projection</a:t>
            </a:r>
          </a:p>
        </p:txBody>
      </p:sp>
    </p:spTree>
    <p:extLst>
      <p:ext uri="{BB962C8B-B14F-4D97-AF65-F5344CB8AC3E}">
        <p14:creationId xmlns:p14="http://schemas.microsoft.com/office/powerpoint/2010/main" val="5506869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B884FF29-4B25-404E-81DC-1CCAE143CF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9994572" cy="435544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복잡한 현실 세계의 현상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시스템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사물 등을 일정한 규칙이나 관점에 따라 </a:t>
            </a:r>
            <a:r>
              <a:rPr lang="ko-KR" altLang="en-US" sz="1800" dirty="0" err="1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추상화하여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단순한 형태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모델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로 표현하는 과정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추상화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단순화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미래에 대한 결과를 논리적으로 추정하는 행위</a:t>
            </a:r>
            <a:endParaRPr lang="en-US" altLang="ko-KR" sz="18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통계적 모델링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 err="1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머신러닝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모델링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시뮬레이션 및 테스트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수학적 모델링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데이터베이스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모델링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(ERD)……</a:t>
            </a: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7960D66E-6DAA-C869-2E3C-06CF487E31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49230" y="3194913"/>
            <a:ext cx="4608512" cy="30231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제목 1">
            <a:extLst>
              <a:ext uri="{FF2B5EF4-FFF2-40B4-BE49-F238E27FC236}">
                <a16:creationId xmlns:a16="http://schemas.microsoft.com/office/drawing/2014/main" id="{26D14F0A-2182-0C24-04C8-A2858EE5C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Modeling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60C3A8B-E6BF-2A69-18BA-06D331E7D6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17586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F73C1C-752E-1492-75CD-9260CD39C1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80209EB2-DA90-3A5C-9F40-6CC699307D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E65A7FF-E730-2207-3FF2-2E5E8228A8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</a:t>
            </a:fld>
            <a:endParaRPr 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CF9EEEA1-E59F-8F64-113D-54452538E7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7717" y="1661628"/>
            <a:ext cx="10876566" cy="3936532"/>
          </a:xfrm>
        </p:spPr>
        <p:txBody>
          <a:bodyPr>
            <a:normAutofit fontScale="92500" lnSpcReduction="10000"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불확실한 결과를 예측하기 위해 반복적인 무작위 추출을 사용하는 통계적 기법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결과가 확률에 의존하는 도박처럼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수학적으로 계산하기 너무 복잡한 문제들을 수만 번의 가상 실험을 통해 그 근삿값을 찾아내는 방식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몬테카를로의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작동 원리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변수 정의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결과에 영향을 주는 불확실한 요소들을 정의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확률 분포 할당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각 변수가 가질 수 있는 값의 범위와 확률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정규분포 등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설정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반복 실험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컴퓨터를 이용해 무작위 값을 입력하며 수천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수만 번의 시뮬레이션을 실행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결과 분석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도출된 수많은 결과값의 평균이나 분포를 통해 최종 결과를 예측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707148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2EC0F1-45B0-02D2-01DD-EEBCC8B11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BADDB57D-11B6-0AD2-0C31-FBCCB80C1D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 + Object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C34F863-C394-51E7-8700-7871213B04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</a:t>
            </a:fld>
            <a:endParaRPr lang="en-US" dirty="0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22B8655C-497D-4F31-C687-69B4C8092C2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40888"/>
              </p:ext>
            </p:extLst>
          </p:nvPr>
        </p:nvGraphicFramePr>
        <p:xfrm>
          <a:off x="1037302" y="2721743"/>
          <a:ext cx="10839737" cy="3021640"/>
        </p:xfrm>
        <a:graphic>
          <a:graphicData uri="http://schemas.openxmlformats.org/drawingml/2006/table">
            <a:tbl>
              <a:tblPr>
                <a:tableStyleId>{08FB837D-C827-4EFA-A057-4D05807E0F7C}</a:tableStyleId>
              </a:tblPr>
              <a:tblGrid>
                <a:gridCol w="1990378">
                  <a:extLst>
                    <a:ext uri="{9D8B030D-6E8A-4147-A177-3AD203B41FA5}">
                      <a16:colId xmlns:a16="http://schemas.microsoft.com/office/drawing/2014/main" val="2013210951"/>
                    </a:ext>
                  </a:extLst>
                </a:gridCol>
                <a:gridCol w="1615440">
                  <a:extLst>
                    <a:ext uri="{9D8B030D-6E8A-4147-A177-3AD203B41FA5}">
                      <a16:colId xmlns:a16="http://schemas.microsoft.com/office/drawing/2014/main" val="912667715"/>
                    </a:ext>
                  </a:extLst>
                </a:gridCol>
                <a:gridCol w="3677920">
                  <a:extLst>
                    <a:ext uri="{9D8B030D-6E8A-4147-A177-3AD203B41FA5}">
                      <a16:colId xmlns:a16="http://schemas.microsoft.com/office/drawing/2014/main" val="1005779961"/>
                    </a:ext>
                  </a:extLst>
                </a:gridCol>
                <a:gridCol w="3555999">
                  <a:extLst>
                    <a:ext uri="{9D8B030D-6E8A-4147-A177-3AD203B41FA5}">
                      <a16:colId xmlns:a16="http://schemas.microsoft.com/office/drawing/2014/main" val="3215655874"/>
                    </a:ext>
                  </a:extLst>
                </a:gridCol>
              </a:tblGrid>
              <a:tr h="589700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단계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주요 활동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설명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구성 요소</a:t>
                      </a:r>
                    </a:p>
                  </a:txBody>
                  <a:tcPr marL="22860" marR="22860" marT="15240" marB="15240" anchor="ctr"/>
                </a:tc>
                <a:extLst>
                  <a:ext uri="{0D108BD9-81ED-4DB2-BD59-A6C34878D82A}">
                    <a16:rowId xmlns:a16="http://schemas.microsoft.com/office/drawing/2014/main" val="3832515464"/>
                  </a:ext>
                </a:extLst>
              </a:tr>
              <a:tr h="1215970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추상화 </a:t>
                      </a:r>
                      <a:endParaRPr lang="en-US" altLang="ko-KR" sz="1800" b="1" baseline="0" dirty="0"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Abstraction)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특징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기능 </a:t>
                      </a:r>
                      <a:endParaRPr lang="en-US" altLang="ko-KR" sz="1800" b="1" baseline="0" dirty="0"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추출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현실 세계의 사람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사물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현상에서 불필요한 부분은 제거하고 서비스에 필요한 본질만 뽑아내는 과정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특징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색상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이름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나이</a:t>
                      </a:r>
                      <a:endParaRPr lang="en-US" altLang="ko-KR" sz="1800" b="1" baseline="0" dirty="0"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기능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달리기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멈추기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말하기</a:t>
                      </a:r>
                    </a:p>
                  </a:txBody>
                  <a:tcPr marL="22860" marR="22860" marT="15240" marB="15240" anchor="ctr"/>
                </a:tc>
                <a:extLst>
                  <a:ext uri="{0D108BD9-81ED-4DB2-BD59-A6C34878D82A}">
                    <a16:rowId xmlns:a16="http://schemas.microsoft.com/office/drawing/2014/main" val="2095169941"/>
                  </a:ext>
                </a:extLst>
              </a:tr>
              <a:tr h="1215970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객체화 </a:t>
                      </a:r>
                      <a:endParaRPr lang="en-US" altLang="ko-KR" sz="1800" b="1" baseline="0" dirty="0"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Objectification)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속성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메소드</a:t>
                      </a:r>
                      <a:endParaRPr lang="en-US" altLang="ko-KR" sz="1800" b="1" baseline="0" dirty="0"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정의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추상화된 개념을 프로그래밍 언어의 구조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(Class)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에 담아 실제 동작 가능한 단위로 만드는 과정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속성 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(Variable):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데이터 저장</a:t>
                      </a:r>
                      <a:endParaRPr lang="en-US" altLang="ko-KR" sz="1800" b="1" baseline="0" dirty="0"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메소드 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(Function):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로직 수행</a:t>
                      </a:r>
                    </a:p>
                  </a:txBody>
                  <a:tcPr marL="22860" marR="22860" marT="15240" marB="15240" anchor="ctr"/>
                </a:tc>
                <a:extLst>
                  <a:ext uri="{0D108BD9-81ED-4DB2-BD59-A6C34878D82A}">
                    <a16:rowId xmlns:a16="http://schemas.microsoft.com/office/drawing/2014/main" val="3575494118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90799CB3-D046-93B1-88CF-F39C1364E05E}"/>
              </a:ext>
            </a:extLst>
          </p:cNvPr>
          <p:cNvSpPr txBox="1"/>
          <p:nvPr/>
        </p:nvSpPr>
        <p:spPr>
          <a:xfrm>
            <a:off x="915382" y="1414115"/>
            <a:ext cx="10118378" cy="9569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복잡한 현실 세계는 시간에 따라 움직이고 있기 때문에 미분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(derivative)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을 이해하고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추상화와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모델링에 대한 이해를 하자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추상화는 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OOP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구현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13773171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1F0051-1600-0186-2252-0ACB412DA8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DE42708D-8AF6-90B1-C846-4BA65C5CEE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 + Object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BDC3750-B88D-6FD2-8537-70ECD176FF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6</a:t>
            </a:fld>
            <a:endParaRPr lang="en-US" dirty="0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24DA2C2F-442D-D2EB-C2E4-9E071E47C8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79602857"/>
              </p:ext>
            </p:extLst>
          </p:nvPr>
        </p:nvGraphicFramePr>
        <p:xfrm>
          <a:off x="637698" y="1767918"/>
          <a:ext cx="10916603" cy="3830243"/>
        </p:xfrm>
        <a:graphic>
          <a:graphicData uri="http://schemas.openxmlformats.org/drawingml/2006/table">
            <a:tbl>
              <a:tblPr>
                <a:tableStyleId>{08FB837D-C827-4EFA-A057-4D05807E0F7C}</a:tableStyleId>
              </a:tblPr>
              <a:tblGrid>
                <a:gridCol w="1130142">
                  <a:extLst>
                    <a:ext uri="{9D8B030D-6E8A-4147-A177-3AD203B41FA5}">
                      <a16:colId xmlns:a16="http://schemas.microsoft.com/office/drawing/2014/main" val="4106552240"/>
                    </a:ext>
                  </a:extLst>
                </a:gridCol>
                <a:gridCol w="3125915">
                  <a:extLst>
                    <a:ext uri="{9D8B030D-6E8A-4147-A177-3AD203B41FA5}">
                      <a16:colId xmlns:a16="http://schemas.microsoft.com/office/drawing/2014/main" val="2267932678"/>
                    </a:ext>
                  </a:extLst>
                </a:gridCol>
                <a:gridCol w="3925125">
                  <a:extLst>
                    <a:ext uri="{9D8B030D-6E8A-4147-A177-3AD203B41FA5}">
                      <a16:colId xmlns:a16="http://schemas.microsoft.com/office/drawing/2014/main" val="310495391"/>
                    </a:ext>
                  </a:extLst>
                </a:gridCol>
                <a:gridCol w="2735421">
                  <a:extLst>
                    <a:ext uri="{9D8B030D-6E8A-4147-A177-3AD203B41FA5}">
                      <a16:colId xmlns:a16="http://schemas.microsoft.com/office/drawing/2014/main" val="276542089"/>
                    </a:ext>
                  </a:extLst>
                </a:gridCol>
              </a:tblGrid>
              <a:tr h="571679"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대상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추상화 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특징 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&amp;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기능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객체화 </a:t>
                      </a:r>
                      <a:r>
                        <a:rPr lang="en-US" altLang="ko-KR" sz="1800" b="1" kern="1200" baseline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800" b="1" kern="1200" baseline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속성 </a:t>
                      </a:r>
                      <a:r>
                        <a:rPr lang="en-US" altLang="ko-KR" sz="1800" b="1" kern="1200" baseline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&amp; </a:t>
                      </a:r>
                      <a:r>
                        <a:rPr lang="ko-KR" altLang="en-US" sz="1800" b="1" kern="1200" baseline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메소드</a:t>
                      </a:r>
                      <a:r>
                        <a:rPr lang="en-US" altLang="ko-KR" sz="1800" b="1" kern="1200" baseline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코드 </a:t>
                      </a:r>
                      <a:endParaRPr lang="en-US" altLang="ko-KR" sz="1800" b="1" kern="1200" baseline="0" dirty="0">
                        <a:solidFill>
                          <a:schemeClr val="dk1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22860" marR="22860" marT="15240" marB="15240" anchor="ctr"/>
                </a:tc>
                <a:extLst>
                  <a:ext uri="{0D108BD9-81ED-4DB2-BD59-A6C34878D82A}">
                    <a16:rowId xmlns:a16="http://schemas.microsoft.com/office/drawing/2014/main" val="980183908"/>
                  </a:ext>
                </a:extLst>
              </a:tr>
              <a:tr h="1086188"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자동차 </a:t>
                      </a:r>
                      <a:endParaRPr lang="en-US" altLang="ko-KR" sz="1800" b="1" kern="1200" baseline="0" dirty="0">
                        <a:solidFill>
                          <a:schemeClr val="dk1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사물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특징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모델명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연료 타입</a:t>
                      </a:r>
                      <a:endParaRPr lang="en-US" altLang="ko-KR" sz="1800" b="1" kern="1200" baseline="0" dirty="0">
                        <a:solidFill>
                          <a:schemeClr val="dk1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기능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가속한다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경적을 울린다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속성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model, fuel</a:t>
                      </a: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메소드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accelerate(), honk()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it-IT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car.model = "Tesla"car.accelerate()</a:t>
                      </a:r>
                    </a:p>
                  </a:txBody>
                  <a:tcPr marL="22860" marR="22860" marT="15240" marB="15240" anchor="ctr"/>
                </a:tc>
                <a:extLst>
                  <a:ext uri="{0D108BD9-81ED-4DB2-BD59-A6C34878D82A}">
                    <a16:rowId xmlns:a16="http://schemas.microsoft.com/office/drawing/2014/main" val="136683253"/>
                  </a:ext>
                </a:extLst>
              </a:tr>
              <a:tr h="1086188"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은행원</a:t>
                      </a:r>
                      <a:endParaRPr lang="en-US" altLang="ko-KR" sz="1800" b="1" kern="1200" baseline="0" dirty="0">
                        <a:solidFill>
                          <a:schemeClr val="dk1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사람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특징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사원번호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소속 지점</a:t>
                      </a:r>
                      <a:endParaRPr lang="en-US" altLang="ko-KR" sz="1800" b="1" kern="1200" baseline="0" dirty="0">
                        <a:solidFill>
                          <a:schemeClr val="dk1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기능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입금 처리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상담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속성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en-US" sz="1800" b="1" kern="1200" baseline="0" dirty="0" err="1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emp_id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branch</a:t>
                      </a: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메소드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deposit(), consult()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en-US" sz="1800" b="1" kern="1200" baseline="0" dirty="0" err="1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staff.emp_id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= 101</a:t>
                      </a: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en-US" sz="1800" b="1" kern="1200" baseline="0" dirty="0" err="1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staff.deposit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()</a:t>
                      </a:r>
                    </a:p>
                  </a:txBody>
                  <a:tcPr marL="22860" marR="22860" marT="15240" marB="15240" anchor="ctr"/>
                </a:tc>
                <a:extLst>
                  <a:ext uri="{0D108BD9-81ED-4DB2-BD59-A6C34878D82A}">
                    <a16:rowId xmlns:a16="http://schemas.microsoft.com/office/drawing/2014/main" val="3349304262"/>
                  </a:ext>
                </a:extLst>
              </a:tr>
              <a:tr h="1086188"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주문</a:t>
                      </a:r>
                      <a:endParaRPr lang="en-US" altLang="ko-KR" sz="1800" b="1" kern="1200" baseline="0" dirty="0">
                        <a:solidFill>
                          <a:schemeClr val="dk1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현상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특징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주문 번호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결제 금액</a:t>
                      </a:r>
                      <a:endParaRPr lang="en-US" altLang="ko-KR" sz="1800" b="1" kern="1200" baseline="0" dirty="0">
                        <a:solidFill>
                          <a:schemeClr val="dk1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기능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주문 취소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상태를 변경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속성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en-US" sz="1800" b="1" kern="1200" baseline="0" dirty="0" err="1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order_id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amount</a:t>
                      </a: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메소드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cancel(), </a:t>
                      </a:r>
                      <a:r>
                        <a:rPr lang="en-US" sz="1800" b="1" kern="1200" baseline="0" dirty="0" err="1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update_status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en-US" sz="1800" b="1" kern="1200" baseline="0" dirty="0" err="1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order.amount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= 500</a:t>
                      </a: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en-US" sz="1800" b="1" kern="1200" baseline="0" dirty="0" err="1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order.cancel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()</a:t>
                      </a:r>
                    </a:p>
                  </a:txBody>
                  <a:tcPr marL="22860" marR="22860" marT="15240" marB="15240" anchor="ctr"/>
                </a:tc>
                <a:extLst>
                  <a:ext uri="{0D108BD9-81ED-4DB2-BD59-A6C34878D82A}">
                    <a16:rowId xmlns:a16="http://schemas.microsoft.com/office/drawing/2014/main" val="19358882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80460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055BEE-F066-C987-AEE2-D963B9A59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ABAC3D81-BA21-7C79-3849-E16FE48480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OOP - python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B75353E-AEB2-F738-D4BC-B431AD2B6E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7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BB3F3D-5A65-3E67-C0FA-B47717BAA45E}"/>
              </a:ext>
            </a:extLst>
          </p:cNvPr>
          <p:cNvSpPr txBox="1"/>
          <p:nvPr/>
        </p:nvSpPr>
        <p:spPr>
          <a:xfrm>
            <a:off x="915383" y="1190864"/>
            <a:ext cx="9508777" cy="541686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class Account: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def __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init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__(self, owner, balance=0):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속성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(Attributes)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self.owner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owner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self.balance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balance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메소드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(Methods)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def deposit(self, amount):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self.balance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+= amount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return f"{amount}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 입금 완료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잔액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self.balance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def withdraw(self, amount):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if amount &gt;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self.balance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return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잔액이 부족합니다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."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self.balance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-= amount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return f"{amount}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 출금 완료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잔액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self.balance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객체화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인스턴스 생성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my_acc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Account("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김철수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1000)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my_acc.deposit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(500))   # 500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 입금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my_acc.withdraw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(2000)) 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잔액 부족 확인</a:t>
            </a:r>
          </a:p>
        </p:txBody>
      </p:sp>
    </p:spTree>
    <p:extLst>
      <p:ext uri="{BB962C8B-B14F-4D97-AF65-F5344CB8AC3E}">
        <p14:creationId xmlns:p14="http://schemas.microsoft.com/office/powerpoint/2010/main" val="26588005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588B81-AD91-F370-8D32-FF6C2C9A91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F2CA6881-A4DF-DB25-5F01-36F36E9B48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Proto_OOP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java script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95EC99B-BF2A-8481-22BC-D44961AE4E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8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F58AA32-2422-26FE-27E7-BEAFCCF66B1C}"/>
              </a:ext>
            </a:extLst>
          </p:cNvPr>
          <p:cNvSpPr txBox="1"/>
          <p:nvPr/>
        </p:nvSpPr>
        <p:spPr>
          <a:xfrm>
            <a:off x="1001260" y="905523"/>
            <a:ext cx="9351279" cy="575542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class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Account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{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constructor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owner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0) {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// 속성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Attributes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this.owner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owner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this.balance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}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// 메소드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Methods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deposit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{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this.balance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+=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`${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}원 입금 완료. 잔액: ${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this.balance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}원`;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}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withdraw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{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if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&gt;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this.balance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{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"잔액이 부족합니다.";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}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this.balance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-=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`${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}원 출금 완료. 잔액: ${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this.balance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}원`;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}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// 객체화 (인스턴스 생성)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const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myAcc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new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Account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("이영희", 2000);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console.log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myAcc.deposit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(1000));  // 1000원 입금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console.log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myAcc.withdraw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(500));  // 500원 출금</a:t>
            </a:r>
          </a:p>
        </p:txBody>
      </p:sp>
    </p:spTree>
    <p:extLst>
      <p:ext uri="{BB962C8B-B14F-4D97-AF65-F5344CB8AC3E}">
        <p14:creationId xmlns:p14="http://schemas.microsoft.com/office/powerpoint/2010/main" val="42906430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5326A7-A289-AC58-C248-EC55ACDA71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7C5EF994-9F5C-02E6-8FFD-4FDE4EA86D7C}"/>
              </a:ext>
            </a:extLst>
          </p:cNvPr>
          <p:cNvSpPr/>
          <p:nvPr/>
        </p:nvSpPr>
        <p:spPr>
          <a:xfrm>
            <a:off x="1104901" y="2041621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EA25D138-34DE-EB1E-567C-DB8A2F2166C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08F94AB-65E7-00F1-41BD-652EBCF598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</a:rPr>
              <a:t>sympy</a:t>
            </a:r>
            <a:endParaRPr lang="en-US" altLang="ko-KR" sz="1800" cap="none" dirty="0">
              <a:solidFill>
                <a:schemeClr val="tx1"/>
              </a:solidFill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Derivative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Linear Programming</a:t>
            </a: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8B51142-A7C7-214A-07CB-527CDE6D0BA4}"/>
              </a:ext>
            </a:extLst>
          </p:cNvPr>
          <p:cNvSpPr txBox="1"/>
          <p:nvPr/>
        </p:nvSpPr>
        <p:spPr>
          <a:xfrm>
            <a:off x="7239000" y="1338537"/>
            <a:ext cx="4400550" cy="33290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projection</a:t>
            </a:r>
          </a:p>
        </p:txBody>
      </p:sp>
    </p:spTree>
    <p:extLst>
      <p:ext uri="{BB962C8B-B14F-4D97-AF65-F5344CB8AC3E}">
        <p14:creationId xmlns:p14="http://schemas.microsoft.com/office/powerpoint/2010/main" val="4437122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DDCFB-7AB3-D3D2-F2B2-E0D460FABE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22A0FD5B-2339-E38C-4A56-DE98C9747F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7"/>
            <a:ext cx="10629571" cy="4784067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en-US" altLang="ko-KR" sz="2400" dirty="0" err="1"/>
              <a:t>sympy</a:t>
            </a:r>
            <a:r>
              <a:rPr lang="ko-KR" altLang="en-US" sz="2400" dirty="0"/>
              <a:t>는 </a:t>
            </a:r>
            <a:r>
              <a:rPr lang="ko-KR" altLang="en-US" sz="2400" dirty="0" err="1"/>
              <a:t>파이썬에서</a:t>
            </a:r>
            <a:r>
              <a:rPr lang="ko-KR" altLang="en-US" sz="2400" dirty="0"/>
              <a:t> 사용 가능한 대수</a:t>
            </a:r>
            <a:r>
              <a:rPr lang="en-US" altLang="ko-KR" sz="2400" dirty="0"/>
              <a:t>(algebra)</a:t>
            </a:r>
            <a:r>
              <a:rPr lang="ko-KR" altLang="en-US" sz="2400" dirty="0"/>
              <a:t> 계산 라이브러리로</a:t>
            </a:r>
            <a:r>
              <a:rPr lang="en-US" altLang="ko-KR" sz="2400" dirty="0"/>
              <a:t>, </a:t>
            </a:r>
            <a:r>
              <a:rPr lang="ko-KR" altLang="en-US" sz="2400" dirty="0"/>
              <a:t>기호 연산과 수학적 공식 표현을 지원</a:t>
            </a:r>
            <a:endParaRPr lang="en-US" altLang="ko-KR" sz="1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기호 연산</a:t>
            </a:r>
            <a:endParaRPr lang="en-US" altLang="ko-KR" sz="2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방정식 풀기</a:t>
            </a:r>
            <a:endParaRPr lang="en-US" altLang="ko-KR" sz="2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미분과 적분</a:t>
            </a:r>
            <a:endParaRPr lang="en-US" altLang="ko-KR" sz="2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방정식 그래프 그리기</a:t>
            </a:r>
            <a:endParaRPr lang="ko-KR" altLang="en-US" sz="2000" dirty="0"/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C0FB6319-F468-D130-A036-538E8745B8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sympy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D8D5A3D-86BD-1768-B2E9-BFC0D77DAE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34488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56531E-AB77-8E51-290D-2773B07585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0FB19550-EB7C-EB2B-ACE4-48FF2EDEB9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559583"/>
            <a:ext cx="4241471" cy="1450318"/>
          </a:xfrm>
          <a:ln w="28575">
            <a:solidFill>
              <a:schemeClr val="tx1"/>
            </a:solidFill>
          </a:ln>
        </p:spPr>
        <p:txBody>
          <a:bodyPr>
            <a:normAutofit/>
          </a:bodyPr>
          <a:lstStyle/>
          <a:p>
            <a:r>
              <a:rPr lang="en-US" altLang="ko-KR" dirty="0"/>
              <a:t>from </a:t>
            </a:r>
            <a:r>
              <a:rPr lang="en-US" altLang="ko-KR" dirty="0" err="1"/>
              <a:t>sympy</a:t>
            </a:r>
            <a:r>
              <a:rPr lang="en-US" altLang="ko-KR" dirty="0"/>
              <a:t> import symbols</a:t>
            </a:r>
          </a:p>
          <a:p>
            <a:r>
              <a:rPr lang="en-US" altLang="ko-KR" dirty="0"/>
              <a:t>x, y = symbols('x y')</a:t>
            </a:r>
          </a:p>
          <a:p>
            <a:r>
              <a:rPr lang="en-US" altLang="ko-KR" dirty="0"/>
              <a:t>expr = x + 2*y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66ACA4DB-B8FA-FE1C-66A3-A6ACC6000C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sympy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D7D15890-D0EE-8C14-F2F7-700699B1A3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11</a:t>
            </a:fld>
            <a:endParaRPr lang="en-US" dirty="0"/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0B0035CB-472C-77A2-93FC-E6DE07F7868F}"/>
              </a:ext>
            </a:extLst>
          </p:cNvPr>
          <p:cNvSpPr txBox="1">
            <a:spLocks/>
          </p:cNvSpPr>
          <p:nvPr/>
        </p:nvSpPr>
        <p:spPr>
          <a:xfrm>
            <a:off x="978229" y="4217058"/>
            <a:ext cx="4241471" cy="1450318"/>
          </a:xfrm>
          <a:prstGeom prst="rect">
            <a:avLst/>
          </a:prstGeom>
          <a:ln w="28575">
            <a:solidFill>
              <a:schemeClr val="tx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06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ko-KR" dirty="0"/>
              <a:t>from </a:t>
            </a:r>
            <a:r>
              <a:rPr lang="en-US" altLang="ko-KR" dirty="0" err="1"/>
              <a:t>sympy</a:t>
            </a:r>
            <a:r>
              <a:rPr lang="en-US" altLang="ko-KR" dirty="0"/>
              <a:t> import Eq, solve</a:t>
            </a:r>
          </a:p>
          <a:p>
            <a:r>
              <a:rPr lang="en-US" altLang="ko-KR" dirty="0"/>
              <a:t>eq = Eq(x**2 + 2*x + 1, 0)</a:t>
            </a:r>
          </a:p>
          <a:p>
            <a:r>
              <a:rPr lang="en-US" altLang="ko-KR" dirty="0"/>
              <a:t>sol = solve(eq, x)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0C561FB-B458-7456-44E7-3D6042485AB8}"/>
              </a:ext>
            </a:extLst>
          </p:cNvPr>
          <p:cNvSpPr txBox="1">
            <a:spLocks/>
          </p:cNvSpPr>
          <p:nvPr/>
        </p:nvSpPr>
        <p:spPr>
          <a:xfrm>
            <a:off x="6092264" y="1559583"/>
            <a:ext cx="4241471" cy="1450318"/>
          </a:xfrm>
          <a:prstGeom prst="rect">
            <a:avLst/>
          </a:prstGeom>
          <a:ln w="28575">
            <a:solidFill>
              <a:schemeClr val="tx1"/>
            </a:solidFill>
          </a:ln>
        </p:spPr>
        <p:txBody>
          <a:bodyPr vert="horz" lIns="91440" tIns="45720" rIns="91440" bIns="45720" rtlCol="0">
            <a:normAutofit fontScale="85000" lnSpcReduction="10000"/>
          </a:bodyPr>
          <a:lstStyle>
            <a:lvl1pPr marL="342900" indent="-3429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06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ko-KR" dirty="0"/>
              <a:t>from </a:t>
            </a:r>
            <a:r>
              <a:rPr lang="en-US" altLang="ko-KR" dirty="0" err="1"/>
              <a:t>sympy</a:t>
            </a:r>
            <a:r>
              <a:rPr lang="en-US" altLang="ko-KR" dirty="0"/>
              <a:t> import diff, integrate</a:t>
            </a:r>
          </a:p>
          <a:p>
            <a:r>
              <a:rPr lang="en-US" altLang="ko-KR" dirty="0"/>
              <a:t>expr = x**2 + 3*x + 2</a:t>
            </a:r>
          </a:p>
          <a:p>
            <a:r>
              <a:rPr lang="en-US" altLang="ko-KR" dirty="0"/>
              <a:t>derivative = diff(expr, x)</a:t>
            </a:r>
          </a:p>
          <a:p>
            <a:r>
              <a:rPr lang="en-US" altLang="ko-KR" dirty="0"/>
              <a:t>integral = integrate(expr, x)</a:t>
            </a: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54AFFB05-5355-FE27-BD3B-B918ABE8E1E5}"/>
              </a:ext>
            </a:extLst>
          </p:cNvPr>
          <p:cNvSpPr txBox="1">
            <a:spLocks/>
          </p:cNvSpPr>
          <p:nvPr/>
        </p:nvSpPr>
        <p:spPr>
          <a:xfrm>
            <a:off x="6092263" y="4217058"/>
            <a:ext cx="4241471" cy="1450318"/>
          </a:xfrm>
          <a:prstGeom prst="rect">
            <a:avLst/>
          </a:prstGeom>
          <a:ln w="28575">
            <a:solidFill>
              <a:schemeClr val="tx1"/>
            </a:solidFill>
          </a:ln>
        </p:spPr>
        <p:txBody>
          <a:bodyPr vert="horz" lIns="91440" tIns="45720" rIns="91440" bIns="45720" rtlCol="0">
            <a:normAutofit fontScale="92500" lnSpcReduction="20000"/>
          </a:bodyPr>
          <a:lstStyle>
            <a:lvl1pPr marL="342900" indent="-3429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06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ko-KR" dirty="0"/>
              <a:t>from </a:t>
            </a:r>
            <a:r>
              <a:rPr lang="en-US" altLang="ko-KR" dirty="0" err="1"/>
              <a:t>sympy.plotting</a:t>
            </a:r>
            <a:r>
              <a:rPr lang="en-US" altLang="ko-KR" dirty="0"/>
              <a:t> import plot</a:t>
            </a:r>
          </a:p>
          <a:p>
            <a:r>
              <a:rPr lang="en-US" altLang="ko-KR" dirty="0"/>
              <a:t>expr = x**2 - 3*x + 2</a:t>
            </a:r>
          </a:p>
          <a:p>
            <a:r>
              <a:rPr lang="en-US" altLang="ko-KR" dirty="0"/>
              <a:t>plot(expr, (x, -5, 5))</a:t>
            </a:r>
          </a:p>
          <a:p>
            <a:r>
              <a:rPr lang="en-US" altLang="ko-KR" dirty="0"/>
              <a:t>plot(diff(expr, x))</a:t>
            </a:r>
          </a:p>
          <a:p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8904165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5B8E22-3D6A-F0D1-BFCB-703DB02B12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A42EF175-A5B6-83D3-B8D9-AAA96784DEAF}"/>
              </a:ext>
            </a:extLst>
          </p:cNvPr>
          <p:cNvSpPr/>
          <p:nvPr/>
        </p:nvSpPr>
        <p:spPr>
          <a:xfrm>
            <a:off x="1104901" y="2575021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C17BC68D-65E8-91BA-96D8-08D9E6A26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2E3BA9A-E6B8-4CE7-C391-DF80A39A574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</a:rPr>
              <a:t>sympy</a:t>
            </a:r>
            <a:endParaRPr lang="en-US" altLang="ko-KR" sz="1800" cap="none" dirty="0">
              <a:solidFill>
                <a:schemeClr val="tx1"/>
              </a:solidFill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Derivative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Linear Programming</a:t>
            </a: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C3C9FA-70E0-22C5-8445-F239B9F7A462}"/>
              </a:ext>
            </a:extLst>
          </p:cNvPr>
          <p:cNvSpPr txBox="1"/>
          <p:nvPr/>
        </p:nvSpPr>
        <p:spPr>
          <a:xfrm>
            <a:off x="7239000" y="1338537"/>
            <a:ext cx="4400550" cy="33290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projection</a:t>
            </a:r>
          </a:p>
        </p:txBody>
      </p:sp>
    </p:spTree>
    <p:extLst>
      <p:ext uri="{BB962C8B-B14F-4D97-AF65-F5344CB8AC3E}">
        <p14:creationId xmlns:p14="http://schemas.microsoft.com/office/powerpoint/2010/main" val="11827993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AC405B-AF14-B2C8-689A-F6492F2681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5935ECCF-FC83-07D0-E9CF-44010CCFA6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Derivative</a:t>
            </a:r>
            <a:endParaRPr lang="ko-KR" altLang="en-US" b="1" cap="none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AE79183E-E6F4-4214-DD0E-8C1A51209C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13</a:t>
            </a:fld>
            <a:endParaRPr lang="en-US" dirty="0"/>
          </a:p>
        </p:txBody>
      </p:sp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A5A2CB2E-8468-AEE1-580A-8B67C66160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7"/>
            <a:ext cx="10629571" cy="888343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en-US" altLang="ko-KR" dirty="0"/>
              <a:t>The sensitivity to change(slope,</a:t>
            </a:r>
            <a:r>
              <a:rPr lang="ko-KR" altLang="en-US" dirty="0"/>
              <a:t> </a:t>
            </a:r>
            <a:r>
              <a:rPr lang="en-US" altLang="ko-KR" dirty="0"/>
              <a:t>instantaneous rate of change) of a </a:t>
            </a:r>
            <a:r>
              <a:rPr lang="en-US" altLang="ko-KR" dirty="0">
                <a:hlinkClick r:id="rId3" tooltip="Function (mathematics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function</a:t>
            </a:r>
            <a:r>
              <a:rPr lang="en-US" altLang="ko-KR" dirty="0"/>
              <a:t>'s output with respect to its input</a:t>
            </a:r>
            <a:endParaRPr lang="ko-KR" altLang="en-US" dirty="0"/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5FE2DA27-6599-B042-D667-9FEEEADD3271}"/>
              </a:ext>
            </a:extLst>
          </p:cNvPr>
          <p:cNvGrpSpPr/>
          <p:nvPr/>
        </p:nvGrpSpPr>
        <p:grpSpPr>
          <a:xfrm>
            <a:off x="964697" y="3054516"/>
            <a:ext cx="2905125" cy="2082470"/>
            <a:chOff x="1611231" y="3054515"/>
            <a:chExt cx="2905125" cy="2082470"/>
          </a:xfrm>
        </p:grpSpPr>
        <p:sp>
          <p:nvSpPr>
            <p:cNvPr id="16" name="이등변 삼각형 15">
              <a:extLst>
                <a:ext uri="{FF2B5EF4-FFF2-40B4-BE49-F238E27FC236}">
                  <a16:creationId xmlns:a16="http://schemas.microsoft.com/office/drawing/2014/main" id="{012E2A5C-B7F7-E780-9A16-A12FFD94EF3A}"/>
                </a:ext>
              </a:extLst>
            </p:cNvPr>
            <p:cNvSpPr/>
            <p:nvPr/>
          </p:nvSpPr>
          <p:spPr>
            <a:xfrm rot="10800000">
              <a:off x="1835069" y="3054515"/>
              <a:ext cx="914400" cy="691820"/>
            </a:xfrm>
            <a:prstGeom prst="triangl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이등변 삼각형 16">
              <a:extLst>
                <a:ext uri="{FF2B5EF4-FFF2-40B4-BE49-F238E27FC236}">
                  <a16:creationId xmlns:a16="http://schemas.microsoft.com/office/drawing/2014/main" id="{E51B1900-13D2-F7A2-C1F6-7FDE07AD0377}"/>
                </a:ext>
              </a:extLst>
            </p:cNvPr>
            <p:cNvSpPr/>
            <p:nvPr/>
          </p:nvSpPr>
          <p:spPr>
            <a:xfrm>
              <a:off x="3497179" y="4445165"/>
              <a:ext cx="914400" cy="691820"/>
            </a:xfrm>
            <a:prstGeom prst="triangl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5289895E-86ED-62DF-6A92-6F97D35A61A2}"/>
                </a:ext>
              </a:extLst>
            </p:cNvPr>
            <p:cNvSpPr/>
            <p:nvPr/>
          </p:nvSpPr>
          <p:spPr>
            <a:xfrm>
              <a:off x="1611231" y="3429000"/>
              <a:ext cx="2905125" cy="1323975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8E47953-F99A-8AD9-CEC2-D58732A98A45}"/>
                  </a:ext>
                </a:extLst>
              </p:cNvPr>
              <p:cNvSpPr txBox="1"/>
              <p:nvPr/>
            </p:nvSpPr>
            <p:spPr>
              <a:xfrm>
                <a:off x="1101182" y="2490465"/>
                <a:ext cx="20035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dirty="0">
                    <a:solidFill>
                      <a:schemeClr val="tx1"/>
                    </a:solidFill>
                  </a:rPr>
                  <a:t>Input (</a:t>
                </a:r>
                <a14:m>
                  <m:oMath xmlns:m="http://schemas.openxmlformats.org/officeDocument/2006/math">
                    <m:r>
                      <a:rPr lang="ko-KR" alt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altLang="ko-KR" dirty="0">
                    <a:solidFill>
                      <a:schemeClr val="tx1"/>
                    </a:solidFill>
                  </a:rPr>
                  <a:t>)</a:t>
                </a:r>
                <a:endParaRPr lang="ko-KR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8E47953-F99A-8AD9-CEC2-D58732A98A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1182" y="2490465"/>
                <a:ext cx="2003506" cy="369332"/>
              </a:xfrm>
              <a:prstGeom prst="rect">
                <a:avLst/>
              </a:prstGeom>
              <a:blipFill>
                <a:blip r:embed="rId4"/>
                <a:stretch>
                  <a:fillRect l="-2744" t="-10000" b="-266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3C9AC3F-49D5-D340-C129-5C6FEBAEA67D}"/>
                  </a:ext>
                </a:extLst>
              </p:cNvPr>
              <p:cNvSpPr txBox="1"/>
              <p:nvPr/>
            </p:nvSpPr>
            <p:spPr>
              <a:xfrm>
                <a:off x="2516644" y="5331705"/>
                <a:ext cx="172766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dirty="0">
                    <a:solidFill>
                      <a:schemeClr val="tx1"/>
                    </a:solidFill>
                  </a:rPr>
                  <a:t>Output (</a:t>
                </a:r>
                <a14:m>
                  <m:oMath xmlns:m="http://schemas.openxmlformats.org/officeDocument/2006/math">
                    <m:r>
                      <a:rPr lang="ko-KR" alt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ko-KR" alt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altLang="ko-KR" dirty="0">
                    <a:solidFill>
                      <a:schemeClr val="tx1"/>
                    </a:solidFill>
                  </a:rPr>
                  <a:t>) </a:t>
                </a:r>
                <a:endParaRPr lang="ko-KR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3C9AC3F-49D5-D340-C129-5C6FEBAEA6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6644" y="5331705"/>
                <a:ext cx="1727660" cy="369332"/>
              </a:xfrm>
              <a:prstGeom prst="rect">
                <a:avLst/>
              </a:prstGeom>
              <a:blipFill>
                <a:blip r:embed="rId5"/>
                <a:stretch>
                  <a:fillRect l="-3180" t="-10000" r="-2473" b="-266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63F3E571-3912-D9A9-CAAA-D4FC272B31CF}"/>
                  </a:ext>
                </a:extLst>
              </p:cNvPr>
              <p:cNvSpPr txBox="1"/>
              <p:nvPr/>
            </p:nvSpPr>
            <p:spPr>
              <a:xfrm>
                <a:off x="1059947" y="3804915"/>
                <a:ext cx="2800348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dirty="0">
                    <a:solidFill>
                      <a:schemeClr val="bg1"/>
                    </a:solidFill>
                    <a:hlinkClick r:id="rId3" tooltip="Function (mathematics)">
                      <a:extLst>
                        <a:ext uri="{A12FA001-AC4F-418D-AE19-62706E023703}">
                          <ahyp:hlinkClr xmlns:ahyp="http://schemas.microsoft.com/office/drawing/2018/hyperlinkcolor" val="tx"/>
                        </a:ext>
                      </a:extLst>
                    </a:hlinkClick>
                  </a:rPr>
                  <a:t>Function</a:t>
                </a:r>
                <a:r>
                  <a:rPr lang="en-US" altLang="ko-KR" dirty="0">
                    <a:solidFill>
                      <a:schemeClr val="bg1"/>
                    </a:solidFill>
                  </a:rPr>
                  <a:t>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ko-KR" altLang="en-US" i="0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func>
                        <m:funcPr>
                          <m:ctrlPr>
                            <a:rPr lang="ko-KR" altLang="en-US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ko-KR" altLang="en-US" i="0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ko-KR" altLang="en-US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ko-KR" altLang="en-US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ko-KR" altLang="en-US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ko-KR" altLang="en-US" i="0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d>
                        </m:e>
                      </m:func>
                      <m:r>
                        <a:rPr lang="ko-KR" altLang="en-US" i="0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ko-KR" alt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63F3E571-3912-D9A9-CAAA-D4FC272B31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9947" y="3804915"/>
                <a:ext cx="2800348" cy="646331"/>
              </a:xfrm>
              <a:prstGeom prst="rect">
                <a:avLst/>
              </a:prstGeom>
              <a:blipFill>
                <a:blip r:embed="rId6"/>
                <a:stretch>
                  <a:fillRect l="-1961" t="-4717" b="-943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4" name="그룹 13">
            <a:extLst>
              <a:ext uri="{FF2B5EF4-FFF2-40B4-BE49-F238E27FC236}">
                <a16:creationId xmlns:a16="http://schemas.microsoft.com/office/drawing/2014/main" id="{35EF7531-9F46-3380-2528-8B4EFF13B6B3}"/>
              </a:ext>
            </a:extLst>
          </p:cNvPr>
          <p:cNvGrpSpPr/>
          <p:nvPr/>
        </p:nvGrpSpPr>
        <p:grpSpPr>
          <a:xfrm>
            <a:off x="7577010" y="3054516"/>
            <a:ext cx="2903493" cy="2101519"/>
            <a:chOff x="6580019" y="2942772"/>
            <a:chExt cx="2903493" cy="2101519"/>
          </a:xfrm>
          <a:solidFill>
            <a:srgbClr val="FF0000"/>
          </a:solidFill>
        </p:grpSpPr>
        <p:sp>
          <p:nvSpPr>
            <p:cNvPr id="10" name="이등변 삼각형 9">
              <a:extLst>
                <a:ext uri="{FF2B5EF4-FFF2-40B4-BE49-F238E27FC236}">
                  <a16:creationId xmlns:a16="http://schemas.microsoft.com/office/drawing/2014/main" id="{E8D100C2-F617-26FD-F7A3-83F01256CF89}"/>
                </a:ext>
              </a:extLst>
            </p:cNvPr>
            <p:cNvSpPr/>
            <p:nvPr/>
          </p:nvSpPr>
          <p:spPr>
            <a:xfrm rot="10800000">
              <a:off x="6580019" y="2942772"/>
              <a:ext cx="914400" cy="691820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1" name="이등변 삼각형 10">
              <a:extLst>
                <a:ext uri="{FF2B5EF4-FFF2-40B4-BE49-F238E27FC236}">
                  <a16:creationId xmlns:a16="http://schemas.microsoft.com/office/drawing/2014/main" id="{B457D554-5251-08BB-A0C5-DCFF184FE2E6}"/>
                </a:ext>
              </a:extLst>
            </p:cNvPr>
            <p:cNvSpPr/>
            <p:nvPr/>
          </p:nvSpPr>
          <p:spPr>
            <a:xfrm>
              <a:off x="8569112" y="4352471"/>
              <a:ext cx="914400" cy="691820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C4A3C4E-A7C7-50F4-FCD8-F4CFB273CF47}"/>
                  </a:ext>
                </a:extLst>
              </p:cNvPr>
              <p:cNvSpPr txBox="1"/>
              <p:nvPr/>
            </p:nvSpPr>
            <p:spPr>
              <a:xfrm>
                <a:off x="7493778" y="2525899"/>
                <a:ext cx="1995264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200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altLang="ko-KR" sz="20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ko-KR" altLang="en-US" sz="2000" dirty="0">
                    <a:solidFill>
                      <a:schemeClr val="tx1"/>
                    </a:solidFill>
                  </a:rPr>
                  <a:t> </a:t>
                </a:r>
                <a:r>
                  <a:rPr lang="en-US" altLang="ko-KR" sz="2000" dirty="0">
                    <a:solidFill>
                      <a:schemeClr val="tx1"/>
                    </a:solidFill>
                  </a:rPr>
                  <a:t>(</a:t>
                </a:r>
                <a:r>
                  <a:rPr lang="en-US" altLang="ko-KR" sz="2000" dirty="0"/>
                  <a:t>delta </a:t>
                </a:r>
                <a14:m>
                  <m:oMath xmlns:m="http://schemas.openxmlformats.org/officeDocument/2006/math">
                    <m:r>
                      <a:rPr lang="en-US" altLang="ko-KR" sz="20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altLang="ko-KR" sz="2000" dirty="0"/>
                  <a:t>)</a:t>
                </a:r>
                <a:endParaRPr lang="ko-KR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C4A3C4E-A7C7-50F4-FCD8-F4CFB273CF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93778" y="2525899"/>
                <a:ext cx="1995264" cy="400110"/>
              </a:xfrm>
              <a:prstGeom prst="rect">
                <a:avLst/>
              </a:prstGeom>
              <a:blipFill>
                <a:blip r:embed="rId7"/>
                <a:stretch>
                  <a:fillRect t="-7576" b="-2575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평행 사변형 19">
            <a:extLst>
              <a:ext uri="{FF2B5EF4-FFF2-40B4-BE49-F238E27FC236}">
                <a16:creationId xmlns:a16="http://schemas.microsoft.com/office/drawing/2014/main" id="{AF150070-0E0D-3155-821D-8A1536395133}"/>
              </a:ext>
            </a:extLst>
          </p:cNvPr>
          <p:cNvSpPr/>
          <p:nvPr/>
        </p:nvSpPr>
        <p:spPr>
          <a:xfrm>
            <a:off x="7111439" y="3489352"/>
            <a:ext cx="3689560" cy="1263621"/>
          </a:xfrm>
          <a:prstGeom prst="parallelogram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95AB28CA-C939-8EA0-1D2C-932D70CCA19F}"/>
                  </a:ext>
                </a:extLst>
              </p:cNvPr>
              <p:cNvSpPr txBox="1"/>
              <p:nvPr/>
            </p:nvSpPr>
            <p:spPr>
              <a:xfrm>
                <a:off x="7550530" y="3444630"/>
                <a:ext cx="2811377" cy="119385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ko-KR" sz="16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6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p>
                          <m:r>
                            <a:rPr lang="en-US" altLang="ko-KR" sz="1600" b="1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altLang="ko-KR" sz="16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</m:oMath>
                  </m:oMathPara>
                </a14:m>
                <a:endParaRPr lang="en-US" altLang="ko-KR" sz="1600" b="1" dirty="0">
                  <a:solidFill>
                    <a:schemeClr val="bg1"/>
                  </a:solidFill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ko-KR" sz="1600" b="1" dirty="0">
                    <a:solidFill>
                      <a:schemeClr val="bg1"/>
                    </a:solidFill>
                  </a:rPr>
                  <a:t>= Derivative</a:t>
                </a:r>
              </a:p>
              <a:p>
                <a:pPr>
                  <a:lnSpc>
                    <a:spcPct val="150000"/>
                  </a:lnSpc>
                </a:pPr>
                <a:r>
                  <a:rPr lang="en-US" altLang="ko-KR" sz="1600" b="1" dirty="0">
                    <a:solidFill>
                      <a:schemeClr val="bg1"/>
                    </a:solidFill>
                  </a:rPr>
                  <a:t>= The sensitivity to change</a:t>
                </a:r>
                <a:endParaRPr lang="ko-KR" altLang="en-US" sz="1600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95AB28CA-C939-8EA0-1D2C-932D70CCA1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50530" y="3444630"/>
                <a:ext cx="2811377" cy="1193853"/>
              </a:xfrm>
              <a:prstGeom prst="rect">
                <a:avLst/>
              </a:prstGeom>
              <a:blipFill>
                <a:blip r:embed="rId8"/>
                <a:stretch>
                  <a:fillRect l="-1302" b="-204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C7AC0358-B3B5-F1BF-07C9-B4C610EDE35D}"/>
              </a:ext>
            </a:extLst>
          </p:cNvPr>
          <p:cNvCxnSpPr/>
          <p:nvPr/>
        </p:nvCxnSpPr>
        <p:spPr>
          <a:xfrm>
            <a:off x="4755419" y="4128080"/>
            <a:ext cx="1685925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A33E17EB-140D-13C3-5C3D-9316E4FF9331}"/>
                  </a:ext>
                </a:extLst>
              </p:cNvPr>
              <p:cNvSpPr txBox="1"/>
              <p:nvPr/>
            </p:nvSpPr>
            <p:spPr>
              <a:xfrm>
                <a:off x="4629150" y="3395225"/>
                <a:ext cx="219075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ko-KR" altLang="en-US" sz="16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ko-KR" altLang="en-US" sz="16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ko-KR" altLang="en-US" sz="1600" dirty="0">
                    <a:solidFill>
                      <a:schemeClr val="tx1"/>
                    </a:solidFill>
                  </a:rPr>
                  <a:t>에</a:t>
                </a:r>
                <a:r>
                  <a:rPr lang="en-US" altLang="ko-KR" sz="1600" dirty="0">
                    <a:solidFill>
                      <a:schemeClr val="tx1"/>
                    </a:solidFill>
                  </a:rPr>
                  <a:t> </a:t>
                </a:r>
                <a:r>
                  <a:rPr lang="ko-KR" altLang="en-US" sz="1600" dirty="0">
                    <a:solidFill>
                      <a:schemeClr val="tx1"/>
                    </a:solidFill>
                  </a:rPr>
                  <a:t>대한 </a:t>
                </a:r>
                <a:endParaRPr lang="en-US" altLang="ko-KR" sz="1600" dirty="0">
                  <a:solidFill>
                    <a:schemeClr val="tx1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ko-KR" altLang="en-US" sz="1600" i="1" dirty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ko-KR" altLang="en-US" sz="16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sz="1600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ko-KR" altLang="en-US" sz="16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ko-KR" altLang="en-US" sz="1600" dirty="0">
                    <a:solidFill>
                      <a:schemeClr val="tx1"/>
                    </a:solidFill>
                  </a:rPr>
                  <a:t>의 순간변화</a:t>
                </a:r>
                <a:r>
                  <a:rPr lang="en-US" altLang="ko-KR" sz="1600" dirty="0">
                    <a:solidFill>
                      <a:schemeClr val="tx1"/>
                    </a:solidFill>
                  </a:rPr>
                  <a:t>(</a:t>
                </a:r>
                <a:r>
                  <a:rPr lang="ko-KR" altLang="en-US" sz="1600" dirty="0">
                    <a:solidFill>
                      <a:schemeClr val="tx1"/>
                    </a:solidFill>
                  </a:rPr>
                  <a:t>율</a:t>
                </a:r>
                <a:r>
                  <a:rPr lang="en-US" altLang="ko-KR" sz="1600" dirty="0">
                    <a:solidFill>
                      <a:schemeClr val="tx1"/>
                    </a:solidFill>
                  </a:rPr>
                  <a:t>)</a:t>
                </a:r>
                <a:endParaRPr lang="ko-KR" altLang="en-US" sz="16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A33E17EB-140D-13C3-5C3D-9316E4FF93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29150" y="3395225"/>
                <a:ext cx="2190750" cy="584775"/>
              </a:xfrm>
              <a:prstGeom prst="rect">
                <a:avLst/>
              </a:prstGeom>
              <a:blipFill>
                <a:blip r:embed="rId9"/>
                <a:stretch>
                  <a:fillRect t="-3125" b="-125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F622B33B-D78B-B356-E12C-C9624FE06191}"/>
                  </a:ext>
                </a:extLst>
              </p:cNvPr>
              <p:cNvSpPr txBox="1"/>
              <p:nvPr/>
            </p:nvSpPr>
            <p:spPr>
              <a:xfrm>
                <a:off x="9143026" y="5316316"/>
                <a:ext cx="212611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2000">
                        <a:latin typeface="Cambria Math" panose="02040503050406030204" pitchFamily="18" charset="0"/>
                      </a:rPr>
                      <m:t>Δ</m:t>
                    </m:r>
                    <m:r>
                      <a:rPr lang="ko-KR" altLang="en-US" sz="2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ko-KR" altLang="en-US" sz="20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sz="20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altLang="ko-KR" sz="2000" dirty="0">
                    <a:solidFill>
                      <a:schemeClr val="tx1"/>
                    </a:solidFill>
                  </a:rPr>
                  <a:t> (delta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2000">
                        <a:latin typeface="Cambria Math" panose="02040503050406030204" pitchFamily="18" charset="0"/>
                      </a:rPr>
                      <m:t>Δ</m:t>
                    </m:r>
                    <m:r>
                      <a:rPr lang="ko-KR" altLang="en-US" sz="2000" i="1" dirty="0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altLang="ko-KR" sz="2000" dirty="0"/>
                  <a:t>)</a:t>
                </a:r>
                <a:r>
                  <a:rPr lang="en-US" altLang="ko-KR" sz="2000" dirty="0">
                    <a:solidFill>
                      <a:schemeClr val="tx1"/>
                    </a:solidFill>
                  </a:rPr>
                  <a:t> </a:t>
                </a:r>
                <a:endParaRPr lang="ko-KR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F622B33B-D78B-B356-E12C-C9624FE061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3026" y="5316316"/>
                <a:ext cx="2126119" cy="400110"/>
              </a:xfrm>
              <a:prstGeom prst="rect">
                <a:avLst/>
              </a:prstGeom>
              <a:blipFill>
                <a:blip r:embed="rId10"/>
                <a:stretch>
                  <a:fillRect t="-7576" r="-2006" b="-2575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939325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20" grpId="0" animBg="1"/>
      <p:bldP spid="25" grpId="0"/>
      <p:bldP spid="27" grpId="0"/>
      <p:bldP spid="28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EBE704-8DE1-7BB9-596D-EF10D125F3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8FA9A4C3-396E-10BE-66AA-AC7E6665B8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Derivative</a:t>
            </a:r>
            <a:endParaRPr lang="ko-KR" altLang="en-US" b="1" cap="none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9F8158EE-7300-EB42-B21E-06B75CDED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14</a:t>
            </a:fld>
            <a:endParaRPr lang="en-US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5BA1B3ED-4F9A-1705-B5AF-BEAEA4C6627C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997524" y="1801027"/>
            <a:ext cx="3209285" cy="738135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C7AC1963-C7C8-1FDE-46F5-DEAB65824551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997524" y="3661429"/>
            <a:ext cx="5094740" cy="842437"/>
          </a:xfrm>
          <a:prstGeom prst="rect">
            <a:avLst/>
          </a:prstGeom>
        </p:spPr>
      </p:pic>
      <p:grpSp>
        <p:nvGrpSpPr>
          <p:cNvPr id="24" name="그룹 23">
            <a:extLst>
              <a:ext uri="{FF2B5EF4-FFF2-40B4-BE49-F238E27FC236}">
                <a16:creationId xmlns:a16="http://schemas.microsoft.com/office/drawing/2014/main" id="{658FFBEB-DE2C-E643-392A-CA3C9DDA7306}"/>
              </a:ext>
            </a:extLst>
          </p:cNvPr>
          <p:cNvGrpSpPr/>
          <p:nvPr/>
        </p:nvGrpSpPr>
        <p:grpSpPr>
          <a:xfrm>
            <a:off x="7521538" y="1687958"/>
            <a:ext cx="4098962" cy="4612192"/>
            <a:chOff x="7521538" y="1687958"/>
            <a:chExt cx="4098962" cy="4612192"/>
          </a:xfrm>
        </p:grpSpPr>
        <p:pic>
          <p:nvPicPr>
            <p:cNvPr id="2" name="그림 1">
              <a:extLst>
                <a:ext uri="{FF2B5EF4-FFF2-40B4-BE49-F238E27FC236}">
                  <a16:creationId xmlns:a16="http://schemas.microsoft.com/office/drawing/2014/main" id="{44F46D12-0BF6-2505-9A55-9CBC1C137F6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531062" y="1687958"/>
              <a:ext cx="4070003" cy="3874642"/>
            </a:xfrm>
            <a:prstGeom prst="rect">
              <a:avLst/>
            </a:prstGeom>
          </p:spPr>
        </p:pic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B6284489-BBFB-C41B-D708-43F28173731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521538" y="5572126"/>
              <a:ext cx="4098962" cy="728024"/>
            </a:xfrm>
            <a:prstGeom prst="rect">
              <a:avLst/>
            </a:prstGeom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E49AFF5-C2DD-3671-0764-7169E20A3B9C}"/>
                  </a:ext>
                </a:extLst>
              </p:cNvPr>
              <p:cNvSpPr txBox="1"/>
              <p:nvPr/>
            </p:nvSpPr>
            <p:spPr>
              <a:xfrm>
                <a:off x="942142" y="2761357"/>
                <a:ext cx="5771014" cy="4231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p>
                        <m:r>
                          <a:rPr lang="en-US" altLang="ko-KR" sz="16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d>
                      <m:dPr>
                        <m:ctrlPr>
                          <a:rPr lang="en-US" altLang="ko-KR" sz="16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altLang="ko-KR" sz="1600" dirty="0">
                    <a:solidFill>
                      <a:schemeClr val="tx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 = Derivative, The sensitivity to change</a:t>
                </a:r>
                <a:endParaRPr lang="ko-KR" altLang="en-US" sz="16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E49AFF5-C2DD-3671-0764-7169E20A3B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2142" y="2761357"/>
                <a:ext cx="5771014" cy="423129"/>
              </a:xfrm>
              <a:prstGeom prst="rect">
                <a:avLst/>
              </a:prstGeom>
              <a:blipFill>
                <a:blip r:embed="rId7"/>
                <a:stretch>
                  <a:fillRect l="-106" b="-1739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C753737-81BB-C606-581A-FCE4CFB21D91}"/>
                  </a:ext>
                </a:extLst>
              </p:cNvPr>
              <p:cNvSpPr txBox="1"/>
              <p:nvPr/>
            </p:nvSpPr>
            <p:spPr>
              <a:xfrm>
                <a:off x="971701" y="1428020"/>
                <a:ext cx="2855948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altLang="ko-KR" sz="16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  <a:sym typeface="Wingdings" panose="05000000000000000000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>
                        <a:latin typeface="Cambria Math" panose="02040503050406030204" pitchFamily="18" charset="0"/>
                      </a:rPr>
                      <m:t>Δ</m:t>
                    </m:r>
                    <m:r>
                      <a:rPr lang="ko-KR" altLang="en-US" sz="1600" i="1" dirty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ko-KR" altLang="en-US" sz="16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sz="1600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  <a:sym typeface="Wingdings" panose="05000000000000000000" pitchFamily="2" charset="2"/>
                  </a:rPr>
                  <a:t> </a:t>
                </a:r>
                <a:endParaRPr lang="ko-KR" altLang="en-US" sz="16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C753737-81BB-C606-581A-FCE4CFB21D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1701" y="1428020"/>
                <a:ext cx="2855948" cy="338554"/>
              </a:xfrm>
              <a:prstGeom prst="rect">
                <a:avLst/>
              </a:prstGeom>
              <a:blipFill>
                <a:blip r:embed="rId8"/>
                <a:stretch>
                  <a:fillRect t="-7143" b="-1964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D6DA3088-41BD-D0F8-F288-46549D350934}"/>
                  </a:ext>
                </a:extLst>
              </p:cNvPr>
              <p:cNvSpPr txBox="1"/>
              <p:nvPr/>
            </p:nvSpPr>
            <p:spPr>
              <a:xfrm>
                <a:off x="915383" y="3269069"/>
                <a:ext cx="647601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sz="1400" dirty="0">
                    <a:solidFill>
                      <a:schemeClr val="tx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찰라</a:t>
                </a:r>
                <a:r>
                  <a:rPr lang="en-US" altLang="ko-KR" sz="1400" dirty="0">
                    <a:solidFill>
                      <a:schemeClr val="tx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:r>
                  <a:rPr lang="ko-KR" altLang="en-US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刹那</a:t>
                </a:r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 Instant, Moment)</a:t>
                </a:r>
                <a:r>
                  <a:rPr lang="ko-KR" altLang="en-US" sz="1400" dirty="0">
                    <a:solidFill>
                      <a:schemeClr val="tx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의 </a:t>
                </a:r>
                <a14:m>
                  <m:oMath xmlns:m="http://schemas.openxmlformats.org/officeDocument/2006/math">
                    <m:r>
                      <a:rPr lang="en-US" altLang="ko-KR" sz="14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ko-KR" sz="1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ko-KR" altLang="en-US" sz="1400" dirty="0">
                    <a:solidFill>
                      <a:schemeClr val="tx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변화량에 대한 </a:t>
                </a:r>
                <a14:m>
                  <m:oMath xmlns:m="http://schemas.openxmlformats.org/officeDocument/2006/math">
                    <m:r>
                      <a:rPr lang="ko-KR" altLang="en-US" sz="1400" i="1" dirty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ko-KR" altLang="en-US" sz="1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sz="1400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ko-KR" altLang="en-US" sz="1400" dirty="0">
                    <a:solidFill>
                      <a:schemeClr val="tx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 변화량</a:t>
                </a:r>
                <a:endParaRPr lang="en-US" altLang="ko-KR" sz="14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D6DA3088-41BD-D0F8-F288-46549D3509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5383" y="3269069"/>
                <a:ext cx="6476017" cy="307777"/>
              </a:xfrm>
              <a:prstGeom prst="rect">
                <a:avLst/>
              </a:prstGeom>
              <a:blipFill>
                <a:blip r:embed="rId9"/>
                <a:stretch>
                  <a:fillRect l="-282" t="-3922" b="-1764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6" name="그림 25">
            <a:extLst>
              <a:ext uri="{FF2B5EF4-FFF2-40B4-BE49-F238E27FC236}">
                <a16:creationId xmlns:a16="http://schemas.microsoft.com/office/drawing/2014/main" id="{0790DE03-EAD9-8813-227A-18873952852E}"/>
              </a:ext>
            </a:extLst>
          </p:cNvPr>
          <p:cNvPicPr>
            <a:picLocks noChangeAspect="1"/>
          </p:cNvPicPr>
          <p:nvPr/>
        </p:nvPicPr>
        <p:blipFill>
          <a:blip r:embed="rId10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997524" y="4839002"/>
            <a:ext cx="5391612" cy="844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89577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0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D0863D-8B9C-4B2D-5CA8-C102E2B6F4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C8533B6C-7B95-56E7-4AFB-8A273A3F4C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sympy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AB964FA8-F6A5-1FFC-915D-5DB51A563F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15</a:t>
            </a:fld>
            <a:endParaRPr 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65AA712C-4D11-7672-960E-36CD713F63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1739" y="2064793"/>
            <a:ext cx="5745786" cy="4259806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D1004B2B-1922-84AE-9056-5A562BD99E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1434" y="2064792"/>
            <a:ext cx="3223215" cy="42304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B80196E0-95CC-D647-011C-1196D09D17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7"/>
            <a:ext cx="10629571" cy="4784067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sz="2000" dirty="0"/>
              <a:t>아래 </a:t>
            </a:r>
            <a:r>
              <a:rPr lang="en-US" altLang="ko-KR" sz="2000" dirty="0"/>
              <a:t>4</a:t>
            </a:r>
            <a:r>
              <a:rPr lang="ko-KR" altLang="en-US" sz="2000" dirty="0"/>
              <a:t>개 코드를 실습하기</a:t>
            </a:r>
            <a:r>
              <a:rPr lang="en-US" altLang="ko-KR" sz="2000" dirty="0"/>
              <a:t>(recap)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10439434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579D25-B193-8DB3-E09B-76B8A72A2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674175AB-2F00-B7A5-9237-70812891B0A9}"/>
              </a:ext>
            </a:extLst>
          </p:cNvPr>
          <p:cNvSpPr/>
          <p:nvPr/>
        </p:nvSpPr>
        <p:spPr>
          <a:xfrm>
            <a:off x="1104901" y="3117946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63BC4CBB-0ACA-2E0D-5D5D-C8C9AC650C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F79CBA1-A476-2653-3142-D5292AE3B7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</a:rPr>
              <a:t>sympy</a:t>
            </a:r>
            <a:endParaRPr lang="en-US" altLang="ko-KR" sz="1800" cap="none" dirty="0">
              <a:solidFill>
                <a:schemeClr val="tx1"/>
              </a:solidFill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Derivative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Linear Programming</a:t>
            </a: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44DEC6B-6251-6C67-499B-DA31BB550E6D}"/>
              </a:ext>
            </a:extLst>
          </p:cNvPr>
          <p:cNvSpPr txBox="1"/>
          <p:nvPr/>
        </p:nvSpPr>
        <p:spPr>
          <a:xfrm>
            <a:off x="7239000" y="1338537"/>
            <a:ext cx="4400550" cy="33290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projection</a:t>
            </a:r>
          </a:p>
        </p:txBody>
      </p:sp>
    </p:spTree>
    <p:extLst>
      <p:ext uri="{BB962C8B-B14F-4D97-AF65-F5344CB8AC3E}">
        <p14:creationId xmlns:p14="http://schemas.microsoft.com/office/powerpoint/2010/main" val="30485533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85DBF7-AB87-CB1E-4F78-323C7FAF6A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802B9442-5172-8A2C-4B61-7CAEF63007F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78229" y="1321458"/>
                <a:ext cx="10518446" cy="766439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위치함수 </a:t>
                </a:r>
                <a14:m>
                  <m:oMath xmlns:m="http://schemas.openxmlformats.org/officeDocument/2006/math">
                    <m:r>
                      <a:rPr lang="en-US" altLang="ko-KR" i="1" smtClean="0">
                        <a:latin typeface="Cambria Math" panose="02040503050406030204" pitchFamily="18" charset="0"/>
                      </a:rPr>
                      <m:t>𝑠</m:t>
                    </m:r>
                    <m:d>
                      <m:dPr>
                        <m:ctrlPr>
                          <a:rPr lang="en-US" altLang="ko-KR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altLang="ko-KR" i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ko-K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altLang="ko-KR" i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에 대한 순간 속도를 </a:t>
                </a:r>
                <a:r>
                  <a:rPr lang="ko-KR" altLang="en-US" dirty="0" err="1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중앙차분법과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 </a:t>
                </a:r>
                <a:r>
                  <a:rPr lang="en-US" altLang="ko-KR" dirty="0" err="1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numpy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함수를 이용하여 구해보자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</mc:Choice>
        <mc:Fallback xmlns="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802B9442-5172-8A2C-4B61-7CAEF63007F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78229" y="1321458"/>
                <a:ext cx="10518446" cy="766439"/>
              </a:xfrm>
              <a:blipFill>
                <a:blip r:embed="rId2"/>
                <a:stretch>
                  <a:fillRect l="-232" r="-46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제목 1">
            <a:extLst>
              <a:ext uri="{FF2B5EF4-FFF2-40B4-BE49-F238E27FC236}">
                <a16:creationId xmlns:a16="http://schemas.microsoft.com/office/drawing/2014/main" id="{E0AD441E-5917-450E-4906-51D94A1D09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93C5350-3870-2D8F-063A-AD4B66AB35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17</a:t>
            </a:fld>
            <a:endParaRPr lang="en-US" dirty="0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10D2425C-5D0B-8F86-601F-AFC41FBF77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57009" y="2087898"/>
            <a:ext cx="6356032" cy="37917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그림 8" descr="불꽃이 있는 우주 로켓">
            <a:extLst>
              <a:ext uri="{FF2B5EF4-FFF2-40B4-BE49-F238E27FC236}">
                <a16:creationId xmlns:a16="http://schemas.microsoft.com/office/drawing/2014/main" id="{4DD46942-20D7-B59E-C0D1-F08DDB0A8B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09403" y="2740430"/>
            <a:ext cx="1232065" cy="1847686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E37E263C-2F2F-308B-A9E6-12A6BA145ACC}"/>
              </a:ext>
            </a:extLst>
          </p:cNvPr>
          <p:cNvSpPr txBox="1"/>
          <p:nvPr/>
        </p:nvSpPr>
        <p:spPr>
          <a:xfrm>
            <a:off x="8291821" y="2713227"/>
            <a:ext cx="3122286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속도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(Velocity, Speed)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CA229A77-5894-DDC2-D988-EB98393F9ADD}"/>
              </a:ext>
            </a:extLst>
          </p:cNvPr>
          <p:cNvCxnSpPr>
            <a:cxnSpLocks/>
          </p:cNvCxnSpPr>
          <p:nvPr/>
        </p:nvCxnSpPr>
        <p:spPr>
          <a:xfrm>
            <a:off x="8545675" y="3082559"/>
            <a:ext cx="0" cy="196258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4AADB2BB-00F1-C005-DE32-A58D3050CFC2}"/>
              </a:ext>
            </a:extLst>
          </p:cNvPr>
          <p:cNvCxnSpPr>
            <a:cxnSpLocks/>
          </p:cNvCxnSpPr>
          <p:nvPr/>
        </p:nvCxnSpPr>
        <p:spPr>
          <a:xfrm flipH="1">
            <a:off x="8545675" y="5061096"/>
            <a:ext cx="780473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871B5042-81F3-1D81-50D6-FAD08CC36ACA}"/>
              </a:ext>
            </a:extLst>
          </p:cNvPr>
          <p:cNvSpPr txBox="1"/>
          <p:nvPr/>
        </p:nvSpPr>
        <p:spPr>
          <a:xfrm>
            <a:off x="9190781" y="4891356"/>
            <a:ext cx="2428240" cy="307585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np.gradient</a:t>
            </a:r>
            <a:r>
              <a:rPr lang="en-US" altLang="ko-KR" sz="16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(s, dt)</a:t>
            </a:r>
          </a:p>
        </p:txBody>
      </p: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CFA6D832-DDA5-75AF-5F7C-1D7C5BD5A5E6}"/>
              </a:ext>
            </a:extLst>
          </p:cNvPr>
          <p:cNvCxnSpPr>
            <a:cxnSpLocks/>
          </p:cNvCxnSpPr>
          <p:nvPr/>
        </p:nvCxnSpPr>
        <p:spPr>
          <a:xfrm flipH="1">
            <a:off x="8545674" y="4227514"/>
            <a:ext cx="780473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그림 2">
            <a:extLst>
              <a:ext uri="{FF2B5EF4-FFF2-40B4-BE49-F238E27FC236}">
                <a16:creationId xmlns:a16="http://schemas.microsoft.com/office/drawing/2014/main" id="{7FE18C21-4770-2BC0-8BD7-B0587A0B5DB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90781" y="3902023"/>
            <a:ext cx="2428241" cy="611306"/>
          </a:xfrm>
          <a:prstGeom prst="rect">
            <a:avLst/>
          </a:prstGeom>
        </p:spPr>
      </p:pic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9A1129D1-E02F-663C-DE78-044988D5F367}"/>
              </a:ext>
            </a:extLst>
          </p:cNvPr>
          <p:cNvCxnSpPr>
            <a:cxnSpLocks/>
          </p:cNvCxnSpPr>
          <p:nvPr/>
        </p:nvCxnSpPr>
        <p:spPr>
          <a:xfrm>
            <a:off x="5928995" y="3690004"/>
            <a:ext cx="0" cy="1858669"/>
          </a:xfrm>
          <a:prstGeom prst="line">
            <a:avLst/>
          </a:prstGeom>
          <a:ln w="19050">
            <a:solidFill>
              <a:schemeClr val="bg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98C1F9A6-971B-726E-5877-CBE6973EAEAC}"/>
              </a:ext>
            </a:extLst>
          </p:cNvPr>
          <p:cNvCxnSpPr>
            <a:cxnSpLocks/>
          </p:cNvCxnSpPr>
          <p:nvPr/>
        </p:nvCxnSpPr>
        <p:spPr>
          <a:xfrm>
            <a:off x="5351145" y="4153554"/>
            <a:ext cx="0" cy="1395119"/>
          </a:xfrm>
          <a:prstGeom prst="line">
            <a:avLst/>
          </a:prstGeom>
          <a:ln w="19050">
            <a:solidFill>
              <a:schemeClr val="bg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7" name="그림 36">
            <a:extLst>
              <a:ext uri="{FF2B5EF4-FFF2-40B4-BE49-F238E27FC236}">
                <a16:creationId xmlns:a16="http://schemas.microsoft.com/office/drawing/2014/main" id="{60BF6107-619C-08B0-29B9-4D6DA7EFDC2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83783" y="4493465"/>
            <a:ext cx="214728" cy="203992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52BBB12B-4700-373C-9B8C-1DA4CFF4B82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67289" y="4493465"/>
            <a:ext cx="214728" cy="203992"/>
          </a:xfrm>
          <a:prstGeom prst="rect">
            <a:avLst/>
          </a:prstGeom>
        </p:spPr>
      </p:pic>
      <p:cxnSp>
        <p:nvCxnSpPr>
          <p:cNvPr id="40" name="직선 연결선 39">
            <a:extLst>
              <a:ext uri="{FF2B5EF4-FFF2-40B4-BE49-F238E27FC236}">
                <a16:creationId xmlns:a16="http://schemas.microsoft.com/office/drawing/2014/main" id="{B878AE90-89B1-9AB6-DB68-2D8F517F95D2}"/>
              </a:ext>
            </a:extLst>
          </p:cNvPr>
          <p:cNvCxnSpPr>
            <a:cxnSpLocks/>
          </p:cNvCxnSpPr>
          <p:nvPr/>
        </p:nvCxnSpPr>
        <p:spPr>
          <a:xfrm>
            <a:off x="1874520" y="3690004"/>
            <a:ext cx="4054475" cy="0"/>
          </a:xfrm>
          <a:prstGeom prst="line">
            <a:avLst/>
          </a:prstGeom>
          <a:ln w="19050">
            <a:solidFill>
              <a:schemeClr val="bg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연결선 43">
            <a:extLst>
              <a:ext uri="{FF2B5EF4-FFF2-40B4-BE49-F238E27FC236}">
                <a16:creationId xmlns:a16="http://schemas.microsoft.com/office/drawing/2014/main" id="{98C896C9-A8B3-FD2C-676E-214761FCB465}"/>
              </a:ext>
            </a:extLst>
          </p:cNvPr>
          <p:cNvCxnSpPr>
            <a:cxnSpLocks/>
          </p:cNvCxnSpPr>
          <p:nvPr/>
        </p:nvCxnSpPr>
        <p:spPr>
          <a:xfrm>
            <a:off x="1874520" y="4153554"/>
            <a:ext cx="3476625" cy="0"/>
          </a:xfrm>
          <a:prstGeom prst="line">
            <a:avLst/>
          </a:prstGeom>
          <a:ln w="19050">
            <a:solidFill>
              <a:schemeClr val="bg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직선 화살표 연결선 49">
            <a:extLst>
              <a:ext uri="{FF2B5EF4-FFF2-40B4-BE49-F238E27FC236}">
                <a16:creationId xmlns:a16="http://schemas.microsoft.com/office/drawing/2014/main" id="{3B547E61-CFCB-50F6-E724-111F32E0B5A8}"/>
              </a:ext>
            </a:extLst>
          </p:cNvPr>
          <p:cNvCxnSpPr/>
          <p:nvPr/>
        </p:nvCxnSpPr>
        <p:spPr>
          <a:xfrm>
            <a:off x="5683783" y="4768890"/>
            <a:ext cx="214728" cy="0"/>
          </a:xfrm>
          <a:prstGeom prst="straightConnector1">
            <a:avLst/>
          </a:prstGeom>
          <a:ln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9CC82431-068A-12FF-19F8-5C722F0C9752}"/>
              </a:ext>
            </a:extLst>
          </p:cNvPr>
          <p:cNvCxnSpPr>
            <a:cxnSpLocks/>
          </p:cNvCxnSpPr>
          <p:nvPr/>
        </p:nvCxnSpPr>
        <p:spPr>
          <a:xfrm flipH="1">
            <a:off x="5381676" y="4761067"/>
            <a:ext cx="18595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5" name="그림 34">
            <a:extLst>
              <a:ext uri="{FF2B5EF4-FFF2-40B4-BE49-F238E27FC236}">
                <a16:creationId xmlns:a16="http://schemas.microsoft.com/office/drawing/2014/main" id="{5F4FB917-B48B-E8F5-7FBC-6D2A29A918C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56436" y="4174217"/>
            <a:ext cx="671025" cy="230833"/>
          </a:xfrm>
          <a:prstGeom prst="rect">
            <a:avLst/>
          </a:prstGeom>
        </p:spPr>
      </p:pic>
      <p:pic>
        <p:nvPicPr>
          <p:cNvPr id="33" name="그림 32">
            <a:extLst>
              <a:ext uri="{FF2B5EF4-FFF2-40B4-BE49-F238E27FC236}">
                <a16:creationId xmlns:a16="http://schemas.microsoft.com/office/drawing/2014/main" id="{EFB04A94-A944-9FC5-C3F3-94B5B74745C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925616" y="3383328"/>
            <a:ext cx="654921" cy="225465"/>
          </a:xfrm>
          <a:prstGeom prst="rect">
            <a:avLst/>
          </a:prstGeom>
        </p:spPr>
      </p:pic>
      <p:sp>
        <p:nvSpPr>
          <p:cNvPr id="55" name="직각 삼각형 54">
            <a:extLst>
              <a:ext uri="{FF2B5EF4-FFF2-40B4-BE49-F238E27FC236}">
                <a16:creationId xmlns:a16="http://schemas.microsoft.com/office/drawing/2014/main" id="{1C4ED2C9-78D4-C636-721F-F63B5A6B5101}"/>
              </a:ext>
            </a:extLst>
          </p:cNvPr>
          <p:cNvSpPr/>
          <p:nvPr/>
        </p:nvSpPr>
        <p:spPr>
          <a:xfrm flipH="1">
            <a:off x="5370385" y="3699156"/>
            <a:ext cx="558609" cy="463316"/>
          </a:xfrm>
          <a:prstGeom prst="rtTriangle">
            <a:avLst/>
          </a:prstGeom>
          <a:solidFill>
            <a:schemeClr val="tx1">
              <a:lumMod val="85000"/>
            </a:schemeClr>
          </a:solidFill>
          <a:ln w="3175">
            <a:solidFill>
              <a:schemeClr val="tx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7" name="직선 연결선 56">
            <a:extLst>
              <a:ext uri="{FF2B5EF4-FFF2-40B4-BE49-F238E27FC236}">
                <a16:creationId xmlns:a16="http://schemas.microsoft.com/office/drawing/2014/main" id="{77196668-3F64-2517-AECE-1ADD46591312}"/>
              </a:ext>
            </a:extLst>
          </p:cNvPr>
          <p:cNvCxnSpPr>
            <a:cxnSpLocks/>
          </p:cNvCxnSpPr>
          <p:nvPr/>
        </p:nvCxnSpPr>
        <p:spPr>
          <a:xfrm flipV="1">
            <a:off x="4969506" y="3429000"/>
            <a:ext cx="1277832" cy="106446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ED9BD5B1-7AB1-5066-C062-A12F9FD19571}"/>
              </a:ext>
            </a:extLst>
          </p:cNvPr>
          <p:cNvSpPr txBox="1"/>
          <p:nvPr/>
        </p:nvSpPr>
        <p:spPr>
          <a:xfrm>
            <a:off x="6367270" y="3167390"/>
            <a:ext cx="49277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b="1" dirty="0">
                <a:solidFill>
                  <a:srgbClr val="C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속도</a:t>
            </a:r>
            <a:endParaRPr lang="ko-KR" altLang="en-US" sz="1100" dirty="0">
              <a:solidFill>
                <a:srgbClr val="C00000"/>
              </a:solidFill>
            </a:endParaRPr>
          </a:p>
        </p:txBody>
      </p:sp>
      <p:cxnSp>
        <p:nvCxnSpPr>
          <p:cNvPr id="3073" name="직선 연결선 3072">
            <a:extLst>
              <a:ext uri="{FF2B5EF4-FFF2-40B4-BE49-F238E27FC236}">
                <a16:creationId xmlns:a16="http://schemas.microsoft.com/office/drawing/2014/main" id="{22B1AF3D-8145-24BC-DB0C-4A7D2588654C}"/>
              </a:ext>
            </a:extLst>
          </p:cNvPr>
          <p:cNvCxnSpPr>
            <a:cxnSpLocks/>
          </p:cNvCxnSpPr>
          <p:nvPr/>
        </p:nvCxnSpPr>
        <p:spPr>
          <a:xfrm flipV="1">
            <a:off x="2293687" y="5241311"/>
            <a:ext cx="1110390" cy="20633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81" name="직선 연결선 3080">
            <a:extLst>
              <a:ext uri="{FF2B5EF4-FFF2-40B4-BE49-F238E27FC236}">
                <a16:creationId xmlns:a16="http://schemas.microsoft.com/office/drawing/2014/main" id="{DB4F4A22-E44A-C68E-7877-BA8A83659DF2}"/>
              </a:ext>
            </a:extLst>
          </p:cNvPr>
          <p:cNvCxnSpPr>
            <a:cxnSpLocks/>
          </p:cNvCxnSpPr>
          <p:nvPr/>
        </p:nvCxnSpPr>
        <p:spPr>
          <a:xfrm flipV="1">
            <a:off x="3556320" y="4794290"/>
            <a:ext cx="874285" cy="38764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093" name="그룹 3092">
            <a:extLst>
              <a:ext uri="{FF2B5EF4-FFF2-40B4-BE49-F238E27FC236}">
                <a16:creationId xmlns:a16="http://schemas.microsoft.com/office/drawing/2014/main" id="{DB0BB0C9-EC8A-3295-DB12-B048E5356A34}"/>
              </a:ext>
            </a:extLst>
          </p:cNvPr>
          <p:cNvGrpSpPr/>
          <p:nvPr/>
        </p:nvGrpSpPr>
        <p:grpSpPr>
          <a:xfrm>
            <a:off x="1905051" y="3920942"/>
            <a:ext cx="5645353" cy="2389220"/>
            <a:chOff x="1905051" y="3920942"/>
            <a:chExt cx="5645353" cy="2389220"/>
          </a:xfrm>
        </p:grpSpPr>
        <p:cxnSp>
          <p:nvCxnSpPr>
            <p:cNvPr id="21" name="직선 연결선 20">
              <a:extLst>
                <a:ext uri="{FF2B5EF4-FFF2-40B4-BE49-F238E27FC236}">
                  <a16:creationId xmlns:a16="http://schemas.microsoft.com/office/drawing/2014/main" id="{0F9FD547-46B8-E799-598A-81292210F4FB}"/>
                </a:ext>
              </a:extLst>
            </p:cNvPr>
            <p:cNvCxnSpPr>
              <a:cxnSpLocks/>
            </p:cNvCxnSpPr>
            <p:nvPr/>
          </p:nvCxnSpPr>
          <p:spPr>
            <a:xfrm>
              <a:off x="5640070" y="3921073"/>
              <a:ext cx="0" cy="1627600"/>
            </a:xfrm>
            <a:prstGeom prst="line">
              <a:avLst/>
            </a:prstGeom>
            <a:ln w="19050">
              <a:solidFill>
                <a:schemeClr val="bg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직선 연결선 52">
              <a:extLst>
                <a:ext uri="{FF2B5EF4-FFF2-40B4-BE49-F238E27FC236}">
                  <a16:creationId xmlns:a16="http://schemas.microsoft.com/office/drawing/2014/main" id="{6E56D11D-E723-12C5-5EF9-4771755500E2}"/>
                </a:ext>
              </a:extLst>
            </p:cNvPr>
            <p:cNvCxnSpPr>
              <a:cxnSpLocks/>
            </p:cNvCxnSpPr>
            <p:nvPr/>
          </p:nvCxnSpPr>
          <p:spPr>
            <a:xfrm>
              <a:off x="1905051" y="3920942"/>
              <a:ext cx="3735019" cy="6966"/>
            </a:xfrm>
            <a:prstGeom prst="line">
              <a:avLst/>
            </a:prstGeom>
            <a:ln w="19050">
              <a:solidFill>
                <a:schemeClr val="bg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90" name="TextBox 3089">
                  <a:extLst>
                    <a:ext uri="{FF2B5EF4-FFF2-40B4-BE49-F238E27FC236}">
                      <a16:creationId xmlns:a16="http://schemas.microsoft.com/office/drawing/2014/main" id="{A5E4DC45-CAE4-E5FA-B49D-1EB73122E8A1}"/>
                    </a:ext>
                  </a:extLst>
                </p:cNvPr>
                <p:cNvSpPr txBox="1"/>
                <p:nvPr/>
              </p:nvSpPr>
              <p:spPr>
                <a:xfrm>
                  <a:off x="5184135" y="6002385"/>
                  <a:ext cx="2366269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altLang="ko-KR" sz="1400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altLang="ko-KR" sz="14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en-US" altLang="ko-KR" sz="1400" dirty="0">
                      <a:latin typeface="D2Coding" panose="020B0609020101020101" pitchFamily="49" charset="-127"/>
                      <a:ea typeface="D2Coding" panose="020B0609020101020101" pitchFamily="49" charset="-127"/>
                    </a:rPr>
                    <a:t>=7 </a:t>
                  </a:r>
                  <a:r>
                    <a:rPr lang="ko-KR" altLang="en-US" sz="1400" dirty="0">
                      <a:latin typeface="D2Coding" panose="020B0609020101020101" pitchFamily="49" charset="-127"/>
                      <a:ea typeface="D2Coding" panose="020B0609020101020101" pitchFamily="49" charset="-127"/>
                    </a:rPr>
                    <a:t>에서 </a:t>
                  </a:r>
                  <a:r>
                    <a:rPr lang="en-US" altLang="ko-KR" sz="1400" dirty="0">
                      <a:latin typeface="D2Coding" panose="020B0609020101020101" pitchFamily="49" charset="-127"/>
                      <a:ea typeface="D2Coding" panose="020B0609020101020101" pitchFamily="49" charset="-127"/>
                    </a:rPr>
                    <a:t>(</a:t>
                  </a:r>
                  <a:r>
                    <a:rPr lang="ko-KR" altLang="en-US" sz="1400" dirty="0">
                      <a:latin typeface="D2Coding" panose="020B0609020101020101" pitchFamily="49" charset="-127"/>
                      <a:ea typeface="D2Coding" panose="020B0609020101020101" pitchFamily="49" charset="-127"/>
                    </a:rPr>
                    <a:t>순간</a:t>
                  </a:r>
                  <a:r>
                    <a:rPr lang="en-US" altLang="ko-KR" sz="1400" dirty="0">
                      <a:latin typeface="D2Coding" panose="020B0609020101020101" pitchFamily="49" charset="-127"/>
                      <a:ea typeface="D2Coding" panose="020B0609020101020101" pitchFamily="49" charset="-127"/>
                    </a:rPr>
                    <a:t>) </a:t>
                  </a:r>
                  <a:r>
                    <a:rPr lang="ko-KR" altLang="en-US" sz="1400" dirty="0">
                      <a:latin typeface="D2Coding" panose="020B0609020101020101" pitchFamily="49" charset="-127"/>
                      <a:ea typeface="D2Coding" panose="020B0609020101020101" pitchFamily="49" charset="-127"/>
                    </a:rPr>
                    <a:t>속도는</a:t>
                  </a:r>
                  <a:r>
                    <a:rPr lang="en-US" altLang="ko-KR" sz="1400" dirty="0">
                      <a:latin typeface="D2Coding" panose="020B0609020101020101" pitchFamily="49" charset="-127"/>
                      <a:ea typeface="D2Coding" panose="020B0609020101020101" pitchFamily="49" charset="-127"/>
                    </a:rPr>
                    <a:t>?</a:t>
                  </a:r>
                  <a:endParaRPr lang="ko-KR" altLang="en-US" sz="1400" dirty="0">
                    <a:latin typeface="D2Coding" panose="020B0609020101020101" pitchFamily="49" charset="-127"/>
                    <a:ea typeface="D2Coding" panose="020B0609020101020101" pitchFamily="49" charset="-127"/>
                  </a:endParaRPr>
                </a:p>
              </p:txBody>
            </p:sp>
          </mc:Choice>
          <mc:Fallback xmlns="">
            <p:sp>
              <p:nvSpPr>
                <p:cNvPr id="3090" name="TextBox 3089">
                  <a:extLst>
                    <a:ext uri="{FF2B5EF4-FFF2-40B4-BE49-F238E27FC236}">
                      <a16:creationId xmlns:a16="http://schemas.microsoft.com/office/drawing/2014/main" id="{A5E4DC45-CAE4-E5FA-B49D-1EB73122E8A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84135" y="6002385"/>
                  <a:ext cx="2366269" cy="307777"/>
                </a:xfrm>
                <a:prstGeom prst="rect">
                  <a:avLst/>
                </a:prstGeom>
                <a:blipFill>
                  <a:blip r:embed="rId9"/>
                  <a:stretch>
                    <a:fillRect t="-6000" b="-1800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3092" name="그래픽 3091" descr="위쪽 화살표 단색으로 채워진">
              <a:extLst>
                <a:ext uri="{FF2B5EF4-FFF2-40B4-BE49-F238E27FC236}">
                  <a16:creationId xmlns:a16="http://schemas.microsoft.com/office/drawing/2014/main" id="{D16EEB43-6588-09F2-68EB-9887D2CF1D6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5452500" y="5629884"/>
              <a:ext cx="375140" cy="37514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119554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5" grpId="0" animBg="1"/>
      <p:bldP spid="6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925B32-3A82-65C8-07D9-E80625DED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0AD07620-1C56-7E04-E640-894F691149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91CE662-B35B-C77A-D49F-4A75B2A8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18</a:t>
            </a:fld>
            <a:endParaRPr 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19CA904-9641-C50F-FC09-6A1532A4DD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858" y="966071"/>
            <a:ext cx="2428241" cy="61130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C9DAC9E-F85E-19E4-742B-1724AC7EFD2F}"/>
              </a:ext>
            </a:extLst>
          </p:cNvPr>
          <p:cNvSpPr txBox="1"/>
          <p:nvPr/>
        </p:nvSpPr>
        <p:spPr>
          <a:xfrm>
            <a:off x="6449007" y="1269792"/>
            <a:ext cx="2428240" cy="307585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np.gradient</a:t>
            </a:r>
            <a:r>
              <a:rPr lang="en-US" altLang="ko-KR" sz="16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(s, dt)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0E3A5D-3E52-D6C6-5536-BF9FA2893FD5}"/>
              </a:ext>
            </a:extLst>
          </p:cNvPr>
          <p:cNvSpPr txBox="1"/>
          <p:nvPr/>
        </p:nvSpPr>
        <p:spPr>
          <a:xfrm>
            <a:off x="6454087" y="1665406"/>
            <a:ext cx="5480988" cy="332398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np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matplotlib.pyplot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</a:t>
            </a:r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 생성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시간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와 위치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초부터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초까지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0.1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초 간격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총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101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 지점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np.linspace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(0, 10, 101)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dt = t[1] - t[0]  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시간 간격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(delta t)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위치 함수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s(t) = t^2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이론적 속도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v(t) = 2t)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 = t**2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velocity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np.gradient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(s, dt)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결과 확인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이론값과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비교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theoretical_v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2 * t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시간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초에서 수치적 속도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{velocity[50]:.2f}")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시간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초에서 이론적 속도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theoretical_v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[50]:.2f}")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2EF8188-0C4C-AB10-D6DB-02DAAE7695C3}"/>
              </a:ext>
            </a:extLst>
          </p:cNvPr>
          <p:cNvSpPr txBox="1"/>
          <p:nvPr/>
        </p:nvSpPr>
        <p:spPr>
          <a:xfrm>
            <a:off x="360626" y="1665406"/>
            <a:ext cx="5735374" cy="504753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np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def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central_difference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(f, x, eps=1e-6):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"""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중앙 차분법을 이용한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미분값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계산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미분할 함수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    x: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미분값을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구할 지점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eps: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아주 작은 변화량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(epsilon)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"""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공식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v(t) ≈ [s(t + </a:t>
            </a:r>
            <a:r>
              <a:rPr lang="el-G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t) - s(t - </a:t>
            </a:r>
            <a:r>
              <a:rPr lang="el-G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t)] / (2 * </a:t>
            </a:r>
            <a:r>
              <a:rPr lang="el-G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numerator = f(x + eps) - f(x - eps)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denominator = 2 * eps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return numerator / denominator</a:t>
            </a:r>
          </a:p>
          <a:p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def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target_function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(x):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return x**2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설정값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x_point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5; epsilon = 0.000001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실행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result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central_difference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target_function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x_point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epsilon)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지점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 =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x_point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에서의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미분값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{result}")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실제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이론값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(2x): {2 *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x_point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오차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{abs(result - 2 *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x_point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)}")</a:t>
            </a:r>
          </a:p>
        </p:txBody>
      </p:sp>
    </p:spTree>
    <p:extLst>
      <p:ext uri="{BB962C8B-B14F-4D97-AF65-F5344CB8AC3E}">
        <p14:creationId xmlns:p14="http://schemas.microsoft.com/office/powerpoint/2010/main" val="20578667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A1D2E0-2257-774C-2CE0-9876494C95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5ECC3E1B-5FE9-5AB9-82E8-AB76F65A3F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437916" cy="882141"/>
          </a:xfrm>
        </p:spPr>
        <p:txBody>
          <a:bodyPr>
            <a:normAutofit fontScale="85000" lnSpcReduction="10000"/>
          </a:bodyPr>
          <a:lstStyle/>
          <a:p>
            <a:pPr marL="0" indent="0">
              <a:lnSpc>
                <a:spcPct val="170000"/>
              </a:lnSpc>
              <a:buNone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시속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10km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로 등속도로 달리는 자동차로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시간을 주행하면 이동한 전체 거리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(km)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를 구하는 파이썬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코드를 제시하라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. (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가속도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감속도 경우도 이해하자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1D5C4B0A-829B-B462-60CD-D89B11EAEC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0C93499E-0D1F-5A9E-8275-13B1A27A18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19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21C1459-41A7-5694-0A39-8BF657E0807E}"/>
              </a:ext>
            </a:extLst>
          </p:cNvPr>
          <p:cNvSpPr txBox="1"/>
          <p:nvPr/>
        </p:nvSpPr>
        <p:spPr>
          <a:xfrm>
            <a:off x="1052944" y="2628212"/>
            <a:ext cx="2493820" cy="3046988"/>
          </a:xfrm>
          <a:prstGeom prst="rect">
            <a:avLst/>
          </a:prstGeom>
          <a:solidFill>
            <a:srgbClr val="0070C0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sympy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위치 함수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 = 10 * t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속도 함수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v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sp.diff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(s, t)</a:t>
            </a:r>
          </a:p>
          <a:p>
            <a:b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가속도 함수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sp.diff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(v, t)</a:t>
            </a:r>
          </a:p>
          <a:p>
            <a:b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s, v, a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DA29581A-6140-FAB3-D8B4-AB6A5C8EA406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3948768" y="3402581"/>
            <a:ext cx="1571501" cy="95320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35D6A34-286E-BDEC-B6BB-6AF863338077}"/>
              </a:ext>
            </a:extLst>
          </p:cNvPr>
          <p:cNvSpPr txBox="1"/>
          <p:nvPr/>
        </p:nvSpPr>
        <p:spPr>
          <a:xfrm>
            <a:off x="3823854" y="2933134"/>
            <a:ext cx="278014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등속도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미분방정식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sz="1600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0EA65AE1-F844-91FE-6133-9E7323AB2F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8330" y="2619534"/>
            <a:ext cx="5749634" cy="38201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626496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E99D3E-46A4-A2C8-CC98-FF671370EB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A7CD448D-1021-7984-7067-77CC4C9CFA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437916" cy="601593"/>
          </a:xfrm>
        </p:spPr>
        <p:txBody>
          <a:bodyPr>
            <a:normAutofit/>
          </a:bodyPr>
          <a:lstStyle/>
          <a:p>
            <a:pPr marL="0" indent="0">
              <a:lnSpc>
                <a:spcPct val="170000"/>
              </a:lnSpc>
              <a:buNone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가속과 감속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B890EB10-8295-8E50-EBB3-4C2900D805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08E7932-647B-ADCF-0E30-92D86F5242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20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4E49171-8FC8-5680-9D88-653EA5CA2F72}"/>
              </a:ext>
            </a:extLst>
          </p:cNvPr>
          <p:cNvSpPr txBox="1"/>
          <p:nvPr/>
        </p:nvSpPr>
        <p:spPr>
          <a:xfrm>
            <a:off x="1071998" y="2241826"/>
            <a:ext cx="2493820" cy="584775"/>
          </a:xfrm>
          <a:prstGeom prst="rect">
            <a:avLst/>
          </a:prstGeom>
          <a:solidFill>
            <a:srgbClr val="0070C0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위치 함수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 = 10 * t**2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57BB5C8-A7B3-5F37-E73B-25905D6DFA79}"/>
              </a:ext>
            </a:extLst>
          </p:cNvPr>
          <p:cNvSpPr txBox="1"/>
          <p:nvPr/>
        </p:nvSpPr>
        <p:spPr>
          <a:xfrm>
            <a:off x="4137886" y="1842539"/>
            <a:ext cx="223981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가속도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미분방정식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sz="1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90E20D3-7340-6EC1-3CFB-F354537006BE}"/>
              </a:ext>
            </a:extLst>
          </p:cNvPr>
          <p:cNvSpPr txBox="1"/>
          <p:nvPr/>
        </p:nvSpPr>
        <p:spPr>
          <a:xfrm>
            <a:off x="6691161" y="2241826"/>
            <a:ext cx="2493820" cy="584775"/>
          </a:xfrm>
          <a:prstGeom prst="rect">
            <a:avLst/>
          </a:prstGeom>
          <a:solidFill>
            <a:srgbClr val="0070C0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위치 함수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 = -10 * t**2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CA1ACF6B-DA24-9223-CADC-E6844CD0E882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4485981" y="2241826"/>
            <a:ext cx="1228896" cy="685896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1CAF0C1F-41C9-AFA7-9BEE-35F4303172EE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9777593" y="2252491"/>
            <a:ext cx="1491552" cy="650676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5CC940B2-079A-E14D-2F2D-DB1CF98841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1161" y="3142959"/>
            <a:ext cx="4640729" cy="3462132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B7655B3F-31F3-478E-C886-97E0DB3F45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8486" y="3142959"/>
            <a:ext cx="4640729" cy="3462132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BDBA6947-364D-704F-BB63-14199E244514}"/>
              </a:ext>
            </a:extLst>
          </p:cNvPr>
          <p:cNvSpPr txBox="1"/>
          <p:nvPr/>
        </p:nvSpPr>
        <p:spPr>
          <a:xfrm>
            <a:off x="9463538" y="1842539"/>
            <a:ext cx="223981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감속도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미분방정식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sz="1600" dirty="0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C8860BDD-01C8-4C63-3084-CD719ECAF9B8}"/>
              </a:ext>
            </a:extLst>
          </p:cNvPr>
          <p:cNvSpPr/>
          <p:nvPr/>
        </p:nvSpPr>
        <p:spPr>
          <a:xfrm flipH="1">
            <a:off x="6131273" y="2252491"/>
            <a:ext cx="45719" cy="435260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8592208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58F30E-439F-770B-C6C4-74A30CCC65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18E77E8C-81BD-48CF-FE7B-CF7176CF27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437916" cy="1264724"/>
          </a:xfrm>
        </p:spPr>
        <p:txBody>
          <a:bodyPr>
            <a:normAutofit/>
          </a:bodyPr>
          <a:lstStyle/>
          <a:p>
            <a:pPr>
              <a:lnSpc>
                <a:spcPct val="170000"/>
              </a:lnSpc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ko-KR" altLang="en-US" dirty="0"/>
              <a:t>위치를 미분 → 속도</a:t>
            </a:r>
            <a:r>
              <a:rPr lang="en-US" altLang="ko-KR" dirty="0"/>
              <a:t>, </a:t>
            </a:r>
            <a:r>
              <a:rPr lang="ko-KR" altLang="en-US" dirty="0"/>
              <a:t> 속도를 미분 → 가속도</a:t>
            </a:r>
            <a:endParaRPr lang="en-US" altLang="ko-KR" dirty="0"/>
          </a:p>
          <a:p>
            <a:pPr>
              <a:lnSpc>
                <a:spcPct val="170000"/>
              </a:lnSpc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ko-KR" altLang="en-US" dirty="0"/>
              <a:t>가속도를 적분 → 속도</a:t>
            </a:r>
            <a:r>
              <a:rPr lang="en-US" altLang="ko-KR" dirty="0"/>
              <a:t>,</a:t>
            </a:r>
            <a:r>
              <a:rPr lang="ko-KR" altLang="en-US" dirty="0"/>
              <a:t> 속도를 적분 → 위치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970EE199-FE2E-AB1B-C3EB-95C827C76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EC39897-BF60-C6EF-7B13-1CF8519A47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21</a:t>
            </a:fld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19D29E6-B971-8A00-3814-384568163F8C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8408101" y="3210438"/>
            <a:ext cx="3645353" cy="2101439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C24428A9-29B9-D20F-2705-B5F974D3A0BB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072667" y="3210438"/>
            <a:ext cx="7161642" cy="2122762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E4205544-8AFC-A571-2BA3-1FA12F752258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accent3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7332256" y="4177613"/>
            <a:ext cx="828764" cy="482415"/>
          </a:xfrm>
          <a:prstGeom prst="rect">
            <a:avLst/>
          </a:prstGeom>
        </p:spPr>
      </p:pic>
      <p:grpSp>
        <p:nvGrpSpPr>
          <p:cNvPr id="17" name="그룹 16">
            <a:extLst>
              <a:ext uri="{FF2B5EF4-FFF2-40B4-BE49-F238E27FC236}">
                <a16:creationId xmlns:a16="http://schemas.microsoft.com/office/drawing/2014/main" id="{75BF96D6-B550-99CE-A26A-677FC7F4D897}"/>
              </a:ext>
            </a:extLst>
          </p:cNvPr>
          <p:cNvGrpSpPr/>
          <p:nvPr/>
        </p:nvGrpSpPr>
        <p:grpSpPr>
          <a:xfrm>
            <a:off x="6375576" y="4757168"/>
            <a:ext cx="1785444" cy="527169"/>
            <a:chOff x="6375576" y="4757168"/>
            <a:chExt cx="1785444" cy="527169"/>
          </a:xfrm>
        </p:grpSpPr>
        <p:pic>
          <p:nvPicPr>
            <p:cNvPr id="16" name="그림 15">
              <a:extLst>
                <a:ext uri="{FF2B5EF4-FFF2-40B4-BE49-F238E27FC236}">
                  <a16:creationId xmlns:a16="http://schemas.microsoft.com/office/drawing/2014/main" id="{E623D1EF-EBAA-CEC6-4604-1E74B7DDAFE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duotone>
                <a:prstClr val="black"/>
                <a:schemeClr val="accent4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7352080" y="4757221"/>
              <a:ext cx="808940" cy="527116"/>
            </a:xfrm>
            <a:prstGeom prst="rect">
              <a:avLst/>
            </a:prstGeom>
          </p:spPr>
        </p:pic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CB5F9300-F8EC-A6E6-DC47-A86676DD6F4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duotone>
                <a:prstClr val="black"/>
                <a:schemeClr val="accent4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6375576" y="4757168"/>
              <a:ext cx="1188939" cy="52711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8975533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ABAD0D-64F0-5C6E-557E-EF4FB2FCA8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9D5494DE-863C-9F38-C650-4485FDD2E9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453324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미분과 적분은 단순히 복잡한 수식이 아니라</a:t>
            </a:r>
            <a:r>
              <a:rPr lang="en-US" altLang="ko-KR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움직이는 변화를 관찰하는 도구</a:t>
            </a:r>
            <a:endParaRPr lang="en-US" altLang="ko-KR" sz="24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미분 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(Differentiation)</a:t>
            </a:r>
          </a:p>
          <a:p>
            <a:pPr lvl="2">
              <a:lnSpc>
                <a:spcPct val="150000"/>
              </a:lnSpc>
            </a:pP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위치를 시간에 대해 미분하면 속도가 되고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속도를 미분하면 가속도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: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순간적인 변화율</a:t>
            </a:r>
            <a:endParaRPr lang="en-US" altLang="ko-KR" sz="18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lvl="1">
              <a:lnSpc>
                <a:spcPct val="150000"/>
              </a:lnSpc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적분 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(Integration)</a:t>
            </a:r>
          </a:p>
          <a:p>
            <a:pPr lvl="2">
              <a:lnSpc>
                <a:spcPct val="150000"/>
              </a:lnSpc>
            </a:pP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가속도를 시간에 대해 적분하면 속도가 되고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속도를 적분하면 변화된 거리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위치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 :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누적된 총량</a:t>
            </a:r>
            <a:endParaRPr lang="en-US" altLang="ko-KR" sz="18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074C09B2-C18A-C9AE-7C68-6315A1CD8E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1180848-7044-645C-DB72-202A5595E8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522721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EA9388-4461-4D86-EE45-54E6024986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69FE60DC-EB95-02F6-B6AA-DAAC2BEECE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849087"/>
          </a:xfrm>
        </p:spPr>
        <p:txBody>
          <a:bodyPr>
            <a:normAutofit fontScale="85000" lnSpcReduction="10000"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시간</a:t>
            </a:r>
            <a:r>
              <a:rPr lang="en-US" altLang="ko-KR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(t)</a:t>
            </a: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에 따른 위치</a:t>
            </a:r>
            <a:r>
              <a:rPr lang="en-US" altLang="ko-KR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(s), </a:t>
            </a: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속도</a:t>
            </a:r>
            <a:r>
              <a:rPr lang="en-US" altLang="ko-KR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(v), </a:t>
            </a: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가속도</a:t>
            </a:r>
            <a:r>
              <a:rPr lang="en-US" altLang="ko-KR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(a)</a:t>
            </a: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의 관계는 미적분을 이해하는</a:t>
            </a:r>
            <a:r>
              <a:rPr lang="en-US" altLang="ko-KR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물리적 모델</a:t>
            </a:r>
            <a:endParaRPr lang="en-US" altLang="ko-KR" sz="24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759C1A96-2896-D5AC-2AD0-BAC2EBE2F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1F203B95-93F2-4E16-BAE4-CC801D243B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23</a:t>
            </a:fld>
            <a:endParaRPr lang="en-US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A4A69836-79B6-A2DA-1A54-CCE1425AE8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0800" y="1947866"/>
            <a:ext cx="8100291" cy="447552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F8D1F81D-9D73-A277-AF02-F1D09CEEC2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76369" y="2672372"/>
            <a:ext cx="1365027" cy="473968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6BB9B605-A74B-AE8D-B47A-481A2156A3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63662" y="3429000"/>
            <a:ext cx="2287684" cy="5182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207042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F85AD-4242-C287-E9AC-59ECC4A929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82288B82-8279-02EE-6D4C-834A12616BA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78229" y="1321456"/>
                <a:ext cx="10518446" cy="410952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당신은 서울에서 강릉까지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(180 km)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여행을 가는데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처음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90 km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는 교통체증으로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90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분이 걸렸고 뒤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90 km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는 도로가 뻥 뚫려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45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분 만에 달렸다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</a:t>
                </a:r>
              </a:p>
              <a:p>
                <a:pPr lvl="1"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전체 평균속도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ko-KR" altLang="en-US">
                            <a:latin typeface="Cambria Math" panose="02040503050406030204" pitchFamily="18" charset="0"/>
                          </a:rPr>
                          <m:t>𝑎𝑣</m:t>
                        </m:r>
                      </m:sub>
                    </m:sSub>
                    <m:r>
                      <a:rPr lang="ko-KR" alt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km/h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단위로 계산하세요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 </a:t>
                </a:r>
              </a:p>
              <a:p>
                <a:pPr lvl="1"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각 구간의 속도는 각각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60 km/h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와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120 km/h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입니다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 </a:t>
                </a:r>
              </a:p>
              <a:p>
                <a:pPr lvl="1"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단순히 두 속도의 산술평균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(90 km/h)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과 왜 다를까요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? “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총 거리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÷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총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시간”이라는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평균속도의 정의를 이용해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설명하시오</a:t>
                </a:r>
                <a:endParaRPr lang="ko-KR" altLang="en-US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82288B82-8279-02EE-6D4C-834A12616BA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78229" y="1321456"/>
                <a:ext cx="10518446" cy="4109526"/>
              </a:xfrm>
              <a:blipFill>
                <a:blip r:embed="rId2"/>
                <a:stretch>
                  <a:fillRect l="-232" r="-23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제목 1">
            <a:extLst>
              <a:ext uri="{FF2B5EF4-FFF2-40B4-BE49-F238E27FC236}">
                <a16:creationId xmlns:a16="http://schemas.microsoft.com/office/drawing/2014/main" id="{8B94D30B-61C5-F50A-881E-9D567962DB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77E7BEBB-7AF7-A56F-1FDB-111BF55EBD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735845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90C9BB-C576-5D76-A621-12F6D2D325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CC1FF3CA-0FF4-CF72-D678-8EE97947D8F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78229" y="1321456"/>
                <a:ext cx="10518446" cy="410952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당신은 마블의 순간 이동 능력으로 당신의 위치가 시간에 따라 아래와 같이 주어졌어요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 </a:t>
                </a:r>
              </a:p>
              <a:p>
                <a:pPr lvl="1">
                  <a:lnSpc>
                    <a:spcPct val="170000"/>
                  </a:lnSpc>
                </a:pPr>
                <a14:m>
                  <m:oMath xmlns:m="http://schemas.openxmlformats.org/officeDocument/2006/math">
                    <m:r>
                      <a:rPr lang="ko-KR" altLang="en-US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𝑥</m:t>
                    </m:r>
                    <m:d>
                      <m:d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dPr>
                      <m:e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𝑡</m:t>
                        </m:r>
                      </m:e>
                    </m:d>
                    <m:r>
                      <a:rPr lang="en-US" altLang="ko-KR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=4</m:t>
                    </m:r>
                    <m:sSup>
                      <m:sSup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sSupPr>
                      <m:e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𝑡</m:t>
                        </m:r>
                      </m:e>
                      <m:sup>
                        <m:r>
                          <a:rPr lang="en-US" altLang="ko-KR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2</m:t>
                        </m:r>
                      </m:sup>
                    </m:sSup>
                    <m:r>
                      <a:rPr lang="en-US" altLang="ko-KR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+2</m:t>
                    </m:r>
                    <m:r>
                      <a:rPr lang="ko-KR" altLang="en-US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𝑡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(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단위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m, t: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초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</a:p>
              <a:p>
                <a:pPr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𝑡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=0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초부터 𝑡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=5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초까지의 평균속도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sSubPr>
                      <m:e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𝑣</m:t>
                        </m:r>
                      </m:e>
                      <m:sub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𝑎𝑣</m:t>
                        </m:r>
                      </m:sub>
                    </m:sSub>
                    <m:r>
                      <a:rPr lang="en-US" altLang="ko-KR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=</m:t>
                    </m:r>
                    <m:f>
                      <m:f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altLang="ko-KR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Δ</m:t>
                        </m:r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𝑥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altLang="ko-KR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Δ</m:t>
                        </m:r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𝑡</m:t>
                        </m:r>
                      </m:den>
                    </m:f>
                    <m:r>
                      <a:rPr lang="ko-KR" altLang="en-US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구하시오</a:t>
                </a:r>
                <a:endParaRPr lang="ko-KR" altLang="en-US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순간속도 함수 </a:t>
                </a:r>
                <a14:m>
                  <m:oMath xmlns:m="http://schemas.openxmlformats.org/officeDocument/2006/math">
                    <m:r>
                      <a:rPr lang="ko-KR" altLang="en-US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𝑣</m:t>
                    </m:r>
                    <m:d>
                      <m:d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dPr>
                      <m:e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𝑡</m:t>
                        </m:r>
                      </m:e>
                    </m:d>
                    <m:r>
                      <a:rPr lang="en-US" altLang="ko-KR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=</m:t>
                    </m:r>
                    <m:f>
                      <m:f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fPr>
                      <m:num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𝑑𝑥</m:t>
                        </m:r>
                      </m:num>
                      <m:den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𝑑𝑡</m:t>
                        </m:r>
                      </m:den>
                    </m:f>
                    <m:r>
                      <a:rPr lang="ko-KR" altLang="en-US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구하고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𝑡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=3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초에서의 순간속도를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계산하시오</a:t>
                </a:r>
                <a:endParaRPr lang="ko-KR" altLang="en-US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평균속도과 순간속도를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설명하시오</a:t>
                </a:r>
                <a:endParaRPr lang="ko-KR" altLang="en-US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CC1FF3CA-0FF4-CF72-D678-8EE97947D8F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78229" y="1321456"/>
                <a:ext cx="10518446" cy="4109526"/>
              </a:xfrm>
              <a:blipFill>
                <a:blip r:embed="rId2"/>
                <a:stretch>
                  <a:fillRect l="-23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제목 1">
            <a:extLst>
              <a:ext uri="{FF2B5EF4-FFF2-40B4-BE49-F238E27FC236}">
                <a16:creationId xmlns:a16="http://schemas.microsoft.com/office/drawing/2014/main" id="{AB17F3EE-D6F0-304C-76DD-092CEB6B85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FB34E9E-4A02-7B86-AD9B-8F5BC00767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677799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4DB512-E367-6CB3-6427-170A657581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92E82CDE-27C5-644F-77A7-4B7B8E305E2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78229" y="1321457"/>
                <a:ext cx="10518446" cy="1901900"/>
              </a:xfrm>
            </p:spPr>
            <p:txBody>
              <a:bodyPr>
                <a:normAutofit fontScale="85000" lnSpcReduction="20000"/>
              </a:bodyPr>
              <a:lstStyle/>
              <a:p>
                <a:pPr>
                  <a:lnSpc>
                    <a:spcPct val="170000"/>
                  </a:lnSpc>
                </a:pP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마블의 순간 이동에 따른 위치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변화된 거리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함수가 </a:t>
                </a:r>
                <a14:m>
                  <m:oMath xmlns:m="http://schemas.openxmlformats.org/officeDocument/2006/math"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𝑠</m:t>
                    </m:r>
                    <m:d>
                      <m:dPr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ko-KR" altLang="en-US" i="0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e>
                      <m:sub>
                        <m:r>
                          <a:rPr lang="ko-KR" altLang="en-US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ko-KR" altLang="en-US" i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ko-KR" altLang="en-US" i="0" smtClean="0">
                        <a:latin typeface="Cambria Math" panose="02040503050406030204" pitchFamily="18" charset="0"/>
                      </a:rPr>
                      <m:t>+9</m:t>
                    </m:r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 인 어떤 물체의 움직임을 살펴보자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>
                  <a:lnSpc>
                    <a:spcPct val="170000"/>
                  </a:lnSpc>
                </a:pP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시간변화 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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거리변화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>
                  <a:lnSpc>
                    <a:spcPct val="170000"/>
                  </a:lnSpc>
                </a:pP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시간변화 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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속도 변화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>
                  <a:lnSpc>
                    <a:spcPct val="170000"/>
                  </a:lnSpc>
                </a:pP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특정시간에 위치는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? (</a:t>
                </a: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일 때 나의 위치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움직인 거리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는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?</a:t>
                </a:r>
              </a:p>
            </p:txBody>
          </p:sp>
        </mc:Choice>
        <mc:Fallback xmlns="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92E82CDE-27C5-644F-77A7-4B7B8E305E2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78229" y="1321457"/>
                <a:ext cx="10518446" cy="1901900"/>
              </a:xfrm>
              <a:blipFill>
                <a:blip r:embed="rId2"/>
                <a:stretch>
                  <a:fillRect l="-58" b="-32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제목 1">
            <a:extLst>
              <a:ext uri="{FF2B5EF4-FFF2-40B4-BE49-F238E27FC236}">
                <a16:creationId xmlns:a16="http://schemas.microsoft.com/office/drawing/2014/main" id="{E1DEF03F-E099-05C7-39C4-D8D08C1415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1C8490EB-72B1-37E5-1777-33C4537136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26</a:t>
            </a:fld>
            <a:endParaRPr lang="en-US" dirty="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0C714919-2A05-70C7-C618-3BD78C956D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60351" y="3429000"/>
            <a:ext cx="8954202" cy="29404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52482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E5762A-CD1D-F0CB-9A99-FC8EA8D4C9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7F0CC4A2-4B44-9CAA-B20A-151E69FCFEA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78229" y="1321457"/>
                <a:ext cx="10518446" cy="1583667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위치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변화된 거리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함수가 </a:t>
                </a:r>
                <a14:m>
                  <m:oMath xmlns:m="http://schemas.openxmlformats.org/officeDocument/2006/math"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𝑠</m:t>
                    </m:r>
                    <m:d>
                      <m:dPr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ko-KR" altLang="en-US" i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ko-KR" altLang="en-US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ko-KR" altLang="en-US" i="0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ko-KR" altLang="en-US" i="0" smtClean="0"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e>
                      <m:sub>
                        <m:r>
                          <a:rPr lang="ko-KR" altLang="en-US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ko-KR" altLang="en-US" i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ko-KR" altLang="en-US" i="0" smtClean="0">
                        <a:latin typeface="Cambria Math" panose="02040503050406030204" pitchFamily="18" charset="0"/>
                      </a:rPr>
                      <m:t>+9</m:t>
                    </m:r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 인 어떤 물체의 움직임을 살펴보자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/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시간변화 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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거리변화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/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시간변화 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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속도 변화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/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특정시간에 위치는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? (</a:t>
                </a: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일 때 나의 위치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움직인 거리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는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?</a:t>
                </a:r>
              </a:p>
            </p:txBody>
          </p:sp>
        </mc:Choice>
        <mc:Fallback xmlns="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7F0CC4A2-4B44-9CAA-B20A-151E69FCFEA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78229" y="1321457"/>
                <a:ext cx="10518446" cy="1583667"/>
              </a:xfrm>
              <a:blipFill>
                <a:blip r:embed="rId2"/>
                <a:stretch>
                  <a:fillRect l="-232" t="-423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제목 1">
            <a:extLst>
              <a:ext uri="{FF2B5EF4-FFF2-40B4-BE49-F238E27FC236}">
                <a16:creationId xmlns:a16="http://schemas.microsoft.com/office/drawing/2014/main" id="{33FA9756-4D60-95AD-C21F-D0BF91D49F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B5AB88AB-AF58-CDCF-02C5-0714062F60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27</a:t>
            </a:fld>
            <a:endParaRPr lang="en-US" dirty="0"/>
          </a:p>
        </p:txBody>
      </p:sp>
      <p:pic>
        <p:nvPicPr>
          <p:cNvPr id="3076" name="Picture 4">
            <a:extLst>
              <a:ext uri="{FF2B5EF4-FFF2-40B4-BE49-F238E27FC236}">
                <a16:creationId xmlns:a16="http://schemas.microsoft.com/office/drawing/2014/main" id="{BA8962F5-C54B-FA99-98A0-64D114B85F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1440" y="3070225"/>
            <a:ext cx="9373736" cy="30843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3136984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B53342-2425-B552-0F6D-02A599DF8B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B1A20275-9114-67D7-400E-3F605E1DBA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35379" y="1220061"/>
            <a:ext cx="10642271" cy="1320142"/>
          </a:xfrm>
        </p:spPr>
        <p:txBody>
          <a:bodyPr>
            <a:normAutofit fontScale="85000" lnSpcReduction="20000"/>
          </a:bodyPr>
          <a:lstStyle/>
          <a:p>
            <a:pPr>
              <a:lnSpc>
                <a:spcPct val="17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 그림은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1,000 US dollars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은행에 복리이자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(compound interest)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월복리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1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분기복리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년 복리 그리고 시간을 무한히 나누어 복리이자를 한 경우의 그래프이다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</a:p>
          <a:p>
            <a:pPr lvl="1">
              <a:lnSpc>
                <a:spcPct val="17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미분방정식과 미래 가치 등을 계산하여 시각화를 재현하라 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622A52C4-A097-F5B5-CE72-E072B1D76F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C33A2C10-ABF7-FF0C-AC9E-C8A89559A2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28</a:t>
            </a:fld>
            <a:endParaRPr 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B6430F4-CAAD-D9B3-D0F2-334DB356AA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8967" y="2696848"/>
            <a:ext cx="6118009" cy="3825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729363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365FBF-DC47-80C6-4AEC-E66FD819F5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3E98496D-305F-3053-F591-5FEFAE4FD4F7}"/>
              </a:ext>
            </a:extLst>
          </p:cNvPr>
          <p:cNvSpPr/>
          <p:nvPr/>
        </p:nvSpPr>
        <p:spPr>
          <a:xfrm>
            <a:off x="1104901" y="3632296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6AA0CDE0-35EA-B5D8-34D8-CAFA3E3366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23BE607-FDD9-5E0A-251B-4BF9BED4E31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</a:rPr>
              <a:t>sympy</a:t>
            </a:r>
            <a:endParaRPr lang="en-US" altLang="ko-KR" sz="1800" cap="none" dirty="0">
              <a:solidFill>
                <a:schemeClr val="tx1"/>
              </a:solidFill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Derivative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Linear Programming</a:t>
            </a: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82AA790-AB8F-1879-7D55-BD8C7A83023B}"/>
              </a:ext>
            </a:extLst>
          </p:cNvPr>
          <p:cNvSpPr txBox="1"/>
          <p:nvPr/>
        </p:nvSpPr>
        <p:spPr>
          <a:xfrm>
            <a:off x="7239000" y="1338537"/>
            <a:ext cx="4400550" cy="33290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projection</a:t>
            </a:r>
          </a:p>
        </p:txBody>
      </p:sp>
    </p:spTree>
    <p:extLst>
      <p:ext uri="{BB962C8B-B14F-4D97-AF65-F5344CB8AC3E}">
        <p14:creationId xmlns:p14="http://schemas.microsoft.com/office/powerpoint/2010/main" val="17709786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4A7F15-CC48-EF66-DE9B-044C76CC1B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5B86733F-17E8-F77E-0D2D-9C8ACE0028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117236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A,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B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군데 공급업체의 물품 가격 추세선을 바탕으로 최적 조달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비율을 결정하라 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2">
              <a:lnSpc>
                <a:spcPct val="150000"/>
              </a:lnSpc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배경설명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데이터는 </a:t>
            </a:r>
            <a:r>
              <a:rPr lang="en-US" altLang="ko-KR" dirty="0">
                <a:latin typeface="맑은 고딕" panose="020B0503020000020004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Obtain_data_prices.csv</a:t>
            </a:r>
            <a:r>
              <a:rPr lang="en-US" altLang="ko-KR" dirty="0">
                <a:latin typeface="맑은 고딕" panose="020B0503020000020004" pitchFamily="50" charset="-127"/>
                <a:cs typeface="맑은 고딕 Semilight" panose="020B0502040204020203" pitchFamily="50" charset="-127"/>
              </a:rPr>
              <a:t> )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B759CEC3-8C62-8AED-B57C-6AC41CB532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00ACED5-0EA9-66A8-294D-E39924E5C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30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3A761D9-3270-411C-4820-CE4B86A769DC}"/>
              </a:ext>
            </a:extLst>
          </p:cNvPr>
          <p:cNvSpPr txBox="1"/>
          <p:nvPr/>
        </p:nvSpPr>
        <p:spPr>
          <a:xfrm>
            <a:off x="1919202" y="2493818"/>
            <a:ext cx="9423053" cy="3542188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square">
            <a:spAutoFit/>
          </a:bodyPr>
          <a:lstStyle/>
          <a:p>
            <a:pPr marL="285750" indent="-285750" algn="l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제품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 (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생산 공정의 필수 원자재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기간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2018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년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월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~ 2020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년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월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과거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26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개월 데이터 기반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 marL="285750" indent="-285750" algn="l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목적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향후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12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개월 예산 수립을 위한 공급업체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(A, B) 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간 최적 구매 비율 결정</a:t>
            </a:r>
          </a:p>
          <a:p>
            <a:pPr marL="285750" indent="-285750" algn="l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 분석 시나리오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예상 분석 프로세스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: 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공급업체 선정 및 비율 결정을 위해 다음 세 가지 지표를 검토하라</a:t>
            </a:r>
            <a:endParaRPr lang="en-US" altLang="ko-KR" sz="1400" b="0" i="0" dirty="0">
              <a:solidFill>
                <a:srgbClr val="FFFFFF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800100" lvl="1" indent="-342900">
              <a:lnSpc>
                <a:spcPct val="200000"/>
              </a:lnSpc>
              <a:buFont typeface="+mj-lt"/>
              <a:buAutoNum type="arabicParenR"/>
            </a:pP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산술 평균 가격 비교 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기대 비용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두 업체 중 어느 곳이 전반적으로 더 저렴한가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만약  라면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비용 절감 측면에서 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유리하지만 단순히 평균만 봐서는 안 되며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특정 시점의 가격 역전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(Price Cross)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빈도를 확인</a:t>
            </a:r>
            <a:r>
              <a:rPr lang="ko-KR" altLang="en-US" sz="1200" dirty="0">
                <a:solidFill>
                  <a:srgbClr val="FFFFFF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하라</a:t>
            </a:r>
            <a:endParaRPr lang="en-US" altLang="ko-KR" sz="1200" b="0" i="0" dirty="0">
              <a:solidFill>
                <a:srgbClr val="FFFFFF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800100" lvl="1" indent="-342900">
              <a:lnSpc>
                <a:spcPct val="200000"/>
              </a:lnSpc>
              <a:buFont typeface="+mj-lt"/>
              <a:buAutoNum type="arabicParenR"/>
            </a:pP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변동성 및 리스크 분석 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표준편차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가격이 얼마나 널뛰는가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예산 모델링에서 안정성은 매우 </a:t>
            </a:r>
            <a:r>
              <a:rPr lang="ko-KR" altLang="en-US" sz="1200" b="0" i="0" dirty="0" err="1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중요하기때문에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평균 가격이 낮더라도 변동성이 너무 크면 예산 초과 리스크가 발생</a:t>
            </a:r>
            <a:endParaRPr lang="en-US" altLang="ko-KR" sz="1200" b="0" i="0" dirty="0">
              <a:solidFill>
                <a:srgbClr val="FFFFFF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800100" lvl="1" indent="-342900">
              <a:lnSpc>
                <a:spcPct val="200000"/>
              </a:lnSpc>
              <a:buFont typeface="+mj-lt"/>
              <a:buAutoNum type="arabicParenR"/>
            </a:pP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상관관계 분석 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포트폴리오 효과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두 업체의 가격이 같이 움직이는가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상관계수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확인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두 업체의 가격 상관관계가 낮거나 음수라면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물량을 나누어 구매함으로써 전체 조달 비용의 변동성을 상쇄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(Hedge)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할 수 있음</a:t>
            </a:r>
            <a:endParaRPr lang="en-US" altLang="ko-KR" sz="1200" b="0" i="0" dirty="0">
              <a:solidFill>
                <a:srgbClr val="FFFFFF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3836858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F218E5-3E28-1CD8-FEE2-5661777B40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FFE9F5D6-547A-F4CE-3159-6BF1FB221B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117236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A,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B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군데 공급업체의 물품 가격 추세선을 바탕으로 최적의 주문 비율을 정하라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624C7295-8C9B-4984-1744-BA1E610BF0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3B57F09-7FBE-6536-DDB5-1C49E76C83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31</a:t>
            </a:fld>
            <a:endParaRPr lang="en-US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7067C35D-C18A-EE13-477B-33829D7920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81531" y="2191429"/>
            <a:ext cx="9993935" cy="2949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2154727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844E43-CB59-8F5C-4388-4811D5B124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6518745B-AC4C-DDD2-8292-D26BA8532A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1164567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A,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B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군데 공급업체의 물품 가격의 이동평균과 이동 표준편차를 고려하라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(Hints)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가격의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변동성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분산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이 큰 것은 위험한 것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Cost Minimization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CC2D05B7-AC60-6082-2034-4BCDC4EF98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AFD1F052-3979-3A26-E065-56AF8FA9E6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32</a:t>
            </a:fld>
            <a:endParaRPr lang="en-US" dirty="0"/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3E337E23-A785-0D8C-E673-31CA7D63DA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50424" y="2744067"/>
            <a:ext cx="9228590" cy="30365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2301855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377A33-2D8C-8206-106E-DD18CAAB95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4810804F-F0BA-ECEF-4EB9-DFFA04EB94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766439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 err="1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sympy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로 비용함수를 만들어 최적화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미분 값이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zero)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가 되는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w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를 찾으면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0.7023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C3FE925E-53B4-0BD5-7DDB-C1DBEFCDDA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7E96ED0-98E2-AE92-8E7D-773680F57B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33</a:t>
            </a:fld>
            <a:endParaRPr lang="en-US" dirty="0"/>
          </a:p>
        </p:txBody>
      </p:sp>
      <p:pic>
        <p:nvPicPr>
          <p:cNvPr id="9218" name="Picture 2">
            <a:extLst>
              <a:ext uri="{FF2B5EF4-FFF2-40B4-BE49-F238E27FC236}">
                <a16:creationId xmlns:a16="http://schemas.microsoft.com/office/drawing/2014/main" id="{9436B390-E3E2-8328-29E8-1FA5AA40CF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6338" y="2345939"/>
            <a:ext cx="5153025" cy="3714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F757515-8BAB-A0AF-2D1F-FA9AD75392E2}"/>
              </a:ext>
            </a:extLst>
          </p:cNvPr>
          <p:cNvSpPr txBox="1"/>
          <p:nvPr/>
        </p:nvSpPr>
        <p:spPr>
          <a:xfrm>
            <a:off x="6543675" y="2310488"/>
            <a:ext cx="5153025" cy="3580467"/>
          </a:xfrm>
          <a:prstGeom prst="rect">
            <a:avLst/>
          </a:prstGeom>
          <a:solidFill>
            <a:srgbClr val="00B0F0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sympy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as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sp</a:t>
            </a:r>
            <a:endParaRPr lang="en-US" altLang="ko-KR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endParaRPr lang="en-US" altLang="ko-KR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1.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기호 정의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w: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배분 비율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: A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의 분산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: B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의 분산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: A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B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의 공분산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w =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sp.symbols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('omega')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sp.symbols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('sigma_A^2 sigma_B^2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sigma_AB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')</a:t>
            </a:r>
          </a:p>
          <a:p>
            <a:pPr>
              <a:lnSpc>
                <a:spcPts val="1575"/>
              </a:lnSpc>
              <a:buNone/>
            </a:pPr>
            <a:endParaRPr lang="en-US" altLang="ko-KR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2.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리스크 함수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분산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정의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L(w) = Var(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pA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*w +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*(1-w))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전개식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: w^2*Var(A) + (1-w)^2*Var(B) + 2*w*(1-w)*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Cov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(A,B)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 = w**2 *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+ (1-w)**2 *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+ 2*w*(1-w) *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sAB</a:t>
            </a:r>
            <a:b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</a:br>
            <a:endParaRPr lang="en-US" altLang="ko-KR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3.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최적화를 위한 미분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(dL/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dw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0)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diff_L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sp.diff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(L, w)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optimal_w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sp.solve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diff_L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w)[0]</a:t>
            </a:r>
          </a:p>
        </p:txBody>
      </p:sp>
    </p:spTree>
    <p:extLst>
      <p:ext uri="{BB962C8B-B14F-4D97-AF65-F5344CB8AC3E}">
        <p14:creationId xmlns:p14="http://schemas.microsoft.com/office/powerpoint/2010/main" val="193036617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6DD6C1-CFD0-3876-8D1A-E9CBFE0A73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C01E7E6B-84CC-4B6A-3AB3-0D24E86D6D54}"/>
              </a:ext>
            </a:extLst>
          </p:cNvPr>
          <p:cNvSpPr/>
          <p:nvPr/>
        </p:nvSpPr>
        <p:spPr>
          <a:xfrm>
            <a:off x="1104901" y="4194271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10450445-5DF7-64E1-9238-B817DDEE17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10A2F57-17F3-AB82-F3D8-29F5F794CA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</a:rPr>
              <a:t>sympy</a:t>
            </a:r>
            <a:endParaRPr lang="en-US" altLang="ko-KR" sz="1800" cap="none" dirty="0">
              <a:solidFill>
                <a:schemeClr val="tx1"/>
              </a:solidFill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Derivative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Linear Programming</a:t>
            </a: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BBD0209-96C0-6694-D351-6B9F0C61D77A}"/>
              </a:ext>
            </a:extLst>
          </p:cNvPr>
          <p:cNvSpPr txBox="1"/>
          <p:nvPr/>
        </p:nvSpPr>
        <p:spPr>
          <a:xfrm>
            <a:off x="7239000" y="1338537"/>
            <a:ext cx="4400550" cy="33290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projection</a:t>
            </a:r>
          </a:p>
        </p:txBody>
      </p:sp>
    </p:spTree>
    <p:extLst>
      <p:ext uri="{BB962C8B-B14F-4D97-AF65-F5344CB8AC3E}">
        <p14:creationId xmlns:p14="http://schemas.microsoft.com/office/powerpoint/2010/main" val="117487510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A2365C-2FC7-5245-0848-EAD4EECDB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5B2126BE-317A-FC6D-1EFF-328494D87A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Loss Function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911645E-4FD6-1363-3E45-0A247404AC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35</a:t>
            </a:fld>
            <a:endParaRPr 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EC131A6A-B13C-CBF5-A2D9-F3D965A1F046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221775" y="3063940"/>
            <a:ext cx="4673771" cy="1021331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47FA0E69-D0BF-D5B0-8F1E-C0EF9C65DE95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242066" y="4376481"/>
            <a:ext cx="4633188" cy="1129551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95B7088D-3D0B-DB8A-8968-53C063BAF5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1775" y="1622010"/>
            <a:ext cx="5159187" cy="1150720"/>
          </a:xfrm>
          <a:prstGeom prst="rect">
            <a:avLst/>
          </a:prstGeom>
        </p:spPr>
      </p:pic>
      <p:pic>
        <p:nvPicPr>
          <p:cNvPr id="7170" name="Picture 2">
            <a:extLst>
              <a:ext uri="{FF2B5EF4-FFF2-40B4-BE49-F238E27FC236}">
                <a16:creationId xmlns:a16="http://schemas.microsoft.com/office/drawing/2014/main" id="{1C2C48BE-9BC7-5AC2-EEEF-B0EB00AFA2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6085" y="1622010"/>
            <a:ext cx="5353050" cy="411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>
            <a:extLst>
              <a:ext uri="{FF2B5EF4-FFF2-40B4-BE49-F238E27FC236}">
                <a16:creationId xmlns:a16="http://schemas.microsoft.com/office/drawing/2014/main" id="{5B14EC5A-44EC-8A71-55DA-2308077F43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6085" y="1624058"/>
            <a:ext cx="5353050" cy="411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8F3B44A2-52A5-F573-88BA-ED032686EDAA}"/>
              </a:ext>
            </a:extLst>
          </p:cNvPr>
          <p:cNvPicPr>
            <a:picLocks noChangeAspect="1"/>
          </p:cNvPicPr>
          <p:nvPr/>
        </p:nvPicPr>
        <p:blipFill>
          <a:blip r:embed="rId7">
            <a:duotone>
              <a:prstClr val="black"/>
              <a:schemeClr val="accent2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125363" y="3544801"/>
            <a:ext cx="1045904" cy="307271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E71B9045-AEBD-DD1A-465A-F80A2DB51BD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80792" y="2071264"/>
            <a:ext cx="283635" cy="301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6730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2336C4-EE77-CCA4-FEA0-B92C7B68C7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8C709EE6-A145-F705-8620-7F2C3C7023EF}"/>
              </a:ext>
            </a:extLst>
          </p:cNvPr>
          <p:cNvSpPr/>
          <p:nvPr/>
        </p:nvSpPr>
        <p:spPr>
          <a:xfrm>
            <a:off x="1104901" y="4689571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C993C4B2-C50B-5142-F302-F123F53FB07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933A535-7595-7433-FC80-4FF14C9A29F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</a:rPr>
              <a:t>sympy</a:t>
            </a:r>
            <a:endParaRPr lang="en-US" altLang="ko-KR" sz="1800" cap="none" dirty="0">
              <a:solidFill>
                <a:schemeClr val="tx1"/>
              </a:solidFill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Derivative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Linear Programming</a:t>
            </a: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2D941AE-D08C-0C55-80E8-0D725E91B50B}"/>
              </a:ext>
            </a:extLst>
          </p:cNvPr>
          <p:cNvSpPr txBox="1"/>
          <p:nvPr/>
        </p:nvSpPr>
        <p:spPr>
          <a:xfrm>
            <a:off x="7239000" y="1338537"/>
            <a:ext cx="4400550" cy="33290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projection</a:t>
            </a:r>
          </a:p>
        </p:txBody>
      </p:sp>
    </p:spTree>
    <p:extLst>
      <p:ext uri="{BB962C8B-B14F-4D97-AF65-F5344CB8AC3E}">
        <p14:creationId xmlns:p14="http://schemas.microsoft.com/office/powerpoint/2010/main" val="16696922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9AFA8D-EFC0-F006-D4AB-47B69926D7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1F9712C-5B4D-1BD5-FE8A-54E45DDEC35E}"/>
              </a:ext>
            </a:extLst>
          </p:cNvPr>
          <p:cNvSpPr txBox="1"/>
          <p:nvPr/>
        </p:nvSpPr>
        <p:spPr>
          <a:xfrm>
            <a:off x="1010497" y="1068787"/>
            <a:ext cx="6921227" cy="5493812"/>
          </a:xfrm>
          <a:prstGeom prst="rect">
            <a:avLst/>
          </a:prstGeom>
          <a:solidFill>
            <a:srgbClr val="0070C0"/>
          </a:solidFill>
        </p:spPr>
        <p:txBody>
          <a:bodyPr wrap="square" rtlCol="0">
            <a:spAutoFit/>
          </a:bodyPr>
          <a:lstStyle/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as np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matplotlib.pyplot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sklearn.linear_model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LinearRegression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, Ridge, Lasso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sklearn.preprocessing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PolynomialFeatures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sklearn.pipeline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make_pipeline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rng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np.random.RandomState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(1234)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X = 10 *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rng.rand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(100); y 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np.cos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(X) + 0.25 *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rng.randn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(100)</a:t>
            </a:r>
          </a:p>
          <a:p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Xfit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np.linspace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(0, 10, 100)</a:t>
            </a: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models = {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'Linear':    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make_pipeline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LinearRegression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()),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'Polynomial':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make_pipeline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PolynomialFeatures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(20),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LinearRegression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()),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'Ridge':      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make_pipeline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PolynomialFeatures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(20), Ridge(alpha=1)),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'Lasso':      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make_pipeline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PolynomialFeatures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(20), Lasso(alpha=1)),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plt.figure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figsize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=(20, 6));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plt.scatter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(X, y)</a:t>
            </a: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styles = ['r-', 'g-', 'b-', 'k-’]</a:t>
            </a: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for (name, model), style in zip(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models.items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(), styles):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model.fit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(X[:,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np.newaxis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], y)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plt.plot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Xfit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model.predict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Xfit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[:,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np.newaxis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]), style, label=name)</a:t>
            </a:r>
          </a:p>
          <a:p>
            <a:b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plt.legend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fontsize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=16);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plt.ylim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(-4, 4)</a:t>
            </a:r>
          </a:p>
          <a:p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plt.show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47F26F4B-F240-5660-DE77-05421AF31D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Loss Function(L1,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L2)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BD804364-33A8-ACB2-C2E5-864D11EBB8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37</a:t>
            </a:fld>
            <a:endParaRPr lang="en-US" dirty="0"/>
          </a:p>
        </p:txBody>
      </p:sp>
      <p:sp>
        <p:nvSpPr>
          <p:cNvPr id="9" name="화살표: 오른쪽 8">
            <a:extLst>
              <a:ext uri="{FF2B5EF4-FFF2-40B4-BE49-F238E27FC236}">
                <a16:creationId xmlns:a16="http://schemas.microsoft.com/office/drawing/2014/main" id="{0E121FA0-5424-CAF3-1125-68C64E1BB051}"/>
              </a:ext>
            </a:extLst>
          </p:cNvPr>
          <p:cNvSpPr/>
          <p:nvPr/>
        </p:nvSpPr>
        <p:spPr>
          <a:xfrm>
            <a:off x="8340436" y="2789382"/>
            <a:ext cx="692728" cy="1385454"/>
          </a:xfrm>
          <a:prstGeom prst="rightArrow">
            <a:avLst>
              <a:gd name="adj1" fmla="val 64667"/>
              <a:gd name="adj2" fmla="val 50000"/>
            </a:avLst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B887D16-AA64-F12D-47ED-51AE537B5490}"/>
              </a:ext>
            </a:extLst>
          </p:cNvPr>
          <p:cNvSpPr txBox="1"/>
          <p:nvPr/>
        </p:nvSpPr>
        <p:spPr>
          <a:xfrm>
            <a:off x="9264073" y="2789382"/>
            <a:ext cx="237374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MSE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함수에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L1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L2 penalty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부여한 새로운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설정하여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pytorch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코드를 생성하라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821650F-00C5-3449-5259-48FFAB06FA7F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8084631" y="1063416"/>
            <a:ext cx="1404705" cy="494248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C0128B04-3C98-D55D-B84F-2CE3686DA684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8084631" y="1813197"/>
            <a:ext cx="3726369" cy="461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40680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6F6FA6-74C7-88C9-BFBA-D8AD157D4F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3752A388-439D-EEB9-26EA-BBB92E20A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Loss Function(L1,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L2)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34BF533-F31A-6BF6-753A-09DAEB85E3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38</a:t>
            </a:fld>
            <a:endParaRPr lang="en-US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C7FEE754-8B21-C573-D5AF-C8267A4B40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0658" y="2886969"/>
            <a:ext cx="10428324" cy="333054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3D070F2-82F7-2C59-5420-070887EC6108}"/>
              </a:ext>
            </a:extLst>
          </p:cNvPr>
          <p:cNvSpPr txBox="1"/>
          <p:nvPr/>
        </p:nvSpPr>
        <p:spPr>
          <a:xfrm>
            <a:off x="842210" y="1285138"/>
            <a:ext cx="10860262" cy="12852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모델이 너무 단순하면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(Linear)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못 맞추고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너무 복잡하면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(Polynomial)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예민해지는데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적절한 규제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(Lasso, Ridge)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주면 훨씬 안정적인 예측 모델이 된다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것을 시각적으로 표현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머신러닝의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목적은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fit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아니라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predict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임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새로운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값이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11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일 때 각 모델의 예측 값은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7165274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975C64-2C1F-ED10-2305-AC3FEFC21B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296BFBFB-182E-BE0D-F6EC-3B5802EE86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oefficients of L1, L2 regression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EDD22321-8722-5365-0508-9396C40524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39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9C383C4-9714-B268-35CA-D128C720733C}"/>
              </a:ext>
            </a:extLst>
          </p:cNvPr>
          <p:cNvSpPr txBox="1"/>
          <p:nvPr/>
        </p:nvSpPr>
        <p:spPr>
          <a:xfrm>
            <a:off x="842210" y="1285138"/>
            <a:ext cx="10860262" cy="17007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 모델의 특징별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(Feature)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계수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(Coefficient)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값을 추출하여 아래와 같이 테이블을 생성하라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모델은 단순회귀식으로 변수가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Ridge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Lasso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각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(Feature)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계수 값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(coefficient values)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비교하고 토론하라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왜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Lasso regression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계수 값을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만드는지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왜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Sparsity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특징을 갖는지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F28B006-1902-0666-407A-741D1CE81B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9171" y="3648633"/>
            <a:ext cx="10079974" cy="2131772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D04883D6-624A-023C-D671-0E4B17F02936}"/>
              </a:ext>
            </a:extLst>
          </p:cNvPr>
          <p:cNvSpPr/>
          <p:nvPr/>
        </p:nvSpPr>
        <p:spPr>
          <a:xfrm>
            <a:off x="842210" y="4856480"/>
            <a:ext cx="10644940" cy="92392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0B25E70-BCF1-DC68-0FD1-C0D1FB71E0C5}"/>
              </a:ext>
            </a:extLst>
          </p:cNvPr>
          <p:cNvSpPr/>
          <p:nvPr/>
        </p:nvSpPr>
        <p:spPr>
          <a:xfrm>
            <a:off x="2284930" y="5318442"/>
            <a:ext cx="976430" cy="310198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EA86DACA-1022-D25F-AC9D-688EBEE12113}"/>
              </a:ext>
            </a:extLst>
          </p:cNvPr>
          <p:cNvSpPr/>
          <p:nvPr/>
        </p:nvSpPr>
        <p:spPr>
          <a:xfrm>
            <a:off x="3261360" y="5318442"/>
            <a:ext cx="976430" cy="310198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6D9F29E-EF8B-AB17-9748-FAFD9B2645FF}"/>
              </a:ext>
            </a:extLst>
          </p:cNvPr>
          <p:cNvSpPr/>
          <p:nvPr/>
        </p:nvSpPr>
        <p:spPr>
          <a:xfrm>
            <a:off x="5055944" y="5318442"/>
            <a:ext cx="976430" cy="310198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5B70380-E1C9-407F-1063-343E666EEB3A}"/>
              </a:ext>
            </a:extLst>
          </p:cNvPr>
          <p:cNvSpPr/>
          <p:nvPr/>
        </p:nvSpPr>
        <p:spPr>
          <a:xfrm>
            <a:off x="9424744" y="5318442"/>
            <a:ext cx="976430" cy="310198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F1FE0331-8179-1003-51D9-52EF5A3EE439}"/>
              </a:ext>
            </a:extLst>
          </p:cNvPr>
          <p:cNvSpPr/>
          <p:nvPr/>
        </p:nvSpPr>
        <p:spPr>
          <a:xfrm>
            <a:off x="10389944" y="5318442"/>
            <a:ext cx="976430" cy="310198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81646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7" grpId="0" animBg="1"/>
      <p:bldP spid="9" grpId="0" animBg="1"/>
      <p:bldP spid="10" grpId="0" animBg="1"/>
      <p:bldP spid="11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ED0444-002E-FCBE-575E-38E8737D96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8AD03CC8-6144-796E-E068-ACC28125E1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Derivatives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L1, L2 Loss Function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0B0C7EE4-D340-7AFF-980F-0C37C2D309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40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147A21C-0B7C-8869-6CF3-90C1D6159AD5}"/>
                  </a:ext>
                </a:extLst>
              </p:cNvPr>
              <p:cNvSpPr txBox="1"/>
              <p:nvPr/>
            </p:nvSpPr>
            <p:spPr>
              <a:xfrm>
                <a:off x="842210" y="1285138"/>
                <a:ext cx="10860262" cy="9159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L1, L2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손실함수</a:t>
                </a:r>
                <a:r>
                  <a:rPr lang="en-US" altLang="ko-KR" sz="2000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(Cost Function)</a:t>
                </a:r>
                <a:r>
                  <a:rPr lang="ko-KR" altLang="en-US" sz="2000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형태에 따른  </a:t>
                </a:r>
                <a14:m>
                  <m:oMath xmlns:m="http://schemas.openxmlformats.org/officeDocument/2006/math">
                    <m:r>
                      <a:rPr lang="ko-KR" altLang="en-US" sz="20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와 각각의 손실함수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(Cost Function)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미분방정식의 직관적 이해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(Why sparsity?)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하자 </a:t>
                </a:r>
                <a:endParaRPr lang="en-US" altLang="ko-KR" dirty="0">
                  <a:solidFill>
                    <a:schemeClr val="tx1"/>
                  </a:solidFill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147A21C-0B7C-8869-6CF3-90C1D6159A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2210" y="1285138"/>
                <a:ext cx="10860262" cy="915956"/>
              </a:xfrm>
              <a:prstGeom prst="rect">
                <a:avLst/>
              </a:prstGeom>
              <a:blipFill>
                <a:blip r:embed="rId2"/>
                <a:stretch>
                  <a:fillRect l="-505" b="-10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그림 6">
            <a:extLst>
              <a:ext uri="{FF2B5EF4-FFF2-40B4-BE49-F238E27FC236}">
                <a16:creationId xmlns:a16="http://schemas.microsoft.com/office/drawing/2014/main" id="{BE45A263-58DF-F964-7347-38E892628C38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1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202347" y="4230456"/>
            <a:ext cx="2705909" cy="707797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D2368B17-A096-1719-6EA7-6E190E788631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accent1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202346" y="5265030"/>
            <a:ext cx="2705909" cy="698681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DFD74CB3-01C8-09F0-9C2D-0ECD446FEF80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prstClr val="black"/>
              <a:schemeClr val="accent1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202348" y="3378764"/>
            <a:ext cx="2705907" cy="702036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4969455C-4E5A-6884-2B5D-DDB2E3919742}"/>
              </a:ext>
            </a:extLst>
          </p:cNvPr>
          <p:cNvSpPr txBox="1"/>
          <p:nvPr/>
        </p:nvSpPr>
        <p:spPr>
          <a:xfrm>
            <a:off x="1058369" y="2827549"/>
            <a:ext cx="469181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최적화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800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Optimization,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Cost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Minimization)</a:t>
            </a:r>
            <a:endParaRPr lang="ko-KR" altLang="en-US" dirty="0"/>
          </a:p>
        </p:txBody>
      </p: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F227F347-20D7-9EF9-B53E-DAD7117A3FA7}"/>
              </a:ext>
            </a:extLst>
          </p:cNvPr>
          <p:cNvGrpSpPr/>
          <p:nvPr/>
        </p:nvGrpSpPr>
        <p:grpSpPr>
          <a:xfrm>
            <a:off x="7233920" y="2834658"/>
            <a:ext cx="4169377" cy="1414373"/>
            <a:chOff x="842210" y="2627418"/>
            <a:chExt cx="4169377" cy="1414373"/>
          </a:xfrm>
        </p:grpSpPr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EA2F34F9-2651-37FB-82B9-C89F916BA14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duotone>
                <a:prstClr val="black"/>
                <a:schemeClr val="accent5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1268930" y="3147976"/>
              <a:ext cx="1318027" cy="463750"/>
            </a:xfrm>
            <a:prstGeom prst="rect">
              <a:avLst/>
            </a:prstGeom>
          </p:spPr>
        </p:pic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D14DC66D-E0CC-98ED-4445-E081D433543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duotone>
                <a:prstClr val="black"/>
                <a:schemeClr val="accent5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1268930" y="3578041"/>
              <a:ext cx="3742657" cy="463750"/>
            </a:xfrm>
            <a:prstGeom prst="rect">
              <a:avLst/>
            </a:prstGeom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837CF39F-F592-1877-0217-14EEDEB277D2}"/>
                </a:ext>
              </a:extLst>
            </p:cNvPr>
            <p:cNvSpPr txBox="1"/>
            <p:nvPr/>
          </p:nvSpPr>
          <p:spPr>
            <a:xfrm>
              <a:off x="842210" y="2627418"/>
              <a:ext cx="2371525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1800" dirty="0">
                  <a:solidFill>
                    <a:schemeClr val="tx1"/>
                  </a:solidFill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모델</a:t>
              </a:r>
              <a:r>
                <a:rPr lang="en-US" altLang="ko-KR" sz="1800" dirty="0">
                  <a:solidFill>
                    <a:schemeClr val="tx1"/>
                  </a:solidFill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(Model)</a:t>
              </a:r>
              <a:endParaRPr lang="ko-KR" altLang="en-US" dirty="0"/>
            </a:p>
          </p:txBody>
        </p:sp>
        <p:cxnSp>
          <p:nvCxnSpPr>
            <p:cNvPr id="3" name="연결선: 꺾임 2">
              <a:extLst>
                <a:ext uri="{FF2B5EF4-FFF2-40B4-BE49-F238E27FC236}">
                  <a16:creationId xmlns:a16="http://schemas.microsoft.com/office/drawing/2014/main" id="{0D98D96D-5A33-3C9B-40B6-38BD7F489B03}"/>
                </a:ext>
              </a:extLst>
            </p:cNvPr>
            <p:cNvCxnSpPr>
              <a:cxnSpLocks/>
              <a:stCxn id="13" idx="1"/>
              <a:endCxn id="16" idx="1"/>
            </p:cNvCxnSpPr>
            <p:nvPr/>
          </p:nvCxnSpPr>
          <p:spPr>
            <a:xfrm rot="10800000">
              <a:off x="842210" y="2812085"/>
              <a:ext cx="426720" cy="567767"/>
            </a:xfrm>
            <a:prstGeom prst="bentConnector3">
              <a:avLst>
                <a:gd name="adj1" fmla="val 153571"/>
              </a:avLst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1" name="연결선: 꺾임 10">
            <a:extLst>
              <a:ext uri="{FF2B5EF4-FFF2-40B4-BE49-F238E27FC236}">
                <a16:creationId xmlns:a16="http://schemas.microsoft.com/office/drawing/2014/main" id="{D97C7C43-BE96-B8F4-12B6-B7F4CB9219E9}"/>
              </a:ext>
            </a:extLst>
          </p:cNvPr>
          <p:cNvCxnSpPr>
            <a:cxnSpLocks/>
            <a:stCxn id="12" idx="1"/>
            <a:endCxn id="17" idx="1"/>
          </p:cNvCxnSpPr>
          <p:nvPr/>
        </p:nvCxnSpPr>
        <p:spPr>
          <a:xfrm rot="10800000">
            <a:off x="1058370" y="3012216"/>
            <a:ext cx="143979" cy="717567"/>
          </a:xfrm>
          <a:prstGeom prst="bentConnector3">
            <a:avLst>
              <a:gd name="adj1" fmla="val 258773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그림 22">
            <a:extLst>
              <a:ext uri="{FF2B5EF4-FFF2-40B4-BE49-F238E27FC236}">
                <a16:creationId xmlns:a16="http://schemas.microsoft.com/office/drawing/2014/main" id="{BCDE0432-2547-B13C-1538-0F9C4838889F}"/>
              </a:ext>
            </a:extLst>
          </p:cNvPr>
          <p:cNvPicPr>
            <a:picLocks noChangeAspect="1"/>
          </p:cNvPicPr>
          <p:nvPr/>
        </p:nvPicPr>
        <p:blipFill>
          <a:blip r:embed="rId8">
            <a:duotone>
              <a:prstClr val="black"/>
              <a:schemeClr val="accent6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4091134" y="5357612"/>
            <a:ext cx="3155291" cy="554155"/>
          </a:xfrm>
          <a:prstGeom prst="rect">
            <a:avLst/>
          </a:prstGeom>
        </p:spPr>
      </p:pic>
      <p:pic>
        <p:nvPicPr>
          <p:cNvPr id="25" name="그림 24">
            <a:extLst>
              <a:ext uri="{FF2B5EF4-FFF2-40B4-BE49-F238E27FC236}">
                <a16:creationId xmlns:a16="http://schemas.microsoft.com/office/drawing/2014/main" id="{13874D0E-10E7-C3B8-CDA9-DE9A92DF8F31}"/>
              </a:ext>
            </a:extLst>
          </p:cNvPr>
          <p:cNvPicPr>
            <a:picLocks noChangeAspect="1"/>
          </p:cNvPicPr>
          <p:nvPr/>
        </p:nvPicPr>
        <p:blipFill>
          <a:blip r:embed="rId9">
            <a:duotone>
              <a:prstClr val="black"/>
              <a:schemeClr val="accent6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4091134" y="4330311"/>
            <a:ext cx="2843057" cy="554155"/>
          </a:xfrm>
          <a:prstGeom prst="rect">
            <a:avLst/>
          </a:prstGeom>
        </p:spPr>
      </p:pic>
      <p:grpSp>
        <p:nvGrpSpPr>
          <p:cNvPr id="32" name="그룹 31">
            <a:extLst>
              <a:ext uri="{FF2B5EF4-FFF2-40B4-BE49-F238E27FC236}">
                <a16:creationId xmlns:a16="http://schemas.microsoft.com/office/drawing/2014/main" id="{91D1A00D-1024-D41A-62E8-50BA090F9AC4}"/>
              </a:ext>
            </a:extLst>
          </p:cNvPr>
          <p:cNvGrpSpPr/>
          <p:nvPr/>
        </p:nvGrpSpPr>
        <p:grpSpPr>
          <a:xfrm>
            <a:off x="6278880" y="5265030"/>
            <a:ext cx="2416704" cy="800625"/>
            <a:chOff x="6096000" y="5265030"/>
            <a:chExt cx="2416704" cy="800625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F9B49639-B1A6-E30D-1423-A57B19474E8E}"/>
                </a:ext>
              </a:extLst>
            </p:cNvPr>
            <p:cNvSpPr txBox="1"/>
            <p:nvPr/>
          </p:nvSpPr>
          <p:spPr>
            <a:xfrm>
              <a:off x="7172272" y="5757878"/>
              <a:ext cx="134043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 err="1">
                  <a:hlinkClick r:id="rId10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Sign_function</a:t>
              </a:r>
              <a:endParaRPr lang="ko-KR" altLang="en-US" sz="1400" dirty="0"/>
            </a:p>
          </p:txBody>
        </p:sp>
        <p:sp>
          <p:nvSpPr>
            <p:cNvPr id="31" name="직사각형 30">
              <a:extLst>
                <a:ext uri="{FF2B5EF4-FFF2-40B4-BE49-F238E27FC236}">
                  <a16:creationId xmlns:a16="http://schemas.microsoft.com/office/drawing/2014/main" id="{DF5D77B2-EC22-D1CB-3044-6BC19D8AA2E9}"/>
                </a:ext>
              </a:extLst>
            </p:cNvPr>
            <p:cNvSpPr/>
            <p:nvPr/>
          </p:nvSpPr>
          <p:spPr>
            <a:xfrm>
              <a:off x="6096000" y="5265030"/>
              <a:ext cx="1076272" cy="75286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A42AFFB4-33BC-A256-975B-871025AF235C}"/>
              </a:ext>
            </a:extLst>
          </p:cNvPr>
          <p:cNvSpPr/>
          <p:nvPr/>
        </p:nvSpPr>
        <p:spPr>
          <a:xfrm>
            <a:off x="6455221" y="4234804"/>
            <a:ext cx="616139" cy="75286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4913514-4C91-9DE5-402F-7F683DFCCC09}"/>
              </a:ext>
            </a:extLst>
          </p:cNvPr>
          <p:cNvSpPr txBox="1"/>
          <p:nvPr/>
        </p:nvSpPr>
        <p:spPr>
          <a:xfrm>
            <a:off x="4772655" y="3765081"/>
            <a:ext cx="14800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Times New Roman" panose="02020603050405020304" pitchFamily="18" charset="0"/>
              </a:rPr>
              <a:t>Derivatives</a:t>
            </a:r>
            <a:endParaRPr lang="ko-KR" altLang="en-US" dirty="0">
              <a:solidFill>
                <a:schemeClr val="accent6">
                  <a:lumMod val="60000"/>
                  <a:lumOff val="40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525157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DDC99D-D079-DDD9-15E8-893E52A36F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594A967-5E85-1C5A-C050-07A1801972BD}"/>
                  </a:ext>
                </a:extLst>
              </p:cNvPr>
              <p:cNvSpPr txBox="1"/>
              <p:nvPr/>
            </p:nvSpPr>
            <p:spPr>
              <a:xfrm>
                <a:off x="6877250" y="3135181"/>
                <a:ext cx="5101390" cy="300018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4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가중치</a:t>
                </a:r>
                <a:r>
                  <a:rPr lang="en-US" altLang="ko-KR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en-US" altLang="ko-KR" sz="1400" i="1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altLang="ko-KR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크기와 상관없이 일정한 액수</a:t>
                </a:r>
                <a:r>
                  <a:rPr lang="en-US" altLang="ko-KR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ko-KR" altLang="en-US" sz="1400" i="1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altLang="ko-KR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세금 납부</a:t>
                </a:r>
                <a:endParaRPr lang="en-US" altLang="ko-KR" sz="14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4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재산이 많든 적든 즉 가중치가 </a:t>
                </a:r>
                <a:r>
                  <a:rPr lang="en-US" altLang="ko-KR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100</a:t>
                </a:r>
                <a:r>
                  <a:rPr lang="ko-KR" altLang="en-US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이든</a:t>
                </a:r>
                <a:r>
                  <a:rPr lang="en-US" altLang="ko-KR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0.1</a:t>
                </a:r>
                <a:r>
                  <a:rPr lang="ko-KR" altLang="en-US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이든 똑같이 </a:t>
                </a:r>
                <a14:m>
                  <m:oMath xmlns:m="http://schemas.openxmlformats.org/officeDocument/2006/math">
                    <m:r>
                      <a:rPr lang="ko-KR" altLang="en-US" sz="1400" i="1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ko-KR" altLang="en-US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라는 힘으로 동일한 세금 납부</a:t>
                </a:r>
                <a:endParaRPr lang="en-US" altLang="ko-KR" sz="14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4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특정 재산은 버리게 되는 가중치</a:t>
                </a:r>
                <a:r>
                  <a:rPr lang="en-US" altLang="ko-KR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en-US" altLang="ko-KR" sz="1400" i="1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altLang="ko-KR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정확히 </a:t>
                </a:r>
                <a:r>
                  <a:rPr lang="en-US" altLang="ko-KR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0</a:t>
                </a:r>
                <a:r>
                  <a:rPr lang="ko-KR" altLang="en-US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으로 만드는 </a:t>
                </a:r>
                <a:r>
                  <a:rPr lang="en-US" altLang="ko-KR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sparsity </a:t>
                </a:r>
                <a:r>
                  <a:rPr lang="ko-KR" altLang="en-US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형태의 재산을 보유하게 됨</a:t>
                </a:r>
                <a:endParaRPr lang="en-US" altLang="ko-KR" sz="14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ko-KR" altLang="en-US" sz="16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594A967-5E85-1C5A-C050-07A1801972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77250" y="3135181"/>
                <a:ext cx="5101390" cy="300018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제목 1">
            <a:extLst>
              <a:ext uri="{FF2B5EF4-FFF2-40B4-BE49-F238E27FC236}">
                <a16:creationId xmlns:a16="http://schemas.microsoft.com/office/drawing/2014/main" id="{74BF5ED3-EFC4-C68B-9DF7-715E3DB13E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Metaphor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L1, L2 Loss Function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275DCE7-5346-F0A2-A517-180649C142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41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4BC8D5B-7A64-0E1F-A2D5-A3680306F960}"/>
                  </a:ext>
                </a:extLst>
              </p:cNvPr>
              <p:cNvSpPr txBox="1"/>
              <p:nvPr/>
            </p:nvSpPr>
            <p:spPr>
              <a:xfrm>
                <a:off x="842210" y="1285138"/>
                <a:ext cx="10860262" cy="8697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손실함수는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국가에 납부하는 총 세금이며 가중치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en-US" altLang="ko-KR" i="1" smtClean="0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는 각 특성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ko-KR" altLang="en-US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대한 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“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재산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”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이고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penalty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강도를 </a:t>
                </a: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로 가정하여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L1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과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L2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세금납부방식에 대한 국민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세금납부자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최적화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en-US" altLang="ko-KR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Oprimization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전략은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?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4BC8D5B-7A64-0E1F-A2D5-A3680306F9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2210" y="1285138"/>
                <a:ext cx="10860262" cy="869790"/>
              </a:xfrm>
              <a:prstGeom prst="rect">
                <a:avLst/>
              </a:prstGeom>
              <a:blipFill>
                <a:blip r:embed="rId3"/>
                <a:stretch>
                  <a:fillRect l="-337" b="-1056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603B8BD-FD01-46F0-2965-E4D750B489D7}"/>
                  </a:ext>
                </a:extLst>
              </p:cNvPr>
              <p:cNvSpPr txBox="1"/>
              <p:nvPr/>
            </p:nvSpPr>
            <p:spPr>
              <a:xfrm>
                <a:off x="1302738" y="3135181"/>
                <a:ext cx="4754102" cy="2959208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4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가중치의 제곱</a:t>
                </a:r>
                <a:r>
                  <a:rPr lang="en-US" altLang="ko-KR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40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400" i="1" dirty="0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p>
                        <m:r>
                          <a:rPr lang="en-US" altLang="ko-KR" sz="1400" i="0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altLang="ko-KR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비례해서 세금을 납부</a:t>
                </a:r>
                <a:endParaRPr lang="en-US" altLang="ko-KR" sz="14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4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즉 재산이 많으면 세금을 엄청나게 많이 내지만</a:t>
                </a:r>
                <a:r>
                  <a:rPr lang="en-US" altLang="ko-KR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재산이 줄어들면 내야 하는 세금도 급격히 줄어들게 됨</a:t>
                </a:r>
                <a:endParaRPr lang="en-US" altLang="ko-KR" sz="14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4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모든 재산을 갖지만 가중치</a:t>
                </a:r>
                <a:r>
                  <a:rPr lang="en-US" altLang="ko-KR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en-US" altLang="ko-KR" sz="1400" i="1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altLang="ko-KR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</a:t>
                </a:r>
                <a:r>
                  <a:rPr lang="en-US" altLang="ko-KR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0</a:t>
                </a:r>
                <a:r>
                  <a:rPr lang="ko-KR" altLang="en-US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향해 최소한의 재산을 보유하게 됨</a:t>
                </a:r>
                <a:endParaRPr lang="en-US" altLang="ko-KR" sz="14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4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603B8BD-FD01-46F0-2965-E4D750B489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02738" y="3135181"/>
                <a:ext cx="4754102" cy="2959208"/>
              </a:xfrm>
              <a:prstGeom prst="rect">
                <a:avLst/>
              </a:prstGeom>
              <a:blipFill>
                <a:blip r:embed="rId4"/>
                <a:stretch>
                  <a:fillRect l="-128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TextBox 20">
            <a:extLst>
              <a:ext uri="{FF2B5EF4-FFF2-40B4-BE49-F238E27FC236}">
                <a16:creationId xmlns:a16="http://schemas.microsoft.com/office/drawing/2014/main" id="{58AFA3CC-7FCA-D386-C47C-9705F04C5D6C}"/>
              </a:ext>
            </a:extLst>
          </p:cNvPr>
          <p:cNvSpPr txBox="1"/>
          <p:nvPr/>
        </p:nvSpPr>
        <p:spPr>
          <a:xfrm>
            <a:off x="6575369" y="2846254"/>
            <a:ext cx="2578791" cy="414024"/>
          </a:xfrm>
          <a:prstGeom prst="rect">
            <a:avLst/>
          </a:prstGeom>
          <a:solidFill>
            <a:srgbClr val="0070C0"/>
          </a:solidFill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Lasso(L1) 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정액 세액</a:t>
            </a:r>
            <a:endParaRPr lang="en-US" altLang="ko-KR" sz="16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842E206-F2B4-548F-C1B9-4FB8760D43FB}"/>
              </a:ext>
            </a:extLst>
          </p:cNvPr>
          <p:cNvSpPr txBox="1"/>
          <p:nvPr/>
        </p:nvSpPr>
        <p:spPr>
          <a:xfrm>
            <a:off x="885768" y="2846254"/>
            <a:ext cx="2578791" cy="414024"/>
          </a:xfrm>
          <a:prstGeom prst="rect">
            <a:avLst/>
          </a:prstGeom>
          <a:solidFill>
            <a:srgbClr val="0070C0"/>
          </a:solidFill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Ridge(L2) 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재산 비례세</a:t>
            </a:r>
            <a:endParaRPr lang="en-US" altLang="ko-KR" sz="16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7519997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028E01-DDF8-919E-8C0F-D554958E13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CA8FCF61-7371-9B73-E714-4283C7AB12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Contour map of L1, L2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A3DADE18-C221-6D25-3694-EA36DD689B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42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16183E7-1AC4-4900-0B37-C34B1205764D}"/>
                  </a:ext>
                </a:extLst>
              </p:cNvPr>
              <p:cNvSpPr txBox="1"/>
              <p:nvPr/>
            </p:nvSpPr>
            <p:spPr>
              <a:xfrm>
                <a:off x="842210" y="1285138"/>
                <a:ext cx="10860262" cy="8697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L1, L2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손실함수</a:t>
                </a:r>
                <a:r>
                  <a:rPr lang="en-US" altLang="ko-KR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(Cost Function)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</a:t>
                </a:r>
                <a:r>
                  <a:rPr lang="ko-KR" altLang="en-US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절편</a:t>
                </a:r>
                <a:r>
                  <a:rPr lang="en-US" altLang="ko-KR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(intercept)</a:t>
                </a:r>
                <a:r>
                  <a:rPr lang="ko-KR" altLang="en-US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</a:t>
                </a:r>
                <a:r>
                  <a:rPr lang="en-US" altLang="ko-KR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zero</a:t>
                </a:r>
                <a:r>
                  <a:rPr lang="ko-KR" altLang="en-US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로 하는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선형회귀식을 </a:t>
                </a:r>
                <a:r>
                  <a:rPr lang="en-US" altLang="ko-KR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peanalty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계수 </a:t>
                </a:r>
                <a14:m>
                  <m:oMath xmlns:m="http://schemas.openxmlformats.org/officeDocument/2006/math"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를 상수로 취급하여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2D contour map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으로 </a:t>
                </a:r>
                <a:r>
                  <a:rPr lang="en-US" altLang="ko-KR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sympy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모듈을 사용하여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시각화하라</a:t>
                </a: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16183E7-1AC4-4900-0B37-C34B120576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2210" y="1285138"/>
                <a:ext cx="10860262" cy="869790"/>
              </a:xfrm>
              <a:prstGeom prst="rect">
                <a:avLst/>
              </a:prstGeom>
              <a:blipFill>
                <a:blip r:embed="rId2"/>
                <a:stretch>
                  <a:fillRect l="-337" b="-1056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>
            <a:extLst>
              <a:ext uri="{FF2B5EF4-FFF2-40B4-BE49-F238E27FC236}">
                <a16:creationId xmlns:a16="http://schemas.microsoft.com/office/drawing/2014/main" id="{12B8D6BF-0BC5-AF60-3FFC-1236A850E2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66679" y="2620912"/>
            <a:ext cx="8369801" cy="36650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1027519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6F0C96-3B27-BB48-DA78-0CFBBF4E8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9E1DE821-57A7-BE4B-1984-B5F99A5597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Geometry metaphor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L1, L2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32BC1B00-91CB-AC63-78CA-FAF87EACC6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43</a:t>
            </a:fld>
            <a:endParaRPr lang="en-US" dirty="0"/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336D9234-AC50-5FCB-71B1-2935B19F25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58251" y="2513766"/>
            <a:ext cx="3726797" cy="37484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A1EC122D-E7BB-BE6B-B3A0-157E9953BF31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4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5308708" y="2527951"/>
            <a:ext cx="1775583" cy="631319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8CE945B4-C646-B222-F74D-3C0DBC99C4B3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5308706" y="4285662"/>
            <a:ext cx="1775583" cy="652392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54BD6D12-C63F-13C0-6BC9-77A7B60A3405}"/>
              </a:ext>
            </a:extLst>
          </p:cNvPr>
          <p:cNvSpPr txBox="1"/>
          <p:nvPr/>
        </p:nvSpPr>
        <p:spPr>
          <a:xfrm>
            <a:off x="5308706" y="3210529"/>
            <a:ext cx="6485082" cy="697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가중치의 </a:t>
            </a: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절대값 합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페널티로 사용하여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중요하지 않은 변수의 계수를 정확히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만들어 변수 선택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(Feature Selection)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효과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E5E84E4-F875-478E-C686-9758ADE9AAD8}"/>
              </a:ext>
            </a:extLst>
          </p:cNvPr>
          <p:cNvSpPr txBox="1"/>
          <p:nvPr/>
        </p:nvSpPr>
        <p:spPr>
          <a:xfrm>
            <a:off x="5308706" y="5011642"/>
            <a:ext cx="6578494" cy="697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가중치의 </a:t>
            </a: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제곱 합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페널티로 사용하여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계수를 완전히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만들지는 않지만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전체적으로 크기를 줄여서 모델의 분산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(Variance)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낮추고 과적합을 방지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10A7C9-3270-0BD3-5B1C-B6B2217CA9FD}"/>
              </a:ext>
            </a:extLst>
          </p:cNvPr>
          <p:cNvSpPr txBox="1"/>
          <p:nvPr/>
        </p:nvSpPr>
        <p:spPr>
          <a:xfrm>
            <a:off x="1173019" y="1234376"/>
            <a:ext cx="10843490" cy="8697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Lasso(L1 penalty)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중요하지 않은 변수를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만들어 없애 버리는 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이고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불필요한 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weight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 제거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), Ridge(L2 penalty)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모든 변수를 안고 가되 그 힘을 골고루 빼놓는 모래주머니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모든 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weight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 줄임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)"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4620284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296476-D1BC-93EE-AD7F-698D18F9F4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C5E5055A-FEDA-CD90-6842-D10AD41D65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task of L1, L2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7CF6EC08-194F-8A13-AF31-10653AAA6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44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F9F7DB-E7BE-3414-0C44-424E16526041}"/>
              </a:ext>
            </a:extLst>
          </p:cNvPr>
          <p:cNvSpPr txBox="1"/>
          <p:nvPr/>
        </p:nvSpPr>
        <p:spPr>
          <a:xfrm>
            <a:off x="842210" y="1285138"/>
            <a:ext cx="10860262" cy="32251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/>
              <a:t>Scikit-learn</a:t>
            </a:r>
            <a:r>
              <a:rPr lang="ko-KR" altLang="en-US" dirty="0"/>
              <a:t>의 선형모델</a:t>
            </a:r>
            <a:r>
              <a:rPr lang="en-US" altLang="ko-KR" dirty="0"/>
              <a:t>(</a:t>
            </a:r>
            <a:r>
              <a:rPr lang="en-US" altLang="ko-KR" dirty="0" err="1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linear_model</a:t>
            </a:r>
            <a:r>
              <a:rPr lang="en-US" altLang="ko-KR" dirty="0"/>
              <a:t>)</a:t>
            </a:r>
            <a:r>
              <a:rPr lang="ko-KR" altLang="en-US" dirty="0"/>
              <a:t>의 수식</a:t>
            </a:r>
            <a:r>
              <a:rPr lang="en-US" altLang="ko-KR" dirty="0"/>
              <a:t>(L2 norm</a:t>
            </a:r>
            <a:r>
              <a:rPr lang="ko-KR" altLang="en-US" dirty="0"/>
              <a:t>을 제곱</a:t>
            </a:r>
            <a:r>
              <a:rPr lang="en-US" altLang="ko-KR" dirty="0"/>
              <a:t>)</a:t>
            </a:r>
            <a:r>
              <a:rPr lang="ko-KR" altLang="en-US" dirty="0"/>
              <a:t>에 대해 토론하라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/>
              <a:t>선형회귀</a:t>
            </a:r>
            <a:r>
              <a:rPr lang="en-US" altLang="ko-KR" dirty="0"/>
              <a:t>, </a:t>
            </a:r>
            <a:r>
              <a:rPr lang="ko-KR" altLang="en-US" dirty="0"/>
              <a:t>기하학적</a:t>
            </a:r>
            <a:r>
              <a:rPr lang="en-US" altLang="ko-KR" dirty="0"/>
              <a:t> </a:t>
            </a:r>
            <a:r>
              <a:rPr lang="ko-KR" altLang="en-US" dirty="0"/>
              <a:t>투영</a:t>
            </a:r>
            <a:r>
              <a:rPr lang="en-US" altLang="ko-KR" dirty="0"/>
              <a:t>(projection), </a:t>
            </a:r>
            <a:r>
              <a:rPr lang="ko-KR" altLang="en-US" dirty="0"/>
              <a:t>미분</a:t>
            </a:r>
            <a:r>
              <a:rPr lang="en-US" altLang="ko-KR" dirty="0"/>
              <a:t>(derivative) </a:t>
            </a:r>
            <a:r>
              <a:rPr lang="ko-KR" altLang="en-US" dirty="0"/>
              <a:t>등 각각의 관점에 대해 토론하자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/>
              <a:t>Task </a:t>
            </a: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en-US" altLang="ko-KR" dirty="0"/>
              <a:t>Scikit-learn</a:t>
            </a:r>
            <a:r>
              <a:rPr lang="ko-KR" altLang="en-US" dirty="0"/>
              <a:t>의 </a:t>
            </a:r>
            <a:r>
              <a:rPr lang="en-US" altLang="ko-KR" dirty="0" err="1"/>
              <a:t>load_diabetes</a:t>
            </a:r>
            <a:r>
              <a:rPr lang="en-US" altLang="ko-KR" dirty="0"/>
              <a:t> </a:t>
            </a:r>
            <a:r>
              <a:rPr lang="ko-KR" altLang="en-US" dirty="0"/>
              <a:t>를 바탕으로 </a:t>
            </a:r>
            <a:r>
              <a:rPr lang="en-US" altLang="ko-KR" dirty="0" err="1"/>
              <a:t>train_test_split</a:t>
            </a:r>
            <a:r>
              <a:rPr lang="ko-KR" altLang="en-US" dirty="0"/>
              <a:t>를 통해 아래 </a:t>
            </a:r>
            <a:r>
              <a:rPr lang="en-US" altLang="ko-KR" dirty="0"/>
              <a:t>3</a:t>
            </a:r>
            <a:r>
              <a:rPr lang="ko-KR" altLang="en-US" dirty="0"/>
              <a:t>가지 방법으로 </a:t>
            </a:r>
            <a:r>
              <a:rPr lang="en-US" altLang="ko-KR" dirty="0"/>
              <a:t>parameters</a:t>
            </a:r>
            <a:r>
              <a:rPr lang="ko-KR" altLang="en-US" dirty="0"/>
              <a:t>를 구하고 각각 비교하라</a:t>
            </a:r>
            <a:endParaRPr lang="en-US" altLang="ko-KR" dirty="0"/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dirty="0"/>
              <a:t>from </a:t>
            </a:r>
            <a:r>
              <a:rPr lang="en-US" altLang="ko-KR" sz="1600" dirty="0" err="1"/>
              <a:t>sklearn.linear_model</a:t>
            </a:r>
            <a:r>
              <a:rPr lang="en-US" altLang="ko-KR" sz="1600" dirty="0"/>
              <a:t> import </a:t>
            </a:r>
            <a:r>
              <a:rPr lang="en-US" altLang="ko-KR" sz="1600" dirty="0" err="1"/>
              <a:t>LinearRegression</a:t>
            </a:r>
            <a:endParaRPr lang="en-US" altLang="ko-KR" sz="1600" dirty="0"/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dirty="0"/>
              <a:t>import </a:t>
            </a:r>
            <a:r>
              <a:rPr lang="en-US" altLang="ko-KR" sz="1600" dirty="0" err="1"/>
              <a:t>statsmodels.api</a:t>
            </a:r>
            <a:r>
              <a:rPr lang="en-US" altLang="ko-KR" sz="1600" dirty="0"/>
              <a:t> as </a:t>
            </a:r>
            <a:r>
              <a:rPr lang="en-US" altLang="ko-KR" sz="1600" dirty="0" err="1"/>
              <a:t>sm</a:t>
            </a:r>
            <a:endParaRPr lang="en-US" altLang="ko-KR" sz="1600" dirty="0"/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dirty="0"/>
              <a:t>import</a:t>
            </a:r>
            <a:r>
              <a:rPr lang="ko-KR" altLang="en-US" sz="1600" dirty="0"/>
              <a:t> </a:t>
            </a:r>
            <a:r>
              <a:rPr lang="en-US" altLang="ko-KR" sz="1600" dirty="0" err="1"/>
              <a:t>numpy</a:t>
            </a:r>
            <a:r>
              <a:rPr lang="ko-KR" altLang="en-US" sz="1600" dirty="0"/>
              <a:t> </a:t>
            </a:r>
            <a:r>
              <a:rPr lang="en-US" altLang="ko-KR" sz="1600" dirty="0"/>
              <a:t>as</a:t>
            </a:r>
            <a:r>
              <a:rPr lang="ko-KR" altLang="en-US" sz="1600" dirty="0"/>
              <a:t> </a:t>
            </a:r>
            <a:r>
              <a:rPr lang="en-US" altLang="ko-KR" sz="1600" dirty="0"/>
              <a:t>np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6C0602C-5DA9-D570-FF09-907AA9270D7D}"/>
              </a:ext>
            </a:extLst>
          </p:cNvPr>
          <p:cNvSpPr txBox="1"/>
          <p:nvPr/>
        </p:nvSpPr>
        <p:spPr>
          <a:xfrm>
            <a:off x="4017505" y="5293023"/>
            <a:ext cx="311467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lectures/lecturenote08.html</a:t>
            </a:r>
            <a:endParaRPr lang="ko-KR" altLang="en-US" sz="1600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763E79C3-FF2D-57CF-E818-B8E0829507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1421" y="5164195"/>
            <a:ext cx="1557334" cy="438807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EF696029-D14D-AE60-8266-EDE568763B8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71421" y="4311361"/>
            <a:ext cx="4114860" cy="438808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1B22D6C6-4F06-FD9A-0DC6-9F8423CA481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71421" y="4725388"/>
            <a:ext cx="1996140" cy="43880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DD73F87-A17D-4F08-EFF8-EDD4E14B8474}"/>
              </a:ext>
            </a:extLst>
          </p:cNvPr>
          <p:cNvSpPr txBox="1"/>
          <p:nvPr/>
        </p:nvSpPr>
        <p:spPr>
          <a:xfrm>
            <a:off x="4017505" y="5760405"/>
            <a:ext cx="7294880" cy="414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wiki/</a:t>
            </a:r>
            <a:r>
              <a:rPr lang="en-US" altLang="ko-KR" sz="1600" dirty="0" err="1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Linear_regression</a:t>
            </a:r>
            <a:r>
              <a:rPr lang="en-US" altLang="ko-KR" sz="1600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</a:t>
            </a:r>
            <a:r>
              <a:rPr lang="ko-KR" altLang="en-US" sz="1600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귀식의 </a:t>
            </a:r>
            <a:r>
              <a:rPr lang="en-US" altLang="ko-KR" sz="1600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matrix formation</a:t>
            </a:r>
            <a:r>
              <a:rPr lang="ko-KR" altLang="en-US" sz="1600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이해하자</a:t>
            </a:r>
            <a:endParaRPr lang="en-US" altLang="ko-KR" sz="1600" dirty="0">
              <a:solidFill>
                <a:schemeClr val="tx1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8774010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31F8B4-A99B-88EE-75C1-6CEF82FB50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590521C8-7C2C-7319-FE80-5CB704F46D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Loss Function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B5053BC1-A3BE-48A2-D122-B726B63A8D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45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5122338-7AAF-EE81-32F5-A4761D443AA3}"/>
              </a:ext>
            </a:extLst>
          </p:cNvPr>
          <p:cNvSpPr txBox="1"/>
          <p:nvPr/>
        </p:nvSpPr>
        <p:spPr>
          <a:xfrm>
            <a:off x="1020158" y="1143755"/>
            <a:ext cx="10866889" cy="5401479"/>
          </a:xfrm>
          <a:prstGeom prst="rect">
            <a:avLst/>
          </a:prstGeom>
          <a:solidFill>
            <a:srgbClr val="00B0F0"/>
          </a:solidFill>
        </p:spPr>
        <p:txBody>
          <a:bodyPr wrap="square">
            <a:spAutoFit/>
          </a:bodyPr>
          <a:lstStyle/>
          <a:p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sklearn.datasets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load_diabetes</a:t>
            </a:r>
            <a:endParaRPr lang="en-US" altLang="ko-KR" sz="15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sklearn.model_selection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train_test_split</a:t>
            </a:r>
            <a:endParaRPr lang="en-US" altLang="ko-KR" sz="15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sklearn.linear_model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LinearRegression</a:t>
            </a:r>
            <a:endParaRPr lang="en-US" altLang="ko-KR" sz="15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statsmodels.api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sm</a:t>
            </a:r>
            <a:endParaRPr lang="en-US" altLang="ko-KR" sz="15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as np</a:t>
            </a:r>
          </a:p>
          <a:p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import pandas as pd</a:t>
            </a:r>
          </a:p>
          <a:p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diabetes =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load_diabetes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X, y =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diabetes.data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diabetes.target</a:t>
            </a:r>
            <a:endParaRPr lang="en-US" altLang="ko-KR" sz="15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feature_names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diabetes.feature_names</a:t>
            </a:r>
            <a:endParaRPr lang="en-US" altLang="ko-KR" sz="15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5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X_train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X_test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y_train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y_test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train_test_split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(X, y,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test_size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=0.2,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random_state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=42)</a:t>
            </a:r>
          </a:p>
          <a:p>
            <a:endParaRPr lang="en-US" altLang="ko-KR" sz="15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lr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LinearRegression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lr.fit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X_train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y_train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sk_coef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np.insert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lr.coef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_, 0,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lr.intercept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_)</a:t>
            </a:r>
          </a:p>
          <a:p>
            <a:endParaRPr lang="en-US" altLang="ko-KR" sz="15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X_train_bias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np.c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_[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np.ones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((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X_train.shape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[0], 1)),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X_train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  <a:p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results =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sm.OLS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y_train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X_train_bias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).fit()</a:t>
            </a:r>
          </a:p>
          <a:p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results.summary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xname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=['Intercept'] +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feature_names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))</a:t>
            </a:r>
          </a:p>
          <a:p>
            <a:endParaRPr lang="en-US" altLang="ko-KR" sz="15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beta_hat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np.linalg.inv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X_train_bias.T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@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X_train_bias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@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X_train_bias.T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@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y_train</a:t>
            </a:r>
            <a:endParaRPr lang="en-US" altLang="ko-KR" sz="15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5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df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pd.DataFrame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({'Feature': ['Intercept'] +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feature_names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'</a:t>
            </a:r>
            <a:r>
              <a:rPr lang="ko-KR" altLang="en-US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정규 방정식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':</a:t>
            </a:r>
            <a:r>
              <a:rPr lang="ko-KR" altLang="en-US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beta_hat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'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Sklearn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':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sk_coef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})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0511E096-1FAC-C38C-D1F6-878AFA6520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1005" y="5666620"/>
            <a:ext cx="1557334" cy="438807"/>
          </a:xfrm>
          <a:prstGeom prst="rect">
            <a:avLst/>
          </a:prstGeom>
          <a:ln w="28575">
            <a:solidFill>
              <a:srgbClr val="00B050"/>
            </a:solidFill>
          </a:ln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34DACF2A-F3AC-276D-6B10-A239E42DF8EB}"/>
              </a:ext>
            </a:extLst>
          </p:cNvPr>
          <p:cNvSpPr/>
          <p:nvPr/>
        </p:nvSpPr>
        <p:spPr>
          <a:xfrm>
            <a:off x="666750" y="3895724"/>
            <a:ext cx="8610600" cy="76643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EC7A19D3-0152-5C07-0663-6AC650D0DAF9}"/>
              </a:ext>
            </a:extLst>
          </p:cNvPr>
          <p:cNvSpPr/>
          <p:nvPr/>
        </p:nvSpPr>
        <p:spPr>
          <a:xfrm>
            <a:off x="666750" y="4791074"/>
            <a:ext cx="8610600" cy="766439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5AF85A64-1293-53D7-E18B-43F362D66343}"/>
              </a:ext>
            </a:extLst>
          </p:cNvPr>
          <p:cNvSpPr/>
          <p:nvPr/>
        </p:nvSpPr>
        <p:spPr>
          <a:xfrm>
            <a:off x="666750" y="5657095"/>
            <a:ext cx="8610600" cy="457858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91ADA89B-7896-8D38-D27A-94A67FD3F725}"/>
              </a:ext>
            </a:extLst>
          </p:cNvPr>
          <p:cNvSpPr/>
          <p:nvPr/>
        </p:nvSpPr>
        <p:spPr>
          <a:xfrm>
            <a:off x="627380" y="1643723"/>
            <a:ext cx="8610600" cy="19547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1BA7B5E5-2514-7ABA-6369-6A0B0BF68B8F}"/>
              </a:ext>
            </a:extLst>
          </p:cNvPr>
          <p:cNvSpPr/>
          <p:nvPr/>
        </p:nvSpPr>
        <p:spPr>
          <a:xfrm>
            <a:off x="627380" y="1873740"/>
            <a:ext cx="8610600" cy="195473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5C46D3C9-B628-D706-7DA8-A1956DCD6FB3}"/>
              </a:ext>
            </a:extLst>
          </p:cNvPr>
          <p:cNvSpPr/>
          <p:nvPr/>
        </p:nvSpPr>
        <p:spPr>
          <a:xfrm>
            <a:off x="627380" y="2111113"/>
            <a:ext cx="8610600" cy="195473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4A99CD8-83C9-9A44-E48F-1843A01A2F01}"/>
              </a:ext>
            </a:extLst>
          </p:cNvPr>
          <p:cNvSpPr txBox="1"/>
          <p:nvPr/>
        </p:nvSpPr>
        <p:spPr>
          <a:xfrm>
            <a:off x="9481005" y="4804961"/>
            <a:ext cx="213981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 err="1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머신러닝은</a:t>
            </a:r>
            <a:r>
              <a:rPr lang="ko-KR" altLang="en-US" sz="1400" dirty="0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예측이 목적이지 통계적 의미는 별 관심이 없음</a:t>
            </a:r>
          </a:p>
        </p:txBody>
      </p:sp>
    </p:spTree>
    <p:extLst>
      <p:ext uri="{BB962C8B-B14F-4D97-AF65-F5344CB8AC3E}">
        <p14:creationId xmlns:p14="http://schemas.microsoft.com/office/powerpoint/2010/main" val="13255157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8" grpId="0" animBg="1"/>
      <p:bldP spid="20" grpId="0" animBg="1"/>
      <p:bldP spid="21" grpId="0" animBg="1"/>
      <p:bldP spid="22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F85FDB-3663-640C-7B6F-F805898700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3A126342-5B6E-FEAA-E536-2DCC8EC928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bias-variance tradeoff</a:t>
            </a:r>
            <a:endParaRPr lang="ko-KR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9836632-3677-3ED3-5ACB-AC1C2DB469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46</a:t>
            </a:fld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F497211-75CE-AC14-08DC-37F4B2017B48}"/>
              </a:ext>
            </a:extLst>
          </p:cNvPr>
          <p:cNvSpPr txBox="1"/>
          <p:nvPr/>
        </p:nvSpPr>
        <p:spPr>
          <a:xfrm>
            <a:off x="1026160" y="1123277"/>
            <a:ext cx="9916160" cy="9561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편향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-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분산에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대해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bias-variance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클릭하여 학습하자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의사결정나무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KNN, </a:t>
            </a:r>
            <a:r>
              <a:rPr lang="ko-KR" altLang="en-US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딥러닝은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어떤 경우에 </a:t>
            </a:r>
            <a:r>
              <a:rPr lang="ko-KR" altLang="en-US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과적합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(Overfitting)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되는가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  <a:endParaRPr lang="ko-KR" altLang="en-US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BBC1D491-6AE1-B98D-7FC9-7E42BE3B01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7930" y="2293320"/>
            <a:ext cx="4105910" cy="40567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3B10BB7-1E11-FECA-F32E-1CAE70D863A1}"/>
              </a:ext>
            </a:extLst>
          </p:cNvPr>
          <p:cNvSpPr txBox="1"/>
          <p:nvPr/>
        </p:nvSpPr>
        <p:spPr>
          <a:xfrm>
            <a:off x="1117600" y="6350058"/>
            <a:ext cx="36982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100" dirty="0"/>
              <a:t>http://scott.fortmann-roe.com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58BEBF6-4E13-AA48-3986-AB4544BAAD86}"/>
              </a:ext>
            </a:extLst>
          </p:cNvPr>
          <p:cNvSpPr txBox="1"/>
          <p:nvPr/>
        </p:nvSpPr>
        <p:spPr>
          <a:xfrm>
            <a:off x="5862320" y="2949258"/>
            <a:ext cx="6096000" cy="21169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편향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(Bias)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예측모델의 평균 기대 값과 실제 값의 차이</a:t>
            </a:r>
            <a:endParaRPr lang="en-US" altLang="ko-KR" sz="1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(Variance)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예측모델의 평균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기대값의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퍼짐 정도</a:t>
            </a:r>
            <a:endParaRPr lang="ko-KR" altLang="en-US" dirty="0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6ED22D8C-6771-FA4F-3CD7-9C964D6E8D51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accent6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362554" y="3668089"/>
            <a:ext cx="3368332" cy="480102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ACF4B57C-D498-1569-CFA8-4CA226EA6470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prstClr val="black"/>
              <a:schemeClr val="accent6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362554" y="5284002"/>
            <a:ext cx="3490262" cy="594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96015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FD1A8A-E315-6EA8-9513-BE13C89358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9007DCD7-6836-45E1-63C8-84805F93BF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bias-variance tradeoff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DC4DB566-F3E7-60E5-31E8-16C2DFDC59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47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3330EF0-398C-A4B5-3F85-2531A357D0C9}"/>
              </a:ext>
            </a:extLst>
          </p:cNvPr>
          <p:cNvSpPr txBox="1"/>
          <p:nvPr/>
        </p:nvSpPr>
        <p:spPr>
          <a:xfrm>
            <a:off x="842210" y="1285138"/>
            <a:ext cx="10860262" cy="9582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모델이 너무 단순하면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(Linear) 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못 맞추고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 High Bias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너무 복잡하면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(Polynomial) 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예민해지는데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 High Variance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6EC8D13B-DD6E-5D1B-D754-E8E90C9A10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4300" y="2622964"/>
            <a:ext cx="9144000" cy="3656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206165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4EAF48-CF91-BC8C-4E43-2D99D841A5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04A99C4B-35A4-CBC3-4F03-3302D7D99B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Ridge linear regression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927E457C-FF07-663C-A79D-7D1DEEDBF3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48</a:t>
            </a:fld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6C83025-B6A7-EBF2-E4F4-1FB0C4C4470A}"/>
              </a:ext>
            </a:extLst>
          </p:cNvPr>
          <p:cNvSpPr txBox="1"/>
          <p:nvPr/>
        </p:nvSpPr>
        <p:spPr>
          <a:xfrm>
            <a:off x="1137920" y="1605280"/>
            <a:ext cx="9916160" cy="9561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Scikit learn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Ridge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regress(</a:t>
            </a:r>
            <a:r>
              <a:rPr lang="en-US" altLang="ko-KR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plot_ols_ridge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코드를 학습하고 이해하자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Ridge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분산을 줄이는 대신 약간의 편향을 허용하는 모델인데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Why?</a:t>
            </a:r>
            <a:endParaRPr lang="ko-KR" altLang="en-US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3074" name="Picture 2" descr="ridge">
            <a:extLst>
              <a:ext uri="{FF2B5EF4-FFF2-40B4-BE49-F238E27FC236}">
                <a16:creationId xmlns:a16="http://schemas.microsoft.com/office/drawing/2014/main" id="{05B253A6-7236-2427-CE38-DAC9004E74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2264" y="3252306"/>
            <a:ext cx="3810000" cy="2857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ols">
            <a:extLst>
              <a:ext uri="{FF2B5EF4-FFF2-40B4-BE49-F238E27FC236}">
                <a16:creationId xmlns:a16="http://schemas.microsoft.com/office/drawing/2014/main" id="{46F56E10-51C5-6931-4EEC-10F17AA386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69720" y="3261196"/>
            <a:ext cx="3810000" cy="2857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7341193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2E4CD8-1D16-6AD6-B54E-7388453BBF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36E90116-C523-D76C-F59D-44C18205E0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Loss Functions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1BD4E204-6627-F492-F83A-589BDCFED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49</a:t>
            </a:fld>
            <a:endParaRPr lang="en-US" dirty="0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47CC84CE-B9A5-2280-2812-A5EDCAF22A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6491" y="3281109"/>
            <a:ext cx="9524208" cy="3031515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14405D29-D6D4-9CE0-F89E-3F54C70037AC}"/>
              </a:ext>
            </a:extLst>
          </p:cNvPr>
          <p:cNvSpPr txBox="1"/>
          <p:nvPr/>
        </p:nvSpPr>
        <p:spPr>
          <a:xfrm>
            <a:off x="825500" y="1167597"/>
            <a:ext cx="10591800" cy="7833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72920" algn="just">
              <a:lnSpc>
                <a:spcPct val="150000"/>
              </a:lnSpc>
            </a:pPr>
            <a:r>
              <a:rPr lang="ko-KR" altLang="en-US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데이터를 정확하게 예측 판단하지 못하는</a:t>
            </a:r>
            <a:r>
              <a:rPr lang="en-US" altLang="ko-KR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(Loss)</a:t>
            </a:r>
            <a:r>
              <a:rPr lang="ko-KR" altLang="en-US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비율</a:t>
            </a:r>
          </a:p>
          <a:p>
            <a:pPr marR="0" algn="just">
              <a:lnSpc>
                <a:spcPct val="150000"/>
              </a:lnSpc>
            </a:pPr>
            <a:r>
              <a:rPr lang="ko-KR" altLang="en-US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허위음성율</a:t>
            </a:r>
            <a:r>
              <a:rPr lang="en-US" altLang="ko-KR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(FNR, False Negative Ratio)</a:t>
            </a:r>
            <a:r>
              <a:rPr lang="ko-KR" altLang="en-US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허위양성율</a:t>
            </a:r>
            <a:r>
              <a:rPr lang="en-US" altLang="ko-KR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(FPR, False Positive Ratio)</a:t>
            </a:r>
            <a:r>
              <a:rPr lang="ko-KR" altLang="en-US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최소화하는 것이 목적</a:t>
            </a:r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D58BBE36-A70D-B74B-BAC8-1688AFDF0196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1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3699093" y="2213027"/>
            <a:ext cx="4439005" cy="881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606861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567586-3465-1D7A-31A0-DE17D4543D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249C7335-0937-BF0A-7257-FEF83D06FB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Loss Functions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7DAC531A-330A-E70F-AAF7-4CD509A48D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50</a:t>
            </a:fld>
            <a:endParaRPr 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3EF2C866-AFC2-4BB2-B62D-131ABEC606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7976" y="2004810"/>
            <a:ext cx="4943950" cy="2111911"/>
          </a:xfrm>
          <a:prstGeom prst="rect">
            <a:avLst/>
          </a:prstGeom>
        </p:spPr>
      </p:pic>
      <p:grpSp>
        <p:nvGrpSpPr>
          <p:cNvPr id="10" name="그룹 9">
            <a:extLst>
              <a:ext uri="{FF2B5EF4-FFF2-40B4-BE49-F238E27FC236}">
                <a16:creationId xmlns:a16="http://schemas.microsoft.com/office/drawing/2014/main" id="{B4DC94A1-2481-AD85-5509-B66CEB38C98D}"/>
              </a:ext>
            </a:extLst>
          </p:cNvPr>
          <p:cNvGrpSpPr/>
          <p:nvPr/>
        </p:nvGrpSpPr>
        <p:grpSpPr>
          <a:xfrm>
            <a:off x="915383" y="1785765"/>
            <a:ext cx="4228117" cy="4702670"/>
            <a:chOff x="1432947" y="1241371"/>
            <a:chExt cx="4301103" cy="4934140"/>
          </a:xfrm>
        </p:grpSpPr>
        <p:pic>
          <p:nvPicPr>
            <p:cNvPr id="5" name="그림 4" descr="plot sgd loss functions">
              <a:extLst>
                <a:ext uri="{FF2B5EF4-FFF2-40B4-BE49-F238E27FC236}">
                  <a16:creationId xmlns:a16="http://schemas.microsoft.com/office/drawing/2014/main" id="{5F49B6A3-1F88-DA90-EF99-F850EDDADB0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432947" y="2949683"/>
              <a:ext cx="4301103" cy="3225828"/>
            </a:xfrm>
            <a:prstGeom prst="rect">
              <a:avLst/>
            </a:prstGeom>
          </p:spPr>
        </p:pic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44BA405C-1BDA-9D33-44AF-91EAB012806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432947" y="1241371"/>
              <a:ext cx="4301103" cy="1708311"/>
            </a:xfrm>
            <a:prstGeom prst="rect">
              <a:avLst/>
            </a:prstGeom>
          </p:spPr>
        </p:pic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B5DE5ECE-63FB-B037-2FD5-1FF750880A29}"/>
              </a:ext>
            </a:extLst>
          </p:cNvPr>
          <p:cNvSpPr txBox="1"/>
          <p:nvPr/>
        </p:nvSpPr>
        <p:spPr>
          <a:xfrm>
            <a:off x="813783" y="1385655"/>
            <a:ext cx="31341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plot_sgd_loss_functions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9167221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36C0C3-FAC9-49E4-FC88-5140BB5F34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13E81F08-88E9-668E-3BDD-00DDD412EE73}"/>
              </a:ext>
            </a:extLst>
          </p:cNvPr>
          <p:cNvSpPr/>
          <p:nvPr/>
        </p:nvSpPr>
        <p:spPr>
          <a:xfrm>
            <a:off x="1104901" y="5270596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706AD1A-E9E1-6128-AFC2-C9AB3224F2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45E43E7-59FD-2FB2-0581-9FC41C524C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</a:rPr>
              <a:t>sympy</a:t>
            </a:r>
            <a:endParaRPr lang="en-US" altLang="ko-KR" sz="1800" cap="none" dirty="0">
              <a:solidFill>
                <a:schemeClr val="tx1"/>
              </a:solidFill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Derivative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Linear Programming</a:t>
            </a: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5378E37-C7EB-A495-4B0B-495E27377D1D}"/>
              </a:ext>
            </a:extLst>
          </p:cNvPr>
          <p:cNvSpPr txBox="1"/>
          <p:nvPr/>
        </p:nvSpPr>
        <p:spPr>
          <a:xfrm>
            <a:off x="7239000" y="1338537"/>
            <a:ext cx="4400550" cy="33290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projection</a:t>
            </a:r>
          </a:p>
        </p:txBody>
      </p:sp>
    </p:spTree>
    <p:extLst>
      <p:ext uri="{BB962C8B-B14F-4D97-AF65-F5344CB8AC3E}">
        <p14:creationId xmlns:p14="http://schemas.microsoft.com/office/powerpoint/2010/main" val="398975962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5D1764-7834-EF6C-66DB-456EAE59B8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그림 14">
            <a:extLst>
              <a:ext uri="{FF2B5EF4-FFF2-40B4-BE49-F238E27FC236}">
                <a16:creationId xmlns:a16="http://schemas.microsoft.com/office/drawing/2014/main" id="{02E4FFB2-6E61-AF40-0847-AEFB3ECBEB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383" y="2726242"/>
            <a:ext cx="6588418" cy="3332813"/>
          </a:xfrm>
          <a:prstGeom prst="rect">
            <a:avLst/>
          </a:prstGeom>
        </p:spPr>
      </p:pic>
      <p:sp>
        <p:nvSpPr>
          <p:cNvPr id="6" name="제목 1">
            <a:extLst>
              <a:ext uri="{FF2B5EF4-FFF2-40B4-BE49-F238E27FC236}">
                <a16:creationId xmlns:a16="http://schemas.microsoft.com/office/drawing/2014/main" id="{8511C401-1BDD-EEDF-0775-5E0E7A5F3E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Short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Cut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algorithm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15DFB23-88D1-D4A1-4363-B544A9A524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52</a:t>
            </a:fld>
            <a:endParaRPr lang="en-US" dirty="0"/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D5162F18-6756-C855-7D54-013E710477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6525338"/>
              </p:ext>
            </p:extLst>
          </p:nvPr>
        </p:nvGraphicFramePr>
        <p:xfrm>
          <a:off x="7682466" y="2726242"/>
          <a:ext cx="3508273" cy="2392602"/>
        </p:xfrm>
        <a:graphic>
          <a:graphicData uri="http://schemas.openxmlformats.org/drawingml/2006/table">
            <a:tbl>
              <a:tblPr>
                <a:tableStyleId>{5DA37D80-6434-44D0-A028-1B22A696006F}</a:tableStyleId>
              </a:tblPr>
              <a:tblGrid>
                <a:gridCol w="531010">
                  <a:extLst>
                    <a:ext uri="{9D8B030D-6E8A-4147-A177-3AD203B41FA5}">
                      <a16:colId xmlns:a16="http://schemas.microsoft.com/office/drawing/2014/main" val="289503742"/>
                    </a:ext>
                  </a:extLst>
                </a:gridCol>
                <a:gridCol w="783208">
                  <a:extLst>
                    <a:ext uri="{9D8B030D-6E8A-4147-A177-3AD203B41FA5}">
                      <a16:colId xmlns:a16="http://schemas.microsoft.com/office/drawing/2014/main" val="1735848410"/>
                    </a:ext>
                  </a:extLst>
                </a:gridCol>
                <a:gridCol w="1056908">
                  <a:extLst>
                    <a:ext uri="{9D8B030D-6E8A-4147-A177-3AD203B41FA5}">
                      <a16:colId xmlns:a16="http://schemas.microsoft.com/office/drawing/2014/main" val="3082597179"/>
                    </a:ext>
                  </a:extLst>
                </a:gridCol>
                <a:gridCol w="1137147">
                  <a:extLst>
                    <a:ext uri="{9D8B030D-6E8A-4147-A177-3AD203B41FA5}">
                      <a16:colId xmlns:a16="http://schemas.microsoft.com/office/drawing/2014/main" val="313110005"/>
                    </a:ext>
                  </a:extLst>
                </a:gridCol>
              </a:tblGrid>
              <a:tr h="313690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노드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도시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위도 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Latitude)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경도 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Longitude)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6702843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서울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37.5665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126.9780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9004954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b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수원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37.2636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127.0286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5884871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원주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37.3422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127.9202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1847656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천안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36.8151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127.1139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531271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e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대전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36.3504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127.3845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969982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대구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35.8714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128.6014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3056821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g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울산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35.5384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129.3114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3454846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h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부산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35.1796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129.0756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3420745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4485A23B-8E19-CE69-B78C-E7D437BC98CB}"/>
              </a:ext>
            </a:extLst>
          </p:cNvPr>
          <p:cNvSpPr txBox="1"/>
          <p:nvPr/>
        </p:nvSpPr>
        <p:spPr>
          <a:xfrm>
            <a:off x="775854" y="1228235"/>
            <a:ext cx="11330822" cy="8704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서울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(Node a)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부산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(Node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까지 가는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가지 경로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(Edge)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있다고 가정하고 경로별로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도학하는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시간은 거리에 비례한다고 가정한다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어느 경로로 가는 것이 최단거리인지 해를 구하라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4560987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D051CA-EE0F-066F-FF91-91F7D8D51D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3CA80E44-6C64-0E6E-9F21-868A0A7646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Short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Cut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algorithm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1B88E5B-D17C-39F7-4F11-46BD15D6CA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53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085615C-98F5-472C-7F9D-75B04AAA493B}"/>
              </a:ext>
            </a:extLst>
          </p:cNvPr>
          <p:cNvSpPr txBox="1"/>
          <p:nvPr/>
        </p:nvSpPr>
        <p:spPr>
          <a:xfrm>
            <a:off x="373188" y="1774002"/>
            <a:ext cx="64155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서울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(Node a)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부산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(Node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까지 가는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가지 경로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(Edge)</a:t>
            </a:r>
            <a:endParaRPr lang="ko-KR" alt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F54EBE0-DCDB-B23B-70BC-8A24354C5342}"/>
              </a:ext>
            </a:extLst>
          </p:cNvPr>
          <p:cNvSpPr txBox="1"/>
          <p:nvPr/>
        </p:nvSpPr>
        <p:spPr>
          <a:xfrm>
            <a:off x="7204364" y="1774002"/>
            <a:ext cx="39863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8 x 8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인접 행렬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(Adjacency Matrix)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20" name="화살표: 오른쪽 19">
            <a:extLst>
              <a:ext uri="{FF2B5EF4-FFF2-40B4-BE49-F238E27FC236}">
                <a16:creationId xmlns:a16="http://schemas.microsoft.com/office/drawing/2014/main" id="{AED4C402-C662-6A33-8686-D1EB0B4EECC1}"/>
              </a:ext>
            </a:extLst>
          </p:cNvPr>
          <p:cNvSpPr/>
          <p:nvPr/>
        </p:nvSpPr>
        <p:spPr>
          <a:xfrm>
            <a:off x="6152855" y="3325091"/>
            <a:ext cx="757382" cy="1080654"/>
          </a:xfrm>
          <a:prstGeom prst="rightArrow">
            <a:avLst>
              <a:gd name="adj1" fmla="val 68803"/>
              <a:gd name="adj2" fmla="val 50000"/>
            </a:avLst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6223E270-3011-96C4-589B-2E626D4367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2975" y="2336163"/>
            <a:ext cx="3534268" cy="3562847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EACF8577-B992-2BF5-6E5B-FCD6AE92FD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21" y="2278140"/>
            <a:ext cx="5270897" cy="37379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796446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88016F-EEAA-CC02-CFF7-904029DB58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7433690E-A7AA-7170-F389-52518C6B66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Short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Cut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algorithm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3CD9F13F-4115-EC82-3A2A-1421C9E08C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54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38A8878-3763-5744-EBE7-2940EB92CEA8}"/>
              </a:ext>
            </a:extLst>
          </p:cNvPr>
          <p:cNvSpPr txBox="1"/>
          <p:nvPr/>
        </p:nvSpPr>
        <p:spPr>
          <a:xfrm>
            <a:off x="373188" y="1774002"/>
            <a:ext cx="64155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 도시의 위경도로 거리 구하기</a:t>
            </a:r>
            <a:endParaRPr lang="ko-KR" alt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76055F1-EEAD-88C0-10D6-F9C1AE59EF39}"/>
              </a:ext>
            </a:extLst>
          </p:cNvPr>
          <p:cNvSpPr txBox="1"/>
          <p:nvPr/>
        </p:nvSpPr>
        <p:spPr>
          <a:xfrm>
            <a:off x="7204364" y="1774002"/>
            <a:ext cx="39863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L2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거리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도시간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8 x 8 matrix)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20" name="화살표: 오른쪽 19">
            <a:extLst>
              <a:ext uri="{FF2B5EF4-FFF2-40B4-BE49-F238E27FC236}">
                <a16:creationId xmlns:a16="http://schemas.microsoft.com/office/drawing/2014/main" id="{20B4FD27-701E-5161-98E3-D4B58B0FA555}"/>
              </a:ext>
            </a:extLst>
          </p:cNvPr>
          <p:cNvSpPr/>
          <p:nvPr/>
        </p:nvSpPr>
        <p:spPr>
          <a:xfrm>
            <a:off x="4656565" y="3251200"/>
            <a:ext cx="757382" cy="1080654"/>
          </a:xfrm>
          <a:prstGeom prst="rightArrow">
            <a:avLst>
              <a:gd name="adj1" fmla="val 68803"/>
              <a:gd name="adj2" fmla="val 50000"/>
            </a:avLst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14A51931-87C8-EE1B-F407-FE9EDBD757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2763728"/>
              </p:ext>
            </p:extLst>
          </p:nvPr>
        </p:nvGraphicFramePr>
        <p:xfrm>
          <a:off x="551993" y="2744715"/>
          <a:ext cx="3508273" cy="2392602"/>
        </p:xfrm>
        <a:graphic>
          <a:graphicData uri="http://schemas.openxmlformats.org/drawingml/2006/table">
            <a:tbl>
              <a:tblPr>
                <a:tableStyleId>{5DA37D80-6434-44D0-A028-1B22A696006F}</a:tableStyleId>
              </a:tblPr>
              <a:tblGrid>
                <a:gridCol w="531010">
                  <a:extLst>
                    <a:ext uri="{9D8B030D-6E8A-4147-A177-3AD203B41FA5}">
                      <a16:colId xmlns:a16="http://schemas.microsoft.com/office/drawing/2014/main" val="289503742"/>
                    </a:ext>
                  </a:extLst>
                </a:gridCol>
                <a:gridCol w="783208">
                  <a:extLst>
                    <a:ext uri="{9D8B030D-6E8A-4147-A177-3AD203B41FA5}">
                      <a16:colId xmlns:a16="http://schemas.microsoft.com/office/drawing/2014/main" val="1735848410"/>
                    </a:ext>
                  </a:extLst>
                </a:gridCol>
                <a:gridCol w="1056908">
                  <a:extLst>
                    <a:ext uri="{9D8B030D-6E8A-4147-A177-3AD203B41FA5}">
                      <a16:colId xmlns:a16="http://schemas.microsoft.com/office/drawing/2014/main" val="3082597179"/>
                    </a:ext>
                  </a:extLst>
                </a:gridCol>
                <a:gridCol w="1137147">
                  <a:extLst>
                    <a:ext uri="{9D8B030D-6E8A-4147-A177-3AD203B41FA5}">
                      <a16:colId xmlns:a16="http://schemas.microsoft.com/office/drawing/2014/main" val="313110005"/>
                    </a:ext>
                  </a:extLst>
                </a:gridCol>
              </a:tblGrid>
              <a:tr h="313690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노드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도시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위도 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Latitude)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경도 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Longitude)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6702843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서울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37.5665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126.9780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9004954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b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수원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37.2636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127.0286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5884871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원주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37.3422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127.9202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1847656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천안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36.8151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127.1139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531271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e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대전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36.3504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127.3845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969982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대구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35.8714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128.6014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3056821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g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울산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35.5384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129.3114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3454846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h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부산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35.1796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129.0756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3420745"/>
                  </a:ext>
                </a:extLst>
              </a:tr>
            </a:tbl>
          </a:graphicData>
        </a:graphic>
      </p:graphicFrame>
      <p:pic>
        <p:nvPicPr>
          <p:cNvPr id="5" name="그림 4">
            <a:extLst>
              <a:ext uri="{FF2B5EF4-FFF2-40B4-BE49-F238E27FC236}">
                <a16:creationId xmlns:a16="http://schemas.microsoft.com/office/drawing/2014/main" id="{D2E48D7A-8CC1-2646-7A66-C5F5B3CCA6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6506" y="2355749"/>
            <a:ext cx="5786954" cy="36940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172592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D9FF93-4513-A3F5-1057-7397261E76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59F9F3E4-C9A2-3AEF-54FD-9E0EBAB10B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Short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Cut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algorithm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1FF4D8F7-7729-834F-4D77-1D80CFE254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55</a:t>
            </a:fld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0B770CA-B7CA-4928-3BA9-613BC7EF3674}"/>
              </a:ext>
            </a:extLst>
          </p:cNvPr>
          <p:cNvSpPr txBox="1"/>
          <p:nvPr/>
        </p:nvSpPr>
        <p:spPr>
          <a:xfrm>
            <a:off x="535712" y="2790002"/>
            <a:ext cx="2336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Adjacency Matrix</a:t>
            </a:r>
          </a:p>
          <a:p>
            <a:pPr algn="ctr"/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(8, 8)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5D549DF-AE9C-BFCB-7ADB-4C61096744E4}"/>
              </a:ext>
            </a:extLst>
          </p:cNvPr>
          <p:cNvSpPr txBox="1"/>
          <p:nvPr/>
        </p:nvSpPr>
        <p:spPr>
          <a:xfrm>
            <a:off x="4416959" y="2790001"/>
            <a:ext cx="181032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도시간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L2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거리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algn="ctr"/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(8, 8)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1C57B053-1D05-D974-6448-2D17C6725D9D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446252" y="3886150"/>
            <a:ext cx="2667011" cy="2198547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8647D088-3BCA-FE95-1AF8-EA1A13161837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3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3483280" y="3886150"/>
            <a:ext cx="3898859" cy="2198547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9420B1AC-58BB-401D-30EB-38ED0ED86CD3}"/>
              </a:ext>
            </a:extLst>
          </p:cNvPr>
          <p:cNvSpPr txBox="1"/>
          <p:nvPr/>
        </p:nvSpPr>
        <p:spPr>
          <a:xfrm>
            <a:off x="3061295" y="4309580"/>
            <a:ext cx="3850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@</a:t>
            </a:r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3740C12-D167-6F95-8461-C890BFDAA6D6}"/>
              </a:ext>
            </a:extLst>
          </p:cNvPr>
          <p:cNvSpPr txBox="1"/>
          <p:nvPr/>
        </p:nvSpPr>
        <p:spPr>
          <a:xfrm>
            <a:off x="3040208" y="2799766"/>
            <a:ext cx="3850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@</a:t>
            </a:r>
            <a:endParaRPr lang="ko-KR" altLang="en-US" dirty="0"/>
          </a:p>
        </p:txBody>
      </p:sp>
      <p:pic>
        <p:nvPicPr>
          <p:cNvPr id="22" name="그림 21">
            <a:extLst>
              <a:ext uri="{FF2B5EF4-FFF2-40B4-BE49-F238E27FC236}">
                <a16:creationId xmlns:a16="http://schemas.microsoft.com/office/drawing/2014/main" id="{671F5277-2813-C525-26A7-1C7870DC7EA7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6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961745" y="3886150"/>
            <a:ext cx="3307400" cy="2191374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98C9E7E7-5514-B0CE-8091-E24848223919}"/>
              </a:ext>
            </a:extLst>
          </p:cNvPr>
          <p:cNvSpPr txBox="1"/>
          <p:nvPr/>
        </p:nvSpPr>
        <p:spPr>
          <a:xfrm>
            <a:off x="7437494" y="4309580"/>
            <a:ext cx="324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=</a:t>
            </a:r>
            <a:endParaRPr lang="ko-KR" alt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23EB724-F3FC-938C-1727-FDA20A822FCA}"/>
              </a:ext>
            </a:extLst>
          </p:cNvPr>
          <p:cNvSpPr txBox="1"/>
          <p:nvPr/>
        </p:nvSpPr>
        <p:spPr>
          <a:xfrm>
            <a:off x="7437494" y="2799766"/>
            <a:ext cx="324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=</a:t>
            </a:r>
            <a:endParaRPr lang="ko-KR" altLang="en-US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73BA7E5-90FF-0EAE-F46B-CAFEF29402C3}"/>
              </a:ext>
            </a:extLst>
          </p:cNvPr>
          <p:cNvSpPr txBox="1"/>
          <p:nvPr/>
        </p:nvSpPr>
        <p:spPr>
          <a:xfrm>
            <a:off x="7961745" y="2799766"/>
            <a:ext cx="41563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이웃 거리의 합산 → 최단 경로와 무관</a:t>
            </a:r>
          </a:p>
        </p:txBody>
      </p: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2E25907B-0F24-80B1-C6B2-CE219D9B3D83}"/>
              </a:ext>
            </a:extLst>
          </p:cNvPr>
          <p:cNvCxnSpPr/>
          <p:nvPr/>
        </p:nvCxnSpPr>
        <p:spPr>
          <a:xfrm>
            <a:off x="701964" y="3583707"/>
            <a:ext cx="1120370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C818162E-858C-9B1B-8924-FD719D8EA231}"/>
              </a:ext>
            </a:extLst>
          </p:cNvPr>
          <p:cNvSpPr/>
          <p:nvPr/>
        </p:nvSpPr>
        <p:spPr>
          <a:xfrm>
            <a:off x="7761622" y="3894970"/>
            <a:ext cx="3898859" cy="277091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4D55AB2-EFF2-2AFE-2018-5E3263607681}"/>
              </a:ext>
            </a:extLst>
          </p:cNvPr>
          <p:cNvSpPr txBox="1"/>
          <p:nvPr/>
        </p:nvSpPr>
        <p:spPr>
          <a:xfrm>
            <a:off x="535712" y="1420336"/>
            <a:ext cx="11124769" cy="8704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/>
              <a:t>인접행렬과 도시간 거리 행렬을 </a:t>
            </a:r>
            <a:r>
              <a:rPr lang="ko-KR" altLang="en-US" dirty="0" err="1"/>
              <a:t>내적하면</a:t>
            </a:r>
            <a:r>
              <a:rPr lang="ko-KR" altLang="en-US" dirty="0"/>
              <a:t> 각 행은 출발도시에서 각 열 도시까지의 도달하는데 가능한 모든 경로에 해당되는 누적 거리</a:t>
            </a:r>
            <a:r>
              <a:rPr lang="en-US" altLang="ko-KR" dirty="0"/>
              <a:t>, </a:t>
            </a:r>
            <a:r>
              <a:rPr lang="ko-KR" altLang="en-US" dirty="0"/>
              <a:t>노란색 박스는 서울</a:t>
            </a:r>
            <a:r>
              <a:rPr lang="en-US" altLang="ko-KR" dirty="0"/>
              <a:t>(Node a)</a:t>
            </a:r>
            <a:r>
              <a:rPr lang="ko-KR" altLang="en-US" dirty="0"/>
              <a:t>에서 각 도시까지 가는데 걸리는 누적합산 거리</a:t>
            </a:r>
          </a:p>
        </p:txBody>
      </p:sp>
    </p:spTree>
    <p:extLst>
      <p:ext uri="{BB962C8B-B14F-4D97-AF65-F5344CB8AC3E}">
        <p14:creationId xmlns:p14="http://schemas.microsoft.com/office/powerpoint/2010/main" val="259036011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62CB3B-9AF7-4213-B5A1-6605D2A4A6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8418055A-86BD-4F58-4EFC-13F9ED3D8CE7}"/>
              </a:ext>
            </a:extLst>
          </p:cNvPr>
          <p:cNvSpPr/>
          <p:nvPr/>
        </p:nvSpPr>
        <p:spPr>
          <a:xfrm>
            <a:off x="1104901" y="5784946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743E8A7-5FD7-0FB3-9ADD-A997BF3E2B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22FD3175-6A14-24B3-BEB8-7E122FE63F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</a:rPr>
              <a:t>sympy</a:t>
            </a:r>
            <a:endParaRPr lang="en-US" altLang="ko-KR" sz="1800" cap="none" dirty="0">
              <a:solidFill>
                <a:schemeClr val="tx1"/>
              </a:solidFill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Derivative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Linear Programming</a:t>
            </a: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83F7B7-5C7A-3281-2C9C-2E6E60F23F68}"/>
              </a:ext>
            </a:extLst>
          </p:cNvPr>
          <p:cNvSpPr txBox="1"/>
          <p:nvPr/>
        </p:nvSpPr>
        <p:spPr>
          <a:xfrm>
            <a:off x="7239000" y="1338537"/>
            <a:ext cx="4400550" cy="33290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projection</a:t>
            </a:r>
          </a:p>
        </p:txBody>
      </p:sp>
    </p:spTree>
    <p:extLst>
      <p:ext uri="{BB962C8B-B14F-4D97-AF65-F5344CB8AC3E}">
        <p14:creationId xmlns:p14="http://schemas.microsoft.com/office/powerpoint/2010/main" val="118426974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570E3F-5EEC-F1A6-FAA6-F087DE60EC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3A98E502-D2A8-03BA-7C44-261709BCB2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 Programming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797A6E5-801E-04CF-7599-F1B28EB95E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57</a:t>
            </a:fld>
            <a:endParaRPr lang="en-US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9F3237E-DE96-394F-6719-57C4AE5790F0}"/>
              </a:ext>
            </a:extLst>
          </p:cNvPr>
          <p:cNvSpPr/>
          <p:nvPr/>
        </p:nvSpPr>
        <p:spPr>
          <a:xfrm>
            <a:off x="535712" y="2286000"/>
            <a:ext cx="10218013" cy="427627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77CEBF4-443F-B850-DC6E-5B092470F7FF}"/>
              </a:ext>
            </a:extLst>
          </p:cNvPr>
          <p:cNvSpPr txBox="1"/>
          <p:nvPr/>
        </p:nvSpPr>
        <p:spPr>
          <a:xfrm>
            <a:off x="535712" y="1420336"/>
            <a:ext cx="10655027" cy="4932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</a:t>
            </a:r>
            <a:r>
              <a:rPr lang="en-US" altLang="ko-KR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문제 </a:t>
            </a:r>
            <a:r>
              <a:rPr lang="en-US" altLang="ko-KR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</a:t>
            </a:r>
            <a:r>
              <a:rPr lang="en-US" altLang="ko-KR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선형계획법으로</a:t>
            </a:r>
            <a:r>
              <a:rPr lang="en-US" altLang="ko-KR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이익을 최대화하는 </a:t>
            </a:r>
            <a:r>
              <a:rPr lang="en-US" altLang="ko-KR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Optimization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0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목표</a:t>
            </a: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의자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(x1)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책상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(x2)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생산하는 공장에서 이익을 최대화하는 의자와 책상의 생산량은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이익</a:t>
            </a: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의자 한 개당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만 원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책상 한 개당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만 원의 이익</a:t>
            </a:r>
            <a:endParaRPr lang="en-US" altLang="ko-KR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자원 제약</a:t>
            </a: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목재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의자는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단위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책상은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단위가 필요하며 총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30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단위 까지만 사용 가능</a:t>
            </a:r>
            <a:endParaRPr lang="en-US" altLang="ko-KR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노동 시간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의자는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시간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책상은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시간이 필요하며 총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16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시간 까지만 가능</a:t>
            </a:r>
            <a:endParaRPr lang="en-US" altLang="ko-KR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1982332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90CFB8-C82A-C9EC-8C92-54F29EACEF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C880B0E6-0815-D986-2AED-FC39C14BD4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 Programming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473C62C-0AC1-9AC7-F526-A8401B466B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58</a:t>
            </a:fld>
            <a:endParaRPr 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13C13FC1-D6FB-5231-32F7-05813662EBCA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6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135221" y="1897275"/>
            <a:ext cx="4877970" cy="3208125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CFF4F533-BD65-29C3-2F21-91D9A1A84FD8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920767" y="1897275"/>
            <a:ext cx="3624446" cy="3208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1524521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960B8A-82C9-541F-276F-C1D6CAF433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371D4C38-0B8A-1401-DC59-7A08AEEADF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 Programming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1CA4E00-AB04-9B2D-80E5-6A85328BAF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59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C4E7E16-5BA5-50B2-EB8C-8D7A05B2B80D}"/>
              </a:ext>
            </a:extLst>
          </p:cNvPr>
          <p:cNvSpPr txBox="1"/>
          <p:nvPr/>
        </p:nvSpPr>
        <p:spPr>
          <a:xfrm>
            <a:off x="915383" y="1206291"/>
            <a:ext cx="8591550" cy="5262979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b="0" dirty="0">
                <a:solidFill>
                  <a:srgbClr val="C99CC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C99CC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as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np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C99CC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scipy.optimize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C99CC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linprog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목적 함수 계수 </a:t>
            </a: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(Maximize 3x1 + 5x2 =&gt; Minimize -3x1 - 5x2)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 =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-3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-5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2. </a:t>
            </a:r>
            <a:r>
              <a:rPr lang="ko-KR" altLang="en-US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제약 조건 행렬 </a:t>
            </a: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와 벡터 </a:t>
            </a: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 (Ax &lt;= b)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[2x1 + 3x2 &lt;= 30]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[1x1 + 2x2 &lt;= 16]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 =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[[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]]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 =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30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16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b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변수 범위 </a:t>
            </a: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(x1 &gt;= 0, x2 &gt;= 0)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x_bounds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None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y_bounds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None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4. </a:t>
            </a:r>
            <a:r>
              <a:rPr lang="ko-KR" altLang="en-US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선형계획법 실행</a:t>
            </a:r>
            <a:endParaRPr lang="ko-KR" altLang="en-US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res =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linprog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A_ub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=A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b_ub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=b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bounds=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x_bounds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y_bounds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method=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'highs'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CDCA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dirty="0">
                <a:solidFill>
                  <a:srgbClr val="69A5D7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최적 생산량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의자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res.x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:.1f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  <a:r>
              <a:rPr lang="ko-KR" altLang="en-US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책상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res.x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:.1f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  <a:r>
              <a:rPr lang="ko-KR" altLang="en-US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CDCA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dirty="0">
                <a:solidFill>
                  <a:srgbClr val="69A5D7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최대 이익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-res.fun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:.1f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  <a:r>
              <a:rPr lang="ko-KR" altLang="en-US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만원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1484715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4B2DBB-244C-74AC-E76C-A954C9BF18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470CF4E9-3386-9B1A-C330-77E769B215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 Programming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AC4E3899-DB20-D685-8662-50D353A35D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60</a:t>
            </a:fld>
            <a:endParaRPr lang="en-US" dirty="0"/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C2F5AE7D-B530-2A8D-6B21-3D63CA9CA1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0786" y="1206291"/>
            <a:ext cx="6977062" cy="51452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8083842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이온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4564</TotalTime>
  <Words>4663</Words>
  <Application>Microsoft Office PowerPoint</Application>
  <PresentationFormat>와이드스크린</PresentationFormat>
  <Paragraphs>728</Paragraphs>
  <Slides>60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60</vt:i4>
      </vt:variant>
    </vt:vector>
  </HeadingPairs>
  <TitlesOfParts>
    <vt:vector size="69" baseType="lpstr">
      <vt:lpstr>D2Coding</vt:lpstr>
      <vt:lpstr>맑은 고딕</vt:lpstr>
      <vt:lpstr>맑은 고딕 Semilight</vt:lpstr>
      <vt:lpstr>Cambria Math</vt:lpstr>
      <vt:lpstr>Century Gothic</vt:lpstr>
      <vt:lpstr>Times New Roman</vt:lpstr>
      <vt:lpstr>Wingdings</vt:lpstr>
      <vt:lpstr>Wingdings 3</vt:lpstr>
      <vt:lpstr>이온</vt:lpstr>
      <vt:lpstr>Modeling &amp; Simulation 1</vt:lpstr>
      <vt:lpstr>Contents</vt:lpstr>
      <vt:lpstr>Modeling</vt:lpstr>
      <vt:lpstr>Simulation</vt:lpstr>
      <vt:lpstr>Abstract + Object</vt:lpstr>
      <vt:lpstr>Abstract + Object</vt:lpstr>
      <vt:lpstr>OOP - python</vt:lpstr>
      <vt:lpstr>Proto_OOP – java script</vt:lpstr>
      <vt:lpstr>Contents</vt:lpstr>
      <vt:lpstr>python sympy</vt:lpstr>
      <vt:lpstr>python sympy</vt:lpstr>
      <vt:lpstr>Contents</vt:lpstr>
      <vt:lpstr>Derivative</vt:lpstr>
      <vt:lpstr>Derivative</vt:lpstr>
      <vt:lpstr>python sympy</vt:lpstr>
      <vt:lpstr>Contents</vt:lpstr>
      <vt:lpstr>Time &amp; Space</vt:lpstr>
      <vt:lpstr>Time &amp; Space</vt:lpstr>
      <vt:lpstr>Time &amp; Space</vt:lpstr>
      <vt:lpstr>Time &amp; Space</vt:lpstr>
      <vt:lpstr>Time &amp; Space</vt:lpstr>
      <vt:lpstr>Time &amp; Space</vt:lpstr>
      <vt:lpstr>Time &amp; Space</vt:lpstr>
      <vt:lpstr>Time &amp; Space</vt:lpstr>
      <vt:lpstr>Time &amp; Space</vt:lpstr>
      <vt:lpstr>Time &amp; Space</vt:lpstr>
      <vt:lpstr>Time &amp; Space</vt:lpstr>
      <vt:lpstr>Time &amp; Space</vt:lpstr>
      <vt:lpstr>Contents</vt:lpstr>
      <vt:lpstr>Optimization</vt:lpstr>
      <vt:lpstr>Optimization</vt:lpstr>
      <vt:lpstr>Optimization</vt:lpstr>
      <vt:lpstr>Optimization</vt:lpstr>
      <vt:lpstr>Contents</vt:lpstr>
      <vt:lpstr>Optimization of Loss Function</vt:lpstr>
      <vt:lpstr>Contents</vt:lpstr>
      <vt:lpstr>Optimization of Loss Function(L1, L2)</vt:lpstr>
      <vt:lpstr>Optimization of Loss Function(L1, L2)</vt:lpstr>
      <vt:lpstr>coefficients of L1, L2 regression</vt:lpstr>
      <vt:lpstr>Derivatives of L1, L2 Loss Function</vt:lpstr>
      <vt:lpstr>Metaphor of L1, L2 Loss Function</vt:lpstr>
      <vt:lpstr>Contour map of L1, L2</vt:lpstr>
      <vt:lpstr>Geometry metaphor of L1, L2</vt:lpstr>
      <vt:lpstr>Optimization task of L1, L2</vt:lpstr>
      <vt:lpstr>Optimization of Loss Function</vt:lpstr>
      <vt:lpstr>bias-variance tradeoff</vt:lpstr>
      <vt:lpstr>bias-variance tradeoff</vt:lpstr>
      <vt:lpstr>Ridge linear regression</vt:lpstr>
      <vt:lpstr>Loss Functions</vt:lpstr>
      <vt:lpstr>Loss Functions</vt:lpstr>
      <vt:lpstr>Contents</vt:lpstr>
      <vt:lpstr>Short-Cut algorithm</vt:lpstr>
      <vt:lpstr>Short-Cut algorithm</vt:lpstr>
      <vt:lpstr>Short-Cut algorithm</vt:lpstr>
      <vt:lpstr>Short-Cut algorithm</vt:lpstr>
      <vt:lpstr>Contents</vt:lpstr>
      <vt:lpstr>Linear Programming</vt:lpstr>
      <vt:lpstr>Linear Programming</vt:lpstr>
      <vt:lpstr>Linear Programming</vt:lpstr>
      <vt:lpstr>Linear Programming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Sanggoo Cho</dc:creator>
  <cp:lastModifiedBy>조상구</cp:lastModifiedBy>
  <cp:revision>57</cp:revision>
  <dcterms:created xsi:type="dcterms:W3CDTF">2026-04-11T22:24:40Z</dcterms:created>
  <dcterms:modified xsi:type="dcterms:W3CDTF">2026-06-05T06:02:40Z</dcterms:modified>
</cp:coreProperties>
</file>