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62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43" r:id="rId13"/>
    <p:sldId id="379" r:id="rId14"/>
    <p:sldId id="380" r:id="rId15"/>
    <p:sldId id="358" r:id="rId16"/>
    <p:sldId id="381" r:id="rId17"/>
    <p:sldId id="259" r:id="rId18"/>
    <p:sldId id="318" r:id="rId19"/>
    <p:sldId id="359" r:id="rId20"/>
    <p:sldId id="360" r:id="rId21"/>
    <p:sldId id="361" r:id="rId22"/>
    <p:sldId id="317" r:id="rId23"/>
    <p:sldId id="319" r:id="rId24"/>
    <p:sldId id="284" r:id="rId25"/>
    <p:sldId id="287" r:id="rId26"/>
    <p:sldId id="286" r:id="rId27"/>
    <p:sldId id="266" r:id="rId28"/>
    <p:sldId id="288" r:id="rId29"/>
    <p:sldId id="382" r:id="rId30"/>
    <p:sldId id="267" r:id="rId31"/>
    <p:sldId id="285" r:id="rId32"/>
    <p:sldId id="272" r:id="rId33"/>
    <p:sldId id="273" r:id="rId34"/>
    <p:sldId id="383" r:id="rId35"/>
    <p:sldId id="269" r:id="rId36"/>
    <p:sldId id="384" r:id="rId37"/>
    <p:sldId id="308" r:id="rId38"/>
    <p:sldId id="320" r:id="rId39"/>
    <p:sldId id="387" r:id="rId40"/>
    <p:sldId id="388" r:id="rId41"/>
    <p:sldId id="394" r:id="rId42"/>
    <p:sldId id="393" r:id="rId43"/>
    <p:sldId id="310" r:id="rId44"/>
    <p:sldId id="389" r:id="rId45"/>
    <p:sldId id="390" r:id="rId46"/>
    <p:sldId id="391" r:id="rId47"/>
    <p:sldId id="395" r:id="rId48"/>
    <p:sldId id="392" r:id="rId49"/>
    <p:sldId id="311" r:id="rId50"/>
    <p:sldId id="312" r:id="rId51"/>
    <p:sldId id="385" r:id="rId52"/>
    <p:sldId id="321" r:id="rId53"/>
    <p:sldId id="322" r:id="rId54"/>
    <p:sldId id="323" r:id="rId55"/>
    <p:sldId id="324" r:id="rId56"/>
    <p:sldId id="386" r:id="rId57"/>
    <p:sldId id="335" r:id="rId58"/>
    <p:sldId id="336" r:id="rId59"/>
    <p:sldId id="337" r:id="rId60"/>
    <p:sldId id="338" r:id="rId6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950" y="72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196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2026-06-05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en.wikipedia.org/wiki/Function_(mathematics)" TargetMode="External"/><Relationship Id="rId7" Type="http://schemas.openxmlformats.org/officeDocument/2006/relationships/image" Target="../media/image10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gif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0.svg"/><Relationship Id="rId4" Type="http://schemas.openxmlformats.org/officeDocument/2006/relationships/image" Target="../media/image25.jpe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2.png"/><Relationship Id="rId7" Type="http://schemas.openxmlformats.org/officeDocument/2006/relationships/image" Target="../media/image5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65.png"/><Relationship Id="rId10" Type="http://schemas.openxmlformats.org/officeDocument/2006/relationships/hyperlink" Target="https://en.wikipedia.org/wiki/Sign_function" TargetMode="External"/><Relationship Id="rId4" Type="http://schemas.openxmlformats.org/officeDocument/2006/relationships/image" Target="../media/image63.png"/><Relationship Id="rId9" Type="http://schemas.openxmlformats.org/officeDocument/2006/relationships/image" Target="../media/image6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cornell.edu/courses/cs4780/2018sp/lectures/lecturenote08.html" TargetMode="External"/><Relationship Id="rId7" Type="http://schemas.openxmlformats.org/officeDocument/2006/relationships/hyperlink" Target="https://en.wikipedia.org/wiki/Linear_regression" TargetMode="External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hyperlink" Target="https://mlu-explain.github.io/bias-variance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hyperlink" Target="https://scikit-learn.org/stable/auto_examples/linear_model/plot_ols_ridge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92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9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1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35ECCF-FC83-07D0-E9CF-44010CCF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88834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The sensitivity to change(slope,</a:t>
            </a:r>
            <a:r>
              <a:rPr lang="ko-KR" altLang="en-US" dirty="0"/>
              <a:t> </a:t>
            </a:r>
            <a:r>
              <a:rPr lang="en-US" altLang="ko-KR" dirty="0"/>
              <a:t>instantaneous rate of change) of a </a:t>
            </a:r>
            <a:r>
              <a:rPr lang="en-US" altLang="ko-KR" dirty="0">
                <a:hlinkClick r:id="rId3" tooltip="Function (mathema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function</a:t>
            </a:r>
            <a:r>
              <a:rPr lang="en-US" altLang="ko-KR" dirty="0"/>
              <a:t>'s output with respect to its input</a:t>
            </a:r>
            <a:endParaRPr lang="ko-KR" altLang="en-US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964697" y="3054516"/>
            <a:ext cx="2905125" cy="2082470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blipFill>
                <a:blip r:embed="rId4"/>
                <a:stretch>
                  <a:fillRect l="-2744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Output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 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blipFill>
                <a:blip r:embed="rId5"/>
                <a:stretch>
                  <a:fillRect l="-3180" t="-10000" r="-2473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/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bg1"/>
                    </a:solidFill>
                    <a:hlinkClick r:id="rId3" tooltip="Function (mathematics)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Function</a:t>
                </a:r>
                <a:r>
                  <a:rPr lang="en-US" altLang="ko-KR" dirty="0">
                    <a:solidFill>
                      <a:schemeClr val="bg1"/>
                    </a:solidFill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ko-KR" altLang="en-US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blipFill>
                <a:blip r:embed="rId6"/>
                <a:stretch>
                  <a:fillRect l="-1961" t="-4717" b="-94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그룹 13">
            <a:extLst>
              <a:ext uri="{FF2B5EF4-FFF2-40B4-BE49-F238E27FC236}">
                <a16:creationId xmlns:a16="http://schemas.microsoft.com/office/drawing/2014/main" id="{35EF7531-9F46-3380-2528-8B4EFF13B6B3}"/>
              </a:ext>
            </a:extLst>
          </p:cNvPr>
          <p:cNvGrpSpPr/>
          <p:nvPr/>
        </p:nvGrpSpPr>
        <p:grpSpPr>
          <a:xfrm>
            <a:off x="7577010" y="3054516"/>
            <a:ext cx="2903493" cy="2101519"/>
            <a:chOff x="6580019" y="2942772"/>
            <a:chExt cx="2903493" cy="2101519"/>
          </a:xfrm>
          <a:solidFill>
            <a:srgbClr val="FF0000"/>
          </a:solidFill>
        </p:grpSpPr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E8D100C2-F617-26FD-F7A3-83F01256CF89}"/>
                </a:ext>
              </a:extLst>
            </p:cNvPr>
            <p:cNvSpPr/>
            <p:nvPr/>
          </p:nvSpPr>
          <p:spPr>
            <a:xfrm rot="10800000">
              <a:off x="6580019" y="2942772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이등변 삼각형 10">
              <a:extLst>
                <a:ext uri="{FF2B5EF4-FFF2-40B4-BE49-F238E27FC236}">
                  <a16:creationId xmlns:a16="http://schemas.microsoft.com/office/drawing/2014/main" id="{B457D554-5251-08BB-A0C5-DCFF184FE2E6}"/>
                </a:ext>
              </a:extLst>
            </p:cNvPr>
            <p:cNvSpPr/>
            <p:nvPr/>
          </p:nvSpPr>
          <p:spPr>
            <a:xfrm>
              <a:off x="8569112" y="4352471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/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(</a:t>
                </a:r>
                <a:r>
                  <a:rPr lang="en-US" altLang="ko-KR" sz="2000" dirty="0"/>
                  <a:t>delta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/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blipFill>
                <a:blip r:embed="rId7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AF150070-0E0D-3155-821D-8A1536395133}"/>
              </a:ext>
            </a:extLst>
          </p:cNvPr>
          <p:cNvSpPr/>
          <p:nvPr/>
        </p:nvSpPr>
        <p:spPr>
          <a:xfrm>
            <a:off x="7111439" y="3489352"/>
            <a:ext cx="3689560" cy="1263621"/>
          </a:xfrm>
          <a:prstGeom prst="parallelogram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/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en-US" altLang="ko-KR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altLang="ko-KR" sz="1600" b="1" dirty="0">
                  <a:solidFill>
                    <a:schemeClr val="bg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Derivative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The sensitivity to change</a:t>
                </a:r>
                <a:endParaRPr lang="ko-KR" altLang="en-US" sz="16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blipFill>
                <a:blip r:embed="rId8"/>
                <a:stretch>
                  <a:fillRect l="-1302" b="-20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7AC0358-B3B5-F1BF-07C9-B4C610EDE35D}"/>
              </a:ext>
            </a:extLst>
          </p:cNvPr>
          <p:cNvCxnSpPr/>
          <p:nvPr/>
        </p:nvCxnSpPr>
        <p:spPr>
          <a:xfrm>
            <a:off x="4755419" y="4128080"/>
            <a:ext cx="1685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/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에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대한 </a:t>
                </a:r>
                <a:endParaRPr lang="en-US" altLang="ko-KR" sz="16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의 순간변화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율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blipFill>
                <a:blip r:embed="rId9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/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(delta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blipFill>
                <a:blip r:embed="rId10"/>
                <a:stretch>
                  <a:fillRect t="-7576" r="-200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932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0" grpId="0" animBg="1"/>
      <p:bldP spid="25" grpId="0"/>
      <p:bldP spid="27" grpId="0"/>
      <p:bldP spid="2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BE704-8DE1-7BB9-596D-EF10D125F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FA9A4C3-396E-10BE-66AA-AC7E6665B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F8158EE-7300-EB42-B21E-06B75CDED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BA1B3ED-4F9A-1705-B5AF-BEAEA4C662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1801027"/>
            <a:ext cx="3209285" cy="7381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7AC1963-C7C8-1FDE-46F5-DEAB658245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3661429"/>
            <a:ext cx="5094740" cy="842437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8FFBEB-DE2C-E643-392A-CA3C9DDA7306}"/>
              </a:ext>
            </a:extLst>
          </p:cNvPr>
          <p:cNvGrpSpPr/>
          <p:nvPr/>
        </p:nvGrpSpPr>
        <p:grpSpPr>
          <a:xfrm>
            <a:off x="7521538" y="1687958"/>
            <a:ext cx="4098962" cy="4612192"/>
            <a:chOff x="7521538" y="1687958"/>
            <a:chExt cx="4098962" cy="4612192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44F46D12-0BF6-2505-9A55-9CBC1C137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1062" y="1687958"/>
              <a:ext cx="4070003" cy="3874642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B6284489-BBFB-C41B-D708-43F281737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1538" y="5572126"/>
              <a:ext cx="4098962" cy="7280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/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ko-KR" sz="1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= Derivative, The sensitivity to change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blipFill>
                <a:blip r:embed="rId7"/>
                <a:stretch>
                  <a:fillRect l="-106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/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blipFill>
                <a:blip r:embed="rId8"/>
                <a:stretch>
                  <a:fillRect t="-7143" b="-196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/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찰라</a:t>
                </a:r>
                <a:r>
                  <a:rPr lang="en-US" altLang="ko-KR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刹那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Instant, Moment)</a:t>
                </a:r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변화량에 대한 </a:t>
                </a:r>
                <a14:m>
                  <m:oMath xmlns:m="http://schemas.openxmlformats.org/officeDocument/2006/math">
                    <m:r>
                      <a:rPr lang="ko-KR" altLang="en-US" sz="14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변화량</a:t>
                </a:r>
                <a:endParaRPr lang="en-US" altLang="ko-KR" sz="14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blipFill>
                <a:blip r:embed="rId9"/>
                <a:stretch>
                  <a:fillRect l="-282" t="-3922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0790DE03-EAD9-8813-227A-18873952852E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4839002"/>
            <a:ext cx="5391612" cy="84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5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79D25-B193-8DB3-E09B-76B8A72A2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74175AB-2F00-B7A5-9237-70812891B0A9}"/>
              </a:ext>
            </a:extLst>
          </p:cNvPr>
          <p:cNvSpPr/>
          <p:nvPr/>
        </p:nvSpPr>
        <p:spPr>
          <a:xfrm>
            <a:off x="1104901" y="3117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C4CBB-0ACA-2E0D-5D5D-C8C9AC650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F79CBA1-A476-2653-3142-D5292AE3B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4DEC6B-6251-6C67-499B-DA31BB550E6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048553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 descr="불꽃이 있는 우주 로켓">
            <a:extLst>
              <a:ext uri="{FF2B5EF4-FFF2-40B4-BE49-F238E27FC236}">
                <a16:creationId xmlns:a16="http://schemas.microsoft.com/office/drawing/2014/main" id="{4DD46942-20D7-B59E-C0D1-F08DDB0A8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9403" y="2740430"/>
            <a:ext cx="1232065" cy="1847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37E263C-2F2F-308B-A9E6-12A6BA145ACC}"/>
              </a:ext>
            </a:extLst>
          </p:cNvPr>
          <p:cNvSpPr txBox="1"/>
          <p:nvPr/>
        </p:nvSpPr>
        <p:spPr>
          <a:xfrm>
            <a:off x="8291821" y="2713227"/>
            <a:ext cx="3122286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(Velocity, Speed)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A229A77-5894-DDC2-D988-EB98393F9ADD}"/>
              </a:ext>
            </a:extLst>
          </p:cNvPr>
          <p:cNvCxnSpPr>
            <a:cxnSpLocks/>
          </p:cNvCxnSpPr>
          <p:nvPr/>
        </p:nvCxnSpPr>
        <p:spPr>
          <a:xfrm>
            <a:off x="8545675" y="3082559"/>
            <a:ext cx="0" cy="19625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AADB2BB-00F1-C005-DE32-A58D3050CFC2}"/>
              </a:ext>
            </a:extLst>
          </p:cNvPr>
          <p:cNvCxnSpPr>
            <a:cxnSpLocks/>
          </p:cNvCxnSpPr>
          <p:nvPr/>
        </p:nvCxnSpPr>
        <p:spPr>
          <a:xfrm flipH="1">
            <a:off x="8545675" y="5061096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90781" y="4891356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A6D832-DDA5-75AF-5F7C-1D7C5BD5A5E6}"/>
              </a:ext>
            </a:extLst>
          </p:cNvPr>
          <p:cNvCxnSpPr>
            <a:cxnSpLocks/>
          </p:cNvCxnSpPr>
          <p:nvPr/>
        </p:nvCxnSpPr>
        <p:spPr>
          <a:xfrm flipH="1">
            <a:off x="8545674" y="4227514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781" y="3902023"/>
            <a:ext cx="2428241" cy="611306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A1129D1-E02F-663C-DE78-044988D5F367}"/>
              </a:ext>
            </a:extLst>
          </p:cNvPr>
          <p:cNvCxnSpPr>
            <a:cxnSpLocks/>
          </p:cNvCxnSpPr>
          <p:nvPr/>
        </p:nvCxnSpPr>
        <p:spPr>
          <a:xfrm>
            <a:off x="5928995" y="3690004"/>
            <a:ext cx="0" cy="185866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8C1F9A6-971B-726E-5877-CBE6973EAEAC}"/>
              </a:ext>
            </a:extLst>
          </p:cNvPr>
          <p:cNvCxnSpPr>
            <a:cxnSpLocks/>
          </p:cNvCxnSpPr>
          <p:nvPr/>
        </p:nvCxnSpPr>
        <p:spPr>
          <a:xfrm>
            <a:off x="5351145" y="4153554"/>
            <a:ext cx="0" cy="139511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>
            <a:extLst>
              <a:ext uri="{FF2B5EF4-FFF2-40B4-BE49-F238E27FC236}">
                <a16:creationId xmlns:a16="http://schemas.microsoft.com/office/drawing/2014/main" id="{60BF6107-619C-08B0-29B9-4D6DA7EFDC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3783" y="4493465"/>
            <a:ext cx="214728" cy="20399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2BBB12B-4700-373C-9B8C-1DA4CFF4B8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289" y="4493465"/>
            <a:ext cx="214728" cy="203992"/>
          </a:xfrm>
          <a:prstGeom prst="rect">
            <a:avLst/>
          </a:prstGeom>
        </p:spPr>
      </p:pic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878AE90-89B1-9AB6-DB68-2D8F517F95D2}"/>
              </a:ext>
            </a:extLst>
          </p:cNvPr>
          <p:cNvCxnSpPr>
            <a:cxnSpLocks/>
          </p:cNvCxnSpPr>
          <p:nvPr/>
        </p:nvCxnSpPr>
        <p:spPr>
          <a:xfrm>
            <a:off x="1874520" y="3690004"/>
            <a:ext cx="405447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C896C9-A8B3-FD2C-676E-214761FCB465}"/>
              </a:ext>
            </a:extLst>
          </p:cNvPr>
          <p:cNvCxnSpPr>
            <a:cxnSpLocks/>
          </p:cNvCxnSpPr>
          <p:nvPr/>
        </p:nvCxnSpPr>
        <p:spPr>
          <a:xfrm>
            <a:off x="1874520" y="4153554"/>
            <a:ext cx="347662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B547E61-CFCB-50F6-E724-111F32E0B5A8}"/>
              </a:ext>
            </a:extLst>
          </p:cNvPr>
          <p:cNvCxnSpPr/>
          <p:nvPr/>
        </p:nvCxnSpPr>
        <p:spPr>
          <a:xfrm>
            <a:off x="5683783" y="4768890"/>
            <a:ext cx="21472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CC82431-068A-12FF-19F8-5C722F0C9752}"/>
              </a:ext>
            </a:extLst>
          </p:cNvPr>
          <p:cNvCxnSpPr>
            <a:cxnSpLocks/>
          </p:cNvCxnSpPr>
          <p:nvPr/>
        </p:nvCxnSpPr>
        <p:spPr>
          <a:xfrm flipH="1">
            <a:off x="5381676" y="4761067"/>
            <a:ext cx="18595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그림 34">
            <a:extLst>
              <a:ext uri="{FF2B5EF4-FFF2-40B4-BE49-F238E27FC236}">
                <a16:creationId xmlns:a16="http://schemas.microsoft.com/office/drawing/2014/main" id="{5F4FB917-B48B-E8F5-7FBC-6D2A29A918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6436" y="4174217"/>
            <a:ext cx="671025" cy="230833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EFB04A94-A944-9FC5-C3F3-94B5B74745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5616" y="3383328"/>
            <a:ext cx="654921" cy="225465"/>
          </a:xfrm>
          <a:prstGeom prst="rect">
            <a:avLst/>
          </a:prstGeom>
        </p:spPr>
      </p:pic>
      <p:sp>
        <p:nvSpPr>
          <p:cNvPr id="55" name="직각 삼각형 54">
            <a:extLst>
              <a:ext uri="{FF2B5EF4-FFF2-40B4-BE49-F238E27FC236}">
                <a16:creationId xmlns:a16="http://schemas.microsoft.com/office/drawing/2014/main" id="{1C4ED2C9-78D4-C636-721F-F63B5A6B5101}"/>
              </a:ext>
            </a:extLst>
          </p:cNvPr>
          <p:cNvSpPr/>
          <p:nvPr/>
        </p:nvSpPr>
        <p:spPr>
          <a:xfrm flipH="1">
            <a:off x="5370385" y="3699156"/>
            <a:ext cx="558609" cy="463316"/>
          </a:xfrm>
          <a:prstGeom prst="rtTriangle">
            <a:avLst/>
          </a:prstGeom>
          <a:solidFill>
            <a:schemeClr val="tx1">
              <a:lumMod val="85000"/>
            </a:schemeClr>
          </a:solidFill>
          <a:ln w="3175">
            <a:solidFill>
              <a:schemeClr val="tx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77196668-3F64-2517-AECE-1ADD46591312}"/>
              </a:ext>
            </a:extLst>
          </p:cNvPr>
          <p:cNvCxnSpPr>
            <a:cxnSpLocks/>
          </p:cNvCxnSpPr>
          <p:nvPr/>
        </p:nvCxnSpPr>
        <p:spPr>
          <a:xfrm flipV="1">
            <a:off x="4969506" y="3429000"/>
            <a:ext cx="1277832" cy="10644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D9BD5B1-7AB1-5066-C062-A12F9FD19571}"/>
              </a:ext>
            </a:extLst>
          </p:cNvPr>
          <p:cNvSpPr txBox="1"/>
          <p:nvPr/>
        </p:nvSpPr>
        <p:spPr>
          <a:xfrm>
            <a:off x="6367270" y="3167390"/>
            <a:ext cx="4927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endParaRPr lang="ko-KR" altLang="en-US" sz="1100" dirty="0">
              <a:solidFill>
                <a:srgbClr val="C00000"/>
              </a:solidFill>
            </a:endParaRPr>
          </a:p>
        </p:txBody>
      </p:sp>
      <p:cxnSp>
        <p:nvCxnSpPr>
          <p:cNvPr id="3073" name="직선 연결선 3072">
            <a:extLst>
              <a:ext uri="{FF2B5EF4-FFF2-40B4-BE49-F238E27FC236}">
                <a16:creationId xmlns:a16="http://schemas.microsoft.com/office/drawing/2014/main" id="{22B1AF3D-8145-24BC-DB0C-4A7D2588654C}"/>
              </a:ext>
            </a:extLst>
          </p:cNvPr>
          <p:cNvCxnSpPr>
            <a:cxnSpLocks/>
          </p:cNvCxnSpPr>
          <p:nvPr/>
        </p:nvCxnSpPr>
        <p:spPr>
          <a:xfrm flipV="1">
            <a:off x="2293687" y="5241311"/>
            <a:ext cx="1110390" cy="206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1" name="직선 연결선 3080">
            <a:extLst>
              <a:ext uri="{FF2B5EF4-FFF2-40B4-BE49-F238E27FC236}">
                <a16:creationId xmlns:a16="http://schemas.microsoft.com/office/drawing/2014/main" id="{DB4F4A22-E44A-C68E-7877-BA8A83659DF2}"/>
              </a:ext>
            </a:extLst>
          </p:cNvPr>
          <p:cNvCxnSpPr>
            <a:cxnSpLocks/>
          </p:cNvCxnSpPr>
          <p:nvPr/>
        </p:nvCxnSpPr>
        <p:spPr>
          <a:xfrm flipV="1">
            <a:off x="3556320" y="4794290"/>
            <a:ext cx="874285" cy="3876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93" name="그룹 3092">
            <a:extLst>
              <a:ext uri="{FF2B5EF4-FFF2-40B4-BE49-F238E27FC236}">
                <a16:creationId xmlns:a16="http://schemas.microsoft.com/office/drawing/2014/main" id="{DB0BB0C9-EC8A-3295-DB12-B048E5356A34}"/>
              </a:ext>
            </a:extLst>
          </p:cNvPr>
          <p:cNvGrpSpPr/>
          <p:nvPr/>
        </p:nvGrpSpPr>
        <p:grpSpPr>
          <a:xfrm>
            <a:off x="1905051" y="3920942"/>
            <a:ext cx="5645353" cy="2389220"/>
            <a:chOff x="1905051" y="3920942"/>
            <a:chExt cx="5645353" cy="2389220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F9FD547-46B8-E799-598A-81292210F4FB}"/>
                </a:ext>
              </a:extLst>
            </p:cNvPr>
            <p:cNvCxnSpPr>
              <a:cxnSpLocks/>
            </p:cNvCxnSpPr>
            <p:nvPr/>
          </p:nvCxnSpPr>
          <p:spPr>
            <a:xfrm>
              <a:off x="5640070" y="3921073"/>
              <a:ext cx="0" cy="1627600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6E56D11D-E723-12C5-5EF9-4771755500E2}"/>
                </a:ext>
              </a:extLst>
            </p:cNvPr>
            <p:cNvCxnSpPr>
              <a:cxnSpLocks/>
            </p:cNvCxnSpPr>
            <p:nvPr/>
          </p:nvCxnSpPr>
          <p:spPr>
            <a:xfrm>
              <a:off x="1905051" y="3920942"/>
              <a:ext cx="3735019" cy="6966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/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=7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에서 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(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순간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)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속도는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?</a:t>
                  </a:r>
                  <a:endPara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endParaRPr>
                </a:p>
              </p:txBody>
            </p:sp>
          </mc:Choice>
          <mc:Fallback xmlns="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blipFill>
                  <a:blip r:embed="rId9"/>
                  <a:stretch>
                    <a:fillRect t="-6000" b="-18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092" name="그래픽 3091" descr="위쪽 화살표 단색으로 채워진">
              <a:extLst>
                <a:ext uri="{FF2B5EF4-FFF2-40B4-BE49-F238E27FC236}">
                  <a16:creationId xmlns:a16="http://schemas.microsoft.com/office/drawing/2014/main" id="{D16EEB43-6588-09F2-68EB-9887D2CF1D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52500" y="5629884"/>
              <a:ext cx="375140" cy="3751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6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</a:t>
            </a:r>
            <a:r>
              <a:rPr lang="en-US" altLang="ko-KR" dirty="0"/>
              <a:t>,</a:t>
            </a:r>
            <a:r>
              <a:rPr lang="ko-KR" altLang="en-US" dirty="0"/>
              <a:t>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4205544-8AFC-A571-2BA3-1FA12F75225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32256" y="4177613"/>
            <a:ext cx="828764" cy="482415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75BF96D6-B550-99CE-A26A-677FC7F4D897}"/>
              </a:ext>
            </a:extLst>
          </p:cNvPr>
          <p:cNvGrpSpPr/>
          <p:nvPr/>
        </p:nvGrpSpPr>
        <p:grpSpPr>
          <a:xfrm>
            <a:off x="6375576" y="4757168"/>
            <a:ext cx="1785444" cy="527169"/>
            <a:chOff x="6375576" y="4757168"/>
            <a:chExt cx="1785444" cy="527169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E623D1EF-EBAA-CEC6-4604-1E74B7DDA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352080" y="4757221"/>
              <a:ext cx="808940" cy="527116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CB5F9300-F8EC-A6E6-DC47-A86676DD6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6375576" y="4757168"/>
              <a:ext cx="1188939" cy="5271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65FBF-DC47-80C6-4AEC-E66FD819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E98496D-305F-3053-F591-5FEFAE4FD4F7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AA0CDE0-35EA-B5D8-34D8-CAFA3E3366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3BE607-FDD9-5E0A-251B-4BF9BED4E3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2AA790-AB8F-1879-7D55-BD8C7A83023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77097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DD6C1-CFD0-3876-8D1A-E9CBFE0A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01E7E6B-84CC-4B6A-3AB3-0D24E86D6D54}"/>
              </a:ext>
            </a:extLst>
          </p:cNvPr>
          <p:cNvSpPr/>
          <p:nvPr/>
        </p:nvSpPr>
        <p:spPr>
          <a:xfrm>
            <a:off x="1104901" y="41942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450445-5DF7-64E1-9238-B817DDEE1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10A2F57-17F3-AB82-F3D8-29F5F794C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BD0209-96C0-6694-D351-6B9F0C61D77A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74875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336C4-EE77-CCA4-FEA0-B92C7B68C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C709EE6-A145-F705-8620-7F2C3C7023EF}"/>
              </a:ext>
            </a:extLst>
          </p:cNvPr>
          <p:cNvSpPr/>
          <p:nvPr/>
        </p:nvSpPr>
        <p:spPr>
          <a:xfrm>
            <a:off x="1104901" y="46895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993C4B2-C50B-5142-F302-F123F53FB0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933A535-7595-7433-FC80-4FF14C9A29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941AE-D08C-0C55-80E8-0D725E91B50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669692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Function(L1,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21650F-00C5-3449-5259-48FFAB06FA7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063416"/>
            <a:ext cx="1404705" cy="49424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128B04-3C98-D55D-B84F-2CE3686DA68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813197"/>
            <a:ext cx="3726369" cy="4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Function(L1,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658" y="2886969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목적은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아니라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새로운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 각 모델의 예측 값은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5C64-2C1F-ED10-2305-AC3FEFC2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96BFBFB-182E-BE0D-F6EC-3B5802EE8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oefficients of L1, L2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DD22321-8722-5365-0508-9396C4052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C383C4-9714-B268-35CA-D128C720733C}"/>
              </a:ext>
            </a:extLst>
          </p:cNvPr>
          <p:cNvSpPr txBox="1"/>
          <p:nvPr/>
        </p:nvSpPr>
        <p:spPr>
          <a:xfrm>
            <a:off x="842210" y="1285138"/>
            <a:ext cx="10860262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모델의 특징별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값을 추출하여 아래와 같이 테이블을 생성하라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모델은 단순회귀식으로 변수가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계수 값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 values)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비교하고 토론하라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값을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만드는지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Sparsity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특징을 갖는지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28B006-1902-0666-407A-741D1CE81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171" y="3648633"/>
            <a:ext cx="10079974" cy="213177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04883D6-624A-023C-D671-0E4B17F02936}"/>
              </a:ext>
            </a:extLst>
          </p:cNvPr>
          <p:cNvSpPr/>
          <p:nvPr/>
        </p:nvSpPr>
        <p:spPr>
          <a:xfrm>
            <a:off x="842210" y="4856480"/>
            <a:ext cx="10644940" cy="9239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B25E70-BCF1-DC68-0FD1-C0D1FB71E0C5}"/>
              </a:ext>
            </a:extLst>
          </p:cNvPr>
          <p:cNvSpPr/>
          <p:nvPr/>
        </p:nvSpPr>
        <p:spPr>
          <a:xfrm>
            <a:off x="2284930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A86DACA-1022-D25F-AC9D-688EBEE12113}"/>
              </a:ext>
            </a:extLst>
          </p:cNvPr>
          <p:cNvSpPr/>
          <p:nvPr/>
        </p:nvSpPr>
        <p:spPr>
          <a:xfrm>
            <a:off x="3261360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D9F29E-EF8B-AB17-9748-FAFD9B2645FF}"/>
              </a:ext>
            </a:extLst>
          </p:cNvPr>
          <p:cNvSpPr/>
          <p:nvPr/>
        </p:nvSpPr>
        <p:spPr>
          <a:xfrm>
            <a:off x="50559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5B70380-E1C9-407F-1063-343E666EEB3A}"/>
              </a:ext>
            </a:extLst>
          </p:cNvPr>
          <p:cNvSpPr/>
          <p:nvPr/>
        </p:nvSpPr>
        <p:spPr>
          <a:xfrm>
            <a:off x="94247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1FE0331-8179-1003-51D9-52EF5A3EE439}"/>
              </a:ext>
            </a:extLst>
          </p:cNvPr>
          <p:cNvSpPr/>
          <p:nvPr/>
        </p:nvSpPr>
        <p:spPr>
          <a:xfrm>
            <a:off x="103899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164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9" grpId="0" animBg="1"/>
      <p:bldP spid="10" grpId="0" animBg="1"/>
      <p:bldP spid="1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D0444-002E-FCBE-575E-38E8737D9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AD03CC8-6144-796E-E068-ACC28125E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Derivatives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B0C7EE4-D340-7AFF-980F-0C37C2D30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9159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L1, L2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손실함수</a:t>
                </a:r>
                <a:r>
                  <a:rPr lang="en-US" altLang="ko-KR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형태에 따른  </a:t>
                </a:r>
                <a14:m>
                  <m:oMath xmlns:m="http://schemas.openxmlformats.org/officeDocument/2006/math">
                    <m:r>
                      <a:rPr lang="ko-KR" alt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 각각의 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미분방정식의 직관적 이해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(Why sparsity?)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하자 </a:t>
                </a:r>
                <a:endParaRPr lang="en-US" altLang="ko-KR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915956"/>
              </a:xfrm>
              <a:prstGeom prst="rect">
                <a:avLst/>
              </a:prstGeom>
              <a:blipFill>
                <a:blip r:embed="rId2"/>
                <a:stretch>
                  <a:fillRect l="-505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BE45A263-58DF-F964-7347-38E892628C3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7" y="4230456"/>
            <a:ext cx="2705909" cy="7077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368B17-A096-1719-6EA7-6E190E78863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6" y="5265030"/>
            <a:ext cx="2705909" cy="6986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FD74CB3-01C8-09F0-9C2D-0ECD446FEF8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8" y="3378764"/>
            <a:ext cx="2705907" cy="70203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969455C-4E5A-6884-2B5D-DDB2E3919742}"/>
              </a:ext>
            </a:extLst>
          </p:cNvPr>
          <p:cNvSpPr txBox="1"/>
          <p:nvPr/>
        </p:nvSpPr>
        <p:spPr>
          <a:xfrm>
            <a:off x="1058369" y="2827549"/>
            <a:ext cx="46918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Minimization)</a:t>
            </a:r>
            <a:endParaRPr lang="ko-KR" altLang="en-US" dirty="0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F227F347-20D7-9EF9-B53E-DAD7117A3FA7}"/>
              </a:ext>
            </a:extLst>
          </p:cNvPr>
          <p:cNvGrpSpPr/>
          <p:nvPr/>
        </p:nvGrpSpPr>
        <p:grpSpPr>
          <a:xfrm>
            <a:off x="7233920" y="2834658"/>
            <a:ext cx="4169377" cy="1414373"/>
            <a:chOff x="842210" y="2627418"/>
            <a:chExt cx="4169377" cy="141437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A2F34F9-2651-37FB-82B9-C89F916BA1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268930" y="3147976"/>
              <a:ext cx="1318027" cy="463750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14DC66D-E0CC-98ED-4445-E081D433543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268930" y="3578041"/>
              <a:ext cx="3742657" cy="46375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37CF39F-F592-1877-0217-14EEDEB277D2}"/>
                </a:ext>
              </a:extLst>
            </p:cNvPr>
            <p:cNvSpPr txBox="1"/>
            <p:nvPr/>
          </p:nvSpPr>
          <p:spPr>
            <a:xfrm>
              <a:off x="842210" y="2627418"/>
              <a:ext cx="237152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800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</a:t>
              </a:r>
              <a:r>
                <a:rPr lang="en-US" altLang="ko-KR" sz="1800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(Model)</a:t>
              </a:r>
              <a:endParaRPr lang="ko-KR" altLang="en-US" dirty="0"/>
            </a:p>
          </p:txBody>
        </p:sp>
        <p:cxnSp>
          <p:nvCxnSpPr>
            <p:cNvPr id="3" name="연결선: 꺾임 2">
              <a:extLst>
                <a:ext uri="{FF2B5EF4-FFF2-40B4-BE49-F238E27FC236}">
                  <a16:creationId xmlns:a16="http://schemas.microsoft.com/office/drawing/2014/main" id="{0D98D96D-5A33-3C9B-40B6-38BD7F489B03}"/>
                </a:ext>
              </a:extLst>
            </p:cNvPr>
            <p:cNvCxnSpPr>
              <a:cxnSpLocks/>
              <a:stCxn id="13" idx="1"/>
              <a:endCxn id="16" idx="1"/>
            </p:cNvCxnSpPr>
            <p:nvPr/>
          </p:nvCxnSpPr>
          <p:spPr>
            <a:xfrm rot="10800000">
              <a:off x="842210" y="2812085"/>
              <a:ext cx="426720" cy="567767"/>
            </a:xfrm>
            <a:prstGeom prst="bentConnector3">
              <a:avLst>
                <a:gd name="adj1" fmla="val 15357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D97C7C43-BE96-B8F4-12B6-B7F4CB9219E9}"/>
              </a:ext>
            </a:extLst>
          </p:cNvPr>
          <p:cNvCxnSpPr>
            <a:cxnSpLocks/>
            <a:stCxn id="12" idx="1"/>
            <a:endCxn id="17" idx="1"/>
          </p:cNvCxnSpPr>
          <p:nvPr/>
        </p:nvCxnSpPr>
        <p:spPr>
          <a:xfrm rot="10800000">
            <a:off x="1058370" y="3012216"/>
            <a:ext cx="143979" cy="717567"/>
          </a:xfrm>
          <a:prstGeom prst="bentConnector3">
            <a:avLst>
              <a:gd name="adj1" fmla="val 258773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BCDE0432-2547-B13C-1538-0F9C4838889F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091134" y="5357612"/>
            <a:ext cx="3155291" cy="55415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13874D0E-10E7-C3B8-CDA9-DE9A92DF8F3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091134" y="4330311"/>
            <a:ext cx="2843057" cy="554155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91D1A00D-1024-D41A-62E8-50BA090F9AC4}"/>
              </a:ext>
            </a:extLst>
          </p:cNvPr>
          <p:cNvGrpSpPr/>
          <p:nvPr/>
        </p:nvGrpSpPr>
        <p:grpSpPr>
          <a:xfrm>
            <a:off x="6278880" y="5265030"/>
            <a:ext cx="2416704" cy="800625"/>
            <a:chOff x="6096000" y="5265030"/>
            <a:chExt cx="2416704" cy="800625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9B49639-B1A6-E30D-1423-A57B19474E8E}"/>
                </a:ext>
              </a:extLst>
            </p:cNvPr>
            <p:cNvSpPr txBox="1"/>
            <p:nvPr/>
          </p:nvSpPr>
          <p:spPr>
            <a:xfrm>
              <a:off x="7172272" y="5757878"/>
              <a:ext cx="13404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hlinkClick r:id="rId10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Sign_function</a:t>
              </a:r>
              <a:endParaRPr lang="ko-KR" altLang="en-US" sz="1400" dirty="0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DF5D77B2-EC22-D1CB-3044-6BC19D8AA2E9}"/>
                </a:ext>
              </a:extLst>
            </p:cNvPr>
            <p:cNvSpPr/>
            <p:nvPr/>
          </p:nvSpPr>
          <p:spPr>
            <a:xfrm>
              <a:off x="6096000" y="5265030"/>
              <a:ext cx="1076272" cy="75286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42AFFB4-33BC-A256-975B-871025AF235C}"/>
              </a:ext>
            </a:extLst>
          </p:cNvPr>
          <p:cNvSpPr/>
          <p:nvPr/>
        </p:nvSpPr>
        <p:spPr>
          <a:xfrm>
            <a:off x="6455221" y="4234804"/>
            <a:ext cx="616139" cy="752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4913514-4C91-9DE5-402F-7F683DFCCC09}"/>
              </a:ext>
            </a:extLst>
          </p:cNvPr>
          <p:cNvSpPr txBox="1"/>
          <p:nvPr/>
        </p:nvSpPr>
        <p:spPr>
          <a:xfrm>
            <a:off x="4772655" y="3765081"/>
            <a:ext cx="14800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Derivatives</a:t>
            </a:r>
            <a:endParaRPr lang="ko-KR" altLang="en-US" dirty="0">
              <a:solidFill>
                <a:schemeClr val="accent6">
                  <a:lumMod val="60000"/>
                  <a:lumOff val="4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2515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DC99D-D079-DDD9-15E8-893E52A36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94A967-5E85-1C5A-C050-07A1801972BD}"/>
                  </a:ext>
                </a:extLst>
              </p:cNvPr>
              <p:cNvSpPr txBox="1"/>
              <p:nvPr/>
            </p:nvSpPr>
            <p:spPr>
              <a:xfrm>
                <a:off x="6877250" y="3135181"/>
                <a:ext cx="5101390" cy="30001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크기와 상관없이 일정한 액수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4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세금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재산이 많든 적든 즉 가중치가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100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이든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0.1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이든 똑같이 </a:t>
                </a:r>
                <a14:m>
                  <m:oMath xmlns:m="http://schemas.openxmlformats.org/officeDocument/2006/math">
                    <m:r>
                      <a:rPr lang="ko-KR" altLang="en-US" sz="14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라는 힘으로 동일한 세금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특정 재산은 버리게 되는 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정확히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만드는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sparsity 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형태의 재산을 보유하게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94A967-5E85-1C5A-C050-07A180197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250" y="3135181"/>
                <a:ext cx="5101390" cy="300018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74BF5ED3-EFC4-C68B-9DF7-715E3DB13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Metaphor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275DCE7-5346-F0A2-A517-180649C14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4BC8D5B-7A64-0E1F-A2D5-A3680306F960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국가에 납부하는 총 세금이며 가중치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각 특성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대한 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이고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penalty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강도를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로 가정하여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세금납부방식에 대한 국민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세금납부자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최적화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Oprimization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전략은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4BC8D5B-7A64-0E1F-A2D5-A3680306F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blipFill>
                <a:blip r:embed="rId3"/>
                <a:stretch>
                  <a:fillRect l="-337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03B8BD-FD01-46F0-2965-E4D750B489D7}"/>
                  </a:ext>
                </a:extLst>
              </p:cNvPr>
              <p:cNvSpPr txBox="1"/>
              <p:nvPr/>
            </p:nvSpPr>
            <p:spPr>
              <a:xfrm>
                <a:off x="1302738" y="3135181"/>
                <a:ext cx="4754102" cy="295920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가중치의 제곱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p>
                        <m:r>
                          <a:rPr lang="en-US" altLang="ko-KR" sz="140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비례해서 세금을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즉 재산이 많으면 세금을 엄청나게 많이 내지만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재산이 줄어들면 내야 하는 세금도 급격히 줄어들게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모든 재산을 갖지만 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향해 최소한의 재산을 보유하게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03B8BD-FD01-46F0-2965-E4D750B489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2738" y="3135181"/>
                <a:ext cx="4754102" cy="2959208"/>
              </a:xfrm>
              <a:prstGeom prst="rect">
                <a:avLst/>
              </a:prstGeom>
              <a:blipFill>
                <a:blip r:embed="rId4"/>
                <a:stretch>
                  <a:fillRect l="-12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8AFA3CC-7FCA-D386-C47C-9705F04C5D6C}"/>
              </a:ext>
            </a:extLst>
          </p:cNvPr>
          <p:cNvSpPr txBox="1"/>
          <p:nvPr/>
        </p:nvSpPr>
        <p:spPr>
          <a:xfrm>
            <a:off x="6575369" y="2846254"/>
            <a:ext cx="2578791" cy="41402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Lasso(L1)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정액 세액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42E206-F2B4-548F-C1B9-4FB8760D43FB}"/>
              </a:ext>
            </a:extLst>
          </p:cNvPr>
          <p:cNvSpPr txBox="1"/>
          <p:nvPr/>
        </p:nvSpPr>
        <p:spPr>
          <a:xfrm>
            <a:off x="885768" y="2846254"/>
            <a:ext cx="2578791" cy="41402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Ridge(L2)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재산 비례세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51999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28E01-DDF8-919E-8C0F-D554958E1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A8FCF61-7371-9B73-E714-4283C7AB1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Contour map 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3DADE18-C221-6D25-3694-EA36DD689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16183E7-1AC4-4900-0B37-C34B1205764D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L1, L2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손실함수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절편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(intercept)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zero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하는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선형회귀식을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peanalty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계수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를 상수로 취급하여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2D contour map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sympy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모듈을 사용하여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시각화하라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16183E7-1AC4-4900-0B37-C34B12057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blipFill>
                <a:blip r:embed="rId2"/>
                <a:stretch>
                  <a:fillRect l="-337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12B8D6BF-0BC5-AF60-3FFC-1236A850E2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679" y="2620912"/>
            <a:ext cx="8369801" cy="3665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02751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Geometry metaphor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8508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78494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96476-D1BC-93EE-AD7F-698D18F9F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5E5055A-FEDA-CD90-6842-D10AD41D6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CF6EC08-194F-8A13-AF31-10653AAA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F9F7DB-E7BE-3414-0C44-424E16526041}"/>
              </a:ext>
            </a:extLst>
          </p:cNvPr>
          <p:cNvSpPr txBox="1"/>
          <p:nvPr/>
        </p:nvSpPr>
        <p:spPr>
          <a:xfrm>
            <a:off x="842210" y="1285138"/>
            <a:ext cx="10860262" cy="32251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Scikit-learn</a:t>
            </a:r>
            <a:r>
              <a:rPr lang="ko-KR" altLang="en-US" dirty="0"/>
              <a:t>의 선형모델</a:t>
            </a:r>
            <a:r>
              <a:rPr lang="en-US" altLang="ko-KR" dirty="0"/>
              <a:t>(</a:t>
            </a:r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linear_model</a:t>
            </a:r>
            <a:r>
              <a:rPr lang="en-US" altLang="ko-KR" dirty="0"/>
              <a:t>)</a:t>
            </a:r>
            <a:r>
              <a:rPr lang="ko-KR" altLang="en-US" dirty="0"/>
              <a:t>의 수식</a:t>
            </a:r>
            <a:r>
              <a:rPr lang="en-US" altLang="ko-KR" dirty="0"/>
              <a:t>(L2 norm</a:t>
            </a:r>
            <a:r>
              <a:rPr lang="ko-KR" altLang="en-US" dirty="0"/>
              <a:t>을 제곱</a:t>
            </a:r>
            <a:r>
              <a:rPr lang="en-US" altLang="ko-KR" dirty="0"/>
              <a:t>)</a:t>
            </a:r>
            <a:r>
              <a:rPr lang="ko-KR" altLang="en-US" dirty="0"/>
              <a:t>에 대해 토론하라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선형회귀</a:t>
            </a:r>
            <a:r>
              <a:rPr lang="en-US" altLang="ko-KR" dirty="0"/>
              <a:t>, </a:t>
            </a:r>
            <a:r>
              <a:rPr lang="ko-KR" altLang="en-US" dirty="0"/>
              <a:t>기하학적</a:t>
            </a:r>
            <a:r>
              <a:rPr lang="en-US" altLang="ko-KR" dirty="0"/>
              <a:t> </a:t>
            </a:r>
            <a:r>
              <a:rPr lang="ko-KR" altLang="en-US" dirty="0"/>
              <a:t>투영</a:t>
            </a:r>
            <a:r>
              <a:rPr lang="en-US" altLang="ko-KR" dirty="0"/>
              <a:t>(projection), </a:t>
            </a:r>
            <a:r>
              <a:rPr lang="ko-KR" altLang="en-US" dirty="0"/>
              <a:t>미분</a:t>
            </a:r>
            <a:r>
              <a:rPr lang="en-US" altLang="ko-KR" dirty="0"/>
              <a:t>(derivative) </a:t>
            </a:r>
            <a:r>
              <a:rPr lang="ko-KR" altLang="en-US" dirty="0"/>
              <a:t>등 각각의 관점에 대해 토론하자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Task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Scikit-learn</a:t>
            </a:r>
            <a:r>
              <a:rPr lang="ko-KR" altLang="en-US" dirty="0"/>
              <a:t>의 </a:t>
            </a:r>
            <a:r>
              <a:rPr lang="en-US" altLang="ko-KR" dirty="0" err="1"/>
              <a:t>load_diabetes</a:t>
            </a:r>
            <a:r>
              <a:rPr lang="en-US" altLang="ko-KR" dirty="0"/>
              <a:t> </a:t>
            </a:r>
            <a:r>
              <a:rPr lang="ko-KR" altLang="en-US" dirty="0"/>
              <a:t>를 바탕으로 </a:t>
            </a:r>
            <a:r>
              <a:rPr lang="en-US" altLang="ko-KR" dirty="0" err="1"/>
              <a:t>train_test_split</a:t>
            </a:r>
            <a:r>
              <a:rPr lang="ko-KR" altLang="en-US" dirty="0"/>
              <a:t>를 통해 아래 </a:t>
            </a:r>
            <a:r>
              <a:rPr lang="en-US" altLang="ko-KR" dirty="0"/>
              <a:t>3</a:t>
            </a:r>
            <a:r>
              <a:rPr lang="ko-KR" altLang="en-US" dirty="0"/>
              <a:t>가지 방법으로 </a:t>
            </a:r>
            <a:r>
              <a:rPr lang="en-US" altLang="ko-KR" dirty="0"/>
              <a:t>parameters</a:t>
            </a:r>
            <a:r>
              <a:rPr lang="ko-KR" altLang="en-US" dirty="0"/>
              <a:t>를 구하고 각각 비교하라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from </a:t>
            </a:r>
            <a:r>
              <a:rPr lang="en-US" altLang="ko-KR" sz="1600" dirty="0" err="1"/>
              <a:t>sklearn.linear_model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LinearRegression</a:t>
            </a:r>
            <a:endParaRPr lang="en-US" altLang="ko-KR" sz="1600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import </a:t>
            </a:r>
            <a:r>
              <a:rPr lang="en-US" altLang="ko-KR" sz="1600" dirty="0" err="1"/>
              <a:t>statsmodels.api</a:t>
            </a:r>
            <a:r>
              <a:rPr lang="en-US" altLang="ko-KR" sz="1600" dirty="0"/>
              <a:t> as </a:t>
            </a:r>
            <a:r>
              <a:rPr lang="en-US" altLang="ko-KR" sz="1600" dirty="0" err="1"/>
              <a:t>sm</a:t>
            </a:r>
            <a:endParaRPr lang="en-US" altLang="ko-KR" sz="1600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import</a:t>
            </a:r>
            <a:r>
              <a:rPr lang="ko-KR" altLang="en-US" sz="1600" dirty="0"/>
              <a:t> </a:t>
            </a:r>
            <a:r>
              <a:rPr lang="en-US" altLang="ko-KR" sz="1600" dirty="0" err="1"/>
              <a:t>numpy</a:t>
            </a:r>
            <a:r>
              <a:rPr lang="ko-KR" altLang="en-US" sz="1600" dirty="0"/>
              <a:t> </a:t>
            </a:r>
            <a:r>
              <a:rPr lang="en-US" altLang="ko-KR" sz="1600" dirty="0"/>
              <a:t>as</a:t>
            </a:r>
            <a:r>
              <a:rPr lang="ko-KR" altLang="en-US" sz="1600" dirty="0"/>
              <a:t> </a:t>
            </a:r>
            <a:r>
              <a:rPr lang="en-US" altLang="ko-KR" sz="1600" dirty="0"/>
              <a:t>np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C0602C-5DA9-D570-FF09-907AA9270D7D}"/>
              </a:ext>
            </a:extLst>
          </p:cNvPr>
          <p:cNvSpPr txBox="1"/>
          <p:nvPr/>
        </p:nvSpPr>
        <p:spPr>
          <a:xfrm>
            <a:off x="4017505" y="5293023"/>
            <a:ext cx="31146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lectures/lecturenote08.html</a:t>
            </a:r>
            <a:endParaRPr lang="ko-KR" altLang="en-US" sz="16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63E79C3-FF2D-57CF-E818-B8E082950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1421" y="5164195"/>
            <a:ext cx="1557334" cy="43880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F696029-D14D-AE60-8266-EDE56876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1421" y="4311361"/>
            <a:ext cx="4114860" cy="43880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B22D6C6-4F06-FD9A-0DC6-9F8423CA48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421" y="4725388"/>
            <a:ext cx="1996140" cy="438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D73F87-A17D-4F08-EFF8-EDD4E14B8474}"/>
              </a:ext>
            </a:extLst>
          </p:cNvPr>
          <p:cNvSpPr txBox="1"/>
          <p:nvPr/>
        </p:nvSpPr>
        <p:spPr>
          <a:xfrm>
            <a:off x="4017505" y="5760405"/>
            <a:ext cx="7294880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wiki/</a:t>
            </a:r>
            <a:r>
              <a:rPr lang="en-US" altLang="ko-KR" sz="1600" dirty="0" err="1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Linear_regression</a:t>
            </a: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귀식의 </a:t>
            </a: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formation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이해하자</a:t>
            </a:r>
            <a:endParaRPr lang="en-US" altLang="ko-KR" sz="1600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77401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1F8B4-A99B-88EE-75C1-6CEF82FB5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0521C8-7C2C-7319-FE80-5CB704F46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053BC1-A3BE-48A2-D122-B726B63A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122338-7AAF-EE81-32F5-A4761D443AA3}"/>
              </a:ext>
            </a:extLst>
          </p:cNvPr>
          <p:cNvSpPr txBox="1"/>
          <p:nvPr/>
        </p:nvSpPr>
        <p:spPr>
          <a:xfrm>
            <a:off x="1020158" y="1143755"/>
            <a:ext cx="10866889" cy="5401479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sklearn.model_selection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statsmodels.api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pandas as pd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diabetes.data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diabetes.target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diabetes.feature_names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(X, y,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test_size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=0.2,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lr.fit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np.insert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_, 0,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lr.intercept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np.c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_[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np.ones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[0], 1)),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sm.OLS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).fit()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results.summary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xname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np.linalg.inv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({'Feature': 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정규 방정식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511E096-1FAC-C38C-D1F6-878AFA652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005" y="5666620"/>
            <a:ext cx="1557334" cy="438807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DACF2A-F3AC-276D-6B10-A239E42DF8EB}"/>
              </a:ext>
            </a:extLst>
          </p:cNvPr>
          <p:cNvSpPr/>
          <p:nvPr/>
        </p:nvSpPr>
        <p:spPr>
          <a:xfrm>
            <a:off x="666750" y="3895724"/>
            <a:ext cx="8610600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C7A19D3-0152-5C07-0663-6AC650D0DAF9}"/>
              </a:ext>
            </a:extLst>
          </p:cNvPr>
          <p:cNvSpPr/>
          <p:nvPr/>
        </p:nvSpPr>
        <p:spPr>
          <a:xfrm>
            <a:off x="666750" y="4791074"/>
            <a:ext cx="8610600" cy="76643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AF85A64-1293-53D7-E18B-43F362D66343}"/>
              </a:ext>
            </a:extLst>
          </p:cNvPr>
          <p:cNvSpPr/>
          <p:nvPr/>
        </p:nvSpPr>
        <p:spPr>
          <a:xfrm>
            <a:off x="666750" y="5657095"/>
            <a:ext cx="8610600" cy="45785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1ADA89B-7896-8D38-D27A-94A67FD3F725}"/>
              </a:ext>
            </a:extLst>
          </p:cNvPr>
          <p:cNvSpPr/>
          <p:nvPr/>
        </p:nvSpPr>
        <p:spPr>
          <a:xfrm>
            <a:off x="627380" y="1643723"/>
            <a:ext cx="8610600" cy="1954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BA7B5E5-2514-7ABA-6369-6A0B0BF68B8F}"/>
              </a:ext>
            </a:extLst>
          </p:cNvPr>
          <p:cNvSpPr/>
          <p:nvPr/>
        </p:nvSpPr>
        <p:spPr>
          <a:xfrm>
            <a:off x="627380" y="1873740"/>
            <a:ext cx="8610600" cy="19547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46D3C9-B628-D706-7DA8-A1956DCD6FB3}"/>
              </a:ext>
            </a:extLst>
          </p:cNvPr>
          <p:cNvSpPr/>
          <p:nvPr/>
        </p:nvSpPr>
        <p:spPr>
          <a:xfrm>
            <a:off x="627380" y="2111113"/>
            <a:ext cx="8610600" cy="19547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A99CD8-83C9-9A44-E48F-1843A01A2F01}"/>
              </a:ext>
            </a:extLst>
          </p:cNvPr>
          <p:cNvSpPr txBox="1"/>
          <p:nvPr/>
        </p:nvSpPr>
        <p:spPr>
          <a:xfrm>
            <a:off x="9481005" y="4804961"/>
            <a:ext cx="21398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머신러닝은</a:t>
            </a:r>
            <a:r>
              <a:rPr lang="ko-KR" altLang="en-US" sz="14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예측이 목적이지 통계적 의미는 별 관심이 없음</a:t>
            </a:r>
          </a:p>
        </p:txBody>
      </p:sp>
    </p:spTree>
    <p:extLst>
      <p:ext uri="{BB962C8B-B14F-4D97-AF65-F5344CB8AC3E}">
        <p14:creationId xmlns:p14="http://schemas.microsoft.com/office/powerpoint/2010/main" val="132551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8" grpId="0" animBg="1"/>
      <p:bldP spid="20" grpId="0" animBg="1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85FDB-3663-640C-7B6F-F8058987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126342-5B6E-FEAA-E536-2DCC8EC92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bias-variance tradeoff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836632-3677-3ED3-5ACB-AC1C2DB46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497211-75CE-AC14-08DC-37F4B2017B48}"/>
              </a:ext>
            </a:extLst>
          </p:cNvPr>
          <p:cNvSpPr txBox="1"/>
          <p:nvPr/>
        </p:nvSpPr>
        <p:spPr>
          <a:xfrm>
            <a:off x="1026160" y="1123277"/>
            <a:ext cx="99161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편향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분산에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bias-variance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클릭하여 학습하자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의사결정나무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KNN,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어떤 경우에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BC1D491-6AE1-B98D-7FC9-7E42BE3B01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7930" y="2293320"/>
            <a:ext cx="4105910" cy="4056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10BB7-1E11-FECA-F32E-1CAE70D863A1}"/>
              </a:ext>
            </a:extLst>
          </p:cNvPr>
          <p:cNvSpPr txBox="1"/>
          <p:nvPr/>
        </p:nvSpPr>
        <p:spPr>
          <a:xfrm>
            <a:off x="1117600" y="6350058"/>
            <a:ext cx="3698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dirty="0"/>
              <a:t>http://scott.fortmann-roe.com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8BEBF6-4E13-AA48-3986-AB4544BAAD86}"/>
              </a:ext>
            </a:extLst>
          </p:cNvPr>
          <p:cNvSpPr txBox="1"/>
          <p:nvPr/>
        </p:nvSpPr>
        <p:spPr>
          <a:xfrm>
            <a:off x="5862320" y="2949258"/>
            <a:ext cx="6096000" cy="2116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편향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(Bias)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예측모델의 평균 기대 값과 실제 값의 차이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예측모델의 평균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기대값의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퍼짐 정도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ED22D8C-6771-FA4F-3CD7-9C964D6E8D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62554" y="3668089"/>
            <a:ext cx="3368332" cy="48010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CF4B57C-D498-1569-CFA8-4CA226EA647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62554" y="5284002"/>
            <a:ext cx="3490262" cy="59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60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539C4-0E06-88B2-1763-FCE9D403F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CA7F9FD-68FD-28BB-AFBE-14D4F48F4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bias-variance tradeoff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9324566-47DC-D7A1-EAA4-509C86510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26893FF-C0DE-69D1-D11D-9E90E6793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658" y="2886969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36642C-8FAE-FEFF-6E2C-59665BC861EB}"/>
              </a:ext>
            </a:extLst>
          </p:cNvPr>
          <p:cNvSpPr txBox="1"/>
          <p:nvPr/>
        </p:nvSpPr>
        <p:spPr>
          <a:xfrm>
            <a:off x="842210" y="1285138"/>
            <a:ext cx="10860262" cy="958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High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Bias,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Low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Variance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Low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Bias,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High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Variance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10330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EAF48-CF91-BC8C-4E43-2D99D841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4A99C4B-35A4-CBC3-4F03-3302D7D99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 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27E457C-FF07-663C-A79D-7D1DEEDBF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C83025-B6A7-EBF2-E4F4-1FB0C4C4470A}"/>
              </a:ext>
            </a:extLst>
          </p:cNvPr>
          <p:cNvSpPr txBox="1"/>
          <p:nvPr/>
        </p:nvSpPr>
        <p:spPr>
          <a:xfrm>
            <a:off x="1137920" y="1605280"/>
            <a:ext cx="99161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 learn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regress(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plot_ols_ridge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코드를 학습하고 이해하자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분산을 줄이는 대신 약간의 편향을 허용하는 모델인데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Why?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74" name="Picture 2" descr="ridge">
            <a:extLst>
              <a:ext uri="{FF2B5EF4-FFF2-40B4-BE49-F238E27FC236}">
                <a16:creationId xmlns:a16="http://schemas.microsoft.com/office/drawing/2014/main" id="{05B253A6-7236-2427-CE38-DAC9004E7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3252306"/>
            <a:ext cx="3810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ols">
            <a:extLst>
              <a:ext uri="{FF2B5EF4-FFF2-40B4-BE49-F238E27FC236}">
                <a16:creationId xmlns:a16="http://schemas.microsoft.com/office/drawing/2014/main" id="{46F56E10-51C5-6931-4EEC-10F17AA38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9720" y="3261196"/>
            <a:ext cx="3810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34119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C0C3-FAC9-49E4-FC88-5140BB5F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3E81F08-88E9-668E-3BDD-00DDD412EE73}"/>
              </a:ext>
            </a:extLst>
          </p:cNvPr>
          <p:cNvSpPr/>
          <p:nvPr/>
        </p:nvSpPr>
        <p:spPr>
          <a:xfrm>
            <a:off x="1104901" y="52705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706AD1A-E9E1-6128-AFC2-C9AB3224F2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45E43E7-59FD-2FB2-0581-9FC41C524C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378E37-C7EB-A495-4B0B-495E27377D1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9897596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55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CB3B-9AF7-4213-B5A1-6605D2A4A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418055A-86BD-4F58-4EFC-13F9ED3D8CE7}"/>
              </a:ext>
            </a:extLst>
          </p:cNvPr>
          <p:cNvSpPr/>
          <p:nvPr/>
        </p:nvSpPr>
        <p:spPr>
          <a:xfrm>
            <a:off x="1104901" y="5784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743E8A7-5FD7-0FB3-9ADD-A997BF3E2B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2FD3175-6A14-24B3-BEB8-7E122FE63F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3F7B7-5C7A-3281-2C9C-2E6E60F23F68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42697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57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58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60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4562</TotalTime>
  <Words>4666</Words>
  <Application>Microsoft Office PowerPoint</Application>
  <PresentationFormat>와이드스크린</PresentationFormat>
  <Paragraphs>728</Paragraphs>
  <Slides>60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9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1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Contents</vt:lpstr>
      <vt:lpstr>Derivative</vt:lpstr>
      <vt:lpstr>Derivative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Function(L1, L2)</vt:lpstr>
      <vt:lpstr>Optimization of Loss Function(L1, L2)</vt:lpstr>
      <vt:lpstr>coefficients of L1, L2 regression</vt:lpstr>
      <vt:lpstr>Derivatives of L1, L2 Loss Function</vt:lpstr>
      <vt:lpstr>Metaphor of L1, L2 Loss Function</vt:lpstr>
      <vt:lpstr>Contour map of L1, L2</vt:lpstr>
      <vt:lpstr>Geometry metaphor of L1, L2</vt:lpstr>
      <vt:lpstr>Optimization task of L1, L2</vt:lpstr>
      <vt:lpstr>Optimization of Loss Function</vt:lpstr>
      <vt:lpstr>bias-variance tradeoff</vt:lpstr>
      <vt:lpstr>bias-variance tradeoff</vt:lpstr>
      <vt:lpstr>Ridge linear regression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57</cp:revision>
  <dcterms:created xsi:type="dcterms:W3CDTF">2026-04-11T22:24:40Z</dcterms:created>
  <dcterms:modified xsi:type="dcterms:W3CDTF">2026-06-05T05:55:47Z</dcterms:modified>
</cp:coreProperties>
</file>