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61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58" r:id="rId13"/>
    <p:sldId id="379" r:id="rId14"/>
    <p:sldId id="377" r:id="rId15"/>
    <p:sldId id="378" r:id="rId16"/>
    <p:sldId id="369" r:id="rId17"/>
    <p:sldId id="370" r:id="rId18"/>
    <p:sldId id="371" r:id="rId19"/>
    <p:sldId id="372" r:id="rId20"/>
    <p:sldId id="373" r:id="rId21"/>
    <p:sldId id="374" r:id="rId22"/>
    <p:sldId id="375" r:id="rId23"/>
    <p:sldId id="376" r:id="rId24"/>
    <p:sldId id="343" r:id="rId25"/>
    <p:sldId id="259" r:id="rId26"/>
    <p:sldId id="318" r:id="rId27"/>
    <p:sldId id="359" r:id="rId28"/>
    <p:sldId id="360" r:id="rId29"/>
    <p:sldId id="361" r:id="rId30"/>
    <p:sldId id="317" r:id="rId31"/>
    <p:sldId id="319" r:id="rId32"/>
    <p:sldId id="284" r:id="rId33"/>
    <p:sldId id="287" r:id="rId34"/>
    <p:sldId id="286" r:id="rId35"/>
    <p:sldId id="266" r:id="rId36"/>
    <p:sldId id="288" r:id="rId37"/>
    <p:sldId id="344" r:id="rId38"/>
    <p:sldId id="267" r:id="rId39"/>
    <p:sldId id="285" r:id="rId40"/>
    <p:sldId id="272" r:id="rId41"/>
    <p:sldId id="273" r:id="rId42"/>
    <p:sldId id="345" r:id="rId43"/>
    <p:sldId id="269" r:id="rId44"/>
    <p:sldId id="346" r:id="rId45"/>
    <p:sldId id="308" r:id="rId46"/>
    <p:sldId id="320" r:id="rId47"/>
    <p:sldId id="310" r:id="rId48"/>
    <p:sldId id="311" r:id="rId49"/>
    <p:sldId id="312" r:id="rId50"/>
    <p:sldId id="347" r:id="rId51"/>
    <p:sldId id="321" r:id="rId52"/>
    <p:sldId id="322" r:id="rId53"/>
    <p:sldId id="323" r:id="rId54"/>
    <p:sldId id="324" r:id="rId55"/>
    <p:sldId id="348" r:id="rId56"/>
    <p:sldId id="335" r:id="rId57"/>
    <p:sldId id="336" r:id="rId58"/>
    <p:sldId id="337" r:id="rId59"/>
    <p:sldId id="338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sorterViewPr>
    <p:cViewPr varScale="1">
      <p:scale>
        <a:sx n="1" d="1"/>
        <a:sy n="1" d="1"/>
      </p:scale>
      <p:origin x="0" y="-13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2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gi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wikipedia.org/wiki/Contingency_tabl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wikipedia.org/wiki/Chi-squared_distribu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en.wikipedia.org/wiki/Partial_derivative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medium.com/@clyyuanzi/backpropagation-with-vectors-in-neural-network-1ca40582ecca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medium.com/@clyyuanzi/backpropagation-with-vectors-in-neural-network-1ca40582ecca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medium.com/@clyyuanzi/backpropagation-with-vectors-in-neural-network-1ca40582ecca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72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66970D9-857C-92F0-1624-1E05E5215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8444" y="2628287"/>
            <a:ext cx="3590926" cy="3418561"/>
          </a:xfrm>
          <a:prstGeom prst="rect">
            <a:avLst/>
          </a:prstGeom>
        </p:spPr>
      </p:pic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012E2A5C-B7F7-E780-9A16-A12FFD94EF3A}"/>
              </a:ext>
            </a:extLst>
          </p:cNvPr>
          <p:cNvSpPr/>
          <p:nvPr/>
        </p:nvSpPr>
        <p:spPr>
          <a:xfrm rot="10800000">
            <a:off x="1282619" y="3171291"/>
            <a:ext cx="914400" cy="691820"/>
          </a:xfrm>
          <a:prstGeom prst="triangl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이등변 삼각형 16">
            <a:extLst>
              <a:ext uri="{FF2B5EF4-FFF2-40B4-BE49-F238E27FC236}">
                <a16:creationId xmlns:a16="http://schemas.microsoft.com/office/drawing/2014/main" id="{E51B1900-13D2-F7A2-C1F6-7FDE07AD0377}"/>
              </a:ext>
            </a:extLst>
          </p:cNvPr>
          <p:cNvSpPr/>
          <p:nvPr/>
        </p:nvSpPr>
        <p:spPr>
          <a:xfrm>
            <a:off x="2944729" y="4561941"/>
            <a:ext cx="914400" cy="691820"/>
          </a:xfrm>
          <a:prstGeom prst="triangl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289895E-86ED-62DF-6A92-6F97D35A61A2}"/>
              </a:ext>
            </a:extLst>
          </p:cNvPr>
          <p:cNvSpPr/>
          <p:nvPr/>
        </p:nvSpPr>
        <p:spPr>
          <a:xfrm>
            <a:off x="1058781" y="3545776"/>
            <a:ext cx="2905125" cy="132397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95266" y="2607240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66" y="2607240"/>
                <a:ext cx="2003506" cy="369332"/>
              </a:xfrm>
              <a:prstGeom prst="rect">
                <a:avLst/>
              </a:prstGeom>
              <a:blipFill>
                <a:blip r:embed="rId5"/>
                <a:stretch>
                  <a:fillRect l="-2432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610728" y="5448480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728" y="5448480"/>
                <a:ext cx="1727660" cy="369332"/>
              </a:xfrm>
              <a:prstGeom prst="rect">
                <a:avLst/>
              </a:prstGeom>
              <a:blipFill>
                <a:blip r:embed="rId6"/>
                <a:stretch>
                  <a:fillRect l="-2817" t="-10000" r="-2465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154031" y="3921690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4031" y="3921690"/>
                <a:ext cx="2800348" cy="646331"/>
              </a:xfrm>
              <a:prstGeom prst="rect">
                <a:avLst/>
              </a:prstGeom>
              <a:blipFill>
                <a:blip r:embed="rId7"/>
                <a:stretch>
                  <a:fillRect l="-1739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4187744" y="3441001"/>
                <a:ext cx="3146009" cy="12861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altLang="ko-KR" dirty="0"/>
              </a:p>
              <a:p>
                <a:pPr>
                  <a:lnSpc>
                    <a:spcPct val="150000"/>
                  </a:lnSpc>
                </a:pPr>
                <a:r>
                  <a:rPr lang="en-US" altLang="ko-KR" dirty="0"/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dirty="0"/>
                  <a:t>= The sensitivity to change</a:t>
                </a:r>
                <a:endParaRPr lang="ko-KR" alt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7744" y="3441001"/>
                <a:ext cx="3146009" cy="1286186"/>
              </a:xfrm>
              <a:prstGeom prst="rect">
                <a:avLst/>
              </a:prstGeom>
              <a:blipFill>
                <a:blip r:embed="rId8"/>
                <a:stretch>
                  <a:fillRect l="-1744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005F5-AC19-1F98-2D42-AD97D1B87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F74FFF3-562C-4946-F44D-4C8CD65C0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Contingency_table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9FD020A-0F20-A516-448E-E3E802C23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1518E4E-D918-DB2B-D10B-0092A23ED04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30036" y="3371570"/>
            <a:ext cx="6099201" cy="2418496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C976022E-007E-29B4-733F-4E5D7AB44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30" y="1321457"/>
            <a:ext cx="10557988" cy="1634179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암환자 중에 커피를 마신 사람비율이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85%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(=425/500)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이니 커피를 마시면 암에 걸릴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85%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주장하면 맞는 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커피를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마시는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암에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걸릴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마시는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높을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커피 섭취와 암 발병 사이에 통계적으로 유의미한 관계가 있는지 검증하라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카이제곱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p-value)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84C7B33-F32B-BBCD-5D44-26418D3690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237" y="3371570"/>
            <a:ext cx="3830540" cy="579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60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17F2-A114-A4C0-0165-6D7AEC761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464BA57-A5FF-0FDA-4FA7-DEF300DD4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Chi-</a:t>
            </a:r>
            <a:r>
              <a:rPr lang="en-US" altLang="ko-KR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squared_distribution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618DDEE-CA6A-7B2A-175B-E8EC19FA8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24E4E58-9F2B-D1F7-9597-2BAA84C051F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0891" y="2138546"/>
            <a:ext cx="5368704" cy="212883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94855CE-9CA7-9D81-E949-81FCA7AEF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7049" y="2154700"/>
            <a:ext cx="4205966" cy="114913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133356-5EE4-D991-3702-040E2D4A1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891" y="4472125"/>
            <a:ext cx="5431164" cy="21288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4B0474-CCE1-B3FD-553E-057947C9B465}"/>
              </a:ext>
            </a:extLst>
          </p:cNvPr>
          <p:cNvSpPr txBox="1"/>
          <p:nvPr/>
        </p:nvSpPr>
        <p:spPr>
          <a:xfrm>
            <a:off x="2314267" y="3029754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325</a:t>
            </a:r>
            <a:endParaRPr lang="ko-KR" altLang="en-US" sz="1200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DA1E16-7AD0-8481-E03A-BB82E0354303}"/>
              </a:ext>
            </a:extLst>
          </p:cNvPr>
          <p:cNvSpPr txBox="1"/>
          <p:nvPr/>
        </p:nvSpPr>
        <p:spPr>
          <a:xfrm>
            <a:off x="4036387" y="3029754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64,675</a:t>
            </a:r>
            <a:endParaRPr lang="ko-KR" altLang="en-US" sz="1200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4F7332-8061-5ED7-B2E3-36CD1C9BB44B}"/>
              </a:ext>
            </a:extLst>
          </p:cNvPr>
          <p:cNvSpPr txBox="1"/>
          <p:nvPr/>
        </p:nvSpPr>
        <p:spPr>
          <a:xfrm>
            <a:off x="2314267" y="3473619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175</a:t>
            </a:r>
            <a:endParaRPr lang="ko-KR" altLang="en-US" sz="1200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6FA383-0F5E-DEFB-3557-1FBA89321188}"/>
              </a:ext>
            </a:extLst>
          </p:cNvPr>
          <p:cNvSpPr txBox="1"/>
          <p:nvPr/>
        </p:nvSpPr>
        <p:spPr>
          <a:xfrm>
            <a:off x="4036387" y="346740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34,825</a:t>
            </a:r>
            <a:endParaRPr lang="ko-KR" altLang="en-US" sz="1200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1" name="그림 20" descr="undefined">
            <a:extLst>
              <a:ext uri="{FF2B5EF4-FFF2-40B4-BE49-F238E27FC236}">
                <a16:creationId xmlns:a16="http://schemas.microsoft.com/office/drawing/2014/main" id="{C79C31FF-D125-04E3-4CAB-ADCC1B4D3C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6232" y="3337786"/>
            <a:ext cx="4115323" cy="27456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60B4546-E831-95D7-77EF-72F321A6D932}"/>
              </a:ext>
            </a:extLst>
          </p:cNvPr>
          <p:cNvSpPr txBox="1"/>
          <p:nvPr/>
        </p:nvSpPr>
        <p:spPr>
          <a:xfrm>
            <a:off x="6015990" y="6151389"/>
            <a:ext cx="2796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wiki/Chi-</a:t>
            </a:r>
            <a:r>
              <a:rPr lang="en-US" altLang="ko-KR" sz="1400" dirty="0" err="1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squared_distribution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6641FE-7D55-E04D-8FD8-9F5985BA22D5}"/>
              </a:ext>
            </a:extLst>
          </p:cNvPr>
          <p:cNvSpPr txBox="1"/>
          <p:nvPr/>
        </p:nvSpPr>
        <p:spPr>
          <a:xfrm>
            <a:off x="10883383" y="6293036"/>
            <a:ext cx="771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88.345</a:t>
            </a:r>
            <a:endParaRPr lang="ko-KR" altLang="en-US" sz="1200" b="1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BF74D94-737E-8B48-7F71-95FE5C42AADB}"/>
              </a:ext>
            </a:extLst>
          </p:cNvPr>
          <p:cNvCxnSpPr/>
          <p:nvPr/>
        </p:nvCxnSpPr>
        <p:spPr>
          <a:xfrm flipV="1">
            <a:off x="11178657" y="5862522"/>
            <a:ext cx="0" cy="36746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9204481-F0E6-EC2D-0C20-D95FB82870FD}"/>
              </a:ext>
            </a:extLst>
          </p:cNvPr>
          <p:cNvSpPr txBox="1"/>
          <p:nvPr/>
        </p:nvSpPr>
        <p:spPr>
          <a:xfrm>
            <a:off x="10470115" y="5245472"/>
            <a:ext cx="1266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P-value&lt; 0.001</a:t>
            </a:r>
            <a:endParaRPr lang="ko-KR" altLang="en-US" sz="1200" b="1" dirty="0"/>
          </a:p>
        </p:txBody>
      </p:sp>
      <p:sp>
        <p:nvSpPr>
          <p:cNvPr id="28" name="내용 개체 틀 2">
            <a:extLst>
              <a:ext uri="{FF2B5EF4-FFF2-40B4-BE49-F238E27FC236}">
                <a16:creationId xmlns:a16="http://schemas.microsoft.com/office/drawing/2014/main" id="{41CD307C-3F32-959B-AFFA-B38C9BF66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30" y="1321459"/>
            <a:ext cx="10557988" cy="512522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정상적인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경우를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생각하면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커피를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마시고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암환자인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동시확률변수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 325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3750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  <p:bldP spid="22" grpId="0"/>
      <p:bldP spid="24" grpId="0"/>
      <p:bldP spid="2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11D93-2528-EF76-E1A5-9D73A4587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2AEE40D-1F6F-E156-5B59-005CF3BBA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1AE10A-4390-846E-D6A8-A03A33520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5760CEA-B2AB-CED6-D9BA-41CED91E6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115504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권에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 USD,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자루에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USD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권과 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자루를 사면 총 얼마일까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2AFAE-0AC7-4807-F916-EE84617C8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067" y="2734541"/>
            <a:ext cx="6645216" cy="333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429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DF759-6AEB-71D0-244D-2777F740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5D571C-F8B6-BA14-5718-C4D8E28D8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Partial_derivative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FE8FC59-9CD2-B426-02A4-DAEC1FE6B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7188940-F80F-38B0-1278-94C54F9CC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1421743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공책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권당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 USD,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자루에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 USD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5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* 10$ + 7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자루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*5$ = 85 $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/>
              <a:t>어떤 물건의 </a:t>
            </a:r>
            <a:r>
              <a:rPr lang="en-US" altLang="ko-KR" dirty="0"/>
              <a:t>‘</a:t>
            </a:r>
            <a:r>
              <a:rPr lang="ko-KR" altLang="en-US" dirty="0"/>
              <a:t>단가</a:t>
            </a:r>
            <a:r>
              <a:rPr lang="en-US" altLang="ko-KR" dirty="0"/>
              <a:t>’</a:t>
            </a:r>
            <a:r>
              <a:rPr lang="ko-KR" altLang="en-US" dirty="0"/>
              <a:t>를 구해</a:t>
            </a:r>
            <a:r>
              <a:rPr lang="en-US" altLang="ko-KR" dirty="0"/>
              <a:t>, </a:t>
            </a:r>
            <a:r>
              <a:rPr lang="ko-KR" altLang="en-US" dirty="0"/>
              <a:t>원하는 개수만큼 곱하는 기본 원리를 문자로 공식화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40329A-4871-AA68-D1AD-A938F504366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31014" y="3140084"/>
            <a:ext cx="3440159" cy="279399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D467A10-0F7F-7A7A-1208-FA7CFF85D52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06554" y="3159134"/>
            <a:ext cx="3936971" cy="75737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DD7B71B-A5C6-CB14-9ED3-FE1F32EA219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44732" y="3159134"/>
            <a:ext cx="2690093" cy="44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773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15AEA-9E90-24FC-BFB7-E912E9D31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97EE602-42E3-A339-CAE4-269A210FF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FAD434-F9AB-54A6-F906-D8BB5D389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78645B7-B210-8557-C2D7-836CD5E03D08}"/>
              </a:ext>
            </a:extLst>
          </p:cNvPr>
          <p:cNvGrpSpPr/>
          <p:nvPr/>
        </p:nvGrpSpPr>
        <p:grpSpPr>
          <a:xfrm>
            <a:off x="2474191" y="1586689"/>
            <a:ext cx="6042174" cy="4486574"/>
            <a:chOff x="5148565" y="1704676"/>
            <a:chExt cx="6042174" cy="4486574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29CDD43C-D9B9-9604-F3F1-0B7A1A483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48565" y="1704676"/>
              <a:ext cx="6042174" cy="4486574"/>
            </a:xfrm>
            <a:prstGeom prst="rect">
              <a:avLst/>
            </a:prstGeom>
          </p:spPr>
        </p:pic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CB7854CF-A522-ADFA-44FB-C811972A77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17639" y="4614672"/>
              <a:ext cx="882777" cy="69835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4099B866-302D-0DF5-074C-925BD450E9A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17639" y="3541776"/>
              <a:ext cx="839783" cy="9992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1469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AD9DC-E6AC-E43D-3136-AACB368A6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486C17-656D-927D-1869-349A6A141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total,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8242FBA-B4A4-3799-8FB1-ED7391245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405F9EB-A2DF-B21F-F567-3B2CF786F88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22883" y="1884602"/>
            <a:ext cx="6056344" cy="38774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105F32F-5A2A-026E-689F-B7EE16D35A8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426693" y="3546253"/>
            <a:ext cx="4356416" cy="9175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1A39B7-4F99-CB91-BD98-5C454675112A}"/>
              </a:ext>
            </a:extLst>
          </p:cNvPr>
          <p:cNvSpPr txBox="1"/>
          <p:nvPr/>
        </p:nvSpPr>
        <p:spPr>
          <a:xfrm>
            <a:off x="7365669" y="3090446"/>
            <a:ext cx="4501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 추가비용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+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펜 추가비용</a:t>
            </a:r>
          </a:p>
        </p:txBody>
      </p:sp>
    </p:spTree>
    <p:extLst>
      <p:ext uri="{BB962C8B-B14F-4D97-AF65-F5344CB8AC3E}">
        <p14:creationId xmlns:p14="http://schemas.microsoft.com/office/powerpoint/2010/main" val="354364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6B968-0F38-8E07-8216-6DAE45577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866ECE4-04AE-DA3D-2BAB-E98A127C7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E0AF7E2-175E-ED6C-7C31-95E79FEB4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4567514-F205-2E09-5119-27AC980CA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952" y="3080093"/>
            <a:ext cx="3555930" cy="127264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E7DDC2A-2A17-6858-3B42-201C65EBD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813" y="3080094"/>
            <a:ext cx="5448772" cy="1272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D100FD-4C9E-3693-A111-9232A0868F34}"/>
              </a:ext>
            </a:extLst>
          </p:cNvPr>
          <p:cNvSpPr txBox="1"/>
          <p:nvPr/>
        </p:nvSpPr>
        <p:spPr>
          <a:xfrm>
            <a:off x="915383" y="1338838"/>
            <a:ext cx="10646725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공책의 개수 변화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펜의 개수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시스템에 입력되면, 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자코비안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(Jacobian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행렬을 거쳐 세 가지 결과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dC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무게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부피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dV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출력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5CA6F3A-111E-0B8E-9D49-491C78668BEB}"/>
              </a:ext>
            </a:extLst>
          </p:cNvPr>
          <p:cNvSpPr/>
          <p:nvPr/>
        </p:nvSpPr>
        <p:spPr>
          <a:xfrm>
            <a:off x="2438399" y="2876551"/>
            <a:ext cx="1485901" cy="16954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479779-9D26-8534-F915-3DE5ED92ACD1}"/>
              </a:ext>
            </a:extLst>
          </p:cNvPr>
          <p:cNvSpPr txBox="1"/>
          <p:nvPr/>
        </p:nvSpPr>
        <p:spPr>
          <a:xfrm>
            <a:off x="2105025" y="4854875"/>
            <a:ext cx="2943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자코비안</a:t>
            </a:r>
            <a:r>
              <a:rPr lang="en-US" altLang="ko-KR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(Jacobian</a:t>
            </a:r>
            <a:r>
              <a:rPr lang="ko-KR" altLang="en-US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Matrix)</a:t>
            </a:r>
            <a:r>
              <a:rPr lang="ko-KR" altLang="en-US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53839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B29B9-C7DA-3B35-F78B-956B5A8F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C90D05-60DA-4D2A-C5DC-92418E30E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propagation,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80E8A3-41EC-979C-E1EB-5A8E1118D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F9831C-0FA0-0A2E-8954-C9E399A2F147}"/>
              </a:ext>
            </a:extLst>
          </p:cNvPr>
          <p:cNvSpPr txBox="1"/>
          <p:nvPr/>
        </p:nvSpPr>
        <p:spPr>
          <a:xfrm>
            <a:off x="990600" y="1200150"/>
            <a:ext cx="563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backpropagation-with-vectors-in-neural-network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E3C580-31A0-8A3C-16A1-B2B91EB29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165" y="1635489"/>
            <a:ext cx="1691787" cy="153175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FE34054-FD03-9D70-D5C2-22CFB32203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138" y="4216696"/>
            <a:ext cx="6227675" cy="2425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F203145-6276-59E1-9BD5-36F4712BD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138" y="1635489"/>
            <a:ext cx="6227675" cy="2062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B3D8E4B-EFD8-36F2-7894-DC6E9C786D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165" y="4216696"/>
            <a:ext cx="2644369" cy="73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403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2748-A27B-C995-DC95-4E8DE9E57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249A593-0F9C-1E34-88A2-41FDCE2EE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propagation,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12D4D03-92ED-3DC9-08C9-5CCD7D6FD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20D851-7B68-F857-63B5-ACD09C5115D1}"/>
              </a:ext>
            </a:extLst>
          </p:cNvPr>
          <p:cNvSpPr txBox="1"/>
          <p:nvPr/>
        </p:nvSpPr>
        <p:spPr>
          <a:xfrm>
            <a:off x="990600" y="1200150"/>
            <a:ext cx="563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backpropagation-with-vectors-in-neural-network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8177884-08FF-673E-5823-1A86D56D7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089" y="1864110"/>
            <a:ext cx="6929436" cy="341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22A182E-27FA-E08E-E6C3-221FB2A68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1864110"/>
            <a:ext cx="3600450" cy="146246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C9F157C-A3AA-1DFE-2287-161AB336E6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3873" y="4127270"/>
            <a:ext cx="5238750" cy="193202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DB80C939-B42C-67F1-DBDC-F9529BD29246}"/>
              </a:ext>
            </a:extLst>
          </p:cNvPr>
          <p:cNvSpPr/>
          <p:nvPr/>
        </p:nvSpPr>
        <p:spPr>
          <a:xfrm>
            <a:off x="8943975" y="1676400"/>
            <a:ext cx="371475" cy="1835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DB45653-A6FC-54FF-388B-787F9FCBA5E4}"/>
              </a:ext>
            </a:extLst>
          </p:cNvPr>
          <p:cNvSpPr/>
          <p:nvPr/>
        </p:nvSpPr>
        <p:spPr>
          <a:xfrm>
            <a:off x="9925050" y="1676400"/>
            <a:ext cx="371475" cy="1835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75869F-DAC0-F288-7B4B-509CECFDECDB}"/>
              </a:ext>
            </a:extLst>
          </p:cNvPr>
          <p:cNvSpPr/>
          <p:nvPr/>
        </p:nvSpPr>
        <p:spPr>
          <a:xfrm>
            <a:off x="10972800" y="1676400"/>
            <a:ext cx="371475" cy="1835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530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40343-8C7F-64B0-7312-BD4F865E9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539D125-79B9-D020-3B32-187CECFC5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propagation,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404FBC4-FDC7-B9F5-F877-469012283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058B5A-B268-2FAA-A4C9-14A6F48B4D14}"/>
              </a:ext>
            </a:extLst>
          </p:cNvPr>
          <p:cNvSpPr txBox="1"/>
          <p:nvPr/>
        </p:nvSpPr>
        <p:spPr>
          <a:xfrm>
            <a:off x="990600" y="1200150"/>
            <a:ext cx="563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backpropagation-with-vectors-in-neural-network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119708-829F-A31C-8B13-FB619427234B}"/>
              </a:ext>
            </a:extLst>
          </p:cNvPr>
          <p:cNvSpPr txBox="1"/>
          <p:nvPr/>
        </p:nvSpPr>
        <p:spPr>
          <a:xfrm>
            <a:off x="1038225" y="4348460"/>
            <a:ext cx="44862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 chain rule in matrix form for a layer with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column vector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input and output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EA53E3B-DC8E-9DD9-90E5-13A32026F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885" y="2377218"/>
            <a:ext cx="4076915" cy="18377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0FD3F19-96F1-AC8B-8868-C5C82DB1E372}"/>
              </a:ext>
            </a:extLst>
          </p:cNvPr>
          <p:cNvSpPr txBox="1"/>
          <p:nvPr/>
        </p:nvSpPr>
        <p:spPr>
          <a:xfrm>
            <a:off x="6419850" y="4348460"/>
            <a:ext cx="38195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 chain rule in matrix form for a layer with </a:t>
            </a:r>
            <a:r>
              <a:rPr lang="en-US" altLang="ko-KR" sz="1400" b="1" dirty="0">
                <a:solidFill>
                  <a:srgbClr val="00B0F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row vector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input and output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C7FD839-C0B8-E655-1C4F-679954918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73" y="2332633"/>
            <a:ext cx="3318677" cy="1882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8704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C140-19C1-FF60-32D3-115F3E66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54E0AC5-D3C1-B8B7-69EF-35F0F5F46456}"/>
              </a:ext>
            </a:extLst>
          </p:cNvPr>
          <p:cNvSpPr/>
          <p:nvPr/>
        </p:nvSpPr>
        <p:spPr>
          <a:xfrm>
            <a:off x="1104901" y="31084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B2C369-3EAE-1018-CAB6-CC74CB2A6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2C8B3D-33E6-708C-8387-2690255B2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6185B-8542-FE99-5671-8DA2CA03F1E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3127431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B11-9DC9-C05E-223E-124C8342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DB16239-B20F-BC48-736D-3082EA50148A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2BD48F-2F5A-4C41-BA71-11FED4C9D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377D60-D9A5-B173-E154-8880F0E3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7297F7-CF55-46BF-2B72-8695AB5D800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811152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8BCF9-2DD5-4402-26A1-C70FD99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D22EADE-B559-C35F-4511-5DFDCC9B3E05}"/>
              </a:ext>
            </a:extLst>
          </p:cNvPr>
          <p:cNvSpPr/>
          <p:nvPr/>
        </p:nvSpPr>
        <p:spPr>
          <a:xfrm>
            <a:off x="1104901" y="4165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9DA16A-B7E6-69AB-D30B-E53C7395F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5CF079-75FE-E617-58C5-C2A52AF049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31E5-EF4D-BDEC-96E8-D2D77C485533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0365759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EF45-0E44-8A4B-3A79-11F31648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A7EFDDB-AC97-FC35-30F4-DF70038DB895}"/>
              </a:ext>
            </a:extLst>
          </p:cNvPr>
          <p:cNvSpPr/>
          <p:nvPr/>
        </p:nvSpPr>
        <p:spPr>
          <a:xfrm>
            <a:off x="1104901" y="47181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CBFCC7-7159-7F0E-D7F2-FF26123BB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E5F6AC-401D-8053-31BC-31592DA0F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77E61E-8B1A-CCCC-9AF8-A7075EBF441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20927300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E16DE-16B8-5D03-3DCF-10B842B9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1B44F31-6A3C-4AA4-9525-B7425A2505C9}"/>
              </a:ext>
            </a:extLst>
          </p:cNvPr>
          <p:cNvSpPr/>
          <p:nvPr/>
        </p:nvSpPr>
        <p:spPr>
          <a:xfrm>
            <a:off x="1104901" y="52610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1AFA23-AF0B-3263-B529-4ABD6DD3C7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D58A28-2844-CBB4-61EF-CA14388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315CD-1D90-3AF7-99C4-58606224AE29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8685867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3497</TotalTime>
  <Words>4042</Words>
  <Application>Microsoft Office PowerPoint</Application>
  <PresentationFormat>와이드스크린</PresentationFormat>
  <Paragraphs>679</Paragraphs>
  <Slides>59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8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python sympy</vt:lpstr>
      <vt:lpstr>Derivative</vt:lpstr>
      <vt:lpstr>Contingency_table</vt:lpstr>
      <vt:lpstr>Chi-squared_distribution</vt:lpstr>
      <vt:lpstr>partial derivative</vt:lpstr>
      <vt:lpstr>Partial_derivative</vt:lpstr>
      <vt:lpstr>partial derivative</vt:lpstr>
      <vt:lpstr>total, partial derivative</vt:lpstr>
      <vt:lpstr>Jacobian Matrix</vt:lpstr>
      <vt:lpstr>back propagation, jacobian matrix</vt:lpstr>
      <vt:lpstr>back propagation, jacobian matrix</vt:lpstr>
      <vt:lpstr>back propagation, jacobian matrix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43</cp:revision>
  <dcterms:created xsi:type="dcterms:W3CDTF">2026-04-11T22:24:40Z</dcterms:created>
  <dcterms:modified xsi:type="dcterms:W3CDTF">2026-05-21T02:20:46Z</dcterms:modified>
</cp:coreProperties>
</file>