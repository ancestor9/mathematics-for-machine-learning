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7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43" r:id="rId13"/>
    <p:sldId id="379" r:id="rId14"/>
    <p:sldId id="380" r:id="rId15"/>
    <p:sldId id="358" r:id="rId16"/>
    <p:sldId id="381" r:id="rId17"/>
    <p:sldId id="259" r:id="rId18"/>
    <p:sldId id="318" r:id="rId19"/>
    <p:sldId id="359" r:id="rId20"/>
    <p:sldId id="360" r:id="rId21"/>
    <p:sldId id="361" r:id="rId22"/>
    <p:sldId id="317" r:id="rId23"/>
    <p:sldId id="319" r:id="rId24"/>
    <p:sldId id="284" r:id="rId25"/>
    <p:sldId id="287" r:id="rId26"/>
    <p:sldId id="286" r:id="rId27"/>
    <p:sldId id="266" r:id="rId28"/>
    <p:sldId id="288" r:id="rId29"/>
    <p:sldId id="382" r:id="rId30"/>
    <p:sldId id="267" r:id="rId31"/>
    <p:sldId id="285" r:id="rId32"/>
    <p:sldId id="272" r:id="rId33"/>
    <p:sldId id="273" r:id="rId34"/>
    <p:sldId id="383" r:id="rId35"/>
    <p:sldId id="269" r:id="rId36"/>
    <p:sldId id="384" r:id="rId37"/>
    <p:sldId id="308" r:id="rId38"/>
    <p:sldId id="320" r:id="rId39"/>
    <p:sldId id="387" r:id="rId40"/>
    <p:sldId id="310" r:id="rId41"/>
    <p:sldId id="388" r:id="rId42"/>
    <p:sldId id="389" r:id="rId43"/>
    <p:sldId id="390" r:id="rId44"/>
    <p:sldId id="311" r:id="rId45"/>
    <p:sldId id="312" r:id="rId46"/>
    <p:sldId id="385" r:id="rId47"/>
    <p:sldId id="321" r:id="rId48"/>
    <p:sldId id="322" r:id="rId49"/>
    <p:sldId id="323" r:id="rId50"/>
    <p:sldId id="324" r:id="rId51"/>
    <p:sldId id="386" r:id="rId52"/>
    <p:sldId id="335" r:id="rId53"/>
    <p:sldId id="336" r:id="rId54"/>
    <p:sldId id="337" r:id="rId55"/>
    <p:sldId id="338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294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67.png"/><Relationship Id="rId7" Type="http://schemas.openxmlformats.org/officeDocument/2006/relationships/image" Target="../media/image60.png"/><Relationship Id="rId2" Type="http://schemas.openxmlformats.org/officeDocument/2006/relationships/hyperlink" Target="https://en.wikipedia.org/wiki/Linear_regress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ornell.edu/courses/cs4780/2018sp/lectures/lecturenote08.html" TargetMode="External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7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5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79D25-B193-8DB3-E09B-76B8A72A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74175AB-2F00-B7A5-9237-70812891B0A9}"/>
              </a:ext>
            </a:extLst>
          </p:cNvPr>
          <p:cNvSpPr/>
          <p:nvPr/>
        </p:nvSpPr>
        <p:spPr>
          <a:xfrm>
            <a:off x="1104901" y="3117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C4CBB-0ACA-2E0D-5D5D-C8C9AC650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79CBA1-A476-2653-3142-D5292AE3B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EC6B-6251-6C67-499B-DA31BB550E6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048553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 xmlns="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</a:t>
            </a:r>
            <a:r>
              <a:rPr lang="en-US" altLang="ko-KR" dirty="0"/>
              <a:t>,</a:t>
            </a:r>
            <a:r>
              <a:rPr lang="ko-KR" altLang="en-US" dirty="0"/>
              <a:t>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205544-8AFC-A571-2BA3-1FA12F75225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32256" y="4177613"/>
            <a:ext cx="828764" cy="482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BF96D6-B550-99CE-A26A-677FC7F4D897}"/>
              </a:ext>
            </a:extLst>
          </p:cNvPr>
          <p:cNvGrpSpPr/>
          <p:nvPr/>
        </p:nvGrpSpPr>
        <p:grpSpPr>
          <a:xfrm>
            <a:off x="6375576" y="4757168"/>
            <a:ext cx="1785444" cy="527169"/>
            <a:chOff x="6375576" y="4757168"/>
            <a:chExt cx="1785444" cy="527169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623D1EF-EBAA-CEC6-4604-1E74B7DDA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352080" y="4757221"/>
              <a:ext cx="808940" cy="527116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5F9300-F8EC-A6E6-DC47-A86676DD6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375576" y="4757168"/>
              <a:ext cx="1188939" cy="527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5FBF-DC47-80C6-4AEC-E66FD819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E98496D-305F-3053-F591-5FEFAE4FD4F7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AA0CDE0-35EA-B5D8-34D8-CAFA3E3366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3BE607-FDD9-5E0A-251B-4BF9BED4E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AA790-AB8F-1879-7D55-BD8C7A83023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7097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DD6C1-CFD0-3876-8D1A-E9CBFE0A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01E7E6B-84CC-4B6A-3AB3-0D24E86D6D54}"/>
              </a:ext>
            </a:extLst>
          </p:cNvPr>
          <p:cNvSpPr/>
          <p:nvPr/>
        </p:nvSpPr>
        <p:spPr>
          <a:xfrm>
            <a:off x="1104901" y="41942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450445-5DF7-64E1-9238-B817DDEE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10A2F57-17F3-AB82-F3D8-29F5F794C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D0209-96C0-6694-D351-6B9F0C61D77A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74875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36C4-EE77-CCA4-FEA0-B92C7B68C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C709EE6-A145-F705-8620-7F2C3C7023EF}"/>
              </a:ext>
            </a:extLst>
          </p:cNvPr>
          <p:cNvSpPr/>
          <p:nvPr/>
        </p:nvSpPr>
        <p:spPr>
          <a:xfrm>
            <a:off x="1104901" y="46895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993C4B2-C50B-5142-F302-F123F53FB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33A535-7595-7433-FC80-4FF14C9A2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941AE-D08C-0C55-80E8-0D725E91B50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6696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21650F-00C5-3449-5259-48FFAB06FA7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063416"/>
            <a:ext cx="1404705" cy="4942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128B04-3C98-D55D-B84F-2CE3686DA68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813197"/>
            <a:ext cx="3726369" cy="4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58" y="2886969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목적은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아니라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각 모델의 예측 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5C64-2C1F-ED10-2305-AC3FEFC2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6BFBFB-182E-BE0D-F6EC-3B5802EE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DD22321-8722-5365-0508-9396C4052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83C4-9714-B268-35CA-D128C720733C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모델의 특징별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값을 추출하여 아래와 같이 테이블을 생성하라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모델은 단순회귀식으로 변수가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계수 값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 values)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비교하고 토론하라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28B006-1902-0666-407A-741D1CE81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171" y="3059353"/>
            <a:ext cx="10079974" cy="213177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04883D6-624A-023C-D671-0E4B17F02936}"/>
              </a:ext>
            </a:extLst>
          </p:cNvPr>
          <p:cNvSpPr/>
          <p:nvPr/>
        </p:nvSpPr>
        <p:spPr>
          <a:xfrm>
            <a:off x="842210" y="4267200"/>
            <a:ext cx="10644940" cy="9239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646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0444-002E-FCBE-575E-38E8737D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AD03CC8-6144-796E-E068-ACC2812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B0C7EE4-D340-7AFF-980F-0C37C2D3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9561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(Cost)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형태와 </a:t>
                </a:r>
                <a14:m>
                  <m:oMath xmlns:m="http://schemas.openxmlformats.org/officeDocument/2006/math">
                    <m:r>
                      <a:rPr lang="ko-KR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대해 토론하라</a:t>
                </a:r>
                <a:endParaRPr lang="en-US" altLang="ko-KR" sz="20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wiki/</a:t>
                </a:r>
                <a:r>
                  <a:rPr lang="en-US" altLang="ko-KR" sz="2000" dirty="0" err="1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Linear_regression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 행렬식의 회귀식에 대해 토론하라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956159"/>
              </a:xfrm>
              <a:prstGeom prst="rect">
                <a:avLst/>
              </a:prstGeom>
              <a:blipFill>
                <a:blip r:embed="rId3"/>
                <a:stretch>
                  <a:fillRect l="-505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BE45A263-58DF-F964-7347-38E892628C3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39189" y="4386782"/>
            <a:ext cx="3146672" cy="8230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368B17-A096-1719-6EA7-6E190E78863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39189" y="5373195"/>
            <a:ext cx="3146672" cy="81248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FD74CB3-01C8-09F0-9C2D-0ECD446FEF8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39189" y="3416592"/>
            <a:ext cx="3146672" cy="81639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A2F34F9-2651-37FB-82B9-C89F916BA142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347035" y="3264014"/>
            <a:ext cx="1734074" cy="61013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14DC66D-E0CC-98ED-4445-E081D4335434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347035" y="3874151"/>
            <a:ext cx="4924060" cy="61013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37CF39F-F592-1877-0217-14EEDEB277D2}"/>
              </a:ext>
            </a:extLst>
          </p:cNvPr>
          <p:cNvSpPr txBox="1"/>
          <p:nvPr/>
        </p:nvSpPr>
        <p:spPr>
          <a:xfrm>
            <a:off x="1347035" y="263768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(Model)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69455C-4E5A-6884-2B5D-DDB2E3919742}"/>
              </a:ext>
            </a:extLst>
          </p:cNvPr>
          <p:cNvSpPr txBox="1"/>
          <p:nvPr/>
        </p:nvSpPr>
        <p:spPr>
          <a:xfrm>
            <a:off x="7281110" y="2637685"/>
            <a:ext cx="4691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Minimization)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2515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96476-D1BC-93EE-AD7F-698D18F9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5E5055A-FEDA-CD90-6842-D10AD41D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CF6EC08-194F-8A13-AF31-10653A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9F7DB-E7BE-3414-0C44-424E16526041}"/>
              </a:ext>
            </a:extLst>
          </p:cNvPr>
          <p:cNvSpPr txBox="1"/>
          <p:nvPr/>
        </p:nvSpPr>
        <p:spPr>
          <a:xfrm>
            <a:off x="842210" y="1285138"/>
            <a:ext cx="10860262" cy="33636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선형모델</a:t>
            </a:r>
            <a:r>
              <a:rPr lang="en-US" altLang="ko-KR" dirty="0"/>
              <a:t>(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linear_model</a:t>
            </a:r>
            <a:r>
              <a:rPr lang="en-US" altLang="ko-KR" dirty="0"/>
              <a:t>)</a:t>
            </a:r>
            <a:r>
              <a:rPr lang="ko-KR" altLang="en-US" dirty="0"/>
              <a:t>의 수식</a:t>
            </a:r>
            <a:r>
              <a:rPr lang="en-US" altLang="ko-KR" dirty="0"/>
              <a:t>(L2 norm</a:t>
            </a:r>
            <a:r>
              <a:rPr lang="ko-KR" altLang="en-US" dirty="0"/>
              <a:t>을 제곱</a:t>
            </a:r>
            <a:r>
              <a:rPr lang="en-US" altLang="ko-KR" dirty="0"/>
              <a:t>)</a:t>
            </a:r>
            <a:r>
              <a:rPr lang="ko-KR" altLang="en-US" dirty="0"/>
              <a:t>에 대해 토론하라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선형회귀</a:t>
            </a:r>
            <a:r>
              <a:rPr lang="en-US" altLang="ko-KR" dirty="0"/>
              <a:t>, </a:t>
            </a:r>
            <a:r>
              <a:rPr lang="ko-KR" altLang="en-US" dirty="0"/>
              <a:t>기하학적</a:t>
            </a:r>
            <a:r>
              <a:rPr lang="en-US" altLang="ko-KR" dirty="0"/>
              <a:t> </a:t>
            </a:r>
            <a:r>
              <a:rPr lang="ko-KR" altLang="en-US" dirty="0"/>
              <a:t>투영</a:t>
            </a:r>
            <a:r>
              <a:rPr lang="en-US" altLang="ko-KR" dirty="0"/>
              <a:t>(projection), </a:t>
            </a:r>
            <a:r>
              <a:rPr lang="ko-KR" altLang="en-US" dirty="0"/>
              <a:t>미분</a:t>
            </a:r>
            <a:r>
              <a:rPr lang="en-US" altLang="ko-KR" dirty="0"/>
              <a:t>(derivative) </a:t>
            </a:r>
            <a:r>
              <a:rPr lang="ko-KR" altLang="en-US" dirty="0"/>
              <a:t>등 각각의 관점에 대해 토론하자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</a:t>
            </a:r>
            <a:r>
              <a:rPr lang="en-US" altLang="ko-KR" dirty="0" err="1"/>
              <a:t>load_diabetes</a:t>
            </a:r>
            <a:r>
              <a:rPr lang="en-US" altLang="ko-KR" dirty="0"/>
              <a:t> </a:t>
            </a:r>
            <a:r>
              <a:rPr lang="ko-KR" altLang="en-US" dirty="0"/>
              <a:t>를 바탕으로 </a:t>
            </a:r>
            <a:r>
              <a:rPr lang="en-US" altLang="ko-KR" dirty="0" err="1"/>
              <a:t>train_test_split</a:t>
            </a:r>
            <a:r>
              <a:rPr lang="ko-KR" altLang="en-US" dirty="0"/>
              <a:t>를 통해 아래 </a:t>
            </a:r>
            <a:r>
              <a:rPr lang="en-US" altLang="ko-KR" dirty="0"/>
              <a:t>3</a:t>
            </a:r>
            <a:r>
              <a:rPr lang="ko-KR" altLang="en-US" dirty="0"/>
              <a:t>가지 방법으로 </a:t>
            </a:r>
            <a:r>
              <a:rPr lang="en-US" altLang="ko-KR" dirty="0"/>
              <a:t>parameters</a:t>
            </a:r>
            <a:r>
              <a:rPr lang="ko-KR" altLang="en-US" dirty="0"/>
              <a:t>를 구하고 비교하라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from </a:t>
            </a:r>
            <a:r>
              <a:rPr lang="en-US" altLang="ko-KR" dirty="0" err="1"/>
              <a:t>sklearn.linear_model</a:t>
            </a:r>
            <a:r>
              <a:rPr lang="en-US" altLang="ko-KR" dirty="0"/>
              <a:t> import </a:t>
            </a:r>
            <a:r>
              <a:rPr lang="en-US" altLang="ko-KR" dirty="0" err="1"/>
              <a:t>LinearRegression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import </a:t>
            </a:r>
            <a:r>
              <a:rPr lang="en-US" altLang="ko-KR" dirty="0" err="1"/>
              <a:t>statsmodels.api</a:t>
            </a:r>
            <a:r>
              <a:rPr lang="en-US" altLang="ko-KR" dirty="0"/>
              <a:t> as </a:t>
            </a:r>
            <a:r>
              <a:rPr lang="en-US" altLang="ko-KR" dirty="0" err="1"/>
              <a:t>sm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import</a:t>
            </a:r>
            <a:r>
              <a:rPr lang="ko-KR" altLang="en-US" dirty="0"/>
              <a:t> </a:t>
            </a:r>
            <a:r>
              <a:rPr lang="en-US" altLang="ko-KR" dirty="0" err="1"/>
              <a:t>numpy</a:t>
            </a:r>
            <a:r>
              <a:rPr lang="ko-KR" altLang="en-US" dirty="0"/>
              <a:t> </a:t>
            </a:r>
            <a:r>
              <a:rPr lang="en-US" altLang="ko-KR" dirty="0"/>
              <a:t>as</a:t>
            </a:r>
            <a:r>
              <a:rPr lang="ko-KR" altLang="en-US" dirty="0"/>
              <a:t> </a:t>
            </a:r>
            <a:r>
              <a:rPr lang="en-US" altLang="ko-KR" dirty="0"/>
              <a:t>np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0602C-5DA9-D570-FF09-907AA9270D7D}"/>
              </a:ext>
            </a:extLst>
          </p:cNvPr>
          <p:cNvSpPr txBox="1"/>
          <p:nvPr/>
        </p:nvSpPr>
        <p:spPr>
          <a:xfrm>
            <a:off x="4017505" y="5293023"/>
            <a:ext cx="3114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lectures/lecturenote08.html</a:t>
            </a:r>
            <a:endParaRPr lang="ko-KR" altLang="en-US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63E79C3-FF2D-57CF-E818-B8E082950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21" y="5164195"/>
            <a:ext cx="1557334" cy="4388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F696029-D14D-AE60-8266-EDE56876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421" y="4311361"/>
            <a:ext cx="4114860" cy="43880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2D6C6-4F06-FD9A-0DC6-9F8423CA4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421" y="4725388"/>
            <a:ext cx="1996140" cy="438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7401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F8B4-A99B-88EE-75C1-6CEF82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0521C8-7C2C-7319-FE80-5CB704F4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053BC1-A3BE-48A2-D122-B726B63A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22338-7AAF-EE81-32F5-A4761D443AA3}"/>
              </a:ext>
            </a:extLst>
          </p:cNvPr>
          <p:cNvSpPr txBox="1"/>
          <p:nvPr/>
        </p:nvSpPr>
        <p:spPr>
          <a:xfrm>
            <a:off x="1020158" y="1143755"/>
            <a:ext cx="10866889" cy="5401479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statsmodels.api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diabetes.data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diabetes.target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diabetes.feature_names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=0.2,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lr.fit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np.insert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_, 0,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lr.intercept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np.c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_[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np.ones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[0], 1)),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sm.OLS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).fit()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results.summary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xname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np.linalg.inv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({'Feature': 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정규 방정식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511E096-1FAC-C38C-D1F6-878AFA65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005" y="5666620"/>
            <a:ext cx="1557334" cy="43880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DACF2A-F3AC-276D-6B10-A239E42DF8EB}"/>
              </a:ext>
            </a:extLst>
          </p:cNvPr>
          <p:cNvSpPr/>
          <p:nvPr/>
        </p:nvSpPr>
        <p:spPr>
          <a:xfrm>
            <a:off x="666750" y="3895724"/>
            <a:ext cx="8610600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7A19D3-0152-5C07-0663-6AC650D0DAF9}"/>
              </a:ext>
            </a:extLst>
          </p:cNvPr>
          <p:cNvSpPr/>
          <p:nvPr/>
        </p:nvSpPr>
        <p:spPr>
          <a:xfrm>
            <a:off x="666750" y="4791074"/>
            <a:ext cx="8610600" cy="76643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85A64-1293-53D7-E18B-43F362D66343}"/>
              </a:ext>
            </a:extLst>
          </p:cNvPr>
          <p:cNvSpPr/>
          <p:nvPr/>
        </p:nvSpPr>
        <p:spPr>
          <a:xfrm>
            <a:off x="666750" y="5657095"/>
            <a:ext cx="8610600" cy="45785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ADA89B-7896-8D38-D27A-94A67FD3F725}"/>
              </a:ext>
            </a:extLst>
          </p:cNvPr>
          <p:cNvSpPr/>
          <p:nvPr/>
        </p:nvSpPr>
        <p:spPr>
          <a:xfrm>
            <a:off x="627380" y="1643723"/>
            <a:ext cx="8610600" cy="1954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A7B5E5-2514-7ABA-6369-6A0B0BF68B8F}"/>
              </a:ext>
            </a:extLst>
          </p:cNvPr>
          <p:cNvSpPr/>
          <p:nvPr/>
        </p:nvSpPr>
        <p:spPr>
          <a:xfrm>
            <a:off x="627380" y="1873740"/>
            <a:ext cx="8610600" cy="19547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46D3C9-B628-D706-7DA8-A1956DCD6FB3}"/>
              </a:ext>
            </a:extLst>
          </p:cNvPr>
          <p:cNvSpPr/>
          <p:nvPr/>
        </p:nvSpPr>
        <p:spPr>
          <a:xfrm>
            <a:off x="627380" y="2111113"/>
            <a:ext cx="8610600" cy="19547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A99CD8-83C9-9A44-E48F-1843A01A2F01}"/>
              </a:ext>
            </a:extLst>
          </p:cNvPr>
          <p:cNvSpPr txBox="1"/>
          <p:nvPr/>
        </p:nvSpPr>
        <p:spPr>
          <a:xfrm>
            <a:off x="9481005" y="4804961"/>
            <a:ext cx="21398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머신러닝은</a:t>
            </a:r>
            <a:r>
              <a:rPr lang="ko-KR" altLang="en-US" sz="1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예측이 목적이지 통계적 의미는 별 관심이 없음</a:t>
            </a:r>
          </a:p>
        </p:txBody>
      </p:sp>
    </p:spTree>
    <p:extLst>
      <p:ext uri="{BB962C8B-B14F-4D97-AF65-F5344CB8AC3E}">
        <p14:creationId xmlns:p14="http://schemas.microsoft.com/office/powerpoint/2010/main" val="132551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8" grpId="0" animBg="1"/>
      <p:bldP spid="20" grpId="0" animBg="1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C0C3-FAC9-49E4-FC88-5140BB5F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3E81F08-88E9-668E-3BDD-00DDD412EE73}"/>
              </a:ext>
            </a:extLst>
          </p:cNvPr>
          <p:cNvSpPr/>
          <p:nvPr/>
        </p:nvSpPr>
        <p:spPr>
          <a:xfrm>
            <a:off x="1104901" y="52705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706AD1A-E9E1-6128-AFC2-C9AB3224F2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5E43E7-59FD-2FB2-0581-9FC41C524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378E37-C7EB-A495-4B0B-495E27377D1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9897596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CB3B-9AF7-4213-B5A1-6605D2A4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418055A-86BD-4F58-4EFC-13F9ED3D8CE7}"/>
              </a:ext>
            </a:extLst>
          </p:cNvPr>
          <p:cNvSpPr/>
          <p:nvPr/>
        </p:nvSpPr>
        <p:spPr>
          <a:xfrm>
            <a:off x="1104901" y="5784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43E8A7-5FD7-0FB3-9ADD-A997BF3E2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FD3175-6A14-24B3-BEB8-7E122FE63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3F7B7-5C7A-3281-2C9C-2E6E60F23F68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42697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4027</TotalTime>
  <Words>4300</Words>
  <Application>Microsoft Office PowerPoint</Application>
  <PresentationFormat>와이드스크린</PresentationFormat>
  <Paragraphs>687</Paragraphs>
  <Slides>55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4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Derivative</vt:lpstr>
      <vt:lpstr>Derivative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Optimization of Loss Function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52</cp:revision>
  <dcterms:created xsi:type="dcterms:W3CDTF">2026-04-11T22:24:40Z</dcterms:created>
  <dcterms:modified xsi:type="dcterms:W3CDTF">2026-05-29T22:30:05Z</dcterms:modified>
</cp:coreProperties>
</file>