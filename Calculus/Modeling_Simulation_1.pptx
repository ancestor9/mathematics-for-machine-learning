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9"/>
  </p:notesMasterIdLst>
  <p:sldIdLst>
    <p:sldId id="256" r:id="rId2"/>
    <p:sldId id="274" r:id="rId3"/>
    <p:sldId id="257" r:id="rId4"/>
    <p:sldId id="290" r:id="rId5"/>
    <p:sldId id="313" r:id="rId6"/>
    <p:sldId id="314" r:id="rId7"/>
    <p:sldId id="315" r:id="rId8"/>
    <p:sldId id="316" r:id="rId9"/>
    <p:sldId id="342" r:id="rId10"/>
    <p:sldId id="260" r:id="rId11"/>
    <p:sldId id="265" r:id="rId12"/>
    <p:sldId id="343" r:id="rId13"/>
    <p:sldId id="379" r:id="rId14"/>
    <p:sldId id="380" r:id="rId15"/>
    <p:sldId id="358" r:id="rId16"/>
    <p:sldId id="381" r:id="rId17"/>
    <p:sldId id="259" r:id="rId18"/>
    <p:sldId id="318" r:id="rId19"/>
    <p:sldId id="359" r:id="rId20"/>
    <p:sldId id="360" r:id="rId21"/>
    <p:sldId id="361" r:id="rId22"/>
    <p:sldId id="317" r:id="rId23"/>
    <p:sldId id="319" r:id="rId24"/>
    <p:sldId id="284" r:id="rId25"/>
    <p:sldId id="287" r:id="rId26"/>
    <p:sldId id="286" r:id="rId27"/>
    <p:sldId id="266" r:id="rId28"/>
    <p:sldId id="288" r:id="rId29"/>
    <p:sldId id="382" r:id="rId30"/>
    <p:sldId id="267" r:id="rId31"/>
    <p:sldId id="285" r:id="rId32"/>
    <p:sldId id="272" r:id="rId33"/>
    <p:sldId id="273" r:id="rId34"/>
    <p:sldId id="383" r:id="rId35"/>
    <p:sldId id="269" r:id="rId36"/>
    <p:sldId id="384" r:id="rId37"/>
    <p:sldId id="308" r:id="rId38"/>
    <p:sldId id="320" r:id="rId39"/>
    <p:sldId id="387" r:id="rId40"/>
    <p:sldId id="310" r:id="rId41"/>
    <p:sldId id="388" r:id="rId42"/>
    <p:sldId id="389" r:id="rId43"/>
    <p:sldId id="390" r:id="rId44"/>
    <p:sldId id="391" r:id="rId45"/>
    <p:sldId id="392" r:id="rId46"/>
    <p:sldId id="311" r:id="rId47"/>
    <p:sldId id="312" r:id="rId48"/>
    <p:sldId id="385" r:id="rId49"/>
    <p:sldId id="321" r:id="rId50"/>
    <p:sldId id="322" r:id="rId51"/>
    <p:sldId id="323" r:id="rId52"/>
    <p:sldId id="324" r:id="rId53"/>
    <p:sldId id="386" r:id="rId54"/>
    <p:sldId id="335" r:id="rId55"/>
    <p:sldId id="336" r:id="rId56"/>
    <p:sldId id="337" r:id="rId57"/>
    <p:sldId id="338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en.wikipedia.org/wiki/Function_(mathematics)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en.wikipedia.org/wiki/Derivativ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en.wikipedia.org/wiki/Derivativ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gi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jpe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mathematics-for-machine-learning/blob/main/Calculus/w2/data/prices.csv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github.com/ancestor9/mathematics-for-machine-learning/blob/main/Calculus/w2/C2_W1_Assignment.ipynb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7.png"/><Relationship Id="rId7" Type="http://schemas.openxmlformats.org/officeDocument/2006/relationships/image" Target="../media/image60.png"/><Relationship Id="rId2" Type="http://schemas.openxmlformats.org/officeDocument/2006/relationships/hyperlink" Target="https://en.wikipedia.org/wiki/Linear_regress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10" Type="http://schemas.openxmlformats.org/officeDocument/2006/relationships/image" Target="../media/image73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cs4780/2018sp/lectures/lecturenote08.html" TargetMode="External"/><Relationship Id="rId2" Type="http://schemas.openxmlformats.org/officeDocument/2006/relationships/hyperlink" Target="https://scikit-learn.org/stable/modules/linear_mode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mlu-explain.github.io/bias-varianc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uto_examples/linear_model/plot_ols_ridge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linear_model/plot_sgd_loss_functions.html" TargetMode="External"/><Relationship Id="rId4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465545" cy="1362075"/>
          </a:xfrm>
        </p:spPr>
        <p:txBody>
          <a:bodyPr/>
          <a:lstStyle/>
          <a:p>
            <a:r>
              <a:rPr lang="en-US" altLang="ko-KR" sz="6600" dirty="0"/>
              <a:t>Modeling &amp; Simulation 1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79265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>
                <a:solidFill>
                  <a:schemeClr val="tx1"/>
                </a:solidFill>
              </a:rPr>
              <a:t>Calculus, Statistics, Probability, …..</a:t>
            </a:r>
            <a:endParaRPr lang="ko-KR" altLang="en-US" cap="none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7253-55D9-C5A4-DDCA-2C64C197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729BEC0-2EC4-2A16-AF3A-F5E8C4679D53}"/>
              </a:ext>
            </a:extLst>
          </p:cNvPr>
          <p:cNvSpPr/>
          <p:nvPr/>
        </p:nvSpPr>
        <p:spPr>
          <a:xfrm>
            <a:off x="1104901" y="14986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5E9264-71FE-D065-0983-B32E5405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DBA114-17ED-5D92-F01E-E672ACB5D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30838-4E3E-A4C9-B8DA-D8F8AF26F2BB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55068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84FF29-4B25-404E-81DC-1CCAE143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60D66E-6DAA-C869-2E3C-06CF487E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6D14F0A-2182-0C24-04C8-A2858EE5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0C3A8B-E6BF-2A69-18BA-06D331E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5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3C1C-752E-1492-75CD-9260CD39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0209EB2-DA90-3A5C-9F40-6CC69930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65A7FF-E730-2207-3FF2-2E5E8228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F9EEEA1-E59F-8F64-113D-54452538E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17" y="1661628"/>
            <a:ext cx="10876566" cy="393653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불확실한 결과를 예측하기 위해 반복적인 무작위 추출을 사용하는 통계적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결과가 확률에 의존하는 도박처럼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 계산하기 너무 복잡한 문제들을 수만 번의 가상 실험을 통해 그 근삿값을 찾아내는 방식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몬테카를로의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 정의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결과에 영향을 주는 불확실한 요소들을 정의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 분포 할당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각 변수가 가질 수 있는 값의 범위와 확률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설정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 실험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컴퓨터를 이용해 무작위 값을 입력하며 수천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수만 번의 시뮬레이션을 실행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 분석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도출된 수많은 결과값의 평균이나 분포를 통해 최종 결과를 예측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71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C0F1-45B0-02D2-01DD-EEBCC8B1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ADDB57D-11B6-0AD2-0C31-FBCCB80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34F863-C394-51E7-8700-7871213B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B8655C-497D-4F31-C687-69B4C8092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0888"/>
              </p:ext>
            </p:extLst>
          </p:nvPr>
        </p:nvGraphicFramePr>
        <p:xfrm>
          <a:off x="1037302" y="2721743"/>
          <a:ext cx="10839737" cy="30216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90378">
                  <a:extLst>
                    <a:ext uri="{9D8B030D-6E8A-4147-A177-3AD203B41FA5}">
                      <a16:colId xmlns:a16="http://schemas.microsoft.com/office/drawing/2014/main" val="201321095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912667715"/>
                    </a:ext>
                  </a:extLst>
                </a:gridCol>
                <a:gridCol w="3677920">
                  <a:extLst>
                    <a:ext uri="{9D8B030D-6E8A-4147-A177-3AD203B41FA5}">
                      <a16:colId xmlns:a16="http://schemas.microsoft.com/office/drawing/2014/main" val="1005779961"/>
                    </a:ext>
                  </a:extLst>
                </a:gridCol>
                <a:gridCol w="3555999">
                  <a:extLst>
                    <a:ext uri="{9D8B030D-6E8A-4147-A177-3AD203B41FA5}">
                      <a16:colId xmlns:a16="http://schemas.microsoft.com/office/drawing/2014/main" val="3215655874"/>
                    </a:ext>
                  </a:extLst>
                </a:gridCol>
              </a:tblGrid>
              <a:tr h="5897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단계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활동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구성 요소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832515464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Abstraction)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현실 세계의 사람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현상에서 불필요한 부분은 제거하고 서비스에 필요한 본질만 뽑아내는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색상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이름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나이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달리기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멈추기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말하기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095169941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Objectification)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정의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추상화된 개념을 프로그래밍 언어의 구조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(Class)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에 담아 실제 동작 가능한 단위로 만드는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(Variable):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저장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 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(Function):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로직 수행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575494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99CB3-D046-93B1-88CF-F39C1364E05E}"/>
              </a:ext>
            </a:extLst>
          </p:cNvPr>
          <p:cNvSpPr txBox="1"/>
          <p:nvPr/>
        </p:nvSpPr>
        <p:spPr>
          <a:xfrm>
            <a:off x="915382" y="1414115"/>
            <a:ext cx="10118378" cy="95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세계는 시간에 따라 움직이고 있기 때문에 미분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(derivative)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이해하고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모델링에 대한 이해를 하자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추상화는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OOP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구현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7731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051-1600-0186-2252-0ACB412D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E42708D-8AF6-90B1-C846-4BA65C5C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BDC3750-B88D-6FD2-8537-70ECD176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DA2C2F-442D-D2EB-C2E4-9E071E47C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02857"/>
              </p:ext>
            </p:extLst>
          </p:nvPr>
        </p:nvGraphicFramePr>
        <p:xfrm>
          <a:off x="637698" y="1767918"/>
          <a:ext cx="10916603" cy="383024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30142">
                  <a:extLst>
                    <a:ext uri="{9D8B030D-6E8A-4147-A177-3AD203B41FA5}">
                      <a16:colId xmlns:a16="http://schemas.microsoft.com/office/drawing/2014/main" val="4106552240"/>
                    </a:ext>
                  </a:extLst>
                </a:gridCol>
                <a:gridCol w="3125915">
                  <a:extLst>
                    <a:ext uri="{9D8B030D-6E8A-4147-A177-3AD203B41FA5}">
                      <a16:colId xmlns:a16="http://schemas.microsoft.com/office/drawing/2014/main" val="2267932678"/>
                    </a:ext>
                  </a:extLst>
                </a:gridCol>
                <a:gridCol w="3925125">
                  <a:extLst>
                    <a:ext uri="{9D8B030D-6E8A-4147-A177-3AD203B41FA5}">
                      <a16:colId xmlns:a16="http://schemas.microsoft.com/office/drawing/2014/main" val="310495391"/>
                    </a:ext>
                  </a:extLst>
                </a:gridCol>
                <a:gridCol w="2735421">
                  <a:extLst>
                    <a:ext uri="{9D8B030D-6E8A-4147-A177-3AD203B41FA5}">
                      <a16:colId xmlns:a16="http://schemas.microsoft.com/office/drawing/2014/main" val="276542089"/>
                    </a:ext>
                  </a:extLst>
                </a:gridCol>
              </a:tblGrid>
              <a:tr h="571679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대상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 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코드 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980183908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자동차 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모델명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연료 타입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가속한다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경적을 울린다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model, fuel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accelerate(), honk()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it-IT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car.model = "Tesla"car.accelerate()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6683253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은행원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사람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사원번호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소속 지점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입금 처리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상담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emp_id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branch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deposit(), consult()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staff.emp_id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101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staff.deposit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349304262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번호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결제 금액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취소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상태를 변경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amount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cancel(),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update_status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order.amount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500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order.cancel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9358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4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5BEE-F066-C987-AEE2-D963B9A5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AC3D81-BA21-7C79-3849-E16FE484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- python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75353E-AEB2-F738-D4BC-B431AD2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B3F3D-5A65-3E67-C0FA-B47717BAA45E}"/>
              </a:ext>
            </a:extLst>
          </p:cNvPr>
          <p:cNvSpPr txBox="1"/>
          <p:nvPr/>
        </p:nvSpPr>
        <p:spPr>
          <a:xfrm>
            <a:off x="915383" y="1190864"/>
            <a:ext cx="9508777" cy="5416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 Account: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__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__(self, owner, balance=0):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(Attributes)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self.owner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owner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balance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메소드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(Methods)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deposit(self,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withdraw(self,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if amount &gt;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return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출금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Account("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1000)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my_acc.deposit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   # 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my_acc.withdraw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(2000))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 부족 확인</a:t>
            </a:r>
          </a:p>
        </p:txBody>
      </p:sp>
    </p:spTree>
    <p:extLst>
      <p:ext uri="{BB962C8B-B14F-4D97-AF65-F5344CB8AC3E}">
        <p14:creationId xmlns:p14="http://schemas.microsoft.com/office/powerpoint/2010/main" val="265880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8B81-AD91-F370-8D32-FF6C2C9A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2CA6881-A4DF-DB25-5F01-36F36E9B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Proto_OOP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java script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95EC99B-BF2A-8481-22BC-D44961AE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8AA32-2422-26FE-27E7-BEAFCCF66B1C}"/>
              </a:ext>
            </a:extLst>
          </p:cNvPr>
          <p:cNvSpPr txBox="1"/>
          <p:nvPr/>
        </p:nvSpPr>
        <p:spPr>
          <a:xfrm>
            <a:off x="1001260" y="905523"/>
            <a:ext cx="9351279" cy="5755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constructor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// 속성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Attributes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// 메소드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Methods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입금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"잔액이 부족합니다.";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출금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 객체화 (인스턴스 생성)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("이영희", 2000);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(1000));  // 1000원 입금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(500));  // 500원 출금</a:t>
            </a:r>
          </a:p>
        </p:txBody>
      </p:sp>
    </p:spTree>
    <p:extLst>
      <p:ext uri="{BB962C8B-B14F-4D97-AF65-F5344CB8AC3E}">
        <p14:creationId xmlns:p14="http://schemas.microsoft.com/office/powerpoint/2010/main" val="429064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26A7-A289-AC58-C248-EC55ACDA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5EF994-9F5C-02E6-8FFD-4FDE4EA86D7C}"/>
              </a:ext>
            </a:extLst>
          </p:cNvPr>
          <p:cNvSpPr/>
          <p:nvPr/>
        </p:nvSpPr>
        <p:spPr>
          <a:xfrm>
            <a:off x="1104901" y="204162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25D138-34DE-EB1E-567C-DB8A2F216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8F94AB-65E7-00F1-41BD-652EBCF59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51142-A7C7-214A-07CB-527CDE6D0BA4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443712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DCFB-7AB3-D3D2-F2B2-E0D460FA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2A0FD5B-2339-E38C-4A56-DE98C974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sympy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파이썬에서</a:t>
            </a:r>
            <a:r>
              <a:rPr lang="ko-KR" altLang="en-US" sz="2400" dirty="0"/>
              <a:t> 사용 가능한 대수</a:t>
            </a:r>
            <a:r>
              <a:rPr lang="en-US" altLang="ko-KR" sz="2400" dirty="0"/>
              <a:t>(algebra)</a:t>
            </a:r>
            <a:r>
              <a:rPr lang="ko-KR" altLang="en-US" sz="2400" dirty="0"/>
              <a:t> 계산 라이브러리로</a:t>
            </a:r>
            <a:r>
              <a:rPr lang="en-US" altLang="ko-KR" sz="2400" dirty="0"/>
              <a:t>, </a:t>
            </a:r>
            <a:r>
              <a:rPr lang="ko-KR" altLang="en-US" sz="2400" dirty="0"/>
              <a:t>기호 연산과 수학적 공식 표현을 지원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기호 연산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풀기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미분과 적분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그래프 그리기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0FB6319-F468-D130-A036-538E874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D8D5A3D-86BD-1768-B2E9-BFC0D77D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4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531E-AB77-8E51-290D-2773B075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B19550-EB7C-EB2B-ACE4-48FF2EDE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559583"/>
            <a:ext cx="4241471" cy="1450318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symbols</a:t>
            </a:r>
          </a:p>
          <a:p>
            <a:r>
              <a:rPr lang="en-US" altLang="ko-KR" dirty="0"/>
              <a:t>x, y = symbols('x y')</a:t>
            </a:r>
          </a:p>
          <a:p>
            <a:r>
              <a:rPr lang="en-US" altLang="ko-KR" dirty="0"/>
              <a:t>expr = x + 2*y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6ACA4DB-B8FA-FE1C-66A3-A6ACC600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7D15890-D0EE-8C14-F2F7-700699B1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B0035CB-472C-77A2-93FC-E6DE07F7868F}"/>
              </a:ext>
            </a:extLst>
          </p:cNvPr>
          <p:cNvSpPr txBox="1">
            <a:spLocks/>
          </p:cNvSpPr>
          <p:nvPr/>
        </p:nvSpPr>
        <p:spPr>
          <a:xfrm>
            <a:off x="978229" y="4217058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Eq, solve</a:t>
            </a:r>
          </a:p>
          <a:p>
            <a:r>
              <a:rPr lang="en-US" altLang="ko-KR" dirty="0"/>
              <a:t>eq = Eq(x**2 + 2*x + 1, 0)</a:t>
            </a:r>
          </a:p>
          <a:p>
            <a:r>
              <a:rPr lang="en-US" altLang="ko-KR" dirty="0"/>
              <a:t>sol = solve(eq, x)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561FB-B458-7456-44E7-3D6042485AB8}"/>
              </a:ext>
            </a:extLst>
          </p:cNvPr>
          <p:cNvSpPr txBox="1">
            <a:spLocks/>
          </p:cNvSpPr>
          <p:nvPr/>
        </p:nvSpPr>
        <p:spPr>
          <a:xfrm>
            <a:off x="6092264" y="1559583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diff, integrate</a:t>
            </a:r>
          </a:p>
          <a:p>
            <a:r>
              <a:rPr lang="en-US" altLang="ko-KR" dirty="0"/>
              <a:t>expr = x**2 + 3*x + 2</a:t>
            </a:r>
          </a:p>
          <a:p>
            <a:r>
              <a:rPr lang="en-US" altLang="ko-KR" dirty="0"/>
              <a:t>derivative = diff(expr, x)</a:t>
            </a:r>
          </a:p>
          <a:p>
            <a:r>
              <a:rPr lang="en-US" altLang="ko-KR" dirty="0"/>
              <a:t>integral = integrate(expr, x)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AFFB05-5355-FE27-BD3B-B918ABE8E1E5}"/>
              </a:ext>
            </a:extLst>
          </p:cNvPr>
          <p:cNvSpPr txBox="1">
            <a:spLocks/>
          </p:cNvSpPr>
          <p:nvPr/>
        </p:nvSpPr>
        <p:spPr>
          <a:xfrm>
            <a:off x="6092263" y="4217058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sympy.plotting</a:t>
            </a:r>
            <a:r>
              <a:rPr lang="en-US" altLang="ko-KR" dirty="0"/>
              <a:t> import plot</a:t>
            </a:r>
          </a:p>
          <a:p>
            <a:r>
              <a:rPr lang="en-US" altLang="ko-KR" dirty="0"/>
              <a:t>expr = x**2 - 3*x + 2</a:t>
            </a:r>
          </a:p>
          <a:p>
            <a:r>
              <a:rPr lang="en-US" altLang="ko-KR" dirty="0"/>
              <a:t>plot(expr, (x, -5, 5))</a:t>
            </a:r>
          </a:p>
          <a:p>
            <a:r>
              <a:rPr lang="en-US" altLang="ko-KR" dirty="0"/>
              <a:t>plot(diff(expr, x))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041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8E22-3D6A-F0D1-BFCB-703DB02B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2EF175-A5B6-83D3-B8D9-AAA96784DEAF}"/>
              </a:ext>
            </a:extLst>
          </p:cNvPr>
          <p:cNvSpPr/>
          <p:nvPr/>
        </p:nvSpPr>
        <p:spPr>
          <a:xfrm>
            <a:off x="1104901" y="257502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BC68D-65E8-91BA-96D8-08D9E6A26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BA9A-E6B8-4CE7-C391-DF80A39A5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3C9FA-70E0-22C5-8445-F239B9F7A462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18279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35ECCF-FC83-07D0-E9CF-44010CCF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Derivative</a:t>
            </a:r>
            <a:endParaRPr lang="ko-KR" altLang="en-US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8883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The sensitivity to change(slope,</a:t>
            </a:r>
            <a:r>
              <a:rPr lang="ko-KR" altLang="en-US" dirty="0"/>
              <a:t> </a:t>
            </a:r>
            <a:r>
              <a:rPr lang="en-US" altLang="ko-KR" dirty="0"/>
              <a:t>instantaneous rate of change) of a </a:t>
            </a:r>
            <a:r>
              <a:rPr lang="en-US" altLang="ko-KR" dirty="0">
                <a:hlinkClick r:id="rId3" tooltip="Function (mathemat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</a:t>
            </a:r>
            <a:r>
              <a:rPr lang="en-US" altLang="ko-KR" dirty="0"/>
              <a:t>'s output with respect to its input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964697" y="3054516"/>
            <a:ext cx="2905125" cy="2082470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1101182" y="2490465"/>
                <a:ext cx="2003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182" y="2490465"/>
                <a:ext cx="2003506" cy="369332"/>
              </a:xfrm>
              <a:prstGeom prst="rect">
                <a:avLst/>
              </a:prstGeom>
              <a:blipFill>
                <a:blip r:embed="rId4"/>
                <a:stretch>
                  <a:fillRect l="-2744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2516644" y="5331705"/>
                <a:ext cx="1727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Output 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 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644" y="5331705"/>
                <a:ext cx="1727660" cy="369332"/>
              </a:xfrm>
              <a:prstGeom prst="rect">
                <a:avLst/>
              </a:prstGeom>
              <a:blipFill>
                <a:blip r:embed="rId5"/>
                <a:stretch>
                  <a:fillRect l="-3180" t="-10000" r="-247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F3E571-3912-D9A9-CAAA-D4FC272B31CF}"/>
                  </a:ext>
                </a:extLst>
              </p:cNvPr>
              <p:cNvSpPr txBox="1"/>
              <p:nvPr/>
            </p:nvSpPr>
            <p:spPr>
              <a:xfrm>
                <a:off x="1059947" y="3804915"/>
                <a:ext cx="28003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chemeClr val="bg1"/>
                    </a:solidFill>
                    <a:hlinkClick r:id="rId3" tooltip="Function (mathematics)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Function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ko-KR" alt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ko-KR" alt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ko-KR" altLang="en-US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ko-KR" altLang="en-US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F3E571-3912-D9A9-CAAA-D4FC272B3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47" y="3804915"/>
                <a:ext cx="2800348" cy="646331"/>
              </a:xfrm>
              <a:prstGeom prst="rect">
                <a:avLst/>
              </a:prstGeom>
              <a:blipFill>
                <a:blip r:embed="rId6"/>
                <a:stretch>
                  <a:fillRect l="-1961" t="-4717" b="-9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35EF7531-9F46-3380-2528-8B4EFF13B6B3}"/>
              </a:ext>
            </a:extLst>
          </p:cNvPr>
          <p:cNvGrpSpPr/>
          <p:nvPr/>
        </p:nvGrpSpPr>
        <p:grpSpPr>
          <a:xfrm>
            <a:off x="7577010" y="3054516"/>
            <a:ext cx="2903493" cy="2101519"/>
            <a:chOff x="6580019" y="2942772"/>
            <a:chExt cx="2903493" cy="2101519"/>
          </a:xfrm>
          <a:solidFill>
            <a:srgbClr val="FF0000"/>
          </a:solidFill>
        </p:grpSpPr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E8D100C2-F617-26FD-F7A3-83F01256CF89}"/>
                </a:ext>
              </a:extLst>
            </p:cNvPr>
            <p:cNvSpPr/>
            <p:nvPr/>
          </p:nvSpPr>
          <p:spPr>
            <a:xfrm rot="10800000">
              <a:off x="6580019" y="2942772"/>
              <a:ext cx="914400" cy="69182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B457D554-5251-08BB-A0C5-DCFF184FE2E6}"/>
                </a:ext>
              </a:extLst>
            </p:cNvPr>
            <p:cNvSpPr/>
            <p:nvPr/>
          </p:nvSpPr>
          <p:spPr>
            <a:xfrm>
              <a:off x="8569112" y="4352471"/>
              <a:ext cx="914400" cy="69182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4A3C4E-A7C7-50F4-FCD8-F4CFB273CF47}"/>
                  </a:ext>
                </a:extLst>
              </p:cNvPr>
              <p:cNvSpPr txBox="1"/>
              <p:nvPr/>
            </p:nvSpPr>
            <p:spPr>
              <a:xfrm>
                <a:off x="7493778" y="2525899"/>
                <a:ext cx="19952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2000" dirty="0"/>
                  <a:t>delta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/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4A3C4E-A7C7-50F4-FCD8-F4CFB273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778" y="2525899"/>
                <a:ext cx="1995264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AF150070-0E0D-3155-821D-8A1536395133}"/>
              </a:ext>
            </a:extLst>
          </p:cNvPr>
          <p:cNvSpPr/>
          <p:nvPr/>
        </p:nvSpPr>
        <p:spPr>
          <a:xfrm>
            <a:off x="7111439" y="3489352"/>
            <a:ext cx="3689560" cy="126362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AB28CA-C939-8EA0-1D2C-932D70CCA19F}"/>
                  </a:ext>
                </a:extLst>
              </p:cNvPr>
              <p:cNvSpPr txBox="1"/>
              <p:nvPr/>
            </p:nvSpPr>
            <p:spPr>
              <a:xfrm>
                <a:off x="7550530" y="3444630"/>
                <a:ext cx="2811377" cy="1193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ko-KR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ko-KR" sz="1600" b="1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bg1"/>
                    </a:solidFill>
                  </a:rPr>
                  <a:t>= Derivative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bg1"/>
                    </a:solidFill>
                  </a:rPr>
                  <a:t>= The sensitivity to change</a:t>
                </a:r>
                <a:endParaRPr lang="ko-KR" alt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AB28CA-C939-8EA0-1D2C-932D70CCA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530" y="3444630"/>
                <a:ext cx="2811377" cy="1193853"/>
              </a:xfrm>
              <a:prstGeom prst="rect">
                <a:avLst/>
              </a:prstGeom>
              <a:blipFill>
                <a:blip r:embed="rId8"/>
                <a:stretch>
                  <a:fillRect l="-1302" b="-20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AC0358-B3B5-F1BF-07C9-B4C610EDE35D}"/>
              </a:ext>
            </a:extLst>
          </p:cNvPr>
          <p:cNvCxnSpPr/>
          <p:nvPr/>
        </p:nvCxnSpPr>
        <p:spPr>
          <a:xfrm>
            <a:off x="4755419" y="4128080"/>
            <a:ext cx="1685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3E17EB-140D-13C3-5C3D-9316E4FF9331}"/>
                  </a:ext>
                </a:extLst>
              </p:cNvPr>
              <p:cNvSpPr txBox="1"/>
              <p:nvPr/>
            </p:nvSpPr>
            <p:spPr>
              <a:xfrm>
                <a:off x="4629150" y="3395225"/>
                <a:ext cx="219075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solidFill>
                      <a:schemeClr val="tx1"/>
                    </a:solidFill>
                  </a:rPr>
                  <a:t>에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대한 </a:t>
                </a:r>
                <a:endParaRPr lang="en-US" altLang="ko-KR" sz="16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solidFill>
                      <a:schemeClr val="tx1"/>
                    </a:solidFill>
                  </a:rPr>
                  <a:t>의 순간변화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율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3E17EB-140D-13C3-5C3D-9316E4FF9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3395225"/>
                <a:ext cx="2190750" cy="584775"/>
              </a:xfrm>
              <a:prstGeom prst="rect">
                <a:avLst/>
              </a:prstGeom>
              <a:blipFill>
                <a:blip r:embed="rId9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22B33B-D78B-B356-E12C-C9624FE06191}"/>
                  </a:ext>
                </a:extLst>
              </p:cNvPr>
              <p:cNvSpPr txBox="1"/>
              <p:nvPr/>
            </p:nvSpPr>
            <p:spPr>
              <a:xfrm>
                <a:off x="9143026" y="5316316"/>
                <a:ext cx="21261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(delta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22B33B-D78B-B356-E12C-C9624FE06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026" y="5316316"/>
                <a:ext cx="2126119" cy="400110"/>
              </a:xfrm>
              <a:prstGeom prst="rect">
                <a:avLst/>
              </a:prstGeom>
              <a:blipFill>
                <a:blip r:embed="rId10"/>
                <a:stretch>
                  <a:fillRect t="-7576" r="-200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93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 animBg="1"/>
      <p:bldP spid="25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E704-8DE1-7BB9-596D-EF10D125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FA9A4C3-396E-10BE-66AA-AC7E6665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Derivative</a:t>
            </a:r>
            <a:endParaRPr lang="ko-KR" altLang="en-US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F8158EE-7300-EB42-B21E-06B75CDE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A1B3ED-4F9A-1705-B5AF-BEAEA4C662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7524" y="1801027"/>
            <a:ext cx="3209285" cy="738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7AC1963-C7C8-1FDE-46F5-DEAB6582455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7524" y="3661429"/>
            <a:ext cx="5094740" cy="84243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658FFBEB-DE2C-E643-392A-CA3C9DDA7306}"/>
              </a:ext>
            </a:extLst>
          </p:cNvPr>
          <p:cNvGrpSpPr/>
          <p:nvPr/>
        </p:nvGrpSpPr>
        <p:grpSpPr>
          <a:xfrm>
            <a:off x="7521538" y="1687958"/>
            <a:ext cx="4098962" cy="4612192"/>
            <a:chOff x="7521538" y="1687958"/>
            <a:chExt cx="4098962" cy="461219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4F46D12-0BF6-2505-9A55-9CBC1C137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1062" y="1687958"/>
              <a:ext cx="4070003" cy="387464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6284489-BBFB-C41B-D708-43F281737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1538" y="5572126"/>
              <a:ext cx="4098962" cy="7280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49AFF5-C2DD-3671-0764-7169E20A3B9C}"/>
                  </a:ext>
                </a:extLst>
              </p:cNvPr>
              <p:cNvSpPr txBox="1"/>
              <p:nvPr/>
            </p:nvSpPr>
            <p:spPr>
              <a:xfrm>
                <a:off x="942142" y="2761357"/>
                <a:ext cx="5771014" cy="423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= Derivative, The sensitivity to change</a:t>
                </a:r>
                <a:endParaRPr lang="ko-KR" altLang="en-US" sz="16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49AFF5-C2DD-3671-0764-7169E20A3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42" y="2761357"/>
                <a:ext cx="5771014" cy="423129"/>
              </a:xfrm>
              <a:prstGeom prst="rect">
                <a:avLst/>
              </a:prstGeom>
              <a:blipFill>
                <a:blip r:embed="rId7"/>
                <a:stretch>
                  <a:fillRect l="-106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753737-81BB-C606-581A-FCE4CFB21D91}"/>
                  </a:ext>
                </a:extLst>
              </p:cNvPr>
              <p:cNvSpPr txBox="1"/>
              <p:nvPr/>
            </p:nvSpPr>
            <p:spPr>
              <a:xfrm>
                <a:off x="971701" y="1428020"/>
                <a:ext cx="28559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 </a:t>
                </a:r>
                <a:endParaRPr lang="ko-KR" altLang="en-US" sz="16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753737-81BB-C606-581A-FCE4CFB21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01" y="1428020"/>
                <a:ext cx="2855948" cy="338554"/>
              </a:xfrm>
              <a:prstGeom prst="rect">
                <a:avLst/>
              </a:prstGeom>
              <a:blipFill>
                <a:blip r:embed="rId8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DA3088-41BD-D0F8-F288-46549D350934}"/>
                  </a:ext>
                </a:extLst>
              </p:cNvPr>
              <p:cNvSpPr txBox="1"/>
              <p:nvPr/>
            </p:nvSpPr>
            <p:spPr>
              <a:xfrm>
                <a:off x="915383" y="3269069"/>
                <a:ext cx="64760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4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찰라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刹那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Instant, Moment)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의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변화량에 대한 </a:t>
                </a:r>
                <a14:m>
                  <m:oMath xmlns:m="http://schemas.openxmlformats.org/officeDocument/2006/math"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변화량</a:t>
                </a:r>
                <a:endParaRPr lang="en-US" altLang="ko-KR" sz="14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DA3088-41BD-D0F8-F288-46549D35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3269069"/>
                <a:ext cx="6476017" cy="307777"/>
              </a:xfrm>
              <a:prstGeom prst="rect">
                <a:avLst/>
              </a:prstGeom>
              <a:blipFill>
                <a:blip r:embed="rId9"/>
                <a:stretch>
                  <a:fillRect l="-282"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0790DE03-EAD9-8813-227A-18873952852E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7524" y="4839002"/>
            <a:ext cx="5391612" cy="84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5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863D-8B9C-4B2D-5CA8-C102E2B6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8533B6C-7B95-56E7-4AFB-8A273A3F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B964FA8-F6A5-1FFC-915D-5DB51A56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AA712C-4D11-7672-960E-36CD713F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39" y="2064793"/>
            <a:ext cx="5745786" cy="425980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1004B2B-1922-84AE-9056-5A562BD99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434" y="2064792"/>
            <a:ext cx="3223215" cy="423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0196E0-95CC-D647-011C-1196D09D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/>
              <a:t>아래 </a:t>
            </a:r>
            <a:r>
              <a:rPr lang="en-US" altLang="ko-KR" sz="2000" dirty="0"/>
              <a:t>4</a:t>
            </a:r>
            <a:r>
              <a:rPr lang="ko-KR" altLang="en-US" sz="2000" dirty="0"/>
              <a:t>개 코드를 실습하기</a:t>
            </a:r>
            <a:r>
              <a:rPr lang="en-US" altLang="ko-KR" sz="2000" dirty="0"/>
              <a:t>(recap)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4394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9D25-B193-8DB3-E09B-76B8A72A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74175AB-2F00-B7A5-9237-70812891B0A9}"/>
              </a:ext>
            </a:extLst>
          </p:cNvPr>
          <p:cNvSpPr/>
          <p:nvPr/>
        </p:nvSpPr>
        <p:spPr>
          <a:xfrm>
            <a:off x="1104901" y="311794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BC4CBB-0ACA-2E0D-5D5D-C8C9AC65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79CBA1-A476-2653-3142-D5292AE3B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DEC6B-6251-6C67-499B-DA31BB550E6D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3048553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DBF7-AB87-CB1E-4F78-323C7FAF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위치함수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대한 순간 속도를 </a:t>
                </a:r>
                <a:r>
                  <a:rPr lang="ko-KR" altLang="en-US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중앙차분법과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numpy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함수를 이용하여 구해보자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  <a:blipFill>
                <a:blip r:embed="rId2"/>
                <a:stretch>
                  <a:fillRect l="-232" r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0AD441E-5917-450E-4906-51D94A1D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3C5350-3870-2D8F-063A-AD4B66A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D2425C-5D0B-8F86-601F-AFC41FBF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09" y="2087898"/>
            <a:ext cx="6356032" cy="379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불꽃이 있는 우주 로켓">
            <a:extLst>
              <a:ext uri="{FF2B5EF4-FFF2-40B4-BE49-F238E27FC236}">
                <a16:creationId xmlns:a16="http://schemas.microsoft.com/office/drawing/2014/main" id="{4DD46942-20D7-B59E-C0D1-F08DDB0A8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403" y="2740430"/>
            <a:ext cx="1232065" cy="1847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7E263C-2F2F-308B-A9E6-12A6BA145ACC}"/>
              </a:ext>
            </a:extLst>
          </p:cNvPr>
          <p:cNvSpPr txBox="1"/>
          <p:nvPr/>
        </p:nvSpPr>
        <p:spPr>
          <a:xfrm>
            <a:off x="8291821" y="2713227"/>
            <a:ext cx="312228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속도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(Velocity, Speed)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A229A77-5894-DDC2-D988-EB98393F9ADD}"/>
              </a:ext>
            </a:extLst>
          </p:cNvPr>
          <p:cNvCxnSpPr>
            <a:cxnSpLocks/>
          </p:cNvCxnSpPr>
          <p:nvPr/>
        </p:nvCxnSpPr>
        <p:spPr>
          <a:xfrm>
            <a:off x="8545675" y="3082559"/>
            <a:ext cx="0" cy="1962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AADB2BB-00F1-C005-DE32-A58D3050CFC2}"/>
              </a:ext>
            </a:extLst>
          </p:cNvPr>
          <p:cNvCxnSpPr>
            <a:cxnSpLocks/>
          </p:cNvCxnSpPr>
          <p:nvPr/>
        </p:nvCxnSpPr>
        <p:spPr>
          <a:xfrm flipH="1">
            <a:off x="8545675" y="5061096"/>
            <a:ext cx="780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1B5042-81F3-1D81-50D6-FAD08CC36ACA}"/>
              </a:ext>
            </a:extLst>
          </p:cNvPr>
          <p:cNvSpPr txBox="1"/>
          <p:nvPr/>
        </p:nvSpPr>
        <p:spPr>
          <a:xfrm>
            <a:off x="9190781" y="4891356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A6D832-DDA5-75AF-5F7C-1D7C5BD5A5E6}"/>
              </a:ext>
            </a:extLst>
          </p:cNvPr>
          <p:cNvCxnSpPr>
            <a:cxnSpLocks/>
          </p:cNvCxnSpPr>
          <p:nvPr/>
        </p:nvCxnSpPr>
        <p:spPr>
          <a:xfrm flipH="1">
            <a:off x="8545674" y="4227514"/>
            <a:ext cx="780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FE18C21-4770-2BC0-8BD7-B0587A0B5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781" y="3902023"/>
            <a:ext cx="2428241" cy="611306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A1129D1-E02F-663C-DE78-044988D5F367}"/>
              </a:ext>
            </a:extLst>
          </p:cNvPr>
          <p:cNvCxnSpPr>
            <a:cxnSpLocks/>
          </p:cNvCxnSpPr>
          <p:nvPr/>
        </p:nvCxnSpPr>
        <p:spPr>
          <a:xfrm>
            <a:off x="5928995" y="3690004"/>
            <a:ext cx="0" cy="1858669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8C1F9A6-971B-726E-5877-CBE6973EAEAC}"/>
              </a:ext>
            </a:extLst>
          </p:cNvPr>
          <p:cNvCxnSpPr>
            <a:cxnSpLocks/>
          </p:cNvCxnSpPr>
          <p:nvPr/>
        </p:nvCxnSpPr>
        <p:spPr>
          <a:xfrm>
            <a:off x="5351145" y="4153554"/>
            <a:ext cx="0" cy="1395119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60BF6107-619C-08B0-29B9-4D6DA7EFD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3783" y="4493465"/>
            <a:ext cx="214728" cy="20399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2BBB12B-4700-373C-9B8C-1DA4CFF4B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289" y="4493465"/>
            <a:ext cx="214728" cy="203992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878AE90-89B1-9AB6-DB68-2D8F517F95D2}"/>
              </a:ext>
            </a:extLst>
          </p:cNvPr>
          <p:cNvCxnSpPr>
            <a:cxnSpLocks/>
          </p:cNvCxnSpPr>
          <p:nvPr/>
        </p:nvCxnSpPr>
        <p:spPr>
          <a:xfrm>
            <a:off x="1874520" y="3690004"/>
            <a:ext cx="4054475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8C896C9-A8B3-FD2C-676E-214761FCB465}"/>
              </a:ext>
            </a:extLst>
          </p:cNvPr>
          <p:cNvCxnSpPr>
            <a:cxnSpLocks/>
          </p:cNvCxnSpPr>
          <p:nvPr/>
        </p:nvCxnSpPr>
        <p:spPr>
          <a:xfrm>
            <a:off x="1874520" y="4153554"/>
            <a:ext cx="3476625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B547E61-CFCB-50F6-E724-111F32E0B5A8}"/>
              </a:ext>
            </a:extLst>
          </p:cNvPr>
          <p:cNvCxnSpPr/>
          <p:nvPr/>
        </p:nvCxnSpPr>
        <p:spPr>
          <a:xfrm>
            <a:off x="5683783" y="4768890"/>
            <a:ext cx="214728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CC82431-068A-12FF-19F8-5C722F0C9752}"/>
              </a:ext>
            </a:extLst>
          </p:cNvPr>
          <p:cNvCxnSpPr>
            <a:cxnSpLocks/>
          </p:cNvCxnSpPr>
          <p:nvPr/>
        </p:nvCxnSpPr>
        <p:spPr>
          <a:xfrm flipH="1">
            <a:off x="5381676" y="4761067"/>
            <a:ext cx="1859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>
            <a:extLst>
              <a:ext uri="{FF2B5EF4-FFF2-40B4-BE49-F238E27FC236}">
                <a16:creationId xmlns:a16="http://schemas.microsoft.com/office/drawing/2014/main" id="{5F4FB917-B48B-E8F5-7FBC-6D2A29A91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436" y="4174217"/>
            <a:ext cx="671025" cy="23083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FB04A94-A944-9FC5-C3F3-94B5B74745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5616" y="3383328"/>
            <a:ext cx="654921" cy="225465"/>
          </a:xfrm>
          <a:prstGeom prst="rect">
            <a:avLst/>
          </a:prstGeom>
        </p:spPr>
      </p:pic>
      <p:sp>
        <p:nvSpPr>
          <p:cNvPr id="55" name="직각 삼각형 54">
            <a:extLst>
              <a:ext uri="{FF2B5EF4-FFF2-40B4-BE49-F238E27FC236}">
                <a16:creationId xmlns:a16="http://schemas.microsoft.com/office/drawing/2014/main" id="{1C4ED2C9-78D4-C636-721F-F63B5A6B5101}"/>
              </a:ext>
            </a:extLst>
          </p:cNvPr>
          <p:cNvSpPr/>
          <p:nvPr/>
        </p:nvSpPr>
        <p:spPr>
          <a:xfrm flipH="1">
            <a:off x="5370385" y="3699156"/>
            <a:ext cx="558609" cy="463316"/>
          </a:xfrm>
          <a:prstGeom prst="rtTriangle">
            <a:avLst/>
          </a:prstGeom>
          <a:solidFill>
            <a:schemeClr val="tx1">
              <a:lumMod val="85000"/>
            </a:schemeClr>
          </a:solidFill>
          <a:ln w="31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7196668-3F64-2517-AECE-1ADD46591312}"/>
              </a:ext>
            </a:extLst>
          </p:cNvPr>
          <p:cNvCxnSpPr>
            <a:cxnSpLocks/>
          </p:cNvCxnSpPr>
          <p:nvPr/>
        </p:nvCxnSpPr>
        <p:spPr>
          <a:xfrm flipV="1">
            <a:off x="4969506" y="3429000"/>
            <a:ext cx="1277832" cy="106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D9BD5B1-7AB1-5066-C062-A12F9FD19571}"/>
              </a:ext>
            </a:extLst>
          </p:cNvPr>
          <p:cNvSpPr txBox="1"/>
          <p:nvPr/>
        </p:nvSpPr>
        <p:spPr>
          <a:xfrm>
            <a:off x="6367270" y="3167390"/>
            <a:ext cx="4927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속도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  <p:cxnSp>
        <p:nvCxnSpPr>
          <p:cNvPr id="3073" name="직선 연결선 3072">
            <a:extLst>
              <a:ext uri="{FF2B5EF4-FFF2-40B4-BE49-F238E27FC236}">
                <a16:creationId xmlns:a16="http://schemas.microsoft.com/office/drawing/2014/main" id="{22B1AF3D-8145-24BC-DB0C-4A7D2588654C}"/>
              </a:ext>
            </a:extLst>
          </p:cNvPr>
          <p:cNvCxnSpPr>
            <a:cxnSpLocks/>
          </p:cNvCxnSpPr>
          <p:nvPr/>
        </p:nvCxnSpPr>
        <p:spPr>
          <a:xfrm flipV="1">
            <a:off x="2293687" y="5241311"/>
            <a:ext cx="1110390" cy="20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1" name="직선 연결선 3080">
            <a:extLst>
              <a:ext uri="{FF2B5EF4-FFF2-40B4-BE49-F238E27FC236}">
                <a16:creationId xmlns:a16="http://schemas.microsoft.com/office/drawing/2014/main" id="{DB4F4A22-E44A-C68E-7877-BA8A83659DF2}"/>
              </a:ext>
            </a:extLst>
          </p:cNvPr>
          <p:cNvCxnSpPr>
            <a:cxnSpLocks/>
          </p:cNvCxnSpPr>
          <p:nvPr/>
        </p:nvCxnSpPr>
        <p:spPr>
          <a:xfrm flipV="1">
            <a:off x="3556320" y="4794290"/>
            <a:ext cx="874285" cy="3876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93" name="그룹 3092">
            <a:extLst>
              <a:ext uri="{FF2B5EF4-FFF2-40B4-BE49-F238E27FC236}">
                <a16:creationId xmlns:a16="http://schemas.microsoft.com/office/drawing/2014/main" id="{DB0BB0C9-EC8A-3295-DB12-B048E5356A34}"/>
              </a:ext>
            </a:extLst>
          </p:cNvPr>
          <p:cNvGrpSpPr/>
          <p:nvPr/>
        </p:nvGrpSpPr>
        <p:grpSpPr>
          <a:xfrm>
            <a:off x="1905051" y="3920942"/>
            <a:ext cx="5645353" cy="2389220"/>
            <a:chOff x="1905051" y="3920942"/>
            <a:chExt cx="5645353" cy="238922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F9FD547-46B8-E799-598A-81292210F4FB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0" y="3921073"/>
              <a:ext cx="0" cy="1627600"/>
            </a:xfrm>
            <a:prstGeom prst="line">
              <a:avLst/>
            </a:prstGeom>
            <a:ln w="1905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6E56D11D-E723-12C5-5EF9-4771755500E2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51" y="3920942"/>
              <a:ext cx="3735019" cy="6966"/>
            </a:xfrm>
            <a:prstGeom prst="line">
              <a:avLst/>
            </a:prstGeom>
            <a:ln w="1905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90" name="TextBox 3089">
                  <a:extLst>
                    <a:ext uri="{FF2B5EF4-FFF2-40B4-BE49-F238E27FC236}">
                      <a16:creationId xmlns:a16="http://schemas.microsoft.com/office/drawing/2014/main" id="{A5E4DC45-CAE4-E5FA-B49D-1EB73122E8A1}"/>
                    </a:ext>
                  </a:extLst>
                </p:cNvPr>
                <p:cNvSpPr txBox="1"/>
                <p:nvPr/>
              </p:nvSpPr>
              <p:spPr>
                <a:xfrm>
                  <a:off x="5184135" y="6002385"/>
                  <a:ext cx="236626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ko-KR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=7 </a:t>
                  </a:r>
                  <a:r>
                    <a:rPr lang="ko-KR" altLang="en-US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에서 </a:t>
                  </a:r>
                  <a:r>
                    <a:rPr lang="en-US" altLang="ko-KR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(</a:t>
                  </a:r>
                  <a:r>
                    <a:rPr lang="ko-KR" altLang="en-US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순간</a:t>
                  </a:r>
                  <a:r>
                    <a:rPr lang="en-US" altLang="ko-KR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) </a:t>
                  </a:r>
                  <a:r>
                    <a:rPr lang="ko-KR" altLang="en-US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속도는</a:t>
                  </a:r>
                  <a:r>
                    <a:rPr lang="en-US" altLang="ko-KR" sz="1400" dirty="0">
                      <a:latin typeface="D2Coding" panose="020B0609020101020101" pitchFamily="49" charset="-127"/>
                      <a:ea typeface="D2Coding" panose="020B0609020101020101" pitchFamily="49" charset="-127"/>
                    </a:rPr>
                    <a:t>?</a:t>
                  </a:r>
                  <a:endPara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endParaRPr>
                </a:p>
              </p:txBody>
            </p:sp>
          </mc:Choice>
          <mc:Fallback xmlns="">
            <p:sp>
              <p:nvSpPr>
                <p:cNvPr id="3090" name="TextBox 3089">
                  <a:extLst>
                    <a:ext uri="{FF2B5EF4-FFF2-40B4-BE49-F238E27FC236}">
                      <a16:creationId xmlns:a16="http://schemas.microsoft.com/office/drawing/2014/main" id="{A5E4DC45-CAE4-E5FA-B49D-1EB73122E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135" y="6002385"/>
                  <a:ext cx="2366269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92" name="그래픽 3091" descr="위쪽 화살표 단색으로 채워진">
              <a:extLst>
                <a:ext uri="{FF2B5EF4-FFF2-40B4-BE49-F238E27FC236}">
                  <a16:creationId xmlns:a16="http://schemas.microsoft.com/office/drawing/2014/main" id="{D16EEB43-6588-09F2-68EB-9887D2CF1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52500" y="5629884"/>
              <a:ext cx="375140" cy="375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955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5B32-3A82-65C8-07D9-E80625DE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AD07620-1C56-7E04-E640-894F6911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1CE662-B35B-C77A-D49F-4A75B2A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9CA904-9641-C50F-FC09-6A1532A4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8" y="966071"/>
            <a:ext cx="2428241" cy="611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DAC9E-F85E-19E4-742B-1724AC7EFD2F}"/>
              </a:ext>
            </a:extLst>
          </p:cNvPr>
          <p:cNvSpPr txBox="1"/>
          <p:nvPr/>
        </p:nvSpPr>
        <p:spPr>
          <a:xfrm>
            <a:off x="6449007" y="1269792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E3A5D-3E52-D6C6-5536-BF9FA2893FD5}"/>
              </a:ext>
            </a:extLst>
          </p:cNvPr>
          <p:cNvSpPr txBox="1"/>
          <p:nvPr/>
        </p:nvSpPr>
        <p:spPr>
          <a:xfrm>
            <a:off x="6454087" y="1665406"/>
            <a:ext cx="5480988" cy="33239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위치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초부터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초까지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0.1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지점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dt = t[1] - t[0]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(delta 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s(t) = t^2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이론적 속도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v(t) = 2t)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 = t**2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velocity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확인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비교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2 * t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수치적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{velocity[50]:.2f}")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이론적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[50]:.2f}")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F8188-0C4C-AB10-D6DB-02DAAE7695C3}"/>
              </a:ext>
            </a:extLst>
          </p:cNvPr>
          <p:cNvSpPr txBox="1"/>
          <p:nvPr/>
        </p:nvSpPr>
        <p:spPr>
          <a:xfrm>
            <a:off x="360626" y="1665406"/>
            <a:ext cx="5735374" cy="5047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(f, x, eps=1e-6):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중앙 차분법을 이용한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미분할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    x: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구할 지점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eps: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아주 작은 변화량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v(t) ≈ [s(t +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 - s(t -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t)] / (2 *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numerator = f(x + eps) - f(x - eps)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denominator = 2 * eps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numerator / denominator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x**2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설정값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5; epsilon = 0.000001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{result}")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(2x): {2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오차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{abs(result - 2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205786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D2E0-2257-774C-2CE0-9876494C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ECC3E1B-5FE9-5AB9-82E8-AB76F65A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88214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시속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10km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등속도로 달리는 자동차로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시간을 주행하면 이동한 전체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(km)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구하는 파이썬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코드를 제시하라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감속도 경우도 이해하자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5C4B0A-829B-B462-60CD-D89B11EA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C93499E-0D1F-5A9E-8275-13B1A27A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C1459-41A7-5694-0A39-8BF657E0807E}"/>
              </a:ext>
            </a:extLst>
          </p:cNvPr>
          <p:cNvSpPr txBox="1"/>
          <p:nvPr/>
        </p:nvSpPr>
        <p:spPr>
          <a:xfrm>
            <a:off x="1052944" y="2628212"/>
            <a:ext cx="2493820" cy="304698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10 * t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속도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sp.diff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(s, t)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가속도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sp.diff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(v, t)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s, v, 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9581A-6140-FAB3-D8B4-AB6A5C8EA40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48768" y="3402581"/>
            <a:ext cx="1571501" cy="9532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D6A34-286E-BDEC-B6BB-6AF863338077}"/>
              </a:ext>
            </a:extLst>
          </p:cNvPr>
          <p:cNvSpPr txBox="1"/>
          <p:nvPr/>
        </p:nvSpPr>
        <p:spPr>
          <a:xfrm>
            <a:off x="3823854" y="2933134"/>
            <a:ext cx="2780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등속도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EA65AE1-F844-91FE-6133-9E7323AB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330" y="2619534"/>
            <a:ext cx="5749634" cy="382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64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9D3E-46A4-A2C8-CC98-FF671370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7CD448D-1021-7984-7067-77CC4C9C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601593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가속과 감속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890EB10-8295-8E50-EBB3-4C2900D8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8E7932-647B-ADCF-0E30-92D86F52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49171-8FC8-5680-9D88-653EA5CA2F72}"/>
              </a:ext>
            </a:extLst>
          </p:cNvPr>
          <p:cNvSpPr txBox="1"/>
          <p:nvPr/>
        </p:nvSpPr>
        <p:spPr>
          <a:xfrm>
            <a:off x="1071998" y="2241826"/>
            <a:ext cx="2493820" cy="5847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10 * t**2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BB5C8-A7B3-5F37-E73B-25905D6DFA79}"/>
              </a:ext>
            </a:extLst>
          </p:cNvPr>
          <p:cNvSpPr txBox="1"/>
          <p:nvPr/>
        </p:nvSpPr>
        <p:spPr>
          <a:xfrm>
            <a:off x="4137886" y="1842539"/>
            <a:ext cx="223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E20D3-7340-6EC1-3CFB-F354537006BE}"/>
              </a:ext>
            </a:extLst>
          </p:cNvPr>
          <p:cNvSpPr txBox="1"/>
          <p:nvPr/>
        </p:nvSpPr>
        <p:spPr>
          <a:xfrm>
            <a:off x="6691161" y="2241826"/>
            <a:ext cx="2493820" cy="5847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-10 * t**2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1ACF6B-DA24-9223-CADC-E6844CD0E8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85981" y="2241826"/>
            <a:ext cx="1228896" cy="68589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CAF0C1F-41C9-AFA7-9BEE-35F43031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77593" y="2252491"/>
            <a:ext cx="1491552" cy="6506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CC940B2-079A-E14D-2F2D-DB1CF9884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61" y="3142959"/>
            <a:ext cx="4640729" cy="34621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655B3F-31F3-478E-C886-97E0DB3F4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486" y="3142959"/>
            <a:ext cx="4640729" cy="34621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A6947-364D-704F-BB63-14199E244514}"/>
              </a:ext>
            </a:extLst>
          </p:cNvPr>
          <p:cNvSpPr txBox="1"/>
          <p:nvPr/>
        </p:nvSpPr>
        <p:spPr>
          <a:xfrm>
            <a:off x="9463538" y="1842539"/>
            <a:ext cx="223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감속도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860BDD-01C8-4C63-3084-CD719ECAF9B8}"/>
              </a:ext>
            </a:extLst>
          </p:cNvPr>
          <p:cNvSpPr/>
          <p:nvPr/>
        </p:nvSpPr>
        <p:spPr>
          <a:xfrm flipH="1">
            <a:off x="6131273" y="2252491"/>
            <a:ext cx="45719" cy="4352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22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F30E-439F-770B-C6C4-74A30CCC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E77E8C-81BD-48CF-FE7B-CF7176CF2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126472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위치를 미분 → 속도</a:t>
            </a:r>
            <a:r>
              <a:rPr lang="en-US" altLang="ko-KR" dirty="0"/>
              <a:t>, </a:t>
            </a:r>
            <a:r>
              <a:rPr lang="ko-KR" altLang="en-US" dirty="0"/>
              <a:t> 속도를 미분 → 가속도</a:t>
            </a:r>
            <a:endParaRPr lang="en-US" altLang="ko-KR" dirty="0"/>
          </a:p>
          <a:p>
            <a:pPr>
              <a:lnSpc>
                <a:spcPct val="17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가속도를 적분 → 속도</a:t>
            </a:r>
            <a:r>
              <a:rPr lang="en-US" altLang="ko-KR" dirty="0"/>
              <a:t>,</a:t>
            </a:r>
            <a:r>
              <a:rPr lang="ko-KR" altLang="en-US" dirty="0"/>
              <a:t> 속도를 적분 → 위치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70EE199-FE2E-AB1B-C3EB-95C827C7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EC39897-BF60-C6EF-7B13-1CF8519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9D29E6-B971-8A00-3814-384568163F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08101" y="3210438"/>
            <a:ext cx="3645353" cy="210143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4428A9-29B9-D20F-2705-B5F974D3A0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2667" y="3210438"/>
            <a:ext cx="7161642" cy="21227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205544-8AFC-A571-2BA3-1FA12F75225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32256" y="4177613"/>
            <a:ext cx="828764" cy="482415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75BF96D6-B550-99CE-A26A-677FC7F4D897}"/>
              </a:ext>
            </a:extLst>
          </p:cNvPr>
          <p:cNvGrpSpPr/>
          <p:nvPr/>
        </p:nvGrpSpPr>
        <p:grpSpPr>
          <a:xfrm>
            <a:off x="6375576" y="4757168"/>
            <a:ext cx="1785444" cy="527169"/>
            <a:chOff x="6375576" y="4757168"/>
            <a:chExt cx="1785444" cy="527169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623D1EF-EBAA-CEC6-4604-1E74B7DDA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352080" y="4757221"/>
              <a:ext cx="808940" cy="52711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B5F9300-F8EC-A6E6-DC47-A86676DD6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375576" y="4757168"/>
              <a:ext cx="1188939" cy="527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755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AD0D-64F0-5C6E-557E-EF4FB2FC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D5494DE-863C-9F38-C650-4485FDD2E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5332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74C09B2-C18A-C9AE-7C68-6315A1CD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180848-7044-645C-DB72-202A5595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2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9388-4461-4D86-EE45-54E60249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9FE60DC-EB95-02F6-B6AA-DAAC2BEE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84908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이해하는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물리적 모델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59C1A96-2896-D5AC-2AD0-BAC2EBE2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203B95-93F2-4E16-BAE4-CC801D24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A69836-79B6-A2DA-1A54-CCE1425A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947866"/>
            <a:ext cx="8100291" cy="44755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D1F81D-9D73-A277-AF02-F1D09CEE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369" y="2672372"/>
            <a:ext cx="1365027" cy="4739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BB9B605-A74B-AE8D-B47A-481A2156A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662" y="3429000"/>
            <a:ext cx="2287684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7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85AD-4242-C287-E9AC-59ECC4A9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서울에서 강릉까지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(180 km)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여행을 가는데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처음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교통체증으로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분이 걸렸고 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도로가 뻥 뚫려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45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만에 달렸다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km/h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단위로 계산하세요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구간의 속도는 각각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60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120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단순히 두 속도의 산술평균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(90 km/h)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왜 다를까요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거리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÷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시간”이라는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평균속도의 정의를 이용해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8B94D30B-61C5-F50A-881E-9D567962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7E7BEBB-7AF7-A56F-1FDB-111BF55E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58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C9BB-C576-5D76-A621-12F6D2D3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마블의 순간 이동 능력으로 당신의 위치가 시간에 따라 아래와 같이 주어졌어요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𝑥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=4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p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+2</m:t>
                    </m:r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m, t: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초부터 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초까지의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구하시오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 함수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𝑣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𝑑𝑥</m:t>
                        </m:r>
                      </m:num>
                      <m:den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초에서의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계산하시오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평균속도과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AB17F3EE-D6F0-304C-76DD-092CEB6B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FB34E9E-4A02-7B86-AD9B-8F5BC007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777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DB512-E367-6CB3-6427-170A6575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마블의 순간 이동에 따른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  <a:blipFill>
                <a:blip r:embed="rId2"/>
                <a:stretch>
                  <a:fillRect l="-58" b="-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1DEF03F-E099-05C7-39C4-D8D08C14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C8490EB-72B1-37E5-1777-33C4537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714919-2A05-70C7-C618-3BD78C95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351" y="3429000"/>
            <a:ext cx="8954202" cy="294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4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762A-CD1D-F0CB-9A99-FC8EA8D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  <a:blipFill>
                <a:blip r:embed="rId2"/>
                <a:stretch>
                  <a:fillRect l="-232" t="-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33FA9756-4D60-95AD-C21F-D0BF91D4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AB88AB-AF58-CDCF-02C5-0714062F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A8962F5-C54B-FA99-98A0-64D114B8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40" y="3070225"/>
            <a:ext cx="9373736" cy="30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369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3342-2425-B552-0F6D-02A599DF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1A20275-9114-67D7-400E-3F605E1DB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379" y="1220061"/>
            <a:ext cx="10642271" cy="13201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1,000 US dollars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은행에 복리이자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(compound interest)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분기복리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복리 그리고 시간을 무한히 나누어 복리이자를 한 경우의 그래프이다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미분방정식과 미래 가치 등을 계산하여 시각화를 재현하라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2A52C4-A097-F5B5-CE72-E072B1D76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33A2C10-ABF7-FF0C-AC9E-C8A89559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6430F4-CAAD-D9B3-D0F2-334DB356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967" y="2696848"/>
            <a:ext cx="6118009" cy="382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3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5FBF-DC47-80C6-4AEC-E66FD819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E98496D-305F-3053-F591-5FEFAE4FD4F7}"/>
              </a:ext>
            </a:extLst>
          </p:cNvPr>
          <p:cNvSpPr/>
          <p:nvPr/>
        </p:nvSpPr>
        <p:spPr>
          <a:xfrm>
            <a:off x="1104901" y="36322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A0CDE0-35EA-B5D8-34D8-CAFA3E336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3BE607-FDD9-5E0A-251B-4BF9BED4E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AA790-AB8F-1879-7D55-BD8C7A83023B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77097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7F15-CC48-EF66-DE9B-044C76CC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86733F-17E8-F77E-0D2D-9C8ACE00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 조달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비율을 결정하라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배경설명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데이터는 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Obtain_data_prices.csv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</a:rPr>
              <a:t> )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59CEC3-8C62-8AED-B57C-6AC41CB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0ACED5-0EA9-66A8-294D-E39924E5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761D9-3270-411C-4820-CE4B86A769DC}"/>
              </a:ext>
            </a:extLst>
          </p:cNvPr>
          <p:cNvSpPr txBox="1"/>
          <p:nvPr/>
        </p:nvSpPr>
        <p:spPr>
          <a:xfrm>
            <a:off x="1919202" y="2493818"/>
            <a:ext cx="9423053" cy="35421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제품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 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생산 공정의 필수 원자재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기간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2018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~ 2020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과거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26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데이터 기반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목적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향후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예산 수립을 위한 공급업체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(A, B)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최적 구매 비율 결정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분석 시나리오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예상 분석 프로세스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공급업체 선정 및 비율 결정을 위해 다음 세 가지 지표를 검토하라</a:t>
            </a:r>
            <a:endParaRPr lang="en-US" altLang="ko-KR" sz="14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산술 평균 가격 비교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기대 비용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 중 어느 곳이 전반적으로 더 저렴한가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  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 절감 측면에서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유리하지만 단순히 평균만 봐서는 안 되며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특정 시점의 가격 역전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(Price Cross)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빈도를 확인</a:t>
            </a:r>
            <a:r>
              <a:rPr lang="ko-KR" altLang="en-US" sz="1200" dirty="0">
                <a:solidFill>
                  <a:srgbClr val="FFFFFF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하라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변동성 및 리스크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가격이 얼마나 널뛰는가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예산 모델링에서 안정성은 매우 </a:t>
            </a:r>
            <a:r>
              <a:rPr lang="ko-KR" altLang="en-US" sz="1200" b="0" i="0" dirty="0" err="1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중요하기때문에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평균 가격이 낮더라도 변동성이 너무 크면 예산 초과 리스크가 발생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상관관계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포트폴리오 효과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가격이 같이 움직이는가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상관계수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확인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 상관관계가 낮거나 음수라면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물량을 나누어 구매함으로써 전체 조달 비용의 변동성을 상쇄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(Hedge)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수 있음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368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18E5-3E28-1CD8-FEE2-5661777B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FE9F5D6-547A-F4CE-3159-6BF1FB22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최적의 주문 비율을 정하라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4C7295-8C9B-4984-1744-BA1E610B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3B57F09-7FBE-6536-DDB5-1C49E76C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67C35D-C18A-EE13-477B-33829D7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531" y="2191429"/>
            <a:ext cx="9993935" cy="29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47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4E43-CB59-8F5C-4388-4811D5B1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18745B-AC4C-DDD2-8292-D26BA853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64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가격의 이동평균과 이동 표준편차를 고려하라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(Hints)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가격의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변동성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큰 것은 위험한 것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 Minimization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C2D05B7-AC60-6082-2034-4BCDC4EF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D1F052-3979-3A26-E065-56AF8FA9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E337E23-A785-0D8C-E673-31CA7D63D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424" y="2744067"/>
            <a:ext cx="9228590" cy="303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018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A33-2D8C-8206-106E-DD18CAA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10804F-F0BA-ECEF-4EB9-DFFA04EB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766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비용함수를 만들어 최적화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 값이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zero)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되는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w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찾으면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0.7023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FE925E-53B4-0BD5-7DDB-C1DBEFCD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E96ED0-98E2-AE92-8E7D-773680F5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436B390-E3E2-8328-29E8-1FA5AA40C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345939"/>
            <a:ext cx="51530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757515-8BAB-A0AF-2D1F-FA9AD75392E2}"/>
              </a:ext>
            </a:extLst>
          </p:cNvPr>
          <p:cNvSpPr txBox="1"/>
          <p:nvPr/>
        </p:nvSpPr>
        <p:spPr>
          <a:xfrm>
            <a:off x="6543675" y="2310488"/>
            <a:ext cx="5153025" cy="358046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</a:t>
            </a: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기호 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w: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배분 비율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공분산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('omega')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('sigma_A^2 sigma_B^2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sigma_AB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리스크 함수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L(w) = Var(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*w +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*(1-w))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전개식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w^2*Var(A) + (1-w)^2*Var(B) + 2*w*(1-w)*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Cov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(A,B)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 = w**2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(1-w)**2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+ 2*w*(1-w)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b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</a:b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최적화를 위한 미분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(dL/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0)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(L, w)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optimal_w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w)[0]</a:t>
            </a:r>
          </a:p>
        </p:txBody>
      </p:sp>
    </p:spTree>
    <p:extLst>
      <p:ext uri="{BB962C8B-B14F-4D97-AF65-F5344CB8AC3E}">
        <p14:creationId xmlns:p14="http://schemas.microsoft.com/office/powerpoint/2010/main" val="1930366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D6C1-CFD0-3876-8D1A-E9CBFE0A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01E7E6B-84CC-4B6A-3AB3-0D24E86D6D54}"/>
              </a:ext>
            </a:extLst>
          </p:cNvPr>
          <p:cNvSpPr/>
          <p:nvPr/>
        </p:nvSpPr>
        <p:spPr>
          <a:xfrm>
            <a:off x="1104901" y="419427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450445-5DF7-64E1-9238-B817DDEE1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0A2F57-17F3-AB82-F3D8-29F5F794C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D0209-96C0-6694-D351-6B9F0C61D77A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174875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365C-2FC7-5245-0848-EAD4EECD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2126BE-317A-FC6D-1EFF-328494D8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11645E-4FD6-1363-3E45-0A247404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131A6A-B13C-CBF5-A2D9-F3D965A1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21775" y="3063940"/>
            <a:ext cx="4673771" cy="10213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FA0E69-D0BF-D5B0-8F1E-C0EF9C65DE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42066" y="4376481"/>
            <a:ext cx="4633188" cy="11295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B7088D-3D0B-DB8A-8968-53C063BAF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75" y="1622010"/>
            <a:ext cx="5159187" cy="115072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C2C48BE-9BC7-5AC2-EEEF-B0EB00AF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2010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B14EC5A-44EC-8A71-55DA-2308077F4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4058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3B44A2-52A5-F573-88BA-ED032686EDA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5363" y="3544801"/>
            <a:ext cx="1045904" cy="3072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1B9045-AEBD-DD1A-465A-F80A2DB51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792" y="2071264"/>
            <a:ext cx="283635" cy="3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36C4-EE77-CCA4-FEA0-B92C7B68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C709EE6-A145-F705-8620-7F2C3C7023EF}"/>
              </a:ext>
            </a:extLst>
          </p:cNvPr>
          <p:cNvSpPr/>
          <p:nvPr/>
        </p:nvSpPr>
        <p:spPr>
          <a:xfrm>
            <a:off x="1104901" y="468957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93C4B2-C50B-5142-F302-F123F53FB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33A535-7595-7433-FC80-4FF14C9A2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941AE-D08C-0C55-80E8-0D725E91B50B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66969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FA8D-EFC0-F006-D4AB-47B69926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F9712C-5B4D-1BD5-FE8A-54E45DDEC35E}"/>
              </a:ext>
            </a:extLst>
          </p:cNvPr>
          <p:cNvSpPr txBox="1"/>
          <p:nvPr/>
        </p:nvSpPr>
        <p:spPr>
          <a:xfrm>
            <a:off x="1010497" y="1068787"/>
            <a:ext cx="6921227" cy="549381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sklearn.linear_model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Ridge, Lasso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sklearn.preprocessing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np.random.RandomState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(1234)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10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(100); 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 + 0.25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(0, 10, 100)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models = {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'Linear':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'Polynomial':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'Ridge':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Ridge(alpha=1)),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'Lasso':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Lasso(alpha=1)),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=(20, 6));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plt.scatter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(X, y)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styles = ['r-', 'g-', 'b-', 'k-’]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(name, model), style in zip(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models.items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(), styles):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], y)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]), style, label=name)</a:t>
            </a:r>
          </a:p>
          <a:p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plt.legend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fontsize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=16);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plt.ylim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(-4, 4)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F26F4B-F240-5660-DE77-05421AF3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804364-33A8-ACB2-C2E5-864D11EB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E121FA0-5424-CAF3-1125-68C64E1BB051}"/>
              </a:ext>
            </a:extLst>
          </p:cNvPr>
          <p:cNvSpPr/>
          <p:nvPr/>
        </p:nvSpPr>
        <p:spPr>
          <a:xfrm>
            <a:off x="8340436" y="2789382"/>
            <a:ext cx="692728" cy="1385454"/>
          </a:xfrm>
          <a:prstGeom prst="rightArrow">
            <a:avLst>
              <a:gd name="adj1" fmla="val 64667"/>
              <a:gd name="adj2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87D16-AA64-F12D-47ED-51AE537B5490}"/>
              </a:ext>
            </a:extLst>
          </p:cNvPr>
          <p:cNvSpPr txBox="1"/>
          <p:nvPr/>
        </p:nvSpPr>
        <p:spPr>
          <a:xfrm>
            <a:off x="9264073" y="2789382"/>
            <a:ext cx="2373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함수에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L2 penalty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부여한 새로운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설정하여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코드를 생성하라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21650F-00C5-3449-5259-48FFAB06FA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84631" y="1063416"/>
            <a:ext cx="1404705" cy="4942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128B04-3C98-D55D-B84F-2CE3686DA6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84631" y="1813197"/>
            <a:ext cx="3726369" cy="46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6FA6-74C7-88C9-BFBA-D8AD157D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752A388-439D-EEB9-26EA-BBB92E20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4BF533-F31A-6BF6-753A-09DAEB8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FEE754-8B21-C573-D5AF-C8267A4B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58" y="2886969"/>
            <a:ext cx="10428324" cy="3330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070F2-82F7-2C59-5420-070887EC6108}"/>
              </a:ext>
            </a:extLst>
          </p:cNvPr>
          <p:cNvSpPr txBox="1"/>
          <p:nvPr/>
        </p:nvSpPr>
        <p:spPr>
          <a:xfrm>
            <a:off x="842210" y="1285138"/>
            <a:ext cx="1086026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모델이 너무 단순하면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못 맞추고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너무 복잡하면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(Polynomial)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예민해지는데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적절한 규제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(Lasso, Ridge)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주면 훨씬 안정적인 예측 모델이 된다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것을 시각적으로 표현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머신러닝의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목적은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아니라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새로운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 각 모델의 예측 값은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652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5C64-2C1F-ED10-2305-AC3FEFC2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96BFBFB-182E-BE0D-F6EC-3B5802EE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DD22321-8722-5365-0508-9396C405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383C4-9714-B268-35CA-D128C720733C}"/>
              </a:ext>
            </a:extLst>
          </p:cNvPr>
          <p:cNvSpPr txBox="1"/>
          <p:nvPr/>
        </p:nvSpPr>
        <p:spPr>
          <a:xfrm>
            <a:off x="842210" y="1285138"/>
            <a:ext cx="10860262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모델의 특징별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값을 추출하여 아래와 같이 테이블을 생성하라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모델은 단순회귀식으로 변수가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계수 값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 values)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비교하고 토론하라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 regression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계수 값을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만드는지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Sparsity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특징을 갖는지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8B006-1902-0666-407A-741D1CE8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71" y="3648633"/>
            <a:ext cx="10079974" cy="213177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04883D6-624A-023C-D671-0E4B17F02936}"/>
              </a:ext>
            </a:extLst>
          </p:cNvPr>
          <p:cNvSpPr/>
          <p:nvPr/>
        </p:nvSpPr>
        <p:spPr>
          <a:xfrm>
            <a:off x="842210" y="4856480"/>
            <a:ext cx="10644940" cy="923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B25E70-BCF1-DC68-0FD1-C0D1FB71E0C5}"/>
              </a:ext>
            </a:extLst>
          </p:cNvPr>
          <p:cNvSpPr/>
          <p:nvPr/>
        </p:nvSpPr>
        <p:spPr>
          <a:xfrm>
            <a:off x="2284930" y="5318442"/>
            <a:ext cx="976430" cy="31019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86DACA-1022-D25F-AC9D-688EBEE12113}"/>
              </a:ext>
            </a:extLst>
          </p:cNvPr>
          <p:cNvSpPr/>
          <p:nvPr/>
        </p:nvSpPr>
        <p:spPr>
          <a:xfrm>
            <a:off x="3261360" y="5318442"/>
            <a:ext cx="976430" cy="31019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D9F29E-EF8B-AB17-9748-FAFD9B2645FF}"/>
              </a:ext>
            </a:extLst>
          </p:cNvPr>
          <p:cNvSpPr/>
          <p:nvPr/>
        </p:nvSpPr>
        <p:spPr>
          <a:xfrm>
            <a:off x="5055944" y="5318442"/>
            <a:ext cx="976430" cy="31019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B70380-E1C9-407F-1063-343E666EEB3A}"/>
              </a:ext>
            </a:extLst>
          </p:cNvPr>
          <p:cNvSpPr/>
          <p:nvPr/>
        </p:nvSpPr>
        <p:spPr>
          <a:xfrm>
            <a:off x="9424744" y="5318442"/>
            <a:ext cx="976430" cy="31019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FE0331-8179-1003-51D9-52EF5A3EE439}"/>
              </a:ext>
            </a:extLst>
          </p:cNvPr>
          <p:cNvSpPr/>
          <p:nvPr/>
        </p:nvSpPr>
        <p:spPr>
          <a:xfrm>
            <a:off x="10389944" y="5318442"/>
            <a:ext cx="976430" cy="31019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16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F0C96-3B27-BB48-DA78-0CFBBF4E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1DE821-57A7-BE4B-1984-B5F99A55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2BC1B00-91CB-AC63-78CA-FAF87EAC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36D9234-AC50-5FCB-71B1-2935B19F2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251" y="2513766"/>
            <a:ext cx="3726797" cy="374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EC122D-E7BB-BE6B-B3A0-157E9953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08708" y="2527951"/>
            <a:ext cx="1775583" cy="6313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CE945B4-C646-B222-F74D-3C0DBC99C4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08706" y="4285662"/>
            <a:ext cx="1775583" cy="6523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BD6D12-C63F-13C0-6BC9-77A7B60A3405}"/>
              </a:ext>
            </a:extLst>
          </p:cNvPr>
          <p:cNvSpPr txBox="1"/>
          <p:nvPr/>
        </p:nvSpPr>
        <p:spPr>
          <a:xfrm>
            <a:off x="5308706" y="3210529"/>
            <a:ext cx="6412239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절대값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중요하지 않은 변수의 계수를 정확히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만들어 변수 선택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 Selection)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E84E4-F875-478E-C686-9758ADE9AAD8}"/>
              </a:ext>
            </a:extLst>
          </p:cNvPr>
          <p:cNvSpPr txBox="1"/>
          <p:nvPr/>
        </p:nvSpPr>
        <p:spPr>
          <a:xfrm>
            <a:off x="5308706" y="5011642"/>
            <a:ext cx="6504602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계수를 완전히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만들지는 않지만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전체적으로 크기를 줄여서 모델의 분산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(Variance)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낮추고 과적합을 방지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0A7C9-3270-0BD3-5B1C-B6B2217CA9FD}"/>
              </a:ext>
            </a:extLst>
          </p:cNvPr>
          <p:cNvSpPr txBox="1"/>
          <p:nvPr/>
        </p:nvSpPr>
        <p:spPr>
          <a:xfrm>
            <a:off x="1173019" y="1234376"/>
            <a:ext cx="1084349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Lasso(L1 penalty)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중요하지 않은 변수를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만들어 없애 버리는 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불필요한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weight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 제거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Ridge(L2 penalty)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 변수를 안고 가되 그 힘을 골고루 빼놓는 모래주머니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weight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 줄임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6202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0444-002E-FCBE-575E-38E8737D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AD03CC8-6144-796E-E068-ACC28125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B0C7EE4-D340-7AFF-980F-0C37C2D3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47A21C-0B7C-8869-6CF3-90C1D6159AD5}"/>
                  </a:ext>
                </a:extLst>
              </p:cNvPr>
              <p:cNvSpPr txBox="1"/>
              <p:nvPr/>
            </p:nvSpPr>
            <p:spPr>
              <a:xfrm>
                <a:off x="842210" y="1285138"/>
                <a:ext cx="10860262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(Cost)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형태와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대해 토론하라</a:t>
                </a:r>
                <a:endParaRPr lang="en-US" altLang="ko-KR" sz="2000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wiki/</a:t>
                </a:r>
                <a:r>
                  <a:rPr lang="en-US" altLang="ko-KR" sz="2000" dirty="0" err="1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Linear_regression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에서 행렬식의 회귀식에 대해 토론하라</a:t>
                </a:r>
                <a:endParaRPr lang="en-US" altLang="ko-KR" sz="2000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L1, L2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손실함수의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미분방정식의 직관적 이해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(Why sparsity?)</a:t>
                </a:r>
                <a:endParaRPr lang="ko-KR" altLang="en-US" sz="2000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47A21C-0B7C-8869-6CF3-90C1D6159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10" y="1285138"/>
                <a:ext cx="10860262" cy="1417824"/>
              </a:xfrm>
              <a:prstGeom prst="rect">
                <a:avLst/>
              </a:prstGeom>
              <a:blipFill>
                <a:blip r:embed="rId3"/>
                <a:stretch>
                  <a:fillRect l="-505"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BE45A263-58DF-F964-7347-38E892628C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06628" y="4532444"/>
            <a:ext cx="2705909" cy="7077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368B17-A096-1719-6EA7-6E190E78863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06627" y="5567018"/>
            <a:ext cx="2705909" cy="6986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D74CB3-01C8-09F0-9C2D-0ECD446FEF8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06629" y="3680752"/>
            <a:ext cx="2705907" cy="7020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2F34F9-2651-37FB-82B9-C89F916BA14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50235" y="3731375"/>
            <a:ext cx="1318027" cy="4637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4DC66D-E0CC-98ED-4445-E081D433543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50235" y="4161440"/>
            <a:ext cx="3742657" cy="463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7CF39F-F592-1877-0217-14EEDEB277D2}"/>
              </a:ext>
            </a:extLst>
          </p:cNvPr>
          <p:cNvSpPr txBox="1"/>
          <p:nvPr/>
        </p:nvSpPr>
        <p:spPr>
          <a:xfrm>
            <a:off x="1123515" y="3129537"/>
            <a:ext cx="237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800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(Model)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9455C-4E5A-6884-2B5D-DDB2E3919742}"/>
              </a:ext>
            </a:extLst>
          </p:cNvPr>
          <p:cNvSpPr txBox="1"/>
          <p:nvPr/>
        </p:nvSpPr>
        <p:spPr>
          <a:xfrm>
            <a:off x="5962650" y="3129537"/>
            <a:ext cx="46918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800" dirty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Minimization)</a:t>
            </a:r>
            <a:endParaRPr lang="ko-KR" altLang="en-US" dirty="0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D98D96D-5A33-3C9B-40B6-38BD7F489B03}"/>
              </a:ext>
            </a:extLst>
          </p:cNvPr>
          <p:cNvCxnSpPr>
            <a:cxnSpLocks/>
            <a:stCxn id="13" idx="1"/>
            <a:endCxn id="16" idx="1"/>
          </p:cNvCxnSpPr>
          <p:nvPr/>
        </p:nvCxnSpPr>
        <p:spPr>
          <a:xfrm rot="10800000">
            <a:off x="1123515" y="3314204"/>
            <a:ext cx="426720" cy="649047"/>
          </a:xfrm>
          <a:prstGeom prst="bentConnector3">
            <a:avLst>
              <a:gd name="adj1" fmla="val 15357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D97C7C43-BE96-B8F4-12B6-B7F4CB9219E9}"/>
              </a:ext>
            </a:extLst>
          </p:cNvPr>
          <p:cNvCxnSpPr>
            <a:cxnSpLocks/>
            <a:stCxn id="12" idx="1"/>
            <a:endCxn id="17" idx="1"/>
          </p:cNvCxnSpPr>
          <p:nvPr/>
        </p:nvCxnSpPr>
        <p:spPr>
          <a:xfrm rot="10800000">
            <a:off x="5962651" y="3314204"/>
            <a:ext cx="143979" cy="717567"/>
          </a:xfrm>
          <a:prstGeom prst="bentConnector3">
            <a:avLst>
              <a:gd name="adj1" fmla="val 25877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BCDE0432-2547-B13C-1538-0F9C4838889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12535" y="5659600"/>
            <a:ext cx="3155291" cy="55415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3874D0E-10E7-C3B8-CDA9-DE9A92DF8F3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12535" y="4632299"/>
            <a:ext cx="2843057" cy="55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15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6476-D1BC-93EE-AD7F-698D18F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5E5055A-FEDA-CD90-6842-D10AD41D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CF6EC08-194F-8A13-AF31-10653AA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9F7DB-E7BE-3414-0C44-424E16526041}"/>
              </a:ext>
            </a:extLst>
          </p:cNvPr>
          <p:cNvSpPr txBox="1"/>
          <p:nvPr/>
        </p:nvSpPr>
        <p:spPr>
          <a:xfrm>
            <a:off x="842210" y="1285138"/>
            <a:ext cx="10860262" cy="3363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Scikit-learn</a:t>
            </a:r>
            <a:r>
              <a:rPr lang="ko-KR" altLang="en-US" dirty="0"/>
              <a:t>의 선형모델</a:t>
            </a:r>
            <a:r>
              <a:rPr lang="en-US" altLang="ko-KR" dirty="0"/>
              <a:t>(</a:t>
            </a:r>
            <a:r>
              <a:rPr lang="en-US" altLang="ko-KR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linear_model</a:t>
            </a:r>
            <a:r>
              <a:rPr lang="en-US" altLang="ko-KR" dirty="0"/>
              <a:t>)</a:t>
            </a:r>
            <a:r>
              <a:rPr lang="ko-KR" altLang="en-US" dirty="0"/>
              <a:t>의 수식</a:t>
            </a:r>
            <a:r>
              <a:rPr lang="en-US" altLang="ko-KR" dirty="0"/>
              <a:t>(L2 norm</a:t>
            </a:r>
            <a:r>
              <a:rPr lang="ko-KR" altLang="en-US" dirty="0"/>
              <a:t>을 제곱</a:t>
            </a:r>
            <a:r>
              <a:rPr lang="en-US" altLang="ko-KR" dirty="0"/>
              <a:t>)</a:t>
            </a:r>
            <a:r>
              <a:rPr lang="ko-KR" altLang="en-US" dirty="0"/>
              <a:t>에 대해 토론하라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선형회귀</a:t>
            </a:r>
            <a:r>
              <a:rPr lang="en-US" altLang="ko-KR" dirty="0"/>
              <a:t>, </a:t>
            </a:r>
            <a:r>
              <a:rPr lang="ko-KR" altLang="en-US" dirty="0"/>
              <a:t>기하학적</a:t>
            </a:r>
            <a:r>
              <a:rPr lang="en-US" altLang="ko-KR" dirty="0"/>
              <a:t> </a:t>
            </a:r>
            <a:r>
              <a:rPr lang="ko-KR" altLang="en-US" dirty="0"/>
              <a:t>투영</a:t>
            </a:r>
            <a:r>
              <a:rPr lang="en-US" altLang="ko-KR" dirty="0"/>
              <a:t>(projection), </a:t>
            </a:r>
            <a:r>
              <a:rPr lang="ko-KR" altLang="en-US" dirty="0"/>
              <a:t>미분</a:t>
            </a:r>
            <a:r>
              <a:rPr lang="en-US" altLang="ko-KR" dirty="0"/>
              <a:t>(derivative) </a:t>
            </a:r>
            <a:r>
              <a:rPr lang="ko-KR" altLang="en-US" dirty="0"/>
              <a:t>등 각각의 관점에 대해 토론하자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Scikit-learn</a:t>
            </a:r>
            <a:r>
              <a:rPr lang="ko-KR" altLang="en-US" dirty="0"/>
              <a:t>의 </a:t>
            </a:r>
            <a:r>
              <a:rPr lang="en-US" altLang="ko-KR" dirty="0" err="1"/>
              <a:t>load_diabetes</a:t>
            </a:r>
            <a:r>
              <a:rPr lang="en-US" altLang="ko-KR" dirty="0"/>
              <a:t> </a:t>
            </a:r>
            <a:r>
              <a:rPr lang="ko-KR" altLang="en-US" dirty="0"/>
              <a:t>를 바탕으로 </a:t>
            </a:r>
            <a:r>
              <a:rPr lang="en-US" altLang="ko-KR" dirty="0" err="1"/>
              <a:t>train_test_split</a:t>
            </a:r>
            <a:r>
              <a:rPr lang="ko-KR" altLang="en-US" dirty="0"/>
              <a:t>를 통해 아래 </a:t>
            </a:r>
            <a:r>
              <a:rPr lang="en-US" altLang="ko-KR" dirty="0"/>
              <a:t>3</a:t>
            </a:r>
            <a:r>
              <a:rPr lang="ko-KR" altLang="en-US" dirty="0"/>
              <a:t>가지 방법으로 </a:t>
            </a:r>
            <a:r>
              <a:rPr lang="en-US" altLang="ko-KR" dirty="0"/>
              <a:t>parameters</a:t>
            </a:r>
            <a:r>
              <a:rPr lang="ko-KR" altLang="en-US" dirty="0"/>
              <a:t>를 구하고 비교하라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from </a:t>
            </a:r>
            <a:r>
              <a:rPr lang="en-US" altLang="ko-KR" dirty="0" err="1"/>
              <a:t>sklearn.linear_model</a:t>
            </a:r>
            <a:r>
              <a:rPr lang="en-US" altLang="ko-KR" dirty="0"/>
              <a:t> import </a:t>
            </a:r>
            <a:r>
              <a:rPr lang="en-US" altLang="ko-KR" dirty="0" err="1"/>
              <a:t>LinearRegression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import </a:t>
            </a:r>
            <a:r>
              <a:rPr lang="en-US" altLang="ko-KR" dirty="0" err="1"/>
              <a:t>statsmodels.api</a:t>
            </a:r>
            <a:r>
              <a:rPr lang="en-US" altLang="ko-KR" dirty="0"/>
              <a:t> as </a:t>
            </a:r>
            <a:r>
              <a:rPr lang="en-US" altLang="ko-KR" dirty="0" err="1"/>
              <a:t>sm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import</a:t>
            </a:r>
            <a:r>
              <a:rPr lang="ko-KR" altLang="en-US" dirty="0"/>
              <a:t> </a:t>
            </a:r>
            <a:r>
              <a:rPr lang="en-US" altLang="ko-KR" dirty="0" err="1"/>
              <a:t>numpy</a:t>
            </a:r>
            <a:r>
              <a:rPr lang="ko-KR" altLang="en-US" dirty="0"/>
              <a:t>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/>
              <a:t>np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0602C-5DA9-D570-FF09-907AA9270D7D}"/>
              </a:ext>
            </a:extLst>
          </p:cNvPr>
          <p:cNvSpPr txBox="1"/>
          <p:nvPr/>
        </p:nvSpPr>
        <p:spPr>
          <a:xfrm>
            <a:off x="4017505" y="5293023"/>
            <a:ext cx="3114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lectures/lecturenote08.html</a:t>
            </a:r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63E79C3-FF2D-57CF-E818-B8E082950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421" y="5164195"/>
            <a:ext cx="1557334" cy="4388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696029-D14D-AE60-8266-EDE568763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421" y="4311361"/>
            <a:ext cx="4114860" cy="43880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B22D6C6-4F06-FD9A-0DC6-9F8423CA48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421" y="4725388"/>
            <a:ext cx="1996140" cy="43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40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F8B4-A99B-88EE-75C1-6CEF82FB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0521C8-7C2C-7319-FE80-5CB704F4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053BC1-A3BE-48A2-D122-B726B63A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22338-7AAF-EE81-32F5-A4761D443AA3}"/>
              </a:ext>
            </a:extLst>
          </p:cNvPr>
          <p:cNvSpPr txBox="1"/>
          <p:nvPr/>
        </p:nvSpPr>
        <p:spPr>
          <a:xfrm>
            <a:off x="1020158" y="1143755"/>
            <a:ext cx="10866889" cy="540147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load_diabetes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sklearn.model_selection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train_test_split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sklearn.linear_model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statsmodels.api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pandas as pd</a:t>
            </a: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diabetes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load_diabetes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X, y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diabetes.data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diabetes.target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diabetes.feature_names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y_test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train_test_split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(X, y,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test_size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=0.2,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</a:p>
          <a:p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lr.fit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sk_coef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np.insert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lr.coef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_, 0,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lr.intercept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_)</a:t>
            </a:r>
          </a:p>
          <a:p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X_train_bias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np.c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_[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np.ones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X_train.shape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[0], 1)),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results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sm.OLS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X_train_bias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).fit()</a:t>
            </a:r>
          </a:p>
          <a:p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results.summary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xname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=['Intercept'] +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beta_hat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np.linalg.inv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X_train_bias.T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X_train_bias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@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X_train_bias.T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5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({'Feature': ['Intercept'] +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 방정식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':</a:t>
            </a:r>
            <a:r>
              <a:rPr lang="ko-KR" altLang="en-US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beta_hat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': </a:t>
            </a:r>
            <a:r>
              <a:rPr lang="en-US" altLang="ko-KR" sz="15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sk_coef</a:t>
            </a:r>
            <a:r>
              <a:rPr lang="en-US" altLang="ko-KR" sz="15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11E096-1FAC-C38C-D1F6-878AFA65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005" y="5666620"/>
            <a:ext cx="1557334" cy="43880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DACF2A-F3AC-276D-6B10-A239E42DF8EB}"/>
              </a:ext>
            </a:extLst>
          </p:cNvPr>
          <p:cNvSpPr/>
          <p:nvPr/>
        </p:nvSpPr>
        <p:spPr>
          <a:xfrm>
            <a:off x="666750" y="3895724"/>
            <a:ext cx="8610600" cy="76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7A19D3-0152-5C07-0663-6AC650D0DAF9}"/>
              </a:ext>
            </a:extLst>
          </p:cNvPr>
          <p:cNvSpPr/>
          <p:nvPr/>
        </p:nvSpPr>
        <p:spPr>
          <a:xfrm>
            <a:off x="666750" y="4791074"/>
            <a:ext cx="8610600" cy="76643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F85A64-1293-53D7-E18B-43F362D66343}"/>
              </a:ext>
            </a:extLst>
          </p:cNvPr>
          <p:cNvSpPr/>
          <p:nvPr/>
        </p:nvSpPr>
        <p:spPr>
          <a:xfrm>
            <a:off x="666750" y="5657095"/>
            <a:ext cx="8610600" cy="4578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ADA89B-7896-8D38-D27A-94A67FD3F725}"/>
              </a:ext>
            </a:extLst>
          </p:cNvPr>
          <p:cNvSpPr/>
          <p:nvPr/>
        </p:nvSpPr>
        <p:spPr>
          <a:xfrm>
            <a:off x="627380" y="1643723"/>
            <a:ext cx="8610600" cy="195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A7B5E5-2514-7ABA-6369-6A0B0BF68B8F}"/>
              </a:ext>
            </a:extLst>
          </p:cNvPr>
          <p:cNvSpPr/>
          <p:nvPr/>
        </p:nvSpPr>
        <p:spPr>
          <a:xfrm>
            <a:off x="627380" y="1873740"/>
            <a:ext cx="8610600" cy="19547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46D3C9-B628-D706-7DA8-A1956DCD6FB3}"/>
              </a:ext>
            </a:extLst>
          </p:cNvPr>
          <p:cNvSpPr/>
          <p:nvPr/>
        </p:nvSpPr>
        <p:spPr>
          <a:xfrm>
            <a:off x="627380" y="2111113"/>
            <a:ext cx="8610600" cy="19547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A99CD8-83C9-9A44-E48F-1843A01A2F01}"/>
              </a:ext>
            </a:extLst>
          </p:cNvPr>
          <p:cNvSpPr txBox="1"/>
          <p:nvPr/>
        </p:nvSpPr>
        <p:spPr>
          <a:xfrm>
            <a:off x="9481005" y="4804961"/>
            <a:ext cx="21398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머신러닝은</a:t>
            </a:r>
            <a:r>
              <a:rPr lang="ko-KR" altLang="en-US" sz="14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예측이 목적이지 통계적 의미는 별 관심이 없음</a:t>
            </a:r>
          </a:p>
        </p:txBody>
      </p:sp>
    </p:spTree>
    <p:extLst>
      <p:ext uri="{BB962C8B-B14F-4D97-AF65-F5344CB8AC3E}">
        <p14:creationId xmlns:p14="http://schemas.microsoft.com/office/powerpoint/2010/main" val="132551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8" grpId="0" animBg="1"/>
      <p:bldP spid="20" grpId="0" animBg="1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5FDB-3663-640C-7B6F-F8058987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A126342-5B6E-FEAA-E536-2DCC8EC9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bias-variance tradeoff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836632-3677-3ED3-5ACB-AC1C2DB4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97211-75CE-AC14-08DC-37F4B2017B48}"/>
              </a:ext>
            </a:extLst>
          </p:cNvPr>
          <p:cNvSpPr txBox="1"/>
          <p:nvPr/>
        </p:nvSpPr>
        <p:spPr>
          <a:xfrm>
            <a:off x="1026160" y="1123277"/>
            <a:ext cx="991616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편향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분산에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bias-variance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클릭하여 학습하자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의사결정나무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KNN,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딥러닝은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어떤 경우에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과적합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(Overfitting)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되는가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C1D491-6AE1-B98D-7FC9-7E42BE3B0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930" y="2293320"/>
            <a:ext cx="4105910" cy="405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B10BB7-1E11-FECA-F32E-1CAE70D863A1}"/>
              </a:ext>
            </a:extLst>
          </p:cNvPr>
          <p:cNvSpPr txBox="1"/>
          <p:nvPr/>
        </p:nvSpPr>
        <p:spPr>
          <a:xfrm>
            <a:off x="1117600" y="6350058"/>
            <a:ext cx="3698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dirty="0"/>
              <a:t>http://scott.fortmann-roe.com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BEBF6-4E13-AA48-3986-AB4544BAAD86}"/>
              </a:ext>
            </a:extLst>
          </p:cNvPr>
          <p:cNvSpPr txBox="1"/>
          <p:nvPr/>
        </p:nvSpPr>
        <p:spPr>
          <a:xfrm>
            <a:off x="5862320" y="2949258"/>
            <a:ext cx="6096000" cy="211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편향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예측모델의 평균 기대 값과 실제 값의 차이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예측모델의 평균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기대값의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퍼짐 정도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ED22D8C-6771-FA4F-3CD7-9C964D6E8D5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62554" y="3668089"/>
            <a:ext cx="3368332" cy="4801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F4B57C-D498-1569-CFA8-4CA226EA64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62554" y="5284002"/>
            <a:ext cx="3490262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AF48-CF91-BC8C-4E43-2D99D841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4A99C4B-35A4-CBC3-4F03-3302D7D9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Ridge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27E457C-FF07-663C-A79D-7D1DEEDB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83025-B6A7-EBF2-E4F4-1FB0C4C4470A}"/>
              </a:ext>
            </a:extLst>
          </p:cNvPr>
          <p:cNvSpPr txBox="1"/>
          <p:nvPr/>
        </p:nvSpPr>
        <p:spPr>
          <a:xfrm>
            <a:off x="1137920" y="1605280"/>
            <a:ext cx="991616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Scikit learn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regress(</a:t>
            </a: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plot_ols_ridge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코드를 학습하고 이해하자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분산을 줄이는 대신 약간의 편향을 허용하는 분산을 줄이는 모델인데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Why?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34119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4CD8-1D16-6AD6-B54E-7388453B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6E90116-C523-D76C-F59D-44C18205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BD4E204-6627-F492-F83A-589BDCFE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CC84CE-B9A5-2280-2812-A5EDCAF2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91" y="3281109"/>
            <a:ext cx="9524208" cy="30315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4405D29-D6D4-9CE0-F89E-3F54C70037AC}"/>
              </a:ext>
            </a:extLst>
          </p:cNvPr>
          <p:cNvSpPr txBox="1"/>
          <p:nvPr/>
        </p:nvSpPr>
        <p:spPr>
          <a:xfrm>
            <a:off x="825500" y="1167597"/>
            <a:ext cx="1059180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7292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데이터를 정확하게 예측 판단하지 못하는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(Loss)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비율</a:t>
            </a:r>
          </a:p>
          <a:p>
            <a:pPr marR="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허위음성율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(FNR, False Negative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허위양성율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(FPR, False Positive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최소화하는 것이 목적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58BBE36-A70D-B74B-BAC8-1688AFDF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99093" y="2213027"/>
            <a:ext cx="4439005" cy="8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86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7586-3465-1D7A-31A0-DE17D454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49C7335-0937-BF0A-7257-FEF83D0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AC531A-330A-E70F-AAF7-4CD509A4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F2C866-AFC2-4BB2-B62D-131ABEC6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76" y="2004810"/>
            <a:ext cx="4943950" cy="211191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4DC94A1-2481-AD85-5509-B66CEB38C98D}"/>
              </a:ext>
            </a:extLst>
          </p:cNvPr>
          <p:cNvGrpSpPr/>
          <p:nvPr/>
        </p:nvGrpSpPr>
        <p:grpSpPr>
          <a:xfrm>
            <a:off x="915383" y="1785765"/>
            <a:ext cx="4228117" cy="4702670"/>
            <a:chOff x="1432947" y="1241371"/>
            <a:chExt cx="4301103" cy="4934140"/>
          </a:xfrm>
        </p:grpSpPr>
        <p:pic>
          <p:nvPicPr>
            <p:cNvPr id="5" name="그림 4" descr="plot sgd loss functions">
              <a:extLst>
                <a:ext uri="{FF2B5EF4-FFF2-40B4-BE49-F238E27FC236}">
                  <a16:creationId xmlns:a16="http://schemas.microsoft.com/office/drawing/2014/main" id="{5F49B6A3-1F88-DA90-EF99-F850EDDAD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2947" y="2949683"/>
              <a:ext cx="4301103" cy="322582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4BA405C-1BDA-9D33-44AF-91EAB012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2947" y="1241371"/>
              <a:ext cx="4301103" cy="170831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5DE5ECE-63FB-B037-2FD5-1FF750880A29}"/>
              </a:ext>
            </a:extLst>
          </p:cNvPr>
          <p:cNvSpPr txBox="1"/>
          <p:nvPr/>
        </p:nvSpPr>
        <p:spPr>
          <a:xfrm>
            <a:off x="813783" y="1385655"/>
            <a:ext cx="3134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plot_sgd_loss_functions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672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C0C3-FAC9-49E4-FC88-5140BB5F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3E81F08-88E9-668E-3BDD-00DDD412EE73}"/>
              </a:ext>
            </a:extLst>
          </p:cNvPr>
          <p:cNvSpPr/>
          <p:nvPr/>
        </p:nvSpPr>
        <p:spPr>
          <a:xfrm>
            <a:off x="1104901" y="52705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706AD1A-E9E1-6128-AFC2-C9AB3224F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E43E7-59FD-2FB2-0581-9FC41C524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78E37-C7EB-A495-4B0B-495E27377D1D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3989759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1764-7834-EF6C-66DB-456EAE59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02E4FFB2-6E61-AF40-0847-AEFB3ECBE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83" y="2726242"/>
            <a:ext cx="6588418" cy="333281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511C401-1BDD-EEDF-0775-5E0E7A5F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15DFB23-88D1-D4A1-4363-B544A9A5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49</a:t>
            </a:fld>
            <a:endParaRPr 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162F18-6756-C855-7D54-013E71047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25338"/>
              </p:ext>
            </p:extLst>
          </p:nvPr>
        </p:nvGraphicFramePr>
        <p:xfrm>
          <a:off x="7682466" y="2726242"/>
          <a:ext cx="3508273" cy="23926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31010">
                  <a:extLst>
                    <a:ext uri="{9D8B030D-6E8A-4147-A177-3AD203B41FA5}">
                      <a16:colId xmlns:a16="http://schemas.microsoft.com/office/drawing/2014/main" val="289503742"/>
                    </a:ext>
                  </a:extLst>
                </a:gridCol>
                <a:gridCol w="783208">
                  <a:extLst>
                    <a:ext uri="{9D8B030D-6E8A-4147-A177-3AD203B41FA5}">
                      <a16:colId xmlns:a16="http://schemas.microsoft.com/office/drawing/2014/main" val="1735848410"/>
                    </a:ext>
                  </a:extLst>
                </a:gridCol>
                <a:gridCol w="1056908">
                  <a:extLst>
                    <a:ext uri="{9D8B030D-6E8A-4147-A177-3AD203B41FA5}">
                      <a16:colId xmlns:a16="http://schemas.microsoft.com/office/drawing/2014/main" val="3082597179"/>
                    </a:ext>
                  </a:extLst>
                </a:gridCol>
                <a:gridCol w="1137147">
                  <a:extLst>
                    <a:ext uri="{9D8B030D-6E8A-4147-A177-3AD203B41FA5}">
                      <a16:colId xmlns:a16="http://schemas.microsoft.com/office/drawing/2014/main" val="313110005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노드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도시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Latitude)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경도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Longitude)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02843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서울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37.5665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126.9780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4954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수원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37.2636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127.0286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848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원주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37.3422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127.9202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765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천안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36.8151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127.1139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2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대전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36.3504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127.3845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998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대구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35.8714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128.6014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5682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울산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35.5384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129.3114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5484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부산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35.1796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129.0756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42074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485A23B-8E19-CE69-B78C-E7D437BC98CB}"/>
              </a:ext>
            </a:extLst>
          </p:cNvPr>
          <p:cNvSpPr txBox="1"/>
          <p:nvPr/>
        </p:nvSpPr>
        <p:spPr>
          <a:xfrm>
            <a:off x="775854" y="1228235"/>
            <a:ext cx="11330822" cy="87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 a)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부산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 가는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있다고 가정하고 경로별로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도학하는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시간은 거리에 비례한다고 가정한다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어느 경로로 가는 것이 최단거리인지 해를 구하라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609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51CA-EE0F-066F-FF91-91F7D8D5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CA80E44-6C64-0E6E-9F21-868A0A76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B88E5B-D17C-39F7-4F11-46BD15D6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5615C-98F5-472C-7F9D-75B04AAA493B}"/>
              </a:ext>
            </a:extLst>
          </p:cNvPr>
          <p:cNvSpPr txBox="1"/>
          <p:nvPr/>
        </p:nvSpPr>
        <p:spPr>
          <a:xfrm>
            <a:off x="373188" y="1774002"/>
            <a:ext cx="6415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 a)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부산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 가는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54EBE0-DCDB-B23B-70BC-8A24354C5342}"/>
              </a:ext>
            </a:extLst>
          </p:cNvPr>
          <p:cNvSpPr txBox="1"/>
          <p:nvPr/>
        </p:nvSpPr>
        <p:spPr>
          <a:xfrm>
            <a:off x="7204364" y="1774002"/>
            <a:ext cx="398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 x 8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인접 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(Adjacency Matrix)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ED4C402-C662-6A33-8686-D1EB0B4EECC1}"/>
              </a:ext>
            </a:extLst>
          </p:cNvPr>
          <p:cNvSpPr/>
          <p:nvPr/>
        </p:nvSpPr>
        <p:spPr>
          <a:xfrm>
            <a:off x="6152855" y="3325091"/>
            <a:ext cx="757382" cy="1080654"/>
          </a:xfrm>
          <a:prstGeom prst="rightArrow">
            <a:avLst>
              <a:gd name="adj1" fmla="val 68803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223E270-3011-96C4-589B-2E626D436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975" y="2336163"/>
            <a:ext cx="3534268" cy="356284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ACF8577-B992-2BF5-6E5B-FCD6AE92F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21" y="2278140"/>
            <a:ext cx="5270897" cy="37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644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016F-EEAA-CC02-CFF7-904029DB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433690E-A7AA-7170-F389-52518C6B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CD9F13F-4115-EC82-3A2A-1421C9E0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A8878-3763-5744-EBE7-2940EB92CEA8}"/>
              </a:ext>
            </a:extLst>
          </p:cNvPr>
          <p:cNvSpPr txBox="1"/>
          <p:nvPr/>
        </p:nvSpPr>
        <p:spPr>
          <a:xfrm>
            <a:off x="373188" y="1774002"/>
            <a:ext cx="6415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도시의 위경도로 거리 구하기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055F1-EEAD-88C0-10D6-F9C1AE59EF39}"/>
              </a:ext>
            </a:extLst>
          </p:cNvPr>
          <p:cNvSpPr txBox="1"/>
          <p:nvPr/>
        </p:nvSpPr>
        <p:spPr>
          <a:xfrm>
            <a:off x="7204364" y="1774002"/>
            <a:ext cx="398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도시간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8 x 8 matrix)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0B4FD27-701E-5161-98E3-D4B58B0FA555}"/>
              </a:ext>
            </a:extLst>
          </p:cNvPr>
          <p:cNvSpPr/>
          <p:nvPr/>
        </p:nvSpPr>
        <p:spPr>
          <a:xfrm>
            <a:off x="4656565" y="3251200"/>
            <a:ext cx="757382" cy="1080654"/>
          </a:xfrm>
          <a:prstGeom prst="rightArrow">
            <a:avLst>
              <a:gd name="adj1" fmla="val 68803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A51931-87C8-EE1B-F407-FE9EDBD75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63728"/>
              </p:ext>
            </p:extLst>
          </p:nvPr>
        </p:nvGraphicFramePr>
        <p:xfrm>
          <a:off x="551993" y="2744715"/>
          <a:ext cx="3508273" cy="23926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31010">
                  <a:extLst>
                    <a:ext uri="{9D8B030D-6E8A-4147-A177-3AD203B41FA5}">
                      <a16:colId xmlns:a16="http://schemas.microsoft.com/office/drawing/2014/main" val="289503742"/>
                    </a:ext>
                  </a:extLst>
                </a:gridCol>
                <a:gridCol w="783208">
                  <a:extLst>
                    <a:ext uri="{9D8B030D-6E8A-4147-A177-3AD203B41FA5}">
                      <a16:colId xmlns:a16="http://schemas.microsoft.com/office/drawing/2014/main" val="1735848410"/>
                    </a:ext>
                  </a:extLst>
                </a:gridCol>
                <a:gridCol w="1056908">
                  <a:extLst>
                    <a:ext uri="{9D8B030D-6E8A-4147-A177-3AD203B41FA5}">
                      <a16:colId xmlns:a16="http://schemas.microsoft.com/office/drawing/2014/main" val="3082597179"/>
                    </a:ext>
                  </a:extLst>
                </a:gridCol>
                <a:gridCol w="1137147">
                  <a:extLst>
                    <a:ext uri="{9D8B030D-6E8A-4147-A177-3AD203B41FA5}">
                      <a16:colId xmlns:a16="http://schemas.microsoft.com/office/drawing/2014/main" val="313110005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노드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도시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Latitude)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경도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Longitude)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02843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서울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37.5665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126.9780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4954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수원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37.2636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127.0286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848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원주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37.3422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127.9202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765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천안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36.8151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127.1139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2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대전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36.3504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127.3845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998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대구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35.8714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128.6014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5682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울산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35.5384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129.3114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5484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부산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35.1796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129.0756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42074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2E48D7A-8CC1-2646-7A66-C5F5B3CC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506" y="2355749"/>
            <a:ext cx="5786954" cy="36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259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FF93-4513-A3F5-1057-7397261E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F9F3E4-C9A2-3AEF-54FD-9E0EBAB1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F4D8F7-7729-834F-4D77-1D80CFE2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770CA-B7CA-4928-3BA9-613BC7EF3674}"/>
              </a:ext>
            </a:extLst>
          </p:cNvPr>
          <p:cNvSpPr txBox="1"/>
          <p:nvPr/>
        </p:nvSpPr>
        <p:spPr>
          <a:xfrm>
            <a:off x="535712" y="2790002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Adjacency Matrix</a:t>
            </a:r>
          </a:p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(8, 8)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549DF-AE9C-BFCB-7ADB-4C61096744E4}"/>
              </a:ext>
            </a:extLst>
          </p:cNvPr>
          <p:cNvSpPr txBox="1"/>
          <p:nvPr/>
        </p:nvSpPr>
        <p:spPr>
          <a:xfrm>
            <a:off x="4416959" y="2790001"/>
            <a:ext cx="1810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도시간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(8, 8)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C57B053-1D05-D974-6448-2D17C6725D9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252" y="3886150"/>
            <a:ext cx="2667011" cy="21985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647D088-3BCA-FE95-1AF8-EA1A131618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83280" y="3886150"/>
            <a:ext cx="3898859" cy="2198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20B1AC-58BB-401D-30EB-38ED0ED86CD3}"/>
              </a:ext>
            </a:extLst>
          </p:cNvPr>
          <p:cNvSpPr txBox="1"/>
          <p:nvPr/>
        </p:nvSpPr>
        <p:spPr>
          <a:xfrm>
            <a:off x="3061295" y="430958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40C12-D167-6F95-8461-C890BFDAA6D6}"/>
              </a:ext>
            </a:extLst>
          </p:cNvPr>
          <p:cNvSpPr txBox="1"/>
          <p:nvPr/>
        </p:nvSpPr>
        <p:spPr>
          <a:xfrm>
            <a:off x="3040208" y="27997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71F5277-2813-C525-26A7-1C7870DC7EA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61745" y="3886150"/>
            <a:ext cx="3307400" cy="21913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C9E7E7-5514-B0CE-8091-E24848223919}"/>
              </a:ext>
            </a:extLst>
          </p:cNvPr>
          <p:cNvSpPr txBox="1"/>
          <p:nvPr/>
        </p:nvSpPr>
        <p:spPr>
          <a:xfrm>
            <a:off x="7437494" y="430958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3EB724-F3FC-938C-1727-FDA20A822FCA}"/>
              </a:ext>
            </a:extLst>
          </p:cNvPr>
          <p:cNvSpPr txBox="1"/>
          <p:nvPr/>
        </p:nvSpPr>
        <p:spPr>
          <a:xfrm>
            <a:off x="7437494" y="279976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3BA7E5-90FF-0EAE-F46B-CAFEF29402C3}"/>
              </a:ext>
            </a:extLst>
          </p:cNvPr>
          <p:cNvSpPr txBox="1"/>
          <p:nvPr/>
        </p:nvSpPr>
        <p:spPr>
          <a:xfrm>
            <a:off x="7961745" y="2799766"/>
            <a:ext cx="415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이웃 거리의 합산 → 최단 경로와 무관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E25907B-0F24-80B1-C6B2-CE219D9B3D83}"/>
              </a:ext>
            </a:extLst>
          </p:cNvPr>
          <p:cNvCxnSpPr/>
          <p:nvPr/>
        </p:nvCxnSpPr>
        <p:spPr>
          <a:xfrm>
            <a:off x="701964" y="3583707"/>
            <a:ext cx="112037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18162E-858C-9B1B-8924-FD719D8EA231}"/>
              </a:ext>
            </a:extLst>
          </p:cNvPr>
          <p:cNvSpPr/>
          <p:nvPr/>
        </p:nvSpPr>
        <p:spPr>
          <a:xfrm>
            <a:off x="7761622" y="3894970"/>
            <a:ext cx="3898859" cy="27709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D55AB2-EFF2-2AFE-2018-5E3263607681}"/>
              </a:ext>
            </a:extLst>
          </p:cNvPr>
          <p:cNvSpPr txBox="1"/>
          <p:nvPr/>
        </p:nvSpPr>
        <p:spPr>
          <a:xfrm>
            <a:off x="535712" y="1420336"/>
            <a:ext cx="11124769" cy="87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인접행렬과 도시간 거리 행렬을 </a:t>
            </a:r>
            <a:r>
              <a:rPr lang="ko-KR" altLang="en-US" dirty="0" err="1"/>
              <a:t>내적하면</a:t>
            </a:r>
            <a:r>
              <a:rPr lang="ko-KR" altLang="en-US" dirty="0"/>
              <a:t> 각 행은 출발도시에서 각 열 도시까지의 도달하는데 가능한 모든 경로에 해당되는 누적 거리</a:t>
            </a:r>
            <a:r>
              <a:rPr lang="en-US" altLang="ko-KR" dirty="0"/>
              <a:t>, </a:t>
            </a:r>
            <a:r>
              <a:rPr lang="ko-KR" altLang="en-US" dirty="0"/>
              <a:t>노란색 박스는 서울</a:t>
            </a:r>
            <a:r>
              <a:rPr lang="en-US" altLang="ko-KR" dirty="0"/>
              <a:t>(Node a)</a:t>
            </a:r>
            <a:r>
              <a:rPr lang="ko-KR" altLang="en-US" dirty="0"/>
              <a:t>에서 각 도시까지 가는데 걸리는 누적합산 거리</a:t>
            </a:r>
          </a:p>
        </p:txBody>
      </p:sp>
    </p:spTree>
    <p:extLst>
      <p:ext uri="{BB962C8B-B14F-4D97-AF65-F5344CB8AC3E}">
        <p14:creationId xmlns:p14="http://schemas.microsoft.com/office/powerpoint/2010/main" val="25903601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CB3B-9AF7-4213-B5A1-6605D2A4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418055A-86BD-4F58-4EFC-13F9ED3D8CE7}"/>
              </a:ext>
            </a:extLst>
          </p:cNvPr>
          <p:cNvSpPr/>
          <p:nvPr/>
        </p:nvSpPr>
        <p:spPr>
          <a:xfrm>
            <a:off x="1104901" y="578494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43E8A7-5FD7-0FB3-9ADD-A997BF3E2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FD3175-6A14-24B3-BEB8-7E122FE63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</a:rPr>
              <a:t>sympy</a:t>
            </a:r>
            <a:endParaRPr lang="en-US" altLang="ko-KR" sz="1800" cap="none" dirty="0">
              <a:solidFill>
                <a:schemeClr val="tx1"/>
              </a:solidFill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Derivative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Linear Programming</a:t>
            </a: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3F7B7-5C7A-3281-2C9C-2E6E60F23F68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1842697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0E3F-5EEC-F1A6-FAA6-F087DE60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A98E502-D2A8-03BA-7C44-261709BC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97A6E5-801E-04CF-7599-F1B28EB9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54</a:t>
            </a:fld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F3237E-DE96-394F-6719-57C4AE5790F0}"/>
              </a:ext>
            </a:extLst>
          </p:cNvPr>
          <p:cNvSpPr/>
          <p:nvPr/>
        </p:nvSpPr>
        <p:spPr>
          <a:xfrm>
            <a:off x="535712" y="2286000"/>
            <a:ext cx="10218013" cy="427627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7CEBF4-443F-B850-DC6E-5B092470F7FF}"/>
              </a:ext>
            </a:extLst>
          </p:cNvPr>
          <p:cNvSpPr txBox="1"/>
          <p:nvPr/>
        </p:nvSpPr>
        <p:spPr>
          <a:xfrm>
            <a:off x="535712" y="1420336"/>
            <a:ext cx="10655027" cy="493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선형계획법으로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이익을 최대화하는 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목표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(x1)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책상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(x2)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생산하는 공장에서 이익을 최대화하는 의자와 책상의 생산량은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이익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 한 개당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 한 개당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원의 이익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자원 제약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목재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의자는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책상은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단위가 필요하며 총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 까지만 사용 가능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노동 시간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의자는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책상은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시간이 필요하며 총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16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까지만 가능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8233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CFB8-C82A-C9EC-8C92-54F29EAC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880B0E6-0815-D986-2AED-FC39C14B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73C62C-0AC1-9AC7-F526-A8401B4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C13FC1-D6FB-5231-32F7-05813662EB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35221" y="1897275"/>
            <a:ext cx="4877970" cy="32081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F4F533-BD65-29C3-2F21-91D9A1A84F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20767" y="1897275"/>
            <a:ext cx="3624446" cy="320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24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0B8A-82C9-541F-276F-C1D6CAF4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71D4C38-0B8A-1401-DC59-7A08AEEA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1CA4E00-AB04-9B2D-80E5-6A85328B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E7E16-5BA5-50B2-EB8C-8D7A05B2B80D}"/>
              </a:ext>
            </a:extLst>
          </p:cNvPr>
          <p:cNvSpPr txBox="1"/>
          <p:nvPr/>
        </p:nvSpPr>
        <p:spPr>
          <a:xfrm>
            <a:off x="915383" y="1206291"/>
            <a:ext cx="8591550" cy="52629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np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scipy.optimize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linprog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목적 함수 계수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(Maximize 3x1 + 5x2 =&gt; Minimize -3x1 - 5x2)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-3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-5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제약 조건 행렬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벡터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 (Ax &lt;= b)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[2x1 + 3x2 &lt;= 30]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[1x1 + 2x2 &lt;= 16]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16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b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변수 범위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(x1 &gt;= 0, x2 &gt;= 0)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x_bounds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y_bounds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선형계획법 실행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linprog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A_ub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=A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b_ub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=b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bounds=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x_bounds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y_bounds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method=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'highs'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69A5D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최적 생산량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의자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res.x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책상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res.x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69A5D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최대 이익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-res.fun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만원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8471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DBB-244C-74AC-E76C-A954C9BF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0CF4E9-3386-9B1A-C330-77E769B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C4E3899-DB20-D685-8662-50D353A3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57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2F5AE7D-B530-2A8D-6B21-3D63CA9CA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786" y="1206291"/>
            <a:ext cx="6977062" cy="514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838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4073</TotalTime>
  <Words>4411</Words>
  <Application>Microsoft Office PowerPoint</Application>
  <PresentationFormat>와이드스크린</PresentationFormat>
  <Paragraphs>703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6" baseType="lpstr">
      <vt:lpstr>D2Coding</vt:lpstr>
      <vt:lpstr>맑은 고딕</vt:lpstr>
      <vt:lpstr>맑은 고딕 Semilight</vt:lpstr>
      <vt:lpstr>Cambria Math</vt:lpstr>
      <vt:lpstr>Century Gothic</vt:lpstr>
      <vt:lpstr>Times New Roman</vt:lpstr>
      <vt:lpstr>Wingdings</vt:lpstr>
      <vt:lpstr>Wingdings 3</vt:lpstr>
      <vt:lpstr>이온</vt:lpstr>
      <vt:lpstr>Modeling &amp; Simulation 1</vt:lpstr>
      <vt:lpstr>Contents</vt:lpstr>
      <vt:lpstr>Modeling</vt:lpstr>
      <vt:lpstr>Simulation</vt:lpstr>
      <vt:lpstr>Abstract + Object</vt:lpstr>
      <vt:lpstr>Abstract + Object</vt:lpstr>
      <vt:lpstr>OOP - python</vt:lpstr>
      <vt:lpstr>Proto_OOP – java script</vt:lpstr>
      <vt:lpstr>Contents</vt:lpstr>
      <vt:lpstr>python sympy</vt:lpstr>
      <vt:lpstr>python sympy</vt:lpstr>
      <vt:lpstr>Contents</vt:lpstr>
      <vt:lpstr>Derivative</vt:lpstr>
      <vt:lpstr>Derivative</vt:lpstr>
      <vt:lpstr>python sympy</vt:lpstr>
      <vt:lpstr>Contents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Contents</vt:lpstr>
      <vt:lpstr>Optimization</vt:lpstr>
      <vt:lpstr>Optimization</vt:lpstr>
      <vt:lpstr>Optimization</vt:lpstr>
      <vt:lpstr>Optimization</vt:lpstr>
      <vt:lpstr>Contents</vt:lpstr>
      <vt:lpstr>Optimization of Loss Function</vt:lpstr>
      <vt:lpstr>Contents</vt:lpstr>
      <vt:lpstr>Optimization of Loss Function</vt:lpstr>
      <vt:lpstr>Optimization of Loss Function</vt:lpstr>
      <vt:lpstr>Optimization of Loss Function</vt:lpstr>
      <vt:lpstr>Optimization of Loss Function</vt:lpstr>
      <vt:lpstr>Optimization of Loss Function</vt:lpstr>
      <vt:lpstr>Optimization of Loss Function</vt:lpstr>
      <vt:lpstr>Optimization of Loss Function</vt:lpstr>
      <vt:lpstr>bias-variance tradeoff</vt:lpstr>
      <vt:lpstr>Optimization of Ridge Loss Function</vt:lpstr>
      <vt:lpstr>Loss Functions</vt:lpstr>
      <vt:lpstr>Loss Functions</vt:lpstr>
      <vt:lpstr>Contents</vt:lpstr>
      <vt:lpstr>Short-Cut algorithm</vt:lpstr>
      <vt:lpstr>Short-Cut algorithm</vt:lpstr>
      <vt:lpstr>Short-Cut algorithm</vt:lpstr>
      <vt:lpstr>Short-Cut algorithm</vt:lpstr>
      <vt:lpstr>Contents</vt:lpstr>
      <vt:lpstr>Linear Programming</vt:lpstr>
      <vt:lpstr>Linear Programming</vt:lpstr>
      <vt:lpstr>Linear Programming</vt:lpstr>
      <vt:lpstr>Linear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55</cp:revision>
  <dcterms:created xsi:type="dcterms:W3CDTF">2026-04-11T22:24:40Z</dcterms:created>
  <dcterms:modified xsi:type="dcterms:W3CDTF">2026-05-31T13:22:07Z</dcterms:modified>
</cp:coreProperties>
</file>