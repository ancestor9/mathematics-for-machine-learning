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62"/>
  </p:notesMasterIdLst>
  <p:sldIdLst>
    <p:sldId id="256" r:id="rId2"/>
    <p:sldId id="274" r:id="rId3"/>
    <p:sldId id="257" r:id="rId4"/>
    <p:sldId id="290" r:id="rId5"/>
    <p:sldId id="313" r:id="rId6"/>
    <p:sldId id="314" r:id="rId7"/>
    <p:sldId id="315" r:id="rId8"/>
    <p:sldId id="316" r:id="rId9"/>
    <p:sldId id="342" r:id="rId10"/>
    <p:sldId id="260" r:id="rId11"/>
    <p:sldId id="265" r:id="rId12"/>
    <p:sldId id="358" r:id="rId13"/>
    <p:sldId id="379" r:id="rId14"/>
    <p:sldId id="343" r:id="rId15"/>
    <p:sldId id="259" r:id="rId16"/>
    <p:sldId id="318" r:id="rId17"/>
    <p:sldId id="359" r:id="rId18"/>
    <p:sldId id="360" r:id="rId19"/>
    <p:sldId id="361" r:id="rId20"/>
    <p:sldId id="317" r:id="rId21"/>
    <p:sldId id="319" r:id="rId22"/>
    <p:sldId id="284" r:id="rId23"/>
    <p:sldId id="287" r:id="rId24"/>
    <p:sldId id="286" r:id="rId25"/>
    <p:sldId id="266" r:id="rId26"/>
    <p:sldId id="288" r:id="rId27"/>
    <p:sldId id="344" r:id="rId28"/>
    <p:sldId id="267" r:id="rId29"/>
    <p:sldId id="285" r:id="rId30"/>
    <p:sldId id="272" r:id="rId31"/>
    <p:sldId id="273" r:id="rId32"/>
    <p:sldId id="345" r:id="rId33"/>
    <p:sldId id="269" r:id="rId34"/>
    <p:sldId id="346" r:id="rId35"/>
    <p:sldId id="308" r:id="rId36"/>
    <p:sldId id="320" r:id="rId37"/>
    <p:sldId id="310" r:id="rId38"/>
    <p:sldId id="311" r:id="rId39"/>
    <p:sldId id="312" r:id="rId40"/>
    <p:sldId id="347" r:id="rId41"/>
    <p:sldId id="321" r:id="rId42"/>
    <p:sldId id="322" r:id="rId43"/>
    <p:sldId id="323" r:id="rId44"/>
    <p:sldId id="324" r:id="rId45"/>
    <p:sldId id="348" r:id="rId46"/>
    <p:sldId id="335" r:id="rId47"/>
    <p:sldId id="336" r:id="rId48"/>
    <p:sldId id="337" r:id="rId49"/>
    <p:sldId id="338" r:id="rId50"/>
    <p:sldId id="380" r:id="rId51"/>
    <p:sldId id="377" r:id="rId52"/>
    <p:sldId id="378" r:id="rId53"/>
    <p:sldId id="369" r:id="rId54"/>
    <p:sldId id="370" r:id="rId55"/>
    <p:sldId id="371" r:id="rId56"/>
    <p:sldId id="372" r:id="rId57"/>
    <p:sldId id="373" r:id="rId58"/>
    <p:sldId id="374" r:id="rId59"/>
    <p:sldId id="375" r:id="rId60"/>
    <p:sldId id="376" r:id="rId6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18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s://en.wikipedia.org/wiki/Function_(mathematics)" TargetMode="External"/><Relationship Id="rId7" Type="http://schemas.openxmlformats.org/officeDocument/2006/relationships/image" Target="../media/image12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gif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linear_model/plot_sgd_loss_functions.html" TargetMode="External"/><Relationship Id="rId4" Type="http://schemas.openxmlformats.org/officeDocument/2006/relationships/image" Target="../media/image48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hyperlink" Target="https://en.wikipedia.org/wiki/Contingency_table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hyperlink" Target="https://en.wikipedia.org/wiki/Chi-squared_distribution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hyperlink" Target="https://en.wikipedia.org/wiki/Partial_derivative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hyperlink" Target="https://medium.com/@clyyuanzi/backpropagation-with-vectors-in-neural-network-1ca40582ecca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hyperlink" Target="https://medium.com/@clyyuanzi/backpropagation-with-vectors-in-neural-network-1ca40582ecca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image" Target="../media/image79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hyperlink" Target="https://medium.com/@clyyuanzi/backpropagation-with-vectors-in-neural-network-1ca40582ecca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4" y="1447800"/>
            <a:ext cx="10465545" cy="1362075"/>
          </a:xfrm>
        </p:spPr>
        <p:txBody>
          <a:bodyPr/>
          <a:lstStyle/>
          <a:p>
            <a:r>
              <a:rPr lang="en-US" altLang="ko-KR" sz="6600" dirty="0"/>
              <a:t>Modeling &amp; Simulation 1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3179265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>
                <a:solidFill>
                  <a:schemeClr val="tx1"/>
                </a:solidFill>
              </a:rPr>
              <a:t>Calculus, Statistics, Probability, …..</a:t>
            </a:r>
            <a:endParaRPr lang="ko-KR" altLang="en-US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1104901" y="1498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C30838-4E3E-A4C9-B8DA-D8F8AF26F2BB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0714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EC0F1-45B0-02D2-01DD-EEBCC8B1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ADDB57D-11B6-0AD2-0C31-FBCCB80C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C34F863-C394-51E7-8700-7871213B0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2B8655C-497D-4F31-C687-69B4C8092C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888"/>
              </p:ext>
            </p:extLst>
          </p:nvPr>
        </p:nvGraphicFramePr>
        <p:xfrm>
          <a:off x="1037302" y="2721743"/>
          <a:ext cx="10839737" cy="302164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990378">
                  <a:extLst>
                    <a:ext uri="{9D8B030D-6E8A-4147-A177-3AD203B41FA5}">
                      <a16:colId xmlns:a16="http://schemas.microsoft.com/office/drawing/2014/main" val="2013210951"/>
                    </a:ext>
                  </a:extLst>
                </a:gridCol>
                <a:gridCol w="1615440">
                  <a:extLst>
                    <a:ext uri="{9D8B030D-6E8A-4147-A177-3AD203B41FA5}">
                      <a16:colId xmlns:a16="http://schemas.microsoft.com/office/drawing/2014/main" val="912667715"/>
                    </a:ext>
                  </a:extLst>
                </a:gridCol>
                <a:gridCol w="3677920">
                  <a:extLst>
                    <a:ext uri="{9D8B030D-6E8A-4147-A177-3AD203B41FA5}">
                      <a16:colId xmlns:a16="http://schemas.microsoft.com/office/drawing/2014/main" val="1005779961"/>
                    </a:ext>
                  </a:extLst>
                </a:gridCol>
                <a:gridCol w="3555999">
                  <a:extLst>
                    <a:ext uri="{9D8B030D-6E8A-4147-A177-3AD203B41FA5}">
                      <a16:colId xmlns:a16="http://schemas.microsoft.com/office/drawing/2014/main" val="3215655874"/>
                    </a:ext>
                  </a:extLst>
                </a:gridCol>
              </a:tblGrid>
              <a:tr h="58970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단계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활동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설명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구성 요소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832515464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Abstraction)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현실 세계의 사람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현상에서 불필요한 부분은 제거하고 서비스에 필요한 본질만 뽑아내는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색상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이름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나이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달리기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멈추기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말하기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2095169941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Objectification)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정의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추상화된 개념을 프로그래밍 언어의 구조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(Class)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에 담아 실제 동작 가능한 단위로 만드는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(Variable):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저장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(Function):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로직 수행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57549411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99CB3-D046-93B1-88CF-F39C1364E05E}"/>
              </a:ext>
            </a:extLst>
          </p:cNvPr>
          <p:cNvSpPr txBox="1"/>
          <p:nvPr/>
        </p:nvSpPr>
        <p:spPr>
          <a:xfrm>
            <a:off x="915382" y="1414115"/>
            <a:ext cx="10118378" cy="956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세계는 시간에 따라 움직이고 있기 때문에 미분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(derivative)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을 이해하고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추상화와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모델링에 대한 이해를 하자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OOP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구현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37731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F0051-1600-0186-2252-0ACB412DA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E42708D-8AF6-90B1-C846-4BA65C5CE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BDC3750-B88D-6FD2-8537-70ECD176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4DA2C2F-442D-D2EB-C2E4-9E071E47C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602857"/>
              </p:ext>
            </p:extLst>
          </p:nvPr>
        </p:nvGraphicFramePr>
        <p:xfrm>
          <a:off x="637698" y="1767918"/>
          <a:ext cx="10916603" cy="3830243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30142">
                  <a:extLst>
                    <a:ext uri="{9D8B030D-6E8A-4147-A177-3AD203B41FA5}">
                      <a16:colId xmlns:a16="http://schemas.microsoft.com/office/drawing/2014/main" val="4106552240"/>
                    </a:ext>
                  </a:extLst>
                </a:gridCol>
                <a:gridCol w="3125915">
                  <a:extLst>
                    <a:ext uri="{9D8B030D-6E8A-4147-A177-3AD203B41FA5}">
                      <a16:colId xmlns:a16="http://schemas.microsoft.com/office/drawing/2014/main" val="2267932678"/>
                    </a:ext>
                  </a:extLst>
                </a:gridCol>
                <a:gridCol w="3925125">
                  <a:extLst>
                    <a:ext uri="{9D8B030D-6E8A-4147-A177-3AD203B41FA5}">
                      <a16:colId xmlns:a16="http://schemas.microsoft.com/office/drawing/2014/main" val="310495391"/>
                    </a:ext>
                  </a:extLst>
                </a:gridCol>
                <a:gridCol w="2735421">
                  <a:extLst>
                    <a:ext uri="{9D8B030D-6E8A-4147-A177-3AD203B41FA5}">
                      <a16:colId xmlns:a16="http://schemas.microsoft.com/office/drawing/2014/main" val="276542089"/>
                    </a:ext>
                  </a:extLst>
                </a:gridCol>
              </a:tblGrid>
              <a:tr h="571679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대상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코드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980183908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자동차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모델명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연료 타입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가속한다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경적을 울린다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model, fuel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accelerate(), honk()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it-IT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car.model = "Tesla"car.accelerate()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36683253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은행원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사원번호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소속 지점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입금 처리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상담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branch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deposit(), consult()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101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staff.deposit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349304262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결제 금액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취소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상태를 변경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amount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cancel(),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update_status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order.amount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500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order.cancel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935888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046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55BEE-F066-C987-AEE2-D963B9A5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AC3D81-BA21-7C79-3849-E16FE484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OOP - python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75353E-AEB2-F738-D4BC-B431AD2B6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BB3F3D-5A65-3E67-C0FA-B47717BAA45E}"/>
              </a:ext>
            </a:extLst>
          </p:cNvPr>
          <p:cNvSpPr txBox="1"/>
          <p:nvPr/>
        </p:nvSpPr>
        <p:spPr>
          <a:xfrm>
            <a:off x="915383" y="1190864"/>
            <a:ext cx="9508777" cy="54168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 Account: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__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__(self, owner, balance=0):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(Attributes)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self.owner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owner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balance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메소드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deposit(self,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withdraw(self,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if amount &gt;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return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잔액이 부족합니다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출금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Account("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김철수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1000)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my_acc.deposit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   # 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my_acc.withdraw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(2000))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 부족 확인</a:t>
            </a:r>
          </a:p>
        </p:txBody>
      </p:sp>
    </p:spTree>
    <p:extLst>
      <p:ext uri="{BB962C8B-B14F-4D97-AF65-F5344CB8AC3E}">
        <p14:creationId xmlns:p14="http://schemas.microsoft.com/office/powerpoint/2010/main" val="2658800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8B81-AD91-F370-8D32-FF6C2C9A9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2CA6881-A4DF-DB25-5F01-36F36E9B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Proto_OOP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java script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95EC99B-BF2A-8481-22BC-D44961AE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58AA32-2422-26FE-27E7-BEAFCCF66B1C}"/>
              </a:ext>
            </a:extLst>
          </p:cNvPr>
          <p:cNvSpPr txBox="1"/>
          <p:nvPr/>
        </p:nvSpPr>
        <p:spPr>
          <a:xfrm>
            <a:off x="1001260" y="905523"/>
            <a:ext cx="9351279" cy="5755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constructor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// 속성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Attributes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// 메소드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Methods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입금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&gt;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"잔액이 부족합니다.";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출금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// 객체화 (인스턴스 생성)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("이영희", 2000);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(1000));  // 1000원 입금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(500));  // 500원 출금</a:t>
            </a:r>
          </a:p>
        </p:txBody>
      </p:sp>
    </p:spTree>
    <p:extLst>
      <p:ext uri="{BB962C8B-B14F-4D97-AF65-F5344CB8AC3E}">
        <p14:creationId xmlns:p14="http://schemas.microsoft.com/office/powerpoint/2010/main" val="4290643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326A7-A289-AC58-C248-EC55ACDA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5EF994-9F5C-02E6-8FFD-4FDE4EA86D7C}"/>
              </a:ext>
            </a:extLst>
          </p:cNvPr>
          <p:cNvSpPr/>
          <p:nvPr/>
        </p:nvSpPr>
        <p:spPr>
          <a:xfrm>
            <a:off x="1104901" y="20416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A25D138-34DE-EB1E-567C-DB8A2F216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8F94AB-65E7-00F1-41BD-652EBCF59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51142-A7C7-214A-07CB-527CDE6D0BA4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443712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2400" dirty="0" err="1"/>
              <a:t>sympy</a:t>
            </a:r>
            <a:r>
              <a:rPr lang="ko-KR" altLang="en-US" sz="2400" dirty="0"/>
              <a:t>는 </a:t>
            </a:r>
            <a:r>
              <a:rPr lang="ko-KR" altLang="en-US" sz="2400" dirty="0" err="1"/>
              <a:t>파이썬에서</a:t>
            </a:r>
            <a:r>
              <a:rPr lang="ko-KR" altLang="en-US" sz="2400" dirty="0"/>
              <a:t> 사용 가능한 대수</a:t>
            </a:r>
            <a:r>
              <a:rPr lang="en-US" altLang="ko-KR" sz="2400" dirty="0"/>
              <a:t>(algebra)</a:t>
            </a:r>
            <a:r>
              <a:rPr lang="ko-KR" altLang="en-US" sz="2400" dirty="0"/>
              <a:t> 계산 라이브러리로</a:t>
            </a:r>
            <a:r>
              <a:rPr lang="en-US" altLang="ko-KR" sz="2400" dirty="0"/>
              <a:t>, </a:t>
            </a:r>
            <a:r>
              <a:rPr lang="ko-KR" altLang="en-US" sz="2400" dirty="0"/>
              <a:t>기호 연산과 수학적 공식 표현을 지원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863D-8B9C-4B2D-5CA8-C102E2B6F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533B6C-7B95-56E7-4AFB-8A273A3F4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B964FA8-F6A5-1FFC-915D-5DB51A563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AA712C-4D11-7672-960E-36CD713F6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739" y="2064793"/>
            <a:ext cx="5745786" cy="425980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1004B2B-1922-84AE-9056-5A562BD99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1434" y="2064792"/>
            <a:ext cx="3223215" cy="4230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0196E0-95CC-D647-011C-1196D09D1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/>
              <a:t>아래 </a:t>
            </a:r>
            <a:r>
              <a:rPr lang="en-US" altLang="ko-KR" sz="2000" dirty="0"/>
              <a:t>4</a:t>
            </a:r>
            <a:r>
              <a:rPr lang="ko-KR" altLang="en-US" sz="2000" dirty="0"/>
              <a:t>개 코드를 실습하기</a:t>
            </a:r>
            <a:r>
              <a:rPr lang="en-US" altLang="ko-KR" sz="2000" dirty="0"/>
              <a:t>(recap)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43943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405B-AF14-B2C8-689A-F6492F26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35ECCF-FC83-07D0-E9CF-44010CCFA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79183E-E6F4-4214-DD0E-8C1A51209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5A2CB2E-8468-AEE1-580A-8B67C6616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88834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dirty="0"/>
              <a:t>The sensitivity to change(slope,</a:t>
            </a:r>
            <a:r>
              <a:rPr lang="ko-KR" altLang="en-US" dirty="0"/>
              <a:t> </a:t>
            </a:r>
            <a:r>
              <a:rPr lang="en-US" altLang="ko-KR" dirty="0"/>
              <a:t>instantaneous rate of change) of a </a:t>
            </a:r>
            <a:r>
              <a:rPr lang="en-US" altLang="ko-KR" dirty="0">
                <a:hlinkClick r:id="rId3" tooltip="Function (mathematic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function</a:t>
            </a:r>
            <a:r>
              <a:rPr lang="en-US" altLang="ko-KR" dirty="0"/>
              <a:t>'s output with respect to its input</a:t>
            </a:r>
            <a:endParaRPr lang="ko-KR" alt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66970D9-857C-92F0-1624-1E05E52153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8444" y="2628287"/>
            <a:ext cx="3590926" cy="3418561"/>
          </a:xfrm>
          <a:prstGeom prst="rect">
            <a:avLst/>
          </a:prstGeom>
        </p:spPr>
      </p:pic>
      <p:sp>
        <p:nvSpPr>
          <p:cNvPr id="16" name="이등변 삼각형 15">
            <a:extLst>
              <a:ext uri="{FF2B5EF4-FFF2-40B4-BE49-F238E27FC236}">
                <a16:creationId xmlns:a16="http://schemas.microsoft.com/office/drawing/2014/main" id="{012E2A5C-B7F7-E780-9A16-A12FFD94EF3A}"/>
              </a:ext>
            </a:extLst>
          </p:cNvPr>
          <p:cNvSpPr/>
          <p:nvPr/>
        </p:nvSpPr>
        <p:spPr>
          <a:xfrm rot="10800000">
            <a:off x="1282619" y="3171291"/>
            <a:ext cx="914400" cy="691820"/>
          </a:xfrm>
          <a:prstGeom prst="triangl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이등변 삼각형 16">
            <a:extLst>
              <a:ext uri="{FF2B5EF4-FFF2-40B4-BE49-F238E27FC236}">
                <a16:creationId xmlns:a16="http://schemas.microsoft.com/office/drawing/2014/main" id="{E51B1900-13D2-F7A2-C1F6-7FDE07AD0377}"/>
              </a:ext>
            </a:extLst>
          </p:cNvPr>
          <p:cNvSpPr/>
          <p:nvPr/>
        </p:nvSpPr>
        <p:spPr>
          <a:xfrm>
            <a:off x="2944729" y="4561941"/>
            <a:ext cx="914400" cy="691820"/>
          </a:xfrm>
          <a:prstGeom prst="triangl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289895E-86ED-62DF-6A92-6F97D35A61A2}"/>
              </a:ext>
            </a:extLst>
          </p:cNvPr>
          <p:cNvSpPr/>
          <p:nvPr/>
        </p:nvSpPr>
        <p:spPr>
          <a:xfrm>
            <a:off x="1058781" y="3545776"/>
            <a:ext cx="2905125" cy="1323975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/>
              <p:nvPr/>
            </p:nvSpPr>
            <p:spPr>
              <a:xfrm>
                <a:off x="1195266" y="2607240"/>
                <a:ext cx="20035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5266" y="2607240"/>
                <a:ext cx="2003506" cy="369332"/>
              </a:xfrm>
              <a:prstGeom prst="rect">
                <a:avLst/>
              </a:prstGeom>
              <a:blipFill>
                <a:blip r:embed="rId5"/>
                <a:stretch>
                  <a:fillRect l="-2432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/>
              <p:nvPr/>
            </p:nvSpPr>
            <p:spPr>
              <a:xfrm>
                <a:off x="2610728" y="5448480"/>
                <a:ext cx="172766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Output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 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0728" y="5448480"/>
                <a:ext cx="1727660" cy="369332"/>
              </a:xfrm>
              <a:prstGeom prst="rect">
                <a:avLst/>
              </a:prstGeom>
              <a:blipFill>
                <a:blip r:embed="rId6"/>
                <a:stretch>
                  <a:fillRect l="-2817" t="-10000" r="-2465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/>
              <p:nvPr/>
            </p:nvSpPr>
            <p:spPr>
              <a:xfrm>
                <a:off x="1154031" y="3921690"/>
                <a:ext cx="280034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bg1"/>
                    </a:solidFill>
                    <a:hlinkClick r:id="rId3" tooltip="Function (mathematics)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Function</a:t>
                </a:r>
                <a:r>
                  <a:rPr lang="en-US" altLang="ko-KR" dirty="0">
                    <a:solidFill>
                      <a:schemeClr val="bg1"/>
                    </a:solidFill>
                  </a:rPr>
                  <a:t>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ko-KR" altLang="en-US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ko-KR" alt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ko-KR" altLang="en-US" i="0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4031" y="3921690"/>
                <a:ext cx="2800348" cy="646331"/>
              </a:xfrm>
              <a:prstGeom prst="rect">
                <a:avLst/>
              </a:prstGeom>
              <a:blipFill>
                <a:blip r:embed="rId7"/>
                <a:stretch>
                  <a:fillRect l="-1739" t="-4717" b="-94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/>
              <p:nvPr/>
            </p:nvSpPr>
            <p:spPr>
              <a:xfrm>
                <a:off x="4187744" y="3441001"/>
                <a:ext cx="3146009" cy="12861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altLang="ko-KR" dirty="0"/>
              </a:p>
              <a:p>
                <a:pPr>
                  <a:lnSpc>
                    <a:spcPct val="150000"/>
                  </a:lnSpc>
                </a:pPr>
                <a:r>
                  <a:rPr lang="en-US" altLang="ko-KR" dirty="0"/>
                  <a:t>= Derivative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ko-KR" dirty="0"/>
                  <a:t>= The sensitivity to change</a:t>
                </a:r>
                <a:endParaRPr lang="ko-KR" altLang="en-US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7744" y="3441001"/>
                <a:ext cx="3146009" cy="1286186"/>
              </a:xfrm>
              <a:prstGeom prst="rect">
                <a:avLst/>
              </a:prstGeom>
              <a:blipFill>
                <a:blip r:embed="rId8"/>
                <a:stretch>
                  <a:fillRect l="-1744" b="-66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3932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B8E22-3D6A-F0D1-BFCB-703DB02B1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42EF175-A5B6-83D3-B8D9-AAA96784DEAF}"/>
              </a:ext>
            </a:extLst>
          </p:cNvPr>
          <p:cNvSpPr/>
          <p:nvPr/>
        </p:nvSpPr>
        <p:spPr>
          <a:xfrm>
            <a:off x="1104901" y="25750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BC68D-65E8-91BA-96D8-08D9E6A26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2E3BA9A-E6B8-4CE7-C391-DF80A39A5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3C9FA-70E0-22C5-8445-F239B9F7A462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1182799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위치함수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ko-KR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 대한 순간 속도를 </a:t>
                </a:r>
                <a:r>
                  <a:rPr lang="ko-KR" altLang="en-US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중앙차분법과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numpy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함수를 이용하여 구해보자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  <a:blipFill>
                <a:blip r:embed="rId2"/>
                <a:stretch>
                  <a:fillRect l="-232" r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FE18C21-4770-2BC0-8BD7-B0587A0B5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9506" y="3107695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1B5042-81F3-1D81-50D6-FAD08CC36ACA}"/>
              </a:ext>
            </a:extLst>
          </p:cNvPr>
          <p:cNvSpPr txBox="1"/>
          <p:nvPr/>
        </p:nvSpPr>
        <p:spPr>
          <a:xfrm>
            <a:off x="9179507" y="4097028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D2425C-5D0B-8F86-601F-AFC41FBF7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009" y="2087898"/>
            <a:ext cx="6356032" cy="379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5B32-3A82-65C8-07D9-E80625DE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AD07620-1C56-7E04-E640-894F69114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1CE662-B35B-C77A-D49F-4A75B2A8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19CA904-9641-C50F-FC09-6A1532A4D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58" y="966071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9DAC9E-F85E-19E4-742B-1724AC7EFD2F}"/>
              </a:ext>
            </a:extLst>
          </p:cNvPr>
          <p:cNvSpPr txBox="1"/>
          <p:nvPr/>
        </p:nvSpPr>
        <p:spPr>
          <a:xfrm>
            <a:off x="6449007" y="1269792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E3A5D-3E52-D6C6-5536-BF9FA2893FD5}"/>
              </a:ext>
            </a:extLst>
          </p:cNvPr>
          <p:cNvSpPr txBox="1"/>
          <p:nvPr/>
        </p:nvSpPr>
        <p:spPr>
          <a:xfrm>
            <a:off x="6454087" y="1665406"/>
            <a:ext cx="5480988" cy="33239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위치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초부터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초까지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지점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dt = t[1] - t[0]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s(t) = t^2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이론적 속도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v(t) = 2t)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 = t**2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velocity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확인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2 * t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수치적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{velocity[50]:.2f}")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이론적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[50]:.2f}")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EF8188-0C4C-AB10-D6DB-02DAAE7695C3}"/>
              </a:ext>
            </a:extLst>
          </p:cNvPr>
          <p:cNvSpPr txBox="1"/>
          <p:nvPr/>
        </p:nvSpPr>
        <p:spPr>
          <a:xfrm>
            <a:off x="360626" y="1665406"/>
            <a:ext cx="5735374" cy="5047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(f, x, eps=1e-6):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중앙 차분법을 이용한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미분할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    x: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구할 지점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eps: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아주 작은 변화량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v(t) ≈ [s(t +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 - s(t -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t)] / (2 *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numerator = f(x + eps) - f(x - eps)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denominator = 2 * eps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numerator / denominator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x**2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설정값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5; epsilon = 0.000001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(2x): {2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{abs(result - 2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</p:txBody>
      </p:sp>
    </p:spTree>
    <p:extLst>
      <p:ext uri="{BB962C8B-B14F-4D97-AF65-F5344CB8AC3E}">
        <p14:creationId xmlns:p14="http://schemas.microsoft.com/office/powerpoint/2010/main" val="2057866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1D2E0-2257-774C-2CE0-9876494C9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ECC3E1B-5FE9-5AB9-82E8-AB76F65A3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882141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등속도로 달리는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코드를 제시하라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. 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 경우도 이해하자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D5C4B0A-829B-B462-60CD-D89B11EAE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C93499E-0D1F-5A9E-8275-13B1A27A1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1C1459-41A7-5694-0A39-8BF657E0807E}"/>
              </a:ext>
            </a:extLst>
          </p:cNvPr>
          <p:cNvSpPr txBox="1"/>
          <p:nvPr/>
        </p:nvSpPr>
        <p:spPr>
          <a:xfrm>
            <a:off x="1052944" y="2628212"/>
            <a:ext cx="2493820" cy="304698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s, v, a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29581A-6140-FAB3-D8B4-AB6A5C8EA40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948768" y="3402581"/>
            <a:ext cx="1571501" cy="9532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5D6A34-286E-BDEC-B6BB-6AF863338077}"/>
              </a:ext>
            </a:extLst>
          </p:cNvPr>
          <p:cNvSpPr txBox="1"/>
          <p:nvPr/>
        </p:nvSpPr>
        <p:spPr>
          <a:xfrm>
            <a:off x="3823854" y="2933134"/>
            <a:ext cx="27801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등속도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EA65AE1-F844-91FE-6133-9E7323AB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8330" y="2619534"/>
            <a:ext cx="5749634" cy="3820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2649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99D3E-46A4-A2C8-CC98-FF671370E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7CD448D-1021-7984-7067-77CC4C9CF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601593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가속과 감속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890EB10-8295-8E50-EBB3-4C2900D80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8E7932-647B-ADCF-0E30-92D86F52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49171-8FC8-5680-9D88-653EA5CA2F72}"/>
              </a:ext>
            </a:extLst>
          </p:cNvPr>
          <p:cNvSpPr txBox="1"/>
          <p:nvPr/>
        </p:nvSpPr>
        <p:spPr>
          <a:xfrm>
            <a:off x="1071998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t**2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7BB5C8-A7B3-5F37-E73B-25905D6DFA79}"/>
              </a:ext>
            </a:extLst>
          </p:cNvPr>
          <p:cNvSpPr txBox="1"/>
          <p:nvPr/>
        </p:nvSpPr>
        <p:spPr>
          <a:xfrm>
            <a:off x="4137886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0E20D3-7340-6EC1-3CFB-F354537006BE}"/>
              </a:ext>
            </a:extLst>
          </p:cNvPr>
          <p:cNvSpPr txBox="1"/>
          <p:nvPr/>
        </p:nvSpPr>
        <p:spPr>
          <a:xfrm>
            <a:off x="6691161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-10 * t**2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A1ACF6B-DA24-9223-CADC-E6844CD0E88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85981" y="2241826"/>
            <a:ext cx="1228896" cy="6858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CAF0C1F-41C9-AFA7-9BEE-35F4303172E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77593" y="2252491"/>
            <a:ext cx="1491552" cy="65067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CC940B2-079A-E14D-2F2D-DB1CF988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1161" y="3142959"/>
            <a:ext cx="4640729" cy="34621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7655B3F-31F3-478E-C886-97E0DB3F4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486" y="3142959"/>
            <a:ext cx="4640729" cy="346213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DBA6947-364D-704F-BB63-14199E244514}"/>
              </a:ext>
            </a:extLst>
          </p:cNvPr>
          <p:cNvSpPr txBox="1"/>
          <p:nvPr/>
        </p:nvSpPr>
        <p:spPr>
          <a:xfrm>
            <a:off x="9463538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8860BDD-01C8-4C63-3084-CD719ECAF9B8}"/>
              </a:ext>
            </a:extLst>
          </p:cNvPr>
          <p:cNvSpPr/>
          <p:nvPr/>
        </p:nvSpPr>
        <p:spPr>
          <a:xfrm flipH="1">
            <a:off x="6131273" y="2252491"/>
            <a:ext cx="45719" cy="43526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220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8F30E-439F-770B-C6C4-74A30CCC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8E77E8C-81BD-48CF-FE7B-CF7176CF2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1264724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위치를 미분 → 속도</a:t>
            </a:r>
            <a:r>
              <a:rPr lang="en-US" altLang="ko-KR" dirty="0"/>
              <a:t>, </a:t>
            </a:r>
            <a:r>
              <a:rPr lang="ko-KR" altLang="en-US" dirty="0"/>
              <a:t> 속도를 미분 → 가속도</a:t>
            </a:r>
            <a:endParaRPr lang="en-US" altLang="ko-KR" dirty="0"/>
          </a:p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가속도를 적분 → 속도 속도를 적분 → 위치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970EE199-FE2E-AB1B-C3EB-95C827C76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EC39897-BF60-C6EF-7B13-1CF8519A4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19D29E6-B971-8A00-3814-384568163F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8101" y="3210438"/>
            <a:ext cx="3645353" cy="210143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24428A9-29B9-D20F-2705-B5F974D3A0B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72667" y="3210438"/>
            <a:ext cx="7161642" cy="2122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553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BAD0D-64F0-5C6E-557E-EF4FB2FC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D5494DE-863C-9F38-C650-4485FDD2E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5332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74C09B2-C18A-C9AE-7C68-6315A1CD8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180848-7044-645C-DB72-202A5595E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2272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A9388-4461-4D86-EE45-54E602498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FE60DC-EB95-02F6-B6AA-DAAC2BEEC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84908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이해하는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물리적 모델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759C1A96-2896-D5AC-2AD0-BAC2EBE2F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203B95-93F2-4E16-BAE4-CC801D243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A69836-79B6-A2DA-1A54-CCE1425A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1947866"/>
            <a:ext cx="8100291" cy="44755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D1F81D-9D73-A277-AF02-F1D09CEEC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6369" y="2672372"/>
            <a:ext cx="1365027" cy="47396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BB9B605-A74B-AE8D-B47A-481A2156A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3662" y="3429000"/>
            <a:ext cx="2287684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0704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85AD-4242-C287-E9AC-59ECC4A9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8B94D30B-61C5-F50A-881E-9D567962D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7E7BEBB-7AF7-A56F-1FDB-111BF55E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3584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0C9BB-C576-5D76-A621-12F6D2D3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순간 이동 능력으로 당신의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AB17F3EE-D6F0-304C-76DD-092CEB6B8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FB34E9E-4A02-7B86-AD9B-8F5BC007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7779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B512-E367-6CB3-6427-170A65758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마블의 순간 이동에 따른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  <a:blipFill>
                <a:blip r:embed="rId2"/>
                <a:stretch>
                  <a:fillRect l="-58" b="-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1DEF03F-E099-05C7-39C4-D8D08C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C8490EB-72B1-37E5-1777-33C4537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C714919-2A05-70C7-C618-3BD78C956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51" y="3429000"/>
            <a:ext cx="8954202" cy="2940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48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3698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53342-2425-B552-0F6D-02A599DF8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A20275-9114-67D7-400E-3F605E1DB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379" y="1220061"/>
            <a:ext cx="10642271" cy="132014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 US dollars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 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2A52C4-A097-F5B5-CE72-E072B1D76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33A2C10-ABF7-FF0C-AC9E-C8A89559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B6430F4-CAAD-D9B3-D0F2-334DB356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7" y="2696848"/>
            <a:ext cx="6118009" cy="38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2936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C140-19C1-FF60-32D3-115F3E660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54E0AC5-D3C1-B8B7-69EF-35F0F5F46456}"/>
              </a:ext>
            </a:extLst>
          </p:cNvPr>
          <p:cNvSpPr/>
          <p:nvPr/>
        </p:nvSpPr>
        <p:spPr>
          <a:xfrm>
            <a:off x="1104901" y="31084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FB2C369-3EAE-1018-CAB6-CC74CB2A60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2C8B3D-33E6-708C-8387-2690255B24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86185B-8542-FE99-5671-8DA2CA03F1E6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3127431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72B11-9DC9-C05E-223E-124C8342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DB16239-B20F-BC48-736D-3082EA50148A}"/>
              </a:ext>
            </a:extLst>
          </p:cNvPr>
          <p:cNvSpPr/>
          <p:nvPr/>
        </p:nvSpPr>
        <p:spPr>
          <a:xfrm>
            <a:off x="1104901" y="36322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B2BD48F-2F5A-4C41-BA71-11FED4C9DD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8377D60-D9A5-B173-E154-8880F0E3D3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7297F7-CF55-46BF-2B72-8695AB5D8006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6811152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21775" y="3063940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42066" y="4376481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8BCF9-2DD5-4402-26A1-C70FD99A9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D22EADE-B559-C35F-4511-5DFDCC9B3E05}"/>
              </a:ext>
            </a:extLst>
          </p:cNvPr>
          <p:cNvSpPr/>
          <p:nvPr/>
        </p:nvSpPr>
        <p:spPr>
          <a:xfrm>
            <a:off x="1104901" y="4165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9DA16A-B7E6-69AB-D30B-E53C7395F4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15CF079-75FE-E617-58C5-C2A52AF049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F731E5-EF4D-BDEC-96E8-D2D77C485533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30365759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FA8D-EFC0-F006-D4AB-47B69926D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F9712C-5B4D-1BD5-FE8A-54E45DDEC35E}"/>
              </a:ext>
            </a:extLst>
          </p:cNvPr>
          <p:cNvSpPr txBox="1"/>
          <p:nvPr/>
        </p:nvSpPr>
        <p:spPr>
          <a:xfrm>
            <a:off x="1010497" y="1068787"/>
            <a:ext cx="6921227" cy="549381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Ridge, Lasso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sklearn.preprocessing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np.random.RandomState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(1234)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10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(100);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 + 0.25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(0, 10, 100)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models = {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'Linear':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'Polynomial':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'Ridge':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Ridge(alpha=1)),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'Lasso':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Lasso(alpha=1)),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=(20, 6));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styles = ['r-', 'g-', 'b-', 'k-’]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(name, model), style in zip(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models.items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(), styles):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], y)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]), style, label=name)</a:t>
            </a:r>
          </a:p>
          <a:p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plt.legend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fontsize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=16);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(-4, 4)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47F26F4B-F240-5660-DE77-05421AF31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804364-33A8-ACB2-C2E5-864D11EB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0E121FA0-5424-CAF3-1125-68C64E1BB051}"/>
              </a:ext>
            </a:extLst>
          </p:cNvPr>
          <p:cNvSpPr/>
          <p:nvPr/>
        </p:nvSpPr>
        <p:spPr>
          <a:xfrm>
            <a:off x="8340436" y="2789382"/>
            <a:ext cx="692728" cy="1385454"/>
          </a:xfrm>
          <a:prstGeom prst="rightArrow">
            <a:avLst>
              <a:gd name="adj1" fmla="val 64667"/>
              <a:gd name="adj2" fmla="val 5000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887D16-AA64-F12D-47ED-51AE537B5490}"/>
              </a:ext>
            </a:extLst>
          </p:cNvPr>
          <p:cNvSpPr txBox="1"/>
          <p:nvPr/>
        </p:nvSpPr>
        <p:spPr>
          <a:xfrm>
            <a:off x="9264073" y="2789382"/>
            <a:ext cx="2373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함수에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L2 penalty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부여한 새로운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설정하여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코드를 생성하라</a:t>
            </a:r>
          </a:p>
        </p:txBody>
      </p:sp>
    </p:spTree>
    <p:extLst>
      <p:ext uri="{BB962C8B-B14F-4D97-AF65-F5344CB8AC3E}">
        <p14:creationId xmlns:p14="http://schemas.microsoft.com/office/powerpoint/2010/main" val="1154068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F6FA6-74C7-88C9-BFBA-D8AD157D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52A388-439D-EEB9-26EA-BBB92E20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4BF533-F31A-6BF6-753A-09DAEB8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7FEE754-8B21-C573-D5AF-C8267A4B4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534544"/>
            <a:ext cx="10428324" cy="3330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070F2-82F7-2C59-5420-070887EC6108}"/>
              </a:ext>
            </a:extLst>
          </p:cNvPr>
          <p:cNvSpPr txBox="1"/>
          <p:nvPr/>
        </p:nvSpPr>
        <p:spPr>
          <a:xfrm>
            <a:off x="842210" y="1285138"/>
            <a:ext cx="10860262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못 맞추고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예민해지는데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적절한 규제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(Lasso, Ridge)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주면 훨씬 안정적인 예측 모델이 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시각적으로 표현</a:t>
            </a:r>
          </a:p>
        </p:txBody>
      </p:sp>
    </p:spTree>
    <p:extLst>
      <p:ext uri="{BB962C8B-B14F-4D97-AF65-F5344CB8AC3E}">
        <p14:creationId xmlns:p14="http://schemas.microsoft.com/office/powerpoint/2010/main" val="11716527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F0C96-3B27-BB48-DA78-0CFBBF4E8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1DE821-57A7-BE4B-1984-B5F99A559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2BC1B00-91CB-AC63-78CA-FAF87EAC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36D9234-AC50-5FCB-71B1-2935B19F2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251" y="2513766"/>
            <a:ext cx="3726797" cy="3748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1EC122D-E7BB-BE6B-B3A0-157E9953BF3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8" y="2527951"/>
            <a:ext cx="1775583" cy="63131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CE945B4-C646-B222-F74D-3C0DBC99C4B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6" y="4285662"/>
            <a:ext cx="1775583" cy="65239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4BD6D12-C63F-13C0-6BC9-77A7B60A3405}"/>
              </a:ext>
            </a:extLst>
          </p:cNvPr>
          <p:cNvSpPr txBox="1"/>
          <p:nvPr/>
        </p:nvSpPr>
        <p:spPr>
          <a:xfrm>
            <a:off x="5308706" y="3210529"/>
            <a:ext cx="6412239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절대값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변수의 계수를 정확히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변수 선택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Selection)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5E84E4-F875-478E-C686-9758ADE9AAD8}"/>
              </a:ext>
            </a:extLst>
          </p:cNvPr>
          <p:cNvSpPr txBox="1"/>
          <p:nvPr/>
        </p:nvSpPr>
        <p:spPr>
          <a:xfrm>
            <a:off x="5308706" y="5011642"/>
            <a:ext cx="6504602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계수를 완전히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만들지는 않지만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전체적으로 크기를 줄여서 모델의 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낮추고 과적합을 방지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10A7C9-3270-0BD3-5B1C-B6B2217CA9FD}"/>
              </a:ext>
            </a:extLst>
          </p:cNvPr>
          <p:cNvSpPr txBox="1"/>
          <p:nvPr/>
        </p:nvSpPr>
        <p:spPr>
          <a:xfrm>
            <a:off x="1173019" y="1234376"/>
            <a:ext cx="1084349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없애 버리는 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불필요한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제거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Ridge(L2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변수를 안고 가되 그 힘을 골고루 빼놓는 모래주머니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줄임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62028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4CD8-1D16-6AD6-B54E-7388453B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6E90116-C523-D76C-F59D-44C18205E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BD4E204-6627-F492-F83A-589BDCFED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7CC84CE-B9A5-2280-2812-A5EDCAF22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1" y="3281109"/>
            <a:ext cx="9524208" cy="3031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4405D29-D6D4-9CE0-F89E-3F54C70037AC}"/>
              </a:ext>
            </a:extLst>
          </p:cNvPr>
          <p:cNvSpPr txBox="1"/>
          <p:nvPr/>
        </p:nvSpPr>
        <p:spPr>
          <a:xfrm>
            <a:off x="825500" y="1167597"/>
            <a:ext cx="1059180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7292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데이터를 정확하게 예측 판단하지 못하는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비율</a:t>
            </a:r>
          </a:p>
          <a:p>
            <a:pPr marR="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허위음성율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(FNR, False Negative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허위양성율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(FPR, False Positive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최소화하는 것이 목적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58BBE36-A70D-B74B-BAC8-1688AFDF019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699093" y="2213027"/>
            <a:ext cx="4439005" cy="8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06861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7586-3465-1D7A-31A0-DE17D454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9C7335-0937-BF0A-7257-FEF83D06F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DAC531A-330A-E70F-AAF7-4CD509A4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39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EF2C866-AFC2-4BB2-B62D-131ABEC60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976" y="2004810"/>
            <a:ext cx="4943950" cy="2111911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4DC94A1-2481-AD85-5509-B66CEB38C98D}"/>
              </a:ext>
            </a:extLst>
          </p:cNvPr>
          <p:cNvGrpSpPr/>
          <p:nvPr/>
        </p:nvGrpSpPr>
        <p:grpSpPr>
          <a:xfrm>
            <a:off x="915383" y="1785765"/>
            <a:ext cx="4228117" cy="4702670"/>
            <a:chOff x="1432947" y="1241371"/>
            <a:chExt cx="4301103" cy="4934140"/>
          </a:xfrm>
        </p:grpSpPr>
        <p:pic>
          <p:nvPicPr>
            <p:cNvPr id="5" name="그림 4" descr="plot sgd loss functions">
              <a:extLst>
                <a:ext uri="{FF2B5EF4-FFF2-40B4-BE49-F238E27FC236}">
                  <a16:creationId xmlns:a16="http://schemas.microsoft.com/office/drawing/2014/main" id="{5F49B6A3-1F88-DA90-EF99-F850EDDAD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2947" y="2949683"/>
              <a:ext cx="4301103" cy="3225828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4BA405C-1BDA-9D33-44AF-91EAB0128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2947" y="1241371"/>
              <a:ext cx="4301103" cy="1708311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5DE5ECE-63FB-B037-2FD5-1FF750880A29}"/>
              </a:ext>
            </a:extLst>
          </p:cNvPr>
          <p:cNvSpPr txBox="1"/>
          <p:nvPr/>
        </p:nvSpPr>
        <p:spPr>
          <a:xfrm>
            <a:off x="813783" y="1385655"/>
            <a:ext cx="31341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plot_sgd_loss_functions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16722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8EF45-0E44-8A4B-3A79-11F316489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A7EFDDB-AC97-FC35-30F4-DF70038DB895}"/>
              </a:ext>
            </a:extLst>
          </p:cNvPr>
          <p:cNvSpPr/>
          <p:nvPr/>
        </p:nvSpPr>
        <p:spPr>
          <a:xfrm>
            <a:off x="1104901" y="47181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FCBFCC7-7159-7F0E-D7F2-FF26123BBE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0E5F6AC-401D-8053-31BC-31592DA0FC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77E61E-8B1A-CCCC-9AF8-A7075EBF4415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420927300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1764-7834-EF6C-66DB-456EAE59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02E4FFB2-6E61-AF40-0847-AEFB3ECBE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726242"/>
            <a:ext cx="6588418" cy="3332813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511C401-1BDD-EEDF-0775-5E0E7A5F3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15DFB23-88D1-D4A1-4363-B544A9A52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5162F18-6756-C855-7D54-013E71047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525338"/>
              </p:ext>
            </p:extLst>
          </p:nvPr>
        </p:nvGraphicFramePr>
        <p:xfrm>
          <a:off x="7682466" y="2726242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485A23B-8E19-CE69-B78C-E7D437BC98CB}"/>
              </a:ext>
            </a:extLst>
          </p:cNvPr>
          <p:cNvSpPr txBox="1"/>
          <p:nvPr/>
        </p:nvSpPr>
        <p:spPr>
          <a:xfrm>
            <a:off x="775854" y="1228235"/>
            <a:ext cx="11330822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있다고 가정하고 경로별로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도학하는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시간은 거리에 비례한다고 가정한다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어느 경로로 가는 것이 최단거리인지 해를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56098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51CA-EE0F-066F-FF91-91F7D8D5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CA80E44-6C64-0E6E-9F21-868A0A764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B88E5B-D17C-39F7-4F11-46BD15D6C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42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5615C-98F5-472C-7F9D-75B04AAA493B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54EBE0-DCDB-B23B-70BC-8A24354C5342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 x 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인접 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(Adjacency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AED4C402-C662-6A33-8686-D1EB0B4EECC1}"/>
              </a:ext>
            </a:extLst>
          </p:cNvPr>
          <p:cNvSpPr/>
          <p:nvPr/>
        </p:nvSpPr>
        <p:spPr>
          <a:xfrm>
            <a:off x="6152855" y="3325091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6223E270-3011-96C4-589B-2E626D436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975" y="2336163"/>
            <a:ext cx="3534268" cy="356284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EACF8577-B992-2BF5-6E5B-FCD6AE92F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21" y="2278140"/>
            <a:ext cx="5270897" cy="37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9644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8016F-EEAA-CC02-CFF7-904029DB5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433690E-A7AA-7170-F389-52518C6B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CD9F13F-4115-EC82-3A2A-1421C9E08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8878-3763-5744-EBE7-2940EB92CEA8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도시의 위경도로 거리 구하기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6055F1-EEAD-88C0-10D6-F9C1AE59EF39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8 x 8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0B4FD27-701E-5161-98E3-D4B58B0FA555}"/>
              </a:ext>
            </a:extLst>
          </p:cNvPr>
          <p:cNvSpPr/>
          <p:nvPr/>
        </p:nvSpPr>
        <p:spPr>
          <a:xfrm>
            <a:off x="4656565" y="3251200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A51931-87C8-EE1B-F407-FE9EDBD757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63728"/>
              </p:ext>
            </p:extLst>
          </p:nvPr>
        </p:nvGraphicFramePr>
        <p:xfrm>
          <a:off x="551993" y="2744715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D2E48D7A-8CC1-2646-7A66-C5F5B3CCA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506" y="2355749"/>
            <a:ext cx="5786954" cy="369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7259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9FF93-4513-A3F5-1057-7397261E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F9F3E4-C9A2-3AEF-54FD-9E0EBAB10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F4D8F7-7729-834F-4D77-1D80CFE2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44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770CA-B7CA-4928-3BA9-613BC7EF3674}"/>
              </a:ext>
            </a:extLst>
          </p:cNvPr>
          <p:cNvSpPr txBox="1"/>
          <p:nvPr/>
        </p:nvSpPr>
        <p:spPr>
          <a:xfrm>
            <a:off x="535712" y="2790002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Adjacency Matrix</a:t>
            </a: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549DF-AE9C-BFCB-7ADB-4C61096744E4}"/>
              </a:ext>
            </a:extLst>
          </p:cNvPr>
          <p:cNvSpPr txBox="1"/>
          <p:nvPr/>
        </p:nvSpPr>
        <p:spPr>
          <a:xfrm>
            <a:off x="4416959" y="2790001"/>
            <a:ext cx="18103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C57B053-1D05-D974-6448-2D17C6725D9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252" y="3886150"/>
            <a:ext cx="2667011" cy="219854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647D088-3BCA-FE95-1AF8-EA1A1316183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83280" y="3886150"/>
            <a:ext cx="3898859" cy="21985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420B1AC-58BB-401D-30EB-38ED0ED86CD3}"/>
              </a:ext>
            </a:extLst>
          </p:cNvPr>
          <p:cNvSpPr txBox="1"/>
          <p:nvPr/>
        </p:nvSpPr>
        <p:spPr>
          <a:xfrm>
            <a:off x="3061295" y="430958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740C12-D167-6F95-8461-C890BFDAA6D6}"/>
              </a:ext>
            </a:extLst>
          </p:cNvPr>
          <p:cNvSpPr txBox="1"/>
          <p:nvPr/>
        </p:nvSpPr>
        <p:spPr>
          <a:xfrm>
            <a:off x="3040208" y="2799766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671F5277-2813-C525-26A7-1C7870DC7EA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961745" y="3886150"/>
            <a:ext cx="3307400" cy="21913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8C9E7E7-5514-B0CE-8091-E24848223919}"/>
              </a:ext>
            </a:extLst>
          </p:cNvPr>
          <p:cNvSpPr txBox="1"/>
          <p:nvPr/>
        </p:nvSpPr>
        <p:spPr>
          <a:xfrm>
            <a:off x="7437494" y="430958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3EB724-F3FC-938C-1727-FDA20A822FCA}"/>
              </a:ext>
            </a:extLst>
          </p:cNvPr>
          <p:cNvSpPr txBox="1"/>
          <p:nvPr/>
        </p:nvSpPr>
        <p:spPr>
          <a:xfrm>
            <a:off x="7437494" y="279976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3BA7E5-90FF-0EAE-F46B-CAFEF29402C3}"/>
              </a:ext>
            </a:extLst>
          </p:cNvPr>
          <p:cNvSpPr txBox="1"/>
          <p:nvPr/>
        </p:nvSpPr>
        <p:spPr>
          <a:xfrm>
            <a:off x="7961745" y="2799766"/>
            <a:ext cx="4156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이웃 거리의 합산 → 최단 경로와 무관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2E25907B-0F24-80B1-C6B2-CE219D9B3D83}"/>
              </a:ext>
            </a:extLst>
          </p:cNvPr>
          <p:cNvCxnSpPr/>
          <p:nvPr/>
        </p:nvCxnSpPr>
        <p:spPr>
          <a:xfrm>
            <a:off x="701964" y="3583707"/>
            <a:ext cx="112037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18162E-858C-9B1B-8924-FD719D8EA231}"/>
              </a:ext>
            </a:extLst>
          </p:cNvPr>
          <p:cNvSpPr/>
          <p:nvPr/>
        </p:nvSpPr>
        <p:spPr>
          <a:xfrm>
            <a:off x="7761622" y="3894970"/>
            <a:ext cx="3898859" cy="27709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D55AB2-EFF2-2AFE-2018-5E3263607681}"/>
              </a:ext>
            </a:extLst>
          </p:cNvPr>
          <p:cNvSpPr txBox="1"/>
          <p:nvPr/>
        </p:nvSpPr>
        <p:spPr>
          <a:xfrm>
            <a:off x="535712" y="1420336"/>
            <a:ext cx="11124769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인접행렬과 도시간 거리 행렬을 </a:t>
            </a:r>
            <a:r>
              <a:rPr lang="ko-KR" altLang="en-US" dirty="0" err="1"/>
              <a:t>내적하면</a:t>
            </a:r>
            <a:r>
              <a:rPr lang="ko-KR" altLang="en-US" dirty="0"/>
              <a:t> 각 행은 출발도시에서 각 열 도시까지의 도달하는데 가능한 모든 경로에 해당되는 누적 거리</a:t>
            </a:r>
            <a:r>
              <a:rPr lang="en-US" altLang="ko-KR" dirty="0"/>
              <a:t>, </a:t>
            </a:r>
            <a:r>
              <a:rPr lang="ko-KR" altLang="en-US" dirty="0"/>
              <a:t>노란색 박스는 서울</a:t>
            </a:r>
            <a:r>
              <a:rPr lang="en-US" altLang="ko-KR" dirty="0"/>
              <a:t>(Node a)</a:t>
            </a:r>
            <a:r>
              <a:rPr lang="ko-KR" altLang="en-US" dirty="0"/>
              <a:t>에서 각 도시까지 가는데 걸리는 누적합산 거리</a:t>
            </a:r>
          </a:p>
        </p:txBody>
      </p:sp>
    </p:spTree>
    <p:extLst>
      <p:ext uri="{BB962C8B-B14F-4D97-AF65-F5344CB8AC3E}">
        <p14:creationId xmlns:p14="http://schemas.microsoft.com/office/powerpoint/2010/main" val="25903601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E16DE-16B8-5D03-3DCF-10B842B94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1B44F31-6A3C-4AA4-9525-B7425A2505C9}"/>
              </a:ext>
            </a:extLst>
          </p:cNvPr>
          <p:cNvSpPr/>
          <p:nvPr/>
        </p:nvSpPr>
        <p:spPr>
          <a:xfrm>
            <a:off x="1104901" y="52610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1AFA23-AF0B-3263-B529-4ABD6DD3C7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D58A28-2844-CBB4-61EF-CA14388AA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6315CD-1D90-3AF7-99C4-58606224AE29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86858679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0E3F-5EEC-F1A6-FAA6-F087DE60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98E502-D2A8-03BA-7C44-261709BCB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97A6E5-801E-04CF-7599-F1B28EB95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46</a:t>
            </a:fld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F3237E-DE96-394F-6719-57C4AE5790F0}"/>
              </a:ext>
            </a:extLst>
          </p:cNvPr>
          <p:cNvSpPr/>
          <p:nvPr/>
        </p:nvSpPr>
        <p:spPr>
          <a:xfrm>
            <a:off x="535712" y="2286000"/>
            <a:ext cx="10218013" cy="427627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7CEBF4-443F-B850-DC6E-5B092470F7FF}"/>
              </a:ext>
            </a:extLst>
          </p:cNvPr>
          <p:cNvSpPr txBox="1"/>
          <p:nvPr/>
        </p:nvSpPr>
        <p:spPr>
          <a:xfrm>
            <a:off x="535712" y="1420336"/>
            <a:ext cx="10655027" cy="4932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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선형계획법으로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이익을 최대화하는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목표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(x1)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책상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(x2)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생산하는 공장에서 이익을 최대화하는 의자와 책상의 생산량은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원의 이익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자원 제약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목재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단위가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 까지만 사용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노동 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시간이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16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까지만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98233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0CFB8-C82A-C9EC-8C92-54F29EACE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80B0E6-0815-D986-2AED-FC39C14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73C62C-0AC1-9AC7-F526-A8401B466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47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3C13FC1-D6FB-5231-32F7-05813662EBC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35221" y="1897275"/>
            <a:ext cx="4877970" cy="32081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FF4F533-BD65-29C3-2F21-91D9A1A84FD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20767" y="1897275"/>
            <a:ext cx="3624446" cy="320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52452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60B8A-82C9-541F-276F-C1D6CAF4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1D4C38-0B8A-1401-DC59-7A08AEEA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1CA4E00-AB04-9B2D-80E5-6A85328BA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48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4E7E16-5BA5-50B2-EB8C-8D7A05B2B80D}"/>
              </a:ext>
            </a:extLst>
          </p:cNvPr>
          <p:cNvSpPr txBox="1"/>
          <p:nvPr/>
        </p:nvSpPr>
        <p:spPr>
          <a:xfrm>
            <a:off x="915383" y="1206291"/>
            <a:ext cx="8591550" cy="526297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np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scipy.optimize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 함수 계수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(Maximize 3x1 + 5x2 =&gt; Minimize -3x1 - 5x2)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-5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제약 조건 행렬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벡터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(Ax &lt;= b)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[2x1 + 3x2 &lt;= 30]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[1x1 + 2x2 &lt;= 16]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b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범위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(x1 &gt;= 0, x2 &gt;= 0)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선형계획법 실행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=A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=b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bounds=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method=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'highs'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최적 생산량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의자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책상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최대 이익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-res.fun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만원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484715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B2DBB-244C-74AC-E76C-A954C9BF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70CF4E9-3386-9B1A-C330-77E769B21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C4E3899-DB20-D685-8662-50D353A35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49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2F5AE7D-B530-2A8D-6B21-3D63CA9CA1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786" y="1206291"/>
            <a:ext cx="6977062" cy="5145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08384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641AF-ABE3-94EC-417B-90B31E022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7032831-E0E9-7F13-E510-14D877AD1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Appendix</a:t>
            </a:r>
            <a:endParaRPr lang="ko-KR" altLang="en-US" b="1" cap="none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D870548-C46E-457D-BDF4-70A9E9B3F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50</a:t>
            </a:fld>
            <a:endParaRPr 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FC53D5D5-CFBF-7892-0957-8C88680F32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10650538" cy="4195481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lang="en-US" altLang="ko-KR" sz="4000" dirty="0">
                <a:solidFill>
                  <a:srgbClr val="FFFF00"/>
                </a:solidFill>
              </a:rPr>
              <a:t>Contingency table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altLang="ko-KR" sz="4000" dirty="0" err="1">
                <a:solidFill>
                  <a:srgbClr val="FFFF00"/>
                </a:solidFill>
              </a:rPr>
              <a:t>Jocobian</a:t>
            </a:r>
            <a:r>
              <a:rPr lang="en-US" altLang="ko-KR" sz="4000" dirty="0">
                <a:solidFill>
                  <a:srgbClr val="FFFF00"/>
                </a:solidFill>
              </a:rPr>
              <a:t> matrix</a:t>
            </a:r>
          </a:p>
        </p:txBody>
      </p:sp>
    </p:spTree>
    <p:extLst>
      <p:ext uri="{BB962C8B-B14F-4D97-AF65-F5344CB8AC3E}">
        <p14:creationId xmlns:p14="http://schemas.microsoft.com/office/powerpoint/2010/main" val="38673057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005F5-AC19-1F98-2D42-AD97D1B87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1F74FFF3-562C-4946-F44D-4C8CD65C0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Contingency_table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9FD020A-0F20-A516-448E-E3E802C23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51</a:t>
            </a:fld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1518E4E-D918-DB2B-D10B-0092A23ED042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530036" y="3371570"/>
            <a:ext cx="6099201" cy="2418496"/>
          </a:xfrm>
          <a:prstGeom prst="rect">
            <a:avLst/>
          </a:prstGeom>
        </p:spPr>
      </p:pic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C976022E-007E-29B4-733F-4E5D7AB44C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30" y="1321457"/>
            <a:ext cx="10557988" cy="1634179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암환자 중에 커피를 마신 사람비율이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85%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(=425/500)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이니 커피를 마시면 암에 걸릴 확률이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85%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주장하면 맞는 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커피를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마시는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사람이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암에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걸릴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마시는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높을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커피 섭취와 암 발병 사이에 통계적으로 유의미한 관계가 있는지 검증하라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카이제곱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p-value)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84C7B33-F32B-BBCD-5D44-26418D3690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9237" y="3371570"/>
            <a:ext cx="3830540" cy="579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765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817F2-A114-A4C0-0165-6D7AEC761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464BA57-A5FF-0FDA-4FA7-DEF300DD4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Chi-</a:t>
            </a:r>
            <a:r>
              <a:rPr lang="en-US" altLang="ko-KR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squared_distribution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618DDEE-CA6A-7B2A-175B-E8EC19FA8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52</a:t>
            </a:fld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24E4E58-9F2B-D1F7-9597-2BAA84C051F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00891" y="2138546"/>
            <a:ext cx="5368704" cy="212883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94855CE-9CA7-9D81-E949-81FCA7AEF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7049" y="2154700"/>
            <a:ext cx="4205966" cy="114913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133356-5EE4-D991-3702-040E2D4A19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891" y="4472125"/>
            <a:ext cx="5431164" cy="212883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14B0474-CCE1-B3FD-553E-057947C9B465}"/>
              </a:ext>
            </a:extLst>
          </p:cNvPr>
          <p:cNvSpPr txBox="1"/>
          <p:nvPr/>
        </p:nvSpPr>
        <p:spPr>
          <a:xfrm>
            <a:off x="2314267" y="3029754"/>
            <a:ext cx="4154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325</a:t>
            </a:r>
            <a:endParaRPr lang="ko-KR" altLang="en-US" sz="1200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DA1E16-7AD0-8481-E03A-BB82E0354303}"/>
              </a:ext>
            </a:extLst>
          </p:cNvPr>
          <p:cNvSpPr txBox="1"/>
          <p:nvPr/>
        </p:nvSpPr>
        <p:spPr>
          <a:xfrm>
            <a:off x="4036387" y="3029754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64,675</a:t>
            </a:r>
            <a:endParaRPr lang="ko-KR" altLang="en-US" sz="1200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4F7332-8061-5ED7-B2E3-36CD1C9BB44B}"/>
              </a:ext>
            </a:extLst>
          </p:cNvPr>
          <p:cNvSpPr txBox="1"/>
          <p:nvPr/>
        </p:nvSpPr>
        <p:spPr>
          <a:xfrm>
            <a:off x="2314267" y="3473619"/>
            <a:ext cx="4154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175</a:t>
            </a:r>
            <a:endParaRPr lang="ko-KR" altLang="en-US" sz="1200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6FA383-0F5E-DEFB-3557-1FBA89321188}"/>
              </a:ext>
            </a:extLst>
          </p:cNvPr>
          <p:cNvSpPr txBox="1"/>
          <p:nvPr/>
        </p:nvSpPr>
        <p:spPr>
          <a:xfrm>
            <a:off x="4036387" y="3467403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34,825</a:t>
            </a:r>
            <a:endParaRPr lang="ko-KR" altLang="en-US" sz="1200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1" name="그림 20" descr="undefined">
            <a:extLst>
              <a:ext uri="{FF2B5EF4-FFF2-40B4-BE49-F238E27FC236}">
                <a16:creationId xmlns:a16="http://schemas.microsoft.com/office/drawing/2014/main" id="{C79C31FF-D125-04E3-4CAB-ADCC1B4D3C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6232" y="3337786"/>
            <a:ext cx="4115323" cy="27456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60B4546-E831-95D7-77EF-72F321A6D932}"/>
              </a:ext>
            </a:extLst>
          </p:cNvPr>
          <p:cNvSpPr txBox="1"/>
          <p:nvPr/>
        </p:nvSpPr>
        <p:spPr>
          <a:xfrm>
            <a:off x="6015990" y="6151389"/>
            <a:ext cx="27965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wiki/Chi-</a:t>
            </a:r>
            <a:r>
              <a:rPr lang="en-US" altLang="ko-KR" sz="1400" dirty="0" err="1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squared_distribution</a:t>
            </a:r>
            <a:endParaRPr lang="ko-KR" altLang="en-US" sz="1400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86641FE-7D55-E04D-8FD8-9F5985BA22D5}"/>
              </a:ext>
            </a:extLst>
          </p:cNvPr>
          <p:cNvSpPr txBox="1"/>
          <p:nvPr/>
        </p:nvSpPr>
        <p:spPr>
          <a:xfrm>
            <a:off x="10883383" y="6293036"/>
            <a:ext cx="7715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88.345</a:t>
            </a:r>
            <a:endParaRPr lang="ko-KR" altLang="en-US" sz="1200" b="1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BBF74D94-737E-8B48-7F71-95FE5C42AADB}"/>
              </a:ext>
            </a:extLst>
          </p:cNvPr>
          <p:cNvCxnSpPr/>
          <p:nvPr/>
        </p:nvCxnSpPr>
        <p:spPr>
          <a:xfrm flipV="1">
            <a:off x="11178657" y="5862522"/>
            <a:ext cx="0" cy="367462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89204481-F0E6-EC2D-0C20-D95FB82870FD}"/>
              </a:ext>
            </a:extLst>
          </p:cNvPr>
          <p:cNvSpPr txBox="1"/>
          <p:nvPr/>
        </p:nvSpPr>
        <p:spPr>
          <a:xfrm>
            <a:off x="10470115" y="5245472"/>
            <a:ext cx="12668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P-value&lt; 0.001</a:t>
            </a:r>
            <a:endParaRPr lang="ko-KR" altLang="en-US" sz="1200" b="1" dirty="0"/>
          </a:p>
        </p:txBody>
      </p:sp>
      <p:sp>
        <p:nvSpPr>
          <p:cNvPr id="28" name="내용 개체 틀 2">
            <a:extLst>
              <a:ext uri="{FF2B5EF4-FFF2-40B4-BE49-F238E27FC236}">
                <a16:creationId xmlns:a16="http://schemas.microsoft.com/office/drawing/2014/main" id="{41CD307C-3F32-959B-AFFA-B38C9BF66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30" y="1321459"/>
            <a:ext cx="10557988" cy="512522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정상적인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경우를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생각하면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커피를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마시고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암환자인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동시확률변수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 325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804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4" grpId="0"/>
      <p:bldP spid="15" grpId="0"/>
      <p:bldP spid="22" grpId="0"/>
      <p:bldP spid="24" grpId="0"/>
      <p:bldP spid="27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11D93-2528-EF76-E1A5-9D73A4587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2AEE40D-1F6F-E156-5B59-005CF3BBA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partial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derivative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1AE10A-4390-846E-D6A8-A03A33520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53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85760CEA-B2AB-CED6-D9BA-41CED91E6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115504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공책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권에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 USD,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자루에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USD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공책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권과 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자루를 사면 총 얼마일까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FF2AFAE-0AC7-4807-F916-EE84617C8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8067" y="2734541"/>
            <a:ext cx="6645216" cy="3330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77388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DF759-6AEB-71D0-244D-2777F7406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95D571C-F8B6-BA14-5718-C4D8E28D8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Partial_derivative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FE8FC59-9CD2-B426-02A4-DAEC1FE6B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54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87188940-F80F-38B0-1278-94C54F9CC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1421743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공책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권당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 USD,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자루에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 USD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5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* 10$ + 7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자루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*5$ = 85 $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/>
              <a:t>어떤 물건의 </a:t>
            </a:r>
            <a:r>
              <a:rPr lang="en-US" altLang="ko-KR" dirty="0"/>
              <a:t>‘</a:t>
            </a:r>
            <a:r>
              <a:rPr lang="ko-KR" altLang="en-US" dirty="0"/>
              <a:t>단가</a:t>
            </a:r>
            <a:r>
              <a:rPr lang="en-US" altLang="ko-KR" dirty="0"/>
              <a:t>’</a:t>
            </a:r>
            <a:r>
              <a:rPr lang="ko-KR" altLang="en-US" dirty="0"/>
              <a:t>를 구해</a:t>
            </a:r>
            <a:r>
              <a:rPr lang="en-US" altLang="ko-KR" dirty="0"/>
              <a:t>, </a:t>
            </a:r>
            <a:r>
              <a:rPr lang="ko-KR" altLang="en-US" dirty="0"/>
              <a:t>원하는 개수만큼 곱하는 기본 원리를 문자로 공식화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A40329A-4871-AA68-D1AD-A938F504366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531014" y="3140084"/>
            <a:ext cx="3440159" cy="279399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D467A10-0F7F-7A7A-1208-FA7CFF85D529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406554" y="3159134"/>
            <a:ext cx="3936971" cy="757372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5DD7B71B-A5C6-CB14-9ED3-FE1F32EA2199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244732" y="3159134"/>
            <a:ext cx="2690093" cy="441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750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15AEA-9E90-24FC-BFB7-E912E9D31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E97EE602-42E3-A339-CAE4-269A210FF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partial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derivative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FAD434-F9AB-54A6-F906-D8BB5D389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55</a:t>
            </a:fld>
            <a:endParaRPr lang="en-US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78645B7-B210-8557-C2D7-836CD5E03D08}"/>
              </a:ext>
            </a:extLst>
          </p:cNvPr>
          <p:cNvGrpSpPr/>
          <p:nvPr/>
        </p:nvGrpSpPr>
        <p:grpSpPr>
          <a:xfrm>
            <a:off x="2474191" y="1586689"/>
            <a:ext cx="6042174" cy="4486574"/>
            <a:chOff x="5148565" y="1704676"/>
            <a:chExt cx="6042174" cy="4486574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29CDD43C-D9B9-9604-F3F1-0B7A1A483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48565" y="1704676"/>
              <a:ext cx="6042174" cy="4486574"/>
            </a:xfrm>
            <a:prstGeom prst="rect">
              <a:avLst/>
            </a:prstGeom>
          </p:spPr>
        </p:pic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CB7854CF-A522-ADFA-44FB-C811972A77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17639" y="4614672"/>
              <a:ext cx="882777" cy="69835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4099B866-302D-0DF5-074C-925BD450E9A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017639" y="3541776"/>
              <a:ext cx="839783" cy="9992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3544755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AD9DC-E6AC-E43D-3136-AACB368A6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486C17-656D-927D-1869-349A6A141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total,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partial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derivative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8242FBA-B4A4-3799-8FB1-ED7391245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56</a:t>
            </a:fld>
            <a:endParaRPr lang="en-US" dirty="0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9405F9EB-A2DF-B21F-F567-3B2CF786F88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22883" y="1884602"/>
            <a:ext cx="6056344" cy="387745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105F32F-5A2A-026E-689F-B7EE16D35A8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426693" y="3546253"/>
            <a:ext cx="4356416" cy="9175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1A39B7-4F99-CB91-BD98-5C454675112A}"/>
              </a:ext>
            </a:extLst>
          </p:cNvPr>
          <p:cNvSpPr txBox="1"/>
          <p:nvPr/>
        </p:nvSpPr>
        <p:spPr>
          <a:xfrm>
            <a:off x="7365669" y="3090446"/>
            <a:ext cx="45018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공책 추가비용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+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펜 추가비용</a:t>
            </a:r>
          </a:p>
        </p:txBody>
      </p:sp>
    </p:spTree>
    <p:extLst>
      <p:ext uri="{BB962C8B-B14F-4D97-AF65-F5344CB8AC3E}">
        <p14:creationId xmlns:p14="http://schemas.microsoft.com/office/powerpoint/2010/main" val="40268498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6B968-0F38-8E07-8216-6DAE45577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866ECE4-04AE-DA3D-2BAB-E98A127C7A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Jacobian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E0AF7E2-175E-ED6C-7C31-95E79FEB4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57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4567514-F205-2E09-5119-27AC980CA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952" y="3080093"/>
            <a:ext cx="3555930" cy="127264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E7DDC2A-2A17-6858-3B42-201C65EBDF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4813" y="3080094"/>
            <a:ext cx="5448772" cy="12726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D100FD-4C9E-3693-A111-9232A0868F34}"/>
              </a:ext>
            </a:extLst>
          </p:cNvPr>
          <p:cNvSpPr txBox="1"/>
          <p:nvPr/>
        </p:nvSpPr>
        <p:spPr>
          <a:xfrm>
            <a:off x="915383" y="1338838"/>
            <a:ext cx="10646725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공책의 개수 변화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펜의 개수 변화(</a:t>
            </a:r>
            <a:r>
              <a:rPr lang="ko-KR" altLang="en-US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)가 시스템에 입력되면, 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자코비안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(Jacobian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행렬을 거쳐 세 가지 결과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 변화(</a:t>
            </a:r>
            <a:r>
              <a:rPr lang="ko-KR" altLang="en-US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dC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무게 변화(</a:t>
            </a:r>
            <a:r>
              <a:rPr lang="ko-KR" altLang="en-US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dW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부피 변화(</a:t>
            </a:r>
            <a:r>
              <a:rPr lang="ko-KR" altLang="en-US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dV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출력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5CA6F3A-111E-0B8E-9D49-491C78668BEB}"/>
              </a:ext>
            </a:extLst>
          </p:cNvPr>
          <p:cNvSpPr/>
          <p:nvPr/>
        </p:nvSpPr>
        <p:spPr>
          <a:xfrm>
            <a:off x="2438399" y="2876551"/>
            <a:ext cx="1485901" cy="16954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479779-9D26-8534-F915-3DE5ED92ACD1}"/>
              </a:ext>
            </a:extLst>
          </p:cNvPr>
          <p:cNvSpPr txBox="1"/>
          <p:nvPr/>
        </p:nvSpPr>
        <p:spPr>
          <a:xfrm>
            <a:off x="2105025" y="4854875"/>
            <a:ext cx="2943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자코비안</a:t>
            </a:r>
            <a:r>
              <a:rPr lang="en-US" altLang="ko-KR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(Jacobian</a:t>
            </a:r>
            <a:r>
              <a:rPr lang="ko-KR" altLang="en-US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Matrix)</a:t>
            </a:r>
            <a:r>
              <a:rPr lang="ko-KR" altLang="en-US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010310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B29B9-C7DA-3B35-F78B-956B5A8F1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7C90D05-60DA-4D2A-C5DC-92418E30EA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 propagation,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jacobian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80E8A3-41EC-979C-E1EB-5A8E1118D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58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F9831C-0FA0-0A2E-8954-C9E399A2F147}"/>
              </a:ext>
            </a:extLst>
          </p:cNvPr>
          <p:cNvSpPr txBox="1"/>
          <p:nvPr/>
        </p:nvSpPr>
        <p:spPr>
          <a:xfrm>
            <a:off x="990600" y="1200150"/>
            <a:ext cx="5633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2"/>
              </a:rPr>
              <a:t>backpropagation-with-vectors-in-neural-network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6E3C580-31A0-8A3C-16A1-B2B91EB299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165" y="1635489"/>
            <a:ext cx="1691787" cy="153175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2FE34054-FD03-9D70-D5C2-22CFB32203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138" y="4216696"/>
            <a:ext cx="6227675" cy="2425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F203145-6276-59E1-9BD5-36F4712BDC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138" y="1635489"/>
            <a:ext cx="6227675" cy="2062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B3D8E4B-EFD8-36F2-7894-DC6E9C786D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5165" y="4216696"/>
            <a:ext cx="2644369" cy="739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216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B2748-A27B-C995-DC95-4E8DE9E57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249A593-0F9C-1E34-88A2-41FDCE2EE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 propagation,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jacobian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12D4D03-92ED-3DC9-08C9-5CCD7D6FD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59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20D851-7B68-F857-63B5-ACD09C5115D1}"/>
              </a:ext>
            </a:extLst>
          </p:cNvPr>
          <p:cNvSpPr txBox="1"/>
          <p:nvPr/>
        </p:nvSpPr>
        <p:spPr>
          <a:xfrm>
            <a:off x="990600" y="1200150"/>
            <a:ext cx="5633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2"/>
              </a:rPr>
              <a:t>backpropagation-with-vectors-in-neural-network</a:t>
            </a:r>
            <a:endParaRPr lang="ko-KR" alt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8177884-08FF-673E-5823-1A86D56D73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089" y="1864110"/>
            <a:ext cx="6929436" cy="341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22A182E-27FA-E08E-E6C3-221FB2A687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550" y="1864110"/>
            <a:ext cx="3600450" cy="146246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6C9F157C-A3AA-1DFE-2287-161AB336E6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3873" y="4127270"/>
            <a:ext cx="5238750" cy="1932021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DB80C939-B42C-67F1-DBDC-F9529BD29246}"/>
              </a:ext>
            </a:extLst>
          </p:cNvPr>
          <p:cNvSpPr/>
          <p:nvPr/>
        </p:nvSpPr>
        <p:spPr>
          <a:xfrm>
            <a:off x="8943975" y="1676400"/>
            <a:ext cx="371475" cy="18359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DB45653-A6FC-54FF-388B-787F9FCBA5E4}"/>
              </a:ext>
            </a:extLst>
          </p:cNvPr>
          <p:cNvSpPr/>
          <p:nvPr/>
        </p:nvSpPr>
        <p:spPr>
          <a:xfrm>
            <a:off x="9925050" y="1676400"/>
            <a:ext cx="371475" cy="18359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175869F-DAC0-F288-7B4B-509CECFDECDB}"/>
              </a:ext>
            </a:extLst>
          </p:cNvPr>
          <p:cNvSpPr/>
          <p:nvPr/>
        </p:nvSpPr>
        <p:spPr>
          <a:xfrm>
            <a:off x="10972800" y="1676400"/>
            <a:ext cx="371475" cy="18359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5997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40343-8C7F-64B0-7312-BD4F865E9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539D125-79B9-D020-3B32-187CECFC5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 propagation,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jacobian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404FBC4-FDC7-B9F5-F877-469012283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60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058B5A-B268-2FAA-A4C9-14A6F48B4D14}"/>
              </a:ext>
            </a:extLst>
          </p:cNvPr>
          <p:cNvSpPr txBox="1"/>
          <p:nvPr/>
        </p:nvSpPr>
        <p:spPr>
          <a:xfrm>
            <a:off x="990600" y="1200150"/>
            <a:ext cx="5633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2"/>
              </a:rPr>
              <a:t>backpropagation-with-vectors-in-neural-network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119708-829F-A31C-8B13-FB619427234B}"/>
              </a:ext>
            </a:extLst>
          </p:cNvPr>
          <p:cNvSpPr txBox="1"/>
          <p:nvPr/>
        </p:nvSpPr>
        <p:spPr>
          <a:xfrm>
            <a:off x="1038225" y="4348460"/>
            <a:ext cx="448627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 chain rule in matrix form for a layer with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column vector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input and output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EA53E3B-DC8E-9DD9-90E5-13A32026F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885" y="2377218"/>
            <a:ext cx="4076915" cy="183774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0FD3F19-96F1-AC8B-8868-C5C82DB1E372}"/>
              </a:ext>
            </a:extLst>
          </p:cNvPr>
          <p:cNvSpPr txBox="1"/>
          <p:nvPr/>
        </p:nvSpPr>
        <p:spPr>
          <a:xfrm>
            <a:off x="6419850" y="4348460"/>
            <a:ext cx="38195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 chain rule in matrix form for a layer with </a:t>
            </a:r>
            <a:r>
              <a:rPr lang="en-US" altLang="ko-KR" sz="1400" b="1" dirty="0">
                <a:solidFill>
                  <a:srgbClr val="00B0F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row vector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input and output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AC7FD839-C0B8-E655-1C4F-679954918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73" y="2332633"/>
            <a:ext cx="3318677" cy="1882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30549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3701</TotalTime>
  <Words>4048</Words>
  <Application>Microsoft Office PowerPoint</Application>
  <PresentationFormat>와이드스크린</PresentationFormat>
  <Paragraphs>683</Paragraphs>
  <Slides>60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60</vt:i4>
      </vt:variant>
    </vt:vector>
  </HeadingPairs>
  <TitlesOfParts>
    <vt:vector size="69" baseType="lpstr">
      <vt:lpstr>D2Coding</vt:lpstr>
      <vt:lpstr>맑은 고딕</vt:lpstr>
      <vt:lpstr>맑은 고딕 Semilight</vt:lpstr>
      <vt:lpstr>Cambria Math</vt:lpstr>
      <vt:lpstr>Century Gothic</vt:lpstr>
      <vt:lpstr>Times New Roman</vt:lpstr>
      <vt:lpstr>Wingdings</vt:lpstr>
      <vt:lpstr>Wingdings 3</vt:lpstr>
      <vt:lpstr>이온</vt:lpstr>
      <vt:lpstr>Modeling &amp; Simulation 1</vt:lpstr>
      <vt:lpstr>Contents</vt:lpstr>
      <vt:lpstr>Modeling</vt:lpstr>
      <vt:lpstr>Simulation</vt:lpstr>
      <vt:lpstr>Abstract + Object</vt:lpstr>
      <vt:lpstr>Abstract + Object</vt:lpstr>
      <vt:lpstr>OOP - python</vt:lpstr>
      <vt:lpstr>Proto_OOP – java script</vt:lpstr>
      <vt:lpstr>Contents</vt:lpstr>
      <vt:lpstr>python sympy</vt:lpstr>
      <vt:lpstr>python sympy</vt:lpstr>
      <vt:lpstr>python sympy</vt:lpstr>
      <vt:lpstr>Derivative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Optimization of Loss Function</vt:lpstr>
      <vt:lpstr>Contents</vt:lpstr>
      <vt:lpstr>Optimization of Loss Function</vt:lpstr>
      <vt:lpstr>Optimization of Loss Function</vt:lpstr>
      <vt:lpstr>Optimization of Loss Function</vt:lpstr>
      <vt:lpstr>Loss Functions</vt:lpstr>
      <vt:lpstr>Loss Functions</vt:lpstr>
      <vt:lpstr>Contents</vt:lpstr>
      <vt:lpstr>Short-Cut algorithm</vt:lpstr>
      <vt:lpstr>Short-Cut algorithm</vt:lpstr>
      <vt:lpstr>Short-Cut algorithm</vt:lpstr>
      <vt:lpstr>Short-Cut algorithm</vt:lpstr>
      <vt:lpstr>Contents</vt:lpstr>
      <vt:lpstr>Linear Programming</vt:lpstr>
      <vt:lpstr>Linear Programming</vt:lpstr>
      <vt:lpstr>Linear Programming</vt:lpstr>
      <vt:lpstr>Linear Programming</vt:lpstr>
      <vt:lpstr>Appendix</vt:lpstr>
      <vt:lpstr>Contingency_table</vt:lpstr>
      <vt:lpstr>Chi-squared_distribution</vt:lpstr>
      <vt:lpstr>partial derivative</vt:lpstr>
      <vt:lpstr>Partial_derivative</vt:lpstr>
      <vt:lpstr>partial derivative</vt:lpstr>
      <vt:lpstr>total, partial derivative</vt:lpstr>
      <vt:lpstr>Jacobian Matrix</vt:lpstr>
      <vt:lpstr>back propagation, jacobian matrix</vt:lpstr>
      <vt:lpstr>back propagation, jacobian matrix</vt:lpstr>
      <vt:lpstr>back propagation, jacobian matrix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조상구</cp:lastModifiedBy>
  <cp:revision>44</cp:revision>
  <dcterms:created xsi:type="dcterms:W3CDTF">2026-04-11T22:24:40Z</dcterms:created>
  <dcterms:modified xsi:type="dcterms:W3CDTF">2026-05-21T05:44:36Z</dcterms:modified>
</cp:coreProperties>
</file>