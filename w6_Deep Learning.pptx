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256" r:id="rId2"/>
    <p:sldId id="1094" r:id="rId3"/>
    <p:sldId id="978" r:id="rId4"/>
    <p:sldId id="973" r:id="rId5"/>
    <p:sldId id="977" r:id="rId6"/>
    <p:sldId id="986" r:id="rId7"/>
    <p:sldId id="976" r:id="rId8"/>
    <p:sldId id="1095" r:id="rId9"/>
    <p:sldId id="886" r:id="rId10"/>
    <p:sldId id="1096" r:id="rId11"/>
    <p:sldId id="987" r:id="rId12"/>
    <p:sldId id="1097" r:id="rId13"/>
    <p:sldId id="949" r:id="rId14"/>
    <p:sldId id="991" r:id="rId15"/>
    <p:sldId id="990" r:id="rId16"/>
    <p:sldId id="992" r:id="rId17"/>
    <p:sldId id="982" r:id="rId18"/>
    <p:sldId id="983" r:id="rId19"/>
    <p:sldId id="968" r:id="rId20"/>
    <p:sldId id="994" r:id="rId21"/>
    <p:sldId id="908" r:id="rId22"/>
    <p:sldId id="885" r:id="rId23"/>
    <p:sldId id="1098" r:id="rId24"/>
    <p:sldId id="1099" r:id="rId25"/>
    <p:sldId id="1100" r:id="rId26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094"/>
            <p14:sldId id="978"/>
            <p14:sldId id="973"/>
            <p14:sldId id="977"/>
            <p14:sldId id="986"/>
            <p14:sldId id="976"/>
            <p14:sldId id="1095"/>
            <p14:sldId id="886"/>
            <p14:sldId id="1096"/>
            <p14:sldId id="987"/>
            <p14:sldId id="1097"/>
            <p14:sldId id="949"/>
            <p14:sldId id="991"/>
            <p14:sldId id="990"/>
            <p14:sldId id="992"/>
            <p14:sldId id="982"/>
            <p14:sldId id="983"/>
            <p14:sldId id="968"/>
            <p14:sldId id="994"/>
            <p14:sldId id="908"/>
            <p14:sldId id="885"/>
            <p14:sldId id="1098"/>
            <p14:sldId id="1099"/>
            <p14:sldId id="1100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B45"/>
    <a:srgbClr val="76E3FF"/>
    <a:srgbClr val="D24726"/>
    <a:srgbClr val="DD462F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3408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2026-05-02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2026-05-02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37279-FA95-57FD-B2E0-B2C29D284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50D63E-DC71-4D37-5D4F-468F49D2D2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898BEE-6031-34C6-F089-690D94320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C5BB30-C1B6-C7CA-4B6D-82E37F000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8697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1029D-F7EF-775A-D816-AE9617A1D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58B616-1D0A-FB3E-7C52-B5F4EFBC77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57553C-237D-A8F1-27F9-A0B62652A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15FD8C-8A74-BF6F-9677-79D139288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5590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CDD6E-5C48-E546-8182-8ED285247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E351A6-C2EF-C308-4238-244C4AE97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C6FAD1-346E-BA96-CFA1-591BDCFAE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4DBFDC-E055-2E91-80DA-ECA4680BE8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4287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8ECD1-C81E-2409-5D43-C21FA1E72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C7CC44-0EB4-AF44-849C-6815239C7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BCA7EC-A1C8-D166-3DB9-25E346722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6C226F-B8ED-7A65-5C83-C6559218E0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03211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557DF-CFA3-8088-54F3-A8C644699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798C66-2AD1-5589-11DF-3DB07A97A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6C59A7-7455-B150-8057-00FEBC6D8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17F92C-9FE1-E25E-1B6E-862D8B22AF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7015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2026-05-02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2026-05-02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athematics-for-machine-learning/blob/main/excel/stochasti%20gradient%20descent.xlsx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github.com/ancestor9/mathematics-for-machine-learning/blob/main/excel/loss_functions.xlsx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github.com/ancestor9/mathematics-for-machine-learning/blob/main/pytorch/08_odds_ratio_logit_sigmoid.ipynb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ancestor9/mathematics-for-machine-learning/blob/main/excel/XOR_perceptron_optimization_backprpagation_sgd.xlsx" TargetMode="External"/><Relationship Id="rId4" Type="http://schemas.openxmlformats.org/officeDocument/2006/relationships/hyperlink" Target="https://www.youtube.com/watch?v=t3VBY9OisCo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youtube.com/watch?v=ILsA4nyG7I0" TargetMode="External"/><Relationship Id="rId5" Type="http://schemas.openxmlformats.org/officeDocument/2006/relationships/hyperlink" Target="https://github.com/ancestor9/mathematics-for-machine-learning/blob/main/scripts/w4_pytorch_tutorial.ipynb" TargetMode="Externa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pycaret.gitbook.io/docs/get-started/tutorials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1.3/tutorial/machine_learning_map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Deep Learning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r>
              <a:rPr lang="en-US" altLang="ko-KR" sz="2400" dirty="0" err="1">
                <a:solidFill>
                  <a:schemeClr val="bg1"/>
                </a:solidFill>
              </a:rPr>
              <a:t>Pytorch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Spring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125F6-F24E-9FB4-6ECA-D22604C4A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B0C61D8-1616-C6B8-9FEC-D11B28CD4BF2}"/>
              </a:ext>
            </a:extLst>
          </p:cNvPr>
          <p:cNvSpPr/>
          <p:nvPr/>
        </p:nvSpPr>
        <p:spPr>
          <a:xfrm>
            <a:off x="1457324" y="1600201"/>
            <a:ext cx="8277225" cy="640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A47D1732-55A1-BAC2-7A11-146984E7C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BD6D622-6C11-B524-84D3-DE18F25D8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C1D6EC-EA81-70BB-F0CB-C30EA60FDF8D}"/>
              </a:ext>
            </a:extLst>
          </p:cNvPr>
          <p:cNvSpPr txBox="1"/>
          <p:nvPr/>
        </p:nvSpPr>
        <p:spPr>
          <a:xfrm>
            <a:off x="1957661" y="1356552"/>
            <a:ext cx="8662713" cy="428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Backpropagation : Recap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FCNN(Fully Connected Neural Network)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Classification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Dimension Reduction</a:t>
            </a:r>
          </a:p>
        </p:txBody>
      </p:sp>
    </p:spTree>
    <p:extLst>
      <p:ext uri="{BB962C8B-B14F-4D97-AF65-F5344CB8AC3E}">
        <p14:creationId xmlns:p14="http://schemas.microsoft.com/office/powerpoint/2010/main" val="72209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FB53F-5797-0BB2-9323-F166DE5B6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FB5B3E-2733-6F10-C433-7C314850C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56A9490-8D65-6528-22C1-98B7D508091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24E00A9-B7BD-84B1-C8C9-4379A44B7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196" y="2796363"/>
            <a:ext cx="4492179" cy="237472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2B39FB3-BDC3-5CE1-2660-D71F27A4A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695" y="2796363"/>
            <a:ext cx="4737003" cy="30635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00331E-189C-7790-90B5-D620BD0EBE3F}"/>
              </a:ext>
            </a:extLst>
          </p:cNvPr>
          <p:cNvSpPr txBox="1"/>
          <p:nvPr/>
        </p:nvSpPr>
        <p:spPr>
          <a:xfrm>
            <a:off x="2177634" y="5497523"/>
            <a:ext cx="3166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Forward, </a:t>
            </a: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Backward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747EDD-F717-2F86-B83C-CA5F3D943427}"/>
              </a:ext>
            </a:extLst>
          </p:cNvPr>
          <p:cNvSpPr txBox="1"/>
          <p:nvPr/>
        </p:nvSpPr>
        <p:spPr>
          <a:xfrm>
            <a:off x="561974" y="1265090"/>
            <a:ext cx="10835829" cy="115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Forward: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시험 문제를 풀고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네크워크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구조 설정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Loss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계산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채점을 해서 몇 점 틀렸는지 확인한 후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Backward: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틀린 문제의 해설지를 보며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어떤 개념이 부족했는지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파악하여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Optimization: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부족했던 개념을 새로 공부해서 머릿속 지식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가중치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고쳐가는 과정을 수천 번 반복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(Epoch)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하면 모델은 점점 정답에 가까워지게 학습</a:t>
            </a:r>
          </a:p>
        </p:txBody>
      </p:sp>
    </p:spTree>
    <p:extLst>
      <p:ext uri="{BB962C8B-B14F-4D97-AF65-F5344CB8AC3E}">
        <p14:creationId xmlns:p14="http://schemas.microsoft.com/office/powerpoint/2010/main" val="2153360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71F35-8C4C-4F00-48DE-2BB610110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ED8FB9-E995-C351-50A4-21CB273CB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A792CE88-920B-B9FD-AFAF-2A44541C1D43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Autograd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Forward pass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D1AEA3D4-B2E7-81BF-4EC0-71283B160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1E0A323-CDF3-5091-9096-CEF8B5996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96" y="3073075"/>
            <a:ext cx="4492179" cy="23747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90370B-53E0-61CC-7F18-218A76E249D3}"/>
              </a:ext>
            </a:extLst>
          </p:cNvPr>
          <p:cNvSpPr txBox="1"/>
          <p:nvPr/>
        </p:nvSpPr>
        <p:spPr>
          <a:xfrm>
            <a:off x="537021" y="1245750"/>
            <a:ext cx="10902504" cy="15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Forward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Pass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(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순전파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수학적 연산이 수행되는 순방향 과정을 나타내며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연산의 구성은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입력값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숫자 2가 '더하기(+)' 노드로 들어가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결과값(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)은 이 노드를 거쳐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+ 2라는 결과가 도출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PyTorch에서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+ 2라고 쓰는 순간, 내부적으로는 이런 연산그래프 노드가 생성되며 이때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y는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단순한 숫자 값이 아니라, 어떤 연산을 통해 만들어졌는지에 대한 정보를 함께 가지게 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34B6B8-49C6-CCD9-83EC-AFA53128D93F}"/>
              </a:ext>
            </a:extLst>
          </p:cNvPr>
          <p:cNvSpPr txBox="1"/>
          <p:nvPr/>
        </p:nvSpPr>
        <p:spPr>
          <a:xfrm>
            <a:off x="5534025" y="3073075"/>
            <a:ext cx="6096000" cy="286232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</a:t>
            </a:r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입력값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(기울기를 계산하도록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설정)</a:t>
            </a: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(1.0,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Forward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순전파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): 그림의 초록색 화살표 과정</a:t>
            </a:r>
          </a:p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+ 2 연산 수행</a:t>
            </a: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+ 2</a:t>
            </a:r>
          </a:p>
          <a:p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f"Forward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결과 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): {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y.item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()}")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이미지의 '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AddBackward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' 확인</a:t>
            </a: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f"연산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식별자 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grad_fn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): {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y.grad_fn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}") </a:t>
            </a:r>
          </a:p>
        </p:txBody>
      </p:sp>
    </p:spTree>
    <p:extLst>
      <p:ext uri="{BB962C8B-B14F-4D97-AF65-F5344CB8AC3E}">
        <p14:creationId xmlns:p14="http://schemas.microsoft.com/office/powerpoint/2010/main" val="3559294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EC2DF-39AA-EAFD-BC6B-0B41748EC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92FEE9-46F5-EA57-68C2-427AFE42E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01F5082A-5927-C6E1-DA4F-5F71251E9A7A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Autograd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Backward Pass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34D307B3-1256-BA92-853B-52BFE54F9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01D5DF3-B10F-E653-EEF7-4FEF83290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45" y="3175319"/>
            <a:ext cx="4737003" cy="30635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5F44A6-312B-CF7E-D95F-868985B25DBA}"/>
              </a:ext>
            </a:extLst>
          </p:cNvPr>
          <p:cNvSpPr txBox="1"/>
          <p:nvPr/>
        </p:nvSpPr>
        <p:spPr>
          <a:xfrm>
            <a:off x="537021" y="1259068"/>
            <a:ext cx="11410028" cy="1611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Backward Pass(</a:t>
            </a:r>
            <a:r>
              <a:rPr lang="ko-KR" altLang="en-US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역전파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미분 계수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기울기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계산하는 역방향 연산 결과로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y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grad_fn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속성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즉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더하기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 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연산으로 만들어졌기 때문에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y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에는 </a:t>
            </a:r>
            <a:r>
              <a:rPr lang="en-US" altLang="ko-KR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AddBackward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미분용 함수가 자동으로 </a:t>
            </a:r>
            <a:r>
              <a:rPr lang="ko-KR" altLang="en-US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태깅</a:t>
            </a:r>
            <a:endParaRPr lang="en-US" altLang="ko-KR" sz="17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나중에 </a:t>
            </a:r>
            <a:r>
              <a:rPr lang="ko-KR" altLang="en-US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역전파할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때 이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더하기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 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규칙에 맞춰 미분해라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메모지로 학습 시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y.backward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()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호출하면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화살표가 반대 방향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빨간색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흐르면서 미분을 하여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결과값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미치는 영향력을 계산하여 뒤로 전달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9DFD6F-F034-68FF-258C-3F04261064E7}"/>
              </a:ext>
            </a:extLst>
          </p:cNvPr>
          <p:cNvSpPr txBox="1"/>
          <p:nvPr/>
        </p:nvSpPr>
        <p:spPr>
          <a:xfrm>
            <a:off x="5713902" y="3175319"/>
            <a:ext cx="6096000" cy="181588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Backward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역전파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 그림의 빨간색 화살표 과정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dx를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미분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(gradient)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계산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y.backward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4. 결과 확인 (기울기)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+ 2 이므로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1이 생성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f"x의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기울기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 {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x.grad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</a:p>
        </p:txBody>
      </p:sp>
    </p:spTree>
    <p:extLst>
      <p:ext uri="{BB962C8B-B14F-4D97-AF65-F5344CB8AC3E}">
        <p14:creationId xmlns:p14="http://schemas.microsoft.com/office/powerpoint/2010/main" val="819534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F02DA-20F1-737B-D0B0-2E568ECD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2C83A0-3BE3-EEE2-FFEA-0272A1C8A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DB8FDAC1-BF69-9FDB-D572-0A0F2FD47949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Autograd</a:t>
            </a:r>
            <a:r>
              <a:rPr lang="ko-KR" altLang="en-US" sz="2800" cap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Backward Pass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A6FAD018-9242-05E9-922B-D4A1BE8DB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599F50-01FB-2B8F-FDD0-55673AF023E0}"/>
              </a:ext>
            </a:extLst>
          </p:cNvPr>
          <p:cNvSpPr txBox="1"/>
          <p:nvPr/>
        </p:nvSpPr>
        <p:spPr>
          <a:xfrm>
            <a:off x="613223" y="1956990"/>
            <a:ext cx="4644578" cy="4390817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torch</a:t>
            </a:r>
          </a:p>
          <a:p>
            <a:pPr>
              <a:lnSpc>
                <a:spcPts val="157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 정의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이미지 속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 x, y)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([1.0, 2.0, 4.0, 3.0, 5.0])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y_train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([1.0, 3.0, 3.0, 2.0, 5.0])</a:t>
            </a:r>
          </a:p>
          <a:p>
            <a:pPr>
              <a:lnSpc>
                <a:spcPts val="157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 파라미터 초기화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이미지 초기 설정 </a:t>
            </a:r>
            <a:r>
              <a:rPr lang="el-G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α=β=0)</a:t>
            </a:r>
          </a:p>
          <a:p>
            <a:pPr>
              <a:lnSpc>
                <a:spcPts val="1575"/>
              </a:lnSpc>
              <a:buNone/>
            </a:pPr>
            <a:r>
              <a:rPr lang="el-G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절편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(alpha)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과 기울기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(beta)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으로 설정하고 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 =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(0.0,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=True)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 =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(0.0,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=True)</a:t>
            </a:r>
          </a:p>
          <a:p>
            <a:pPr>
              <a:lnSpc>
                <a:spcPts val="157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하이퍼파라미터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설정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0.01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epochs = 4</a:t>
            </a:r>
          </a:p>
          <a:p>
            <a:pPr>
              <a:lnSpc>
                <a:spcPts val="157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초기 상태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alpha = {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alpha.item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():.4f}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초기 상태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beta = {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beta.item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():.4f}\n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ts val="1575"/>
              </a:lnSpc>
              <a:buNone/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4.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학습 시작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(Recursive iterations)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iteration = 0</a:t>
            </a:r>
            <a:b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5646A4-8B9E-6FA2-816C-B833DF47B5F4}"/>
              </a:ext>
            </a:extLst>
          </p:cNvPr>
          <p:cNvSpPr txBox="1"/>
          <p:nvPr/>
        </p:nvSpPr>
        <p:spPr>
          <a:xfrm>
            <a:off x="5460214" y="1332705"/>
            <a:ext cx="6023314" cy="4801186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epoch in range(1, epochs + 1):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print(f"--- {epoch} epoch ---")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엑셀처럼 각 데이터 샘플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(instance)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마다 업데이트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(SGD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방식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x, y in zip(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y_train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# </a:t>
            </a:r>
            <a:r>
              <a:rPr lang="ko-KR" altLang="en-US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예측값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계산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l-G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α + β *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alpha + beta * x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오차 계산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(error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y)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loss = (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y) ** 2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/2  #(y_hat-y)^2/2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미분하면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-y)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 됨</a:t>
            </a:r>
          </a:p>
          <a:p>
            <a:pPr>
              <a:lnSpc>
                <a:spcPts val="1575"/>
              </a:lnSpc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역전파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기울기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(Gradient)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계산</a:t>
            </a:r>
          </a:p>
          <a:p>
            <a:pPr>
              <a:lnSpc>
                <a:spcPts val="1575"/>
              </a:lnSpc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loss.backward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파라미터 업데이트 </a:t>
            </a: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#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Autograd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기록을 건드리지 않기 위해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torch.no_grad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사용</a:t>
            </a:r>
          </a:p>
          <a:p>
            <a:pPr>
              <a:lnSpc>
                <a:spcPts val="1575"/>
              </a:lnSpc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with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torch.no_grad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# alpha_j+1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alpha_j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* 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y)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# beta_j+1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beta_j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* x * 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y)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 -=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alpha.grad</a:t>
            </a:r>
            <a:endParaRPr lang="en-US" altLang="ko-KR" sz="1200" b="1" dirty="0">
              <a:solidFill>
                <a:srgbClr val="D24726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beta -=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beta.grad</a:t>
            </a:r>
            <a:endParaRPr lang="en-US" altLang="ko-KR" sz="1200" b="1" dirty="0">
              <a:solidFill>
                <a:srgbClr val="D24726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다음 반복을 위해 기울기 초기화</a:t>
            </a:r>
          </a:p>
          <a:p>
            <a:pPr>
              <a:lnSpc>
                <a:spcPts val="1575"/>
              </a:lnSpc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alpha.grad.zero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_();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beta.grad.zero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_()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print(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f"Iteration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{iteration}: alpha={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alpha.item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():.4f}, \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    beta={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beta.item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():.4f}, error={(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y).item():.4f}")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iteration += 1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print()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595D80-1965-E9EF-FD9B-071FD52325B3}"/>
              </a:ext>
            </a:extLst>
          </p:cNvPr>
          <p:cNvSpPr txBox="1"/>
          <p:nvPr/>
        </p:nvSpPr>
        <p:spPr>
          <a:xfrm>
            <a:off x="613223" y="1314829"/>
            <a:ext cx="3577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  <a:hlinkClick r:id="rId3"/>
              </a:rPr>
              <a:t>sgd.xlsx</a:t>
            </a:r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예제를 </a:t>
            </a:r>
            <a:r>
              <a:rPr lang="en-US" altLang="ko-KR" dirty="0" err="1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pytorch</a:t>
            </a:r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코드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E12287B-57AD-1713-2D34-689C3872A1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30138" y="3015581"/>
            <a:ext cx="1702369" cy="62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951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12D0A-5D07-F026-511C-2A5BFC23F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750F38-937E-F755-580F-AE17EBFCC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3C91F776-8B9B-98BC-8E11-9635E9A04D0A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Hands-on Linear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 with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AD69CF31-4A39-9AB8-FCC2-916BEE125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DD5DA5-375F-BBD5-5460-D40A69A58F64}"/>
              </a:ext>
            </a:extLst>
          </p:cNvPr>
          <p:cNvSpPr txBox="1"/>
          <p:nvPr/>
        </p:nvSpPr>
        <p:spPr>
          <a:xfrm>
            <a:off x="638982" y="1346628"/>
            <a:ext cx="10628574" cy="456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PyTorch의</a:t>
            </a:r>
            <a:r>
              <a:rPr lang="ko-KR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backward</a:t>
            </a:r>
            <a:r>
              <a:rPr lang="ko-KR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기능을 통해 </a:t>
            </a:r>
            <a:r>
              <a:rPr lang="ko-KR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a와</a:t>
            </a:r>
            <a:r>
              <a:rPr lang="ko-KR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b를</a:t>
            </a:r>
            <a:r>
              <a:rPr lang="ko-KR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학습(최적화)하는 전체 코드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E9CB94-5A27-0BFD-6BB8-559463C11FAD}"/>
              </a:ext>
            </a:extLst>
          </p:cNvPr>
          <p:cNvSpPr txBox="1"/>
          <p:nvPr/>
        </p:nvSpPr>
        <p:spPr>
          <a:xfrm>
            <a:off x="715326" y="1926290"/>
            <a:ext cx="4656774" cy="4370427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torch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생성</a:t>
            </a: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X, y, w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make_regression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n_samples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=50,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sz="1400" b="1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n_features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=3,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noise=15,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coef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=True,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random_state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=11)</a:t>
            </a: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PyTorch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Tensor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로 변환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X_np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(50, 1)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형태이므로 그대로 사용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y_np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(50,)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이므로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(50, 1)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로 변환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X =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torch.FloatTensor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(X)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y =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torch.FloatTensor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(y).view(-1, 1)</a:t>
            </a:r>
            <a:b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파라미터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a, b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정의 및 초기화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미분 가능하도록 설정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=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(1,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=True)</a:t>
            </a:r>
          </a:p>
          <a:p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 =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(1,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=True)</a:t>
            </a:r>
          </a:p>
          <a:p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4. </a:t>
            </a:r>
            <a:r>
              <a:rPr lang="ko-KR" altLang="en-US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하이퍼파라미터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설정</a:t>
            </a:r>
          </a:p>
          <a:p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= 0.01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epochs = 1000</a:t>
            </a:r>
            <a:endParaRPr lang="ko-KR" altLang="en-US" sz="13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B556DF-C93B-5239-CCDC-23DA6FDC6BBE}"/>
              </a:ext>
            </a:extLst>
          </p:cNvPr>
          <p:cNvSpPr txBox="1"/>
          <p:nvPr/>
        </p:nvSpPr>
        <p:spPr>
          <a:xfrm>
            <a:off x="5538683" y="1926290"/>
            <a:ext cx="5352099" cy="449353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5.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학습 루프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for epoch in range(epochs):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예측값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계산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(Forward Pass)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a + b * X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손실 함수 계산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(MSE)</a:t>
            </a:r>
            <a:endParaRPr lang="ko-KR" altLang="en-US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loss =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torch.mean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((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- y)**2)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역전파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(Backward Pass): dL/da, dL/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자동 계산</a:t>
            </a:r>
          </a:p>
          <a:p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loss.backward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파라미터 업데이트 및 기울기 초기화</a:t>
            </a:r>
          </a:p>
          <a:p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with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torch.no_grad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a -=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a.grad</a:t>
            </a: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b -=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b.grad</a:t>
            </a: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#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가중치 업데이트 후에는 반드시 기울기를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으로 초기화</a:t>
            </a:r>
          </a:p>
          <a:p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a.grad.zero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_()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b.grad.zero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_()</a:t>
            </a:r>
            <a:b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print("-" * 30)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실제 계수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coef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): {coef:.4f}")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학습된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b (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기울기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): {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b.item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():.4f}")</a:t>
            </a:r>
          </a:p>
        </p:txBody>
      </p:sp>
    </p:spTree>
    <p:extLst>
      <p:ext uri="{BB962C8B-B14F-4D97-AF65-F5344CB8AC3E}">
        <p14:creationId xmlns:p14="http://schemas.microsoft.com/office/powerpoint/2010/main" val="1299903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87DE0-A8EA-7EAB-D10D-8C5B8A34E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720DEFA-28CC-4E54-5D87-BAE89CA4ED59}"/>
              </a:ext>
            </a:extLst>
          </p:cNvPr>
          <p:cNvSpPr/>
          <p:nvPr/>
        </p:nvSpPr>
        <p:spPr>
          <a:xfrm>
            <a:off x="1457324" y="2419351"/>
            <a:ext cx="8277225" cy="640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CB2CA1AF-9B69-DAD0-7430-9C4F09112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15AC02A4-31CC-DFC9-6F69-0BF7E96CC9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8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5572B5-CD8B-8F46-E79A-CD383593F415}"/>
              </a:ext>
            </a:extLst>
          </p:cNvPr>
          <p:cNvSpPr txBox="1"/>
          <p:nvPr/>
        </p:nvSpPr>
        <p:spPr>
          <a:xfrm>
            <a:off x="1957661" y="1356552"/>
            <a:ext cx="8662713" cy="428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Backpropagation : Recap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FCNN(Fully Connected Neural Network)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Classification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Dimension Reduction</a:t>
            </a:r>
          </a:p>
        </p:txBody>
      </p:sp>
    </p:spTree>
    <p:extLst>
      <p:ext uri="{BB962C8B-B14F-4D97-AF65-F5344CB8AC3E}">
        <p14:creationId xmlns:p14="http://schemas.microsoft.com/office/powerpoint/2010/main" val="279637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33545-2B0E-A249-D80C-9F7679C59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:a16="http://schemas.microsoft.com/office/drawing/2014/main" id="{ABCEC355-4532-C994-A3FD-57D5B514B728}"/>
              </a:ext>
            </a:extLst>
          </p:cNvPr>
          <p:cNvSpPr/>
          <p:nvPr/>
        </p:nvSpPr>
        <p:spPr>
          <a:xfrm>
            <a:off x="7330819" y="2125333"/>
            <a:ext cx="800188" cy="2811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CE8608-C2CE-46D1-90F0-F1280F95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0870C28-593A-45A8-E777-9FCA0A33F057}"/>
              </a:ext>
            </a:extLst>
          </p:cNvPr>
          <p:cNvSpPr txBox="1">
            <a:spLocks/>
          </p:cNvSpPr>
          <p:nvPr/>
        </p:nvSpPr>
        <p:spPr>
          <a:xfrm>
            <a:off x="913794" y="3873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FCCN : Matrix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Formulation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312DEB9-2540-E23E-AC49-D83D2A795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194140"/>
            <a:ext cx="10706705" cy="76644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Fully Connected Neural Network (FCNN)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구조를 행렬식으로 표현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endParaRPr lang="en-US" altLang="ko-KR" sz="1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68F6BA9-1AD0-FF0D-E49C-0A6F0029F512}"/>
              </a:ext>
            </a:extLst>
          </p:cNvPr>
          <p:cNvGrpSpPr/>
          <p:nvPr/>
        </p:nvGrpSpPr>
        <p:grpSpPr>
          <a:xfrm>
            <a:off x="1104900" y="2974312"/>
            <a:ext cx="359611" cy="1195090"/>
            <a:chOff x="1847850" y="2436106"/>
            <a:chExt cx="359611" cy="1195090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36CA5553-4E01-04D5-0F73-87D04CAACDEF}"/>
                </a:ext>
              </a:extLst>
            </p:cNvPr>
            <p:cNvSpPr/>
            <p:nvPr/>
          </p:nvSpPr>
          <p:spPr>
            <a:xfrm>
              <a:off x="1847850" y="2436106"/>
              <a:ext cx="359611" cy="3596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ECEF51E4-E843-BB8D-3B50-CD68A38D33DF}"/>
                </a:ext>
              </a:extLst>
            </p:cNvPr>
            <p:cNvSpPr/>
            <p:nvPr/>
          </p:nvSpPr>
          <p:spPr>
            <a:xfrm>
              <a:off x="1847850" y="3271585"/>
              <a:ext cx="359611" cy="3596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08EDB37-7360-D473-E49F-83BC099F27E2}"/>
              </a:ext>
            </a:extLst>
          </p:cNvPr>
          <p:cNvGrpSpPr/>
          <p:nvPr/>
        </p:nvGrpSpPr>
        <p:grpSpPr>
          <a:xfrm>
            <a:off x="4325074" y="2444398"/>
            <a:ext cx="359611" cy="2254919"/>
            <a:chOff x="4562921" y="2019028"/>
            <a:chExt cx="359611" cy="2254919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EB783135-C882-4DAA-AE08-7C417401323F}"/>
                </a:ext>
              </a:extLst>
            </p:cNvPr>
            <p:cNvSpPr/>
            <p:nvPr/>
          </p:nvSpPr>
          <p:spPr>
            <a:xfrm>
              <a:off x="4562921" y="2019028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CE4468BB-2600-85EC-06B0-8C1611999753}"/>
                </a:ext>
              </a:extLst>
            </p:cNvPr>
            <p:cNvSpPr/>
            <p:nvPr/>
          </p:nvSpPr>
          <p:spPr>
            <a:xfrm>
              <a:off x="4562921" y="2966682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2A113F6A-F51D-9F1F-2E7B-ED7F22CA9DA9}"/>
                </a:ext>
              </a:extLst>
            </p:cNvPr>
            <p:cNvSpPr/>
            <p:nvPr/>
          </p:nvSpPr>
          <p:spPr>
            <a:xfrm>
              <a:off x="4562921" y="3914336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CAAE21E-89F3-723F-ED8C-4B384E0173B1}"/>
              </a:ext>
            </a:extLst>
          </p:cNvPr>
          <p:cNvGrpSpPr/>
          <p:nvPr/>
        </p:nvGrpSpPr>
        <p:grpSpPr>
          <a:xfrm>
            <a:off x="7545248" y="2444398"/>
            <a:ext cx="367633" cy="2254919"/>
            <a:chOff x="7478016" y="2019028"/>
            <a:chExt cx="367633" cy="2254919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A9C24CB1-536C-3F52-651C-A017E898A879}"/>
                </a:ext>
              </a:extLst>
            </p:cNvPr>
            <p:cNvSpPr/>
            <p:nvPr/>
          </p:nvSpPr>
          <p:spPr>
            <a:xfrm>
              <a:off x="7478016" y="2650797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37C0FCED-4886-7D86-A314-DEF940409413}"/>
                </a:ext>
              </a:extLst>
            </p:cNvPr>
            <p:cNvSpPr/>
            <p:nvPr/>
          </p:nvSpPr>
          <p:spPr>
            <a:xfrm>
              <a:off x="7486038" y="3282566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D3F6B6C6-4080-9D15-2811-714BB8B2560F}"/>
                </a:ext>
              </a:extLst>
            </p:cNvPr>
            <p:cNvSpPr/>
            <p:nvPr/>
          </p:nvSpPr>
          <p:spPr>
            <a:xfrm>
              <a:off x="7486038" y="3914336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9057C09-D53B-721C-3FFC-325CC3C294B3}"/>
                </a:ext>
              </a:extLst>
            </p:cNvPr>
            <p:cNvSpPr/>
            <p:nvPr/>
          </p:nvSpPr>
          <p:spPr>
            <a:xfrm>
              <a:off x="7478017" y="2019028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D9C08F2-1574-209F-65D6-723769045731}"/>
              </a:ext>
            </a:extLst>
          </p:cNvPr>
          <p:cNvGrpSpPr/>
          <p:nvPr/>
        </p:nvGrpSpPr>
        <p:grpSpPr>
          <a:xfrm>
            <a:off x="10773443" y="2974312"/>
            <a:ext cx="367632" cy="1195090"/>
            <a:chOff x="10033668" y="2436106"/>
            <a:chExt cx="367632" cy="1195090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CD7420D1-4A5A-4997-8F38-B6D1B95E3FAE}"/>
                </a:ext>
              </a:extLst>
            </p:cNvPr>
            <p:cNvSpPr/>
            <p:nvPr/>
          </p:nvSpPr>
          <p:spPr>
            <a:xfrm>
              <a:off x="10041689" y="3271585"/>
              <a:ext cx="359611" cy="3596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4D5F89C-18F2-0C39-E6CC-6E7984ED407A}"/>
                </a:ext>
              </a:extLst>
            </p:cNvPr>
            <p:cNvSpPr/>
            <p:nvPr/>
          </p:nvSpPr>
          <p:spPr>
            <a:xfrm>
              <a:off x="10033668" y="2436106"/>
              <a:ext cx="359611" cy="3596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7005ECD-90F7-F8D9-E7DE-965B532432D2}"/>
              </a:ext>
            </a:extLst>
          </p:cNvPr>
          <p:cNvCxnSpPr>
            <a:cxnSpLocks/>
            <a:stCxn id="2" idx="6"/>
            <a:endCxn id="6" idx="2"/>
          </p:cNvCxnSpPr>
          <p:nvPr/>
        </p:nvCxnSpPr>
        <p:spPr>
          <a:xfrm flipV="1">
            <a:off x="1464511" y="2624204"/>
            <a:ext cx="2860563" cy="52991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DAFA676-AF72-0916-0AAC-6B4B11DF8AD2}"/>
              </a:ext>
            </a:extLst>
          </p:cNvPr>
          <p:cNvCxnSpPr>
            <a:cxnSpLocks/>
            <a:stCxn id="2" idx="6"/>
            <a:endCxn id="7" idx="2"/>
          </p:cNvCxnSpPr>
          <p:nvPr/>
        </p:nvCxnSpPr>
        <p:spPr>
          <a:xfrm>
            <a:off x="1464511" y="3154118"/>
            <a:ext cx="2860563" cy="41774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275D6BC9-B6ED-0D7A-35A1-284A46102C70}"/>
              </a:ext>
            </a:extLst>
          </p:cNvPr>
          <p:cNvCxnSpPr>
            <a:cxnSpLocks/>
            <a:stCxn id="2" idx="6"/>
            <a:endCxn id="8" idx="2"/>
          </p:cNvCxnSpPr>
          <p:nvPr/>
        </p:nvCxnSpPr>
        <p:spPr>
          <a:xfrm>
            <a:off x="1464511" y="3154118"/>
            <a:ext cx="2860563" cy="136539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260C829-F2C5-E49A-1BFB-5BE4D6ADAA75}"/>
              </a:ext>
            </a:extLst>
          </p:cNvPr>
          <p:cNvCxnSpPr>
            <a:cxnSpLocks/>
            <a:stCxn id="3" idx="6"/>
            <a:endCxn id="6" idx="2"/>
          </p:cNvCxnSpPr>
          <p:nvPr/>
        </p:nvCxnSpPr>
        <p:spPr>
          <a:xfrm flipV="1">
            <a:off x="1464511" y="2624204"/>
            <a:ext cx="2860563" cy="136539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6781E488-706A-B873-E6DD-BEF6151CBE5F}"/>
              </a:ext>
            </a:extLst>
          </p:cNvPr>
          <p:cNvCxnSpPr>
            <a:cxnSpLocks/>
            <a:stCxn id="3" idx="6"/>
            <a:endCxn id="8" idx="2"/>
          </p:cNvCxnSpPr>
          <p:nvPr/>
        </p:nvCxnSpPr>
        <p:spPr>
          <a:xfrm>
            <a:off x="1464511" y="3989597"/>
            <a:ext cx="2860563" cy="52991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140B20F-3D4A-5E1D-9237-5220A9C29E48}"/>
              </a:ext>
            </a:extLst>
          </p:cNvPr>
          <p:cNvCxnSpPr>
            <a:cxnSpLocks/>
            <a:stCxn id="3" idx="6"/>
            <a:endCxn id="7" idx="2"/>
          </p:cNvCxnSpPr>
          <p:nvPr/>
        </p:nvCxnSpPr>
        <p:spPr>
          <a:xfrm flipV="1">
            <a:off x="1464511" y="3571858"/>
            <a:ext cx="2860563" cy="41773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B970888C-91D3-F4D3-A71E-32CD1322FD33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4665718" y="2624204"/>
            <a:ext cx="2879531" cy="1669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16" name="직선 연결선 9215">
            <a:extLst>
              <a:ext uri="{FF2B5EF4-FFF2-40B4-BE49-F238E27FC236}">
                <a16:creationId xmlns:a16="http://schemas.microsoft.com/office/drawing/2014/main" id="{0746B69C-144B-848F-E473-03BE6A00EA4E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4665718" y="2640895"/>
            <a:ext cx="2879530" cy="61507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18" name="직선 연결선 9217">
            <a:extLst>
              <a:ext uri="{FF2B5EF4-FFF2-40B4-BE49-F238E27FC236}">
                <a16:creationId xmlns:a16="http://schemas.microsoft.com/office/drawing/2014/main" id="{AC5FEAD9-7439-0FA3-8080-211FBEB0FA19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4665718" y="2640895"/>
            <a:ext cx="2887552" cy="124684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27" name="직선 연결선 9226">
            <a:extLst>
              <a:ext uri="{FF2B5EF4-FFF2-40B4-BE49-F238E27FC236}">
                <a16:creationId xmlns:a16="http://schemas.microsoft.com/office/drawing/2014/main" id="{14B5EE2C-DD21-AF7E-08DB-75BF03181C1A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>
          <a:xfrm>
            <a:off x="4684685" y="2624204"/>
            <a:ext cx="2868585" cy="189530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30" name="직선 연결선 9229">
            <a:extLst>
              <a:ext uri="{FF2B5EF4-FFF2-40B4-BE49-F238E27FC236}">
                <a16:creationId xmlns:a16="http://schemas.microsoft.com/office/drawing/2014/main" id="{A7E4E79E-E8C7-DC17-23EC-DD0E175492BA}"/>
              </a:ext>
            </a:extLst>
          </p:cNvPr>
          <p:cNvCxnSpPr>
            <a:cxnSpLocks/>
            <a:stCxn id="7" idx="6"/>
            <a:endCxn id="12" idx="2"/>
          </p:cNvCxnSpPr>
          <p:nvPr/>
        </p:nvCxnSpPr>
        <p:spPr>
          <a:xfrm flipV="1">
            <a:off x="4684685" y="2624204"/>
            <a:ext cx="2860564" cy="94765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32" name="직선 연결선 9231">
            <a:extLst>
              <a:ext uri="{FF2B5EF4-FFF2-40B4-BE49-F238E27FC236}">
                <a16:creationId xmlns:a16="http://schemas.microsoft.com/office/drawing/2014/main" id="{C2A752F4-5609-D677-C163-0D94FCC4A02A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4684685" y="3255973"/>
            <a:ext cx="2860563" cy="31588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33" name="직선 연결선 9232">
            <a:extLst>
              <a:ext uri="{FF2B5EF4-FFF2-40B4-BE49-F238E27FC236}">
                <a16:creationId xmlns:a16="http://schemas.microsoft.com/office/drawing/2014/main" id="{FDE5058E-9D38-8806-95EF-4646F08D006C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>
            <a:off x="4684685" y="3571858"/>
            <a:ext cx="2868585" cy="31588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34" name="직선 연결선 9233">
            <a:extLst>
              <a:ext uri="{FF2B5EF4-FFF2-40B4-BE49-F238E27FC236}">
                <a16:creationId xmlns:a16="http://schemas.microsoft.com/office/drawing/2014/main" id="{A3CAE824-5655-C703-9F94-23DDF8A1BFAB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>
            <a:off x="4684685" y="3571858"/>
            <a:ext cx="2868585" cy="94765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44" name="직선 연결선 9243">
            <a:extLst>
              <a:ext uri="{FF2B5EF4-FFF2-40B4-BE49-F238E27FC236}">
                <a16:creationId xmlns:a16="http://schemas.microsoft.com/office/drawing/2014/main" id="{087E6F6E-3F1F-FE42-D673-2BA8FC1AC801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 flipV="1">
            <a:off x="4684685" y="2624204"/>
            <a:ext cx="2860564" cy="189530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45" name="직선 연결선 9244">
            <a:extLst>
              <a:ext uri="{FF2B5EF4-FFF2-40B4-BE49-F238E27FC236}">
                <a16:creationId xmlns:a16="http://schemas.microsoft.com/office/drawing/2014/main" id="{EFB2D543-D01E-C14E-7DAC-701319F53EE5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4684685" y="3263119"/>
            <a:ext cx="2822632" cy="125639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46" name="직선 연결선 9245">
            <a:extLst>
              <a:ext uri="{FF2B5EF4-FFF2-40B4-BE49-F238E27FC236}">
                <a16:creationId xmlns:a16="http://schemas.microsoft.com/office/drawing/2014/main" id="{96C9A1C2-B992-FDA5-3163-757CC1000F66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4684685" y="3882105"/>
            <a:ext cx="2842090" cy="63740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47" name="직선 연결선 9246">
            <a:extLst>
              <a:ext uri="{FF2B5EF4-FFF2-40B4-BE49-F238E27FC236}">
                <a16:creationId xmlns:a16="http://schemas.microsoft.com/office/drawing/2014/main" id="{E4844EAC-73FF-A91C-DBF8-C62D7E13A983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4684685" y="4519512"/>
            <a:ext cx="2842090" cy="2373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56" name="직선 연결선 9255">
            <a:extLst>
              <a:ext uri="{FF2B5EF4-FFF2-40B4-BE49-F238E27FC236}">
                <a16:creationId xmlns:a16="http://schemas.microsoft.com/office/drawing/2014/main" id="{CB643D58-E287-AE6D-0BEF-D4649E64BF96}"/>
              </a:ext>
            </a:extLst>
          </p:cNvPr>
          <p:cNvCxnSpPr>
            <a:cxnSpLocks/>
            <a:stCxn id="12" idx="6"/>
            <a:endCxn id="15" idx="2"/>
          </p:cNvCxnSpPr>
          <p:nvPr/>
        </p:nvCxnSpPr>
        <p:spPr>
          <a:xfrm>
            <a:off x="7904860" y="2624204"/>
            <a:ext cx="2868583" cy="52991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260" name="그림 9259">
            <a:extLst>
              <a:ext uri="{FF2B5EF4-FFF2-40B4-BE49-F238E27FC236}">
                <a16:creationId xmlns:a16="http://schemas.microsoft.com/office/drawing/2014/main" id="{A07A9FC6-DF4E-29FA-0FFF-BA65FF59A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511" y="4788268"/>
            <a:ext cx="1760062" cy="544446"/>
          </a:xfrm>
          <a:prstGeom prst="rect">
            <a:avLst/>
          </a:prstGeom>
        </p:spPr>
      </p:pic>
      <p:pic>
        <p:nvPicPr>
          <p:cNvPr id="9262" name="그림 9261">
            <a:extLst>
              <a:ext uri="{FF2B5EF4-FFF2-40B4-BE49-F238E27FC236}">
                <a16:creationId xmlns:a16="http://schemas.microsoft.com/office/drawing/2014/main" id="{BA1A2289-2A8F-7DEB-5AD9-F3A40F023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217" y="4788268"/>
            <a:ext cx="2842090" cy="913070"/>
          </a:xfrm>
          <a:prstGeom prst="rect">
            <a:avLst/>
          </a:prstGeom>
        </p:spPr>
      </p:pic>
      <p:pic>
        <p:nvPicPr>
          <p:cNvPr id="9264" name="그림 9263">
            <a:extLst>
              <a:ext uri="{FF2B5EF4-FFF2-40B4-BE49-F238E27FC236}">
                <a16:creationId xmlns:a16="http://schemas.microsoft.com/office/drawing/2014/main" id="{220CC5A9-AC8B-0983-EE81-A8966A549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4053" y="4788268"/>
            <a:ext cx="2263383" cy="1138122"/>
          </a:xfrm>
          <a:prstGeom prst="rect">
            <a:avLst/>
          </a:prstGeom>
        </p:spPr>
      </p:pic>
      <p:cxnSp>
        <p:nvCxnSpPr>
          <p:cNvPr id="9265" name="직선 연결선 9264">
            <a:extLst>
              <a:ext uri="{FF2B5EF4-FFF2-40B4-BE49-F238E27FC236}">
                <a16:creationId xmlns:a16="http://schemas.microsoft.com/office/drawing/2014/main" id="{9D98EAFC-EB3A-D7A1-9E2A-6E3124CF31B1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7912881" y="2623452"/>
            <a:ext cx="2868583" cy="136614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68" name="직선 연결선 9267">
            <a:extLst>
              <a:ext uri="{FF2B5EF4-FFF2-40B4-BE49-F238E27FC236}">
                <a16:creationId xmlns:a16="http://schemas.microsoft.com/office/drawing/2014/main" id="{D0DDA572-0297-EBBC-FC61-5AA42657A663}"/>
              </a:ext>
            </a:extLst>
          </p:cNvPr>
          <p:cNvCxnSpPr>
            <a:cxnSpLocks/>
            <a:stCxn id="9" idx="6"/>
            <a:endCxn id="15" idx="2"/>
          </p:cNvCxnSpPr>
          <p:nvPr/>
        </p:nvCxnSpPr>
        <p:spPr>
          <a:xfrm flipV="1">
            <a:off x="7904859" y="3154118"/>
            <a:ext cx="2868584" cy="10185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69" name="직선 연결선 9268">
            <a:extLst>
              <a:ext uri="{FF2B5EF4-FFF2-40B4-BE49-F238E27FC236}">
                <a16:creationId xmlns:a16="http://schemas.microsoft.com/office/drawing/2014/main" id="{C8CAD3FF-0044-B9B8-F677-82192D67F268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>
            <a:off x="7904859" y="3255973"/>
            <a:ext cx="2876605" cy="73362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76" name="직선 연결선 9275">
            <a:extLst>
              <a:ext uri="{FF2B5EF4-FFF2-40B4-BE49-F238E27FC236}">
                <a16:creationId xmlns:a16="http://schemas.microsoft.com/office/drawing/2014/main" id="{4CDE6AD4-1E47-14D6-17B5-06E1D3B4BBC2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7896838" y="3154118"/>
            <a:ext cx="2876605" cy="74937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77" name="직선 연결선 9276">
            <a:extLst>
              <a:ext uri="{FF2B5EF4-FFF2-40B4-BE49-F238E27FC236}">
                <a16:creationId xmlns:a16="http://schemas.microsoft.com/office/drawing/2014/main" id="{54DE2942-69C1-7B5C-0AD5-E269C565C6D3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7896838" y="3903496"/>
            <a:ext cx="2884626" cy="8610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83" name="직선 연결선 9282">
            <a:extLst>
              <a:ext uri="{FF2B5EF4-FFF2-40B4-BE49-F238E27FC236}">
                <a16:creationId xmlns:a16="http://schemas.microsoft.com/office/drawing/2014/main" id="{02A0287C-6FE0-9435-78E7-4D26BD03BE09}"/>
              </a:ext>
            </a:extLst>
          </p:cNvPr>
          <p:cNvCxnSpPr>
            <a:cxnSpLocks/>
            <a:stCxn id="11" idx="6"/>
          </p:cNvCxnSpPr>
          <p:nvPr/>
        </p:nvCxnSpPr>
        <p:spPr>
          <a:xfrm flipV="1">
            <a:off x="7912881" y="3192272"/>
            <a:ext cx="2805728" cy="132724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84" name="직선 연결선 9283">
            <a:extLst>
              <a:ext uri="{FF2B5EF4-FFF2-40B4-BE49-F238E27FC236}">
                <a16:creationId xmlns:a16="http://schemas.microsoft.com/office/drawing/2014/main" id="{367806B9-1578-FF26-FE3C-C7C576614816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 flipV="1">
            <a:off x="7912881" y="3989597"/>
            <a:ext cx="2868583" cy="52991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289" name="TextBox 9288">
            <a:extLst>
              <a:ext uri="{FF2B5EF4-FFF2-40B4-BE49-F238E27FC236}">
                <a16:creationId xmlns:a16="http://schemas.microsoft.com/office/drawing/2014/main" id="{1A24241E-380F-D2C3-547B-9F5D8C68B62B}"/>
              </a:ext>
            </a:extLst>
          </p:cNvPr>
          <p:cNvSpPr txBox="1"/>
          <p:nvPr/>
        </p:nvSpPr>
        <p:spPr>
          <a:xfrm>
            <a:off x="1493842" y="5322157"/>
            <a:ext cx="1760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(1,2) @ (2,3) = (1,3)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0" name="TextBox 9289">
            <a:extLst>
              <a:ext uri="{FF2B5EF4-FFF2-40B4-BE49-F238E27FC236}">
                <a16:creationId xmlns:a16="http://schemas.microsoft.com/office/drawing/2014/main" id="{04C3A569-4FF4-C87E-ABDA-8042FB8FB291}"/>
              </a:ext>
            </a:extLst>
          </p:cNvPr>
          <p:cNvSpPr txBox="1"/>
          <p:nvPr/>
        </p:nvSpPr>
        <p:spPr>
          <a:xfrm>
            <a:off x="5197265" y="5701338"/>
            <a:ext cx="2124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(1,3) @ (3,4) = (1,4)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1" name="TextBox 9290">
            <a:extLst>
              <a:ext uri="{FF2B5EF4-FFF2-40B4-BE49-F238E27FC236}">
                <a16:creationId xmlns:a16="http://schemas.microsoft.com/office/drawing/2014/main" id="{43BD9FC8-ECB1-B386-5E43-ADB19B72463A}"/>
              </a:ext>
            </a:extLst>
          </p:cNvPr>
          <p:cNvSpPr txBox="1"/>
          <p:nvPr/>
        </p:nvSpPr>
        <p:spPr>
          <a:xfrm>
            <a:off x="8943010" y="5942851"/>
            <a:ext cx="1827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(1,4) @ (4,2) = (1,2)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3" name="TextBox 9292">
            <a:extLst>
              <a:ext uri="{FF2B5EF4-FFF2-40B4-BE49-F238E27FC236}">
                <a16:creationId xmlns:a16="http://schemas.microsoft.com/office/drawing/2014/main" id="{7A175B21-AA0B-37A5-44B1-4A7B24D8B789}"/>
              </a:ext>
            </a:extLst>
          </p:cNvPr>
          <p:cNvSpPr txBox="1"/>
          <p:nvPr/>
        </p:nvSpPr>
        <p:spPr>
          <a:xfrm>
            <a:off x="801547" y="2056624"/>
            <a:ext cx="1548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Input(X)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4" name="TextBox 9293">
            <a:extLst>
              <a:ext uri="{FF2B5EF4-FFF2-40B4-BE49-F238E27FC236}">
                <a16:creationId xmlns:a16="http://schemas.microsoft.com/office/drawing/2014/main" id="{771A204D-88A8-9A56-6DAF-14EA444F77B9}"/>
              </a:ext>
            </a:extLst>
          </p:cNvPr>
          <p:cNvSpPr txBox="1"/>
          <p:nvPr/>
        </p:nvSpPr>
        <p:spPr>
          <a:xfrm>
            <a:off x="10358997" y="2056624"/>
            <a:ext cx="1548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Out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put(y)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5" name="TextBox 9294">
            <a:extLst>
              <a:ext uri="{FF2B5EF4-FFF2-40B4-BE49-F238E27FC236}">
                <a16:creationId xmlns:a16="http://schemas.microsoft.com/office/drawing/2014/main" id="{5728B3CC-2C9B-CCFC-C174-806DBFC6CEAA}"/>
              </a:ext>
            </a:extLst>
          </p:cNvPr>
          <p:cNvSpPr txBox="1"/>
          <p:nvPr/>
        </p:nvSpPr>
        <p:spPr>
          <a:xfrm>
            <a:off x="3836296" y="2056624"/>
            <a:ext cx="2367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Hidden Layer 1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6" name="TextBox 9295">
            <a:extLst>
              <a:ext uri="{FF2B5EF4-FFF2-40B4-BE49-F238E27FC236}">
                <a16:creationId xmlns:a16="http://schemas.microsoft.com/office/drawing/2014/main" id="{A517200C-63F5-B913-E926-2ABDAA65B72A}"/>
              </a:ext>
            </a:extLst>
          </p:cNvPr>
          <p:cNvSpPr txBox="1"/>
          <p:nvPr/>
        </p:nvSpPr>
        <p:spPr>
          <a:xfrm>
            <a:off x="6506798" y="2056624"/>
            <a:ext cx="2367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Hidden Layer 2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1744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759ED-1060-A67A-DAEB-3F5B3314D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AF4B5D8-EC0B-B2ED-7C9B-39CB1F92D4D8}"/>
              </a:ext>
            </a:extLst>
          </p:cNvPr>
          <p:cNvSpPr/>
          <p:nvPr/>
        </p:nvSpPr>
        <p:spPr>
          <a:xfrm>
            <a:off x="1457324" y="3267076"/>
            <a:ext cx="8277225" cy="640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2289FAA1-417B-AE3C-CB55-3B6DC10C0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958EDC94-00CA-97BB-8517-0562215631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10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41886A-E0DA-C986-7052-21994A5B29A9}"/>
              </a:ext>
            </a:extLst>
          </p:cNvPr>
          <p:cNvSpPr txBox="1"/>
          <p:nvPr/>
        </p:nvSpPr>
        <p:spPr>
          <a:xfrm>
            <a:off x="1957661" y="1356552"/>
            <a:ext cx="8662713" cy="428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Backpropagation : Recap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FCNN(Fully Connected Neural Network)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Classification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Dimension Reduction</a:t>
            </a:r>
          </a:p>
        </p:txBody>
      </p:sp>
    </p:spTree>
    <p:extLst>
      <p:ext uri="{BB962C8B-B14F-4D97-AF65-F5344CB8AC3E}">
        <p14:creationId xmlns:p14="http://schemas.microsoft.com/office/powerpoint/2010/main" val="299556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9CD14-C5EB-9287-8D73-F9F1BB288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1B0587-D91B-8580-6E0F-BD875D1A8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2B9D7CF7-62C2-EF58-A712-6F1CA1C6E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816" y="68913"/>
            <a:ext cx="1667479" cy="1103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ADE5B218-DB00-6927-3154-13E34DC8DC40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Pytorch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Hands-on : regression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BB3273-5808-C357-A26E-D8D5B7FC9953}"/>
              </a:ext>
            </a:extLst>
          </p:cNvPr>
          <p:cNvSpPr txBox="1"/>
          <p:nvPr/>
        </p:nvSpPr>
        <p:spPr>
          <a:xfrm>
            <a:off x="610995" y="2214901"/>
            <a:ext cx="5061079" cy="3539430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torch.nn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torch.optim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1. 데이터 생성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2x + 1)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([[1.0], [2.0], [3.0], [4.0]],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dtype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=torch.float32)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([[3.0], [5.0], [7.0], [9.0]],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dtype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=torch.float32)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2. 모델 정의 (입력 1개, 출력 1개인 선형 회귀)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nn.Linear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(1, 1)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3. 손실 함수와 최적화 도구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criterion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nn.MSELoss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optim.SGD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model_reg.parameters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=0.01)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439E4D-3AB5-541E-8D0B-A6AC490A60A2}"/>
              </a:ext>
            </a:extLst>
          </p:cNvPr>
          <p:cNvSpPr txBox="1"/>
          <p:nvPr/>
        </p:nvSpPr>
        <p:spPr>
          <a:xfrm>
            <a:off x="5886450" y="2207588"/>
            <a:ext cx="5981075" cy="2677656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4. 학습 (1000번 반복)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epoch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range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(1000):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prediction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loss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criterion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prediction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optimizer.zero_grad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loss.backward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        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backpropagation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optimizer.step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5. 예측 (5를 넣었을 때 11에 가까운 값이 나와야 함)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test_val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([[5.0]])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print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f"회귀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예측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input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5.0): {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test_val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).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item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():.4f}")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67791B-4972-60A0-42AF-E11FBE129692}"/>
              </a:ext>
            </a:extLst>
          </p:cNvPr>
          <p:cNvSpPr txBox="1"/>
          <p:nvPr/>
        </p:nvSpPr>
        <p:spPr>
          <a:xfrm>
            <a:off x="525270" y="1361159"/>
            <a:ext cx="11392317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(Regression)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연속적인 숫자 값을 예측하는 작업으로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y = 2x + 1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이라는 선형 관계를 학습</a:t>
            </a:r>
          </a:p>
        </p:txBody>
      </p:sp>
    </p:spTree>
    <p:extLst>
      <p:ext uri="{BB962C8B-B14F-4D97-AF65-F5344CB8AC3E}">
        <p14:creationId xmlns:p14="http://schemas.microsoft.com/office/powerpoint/2010/main" val="2277746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86A65-107A-2743-38F4-25C7B066F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E4EAD4F-53D1-F7DD-6F97-1B7D4DBE73D7}"/>
              </a:ext>
            </a:extLst>
          </p:cNvPr>
          <p:cNvSpPr/>
          <p:nvPr/>
        </p:nvSpPr>
        <p:spPr>
          <a:xfrm>
            <a:off x="1457324" y="4133851"/>
            <a:ext cx="8277225" cy="640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D9F39A20-723D-0537-49D5-C5051C71A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0EEE07A-5019-7A68-003B-0A0DCD9A43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12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627AAF-BEC4-FD4A-F12A-B0BBDF7DBD14}"/>
              </a:ext>
            </a:extLst>
          </p:cNvPr>
          <p:cNvSpPr txBox="1"/>
          <p:nvPr/>
        </p:nvSpPr>
        <p:spPr>
          <a:xfrm>
            <a:off x="1957661" y="1356552"/>
            <a:ext cx="8662713" cy="428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Backpropagation : Recap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FCNN(Fully Connected Neural Network)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Classification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Dimension Reduction</a:t>
            </a:r>
          </a:p>
        </p:txBody>
      </p:sp>
    </p:spTree>
    <p:extLst>
      <p:ext uri="{BB962C8B-B14F-4D97-AF65-F5344CB8AC3E}">
        <p14:creationId xmlns:p14="http://schemas.microsoft.com/office/powerpoint/2010/main" val="235072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E42FB-EF10-31D4-2362-600F33B96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B60F8C-DF3A-97BB-52A4-40A63FF31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C3230382-766E-AADE-75F1-79B0E6571958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XOR problem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1BCD33C-36A8-2406-5A3F-36994C0AE701}"/>
              </a:ext>
            </a:extLst>
          </p:cNvPr>
          <p:cNvSpPr txBox="1"/>
          <p:nvPr/>
        </p:nvSpPr>
        <p:spPr>
          <a:xfrm>
            <a:off x="500606" y="1304253"/>
            <a:ext cx="11016204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XOR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형태의 데이터는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선형결합식의 어떠한 조합으로도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Positive(1)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Negative(0)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분류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(classification)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하지 못하기 때문에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activation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함수를 각 노드마다 도입하여 비선형으로 인공지능을 구성하여 예측 분류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026" name="그림 1025">
            <a:extLst>
              <a:ext uri="{FF2B5EF4-FFF2-40B4-BE49-F238E27FC236}">
                <a16:creationId xmlns:a16="http://schemas.microsoft.com/office/drawing/2014/main" id="{FC96B868-5D45-9DB3-23EC-345A8DAFC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236" y="4494029"/>
            <a:ext cx="2582775" cy="2119435"/>
          </a:xfrm>
          <a:prstGeom prst="rect">
            <a:avLst/>
          </a:prstGeom>
        </p:spPr>
      </p:pic>
      <p:pic>
        <p:nvPicPr>
          <p:cNvPr id="1029" name="그림 1028">
            <a:extLst>
              <a:ext uri="{FF2B5EF4-FFF2-40B4-BE49-F238E27FC236}">
                <a16:creationId xmlns:a16="http://schemas.microsoft.com/office/drawing/2014/main" id="{10E9D52F-1AD9-729A-CF4D-AB9697B6C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235" y="2320793"/>
            <a:ext cx="2582775" cy="2026485"/>
          </a:xfrm>
          <a:prstGeom prst="rect">
            <a:avLst/>
          </a:prstGeom>
        </p:spPr>
      </p:pic>
      <p:cxnSp>
        <p:nvCxnSpPr>
          <p:cNvPr id="1031" name="직선 화살표 연결선 1030">
            <a:extLst>
              <a:ext uri="{FF2B5EF4-FFF2-40B4-BE49-F238E27FC236}">
                <a16:creationId xmlns:a16="http://schemas.microsoft.com/office/drawing/2014/main" id="{D18E881C-469B-AC71-8FD8-B021F8E80BA3}"/>
              </a:ext>
            </a:extLst>
          </p:cNvPr>
          <p:cNvCxnSpPr>
            <a:stCxn id="57" idx="3"/>
            <a:endCxn id="1029" idx="1"/>
          </p:cNvCxnSpPr>
          <p:nvPr/>
        </p:nvCxnSpPr>
        <p:spPr>
          <a:xfrm flipV="1">
            <a:off x="4550953" y="3334036"/>
            <a:ext cx="3380282" cy="1159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직선 화살표 연결선 1031">
            <a:extLst>
              <a:ext uri="{FF2B5EF4-FFF2-40B4-BE49-F238E27FC236}">
                <a16:creationId xmlns:a16="http://schemas.microsoft.com/office/drawing/2014/main" id="{8B8FA355-D964-8286-2084-CB01783B4E7D}"/>
              </a:ext>
            </a:extLst>
          </p:cNvPr>
          <p:cNvCxnSpPr>
            <a:cxnSpLocks/>
            <a:stCxn id="57" idx="3"/>
            <a:endCxn id="1026" idx="1"/>
          </p:cNvCxnSpPr>
          <p:nvPr/>
        </p:nvCxnSpPr>
        <p:spPr>
          <a:xfrm>
            <a:off x="4550953" y="4494029"/>
            <a:ext cx="3380283" cy="1059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TextBox 1035">
            <a:extLst>
              <a:ext uri="{FF2B5EF4-FFF2-40B4-BE49-F238E27FC236}">
                <a16:creationId xmlns:a16="http://schemas.microsoft.com/office/drawing/2014/main" id="{0C0A2111-AA3F-1327-DD5D-7EF1098835CF}"/>
              </a:ext>
            </a:extLst>
          </p:cNvPr>
          <p:cNvSpPr txBox="1"/>
          <p:nvPr/>
        </p:nvSpPr>
        <p:spPr>
          <a:xfrm rot="20482373">
            <a:off x="5048332" y="3067854"/>
            <a:ext cx="24876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데이터자체를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선형변환하여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차원으로 공간이동 후 선형식으로 분류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4461D5D0-9910-5322-B982-450A79839777}"/>
              </a:ext>
            </a:extLst>
          </p:cNvPr>
          <p:cNvSpPr txBox="1"/>
          <p:nvPr/>
        </p:nvSpPr>
        <p:spPr>
          <a:xfrm rot="1145019">
            <a:off x="5026856" y="5123938"/>
            <a:ext cx="2452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비선형 알고리즘을 데이터에 적용하여 분류</a:t>
            </a:r>
          </a:p>
        </p:txBody>
      </p:sp>
      <p:pic>
        <p:nvPicPr>
          <p:cNvPr id="1041" name="Picture 8">
            <a:extLst>
              <a:ext uri="{FF2B5EF4-FFF2-40B4-BE49-F238E27FC236}">
                <a16:creationId xmlns:a16="http://schemas.microsoft.com/office/drawing/2014/main" id="{0CCA9A08-B7BD-63D8-5E03-A729AA377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342" y="2767387"/>
            <a:ext cx="3606501" cy="3451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7A20783F-30F0-D4B7-012A-63D6D5CC19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444" y="2768311"/>
            <a:ext cx="3626509" cy="3451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59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6" grpId="0"/>
      <p:bldP spid="103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188A6-C9D4-C594-7386-21D381B9F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08292C-48F8-5B5D-EC3D-7872AF78C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126D9EC8-2573-34A0-2202-68309B0D1117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Neural Network for XOR problem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315B8025-02B8-A5E7-B976-C2C15FDBD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560" y="1693518"/>
            <a:ext cx="8782050" cy="447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2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C1462-6263-5D7F-4E6C-449689AB9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09AEE1-E36A-FAAA-E19F-3BCB49A5D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D722EA60-9816-0D47-A0DC-38408052C222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pytorch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for XOR problem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3A48CA-FBC3-2463-86B0-7EDF7679084B}"/>
              </a:ext>
            </a:extLst>
          </p:cNvPr>
          <p:cNvSpPr txBox="1"/>
          <p:nvPr/>
        </p:nvSpPr>
        <p:spPr>
          <a:xfrm>
            <a:off x="656620" y="1764051"/>
            <a:ext cx="4687023" cy="4185761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1. XOR 데이터 정의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x_data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([[0.0, 0.0], [0.0, 1.0], 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		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[1.0, 0.0], [1.0, 1.0]])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y_data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([[0.0], [1.0], [1.0], [0.0]])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2. 파라미터 설정 (노드 2개)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입력(2) -&gt;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은닉층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(2)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W1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((2, 2),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b1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(2,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은닉층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(2) -&gt;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출력층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W2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((2, 1),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b2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하이퍼파라미터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0.5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10000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FD8D79-0BBE-25BC-5DB0-838980C0289D}"/>
              </a:ext>
            </a:extLst>
          </p:cNvPr>
          <p:cNvSpPr txBox="1"/>
          <p:nvPr/>
        </p:nvSpPr>
        <p:spPr>
          <a:xfrm>
            <a:off x="5459391" y="1764051"/>
            <a:ext cx="6323637" cy="440120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4. 학습 루프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+ 1):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Forward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은닉층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연산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Sigmoid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적용)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z1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torch.matmul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x_data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W1) + b1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a1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torch.sigmoid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(z1)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출력층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연산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Sigmoid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적용)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z2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torch.matmul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(a1, W2) + b2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hypothesis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torch.sigmoid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(z2)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손실 함수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Binary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Cross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Entropy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-(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y_data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torch.log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hypothesis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+ 1e-7) + (1 -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y_data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*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torch.log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(1 -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hypothesis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+ 1e-7)).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mean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Backward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(기울기 계산)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loss.backward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파라미터 업데이트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with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torch.no_grad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W1 -=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* W1.grad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b1 -=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* b1.grad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W2 -=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* W2.grad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b2 -=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* b2.grad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# 기울기 초기화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W1.grad.zero_()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b1.grad.zero_()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W2.grad.zero_()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b2.grad.zero_()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441044D-4B58-E474-EB53-A0C083248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194140"/>
            <a:ext cx="10706705" cy="437890"/>
          </a:xfrm>
        </p:spPr>
        <p:txBody>
          <a:bodyPr>
            <a:normAutofit lnSpcReduction="10000"/>
          </a:bodyPr>
          <a:lstStyle/>
          <a:p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노드 개수를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3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이상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Hidden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Layer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이상 등 인공지능망 구조를 변경하면서 실습하라</a:t>
            </a:r>
            <a:endParaRPr lang="en-US" altLang="ko-KR" sz="1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873BBA46-E25C-D9B7-3D3C-55DB5924D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816" y="68913"/>
            <a:ext cx="1667479" cy="1103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600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8173F-0EA7-5332-5B71-1F1948786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CAF317-7A4D-0EDB-C867-141D167C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2E10A7B3-6DA7-9C2C-93C6-819876A0FA91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neural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network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&amp;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scikit-learn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estimator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API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0290014-81CE-C841-AC7E-9067310A1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7326" y="1313348"/>
            <a:ext cx="6287545" cy="5387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5FA6556-DBA7-499A-3D0C-10C7A8D42BEF}"/>
              </a:ext>
            </a:extLst>
          </p:cNvPr>
          <p:cNvSpPr/>
          <p:nvPr/>
        </p:nvSpPr>
        <p:spPr>
          <a:xfrm>
            <a:off x="4747326" y="1313348"/>
            <a:ext cx="3250781" cy="26220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0C32B9-3EFB-57B4-4B81-7A55193A56D0}"/>
              </a:ext>
            </a:extLst>
          </p:cNvPr>
          <p:cNvSpPr/>
          <p:nvPr/>
        </p:nvSpPr>
        <p:spPr>
          <a:xfrm>
            <a:off x="4737678" y="3965880"/>
            <a:ext cx="3250781" cy="2622044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1FA820-AD5A-168F-D412-57DCC3958699}"/>
              </a:ext>
            </a:extLst>
          </p:cNvPr>
          <p:cNvSpPr txBox="1"/>
          <p:nvPr/>
        </p:nvSpPr>
        <p:spPr>
          <a:xfrm>
            <a:off x="656619" y="1313348"/>
            <a:ext cx="3848374" cy="3738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가상의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XOR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데이터를 바탕으로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인공지능망과 다른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머신러닝과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분류한 결과를 의사결정경계선을 시각화한 것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선형결합 구조인 로지스틱 회귀식은 분류를 못함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이미지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텍스트 데이터와 같이 고차원 데이터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비선형을 가진 데이터는 인공지능망의 성능이 높음</a:t>
            </a:r>
          </a:p>
        </p:txBody>
      </p:sp>
    </p:spTree>
    <p:extLst>
      <p:ext uri="{BB962C8B-B14F-4D97-AF65-F5344CB8AC3E}">
        <p14:creationId xmlns:p14="http://schemas.microsoft.com/office/powerpoint/2010/main" val="1534555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76907-6B9A-B691-FA60-CB5742F0C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BF6028-E971-D2D2-A37C-A4B681D38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CF6427EA-47CE-DD8E-2ECD-17D2CF70C816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loss functions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: classification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5514FD8-2DC4-4FAB-2375-F50B8E928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701" y="2174702"/>
            <a:ext cx="6005080" cy="393988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8A7B801-0A51-4A98-B12E-63322EDDA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866" y="2624079"/>
            <a:ext cx="4587433" cy="47843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2537F47-2CF7-D84F-42A1-EB257E1F5295}"/>
              </a:ext>
            </a:extLst>
          </p:cNvPr>
          <p:cNvSpPr txBox="1"/>
          <p:nvPr/>
        </p:nvSpPr>
        <p:spPr>
          <a:xfrm>
            <a:off x="512180" y="1348385"/>
            <a:ext cx="11212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분류 문제에서 정답이 아닌 곳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(0)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곱셈에 의해 모두 사라지고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정답인 위치의 </a:t>
            </a:r>
            <a:r>
              <a:rPr lang="ko-KR" altLang="en-US" sz="18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확률값만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남는다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endParaRPr lang="ko-KR" altLang="en-US" sz="1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7087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C948-29E9-8735-2FB6-BC7071233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C201F9-D791-B84F-532F-E52011130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5046C5C9-7FC9-878D-B677-5BF98F4B925D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loss</a:t>
            </a:r>
            <a:r>
              <a:rPr lang="ko-KR" altLang="en-US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function: classification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1E7BB11-E633-A94D-2501-F36DA50C0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820" y="2029703"/>
            <a:ext cx="5713174" cy="437168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AD74360-CCF4-B8C7-480C-D7341F47A02F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656620" y="2691805"/>
            <a:ext cx="3240913" cy="8447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20762F-5B79-568D-9980-2E386885B9C5}"/>
              </a:ext>
            </a:extLst>
          </p:cNvPr>
          <p:cNvSpPr txBox="1"/>
          <p:nvPr/>
        </p:nvSpPr>
        <p:spPr>
          <a:xfrm>
            <a:off x="543286" y="1280721"/>
            <a:ext cx="10992093" cy="87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분류 문제에서 정답이 아닌 곳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(0)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곱셈에 의해 모두 사라지고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정답인 위치의 </a:t>
            </a:r>
            <a:r>
              <a:rPr lang="ko-KR" altLang="en-US" sz="18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확률값만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남으며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Log-loss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Cross-Entropy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이진분류의 특수한 경우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0057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ED1E5-5843-DBEB-50F5-1EA7E7C76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55FF74-5477-22AB-43FD-DF0187482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BAE8BB7F-4374-94A4-96E2-5D2F81230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816" y="68913"/>
            <a:ext cx="1667479" cy="1103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8332F086-37CC-9131-0AB6-DC91842D5818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Pytorch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Hands-on : classification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A3DFB2-48BA-7EB0-99DE-16C02139227D}"/>
              </a:ext>
            </a:extLst>
          </p:cNvPr>
          <p:cNvSpPr txBox="1"/>
          <p:nvPr/>
        </p:nvSpPr>
        <p:spPr>
          <a:xfrm>
            <a:off x="677670" y="1883738"/>
            <a:ext cx="5199255" cy="461664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1.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데이터 생성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([[-2.0], [-1.0], [1.0], [2.0]],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=torch.float32)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([[0.0], [0.0], [1.0], [1.0]],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=torch.float32)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2.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모델 정의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(Sigmoid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를 사용하여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0~1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사이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확률값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출력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class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SimpleClassifier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nn.Module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def __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init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__(self):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super().__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init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__()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self.linear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(1, 1)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self.sigmoid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nn.Sigmoid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def forward(self, x):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return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self.sigmoid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self.linear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(x))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SimpleClassifier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3.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손실 함수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이진 교차 엔트로피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와 최적화 도구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criterion = 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nn.BCELoss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 = 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optim.SGD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model_cls.parameters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(), 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lr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=0.1)</a:t>
            </a:r>
            <a:endParaRPr lang="ko-KR" altLang="en-US" sz="1400" b="1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0191A9-AF39-DFA2-DD6E-A46ACD670F8A}"/>
              </a:ext>
            </a:extLst>
          </p:cNvPr>
          <p:cNvSpPr txBox="1"/>
          <p:nvPr/>
        </p:nvSpPr>
        <p:spPr>
          <a:xfrm>
            <a:off x="6210991" y="1883738"/>
            <a:ext cx="5314260" cy="3539430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4.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학습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for epoch in range(500):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out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loss = criterion(out,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optimizer.zero_grad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loss.backward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optimizer.step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5.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예측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test_neg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([[-5.0]])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test_pos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([[5.0]])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분류 예측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(-5.0):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test_neg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).item():.4f} (0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에 가까움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분류 예측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(+5.0):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test_pos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).item():.4f} (1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에 가까움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)"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E7D529-0B99-F34C-9456-A4BCF215413E}"/>
              </a:ext>
            </a:extLst>
          </p:cNvPr>
          <p:cNvSpPr txBox="1"/>
          <p:nvPr/>
        </p:nvSpPr>
        <p:spPr>
          <a:xfrm>
            <a:off x="525270" y="1265909"/>
            <a:ext cx="11576025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분류는 입력 데이터가 어느 그룹에 속하는지 판단하는 작업으로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보다 작으면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0, 0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보다 크면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분류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이진 분류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4300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8833C-0702-7FB9-CA68-E9F604F95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5EBE41-3AF7-AB83-DEB8-CFAA6D3B7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A6AC6CE-12FA-975E-AED0-B7F1423238CC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Logistic regression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55E958-F0D6-D564-FD8F-0ABCBD009E33}"/>
              </a:ext>
            </a:extLst>
          </p:cNvPr>
          <p:cNvSpPr txBox="1"/>
          <p:nvPr/>
        </p:nvSpPr>
        <p:spPr>
          <a:xfrm>
            <a:off x="525270" y="1265909"/>
            <a:ext cx="11576025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분류모델인 로지스틱 회귀는 </a:t>
            </a: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pytorch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/08_odds_ratio_logit_sigmoid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코드 참고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9223FD0-ADC8-B76A-10E9-7FF52DAE6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9596" y="2038228"/>
            <a:ext cx="3976808" cy="2994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72A7111D-DEE6-F645-A881-641D0B0B8098}"/>
              </a:ext>
            </a:extLst>
          </p:cNvPr>
          <p:cNvGrpSpPr/>
          <p:nvPr/>
        </p:nvGrpSpPr>
        <p:grpSpPr>
          <a:xfrm>
            <a:off x="656620" y="2038228"/>
            <a:ext cx="7087128" cy="3638672"/>
            <a:chOff x="656620" y="2038228"/>
            <a:chExt cx="7087128" cy="3638672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4A3668DD-F69F-352A-2678-065F4B07A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56620" y="2038228"/>
              <a:ext cx="7087128" cy="3638672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9CC41A3-5878-CDD8-C521-016FE5C04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916084" y="5032462"/>
              <a:ext cx="2672452" cy="6444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7713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374E8-82B3-D847-F7E8-EF04D487C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61781C-D05A-B519-20BE-DBE65D41B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DEBBEECA-7208-58A6-BAAE-4D2303EBA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199" y="66676"/>
            <a:ext cx="1657351" cy="1096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F2C9450F-B441-3F20-44D9-4580F732A108}"/>
              </a:ext>
            </a:extLst>
          </p:cNvPr>
          <p:cNvSpPr txBox="1">
            <a:spLocks/>
          </p:cNvSpPr>
          <p:nvPr/>
        </p:nvSpPr>
        <p:spPr>
          <a:xfrm>
            <a:off x="437545" y="502356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Backpropagation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16D3317-9D82-5C29-5B4D-23A68081D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1856" y="2346102"/>
            <a:ext cx="10516592" cy="36901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1DA442-0A02-35E1-5924-E2BF51A7DDF7}"/>
              </a:ext>
            </a:extLst>
          </p:cNvPr>
          <p:cNvSpPr txBox="1"/>
          <p:nvPr/>
        </p:nvSpPr>
        <p:spPr>
          <a:xfrm>
            <a:off x="791856" y="6201755"/>
            <a:ext cx="919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 Tube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67FD12-73D2-3353-A8C4-7E7C0383DD21}"/>
              </a:ext>
            </a:extLst>
          </p:cNvPr>
          <p:cNvSpPr txBox="1"/>
          <p:nvPr/>
        </p:nvSpPr>
        <p:spPr>
          <a:xfrm>
            <a:off x="544946" y="1415177"/>
            <a:ext cx="1114829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력변수가 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개인 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XOR 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문제를 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단층구조 네트워크로 만들고 엑셀로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parameter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 propagation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구하라</a:t>
            </a:r>
            <a:endParaRPr lang="ko-KR" alt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0F3AF9-A173-B593-4230-2FE3E7921A68}"/>
              </a:ext>
            </a:extLst>
          </p:cNvPr>
          <p:cNvSpPr txBox="1"/>
          <p:nvPr/>
        </p:nvSpPr>
        <p:spPr>
          <a:xfrm>
            <a:off x="704850" y="2082568"/>
            <a:ext cx="51617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XOR_perceptron_optimization_backprpagation_sgd.xlsx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3990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62381-3972-869E-B311-851346C88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42E03F-B582-8FE9-524B-E033E867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0F2F0F76-653C-E126-EB6E-A7E4FC7B9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3677" y="109568"/>
            <a:ext cx="1590674" cy="105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07623FCE-2234-98BA-A6C8-AB07B6BDF561}"/>
              </a:ext>
            </a:extLst>
          </p:cNvPr>
          <p:cNvSpPr txBox="1">
            <a:spLocks/>
          </p:cNvSpPr>
          <p:nvPr/>
        </p:nvSpPr>
        <p:spPr>
          <a:xfrm>
            <a:off x="590464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73E8ACEE-D388-F7CA-6A08-DE923D42A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550" y="1480521"/>
            <a:ext cx="3592964" cy="3734398"/>
          </a:xfrm>
        </p:spPr>
        <p:txBody>
          <a:bodyPr>
            <a:normAutofit fontScale="85000"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pytorch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Tutorial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배우고 </a:t>
            </a:r>
            <a:endParaRPr lang="en-US" altLang="ko-KR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오른쪽 그림을 바탕으로 입력과 출력데이터를 생성하고</a:t>
            </a:r>
            <a:endParaRPr lang="en-US" altLang="ko-KR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Pytorch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로 </a:t>
            </a:r>
            <a:r>
              <a:rPr lang="ko-KR" altLang="en-US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네크워크를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구성하고 학습한 후 예측하라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예측하여야 하는 총 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parameters(w,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b)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는 몇 개인가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?</a:t>
            </a:r>
            <a:endParaRPr lang="en-US" altLang="ko-KR" sz="20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5DB4939-FECE-E50C-F0C1-06C4C4424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514" y="1448109"/>
            <a:ext cx="7505700" cy="44318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60D858-72FF-9996-DDB4-58889C397859}"/>
              </a:ext>
            </a:extLst>
          </p:cNvPr>
          <p:cNvSpPr txBox="1"/>
          <p:nvPr/>
        </p:nvSpPr>
        <p:spPr>
          <a:xfrm>
            <a:off x="2600325" y="634753"/>
            <a:ext cx="30827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w4_pytorch_tutorial.ipynb</a:t>
            </a:r>
            <a:endParaRPr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BEDEB4-CC20-F660-9DB2-96EED65201AC}"/>
              </a:ext>
            </a:extLst>
          </p:cNvPr>
          <p:cNvSpPr txBox="1"/>
          <p:nvPr/>
        </p:nvSpPr>
        <p:spPr>
          <a:xfrm>
            <a:off x="4100514" y="5880269"/>
            <a:ext cx="13596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utube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5364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6EDE5-8E79-C7E1-CB52-C779EC7EC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82B6E5E-FC4D-D5FE-628B-07E336326CE4}"/>
              </a:ext>
            </a:extLst>
          </p:cNvPr>
          <p:cNvSpPr/>
          <p:nvPr/>
        </p:nvSpPr>
        <p:spPr>
          <a:xfrm>
            <a:off x="1457324" y="5000626"/>
            <a:ext cx="8277225" cy="640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EE4B32F8-963A-3AC5-FA53-ED66A8664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9A11CE-F982-0EDD-57F8-EC1AB3EE5B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23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D21109-AED5-930C-1DED-70583AFD1626}"/>
              </a:ext>
            </a:extLst>
          </p:cNvPr>
          <p:cNvSpPr txBox="1"/>
          <p:nvPr/>
        </p:nvSpPr>
        <p:spPr>
          <a:xfrm>
            <a:off x="1957661" y="1356552"/>
            <a:ext cx="8662713" cy="428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Backpropagation : Recap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FCNN(Fully Connected Neural Network)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Classification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Dimension Reduction</a:t>
            </a:r>
          </a:p>
        </p:txBody>
      </p:sp>
    </p:spTree>
    <p:extLst>
      <p:ext uri="{BB962C8B-B14F-4D97-AF65-F5344CB8AC3E}">
        <p14:creationId xmlns:p14="http://schemas.microsoft.com/office/powerpoint/2010/main" val="1836379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02277-2BB8-EA3C-F407-80C30E4F6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057CB7-A267-5A3A-7301-53DD95FED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27D47B66-E746-DFBF-EC11-4B3609F2F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816" y="68913"/>
            <a:ext cx="1667479" cy="1103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412B334D-CE53-B4DA-BA04-544B0A37712D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ML/DL applicable to Industry Domains 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A2C30D-4320-84BB-FAE7-5A7BC18952AA}"/>
              </a:ext>
            </a:extLst>
          </p:cNvPr>
          <p:cNvSpPr txBox="1"/>
          <p:nvPr/>
        </p:nvSpPr>
        <p:spPr>
          <a:xfrm>
            <a:off x="657225" y="1400175"/>
            <a:ext cx="61608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pycaret_tutorials</a:t>
            </a:r>
            <a:r>
              <a:rPr lang="en-US" altLang="ko-KR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Low Code for Machine Learning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47861E1-48D5-D84D-A3E4-1DB7620E1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88834"/>
              </p:ext>
            </p:extLst>
          </p:nvPr>
        </p:nvGraphicFramePr>
        <p:xfrm>
          <a:off x="1015479" y="2218731"/>
          <a:ext cx="10109721" cy="3353397"/>
        </p:xfrm>
        <a:graphic>
          <a:graphicData uri="http://schemas.openxmlformats.org/drawingml/2006/table">
            <a:tbl>
              <a:tblPr/>
              <a:tblGrid>
                <a:gridCol w="2032521">
                  <a:extLst>
                    <a:ext uri="{9D8B030D-6E8A-4147-A177-3AD203B41FA5}">
                      <a16:colId xmlns:a16="http://schemas.microsoft.com/office/drawing/2014/main" val="1558595867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401777559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601587682"/>
                    </a:ext>
                  </a:extLst>
                </a:gridCol>
              </a:tblGrid>
              <a:tr h="320469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분야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핵심 정의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대표 응용 사례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381036"/>
                  </a:ext>
                </a:extLst>
              </a:tr>
              <a:tr h="505488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Time Series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시간의 흐름에 따른 변화를 분석하여 예측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b="0" normalizeH="0" baseline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주가 및 환율 예측</a:t>
                      </a:r>
                      <a:r>
                        <a:rPr lang="en-US" altLang="ko-KR" sz="1400" b="0" normalizeH="0" baseline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400" b="0" normalizeH="0" baseline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전력 수요량 추정</a:t>
                      </a:r>
                      <a:r>
                        <a:rPr lang="en-US" altLang="ko-KR" sz="1400" b="0" normalizeH="0" baseline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400" b="0" normalizeH="0" baseline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기상 관측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60659"/>
                  </a:ext>
                </a:extLst>
              </a:tr>
              <a:tr h="505488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Binary Classification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데이터를 두 가지 그룹</a:t>
                      </a:r>
                      <a:r>
                        <a:rPr lang="en-US" altLang="ko-KR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(Yes/No) </a:t>
                      </a: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중 하나로 분류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스팸 메일 차단</a:t>
                      </a:r>
                      <a:r>
                        <a:rPr lang="en-US" altLang="ko-KR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질병 유무 진단</a:t>
                      </a:r>
                      <a:r>
                        <a:rPr lang="en-US" altLang="ko-KR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신용카드 승인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2608309"/>
                  </a:ext>
                </a:extLst>
              </a:tr>
              <a:tr h="505488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Multiclass Classification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데이터를 세 가지 이상의 카테고리 중 하나로 분류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b="0" normalizeH="0" baseline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손글씨 숫자 인식</a:t>
                      </a:r>
                      <a:r>
                        <a:rPr lang="en-US" altLang="ko-KR" sz="1400" b="0" normalizeH="0" baseline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400" b="0" normalizeH="0" baseline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뉴스 카테고리 자동 분류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377777"/>
                  </a:ext>
                </a:extLst>
              </a:tr>
              <a:tr h="505488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Regression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입력 변수의 상관관계를 파악해 연속적인 수치 예측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부동산 가격 산정</a:t>
                      </a:r>
                      <a:r>
                        <a:rPr lang="en-US" altLang="ko-KR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광고 대비 매출액 예측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9958494"/>
                  </a:ext>
                </a:extLst>
              </a:tr>
              <a:tr h="505488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Clustering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데이터 간의 유사성을 측정하여 정답 없이 그룹 생성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고객 시장 세분화</a:t>
                      </a:r>
                      <a:r>
                        <a:rPr lang="en-US" altLang="ko-KR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유사 문서 묶기</a:t>
                      </a:r>
                      <a:r>
                        <a:rPr lang="en-US" altLang="ko-KR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추천 시스템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489134"/>
                  </a:ext>
                </a:extLst>
              </a:tr>
              <a:tr h="505488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Anomaly Detection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패턴에서 벗어난 희귀하고 비정상적인 데이터 탐색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카드 부정 사용 탐지</a:t>
                      </a:r>
                      <a:r>
                        <a:rPr lang="en-US" altLang="ko-KR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(FDS), </a:t>
                      </a: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설비 고장 사전 감지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3063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00592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F6100-61F3-6FE9-FD81-1440F4EE8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975C77-56DE-830E-71B3-0FE795237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BEA78ECC-DC6F-ACF2-5C55-620B31A3F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816" y="68913"/>
            <a:ext cx="1667479" cy="1103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B944703F-86DE-5D53-E507-2E26089CF888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Choosing the right estimator 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2B0306-A14D-0698-12C2-3411B701B5EA}"/>
              </a:ext>
            </a:extLst>
          </p:cNvPr>
          <p:cNvSpPr txBox="1"/>
          <p:nvPr/>
        </p:nvSpPr>
        <p:spPr>
          <a:xfrm>
            <a:off x="533400" y="1251887"/>
            <a:ext cx="31101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/>
              </a:rPr>
              <a:t>machine_learning_map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050" name="Picture 2" descr="Move mouse over image">
            <a:extLst>
              <a:ext uri="{FF2B5EF4-FFF2-40B4-BE49-F238E27FC236}">
                <a16:creationId xmlns:a16="http://schemas.microsoft.com/office/drawing/2014/main" id="{EB0F8F73-752E-3F77-4D2D-087B18D99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854" y="1731661"/>
            <a:ext cx="7800346" cy="4863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3640551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2503</TotalTime>
  <Words>2785</Words>
  <Application>Microsoft Office PowerPoint</Application>
  <PresentationFormat>와이드스크린</PresentationFormat>
  <Paragraphs>344</Paragraphs>
  <Slides>25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4" baseType="lpstr">
      <vt:lpstr>D2Coding</vt:lpstr>
      <vt:lpstr>맑은 고딕</vt:lpstr>
      <vt:lpstr>맑은 고딕 Semilight</vt:lpstr>
      <vt:lpstr>Batang</vt:lpstr>
      <vt:lpstr>ADLaM Display</vt:lpstr>
      <vt:lpstr>Arial</vt:lpstr>
      <vt:lpstr>Segoe UI Light</vt:lpstr>
      <vt:lpstr>Wingdings</vt:lpstr>
      <vt:lpstr>WelcomeDoc</vt:lpstr>
      <vt:lpstr>Deep Learning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Contents</vt:lpstr>
      <vt:lpstr>PowerPoint 프레젠테이션</vt:lpstr>
      <vt:lpstr>Contents</vt:lpstr>
      <vt:lpstr>PowerPoint 프레젠테이션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Contents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81</cp:revision>
  <dcterms:created xsi:type="dcterms:W3CDTF">2026-04-06T01:00:39Z</dcterms:created>
  <dcterms:modified xsi:type="dcterms:W3CDTF">2026-05-02T05:06:25Z</dcterms:modified>
  <cp:version/>
</cp:coreProperties>
</file>