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33"/>
  </p:notesMasterIdLst>
  <p:sldIdLst>
    <p:sldId id="928" r:id="rId2"/>
    <p:sldId id="291" r:id="rId3"/>
    <p:sldId id="925" r:id="rId4"/>
    <p:sldId id="265" r:id="rId5"/>
    <p:sldId id="271" r:id="rId6"/>
    <p:sldId id="819" r:id="rId7"/>
    <p:sldId id="820" r:id="rId8"/>
    <p:sldId id="275" r:id="rId9"/>
    <p:sldId id="276" r:id="rId10"/>
    <p:sldId id="272" r:id="rId11"/>
    <p:sldId id="279" r:id="rId12"/>
    <p:sldId id="270" r:id="rId13"/>
    <p:sldId id="259" r:id="rId14"/>
    <p:sldId id="912" r:id="rId15"/>
    <p:sldId id="288" r:id="rId16"/>
    <p:sldId id="913" r:id="rId17"/>
    <p:sldId id="268" r:id="rId18"/>
    <p:sldId id="260" r:id="rId19"/>
    <p:sldId id="818" r:id="rId20"/>
    <p:sldId id="927" r:id="rId21"/>
    <p:sldId id="891" r:id="rId22"/>
    <p:sldId id="929" r:id="rId23"/>
    <p:sldId id="899" r:id="rId24"/>
    <p:sldId id="893" r:id="rId25"/>
    <p:sldId id="898" r:id="rId26"/>
    <p:sldId id="897" r:id="rId27"/>
    <p:sldId id="267" r:id="rId28"/>
    <p:sldId id="892" r:id="rId29"/>
    <p:sldId id="905" r:id="rId30"/>
    <p:sldId id="906" r:id="rId31"/>
    <p:sldId id="900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 varScale="1">
        <p:scale>
          <a:sx n="80" d="100"/>
          <a:sy n="80" d="100"/>
        </p:scale>
        <p:origin x="936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469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6707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18319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1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  <p:sldLayoutId id="2147483670" r:id="rId19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3" Type="http://schemas.openxmlformats.org/officeDocument/2006/relationships/image" Target="../media/image230.png"/><Relationship Id="rId7" Type="http://schemas.openxmlformats.org/officeDocument/2006/relationships/image" Target="../media/image27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5" Type="http://schemas.openxmlformats.org/officeDocument/2006/relationships/image" Target="../media/image250.png"/><Relationship Id="rId10" Type="http://schemas.openxmlformats.org/officeDocument/2006/relationships/image" Target="../media/image302.png"/><Relationship Id="rId4" Type="http://schemas.openxmlformats.org/officeDocument/2006/relationships/image" Target="../media/image240.png"/><Relationship Id="rId9" Type="http://schemas.openxmlformats.org/officeDocument/2006/relationships/image" Target="../media/image29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01.png"/><Relationship Id="rId7" Type="http://schemas.openxmlformats.org/officeDocument/2006/relationships/image" Target="../media/image34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320.png"/><Relationship Id="rId10" Type="http://schemas.openxmlformats.org/officeDocument/2006/relationships/image" Target="../media/image371.png"/><Relationship Id="rId4" Type="http://schemas.openxmlformats.org/officeDocument/2006/relationships/image" Target="../media/image311.png"/><Relationship Id="rId9" Type="http://schemas.openxmlformats.org/officeDocument/2006/relationships/image" Target="../media/image36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270.png"/><Relationship Id="rId7" Type="http://schemas.openxmlformats.org/officeDocument/2006/relationships/image" Target="../media/image17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370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0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gif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cap="none" dirty="0">
                <a:solidFill>
                  <a:schemeClr val="bg1"/>
                </a:solidFill>
              </a:rPr>
              <a:t>Principal Component Analysis</a:t>
            </a: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en-US" altLang="ko-KR" sz="2400" cap="none" dirty="0">
                <a:solidFill>
                  <a:schemeClr val="bg1"/>
                </a:solidFill>
              </a:rPr>
              <a:t>Eigen value, Eigen Vector</a:t>
            </a:r>
            <a:endParaRPr lang="ko-KR" altLang="en-US" sz="2400" cap="none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200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579371" y="19240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2933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92634D-69DE-B1FA-0C1A-E45A7D841E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선형변환에 대해 생각하기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2286315" y="2000250"/>
            <a:ext cx="5219700" cy="4730560"/>
            <a:chOff x="2286315" y="2000250"/>
            <a:chExt cx="5219700" cy="473056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10" name="직선 연결선 9">
              <a:extLst>
                <a:ext uri="{FF2B5EF4-FFF2-40B4-BE49-F238E27FC236}">
                  <a16:creationId xmlns:a16="http://schemas.microsoft.com/office/drawing/2014/main" id="{962EAC99-6513-A21E-6BBF-96E1779712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5036255" y="3333500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915466" y="1932871"/>
            <a:ext cx="2036761" cy="13025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9364" y="3575707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622754" y="221950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013945"/>
            <a:ext cx="5219700" cy="4730560"/>
            <a:chOff x="2286315" y="2000250"/>
            <a:chExt cx="5219700" cy="473056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  <p:cxnSp>
          <p:nvCxnSpPr>
            <p:cNvPr id="28" name="직선 연결선 27">
              <a:extLst>
                <a:ext uri="{FF2B5EF4-FFF2-40B4-BE49-F238E27FC236}">
                  <a16:creationId xmlns:a16="http://schemas.microsoft.com/office/drawing/2014/main" id="{B198DBB6-2805-CBDB-BED2-D6F2E99DDD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2353" y="2000250"/>
              <a:ext cx="2419350" cy="4305908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78855" y="334719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468" y="3617062"/>
                <a:ext cx="121732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8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8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3352456" cy="13390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615" y="3986394"/>
                <a:ext cx="444352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191" y="1723062"/>
                <a:ext cx="450764" cy="461665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04116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02038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4586427"/>
                <a:ext cx="2031069" cy="461665"/>
              </a:xfrm>
              <a:prstGeom prst="rect">
                <a:avLst/>
              </a:prstGeom>
              <a:blipFill>
                <a:blip r:embed="rId7"/>
                <a:stretch>
                  <a:fillRect l="-4505" t="-10526" r="-3904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577707"/>
                <a:ext cx="2037481" cy="461665"/>
              </a:xfrm>
              <a:prstGeom prst="rect">
                <a:avLst/>
              </a:prstGeom>
              <a:blipFill>
                <a:blip r:embed="rId8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372613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372575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164622"/>
                <a:ext cx="1404552" cy="369332"/>
              </a:xfrm>
              <a:prstGeom prst="rect">
                <a:avLst/>
              </a:prstGeom>
              <a:blipFill>
                <a:blip r:embed="rId9"/>
                <a:stretch>
                  <a:fillRect t="-8197" r="-3030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164622"/>
                <a:ext cx="1409360" cy="369332"/>
              </a:xfrm>
              <a:prstGeom prst="rect">
                <a:avLst/>
              </a:prstGeom>
              <a:blipFill>
                <a:blip r:embed="rId10"/>
                <a:stretch>
                  <a:fillRect t="-8197" r="-3463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92116" y="4017793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02143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07407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496518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10301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185473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1662825"/>
            <a:ext cx="938932" cy="4709936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47661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30489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36784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187969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451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33747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25411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/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32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sz="32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3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3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2∗1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3∗1+</m:t>
                                </m:r>
                              </m:e>
                              <m:e>
                                <m:r>
                                  <a:rPr lang="en-US" altLang="ko-KR" sz="3200" b="0" i="1" smtClean="0">
                                    <a:latin typeface="Cambria Math" panose="02040503050406030204" pitchFamily="18" charset="0"/>
                                  </a:rPr>
                                  <m:t>4∗2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8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5FEB578A-2D81-A6E7-36E3-01CEA339EF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2214694"/>
                <a:ext cx="4107535" cy="92172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벡터</a:t>
            </a:r>
            <a:r>
              <a:rPr lang="en-US" altLang="ko-KR" dirty="0"/>
              <a:t> v</a:t>
            </a:r>
            <a:r>
              <a:rPr lang="ko-KR" altLang="en-US" dirty="0"/>
              <a:t>가 행렬 </a:t>
            </a:r>
            <a:r>
              <a:rPr lang="en-US" altLang="ko-KR" dirty="0"/>
              <a:t>A</a:t>
            </a:r>
            <a:r>
              <a:rPr lang="ko-KR" altLang="en-US" dirty="0"/>
              <a:t>와 </a:t>
            </a:r>
            <a:r>
              <a:rPr lang="ko-KR" altLang="en-US" dirty="0" err="1"/>
              <a:t>내적하는</a:t>
            </a:r>
            <a:r>
              <a:rPr lang="ko-KR" altLang="en-US" dirty="0"/>
              <a:t> 선형변환을 하면 </a:t>
            </a:r>
            <a:r>
              <a:rPr lang="en-US" altLang="ko-KR" dirty="0"/>
              <a:t>Av = (5,5) </a:t>
            </a:r>
            <a:r>
              <a:rPr lang="ko-KR" altLang="en-US" dirty="0"/>
              <a:t>로 위치 이동하게 됨</a:t>
            </a: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행렬 </a:t>
            </a:r>
            <a:r>
              <a:rPr lang="en-US" altLang="ko-KR" dirty="0"/>
              <a:t>= </a:t>
            </a:r>
            <a:r>
              <a:rPr lang="ko-KR" altLang="en-US" dirty="0"/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9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두 행이 완전히 동일하며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모든 벡터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(x, 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를 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(x+2y,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altLang="ko-KR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x+2y)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벡터로 선형변환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E3566-E0E2-3682-76F4-6A2B0A523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55D4C1-4B4A-A66E-82C3-386E6AB7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CEC279A-BA05-1914-9046-3B18C4C7FD1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4277515"/>
            <a:ext cx="7402300" cy="115173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D933761-F6C1-E88D-6DC1-6D5645B5AE2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494924" y="2300419"/>
            <a:ext cx="7330316" cy="1103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3B0C35-8920-5211-45F2-08E4D70B1F95}"/>
              </a:ext>
            </a:extLst>
          </p:cNvPr>
          <p:cNvSpPr txBox="1"/>
          <p:nvPr/>
        </p:nvSpPr>
        <p:spPr>
          <a:xfrm>
            <a:off x="466725" y="18453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2</a:t>
            </a:r>
            <a:r>
              <a:rPr lang="ko-KR" altLang="en-US" sz="1800" dirty="0"/>
              <a:t>개 벡터</a:t>
            </a:r>
            <a:r>
              <a:rPr lang="en-US" altLang="ko-KR" sz="1800" dirty="0"/>
              <a:t>(points), (1,2), (2,1)</a:t>
            </a:r>
            <a:r>
              <a:rPr lang="ko-KR" altLang="en-US" sz="1800" dirty="0"/>
              <a:t>에 행렬</a:t>
            </a:r>
            <a:r>
              <a:rPr lang="en-US" altLang="ko-KR" dirty="0"/>
              <a:t>[(2,1), (1,4)] </a:t>
            </a:r>
            <a:r>
              <a:rPr lang="ko-KR" altLang="en-US" dirty="0"/>
              <a:t>와의</a:t>
            </a:r>
            <a:r>
              <a:rPr lang="en-US" altLang="ko-KR" dirty="0"/>
              <a:t> </a:t>
            </a:r>
            <a:r>
              <a:rPr lang="ko-KR" altLang="en-US" sz="1800" dirty="0"/>
              <a:t>내적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57BCDF-6F41-7650-72C3-22B4E2230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130224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011C37-30DB-6272-D93F-F9473458E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1725" y="2014537"/>
            <a:ext cx="7286625" cy="3977757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5E36D-A1FE-2B89-FE3D-9D9496F81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8B66B-CC98-38AF-CD8F-4481BD3C8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cap="none" dirty="0"/>
              <a:t>선형대수</a:t>
            </a:r>
            <a:r>
              <a:rPr lang="en-US" altLang="ko-KR" cap="none" dirty="0"/>
              <a:t>(Linear Algebra)</a:t>
            </a:r>
            <a:endParaRPr lang="ko-KR" altLang="en-US" cap="none" dirty="0"/>
          </a:p>
        </p:txBody>
      </p:sp>
      <p:sp>
        <p:nvSpPr>
          <p:cNvPr id="17" name="슬라이드 번호 개체 틀 3">
            <a:extLst>
              <a:ext uri="{FF2B5EF4-FFF2-40B4-BE49-F238E27FC236}">
                <a16:creationId xmlns:a16="http://schemas.microsoft.com/office/drawing/2014/main" id="{3FD9B8B1-9B96-0622-DDFB-0F4F31A12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Wingdings" panose="05000000000000000000" pitchFamily="2" charset="2"/>
                  <a:buChar char="§"/>
                </a:pP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“벡터와 행렬을 이용해 ‘선형 관계</a:t>
                </a:r>
                <a:r>
                  <a:rPr lang="en-US" altLang="ko-KR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relationship)’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와 ‘공간의 </a:t>
                </a:r>
                <a:r>
                  <a:rPr lang="ko-KR" altLang="en-US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변환’을</a:t>
                </a:r>
                <a:r>
                  <a:rPr lang="ko-KR" altLang="en-US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다루는 학문”</a:t>
                </a:r>
                <a:endParaRPr lang="en-US" altLang="ko-KR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공간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연립 선형 방정식 등을 연구하는 수학의 한 분야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데이터를 공간으로 보고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모델을 ‘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변환’으로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이해하는 언어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선형변환식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기하학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공간을 어떻게 움직이고 변환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회전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확대/축소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기울이기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지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 eaLnBrk="0" fontAlgn="base" hangingPunct="0">
                  <a:lnSpc>
                    <a:spcPct val="150000"/>
                  </a:lnSpc>
                  <a:spcBef>
                    <a:spcPct val="0"/>
                  </a:spcBef>
                  <a:spcAft>
                    <a:spcPct val="0"/>
                  </a:spcAft>
                  <a:buFont typeface="Wingdings" panose="05000000000000000000" pitchFamily="2" charset="2"/>
                  <a:buChar char="§"/>
                </a:pP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머신러닝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관측치는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모델은 </a:t>
                </a:r>
                <a14:m>
                  <m:oMath xmlns:m="http://schemas.openxmlformats.org/officeDocument/2006/math">
                    <m:r>
                      <a:rPr lang="en-US" altLang="ko-KR" sz="24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𝐴𝑥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240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ko-KR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4" name="내용 개체 틀 11">
                <a:extLst>
                  <a:ext uri="{FF2B5EF4-FFF2-40B4-BE49-F238E27FC236}">
                    <a16:creationId xmlns:a16="http://schemas.microsoft.com/office/drawing/2014/main" id="{5EFD9993-AB58-C007-9AEC-3E30F10655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4" y="1243142"/>
                <a:ext cx="10363826" cy="4605207"/>
              </a:xfrm>
              <a:prstGeom prst="rect">
                <a:avLst/>
              </a:prstGeom>
              <a:blipFill>
                <a:blip r:embed="rId2"/>
                <a:stretch>
                  <a:fillRect l="-529" t="-2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5987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9566F-70DB-C9B6-52A4-104A38E78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6294A1E-74B1-2647-D02F-0AFC5B92A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15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AAA135C1-5E58-DE61-BCE2-F4353E58502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0" y="2193800"/>
            <a:ext cx="4501673" cy="2178229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2E1D530D-01A2-F7EA-0FF5-EB0FA91ED689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4963722" cy="194060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4572FC41-B531-852F-1649-5E8F5EBE5949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813060" cy="1068744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1A72315-8774-4D80-E39B-8177669F955B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900D0B-A8C8-F9A7-91B3-310F01FD50E4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3F76A69-7661-C8AE-AE9E-3E2C0DFA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77766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DE559-9E4F-069B-91D6-E604FED2B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17B1727C-5907-1409-048E-992C18E5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16</a:t>
            </a:fld>
            <a:endParaRPr 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/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 sz="200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>
                        <a:latin typeface="Cambria Math" panose="02040503050406030204" pitchFamily="18" charset="0"/>
                      </a:rPr>
                      <m:t>𝐴𝑥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의미를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열벡터들의 선형 결합으로 기하학적 해석을 하면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열벡터들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우리가 움직일 수 있는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방향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’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들이고 </a:t>
                </a: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성분들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그 방향으로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얼마나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'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갈 것인가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? 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endParaRPr lang="en-US" altLang="ko-KR" dirty="0">
                  <a:latin typeface="Cambria Math" panose="020405030504060302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en-US" altLang="ko-KR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최종 도착지  </a:t>
                </a:r>
                <a:endParaRPr lang="en-US" altLang="ko-KR" sz="20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201F750-2BE1-DE02-C234-81213451B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244" y="811930"/>
                <a:ext cx="7375444" cy="3825214"/>
              </a:xfrm>
              <a:prstGeom prst="rect">
                <a:avLst/>
              </a:prstGeom>
              <a:blipFill>
                <a:blip r:embed="rId2"/>
                <a:stretch>
                  <a:fillRect l="-744" b="-14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12D68391-FF3C-2777-472E-9EDC54C5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4996" y="1466676"/>
            <a:ext cx="2576183" cy="109235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1DDF7A5-028A-2163-E3F4-A553257F0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4595" y="1262802"/>
            <a:ext cx="1149180" cy="14964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F736873-AD7E-F993-D94C-4865EBA23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6692" y="4272114"/>
            <a:ext cx="3422283" cy="20015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20D2E58B-7FE1-13B5-097D-2D7EF28730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4996" y="2856923"/>
            <a:ext cx="4427219" cy="1304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238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BD2289-F2DD-C99C-21A0-D359B3CC0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투영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2AC9B519-750B-3AD9-C9B3-C647051B7BB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70875" y="2015277"/>
            <a:ext cx="7738080" cy="4224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135C1BC-D100-A1E8-B66D-30FE5BBBCD42}"/>
              </a:ext>
            </a:extLst>
          </p:cNvPr>
          <p:cNvSpPr txBox="1"/>
          <p:nvPr/>
        </p:nvSpPr>
        <p:spPr>
          <a:xfrm>
            <a:off x="8394680" y="2029696"/>
            <a:ext cx="36544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첫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모든 데이터를 직선 하나에 강제로 정렬시키는 투영 </a:t>
            </a:r>
            <a:r>
              <a:rPr lang="en-US" altLang="ko-KR" dirty="0">
                <a:latin typeface="+mj-ea"/>
                <a:ea typeface="+mj-ea"/>
              </a:rPr>
              <a:t>(Singular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두 번째 행렬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데이터를 새로운 좌표축으로 재배치하되 평면을 유지하는 투영 </a:t>
            </a:r>
            <a:r>
              <a:rPr lang="en-US" altLang="ko-KR" dirty="0">
                <a:latin typeface="+mj-ea"/>
                <a:ea typeface="+mj-ea"/>
              </a:rPr>
              <a:t>(Non-singular Matrix).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>
              <a:latin typeface="+mj-ea"/>
              <a:ea typeface="+mj-ea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+mj-ea"/>
                <a:ea typeface="+mj-ea"/>
              </a:rPr>
              <a:t>이 투영 개념은 데이터 분석에서 중요한 주성분 분석</a:t>
            </a:r>
            <a:r>
              <a:rPr lang="en-US" altLang="ko-KR" dirty="0">
                <a:latin typeface="+mj-ea"/>
                <a:ea typeface="+mj-ea"/>
              </a:rPr>
              <a:t>(PCA)</a:t>
            </a:r>
            <a:r>
              <a:rPr lang="ko-KR" altLang="en-US" dirty="0">
                <a:latin typeface="+mj-ea"/>
                <a:ea typeface="+mj-ea"/>
              </a:rPr>
              <a:t>의 기초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E0299473-7BDA-1153-07AF-73989810D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17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11412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b="1" dirty="0" err="1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b="1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18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522484"/>
            <a:ext cx="5056802" cy="34242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4825" y="2244389"/>
            <a:ext cx="42481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Nanum Gothic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Nanum Gothic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Nanum Gothic"/>
              </a:rPr>
              <a:t>선형변환하면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EE4C-CF8D-13F6-E5D0-F069365A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B388CFB-5E5A-0B56-2B29-B3655AA0D879}"/>
              </a:ext>
            </a:extLst>
          </p:cNvPr>
          <p:cNvSpPr/>
          <p:nvPr/>
        </p:nvSpPr>
        <p:spPr>
          <a:xfrm>
            <a:off x="57937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2FE80-9EDC-A097-418B-57D8C5D574E0}"/>
              </a:ext>
            </a:extLst>
          </p:cNvPr>
          <p:cNvSpPr txBox="1"/>
          <p:nvPr/>
        </p:nvSpPr>
        <p:spPr>
          <a:xfrm>
            <a:off x="1629916" y="147612"/>
            <a:ext cx="8928992" cy="4022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value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vector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5111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71A663-E6E2-41F2-752E-AF07B9674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2487-4066-E9B9-A601-533736ED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A0241D-1994-FC82-D69B-0A68B2AAF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D98C4D-BA3A-37E3-866A-C8686B216CDE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Eigen value &amp; Eigen vector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BE4A90-2671-6596-92C0-364DB0A35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01" y="1866900"/>
            <a:ext cx="4537448" cy="466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21DEFFE-BE6E-C89F-DFD1-149A43668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2938" y="1866901"/>
            <a:ext cx="4551073" cy="466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5F13AEE-DD0E-3B1A-AAB5-ABA378887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237" y="870129"/>
            <a:ext cx="10715625" cy="869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공간을 무작위로 찌그러뜨리는 것 같지만,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고유벡터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특별한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 vectors)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기준으로 보면 단순히 길이를 늘리거나(4배) 뒤집는(-1배) 연산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하고 있다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29B97B-BCF9-D313-1736-B599A138C588}"/>
              </a:ext>
            </a:extLst>
          </p:cNvPr>
          <p:cNvSpPr txBox="1"/>
          <p:nvPr/>
        </p:nvSpPr>
        <p:spPr>
          <a:xfrm>
            <a:off x="8753791" y="3086093"/>
            <a:ext cx="11369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</a:t>
            </a:r>
          </a:p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[ 4. -1.] </a:t>
            </a:r>
            <a:endParaRPr lang="ko-KR" alt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EE789-2360-2E57-1572-04EFF9D6424E}"/>
              </a:ext>
            </a:extLst>
          </p:cNvPr>
          <p:cNvSpPr txBox="1"/>
          <p:nvPr/>
        </p:nvSpPr>
        <p:spPr>
          <a:xfrm>
            <a:off x="6819900" y="3265571"/>
            <a:ext cx="1783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Eigenvectors </a:t>
            </a:r>
          </a:p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[[ 0.83 -0.71] </a:t>
            </a:r>
          </a:p>
          <a:p>
            <a:r>
              <a:rPr lang="en-US" altLang="ko-KR" sz="12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[ 0.55 0.71]]</a:t>
            </a:r>
            <a:endParaRPr lang="ko-KR" altLang="en-US" sz="1200" b="1" dirty="0">
              <a:solidFill>
                <a:srgbClr val="00B05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23118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66020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</p:spPr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21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21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70315"/>
                <a:ext cx="10706705" cy="1196635"/>
              </a:xfrm>
              <a:blipFill>
                <a:blip r:embed="rId2"/>
                <a:stretch>
                  <a:fillRect l="-456" r="-114" b="-76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4244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523222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주성분분석을 실습한다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0" y="2362200"/>
            <a:ext cx="2965057" cy="3914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3" y="2281674"/>
            <a:ext cx="3097535" cy="375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2202</TotalTime>
  <Words>1143</Words>
  <Application>Microsoft Office PowerPoint</Application>
  <PresentationFormat>와이드스크린</PresentationFormat>
  <Paragraphs>172</Paragraphs>
  <Slides>31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46" baseType="lpstr">
      <vt:lpstr>Nanum Gothic</vt:lpstr>
      <vt:lpstr>나눔고딕</vt:lpstr>
      <vt:lpstr>맑은 고딕</vt:lpstr>
      <vt:lpstr>맑은 고딕 Semilight</vt:lpstr>
      <vt:lpstr>Batang</vt:lpstr>
      <vt:lpstr>한컴 말랑말랑 Bold</vt:lpstr>
      <vt:lpstr>ADLaM Display</vt:lpstr>
      <vt:lpstr>Aptos Narrow</vt:lpstr>
      <vt:lpstr>Arial</vt:lpstr>
      <vt:lpstr>Calibri Light</vt:lpstr>
      <vt:lpstr>Cambria Math</vt:lpstr>
      <vt:lpstr>Times New Roman</vt:lpstr>
      <vt:lpstr>Tw Cen MT</vt:lpstr>
      <vt:lpstr>Wingdings</vt:lpstr>
      <vt:lpstr>물방울</vt:lpstr>
      <vt:lpstr>Principal Component Analysis</vt:lpstr>
      <vt:lpstr>선형대수(linear algebra)</vt:lpstr>
      <vt:lpstr>PowerPoint 프레젠테이션</vt:lpstr>
      <vt:lpstr>1차원 직선에서의 선형변환에 대해 생각하기</vt:lpstr>
      <vt:lpstr>1차원 직선에서의 선형변환에 대해 생각하기</vt:lpstr>
      <vt:lpstr>2차원 평면에서의 선형변환에 대해 생각하기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선형변환</vt:lpstr>
      <vt:lpstr>기하학적 이해</vt:lpstr>
      <vt:lpstr>선형대수(Linear Algebra)</vt:lpstr>
      <vt:lpstr>PowerPoint 프레젠테이션</vt:lpstr>
      <vt:lpstr>PowerPoint 프레젠테이션</vt:lpstr>
      <vt:lpstr>투영</vt:lpstr>
      <vt:lpstr>행렬과 내적은 선형변환</vt:lpstr>
      <vt:lpstr>선형변환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41</cp:revision>
  <dcterms:created xsi:type="dcterms:W3CDTF">2026-03-09T22:59:08Z</dcterms:created>
  <dcterms:modified xsi:type="dcterms:W3CDTF">2026-04-11T11:31:37Z</dcterms:modified>
</cp:coreProperties>
</file>