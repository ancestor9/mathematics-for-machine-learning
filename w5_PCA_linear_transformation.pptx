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sldIdLst>
    <p:sldId id="928" r:id="rId2"/>
    <p:sldId id="291" r:id="rId3"/>
    <p:sldId id="925" r:id="rId4"/>
    <p:sldId id="265" r:id="rId5"/>
    <p:sldId id="271" r:id="rId6"/>
    <p:sldId id="819" r:id="rId7"/>
    <p:sldId id="820" r:id="rId8"/>
    <p:sldId id="275" r:id="rId9"/>
    <p:sldId id="276" r:id="rId10"/>
    <p:sldId id="272" r:id="rId11"/>
    <p:sldId id="279" r:id="rId12"/>
    <p:sldId id="270" r:id="rId13"/>
    <p:sldId id="259" r:id="rId14"/>
    <p:sldId id="912" r:id="rId15"/>
    <p:sldId id="288" r:id="rId16"/>
    <p:sldId id="913" r:id="rId17"/>
    <p:sldId id="268" r:id="rId18"/>
    <p:sldId id="260" r:id="rId19"/>
    <p:sldId id="818" r:id="rId20"/>
    <p:sldId id="927" r:id="rId21"/>
    <p:sldId id="891" r:id="rId22"/>
    <p:sldId id="929" r:id="rId23"/>
    <p:sldId id="267" r:id="rId24"/>
    <p:sldId id="899" r:id="rId25"/>
    <p:sldId id="893" r:id="rId26"/>
    <p:sldId id="898" r:id="rId27"/>
    <p:sldId id="897" r:id="rId28"/>
    <p:sldId id="892" r:id="rId29"/>
    <p:sldId id="905" r:id="rId30"/>
    <p:sldId id="906" r:id="rId31"/>
    <p:sldId id="900" r:id="rId32"/>
    <p:sldId id="930" r:id="rId33"/>
    <p:sldId id="931" r:id="rId34"/>
    <p:sldId id="933" r:id="rId35"/>
    <p:sldId id="934" r:id="rId36"/>
    <p:sldId id="93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8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9333-3F5E-BD10-3255-38A0403B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F17854-DA01-91EC-BEB1-DFFAEEBF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3AA8CD-D0E3-77C6-AA39-3D5BFA7D0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27029-6F14-2C6D-3E56-C26440537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42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70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831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fNk_zzaMoSs&amp;list=PLZHQObOWTQDPD3MizzM2xVFitgF8hE_a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30.png"/><Relationship Id="rId7" Type="http://schemas.openxmlformats.org/officeDocument/2006/relationships/image" Target="../media/image27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250.png"/><Relationship Id="rId10" Type="http://schemas.openxmlformats.org/officeDocument/2006/relationships/image" Target="../media/image302.png"/><Relationship Id="rId4" Type="http://schemas.openxmlformats.org/officeDocument/2006/relationships/image" Target="../media/image240.png"/><Relationship Id="rId9" Type="http://schemas.openxmlformats.org/officeDocument/2006/relationships/image" Target="../media/image29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1.png"/><Relationship Id="rId7" Type="http://schemas.openxmlformats.org/officeDocument/2006/relationships/image" Target="../media/image3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10" Type="http://schemas.openxmlformats.org/officeDocument/2006/relationships/image" Target="../media/image371.png"/><Relationship Id="rId4" Type="http://schemas.openxmlformats.org/officeDocument/2006/relationships/image" Target="../media/image311.png"/><Relationship Id="rId9" Type="http://schemas.openxmlformats.org/officeDocument/2006/relationships/image" Target="../media/image36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70.png"/><Relationship Id="rId7" Type="http://schemas.openxmlformats.org/officeDocument/2006/relationships/image" Target="../media/image17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370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igenvalues_and_eigenvector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numiqo.com/lab/pca" TargetMode="Externa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en.wikipedia.org/wiki/Nonlinear_dimensionality_reduction" TargetMode="Externa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/05.10-manifold-learning.html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cap="none" dirty="0">
                <a:solidFill>
                  <a:schemeClr val="bg1"/>
                </a:solidFill>
              </a:rPr>
              <a:t>Principal Component Analysis</a:t>
            </a:r>
            <a:endParaRPr lang="ko-KR" altLang="en-US" sz="4800" cap="none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altLang="ko-KR" sz="2400" cap="none" dirty="0">
                <a:solidFill>
                  <a:schemeClr val="bg1"/>
                </a:solidFill>
              </a:rPr>
              <a:t>Eigen value, Eigen Vector</a:t>
            </a:r>
            <a:endParaRPr lang="ko-KR" altLang="en-US" sz="2400" cap="none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A01-A99B-61BF-C97A-C1A5B76E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98281-CD11-B99F-2C6A-35C343FE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A373E53-19CA-74B5-49AE-464E7176A6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“벡터와 행렬을 이용해 ‘선형 관계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relationship)’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‘공간의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변환’을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다루는 학문”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동영상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장까지 사전학습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90304-2C81-BE6E-89E5-F6D9190D9914}"/>
              </a:ext>
            </a:extLst>
          </p:cNvPr>
          <p:cNvSpPr txBox="1"/>
          <p:nvPr/>
        </p:nvSpPr>
        <p:spPr>
          <a:xfrm>
            <a:off x="1409700" y="2515058"/>
            <a:ext cx="38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Essence of linear algebra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8879A5-87AD-8D96-775A-B094426E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3116426"/>
            <a:ext cx="3038775" cy="29513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1D3EF-810D-D94A-03B8-586E28C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116426"/>
            <a:ext cx="4487741" cy="29461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538A5-1423-86C7-259F-7E5AF284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200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34FC-E499-F18D-86F6-87717BA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2D521-939C-02F3-30BA-6F660253FE91}"/>
              </a:ext>
            </a:extLst>
          </p:cNvPr>
          <p:cNvSpPr/>
          <p:nvPr/>
        </p:nvSpPr>
        <p:spPr>
          <a:xfrm>
            <a:off x="579371" y="19240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0960E-8C55-FC63-C8CD-F10F1DFFA9A0}"/>
              </a:ext>
            </a:extLst>
          </p:cNvPr>
          <p:cNvSpPr txBox="1"/>
          <p:nvPr/>
        </p:nvSpPr>
        <p:spPr>
          <a:xfrm>
            <a:off x="1629916" y="147612"/>
            <a:ext cx="8928992" cy="293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</p:txBody>
      </p:sp>
    </p:spTree>
    <p:extLst>
      <p:ext uri="{BB962C8B-B14F-4D97-AF65-F5344CB8AC3E}">
        <p14:creationId xmlns:p14="http://schemas.microsoft.com/office/powerpoint/2010/main" val="334002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2634D-69DE-B1FA-0C1A-E45A7D84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2E407F-6FCE-2AF3-B4C9-590554943A06}"/>
              </a:ext>
            </a:extLst>
          </p:cNvPr>
          <p:cNvGrpSpPr/>
          <p:nvPr/>
        </p:nvGrpSpPr>
        <p:grpSpPr>
          <a:xfrm>
            <a:off x="2286315" y="2000250"/>
            <a:ext cx="5219700" cy="4730560"/>
            <a:chOff x="2286315" y="2000250"/>
            <a:chExt cx="5219700" cy="473056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7EF1AA-F153-6183-97D0-69F9B4F583E3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202B12-A258-8108-186D-F5C99EE6F804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CFDE16B-292D-CEE7-D26B-874B0FDAC3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89A9A-9BF1-DC08-AE34-A7451EE113CD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2EAC99-6513-A21E-6BBF-96E177971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78CA-2FF6-CF4B-98EE-2B1A44B150DD}"/>
              </a:ext>
            </a:extLst>
          </p:cNvPr>
          <p:cNvSpPr/>
          <p:nvPr/>
        </p:nvSpPr>
        <p:spPr>
          <a:xfrm>
            <a:off x="5036255" y="3333500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내용 개체 틀 3">
            <a:extLst>
              <a:ext uri="{FF2B5EF4-FFF2-40B4-BE49-F238E27FC236}">
                <a16:creationId xmlns:a16="http://schemas.microsoft.com/office/drawing/2014/main" id="{13052355-1119-0517-A20A-A305BD682A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915466" y="1932871"/>
            <a:ext cx="2036761" cy="13025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/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A27F945-2837-878D-1E14-9A8919FB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6DF6-FB18-4294-55E9-C6DBA31A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내용 개체 틀 3">
            <a:extLst>
              <a:ext uri="{FF2B5EF4-FFF2-40B4-BE49-F238E27FC236}">
                <a16:creationId xmlns:a16="http://schemas.microsoft.com/office/drawing/2014/main" id="{129CA579-ACE9-8864-C8FC-DB2CB0CF6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22754" y="2219501"/>
            <a:ext cx="2036761" cy="13025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A9540-1A43-29C2-FDDD-0FC6C798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1751FB-CCED-D8B7-A89F-2C9659857CB8}"/>
              </a:ext>
            </a:extLst>
          </p:cNvPr>
          <p:cNvGrpSpPr/>
          <p:nvPr/>
        </p:nvGrpSpPr>
        <p:grpSpPr>
          <a:xfrm>
            <a:off x="228915" y="2013945"/>
            <a:ext cx="5219700" cy="4730560"/>
            <a:chOff x="2286315" y="2000250"/>
            <a:chExt cx="5219700" cy="473056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F931236-F7E9-00A7-B658-C585F7F5A16B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37D04F-3639-48C8-2FB6-4B4C978881E0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1372A1-72AD-FF90-5EDE-A967532860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0E2898-EE5A-3D43-1F94-A94D6D1B5225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B198DBB6-2805-CBDB-BED2-D6F2E99DD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A4DB8-F24A-7254-51A8-F5FB6291CB29}"/>
              </a:ext>
            </a:extLst>
          </p:cNvPr>
          <p:cNvSpPr/>
          <p:nvPr/>
        </p:nvSpPr>
        <p:spPr>
          <a:xfrm>
            <a:off x="2978855" y="3347195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/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/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/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타원 35">
            <a:extLst>
              <a:ext uri="{FF2B5EF4-FFF2-40B4-BE49-F238E27FC236}">
                <a16:creationId xmlns:a16="http://schemas.microsoft.com/office/drawing/2014/main" id="{A198A072-9A80-F113-3D6E-1A73198F53F6}"/>
              </a:ext>
            </a:extLst>
          </p:cNvPr>
          <p:cNvSpPr/>
          <p:nvPr/>
        </p:nvSpPr>
        <p:spPr>
          <a:xfrm>
            <a:off x="8346847" y="2041167"/>
            <a:ext cx="687578" cy="170080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8F0BE2-B48C-FF81-58BB-7A85CE8092B1}"/>
              </a:ext>
            </a:extLst>
          </p:cNvPr>
          <p:cNvSpPr/>
          <p:nvPr/>
        </p:nvSpPr>
        <p:spPr>
          <a:xfrm>
            <a:off x="9148418" y="2020388"/>
            <a:ext cx="687578" cy="1700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/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00B05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00B050"/>
                    </a:solidFill>
                  </a:rPr>
                  <a:t>lands</a:t>
                </a:r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blipFill>
                <a:blip r:embed="rId7"/>
                <a:stretch>
                  <a:fillRect l="-4505" t="-10526" r="-3904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/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FF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lands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blipFill>
                <a:blip r:embed="rId8"/>
                <a:stretch>
                  <a:fillRect l="-4491" t="-10526" r="-3892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458F58-935A-1653-73BC-4F5FF3AFBF2A}"/>
              </a:ext>
            </a:extLst>
          </p:cNvPr>
          <p:cNvCxnSpPr>
            <a:cxnSpLocks/>
          </p:cNvCxnSpPr>
          <p:nvPr/>
        </p:nvCxnSpPr>
        <p:spPr>
          <a:xfrm flipV="1">
            <a:off x="8056207" y="3726137"/>
            <a:ext cx="570365" cy="89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1E6DBA1-4305-2ABF-E831-B71B539AECE9}"/>
              </a:ext>
            </a:extLst>
          </p:cNvPr>
          <p:cNvCxnSpPr>
            <a:cxnSpLocks/>
          </p:cNvCxnSpPr>
          <p:nvPr/>
        </p:nvCxnSpPr>
        <p:spPr>
          <a:xfrm flipH="1" flipV="1">
            <a:off x="9491715" y="3725751"/>
            <a:ext cx="688561" cy="88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/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  <a:latin typeface="+mj-ea"/>
                    <a:ea typeface="+mj-ea"/>
                  </a:rPr>
                  <a:t> 축에 투영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blipFill>
                <a:blip r:embed="rId9"/>
                <a:stretch>
                  <a:fillRect t="-8197" r="-303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/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 축에</a:t>
                </a:r>
                <a:r>
                  <a:rPr lang="en-US" altLang="ko-KR" dirty="0">
                    <a:solidFill>
                      <a:srgbClr val="FF00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투영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blipFill>
                <a:blip r:embed="rId10"/>
                <a:stretch>
                  <a:fillRect t="-8197" r="-3463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6709EDC-A34A-45F5-7DEA-B64FDB64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315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047-1098-D4A9-F3E4-BF4B5CC0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DE6C-07CA-F0F1-E6D9-13C50AF8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BB8FF3-4604-4774-4B17-379BC3468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92116" y="4017793"/>
            <a:ext cx="4805524" cy="1389766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5B7846-3221-540A-BE0D-265F91EC9DCF}"/>
              </a:ext>
            </a:extLst>
          </p:cNvPr>
          <p:cNvGrpSpPr/>
          <p:nvPr/>
        </p:nvGrpSpPr>
        <p:grpSpPr>
          <a:xfrm>
            <a:off x="171140" y="2021434"/>
            <a:ext cx="5086975" cy="4480115"/>
            <a:chOff x="2228540" y="2007739"/>
            <a:chExt cx="5086975" cy="448011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4A685D7-7142-7FF7-0385-F3B28E3CA7A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40" y="5455075"/>
              <a:ext cx="50869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0C97EA0-D6BC-35AD-7E07-12F4B4482B87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8" y="2007739"/>
              <a:ext cx="0" cy="44801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C60D-3812-9308-967F-3D2A15B26A06}"/>
              </a:ext>
            </a:extLst>
          </p:cNvPr>
          <p:cNvSpPr/>
          <p:nvPr/>
        </p:nvSpPr>
        <p:spPr>
          <a:xfrm>
            <a:off x="2038347" y="5074071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/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/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/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2118F-F82A-7332-0FAC-BA17BA95771E}"/>
              </a:ext>
            </a:extLst>
          </p:cNvPr>
          <p:cNvCxnSpPr>
            <a:cxnSpLocks/>
          </p:cNvCxnSpPr>
          <p:nvPr/>
        </p:nvCxnSpPr>
        <p:spPr>
          <a:xfrm flipH="1">
            <a:off x="1660986" y="1662825"/>
            <a:ext cx="938932" cy="47099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513CA9-1FF2-667A-7575-59ED74DD0EDD}"/>
              </a:ext>
            </a:extLst>
          </p:cNvPr>
          <p:cNvGrpSpPr/>
          <p:nvPr/>
        </p:nvGrpSpPr>
        <p:grpSpPr>
          <a:xfrm>
            <a:off x="363921" y="4476615"/>
            <a:ext cx="1354218" cy="787525"/>
            <a:chOff x="6655650" y="2150299"/>
            <a:chExt cx="1692562" cy="110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/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3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F91148E-CDA5-C323-15C9-30E0A0313DA4}"/>
                </a:ext>
              </a:extLst>
            </p:cNvPr>
            <p:cNvSpPr/>
            <p:nvPr/>
          </p:nvSpPr>
          <p:spPr>
            <a:xfrm>
              <a:off x="7834763" y="2150299"/>
              <a:ext cx="420323" cy="11038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DE10634-30DE-1535-F053-C155E2687217}"/>
                </a:ext>
              </a:extLst>
            </p:cNvPr>
            <p:cNvSpPr/>
            <p:nvPr/>
          </p:nvSpPr>
          <p:spPr>
            <a:xfrm>
              <a:off x="7364141" y="2150299"/>
              <a:ext cx="443256" cy="110381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2D8F7B-60F2-055B-F150-41CD16A22885}"/>
              </a:ext>
            </a:extLst>
          </p:cNvPr>
          <p:cNvCxnSpPr>
            <a:cxnSpLocks/>
          </p:cNvCxnSpPr>
          <p:nvPr/>
        </p:nvCxnSpPr>
        <p:spPr>
          <a:xfrm flipH="1">
            <a:off x="1261516" y="2304898"/>
            <a:ext cx="2830430" cy="4025469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/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=(2,3)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blipFill>
                <a:blip r:embed="rId7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/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=(1,4)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blipFill>
                <a:blip r:embed="rId8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B9350-ECBC-D96D-85CF-14BC15D81B2E}"/>
              </a:ext>
            </a:extLst>
          </p:cNvPr>
          <p:cNvSpPr/>
          <p:nvPr/>
        </p:nvSpPr>
        <p:spPr>
          <a:xfrm>
            <a:off x="2599918" y="3337474"/>
            <a:ext cx="260349" cy="242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/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=(4, 11)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2∗1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3∗1+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4∗2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59570-57A6-4A56-6583-6F15679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7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206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벡터</a:t>
            </a:r>
            <a:r>
              <a:rPr lang="en-US" altLang="ko-KR" dirty="0"/>
              <a:t> v</a:t>
            </a:r>
            <a:r>
              <a:rPr lang="ko-KR" altLang="en-US" dirty="0"/>
              <a:t>가 행렬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ko-KR" altLang="en-US" dirty="0" err="1"/>
              <a:t>내적하는</a:t>
            </a:r>
            <a:r>
              <a:rPr lang="ko-KR" altLang="en-US" dirty="0"/>
              <a:t> 선형변환을 하면 </a:t>
            </a:r>
            <a:r>
              <a:rPr lang="en-US" altLang="ko-KR" dirty="0"/>
              <a:t>Av = (5,5) </a:t>
            </a:r>
            <a:r>
              <a:rPr lang="ko-KR" altLang="en-US" dirty="0"/>
              <a:t>로 위치 이동하게 됨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D4E1-1C00-2913-FD43-03EE8C0C200D}"/>
              </a:ext>
            </a:extLst>
          </p:cNvPr>
          <p:cNvSpPr txBox="1"/>
          <p:nvPr/>
        </p:nvSpPr>
        <p:spPr>
          <a:xfrm>
            <a:off x="6139367" y="1975749"/>
            <a:ext cx="157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행렬 </a:t>
            </a:r>
            <a:r>
              <a:rPr lang="en-US" altLang="ko-KR" dirty="0"/>
              <a:t>= </a:t>
            </a:r>
            <a:r>
              <a:rPr lang="ko-KR" altLang="en-US" dirty="0"/>
              <a:t>함수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5EF52E-72EE-3C3E-9A88-70B9DC9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8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26A2FD-DA73-FEBD-A534-047C269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9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E244AAB-51AC-B107-48A5-3CF643F4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05136CFE-E7F8-CC96-5386-1047EDE8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두 행이 완전히 동일하며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모든 벡터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(x, 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를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(x+2y,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x+2y)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벡터로 선형변환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75E9DE-B0B6-C8D5-A524-BAACE5A8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7E8495C-891C-0D45-AD9C-65537885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566-E0E2-3682-76F4-6A2B0A5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5D4C1-4B4A-A66E-82C3-386E6AB7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C279A-BA05-1914-9046-3B18C4C7FD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4277515"/>
            <a:ext cx="7402300" cy="115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33761-F6C1-E88D-6DC1-6D5645B5AE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2300419"/>
            <a:ext cx="7330316" cy="1103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B0C35-8920-5211-45F2-08E4D70B1F95}"/>
              </a:ext>
            </a:extLst>
          </p:cNvPr>
          <p:cNvSpPr txBox="1"/>
          <p:nvPr/>
        </p:nvSpPr>
        <p:spPr>
          <a:xfrm>
            <a:off x="466725" y="18453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2</a:t>
            </a:r>
            <a:r>
              <a:rPr lang="ko-KR" altLang="en-US" sz="1800" dirty="0"/>
              <a:t>개 벡터</a:t>
            </a:r>
            <a:r>
              <a:rPr lang="en-US" altLang="ko-KR" sz="1800" dirty="0"/>
              <a:t>(points), (1,2), (2,1)</a:t>
            </a:r>
            <a:r>
              <a:rPr lang="ko-KR" altLang="en-US" sz="1800" dirty="0"/>
              <a:t>에 행렬</a:t>
            </a:r>
            <a:r>
              <a:rPr lang="en-US" altLang="ko-KR" dirty="0"/>
              <a:t>[(2,1), (1,4)] </a:t>
            </a:r>
            <a:r>
              <a:rPr lang="ko-KR" altLang="en-US" dirty="0"/>
              <a:t>와의</a:t>
            </a:r>
            <a:r>
              <a:rPr lang="en-US" altLang="ko-KR" dirty="0"/>
              <a:t> </a:t>
            </a:r>
            <a:r>
              <a:rPr lang="ko-KR" altLang="en-US" sz="1800" dirty="0"/>
              <a:t>내적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F57BCDF-6F41-7650-72C3-22B4E223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022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011C37-30DB-6272-D93F-F9473458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014537"/>
            <a:ext cx="7286625" cy="397775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A5E0A35-FE29-17FD-803F-F2999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E36D-A1FE-2B89-FE3D-9D9496F8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8B66B-CC98-38AF-CD8F-4481BD3C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선형대수</a:t>
            </a:r>
            <a:r>
              <a:rPr lang="en-US" altLang="ko-KR" cap="none" dirty="0"/>
              <a:t>(Linear Algebra)</a:t>
            </a:r>
            <a:endParaRPr lang="ko-KR" altLang="en-US" cap="none" dirty="0"/>
          </a:p>
        </p:txBody>
      </p:sp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3FD9B8B1-9B96-0622-DDFB-0F4F31A1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14</a:t>
            </a:fld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“벡터와 행렬을 이용해 ‘선형 관계</a:t>
                </a:r>
                <a:r>
                  <a:rPr lang="en-US" altLang="ko-KR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relationship)’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‘공간의 </a:t>
                </a:r>
                <a:r>
                  <a:rPr lang="ko-KR" altLang="en-US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변환’을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다루는 학문”</a:t>
                </a:r>
                <a:endParaRPr lang="en-US" altLang="ko-KR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공간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연립 선형 방정식 등을 연구하는 수학의 한 분야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데이터를 공간으로 보고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모델을 ‘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변환’으로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이해하는 언어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선형변환식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기하학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공간을 어떻게 움직이고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확대/축소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기울이기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투영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지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관측치는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모델은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ko-KR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  <a:blipFill>
                <a:blip r:embed="rId2"/>
                <a:stretch>
                  <a:fillRect l="-529" t="-2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87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566F-70DB-C9B6-52A4-104A38E7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6294A1E-74B1-2647-D02F-0AFC5B92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15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AA135C1-5E58-DE61-BCE2-F4353E5850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0" y="2193800"/>
            <a:ext cx="4501673" cy="21782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E1D530D-01A2-F7EA-0FF5-EB0FA91ED6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4963722" cy="19406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572FC41-B531-852F-1649-5E8F5EBE594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813060" cy="1068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A72315-8774-4D80-E39B-8177669F955B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00D0B-A8C8-F9A7-91B3-310F01FD50E4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77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E559-9E4F-069B-91D6-E604FED2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7B1727C-5907-1409-048E-992C18E5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16</a:t>
            </a:fld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/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의미를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열벡터들의 선형 결합으로 기하학적 해석을 하면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열벡터들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우리가 움직일 수 있는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방향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’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들이고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성분들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그 방향으로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얼마나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갈 것인가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최종 도착지  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blipFill>
                <a:blip r:embed="rId2"/>
                <a:stretch>
                  <a:fillRect l="-744" b="-1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2D68391-FF3C-2777-472E-9EDC54C5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96" y="1466676"/>
            <a:ext cx="2576183" cy="10923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DF7A5-028A-2163-E3F4-A553257F0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595" y="1262802"/>
            <a:ext cx="1149180" cy="14964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736873-AD7E-F993-D94C-4865EBA23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692" y="4272114"/>
            <a:ext cx="3422283" cy="20015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0D2E58B-7FE1-13B5-097D-2D7EF2873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96" y="2856923"/>
            <a:ext cx="4427219" cy="130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38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D2289-F2DD-C99C-21A0-D359B3C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C9B519-750B-3AD9-C9B3-C647051B7B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570875" y="2015277"/>
            <a:ext cx="7738080" cy="42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5C1BC-D100-A1E8-B66D-30FE5BBBCD42}"/>
              </a:ext>
            </a:extLst>
          </p:cNvPr>
          <p:cNvSpPr txBox="1"/>
          <p:nvPr/>
        </p:nvSpPr>
        <p:spPr>
          <a:xfrm>
            <a:off x="8394680" y="2029696"/>
            <a:ext cx="3654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첫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모든 데이터를 직선 하나에 강제로 정렬시키는 투영 </a:t>
            </a:r>
            <a:r>
              <a:rPr lang="en-US" altLang="ko-KR" dirty="0">
                <a:latin typeface="+mj-ea"/>
                <a:ea typeface="+mj-ea"/>
              </a:rPr>
              <a:t>(Singular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두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데이터를 새로운 좌표축으로 재배치하되 평면을 유지하는 투영 </a:t>
            </a:r>
            <a:r>
              <a:rPr lang="en-US" altLang="ko-KR" dirty="0">
                <a:latin typeface="+mj-ea"/>
                <a:ea typeface="+mj-ea"/>
              </a:rPr>
              <a:t>(Non-singular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이 투영 개념은 데이터 분석에서 중요한 주성분 분석</a:t>
            </a:r>
            <a:r>
              <a:rPr lang="en-US" altLang="ko-KR" dirty="0">
                <a:latin typeface="+mj-ea"/>
                <a:ea typeface="+mj-ea"/>
              </a:rPr>
              <a:t>(PCA)</a:t>
            </a:r>
            <a:r>
              <a:rPr lang="ko-KR" altLang="en-US" dirty="0">
                <a:latin typeface="+mj-ea"/>
                <a:ea typeface="+mj-ea"/>
              </a:rPr>
              <a:t>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0299473-7BDA-1153-07AF-73989810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17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14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CB9CBD-CF82-DC51-07A4-4A338003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18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90D-7C65-6C21-31D3-EC7CB375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0CEC-BF00-1556-F0BA-6AF560EF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1CE45-07B6-3F10-9D80-86C15F83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99FAD7-67C0-95AC-D700-A35DDC7C501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522484"/>
            <a:ext cx="5056802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B9A48-9B38-5029-B7E7-030E2344A517}"/>
              </a:ext>
            </a:extLst>
          </p:cNvPr>
          <p:cNvSpPr txBox="1"/>
          <p:nvPr/>
        </p:nvSpPr>
        <p:spPr>
          <a:xfrm>
            <a:off x="504825" y="2244389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 Gothic"/>
              </a:rPr>
              <a:t>선형변환하면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D3EB99-B1E1-2A0D-C54E-009CFE59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2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EE4C-CF8D-13F6-E5D0-F069365A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B388CFB-5E5A-0B56-2B29-B3655AA0D879}"/>
              </a:ext>
            </a:extLst>
          </p:cNvPr>
          <p:cNvSpPr/>
          <p:nvPr/>
        </p:nvSpPr>
        <p:spPr>
          <a:xfrm>
            <a:off x="579371" y="25241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2FE80-9EDC-A097-418B-57D8C5D574E0}"/>
              </a:ext>
            </a:extLst>
          </p:cNvPr>
          <p:cNvSpPr txBox="1"/>
          <p:nvPr/>
        </p:nvSpPr>
        <p:spPr>
          <a:xfrm>
            <a:off x="1629916" y="147612"/>
            <a:ext cx="8928992" cy="402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value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vector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11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1A663-E6E2-41F2-752E-AF07B967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2487-4066-E9B9-A601-533736ED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A0241D-1994-FC82-D69B-0A68B2AA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AD98C4D-BA3A-37E3-866A-C8686B216CDE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 value &amp; Eigen vector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BE4A90-2671-6596-92C0-364DB0A35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01" y="1866900"/>
            <a:ext cx="4537448" cy="466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1DEFFE-BE6E-C89F-DFD1-149A4366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938" y="1866901"/>
            <a:ext cx="4551073" cy="466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5F13AEE-DD0E-3B1A-AAB5-ABA37888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" y="870129"/>
            <a:ext cx="10715625" cy="86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공간을 무작위로 찌그러뜨리는 것 같지만,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행렬의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고유벡터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특별한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 vectors)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기준으로 보면 단순히 길이를 늘리거나(4배) 뒤집는(-1배) 연산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하고 있다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9B97B-BCF9-D313-1736-B599A138C588}"/>
              </a:ext>
            </a:extLst>
          </p:cNvPr>
          <p:cNvSpPr txBox="1"/>
          <p:nvPr/>
        </p:nvSpPr>
        <p:spPr>
          <a:xfrm>
            <a:off x="8753791" y="3086093"/>
            <a:ext cx="1136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</a:t>
            </a:r>
          </a:p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[ 4. -1.] 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EE789-2360-2E57-1572-04EFF9D6424E}"/>
              </a:ext>
            </a:extLst>
          </p:cNvPr>
          <p:cNvSpPr txBox="1"/>
          <p:nvPr/>
        </p:nvSpPr>
        <p:spPr>
          <a:xfrm>
            <a:off x="6819900" y="3265571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Eigenvectors </a:t>
            </a:r>
          </a:p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[[ 0.83 -0.71] </a:t>
            </a:r>
          </a:p>
          <a:p>
            <a:r>
              <a:rPr lang="en-US" altLang="ko-KR" sz="1200" b="1" dirty="0">
                <a:solidFill>
                  <a:srgbClr val="00B05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[ 0.55 0.71]]</a:t>
            </a:r>
            <a:endParaRPr lang="ko-KR" altLang="en-US" sz="1200" b="1" dirty="0">
              <a:solidFill>
                <a:srgbClr val="00B05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311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1614619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378837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3F55857-3EC6-8FE3-FB8E-AA2D6945375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Eigenvalues_and_eigenvectors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00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D3A-EE14-2467-AD61-91324A7F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BCDE5-4265-7787-19C6-E72CD7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EC6C347-2434-8363-FDBC-4993208CB10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Undestanding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03D835E-99D8-D1C5-C9A7-2D439DD8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PCA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주성분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분석을 시각화로 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93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C56C-8C8A-D635-BDAE2165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8DC34F-90C7-F8C5-68DD-229C5975A1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표준 기저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행렬에 의해 정확히 행렬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lang="ko-KR" altLang="en-US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(2,3), (1,4)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선형변화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되고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 정사각형이 평행사변형으로 변환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  <a:blipFill>
                <a:blip r:embed="rId2"/>
                <a:stretch>
                  <a:fillRect l="-49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2D810127-F36F-F750-36B2-F991D65C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7B2FFB-229C-9856-0910-69A35DE4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76" y="2069849"/>
            <a:ext cx="9033577" cy="4412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6F89DE-B4DF-E058-CF78-380106D89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67225" y="3101805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6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E58B-E027-B2B0-B8EB-75A34B7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F2E9924A-0166-2BF4-B339-E2DEBED5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8" y="2129648"/>
            <a:ext cx="8769352" cy="43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728BFC4-53E5-BC11-044B-4B5C9539EE4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C6696286-0EB0-4D93-69FB-A9C56117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A56CA-75FB-0E83-0E74-06E43B60B916}"/>
              </a:ext>
            </a:extLst>
          </p:cNvPr>
          <p:cNvSpPr txBox="1"/>
          <p:nvPr/>
        </p:nvSpPr>
        <p:spPr>
          <a:xfrm>
            <a:off x="1641903" y="3360567"/>
            <a:ext cx="359684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mean = [2, 1]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 = [[0.5, 0], [0, 0.2]] </a:t>
            </a:r>
            <a:endParaRPr lang="ko-KR" altLang="en-US" sz="1200" b="0" dirty="0">
              <a:effectLst/>
              <a:latin typeface="Aptos Narrow" panose="020B0004020202020204" pitchFamily="34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data =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np.random.multivariate_normal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(mean,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, 300)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6CE5FD-59F3-5258-A057-D369D8685A4C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8319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행렬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((2,1), (3,4))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새로운 기저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(2,3)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선형 합으로 데이터를 선형변환 한 것이다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E1B69E-A794-FFDD-E298-D83ED5A2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62" y="2084612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5DC-DE68-65F6-09EA-36647289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74D5D1B-942F-2499-638A-702F6C0E78B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(3/3)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6A79D7C4-9DAF-56C8-6022-B24CFD9C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F1A5AA8-2CC4-07C0-5F12-95F244FE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7" y="2571239"/>
            <a:ext cx="5192932" cy="331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6B27DAA-3882-D126-BE42-5B74772B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17" y="2123291"/>
            <a:ext cx="5192932" cy="37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733FB-6BFB-1EB3-E879-87A8BBB4946D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1196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행렬로 선형변환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고유벡터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(Eigen vector)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주성분임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458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DCC-2219-0BAB-D637-2653B934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9486-55C8-1E83-C07C-51A8D03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8DB989-8DE9-D0DE-7F4B-F927980EA3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Eigen Faces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압축된 얼굴 이미지는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(</m:t>
                        </m:r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𝒙</m:t>
                        </m:r>
                      </m:e>
                      <m:sub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2100" b="1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가중치 벡터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(Weight Vector)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원본 얼굴을 똑같이 재현하기 위해 어떤 주성분 얼굴들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(Eigen Faces)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각각 얼마나 필요한 지를 나타내는 계수들의 집합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Combination of Eigen Faces)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  <a:blipFill>
                <a:blip r:embed="rId2"/>
                <a:stretch>
                  <a:fillRect l="-456" r="-114" b="-7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DF88BB-1F83-EAAD-283E-E273CA43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96" y="2692308"/>
            <a:ext cx="901235" cy="152464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850887-FA84-6932-78C8-28A48DF0DD23}"/>
              </a:ext>
            </a:extLst>
          </p:cNvPr>
          <p:cNvGrpSpPr/>
          <p:nvPr/>
        </p:nvGrpSpPr>
        <p:grpSpPr>
          <a:xfrm>
            <a:off x="2082717" y="2527857"/>
            <a:ext cx="7366382" cy="3873529"/>
            <a:chOff x="1606168" y="2181196"/>
            <a:chExt cx="7928357" cy="4038740"/>
          </a:xfrm>
        </p:grpSpPr>
        <p:pic>
          <p:nvPicPr>
            <p:cNvPr id="12290" name="Picture 2" descr="Linear Combination of EigenFaces">
              <a:extLst>
                <a:ext uri="{FF2B5EF4-FFF2-40B4-BE49-F238E27FC236}">
                  <a16:creationId xmlns:a16="http://schemas.microsoft.com/office/drawing/2014/main" id="{609C152E-5A52-54CC-DF19-EFAF2DC26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168" y="2524126"/>
              <a:ext cx="7928357" cy="3695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0D49F6-0D9F-05FF-14AF-A84B40F5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6168" y="2181196"/>
              <a:ext cx="7928357" cy="3429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/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356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E12-CADE-3CD4-F5EB-2CA8EA3C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9F478-37B9-890A-4D8D-08A58DE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BF502A4-1BEC-FF56-E8CB-9AC07C59264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37CB81-E197-E6C6-6522-135D1F52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475480-0AFE-9953-6938-DD8B251F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55" y="1925794"/>
            <a:ext cx="8307923" cy="43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24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895-B2D4-20A7-8501-9B8F151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0E741-02BB-2D6E-FC7F-6ED5637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572FB77-606D-3A2F-1455-79DD3599AE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D2379D-B916-4C85-D178-E45DB6CB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총변동량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4CED65-DA9B-3A17-1FD6-A7F2D2F1784C}"/>
              </a:ext>
            </a:extLst>
          </p:cNvPr>
          <p:cNvGrpSpPr/>
          <p:nvPr/>
        </p:nvGrpSpPr>
        <p:grpSpPr>
          <a:xfrm>
            <a:off x="1519921" y="1876425"/>
            <a:ext cx="7024004" cy="4703452"/>
            <a:chOff x="1519921" y="1815282"/>
            <a:chExt cx="6947803" cy="4764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7673C0-666D-0DFD-DB28-36C8AB2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9921" y="1815282"/>
              <a:ext cx="6947803" cy="4763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258CFA-D46D-DD63-F476-939B24CF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510" y="6412222"/>
              <a:ext cx="342930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322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54C-9E3B-A472-9C1F-80823F5C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189F65D-167B-B5EE-E8D7-C2A4BEF2742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6D2BF00-A385-9818-F1A0-AF5C00351ECA}"/>
              </a:ext>
            </a:extLst>
          </p:cNvPr>
          <p:cNvSpPr txBox="1">
            <a:spLocks/>
          </p:cNvSpPr>
          <p:nvPr/>
        </p:nvSpPr>
        <p:spPr>
          <a:xfrm>
            <a:off x="913794" y="1070316"/>
            <a:ext cx="10706705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코드를 다운받아 주성분분석을 실습한다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B13165B-37AB-7A55-4979-8CF6B4BF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24580" name="Picture 4" descr="Book Cover">
            <a:extLst>
              <a:ext uri="{FF2B5EF4-FFF2-40B4-BE49-F238E27FC236}">
                <a16:creationId xmlns:a16="http://schemas.microsoft.com/office/drawing/2014/main" id="{30F49467-6593-5363-0398-441CC38F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362200"/>
            <a:ext cx="2965057" cy="39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E23B2-6EEA-CE8D-394E-D03D3C7E3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23" y="2281674"/>
            <a:ext cx="3097535" cy="37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72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9FCDD-CBFA-66D7-AD9E-AA6AD540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9D24-D41B-D7B3-BCD9-F79ED5970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800" cap="none" dirty="0">
                <a:solidFill>
                  <a:schemeClr val="bg1"/>
                </a:solidFill>
              </a:rPr>
              <a:t>Manifold Learning</a:t>
            </a:r>
            <a:br>
              <a:rPr lang="en-US" altLang="ko-KR" b="1" cap="none" dirty="0"/>
            </a:br>
            <a:endParaRPr lang="ko-KR" altLang="en-US" sz="4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427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0271-03C9-79C4-A8D0-743D4B37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5690C-43CB-3724-856F-06FE1660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331FB-B472-4AEB-20C2-F26C8CDD0265}"/>
              </a:ext>
            </a:extLst>
          </p:cNvPr>
          <p:cNvSpPr txBox="1"/>
          <p:nvPr/>
        </p:nvSpPr>
        <p:spPr>
          <a:xfrm>
            <a:off x="676275" y="285750"/>
            <a:ext cx="3695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manifold-learning</a:t>
            </a:r>
            <a:endParaRPr lang="ko-KR" altLang="en-US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C820A7-E4A5-0C3C-9D54-74EDF093D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" y="1119188"/>
            <a:ext cx="3652837" cy="269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458ACA6-AAE7-BFA8-4963-B2D28B84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3894175"/>
            <a:ext cx="3652837" cy="27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5172D9A-6121-3150-113F-9DC135D45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977528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48F0B0A6-5055-CDF7-767B-3FFD2620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3894175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639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940E-B85D-7B3C-FEDB-FF455975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00A08D-D2DD-BAD3-B37D-8F4C5E30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0FC88-D33D-DE73-67F6-F47F1029A4DD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28666C-BA30-3586-383F-211CFD90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71638"/>
            <a:ext cx="4286250" cy="41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8A96B4B-2995-323E-8E35-78602B2F1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2" y="2082316"/>
            <a:ext cx="4538062" cy="332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29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F983-F86D-6D96-7178-B287B5A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937B1-8899-C4BB-E3DB-4847EF7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52250-F92A-1FC4-0C6C-35F2C9B7EEE7}"/>
              </a:ext>
            </a:extLst>
          </p:cNvPr>
          <p:cNvSpPr txBox="1"/>
          <p:nvPr/>
        </p:nvSpPr>
        <p:spPr>
          <a:xfrm>
            <a:off x="609600" y="523875"/>
            <a:ext cx="6684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Nonlinear dimensionality reduction</a:t>
            </a:r>
            <a:r>
              <a:rPr lang="en-US" altLang="ko-KR" sz="2800" dirty="0"/>
              <a:t>: </a:t>
            </a:r>
            <a:r>
              <a:rPr lang="en-US" altLang="ko-KR" sz="2800" dirty="0" err="1"/>
              <a:t>wikipedia</a:t>
            </a:r>
            <a:endParaRPr lang="ko-KR" altLang="en-US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BCA5DA-5050-4E15-4636-E5114526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229311"/>
            <a:ext cx="6618503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890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183E-D86D-7EC7-A480-27281857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0ACE3-DEAD-E822-D073-769C98BE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1F4453-9290-47E2-4FB4-00DD0A6C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038811"/>
            <a:ext cx="5494157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23143-447F-B9DB-9103-FA4BBF090144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46317414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2214</TotalTime>
  <Words>1164</Words>
  <Application>Microsoft Office PowerPoint</Application>
  <PresentationFormat>와이드스크린</PresentationFormat>
  <Paragraphs>182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1" baseType="lpstr">
      <vt:lpstr>Nanum Gothic</vt:lpstr>
      <vt:lpstr>나눔고딕</vt:lpstr>
      <vt:lpstr>맑은 고딕</vt:lpstr>
      <vt:lpstr>맑은 고딕 Semilight</vt:lpstr>
      <vt:lpstr>Batang</vt:lpstr>
      <vt:lpstr>한컴 말랑말랑 Bold</vt:lpstr>
      <vt:lpstr>ADLaM Display</vt:lpstr>
      <vt:lpstr>Aptos Narrow</vt:lpstr>
      <vt:lpstr>Arial</vt:lpstr>
      <vt:lpstr>Calibri Light</vt:lpstr>
      <vt:lpstr>Cambria Math</vt:lpstr>
      <vt:lpstr>Times New Roman</vt:lpstr>
      <vt:lpstr>Tw Cen MT</vt:lpstr>
      <vt:lpstr>Wingdings</vt:lpstr>
      <vt:lpstr>물방울</vt:lpstr>
      <vt:lpstr>Principal Component Analysis</vt:lpstr>
      <vt:lpstr>선형대수(linear algebra)</vt:lpstr>
      <vt:lpstr>PowerPoint 프레젠테이션</vt:lpstr>
      <vt:lpstr>1차원 직선에서의 선형변환에 대해 생각하기</vt:lpstr>
      <vt:lpstr>1차원 직선에서의 선형변환에 대해 생각하기</vt:lpstr>
      <vt:lpstr>2차원 평면에서의 선형변환에 대해 생각하기</vt:lpstr>
      <vt:lpstr>2차원 평면에서의 선형변환에 대해 생각하기</vt:lpstr>
      <vt:lpstr>2차원 평면에서의 선형변환에 대해 생각하기</vt:lpstr>
      <vt:lpstr>Hands-on</vt:lpstr>
      <vt:lpstr>PowerPoint 프레젠테이션</vt:lpstr>
      <vt:lpstr>PowerPoint 프레젠테이션</vt:lpstr>
      <vt:lpstr>선형변환</vt:lpstr>
      <vt:lpstr>기하학적 이해</vt:lpstr>
      <vt:lpstr>선형대수(Linear Algebra)</vt:lpstr>
      <vt:lpstr>PowerPoint 프레젠테이션</vt:lpstr>
      <vt:lpstr>PowerPoint 프레젠테이션</vt:lpstr>
      <vt:lpstr>투영</vt:lpstr>
      <vt:lpstr>행렬과 내적은 선형변환</vt:lpstr>
      <vt:lpstr>선형변환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Manifold Learning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44</cp:revision>
  <dcterms:created xsi:type="dcterms:W3CDTF">2026-03-09T22:59:08Z</dcterms:created>
  <dcterms:modified xsi:type="dcterms:W3CDTF">2026-04-15T12:32:22Z</dcterms:modified>
</cp:coreProperties>
</file>