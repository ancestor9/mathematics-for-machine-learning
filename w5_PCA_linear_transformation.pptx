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2"/>
  </p:notesMasterIdLst>
  <p:sldIdLst>
    <p:sldId id="928" r:id="rId2"/>
    <p:sldId id="291" r:id="rId3"/>
    <p:sldId id="925" r:id="rId4"/>
    <p:sldId id="265" r:id="rId5"/>
    <p:sldId id="271" r:id="rId6"/>
    <p:sldId id="819" r:id="rId7"/>
    <p:sldId id="820" r:id="rId8"/>
    <p:sldId id="275" r:id="rId9"/>
    <p:sldId id="276" r:id="rId10"/>
    <p:sldId id="272" r:id="rId11"/>
    <p:sldId id="279" r:id="rId12"/>
    <p:sldId id="259" r:id="rId13"/>
    <p:sldId id="260" r:id="rId14"/>
    <p:sldId id="818" r:id="rId15"/>
    <p:sldId id="927" r:id="rId16"/>
    <p:sldId id="891" r:id="rId17"/>
    <p:sldId id="940" r:id="rId18"/>
    <p:sldId id="295" r:id="rId19"/>
    <p:sldId id="936" r:id="rId20"/>
    <p:sldId id="937" r:id="rId21"/>
    <p:sldId id="935" r:id="rId22"/>
    <p:sldId id="296" r:id="rId23"/>
    <p:sldId id="938" r:id="rId24"/>
    <p:sldId id="939" r:id="rId25"/>
    <p:sldId id="899" r:id="rId26"/>
    <p:sldId id="893" r:id="rId27"/>
    <p:sldId id="898" r:id="rId28"/>
    <p:sldId id="897" r:id="rId29"/>
    <p:sldId id="929" r:id="rId30"/>
    <p:sldId id="267" r:id="rId31"/>
    <p:sldId id="892" r:id="rId32"/>
    <p:sldId id="900" r:id="rId33"/>
    <p:sldId id="941" r:id="rId34"/>
    <p:sldId id="905" r:id="rId35"/>
    <p:sldId id="906" r:id="rId36"/>
    <p:sldId id="930" r:id="rId37"/>
    <p:sldId id="931" r:id="rId38"/>
    <p:sldId id="933" r:id="rId39"/>
    <p:sldId id="934" r:id="rId40"/>
    <p:sldId id="932" r:id="rId4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1651" autoAdjust="0"/>
    <p:restoredTop sz="94660"/>
  </p:normalViewPr>
  <p:slideViewPr>
    <p:cSldViewPr snapToGrid="0">
      <p:cViewPr>
        <p:scale>
          <a:sx n="75" d="100"/>
          <a:sy n="75" d="100"/>
        </p:scale>
        <p:origin x="1128" y="173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C6D2F86-9062-4B78-99E4-F1BEEF85F138}" type="datetimeFigureOut">
              <a:rPr lang="ko-KR" altLang="en-US" smtClean="0"/>
              <a:t>2026-04-19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5F8537-0286-40EF-BEDA-D09730C549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1858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5F8537-0286-40EF-BEDA-D09730C5490F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743773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6E429-4172-0104-4675-020C6DB26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D3B268A-27EA-A185-235C-9DD3CFED80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6346312-6FC9-F192-3682-1DC69CA944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FCCD70-DED8-361A-60D8-0D306AF366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144417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5D971-B96D-3C87-EA72-2097AD36A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80E5A10-BBA5-DE01-E931-A33CFCAD2D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B2DC122-3424-6FCF-5F6A-75AE8E7F0A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113647-1CAA-0F8A-00F3-36C15B55CD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498931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3B44B-8C3C-15DA-CFDA-A2A268139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6A1293-FECC-E061-1869-4D8425FA26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747287-C00D-C5D5-93DA-7915145530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405F7D-4517-7AA7-228B-557CB7D5DB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9385718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6A1DFF-B1CB-D074-2A32-2BEB0E507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42E236-F301-84AA-346A-C49A97B645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C1BCC40-A8D7-89AD-154A-41A945C235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CE1682-0203-80CE-6796-B834EA3B1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10362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E415E-8B44-1DBF-87D1-383CE6FF6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51726C8-A4CA-4791-A278-2B3BDC1EF9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3E6F32-BACA-53F1-947F-3723994FD9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5F70F2-B462-852F-2EAA-C77B092D5E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30468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9B9C9-2D48-710A-0B89-6C46FD8E0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8CAFBAF-F04D-9DAA-227B-7416948893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11A48BC-D34C-4667-1DB8-3BD04FCC57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BAA299D-E54C-B666-3D7C-F0381936F0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239181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272862-1A4B-6638-993F-A73E43F1F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5BAB6C-AACF-CC7E-6FD7-3AFC1F995C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7C40492-4359-487E-09E0-50D494910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7D5469-4301-F37A-C47B-C09F7641B5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0708926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56F7B-7A4A-0072-5761-E92D606F4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090F32C-2FFF-B004-DC3D-C979C7C98B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AE27A06-3D8C-1750-31BC-1A94EE698A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572A2A-D0DA-9690-4311-3DCBB00E99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2469922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E9333-3F5E-BD10-3255-38A0403B0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5F17854-DA01-91EC-BEB1-DFFAEEBF21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3AA8CD-D0E3-77C6-AA39-3D5BFA7D0C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A27029-6F14-2C6D-3E56-C26440537C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046450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파노라마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 및 캡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캡션 있는 인용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명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그림 열 3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4/19/2026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76707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41831952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2026-04-19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6324817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4/19/2026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  <p:sldLayoutId id="2147483669" r:id="rId18"/>
    <p:sldLayoutId id="2147483670" r:id="rId19"/>
    <p:sldLayoutId id="2147483671" r:id="rId20"/>
  </p:sldLayoutIdLst>
  <p:txStyles>
    <p:titleStyle>
      <a:lvl1pPr algn="ctr" defTabSz="914400" rtl="0" eaLnBrk="1" latinLnBrk="1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www.youtube.com/watch?v=fNk_zzaMoSs&amp;list=PLZHQObOWTQDPD3MizzM2xVFitgF8hE_ab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microsoft.com/office/2007/relationships/hdphoto" Target="../media/hdphoto1.wdp"/><Relationship Id="rId7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png"/><Relationship Id="rId7" Type="http://schemas.openxmlformats.org/officeDocument/2006/relationships/image" Target="../media/image26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0.png"/><Relationship Id="rId5" Type="http://schemas.openxmlformats.org/officeDocument/2006/relationships/image" Target="../media/image25.png"/><Relationship Id="rId10" Type="http://schemas.openxmlformats.org/officeDocument/2006/relationships/image" Target="../media/image29.png"/><Relationship Id="rId4" Type="http://schemas.openxmlformats.org/officeDocument/2006/relationships/image" Target="../media/image24.png"/><Relationship Id="rId9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0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0.png"/><Relationship Id="rId4" Type="http://schemas.openxmlformats.org/officeDocument/2006/relationships/image" Target="../media/image28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svg"/><Relationship Id="rId3" Type="http://schemas.openxmlformats.org/officeDocument/2006/relationships/image" Target="../media/image270.png"/><Relationship Id="rId7" Type="http://schemas.openxmlformats.org/officeDocument/2006/relationships/image" Target="../media/image37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svg"/><Relationship Id="rId5" Type="http://schemas.openxmlformats.org/officeDocument/2006/relationships/image" Target="../media/image35.png"/><Relationship Id="rId10" Type="http://schemas.openxmlformats.org/officeDocument/2006/relationships/image" Target="../media/image39.png"/><Relationship Id="rId4" Type="http://schemas.openxmlformats.org/officeDocument/2006/relationships/image" Target="../media/image310.png"/><Relationship Id="rId9" Type="http://schemas.openxmlformats.org/officeDocument/2006/relationships/image" Target="../media/image36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cipesds.tistory.com/entry/%EC%B4%88%EA%B0%84%EB%8B%A8-%EC%84%A0%ED%98%95%EB%8C%80%EC%88%98-%ED%96%89%EB%A0%AC%EC%9D%98-%EA%B8%B0%ED%95%98%ED%95%99%EC%A0%81%EC%9D%B8-%EC%9D%98%EB%AF%B8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eg"/><Relationship Id="rId2" Type="http://schemas.openxmlformats.org/officeDocument/2006/relationships/image" Target="../media/image43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0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0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0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0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0.xml"/><Relationship Id="rId4" Type="http://schemas.openxmlformats.org/officeDocument/2006/relationships/image" Target="../media/image53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numiqo.com/lab/pca" TargetMode="External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5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gif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n.wikipedia.org/wiki/Eigenvalues_and_eigenvectors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18.xml"/><Relationship Id="rId6" Type="http://schemas.openxmlformats.org/officeDocument/2006/relationships/image" Target="../media/image112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" TargetMode="External"/><Relationship Id="rId2" Type="http://schemas.openxmlformats.org/officeDocument/2006/relationships/hyperlink" Target="https://jakevdp.github.io/PythonDataScienceHandbook/05.09-principal-component-analysis.html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9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9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hyperlink" Target="https://jakevdp.github.io/PythonDataScienceHandbook/05.10-manifold-learning.html" TargetMode="Externa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hyperlink" Target="https://jakevdp.github.io/PythonDataScienceHandbook/05.10-manifold-learning.html" TargetMode="Externa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76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hyperlink" Target="https://en.wikipedia.org/wiki/Nonlinear_dimensionality_reduction" TargetMode="External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jakevdp.github.io/PythonDataScienceHandbook/05.10-manifold-learning.html" TargetMode="External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cap="none" dirty="0">
                <a:solidFill>
                  <a:schemeClr val="bg1"/>
                </a:solidFill>
              </a:rPr>
              <a:t>Principal Component Analysis</a:t>
            </a:r>
            <a:endParaRPr lang="ko-KR" altLang="en-US" sz="4800" cap="none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pPr marL="0" indent="0">
              <a:buNone/>
            </a:pPr>
            <a:r>
              <a:rPr lang="en-US" altLang="ko-KR" sz="2400" cap="none" dirty="0">
                <a:solidFill>
                  <a:schemeClr val="bg1"/>
                </a:solidFill>
              </a:rPr>
              <a:t>Eigen value, Eigen Vector</a:t>
            </a:r>
            <a:endParaRPr lang="ko-KR" altLang="en-US" sz="2400" cap="none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38DA01-A99B-61BF-C97A-C1A5B76EE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598281-CD11-B99F-2C6A-35C343FE56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6568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선형대수</a:t>
            </a:r>
            <a:r>
              <a:rPr lang="en-US" altLang="ko-KR" dirty="0"/>
              <a:t>(linear</a:t>
            </a:r>
            <a:r>
              <a:rPr lang="ko-KR" altLang="en-US" dirty="0"/>
              <a:t> </a:t>
            </a:r>
            <a:r>
              <a:rPr lang="en-US" altLang="ko-KR" dirty="0"/>
              <a:t>algebra)</a:t>
            </a:r>
            <a:endParaRPr lang="ko-KR" altLang="en-US" dirty="0"/>
          </a:p>
        </p:txBody>
      </p:sp>
      <p:sp>
        <p:nvSpPr>
          <p:cNvPr id="12" name="내용 개체 틀 11">
            <a:extLst>
              <a:ext uri="{FF2B5EF4-FFF2-40B4-BE49-F238E27FC236}">
                <a16:creationId xmlns:a16="http://schemas.microsoft.com/office/drawing/2014/main" id="{8A373E53-19CA-74B5-49AE-464E7176A62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243143"/>
            <a:ext cx="10363826" cy="1061908"/>
          </a:xfrm>
        </p:spPr>
        <p:txBody>
          <a:bodyPr/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“벡터와 행렬을 이용해 ‘선형 관계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(linear relationship)’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‘공간의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변환’을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다루는 학문”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동영상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4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장까지 사전학습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990304-2C81-BE6E-89E5-F6D9190D9914}"/>
              </a:ext>
            </a:extLst>
          </p:cNvPr>
          <p:cNvSpPr txBox="1"/>
          <p:nvPr/>
        </p:nvSpPr>
        <p:spPr>
          <a:xfrm>
            <a:off x="1409700" y="2515058"/>
            <a:ext cx="381309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Essence of linear algebra</a:t>
            </a:r>
            <a:endParaRPr lang="ko-KR" altLang="en-US" sz="28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2A8879A5-87AD-8D96-775A-B094426E67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5325" y="3116426"/>
            <a:ext cx="3038775" cy="2951377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E841D3EF-810D-D94A-03B8-586E28C1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09700" y="3116426"/>
            <a:ext cx="4487741" cy="294615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FC538A5-1423-86C7-259F-7E5AF2848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420001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934FC-E499-F18D-86F6-87717BA539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4F12D521-939C-02F3-30BA-6F660253FE91}"/>
              </a:ext>
            </a:extLst>
          </p:cNvPr>
          <p:cNvSpPr/>
          <p:nvPr/>
        </p:nvSpPr>
        <p:spPr>
          <a:xfrm>
            <a:off x="579371" y="1924050"/>
            <a:ext cx="8136904" cy="5824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60960E-8C55-FC63-C8CD-F10F1DFFA9A0}"/>
              </a:ext>
            </a:extLst>
          </p:cNvPr>
          <p:cNvSpPr txBox="1"/>
          <p:nvPr/>
        </p:nvSpPr>
        <p:spPr>
          <a:xfrm>
            <a:off x="1629916" y="147612"/>
            <a:ext cx="8928992" cy="2933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ko-KR" altLang="en-US" sz="4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주성분분석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(PCA)</a:t>
            </a:r>
          </a:p>
        </p:txBody>
      </p:sp>
    </p:spTree>
    <p:extLst>
      <p:ext uri="{BB962C8B-B14F-4D97-AF65-F5344CB8AC3E}">
        <p14:creationId xmlns:p14="http://schemas.microsoft.com/office/powerpoint/2010/main" val="33400200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D293B-460C-9230-F381-B0364AA31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30AE2C-28FF-1039-9A16-E84B181FB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직선에서의 선형변환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7D4C64AF-EF0E-EBD8-8093-7DE3D6BBB899}"/>
              </a:ext>
            </a:extLst>
          </p:cNvPr>
          <p:cNvCxnSpPr>
            <a:cxnSpLocks/>
          </p:cNvCxnSpPr>
          <p:nvPr/>
        </p:nvCxnSpPr>
        <p:spPr>
          <a:xfrm>
            <a:off x="361325" y="3629309"/>
            <a:ext cx="5086975" cy="0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98D289A-2471-E2AE-B6E6-B49E2097CF5D}"/>
              </a:ext>
            </a:extLst>
          </p:cNvPr>
          <p:cNvSpPr txBox="1"/>
          <p:nvPr/>
        </p:nvSpPr>
        <p:spPr>
          <a:xfrm>
            <a:off x="228600" y="370550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1A44CD66-B49C-B14B-F5CB-619727F2029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867086" y="2591736"/>
            <a:ext cx="5668613" cy="3256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886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4A1CC-8648-9F67-9936-401B49A35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그룹 4">
            <a:extLst>
              <a:ext uri="{FF2B5EF4-FFF2-40B4-BE49-F238E27FC236}">
                <a16:creationId xmlns:a16="http://schemas.microsoft.com/office/drawing/2014/main" id="{B52E407F-6FCE-2AF3-B4C9-590554943A06}"/>
              </a:ext>
            </a:extLst>
          </p:cNvPr>
          <p:cNvGrpSpPr/>
          <p:nvPr/>
        </p:nvGrpSpPr>
        <p:grpSpPr>
          <a:xfrm>
            <a:off x="396555" y="2421700"/>
            <a:ext cx="5219700" cy="4365180"/>
            <a:chOff x="2286315" y="2025460"/>
            <a:chExt cx="5219700" cy="4705350"/>
          </a:xfrm>
        </p:grpSpPr>
        <p:cxnSp>
          <p:nvCxnSpPr>
            <p:cNvPr id="6" name="직선 연결선 5">
              <a:extLst>
                <a:ext uri="{FF2B5EF4-FFF2-40B4-BE49-F238E27FC236}">
                  <a16:creationId xmlns:a16="http://schemas.microsoft.com/office/drawing/2014/main" id="{8F7EF1AA-F153-6183-97D0-69F9B4F583E3}"/>
                </a:ext>
              </a:extLst>
            </p:cNvPr>
            <p:cNvCxnSpPr>
              <a:cxnSpLocks/>
            </p:cNvCxnSpPr>
            <p:nvPr/>
          </p:nvCxnSpPr>
          <p:spPr>
            <a:xfrm>
              <a:off x="2419040" y="4197775"/>
              <a:ext cx="5086975" cy="0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BB202B12-A258-8108-186D-F5C99EE6F804}"/>
                </a:ext>
              </a:extLst>
            </p:cNvPr>
            <p:cNvSpPr txBox="1"/>
            <p:nvPr/>
          </p:nvSpPr>
          <p:spPr>
            <a:xfrm>
              <a:off x="2286315" y="4273975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0	1	2	3</a:t>
              </a:r>
              <a:endParaRPr lang="ko-KR" altLang="en-US" dirty="0"/>
            </a:p>
          </p:txBody>
        </p:sp>
        <p:cxnSp>
          <p:nvCxnSpPr>
            <p:cNvPr id="3" name="직선 연결선 2">
              <a:extLst>
                <a:ext uri="{FF2B5EF4-FFF2-40B4-BE49-F238E27FC236}">
                  <a16:creationId xmlns:a16="http://schemas.microsoft.com/office/drawing/2014/main" id="{ACFDE16B-292D-CEE7-D26B-874B0FDAC374}"/>
                </a:ext>
              </a:extLst>
            </p:cNvPr>
            <p:cNvCxnSpPr>
              <a:cxnSpLocks/>
            </p:cNvCxnSpPr>
            <p:nvPr/>
          </p:nvCxnSpPr>
          <p:spPr>
            <a:xfrm>
              <a:off x="4772028" y="2025460"/>
              <a:ext cx="0" cy="4480115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0889A9A-9BF1-DC08-AE34-A7451EE113CD}"/>
                </a:ext>
              </a:extLst>
            </p:cNvPr>
            <p:cNvSpPr txBox="1"/>
            <p:nvPr/>
          </p:nvSpPr>
          <p:spPr>
            <a:xfrm rot="16200000">
              <a:off x="2111177" y="4193469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	1	2	3</a:t>
              </a:r>
              <a:endParaRPr lang="ko-KR" altLang="en-US" dirty="0"/>
            </a:p>
          </p:txBody>
        </p:sp>
      </p:grpSp>
      <p:sp>
        <p:nvSpPr>
          <p:cNvPr id="8" name="직사각형 7">
            <a:extLst>
              <a:ext uri="{FF2B5EF4-FFF2-40B4-BE49-F238E27FC236}">
                <a16:creationId xmlns:a16="http://schemas.microsoft.com/office/drawing/2014/main" id="{1BC578CA-2FF6-CF4B-98EE-2B1A44B150DD}"/>
              </a:ext>
            </a:extLst>
          </p:cNvPr>
          <p:cNvSpPr/>
          <p:nvPr/>
        </p:nvSpPr>
        <p:spPr>
          <a:xfrm>
            <a:off x="3072767" y="3547834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" name="내용 개체 틀 3">
            <a:extLst>
              <a:ext uri="{FF2B5EF4-FFF2-40B4-BE49-F238E27FC236}">
                <a16:creationId xmlns:a16="http://schemas.microsoft.com/office/drawing/2014/main" id="{13052355-1119-0517-A20A-A305BD682AAB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6306667" y="3577340"/>
            <a:ext cx="1899505" cy="121480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90A477-981F-6DCC-8358-09701A1FA9ED}"/>
                  </a:ext>
                </a:extLst>
              </p:cNvPr>
              <p:cNvSpPr txBox="1"/>
              <p:nvPr/>
            </p:nvSpPr>
            <p:spPr>
              <a:xfrm>
                <a:off x="3379604" y="3971947"/>
                <a:ext cx="12173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890A477-981F-6DCC-8358-09701A1FA9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9604" y="3971947"/>
                <a:ext cx="1217320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7A27F945-2837-878D-1E14-9A8919FBB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5</a:t>
            </a:fld>
            <a:endParaRPr lang="en-US" sz="2000" dirty="0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DC355224-D523-F212-3E08-EDE3D98F52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6560" y="525254"/>
            <a:ext cx="10364451" cy="538914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21D85E7-B076-C1E1-52F7-3699DC5FCCC0}"/>
              </a:ext>
            </a:extLst>
          </p:cNvPr>
          <p:cNvSpPr txBox="1"/>
          <p:nvPr/>
        </p:nvSpPr>
        <p:spPr>
          <a:xfrm>
            <a:off x="1052520" y="1163676"/>
            <a:ext cx="9997440" cy="876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단위행렬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[[1, 0], [0,1]]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좌표계에서 오른쪽 발걸음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 하고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위쪽 발걸음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번 하면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벡터가 되며 이는 기준 좌표계 행렬과 벡터의 내적이다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새로운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행렬의 의미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</a:t>
            </a:r>
            <a:endParaRPr lang="ko-KR" altLang="en-US" dirty="0"/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D4D253FB-A109-8154-9367-7965C55FA966}"/>
              </a:ext>
            </a:extLst>
          </p:cNvPr>
          <p:cNvCxnSpPr/>
          <p:nvPr/>
        </p:nvCxnSpPr>
        <p:spPr>
          <a:xfrm>
            <a:off x="2858204" y="4431179"/>
            <a:ext cx="436880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23F1D512-524F-53BA-C81F-484C531F9EB4}"/>
              </a:ext>
            </a:extLst>
          </p:cNvPr>
          <p:cNvCxnSpPr>
            <a:cxnSpLocks/>
          </p:cNvCxnSpPr>
          <p:nvPr/>
        </p:nvCxnSpPr>
        <p:spPr>
          <a:xfrm flipV="1">
            <a:off x="2876615" y="3577340"/>
            <a:ext cx="0" cy="86196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39" name="그림 38">
            <a:extLst>
              <a:ext uri="{FF2B5EF4-FFF2-40B4-BE49-F238E27FC236}">
                <a16:creationId xmlns:a16="http://schemas.microsoft.com/office/drawing/2014/main" id="{83804D2D-2556-5F95-482D-3125DE8BC3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06640" y="2402047"/>
            <a:ext cx="4529918" cy="968011"/>
          </a:xfrm>
          <a:prstGeom prst="rect">
            <a:avLst/>
          </a:prstGeom>
        </p:spPr>
      </p:pic>
      <p:grpSp>
        <p:nvGrpSpPr>
          <p:cNvPr id="48" name="그룹 47">
            <a:extLst>
              <a:ext uri="{FF2B5EF4-FFF2-40B4-BE49-F238E27FC236}">
                <a16:creationId xmlns:a16="http://schemas.microsoft.com/office/drawing/2014/main" id="{DE3FD8FD-621A-C802-41E5-27D2F4FFEDB9}"/>
              </a:ext>
            </a:extLst>
          </p:cNvPr>
          <p:cNvGrpSpPr/>
          <p:nvPr/>
        </p:nvGrpSpPr>
        <p:grpSpPr>
          <a:xfrm>
            <a:off x="6306668" y="5037931"/>
            <a:ext cx="4499392" cy="968011"/>
            <a:chOff x="6306668" y="4639356"/>
            <a:chExt cx="3612980" cy="777306"/>
          </a:xfrm>
        </p:grpSpPr>
        <p:pic>
          <p:nvPicPr>
            <p:cNvPr id="45" name="그림 44">
              <a:extLst>
                <a:ext uri="{FF2B5EF4-FFF2-40B4-BE49-F238E27FC236}">
                  <a16:creationId xmlns:a16="http://schemas.microsoft.com/office/drawing/2014/main" id="{93852A23-B6C9-2C3E-3653-A657EC6D00C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306668" y="4639356"/>
              <a:ext cx="1729887" cy="777306"/>
            </a:xfrm>
            <a:prstGeom prst="rect">
              <a:avLst/>
            </a:prstGeom>
          </p:spPr>
        </p:pic>
        <p:pic>
          <p:nvPicPr>
            <p:cNvPr id="47" name="그림 46">
              <a:extLst>
                <a:ext uri="{FF2B5EF4-FFF2-40B4-BE49-F238E27FC236}">
                  <a16:creationId xmlns:a16="http://schemas.microsoft.com/office/drawing/2014/main" id="{945DBC51-6739-E674-F63D-6D2D67199EE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036557" y="4640367"/>
              <a:ext cx="1883091" cy="77629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127009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76DF6-FB18-4294-55E9-C6DBA31A5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내용 개체 틀 3">
            <a:extLst>
              <a:ext uri="{FF2B5EF4-FFF2-40B4-BE49-F238E27FC236}">
                <a16:creationId xmlns:a16="http://schemas.microsoft.com/office/drawing/2014/main" id="{129CA579-ACE9-8864-C8FC-DB2CB0CF6750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2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191360" y="2355011"/>
            <a:ext cx="2036761" cy="130258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959A9540-1A43-29C2-FDDD-0FC6C798C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4" y="327634"/>
            <a:ext cx="10364451" cy="538914"/>
          </a:xfrm>
        </p:spPr>
        <p:txBody>
          <a:bodyPr>
            <a:normAutofit fontScale="90000"/>
          </a:bodyPr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</a:t>
            </a:r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B41751FB-CCED-D8B7-A89F-2C9659857CB8}"/>
              </a:ext>
            </a:extLst>
          </p:cNvPr>
          <p:cNvGrpSpPr/>
          <p:nvPr/>
        </p:nvGrpSpPr>
        <p:grpSpPr>
          <a:xfrm>
            <a:off x="228915" y="2547155"/>
            <a:ext cx="4705350" cy="4091582"/>
            <a:chOff x="2286315" y="2025460"/>
            <a:chExt cx="4705350" cy="4705350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AF931236-F7E9-00A7-B658-C585F7F5A16B}"/>
                </a:ext>
              </a:extLst>
            </p:cNvPr>
            <p:cNvCxnSpPr>
              <a:cxnSpLocks/>
            </p:cNvCxnSpPr>
            <p:nvPr/>
          </p:nvCxnSpPr>
          <p:spPr>
            <a:xfrm>
              <a:off x="2419040" y="4197775"/>
              <a:ext cx="4139240" cy="5756"/>
            </a:xfrm>
            <a:prstGeom prst="line">
              <a:avLst/>
            </a:prstGeom>
            <a:ln>
              <a:solidFill>
                <a:srgbClr val="00B050"/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237D04F-3639-48C8-2FB6-4B4C978881E0}"/>
                </a:ext>
              </a:extLst>
            </p:cNvPr>
            <p:cNvSpPr txBox="1"/>
            <p:nvPr/>
          </p:nvSpPr>
          <p:spPr>
            <a:xfrm>
              <a:off x="2286315" y="4273975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0	1	2	3</a:t>
              </a:r>
              <a:endParaRPr lang="ko-KR" altLang="en-US" dirty="0"/>
            </a:p>
          </p:txBody>
        </p: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3C1372A1-72AD-FF90-5EDE-A96753286084}"/>
                </a:ext>
              </a:extLst>
            </p:cNvPr>
            <p:cNvCxnSpPr>
              <a:cxnSpLocks/>
            </p:cNvCxnSpPr>
            <p:nvPr/>
          </p:nvCxnSpPr>
          <p:spPr>
            <a:xfrm>
              <a:off x="4772028" y="2486031"/>
              <a:ext cx="907" cy="3459021"/>
            </a:xfrm>
            <a:prstGeom prst="line">
              <a:avLst/>
            </a:prstGeom>
            <a:ln w="28575"/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40E2898-EE5A-3D43-1F94-A94D6D1B5225}"/>
                </a:ext>
              </a:extLst>
            </p:cNvPr>
            <p:cNvSpPr txBox="1"/>
            <p:nvPr/>
          </p:nvSpPr>
          <p:spPr>
            <a:xfrm rot="16200000">
              <a:off x="2111177" y="4193469"/>
              <a:ext cx="47053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ko-KR" dirty="0"/>
                <a:t>-3	-2	-1		1	2	3</a:t>
              </a:r>
              <a:endParaRPr lang="ko-KR" altLang="en-US" dirty="0"/>
            </a:p>
          </p:txBody>
        </p: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8D6A4DB8-F24A-7254-51A8-F5FB6291CB29}"/>
              </a:ext>
            </a:extLst>
          </p:cNvPr>
          <p:cNvSpPr/>
          <p:nvPr/>
        </p:nvSpPr>
        <p:spPr>
          <a:xfrm>
            <a:off x="2928055" y="3692635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2925995-92EB-FB7E-18EF-BC9246C5F6C5}"/>
                  </a:ext>
                </a:extLst>
              </p:cNvPr>
              <p:cNvSpPr txBox="1"/>
              <p:nvPr/>
            </p:nvSpPr>
            <p:spPr>
              <a:xfrm>
                <a:off x="2985590" y="3262047"/>
                <a:ext cx="12173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52925995-92EB-FB7E-18EF-BC9246C5F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85590" y="3262047"/>
                <a:ext cx="1217320" cy="369332"/>
              </a:xfrm>
              <a:prstGeom prst="rect">
                <a:avLst/>
              </a:prstGeom>
              <a:blipFill>
                <a:blip r:embed="rId4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C5D1148-3EC2-45F2-8167-304E4F958865}"/>
                  </a:ext>
                </a:extLst>
              </p:cNvPr>
              <p:cNvSpPr txBox="1"/>
              <p:nvPr/>
            </p:nvSpPr>
            <p:spPr>
              <a:xfrm>
                <a:off x="7188356" y="2631254"/>
                <a:ext cx="2822568" cy="113127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400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ko-KR" sz="400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ko-KR" sz="4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4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4000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altLang="ko-KR" sz="4000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4000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  <m:e>
                                <m:r>
                                  <a:rPr lang="en-US" altLang="ko-KR" sz="4000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4000" dirty="0"/>
              </a:p>
            </p:txBody>
          </p:sp>
        </mc:Choice>
        <mc:Fallback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C5D1148-3EC2-45F2-8167-304E4F9588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8356" y="2631254"/>
                <a:ext cx="2822568" cy="113127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EFD04D4-819A-C00F-10C8-261AD33427C2}"/>
                  </a:ext>
                </a:extLst>
              </p:cNvPr>
              <p:cNvSpPr txBox="1"/>
              <p:nvPr/>
            </p:nvSpPr>
            <p:spPr>
              <a:xfrm>
                <a:off x="4721799" y="4452771"/>
                <a:ext cx="44435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ko-KR" altLang="en-US" sz="2400" b="1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EFD04D4-819A-C00F-10C8-261AD33427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21799" y="4452771"/>
                <a:ext cx="444352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ACEB56C-02C3-FD2C-5368-4215BA208029}"/>
                  </a:ext>
                </a:extLst>
              </p:cNvPr>
              <p:cNvSpPr txBox="1"/>
              <p:nvPr/>
            </p:nvSpPr>
            <p:spPr>
              <a:xfrm>
                <a:off x="2264771" y="2546061"/>
                <a:ext cx="45076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ko-KR" alt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AACEB56C-02C3-FD2C-5368-4215BA2080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771" y="2546061"/>
                <a:ext cx="450764" cy="461665"/>
              </a:xfrm>
              <a:prstGeom prst="rect">
                <a:avLst/>
              </a:prstGeom>
              <a:blipFill>
                <a:blip r:embed="rId7"/>
                <a:stretch>
                  <a:fillRect b="-12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타원 35">
            <a:extLst>
              <a:ext uri="{FF2B5EF4-FFF2-40B4-BE49-F238E27FC236}">
                <a16:creationId xmlns:a16="http://schemas.microsoft.com/office/drawing/2014/main" id="{A198A072-9A80-F113-3D6E-1A73198F53F6}"/>
              </a:ext>
            </a:extLst>
          </p:cNvPr>
          <p:cNvSpPr/>
          <p:nvPr/>
        </p:nvSpPr>
        <p:spPr>
          <a:xfrm>
            <a:off x="8346847" y="2457727"/>
            <a:ext cx="687578" cy="1700805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7" name="타원 36">
            <a:extLst>
              <a:ext uri="{FF2B5EF4-FFF2-40B4-BE49-F238E27FC236}">
                <a16:creationId xmlns:a16="http://schemas.microsoft.com/office/drawing/2014/main" id="{AF8F0BE2-B48C-FF81-58BB-7A85CE8092B1}"/>
              </a:ext>
            </a:extLst>
          </p:cNvPr>
          <p:cNvSpPr/>
          <p:nvPr/>
        </p:nvSpPr>
        <p:spPr>
          <a:xfrm>
            <a:off x="9148418" y="2436948"/>
            <a:ext cx="687578" cy="1700805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0503F3-2539-0EF1-6127-3493EAEAC935}"/>
                  </a:ext>
                </a:extLst>
              </p:cNvPr>
              <p:cNvSpPr txBox="1"/>
              <p:nvPr/>
            </p:nvSpPr>
            <p:spPr>
              <a:xfrm>
                <a:off x="6792116" y="5002987"/>
                <a:ext cx="203106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 b="1" dirty="0">
                    <a:solidFill>
                      <a:srgbClr val="00B05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ko-KR" sz="2400" b="1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ko-KR" altLang="en-US" sz="2400" b="1" dirty="0">
                    <a:solidFill>
                      <a:srgbClr val="00B050"/>
                    </a:solidFill>
                  </a:rPr>
                  <a:t> </a:t>
                </a:r>
                <a:r>
                  <a:rPr lang="en-US" altLang="ko-KR" sz="2400" b="1" dirty="0">
                    <a:solidFill>
                      <a:srgbClr val="00B050"/>
                    </a:solidFill>
                  </a:rPr>
                  <a:t>lands</a:t>
                </a:r>
                <a:endParaRPr lang="ko-KR" altLang="en-US" sz="2400" b="1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9A0503F3-2539-0EF1-6127-3493EAEAC9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2116" y="5002987"/>
                <a:ext cx="2031069" cy="461665"/>
              </a:xfrm>
              <a:prstGeom prst="rect">
                <a:avLst/>
              </a:prstGeom>
              <a:blipFill>
                <a:blip r:embed="rId8"/>
                <a:stretch>
                  <a:fillRect l="-4505" t="-10667" r="-3904" b="-30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6F1C319-40F3-3B00-3F8D-7B759528AD3E}"/>
                  </a:ext>
                </a:extLst>
              </p:cNvPr>
              <p:cNvSpPr txBox="1"/>
              <p:nvPr/>
            </p:nvSpPr>
            <p:spPr>
              <a:xfrm>
                <a:off x="9174517" y="4994267"/>
                <a:ext cx="2037481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ko-KR" sz="2400" b="1" dirty="0">
                    <a:solidFill>
                      <a:srgbClr val="FF000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altLang="ko-KR" sz="2400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ko-KR" altLang="en-US" sz="2400" b="1" dirty="0">
                    <a:solidFill>
                      <a:srgbClr val="FF0000"/>
                    </a:solidFill>
                  </a:rPr>
                  <a:t> </a:t>
                </a:r>
                <a:r>
                  <a:rPr lang="en-US" altLang="ko-KR" sz="2400" b="1" dirty="0">
                    <a:solidFill>
                      <a:srgbClr val="FF0000"/>
                    </a:solidFill>
                  </a:rPr>
                  <a:t>lands</a:t>
                </a:r>
                <a:endParaRPr lang="ko-KR" altLang="en-US" sz="2400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6F1C319-40F3-3B00-3F8D-7B759528AD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4517" y="4994267"/>
                <a:ext cx="2037481" cy="461665"/>
              </a:xfrm>
              <a:prstGeom prst="rect">
                <a:avLst/>
              </a:prstGeom>
              <a:blipFill>
                <a:blip r:embed="rId9"/>
                <a:stretch>
                  <a:fillRect l="-4491" t="-10526" r="-3892" b="-2894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9D458F58-935A-1653-73BC-4F5FF3AFBF2A}"/>
              </a:ext>
            </a:extLst>
          </p:cNvPr>
          <p:cNvCxnSpPr>
            <a:cxnSpLocks/>
          </p:cNvCxnSpPr>
          <p:nvPr/>
        </p:nvCxnSpPr>
        <p:spPr>
          <a:xfrm flipV="1">
            <a:off x="8056207" y="4142697"/>
            <a:ext cx="570365" cy="8989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51E6DBA1-4305-2ABF-E831-B71B539AECE9}"/>
              </a:ext>
            </a:extLst>
          </p:cNvPr>
          <p:cNvCxnSpPr>
            <a:cxnSpLocks/>
          </p:cNvCxnSpPr>
          <p:nvPr/>
        </p:nvCxnSpPr>
        <p:spPr>
          <a:xfrm flipH="1" flipV="1">
            <a:off x="9491715" y="4142311"/>
            <a:ext cx="688561" cy="88229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2FA667-22C4-F733-94C5-5665AFC1CBEA}"/>
                  </a:ext>
                </a:extLst>
              </p:cNvPr>
              <p:cNvSpPr txBox="1"/>
              <p:nvPr/>
            </p:nvSpPr>
            <p:spPr>
              <a:xfrm>
                <a:off x="7139056" y="5581182"/>
                <a:ext cx="140455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  <a:ea typeface="+mj-ea"/>
                      </a:rPr>
                      <m:t>𝑥</m:t>
                    </m:r>
                  </m:oMath>
                </a14:m>
                <a:r>
                  <a:rPr lang="ko-KR" altLang="en-US" dirty="0">
                    <a:solidFill>
                      <a:srgbClr val="00B050"/>
                    </a:solidFill>
                    <a:latin typeface="+mj-ea"/>
                    <a:ea typeface="+mj-ea"/>
                  </a:rPr>
                  <a:t> 축에 투영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42FA667-22C4-F733-94C5-5665AFC1CB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39056" y="5581182"/>
                <a:ext cx="1404552" cy="369332"/>
              </a:xfrm>
              <a:prstGeom prst="rect">
                <a:avLst/>
              </a:prstGeom>
              <a:blipFill>
                <a:blip r:embed="rId10"/>
                <a:stretch>
                  <a:fillRect t="-10000" r="-3030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E9DDAA-096C-A1BE-1D87-A2DAACF6D2A9}"/>
                  </a:ext>
                </a:extLst>
              </p:cNvPr>
              <p:cNvSpPr txBox="1"/>
              <p:nvPr/>
            </p:nvSpPr>
            <p:spPr>
              <a:xfrm>
                <a:off x="9516927" y="5581182"/>
                <a:ext cx="140936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ko-KR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  <a:ea typeface="+mj-ea"/>
                      </a:rPr>
                      <m:t>𝑦</m:t>
                    </m:r>
                  </m:oMath>
                </a14:m>
                <a:r>
                  <a:rPr lang="ko-KR" altLang="en-US" dirty="0">
                    <a:solidFill>
                      <a:srgbClr val="FF0000"/>
                    </a:solidFill>
                    <a:latin typeface="+mj-ea"/>
                    <a:ea typeface="+mj-ea"/>
                  </a:rPr>
                  <a:t> 축에</a:t>
                </a:r>
                <a:r>
                  <a:rPr lang="en-US" altLang="ko-KR" dirty="0">
                    <a:solidFill>
                      <a:srgbClr val="FF0000"/>
                    </a:solidFill>
                    <a:latin typeface="+mj-ea"/>
                    <a:ea typeface="+mj-ea"/>
                  </a:rPr>
                  <a:t> </a:t>
                </a:r>
                <a:r>
                  <a:rPr lang="ko-KR" altLang="en-US" dirty="0">
                    <a:solidFill>
                      <a:srgbClr val="FF0000"/>
                    </a:solidFill>
                    <a:latin typeface="+mj-ea"/>
                    <a:ea typeface="+mj-ea"/>
                  </a:rPr>
                  <a:t>투영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4E9DDAA-096C-A1BE-1D87-A2DAACF6D2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16927" y="5581182"/>
                <a:ext cx="1409360" cy="369332"/>
              </a:xfrm>
              <a:prstGeom prst="rect">
                <a:avLst/>
              </a:prstGeom>
              <a:blipFill>
                <a:blip r:embed="rId11"/>
                <a:stretch>
                  <a:fillRect t="-10000" r="-3463" b="-2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6709EDC-A34A-45F5-7DEA-B64FDB647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6</a:t>
            </a:fld>
            <a:endParaRPr lang="en-US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5BAA35E-EB1B-221A-D80B-C8CC2DBE688B}"/>
              </a:ext>
            </a:extLst>
          </p:cNvPr>
          <p:cNvSpPr txBox="1"/>
          <p:nvPr/>
        </p:nvSpPr>
        <p:spPr>
          <a:xfrm>
            <a:off x="1066800" y="1007868"/>
            <a:ext cx="10364451" cy="956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축의 투영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(Green):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원래의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칸은 이제 새로운 세계에서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위치에 착륙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(land)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축의 투영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(Red):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원래의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칸은 이제 새로운 세계에서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위치에 착륙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(land)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331539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B6047-1098-D4A9-F3E4-BF4B5CC041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266DE6C-07CA-F0F1-E6D9-13C50AF829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52757"/>
            <a:ext cx="10364451" cy="631163"/>
          </a:xfrm>
        </p:spPr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C4BB8FF3-4604-4774-4B17-379BC3468D0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692069" y="3813616"/>
            <a:ext cx="4805524" cy="1389766"/>
          </a:xfrm>
          <a:prstGeom prst="rect">
            <a:avLst/>
          </a:prstGeom>
        </p:spPr>
      </p:pic>
      <p:grpSp>
        <p:nvGrpSpPr>
          <p:cNvPr id="23" name="그룹 22">
            <a:extLst>
              <a:ext uri="{FF2B5EF4-FFF2-40B4-BE49-F238E27FC236}">
                <a16:creationId xmlns:a16="http://schemas.microsoft.com/office/drawing/2014/main" id="{105B7846-3221-540A-BE0D-265F91EC9DCF}"/>
              </a:ext>
            </a:extLst>
          </p:cNvPr>
          <p:cNvGrpSpPr/>
          <p:nvPr/>
        </p:nvGrpSpPr>
        <p:grpSpPr>
          <a:xfrm>
            <a:off x="171140" y="2194154"/>
            <a:ext cx="5086975" cy="4480115"/>
            <a:chOff x="2228540" y="2007739"/>
            <a:chExt cx="5086975" cy="4480115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E4A685D7-7142-7FF7-0385-F3B28E3CA7AF}"/>
                </a:ext>
              </a:extLst>
            </p:cNvPr>
            <p:cNvCxnSpPr>
              <a:cxnSpLocks/>
            </p:cNvCxnSpPr>
            <p:nvPr/>
          </p:nvCxnSpPr>
          <p:spPr>
            <a:xfrm>
              <a:off x="2228540" y="5455075"/>
              <a:ext cx="5086975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직선 연결선 25">
              <a:extLst>
                <a:ext uri="{FF2B5EF4-FFF2-40B4-BE49-F238E27FC236}">
                  <a16:creationId xmlns:a16="http://schemas.microsoft.com/office/drawing/2014/main" id="{60C97EA0-D6BC-35AD-7E07-12F4B4482B87}"/>
                </a:ext>
              </a:extLst>
            </p:cNvPr>
            <p:cNvCxnSpPr>
              <a:cxnSpLocks/>
            </p:cNvCxnSpPr>
            <p:nvPr/>
          </p:nvCxnSpPr>
          <p:spPr>
            <a:xfrm>
              <a:off x="3914778" y="2007739"/>
              <a:ext cx="0" cy="4480115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CF3CC60D-3812-9308-967F-3D2A15B26A06}"/>
              </a:ext>
            </a:extLst>
          </p:cNvPr>
          <p:cNvSpPr/>
          <p:nvPr/>
        </p:nvSpPr>
        <p:spPr>
          <a:xfrm>
            <a:off x="2038347" y="5246791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B8CD4E4-49CE-2EAB-9D85-2629433EE084}"/>
                  </a:ext>
                </a:extLst>
              </p:cNvPr>
              <p:cNvSpPr txBox="1"/>
              <p:nvPr/>
            </p:nvSpPr>
            <p:spPr>
              <a:xfrm>
                <a:off x="2306830" y="5137903"/>
                <a:ext cx="20610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altLang="ko-K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=(1, 2)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4B8CD4E4-49CE-2EAB-9D85-2629433EE0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06830" y="5137903"/>
                <a:ext cx="2061077" cy="369332"/>
              </a:xfrm>
              <a:prstGeom prst="rect">
                <a:avLst/>
              </a:prstGeom>
              <a:blipFill>
                <a:blip r:embed="rId3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DDC9516-0E91-36D6-EFBE-1172B878D31E}"/>
                  </a:ext>
                </a:extLst>
              </p:cNvPr>
              <p:cNvSpPr txBox="1"/>
              <p:nvPr/>
            </p:nvSpPr>
            <p:spPr>
              <a:xfrm>
                <a:off x="4929940" y="5275730"/>
                <a:ext cx="357790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1600" b="1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</m:oMath>
                  </m:oMathPara>
                </a14:m>
                <a:endParaRPr lang="ko-KR" altLang="en-US" sz="1600" b="1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DDC9516-0E91-36D6-EFBE-1172B878D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29940" y="5275730"/>
                <a:ext cx="357790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EFC8B89-70B4-4236-487F-DBA100E12752}"/>
                  </a:ext>
                </a:extLst>
              </p:cNvPr>
              <p:cNvSpPr txBox="1"/>
              <p:nvPr/>
            </p:nvSpPr>
            <p:spPr>
              <a:xfrm>
                <a:off x="1307329" y="2301776"/>
                <a:ext cx="3834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𝒚</m:t>
                      </m:r>
                    </m:oMath>
                  </m:oMathPara>
                </a14:m>
                <a:endParaRPr lang="ko-KR" altLang="en-US" b="1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2EFC8B89-70B4-4236-487F-DBA100E127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07329" y="2301776"/>
                <a:ext cx="383438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6F42118F-F82A-7332-0FAC-BA17BA95771E}"/>
              </a:ext>
            </a:extLst>
          </p:cNvPr>
          <p:cNvCxnSpPr>
            <a:cxnSpLocks/>
          </p:cNvCxnSpPr>
          <p:nvPr/>
        </p:nvCxnSpPr>
        <p:spPr>
          <a:xfrm flipH="1">
            <a:off x="1660986" y="2212764"/>
            <a:ext cx="848534" cy="4332717"/>
          </a:xfrm>
          <a:prstGeom prst="line">
            <a:avLst/>
          </a:prstGeom>
          <a:ln>
            <a:solidFill>
              <a:srgbClr val="FF0000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49513CA9-1FF2-667A-7575-59ED74DD0EDD}"/>
              </a:ext>
            </a:extLst>
          </p:cNvPr>
          <p:cNvGrpSpPr/>
          <p:nvPr/>
        </p:nvGrpSpPr>
        <p:grpSpPr>
          <a:xfrm>
            <a:off x="363921" y="4649335"/>
            <a:ext cx="1354218" cy="787525"/>
            <a:chOff x="6655650" y="2150299"/>
            <a:chExt cx="1692562" cy="110381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5C524DD-E032-1640-29BE-2A1F082FE246}"/>
                    </a:ext>
                  </a:extLst>
                </p:cNvPr>
                <p:cNvSpPr txBox="1"/>
                <p:nvPr/>
              </p:nvSpPr>
              <p:spPr>
                <a:xfrm>
                  <a:off x="6655650" y="2296979"/>
                  <a:ext cx="1692562" cy="77685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altLang="ko-KR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ko-K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en-US" altLang="ko-KR" i="1" smtClean="0">
                                    <a:latin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  <m:e>
                                  <m:r>
                                    <a:rPr lang="en-US" altLang="ko-KR" b="0" i="1" smtClean="0">
                                      <a:latin typeface="Cambria Math" panose="02040503050406030204" pitchFamily="18" charset="0"/>
                                    </a:rPr>
                                    <m:t>4</m:t>
                                  </m:r>
                                </m:e>
                              </m:mr>
                            </m:m>
                          </m:e>
                        </m:d>
                      </m:oMath>
                    </m:oMathPara>
                  </a14:m>
                  <a:endParaRPr lang="ko-KR" altLang="en-US" sz="360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15C524DD-E032-1640-29BE-2A1F082FE2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55650" y="2296979"/>
                  <a:ext cx="1692562" cy="776854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타원 6">
              <a:extLst>
                <a:ext uri="{FF2B5EF4-FFF2-40B4-BE49-F238E27FC236}">
                  <a16:creationId xmlns:a16="http://schemas.microsoft.com/office/drawing/2014/main" id="{FF91148E-CDA5-C323-15C9-30E0A0313DA4}"/>
                </a:ext>
              </a:extLst>
            </p:cNvPr>
            <p:cNvSpPr/>
            <p:nvPr/>
          </p:nvSpPr>
          <p:spPr>
            <a:xfrm>
              <a:off x="7834763" y="2150299"/>
              <a:ext cx="420323" cy="1103812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1DE10634-30DE-1535-F053-C155E2687217}"/>
                </a:ext>
              </a:extLst>
            </p:cNvPr>
            <p:cNvSpPr/>
            <p:nvPr/>
          </p:nvSpPr>
          <p:spPr>
            <a:xfrm>
              <a:off x="7364141" y="2150299"/>
              <a:ext cx="443256" cy="1103812"/>
            </a:xfrm>
            <a:prstGeom prst="ellipse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200" dirty="0"/>
            </a:p>
          </p:txBody>
        </p:sp>
      </p:grp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D32D8F7B-60F2-055B-F150-41CD16A22885}"/>
              </a:ext>
            </a:extLst>
          </p:cNvPr>
          <p:cNvCxnSpPr>
            <a:cxnSpLocks/>
          </p:cNvCxnSpPr>
          <p:nvPr/>
        </p:nvCxnSpPr>
        <p:spPr>
          <a:xfrm flipH="1">
            <a:off x="1261516" y="2477618"/>
            <a:ext cx="2830430" cy="4025469"/>
          </a:xfrm>
          <a:prstGeom prst="line">
            <a:avLst/>
          </a:prstGeom>
          <a:ln/>
        </p:spPr>
        <p:style>
          <a:lnRef idx="3">
            <a:schemeClr val="accent3"/>
          </a:lnRef>
          <a:fillRef idx="0">
            <a:schemeClr val="accent3"/>
          </a:fillRef>
          <a:effectRef idx="2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D8F592-7651-492B-60D3-0C5EC13405ED}"/>
                  </a:ext>
                </a:extLst>
              </p:cNvPr>
              <p:cNvSpPr txBox="1"/>
              <p:nvPr/>
            </p:nvSpPr>
            <p:spPr>
              <a:xfrm>
                <a:off x="3995368" y="2540567"/>
                <a:ext cx="1687578" cy="3772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̀"/>
                          <m:ctrlP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𝑁𝑒𝑤</m:t>
                          </m:r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altLang="ko-KR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=(2,3)</m:t>
                      </m:r>
                    </m:oMath>
                  </m:oMathPara>
                </a14:m>
                <a:endParaRPr lang="ko-KR" altLang="en-US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5D8F592-7651-492B-60D3-0C5EC13405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95368" y="2540567"/>
                <a:ext cx="1687578" cy="377219"/>
              </a:xfrm>
              <a:prstGeom prst="rect">
                <a:avLst/>
              </a:prstGeom>
              <a:blipFill>
                <a:blip r:embed="rId7"/>
                <a:stretch>
                  <a:fillRect t="-8065" b="-1290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F14792-8828-FE52-2167-82B3C6402E93}"/>
                  </a:ext>
                </a:extLst>
              </p:cNvPr>
              <p:cNvSpPr txBox="1"/>
              <p:nvPr/>
            </p:nvSpPr>
            <p:spPr>
              <a:xfrm>
                <a:off x="1954485" y="2326737"/>
                <a:ext cx="1690976" cy="37721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̀"/>
                          <m:ctrlP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𝑁𝑒𝑤</m:t>
                          </m:r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altLang="ko-KR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ko-KR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=(1,4)</m:t>
                      </m:r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9F14792-8828-FE52-2167-82B3C6402E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4485" y="2326737"/>
                <a:ext cx="1690976" cy="377219"/>
              </a:xfrm>
              <a:prstGeom prst="rect">
                <a:avLst/>
              </a:prstGeom>
              <a:blipFill>
                <a:blip r:embed="rId8"/>
                <a:stretch>
                  <a:fillRect t="-8065" b="-1290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직사각형 16">
            <a:extLst>
              <a:ext uri="{FF2B5EF4-FFF2-40B4-BE49-F238E27FC236}">
                <a16:creationId xmlns:a16="http://schemas.microsoft.com/office/drawing/2014/main" id="{C26B9350-ECBC-D96D-85CF-14BC15D81B2E}"/>
              </a:ext>
            </a:extLst>
          </p:cNvPr>
          <p:cNvSpPr/>
          <p:nvPr/>
        </p:nvSpPr>
        <p:spPr>
          <a:xfrm>
            <a:off x="2599918" y="3510194"/>
            <a:ext cx="260349" cy="242207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E9A590E-AAB4-B3C4-09F3-593D1CF85793}"/>
                  </a:ext>
                </a:extLst>
              </p:cNvPr>
              <p:cNvSpPr txBox="1"/>
              <p:nvPr/>
            </p:nvSpPr>
            <p:spPr>
              <a:xfrm>
                <a:off x="2860267" y="3426831"/>
                <a:ext cx="182037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𝑛𝑒𝑤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=(4, 11)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E9A590E-AAB4-B3C4-09F3-593D1CF857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60267" y="3426831"/>
                <a:ext cx="1820370" cy="369332"/>
              </a:xfrm>
              <a:prstGeom prst="rect">
                <a:avLst/>
              </a:prstGeom>
              <a:blipFill>
                <a:blip r:embed="rId9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6159570-57A6-4A56-6583-6F15679B80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7</a:t>
            </a:fld>
            <a:endParaRPr lang="en-US" sz="20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2A7553F8-0A05-62EA-DC0B-91374239350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29735" y="2226979"/>
            <a:ext cx="4930193" cy="95615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7E567789-6DB8-96A8-E28F-6FF71335E5DD}"/>
              </a:ext>
            </a:extLst>
          </p:cNvPr>
          <p:cNvSpPr txBox="1"/>
          <p:nvPr/>
        </p:nvSpPr>
        <p:spPr>
          <a:xfrm>
            <a:off x="1183270" y="1046852"/>
            <a:ext cx="9488660" cy="9561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행렬은 선형변환을 통해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축의 한 칸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(1, 0)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변환 후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(2, 3)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위치로 이동하고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y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축의 한 칸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(0, 1)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변환 후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(1, 4)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위치로 이동시킨다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720657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44E690-F2AD-18B4-D988-8AEE6085F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6F44F4-1686-2B4C-B786-2BBD121CB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93398"/>
            <a:ext cx="10364451" cy="759888"/>
          </a:xfrm>
        </p:spPr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1432D000-AAD7-424D-68F9-3340C35A3C36}"/>
              </a:ext>
            </a:extLst>
          </p:cNvPr>
          <p:cNvCxnSpPr>
            <a:cxnSpLocks/>
          </p:cNvCxnSpPr>
          <p:nvPr/>
        </p:nvCxnSpPr>
        <p:spPr>
          <a:xfrm>
            <a:off x="456890" y="4197775"/>
            <a:ext cx="5086975" cy="0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1CBFC49-A98C-36D0-1878-7FFFEFF36A68}"/>
              </a:ext>
            </a:extLst>
          </p:cNvPr>
          <p:cNvSpPr txBox="1"/>
          <p:nvPr/>
        </p:nvSpPr>
        <p:spPr>
          <a:xfrm>
            <a:off x="32416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BC8C6DF1-B97D-F199-5033-64331BCC3A7E}"/>
              </a:ext>
            </a:extLst>
          </p:cNvPr>
          <p:cNvCxnSpPr>
            <a:cxnSpLocks/>
          </p:cNvCxnSpPr>
          <p:nvPr/>
        </p:nvCxnSpPr>
        <p:spPr>
          <a:xfrm>
            <a:off x="280987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8EE0933-37D0-5B7A-EF49-7D3E7E68A636}"/>
              </a:ext>
            </a:extLst>
          </p:cNvPr>
          <p:cNvSpPr txBox="1"/>
          <p:nvPr/>
        </p:nvSpPr>
        <p:spPr>
          <a:xfrm rot="16200000">
            <a:off x="267015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F9770E7-D05C-D9DA-D98D-1366B9D2D15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286850" y="2377217"/>
            <a:ext cx="1503361" cy="98100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D98E98A-995F-336E-D8D6-82E48810C92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502223" y="3358239"/>
            <a:ext cx="1280266" cy="525823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25689E68-6A28-53EE-75F3-C2D0E09D8228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286850" y="3691819"/>
            <a:ext cx="1280271" cy="548688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9B06CAE5-178C-DC5D-E74B-8EF5E3F67EA1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567120" y="3697535"/>
            <a:ext cx="1597887" cy="542971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8A11805A-4319-468A-B660-5363D357BFFB}"/>
              </a:ext>
            </a:extLst>
          </p:cNvPr>
          <p:cNvSpPr/>
          <p:nvPr/>
        </p:nvSpPr>
        <p:spPr>
          <a:xfrm>
            <a:off x="3073399" y="3358224"/>
            <a:ext cx="260349" cy="2422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C826B98-1D71-4910-55B7-EE49E4BBF56A}"/>
              </a:ext>
            </a:extLst>
          </p:cNvPr>
          <p:cNvSpPr/>
          <p:nvPr/>
        </p:nvSpPr>
        <p:spPr>
          <a:xfrm>
            <a:off x="4474513" y="2335507"/>
            <a:ext cx="260349" cy="242207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21DE4A-D272-D340-D9A6-538BC397CD81}"/>
              </a:ext>
            </a:extLst>
          </p:cNvPr>
          <p:cNvSpPr txBox="1"/>
          <p:nvPr/>
        </p:nvSpPr>
        <p:spPr>
          <a:xfrm>
            <a:off x="9385999" y="2345081"/>
            <a:ext cx="2714628" cy="17078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v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행렬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내적하는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선형변환을 하면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Av = (5,5)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위치 이동하게 됨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F1D4E1-1C00-2913-FD43-03EE8C0C200D}"/>
              </a:ext>
            </a:extLst>
          </p:cNvPr>
          <p:cNvSpPr txBox="1"/>
          <p:nvPr/>
        </p:nvSpPr>
        <p:spPr>
          <a:xfrm>
            <a:off x="6139367" y="1975749"/>
            <a:ext cx="15752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=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함수</a:t>
            </a: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F25EF52E-72EE-3C3E-9A88-70B9DC9F9D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8</a:t>
            </a:fld>
            <a:endParaRPr lang="en-US" sz="2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DAF92B-EBC3-6DB9-0A8E-14AB14DA071C}"/>
              </a:ext>
            </a:extLst>
          </p:cNvPr>
          <p:cNvSpPr txBox="1"/>
          <p:nvPr/>
        </p:nvSpPr>
        <p:spPr>
          <a:xfrm>
            <a:off x="1094356" y="1252461"/>
            <a:ext cx="609600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벡터의 내적은 선형변환 함수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2780874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내용 개체 틀 3">
            <a:extLst>
              <a:ext uri="{FF2B5EF4-FFF2-40B4-BE49-F238E27FC236}">
                <a16:creationId xmlns:a16="http://schemas.microsoft.com/office/drawing/2014/main" id="{CC0271E0-83DB-4699-2D1D-D4EC4FBB2694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2"/>
          <a:stretch>
            <a:fillRect/>
          </a:stretch>
        </p:blipFill>
        <p:spPr>
          <a:xfrm>
            <a:off x="2801144" y="2411707"/>
            <a:ext cx="2036761" cy="1302580"/>
          </a:xfrm>
          <a:prstGeom prst="rect">
            <a:avLst/>
          </a:prstGeom>
        </p:spPr>
      </p:pic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A23EC9D9-E1E5-486D-524D-A0C034D9B291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133EA56-E119-9E2E-EBFA-3E843E65458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AB792C78-4F30-BAD6-12FC-138766A35512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직사각형 8">
            <a:extLst>
              <a:ext uri="{FF2B5EF4-FFF2-40B4-BE49-F238E27FC236}">
                <a16:creationId xmlns:a16="http://schemas.microsoft.com/office/drawing/2014/main" id="{8AE44BCE-2E3C-9E9E-D923-0EEE18AB9631}"/>
              </a:ext>
            </a:extLst>
          </p:cNvPr>
          <p:cNvSpPr/>
          <p:nvPr/>
        </p:nvSpPr>
        <p:spPr>
          <a:xfrm>
            <a:off x="2359026" y="3429000"/>
            <a:ext cx="841374" cy="768773"/>
          </a:xfrm>
          <a:prstGeom prst="rect">
            <a:avLst/>
          </a:prstGeom>
          <a:solidFill>
            <a:srgbClr val="00B0F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4E801FD-463E-32A8-962F-C2F5391655F2}"/>
              </a:ext>
            </a:extLst>
          </p:cNvPr>
          <p:cNvSpPr txBox="1"/>
          <p:nvPr/>
        </p:nvSpPr>
        <p:spPr>
          <a:xfrm>
            <a:off x="5182225" y="2105546"/>
            <a:ext cx="6619250" cy="33698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/>
              <a:t>행렬 </a:t>
            </a:r>
            <a:r>
              <a:rPr lang="en-US" altLang="ko-KR" dirty="0"/>
              <a:t>A = [(2,1), (3,4)] </a:t>
            </a:r>
            <a:r>
              <a:rPr lang="ko-KR" altLang="en-US" dirty="0"/>
              <a:t>의 행렬인 경우 </a:t>
            </a:r>
            <a:r>
              <a:rPr lang="en-US" altLang="ko-KR" dirty="0"/>
              <a:t>v=(1,2)</a:t>
            </a:r>
            <a:r>
              <a:rPr lang="ko-KR" altLang="en-US" dirty="0"/>
              <a:t>는 어떻게 </a:t>
            </a:r>
            <a:r>
              <a:rPr lang="ko-KR" altLang="en-US" b="1" dirty="0"/>
              <a:t>변환</a:t>
            </a:r>
            <a:r>
              <a:rPr lang="ko-KR" altLang="en-US" dirty="0"/>
              <a:t>되는가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/>
              <a:t> </a:t>
            </a:r>
            <a:r>
              <a:rPr lang="ko-KR" altLang="en-US" dirty="0"/>
              <a:t>아래와 같은 정방형의 모든 실수는 </a:t>
            </a:r>
            <a:r>
              <a:rPr lang="en-US" altLang="ko-KR" dirty="0"/>
              <a:t>A</a:t>
            </a:r>
            <a:r>
              <a:rPr lang="ko-KR" altLang="en-US" dirty="0"/>
              <a:t>행렬과 </a:t>
            </a:r>
            <a:r>
              <a:rPr lang="ko-KR" altLang="en-US" dirty="0" err="1"/>
              <a:t>내적하면</a:t>
            </a:r>
            <a:r>
              <a:rPr lang="ko-KR" altLang="en-US" dirty="0"/>
              <a:t> 어떻게 </a:t>
            </a:r>
            <a:r>
              <a:rPr lang="ko-KR" altLang="en-US" b="1" dirty="0"/>
              <a:t>변환</a:t>
            </a:r>
            <a:r>
              <a:rPr lang="ko-KR" altLang="en-US" dirty="0"/>
              <a:t>되는지 파이썬 코드로 작성하고 시각화</a:t>
            </a: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/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b="1" dirty="0"/>
              <a:t>선형변환</a:t>
            </a:r>
            <a:r>
              <a:rPr lang="en-US" altLang="ko-KR" b="1" dirty="0"/>
              <a:t>(Linear Transformation)</a:t>
            </a:r>
            <a:r>
              <a:rPr lang="ko-KR" altLang="en-US" dirty="0"/>
              <a:t>의 결과를 기하학적 의미를 </a:t>
            </a:r>
            <a:r>
              <a:rPr lang="ko-KR" altLang="en-US" b="1" dirty="0"/>
              <a:t>투영</a:t>
            </a:r>
            <a:r>
              <a:rPr lang="en-US" altLang="ko-KR" b="1" dirty="0"/>
              <a:t>(Projection)</a:t>
            </a:r>
            <a:r>
              <a:rPr lang="ko-KR" altLang="en-US" dirty="0"/>
              <a:t>의 관점에서 설명하라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BFFB67B-47AD-E2B1-F02D-7438ED6D3A02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1E26A2FD-DA73-FEBD-A534-047C269AFE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9</a:t>
            </a:fld>
            <a:endParaRPr lang="en-US" sz="2000" dirty="0"/>
          </a:p>
        </p:txBody>
      </p:sp>
      <p:pic>
        <p:nvPicPr>
          <p:cNvPr id="8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E244AAB-51AC-B107-48A5-3CF643F4FC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제목 1">
            <a:extLst>
              <a:ext uri="{FF2B5EF4-FFF2-40B4-BE49-F238E27FC236}">
                <a16:creationId xmlns:a16="http://schemas.microsoft.com/office/drawing/2014/main" id="{05136CFE-E7F8-CC96-5386-1047EDE846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79713" y="0"/>
            <a:ext cx="61261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66491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AED26979-3036-435B-0822-871DA230CA78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BAD771A1-25B1-665A-99F0-AD771F07CDA4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E7F301B5-9970-FCB6-2C79-A057D8D23F0E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99CF34E6-3C08-D401-489F-98201AD4E32F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87B46C8-7DA9-65B3-928C-F55479A8125E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/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3F676E9-B701-E8CF-EBBF-76EAC4ADB1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0293" y="194744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1099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CBF6A67-AFE4-6834-2F28-3587CEBB3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/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ko-KR" sz="20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ko-KR" sz="20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</m:e>
                              <m:e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en-US" altLang="ko-KR" sz="2000" b="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21D26D5B-87E7-1180-DE23-2F832DA990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65166" y="1984554"/>
                <a:ext cx="1805708" cy="57445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/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14BEC3A-5D88-9BA3-FED6-597EC41DE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755" y="2133280"/>
                <a:ext cx="2109039" cy="276999"/>
              </a:xfrm>
              <a:prstGeom prst="rect">
                <a:avLst/>
              </a:prstGeom>
              <a:blipFill>
                <a:blip r:embed="rId5"/>
                <a:stretch>
                  <a:fillRect l="-289" t="-6667" r="-3179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059CE4A2-11E8-3782-9C37-54E0B00FD94F}"/>
              </a:ext>
            </a:extLst>
          </p:cNvPr>
          <p:cNvSpPr txBox="1"/>
          <p:nvPr/>
        </p:nvSpPr>
        <p:spPr>
          <a:xfrm>
            <a:off x="5784127" y="3165498"/>
            <a:ext cx="5462993" cy="21246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두 행이 완전히 동일하며 모든 벡터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(x, 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(x+2y,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x+2y)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벡터로 선형변환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임의의 모든 점을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(1,2)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방향으로 투영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(projection)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하고 대각선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(y=x)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방향으로 배치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80E0E523-FCA2-AA24-9EA5-9380D86B3195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81818" y="1907079"/>
            <a:ext cx="612529" cy="120442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DAF44130-B832-9483-C9DF-EFD357270E48}"/>
              </a:ext>
            </a:extLst>
          </p:cNvPr>
          <p:cNvCxnSpPr>
            <a:cxnSpLocks/>
            <a:stCxn id="17" idx="3"/>
            <a:endCxn id="23" idx="1"/>
          </p:cNvCxnSpPr>
          <p:nvPr/>
        </p:nvCxnSpPr>
        <p:spPr>
          <a:xfrm>
            <a:off x="5953125" y="2203025"/>
            <a:ext cx="1512041" cy="68756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675E9DE-B0B6-C8D5-A524-BAACE5A8D2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10</a:t>
            </a:fld>
            <a:endParaRPr lang="en-US" sz="2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56CE8C-4757-BF94-2D0B-405DBF1049C3}"/>
              </a:ext>
            </a:extLst>
          </p:cNvPr>
          <p:cNvSpPr txBox="1"/>
          <p:nvPr/>
        </p:nvSpPr>
        <p:spPr>
          <a:xfrm>
            <a:off x="1313286" y="1053801"/>
            <a:ext cx="615188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차원을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차원으로 붕괴시키는 행렬을 이해하자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2860400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E48C2-D67B-5ADB-18B1-80FE0EBB4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0F82DA0A-412B-C75A-C675-E78A772EB5B4}"/>
              </a:ext>
            </a:extLst>
          </p:cNvPr>
          <p:cNvSpPr txBox="1"/>
          <p:nvPr/>
        </p:nvSpPr>
        <p:spPr>
          <a:xfrm>
            <a:off x="2178843" y="58466"/>
            <a:ext cx="853678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200" dirty="0"/>
              <a:t>2</a:t>
            </a:r>
            <a:r>
              <a:rPr lang="ko-KR" altLang="en-US" sz="3200" dirty="0"/>
              <a:t>차원 평면에서의 선형변환에 대해 생각하기</a:t>
            </a: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46E36533-3E78-9C9E-2D7B-3CD87C1D7E1E}"/>
              </a:ext>
            </a:extLst>
          </p:cNvPr>
          <p:cNvCxnSpPr>
            <a:cxnSpLocks/>
          </p:cNvCxnSpPr>
          <p:nvPr/>
        </p:nvCxnSpPr>
        <p:spPr>
          <a:xfrm flipV="1">
            <a:off x="18740" y="4197773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50C11FE9-3D39-67F5-9B81-39ABA9F3C151}"/>
              </a:ext>
            </a:extLst>
          </p:cNvPr>
          <p:cNvCxnSpPr>
            <a:cxnSpLocks/>
          </p:cNvCxnSpPr>
          <p:nvPr/>
        </p:nvCxnSpPr>
        <p:spPr>
          <a:xfrm>
            <a:off x="2371728" y="2025460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23A923B-0F3D-C793-CBDF-EB2CBE8E86F4}"/>
              </a:ext>
            </a:extLst>
          </p:cNvPr>
          <p:cNvSpPr txBox="1"/>
          <p:nvPr/>
        </p:nvSpPr>
        <p:spPr>
          <a:xfrm rot="16200000">
            <a:off x="-184666" y="4193469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C8F449C-DC59-EB8D-209F-4B2964F89FCF}"/>
              </a:ext>
            </a:extLst>
          </p:cNvPr>
          <p:cNvSpPr txBox="1"/>
          <p:nvPr/>
        </p:nvSpPr>
        <p:spPr>
          <a:xfrm>
            <a:off x="-113985" y="4273975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/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r>
                  <a:rPr lang="en-US" altLang="ko-KR" sz="2400" dirty="0"/>
                  <a:t>  A =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ko-KR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US" altLang="ko-KR" sz="20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ko-KR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ko-KR" altLang="en-US" sz="2400" i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74E75DD5-EF33-CACC-F286-91C83CCC18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91365" y="1592022"/>
                <a:ext cx="1662832" cy="511166"/>
              </a:xfrm>
              <a:prstGeom prst="rect">
                <a:avLst/>
              </a:prstGeom>
              <a:blipFill>
                <a:blip r:embed="rId2"/>
                <a:stretch>
                  <a:fillRect l="-733" t="-7143" b="-1904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/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0FDEB4F-C9AC-B18B-C2C9-02BFB61C8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86050" y="2815554"/>
                <a:ext cx="799642" cy="276999"/>
              </a:xfrm>
              <a:prstGeom prst="rect">
                <a:avLst/>
              </a:prstGeom>
              <a:blipFill>
                <a:blip r:embed="rId3"/>
                <a:stretch>
                  <a:fillRect l="-9160" t="-6667" r="-9924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/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</m:e>
                          <m:e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+2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43725C-55F0-7EBB-D964-7A4BC336DB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413" y="2640004"/>
                <a:ext cx="1871794" cy="276999"/>
              </a:xfrm>
              <a:prstGeom prst="rect">
                <a:avLst/>
              </a:prstGeom>
              <a:blipFill>
                <a:blip r:embed="rId4"/>
                <a:stretch>
                  <a:fillRect l="-3583" t="-6522" r="-3909" b="-2826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6" name="TextBox 25">
            <a:extLst>
              <a:ext uri="{FF2B5EF4-FFF2-40B4-BE49-F238E27FC236}">
                <a16:creationId xmlns:a16="http://schemas.microsoft.com/office/drawing/2014/main" id="{F417510F-FA8E-6162-4468-EC4812C7C296}"/>
              </a:ext>
            </a:extLst>
          </p:cNvPr>
          <p:cNvSpPr txBox="1"/>
          <p:nvPr/>
        </p:nvSpPr>
        <p:spPr>
          <a:xfrm>
            <a:off x="3979335" y="3290089"/>
            <a:ext cx="3915029" cy="29556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임의의 모든 점을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(1,2)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</a:t>
            </a:r>
            <a:r>
              <a:rPr lang="ko-KR" altLang="en-US" dirty="0" err="1">
                <a:latin typeface="Calibri Light" panose="020F0302020204030204" pitchFamily="34" charset="0"/>
                <a:cs typeface="Calibri Light" panose="020F0302020204030204" pitchFamily="34" charset="0"/>
              </a:rPr>
              <a:t>내적하여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 투영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(projection)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하고 대각선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(y=x) 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방향으로 투영하여 배치</a:t>
            </a: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en-US" altLang="ko-KR" dirty="0">
              <a:latin typeface="Calibri Light" panose="020F0302020204030204" pitchFamily="34" charset="0"/>
              <a:cs typeface="Calibri Light" panose="020F0302020204030204" pitchFamily="34" charset="0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2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</a:t>
            </a:r>
            <a:r>
              <a:rPr lang="en-US" altLang="ko-KR" dirty="0">
                <a:latin typeface="Calibri Light" panose="020F0302020204030204" pitchFamily="34" charset="0"/>
                <a:cs typeface="Calibri Light" panose="020F0302020204030204" pitchFamily="34" charset="0"/>
              </a:rPr>
              <a:t>1</a:t>
            </a:r>
            <a:r>
              <a:rPr lang="ko-KR" altLang="en-US" dirty="0">
                <a:latin typeface="Calibri Light" panose="020F0302020204030204" pitchFamily="34" charset="0"/>
                <a:cs typeface="Calibri Light" panose="020F0302020204030204" pitchFamily="34" charset="0"/>
              </a:rPr>
              <a:t>차원으로 붕괴시키는 행렬변환 </a:t>
            </a:r>
          </a:p>
        </p:txBody>
      </p:sp>
      <p:cxnSp>
        <p:nvCxnSpPr>
          <p:cNvPr id="29" name="연결선: 구부러짐 28">
            <a:extLst>
              <a:ext uri="{FF2B5EF4-FFF2-40B4-BE49-F238E27FC236}">
                <a16:creationId xmlns:a16="http://schemas.microsoft.com/office/drawing/2014/main" id="{07E2D664-2BE6-2DF1-837C-3787AEF194CA}"/>
              </a:ext>
            </a:extLst>
          </p:cNvPr>
          <p:cNvCxnSpPr>
            <a:cxnSpLocks/>
            <a:stCxn id="19" idx="0"/>
            <a:endCxn id="17" idx="1"/>
          </p:cNvCxnSpPr>
          <p:nvPr/>
        </p:nvCxnSpPr>
        <p:spPr>
          <a:xfrm rot="5400000" flipH="1" flipV="1">
            <a:off x="3354644" y="1578833"/>
            <a:ext cx="967949" cy="150549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연결선: 구부러짐 29">
            <a:extLst>
              <a:ext uri="{FF2B5EF4-FFF2-40B4-BE49-F238E27FC236}">
                <a16:creationId xmlns:a16="http://schemas.microsoft.com/office/drawing/2014/main" id="{4903B8ED-A4E2-90BE-7A88-0777CA4B0F30}"/>
              </a:ext>
            </a:extLst>
          </p:cNvPr>
          <p:cNvCxnSpPr>
            <a:cxnSpLocks/>
            <a:stCxn id="17" idx="3"/>
            <a:endCxn id="24" idx="1"/>
          </p:cNvCxnSpPr>
          <p:nvPr/>
        </p:nvCxnSpPr>
        <p:spPr>
          <a:xfrm>
            <a:off x="6254197" y="1847605"/>
            <a:ext cx="1516216" cy="930899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A9EBD0C9-2937-E546-104C-A70FBE6A99F3}"/>
              </a:ext>
            </a:extLst>
          </p:cNvPr>
          <p:cNvCxnSpPr>
            <a:cxnSpLocks/>
          </p:cNvCxnSpPr>
          <p:nvPr/>
        </p:nvCxnSpPr>
        <p:spPr>
          <a:xfrm flipV="1">
            <a:off x="7615956" y="4163027"/>
            <a:ext cx="3800785" cy="2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A6B7B48-EFB1-1809-928C-471F9BC07E28}"/>
              </a:ext>
            </a:extLst>
          </p:cNvPr>
          <p:cNvCxnSpPr>
            <a:cxnSpLocks/>
          </p:cNvCxnSpPr>
          <p:nvPr/>
        </p:nvCxnSpPr>
        <p:spPr>
          <a:xfrm>
            <a:off x="9968944" y="1990714"/>
            <a:ext cx="0" cy="4480115"/>
          </a:xfrm>
          <a:prstGeom prst="line">
            <a:avLst/>
          </a:prstGeom>
          <a:ln/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3B2C7D-9653-5102-80B2-FEFBC0BFFAEF}"/>
              </a:ext>
            </a:extLst>
          </p:cNvPr>
          <p:cNvSpPr txBox="1"/>
          <p:nvPr/>
        </p:nvSpPr>
        <p:spPr>
          <a:xfrm rot="16200000">
            <a:off x="7412550" y="415872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	1	2	3</a:t>
            </a:r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EDD22D-5F31-7D85-4E49-D7CCEC85C019}"/>
              </a:ext>
            </a:extLst>
          </p:cNvPr>
          <p:cNvSpPr txBox="1"/>
          <p:nvPr/>
        </p:nvSpPr>
        <p:spPr>
          <a:xfrm>
            <a:off x="7486650" y="4197773"/>
            <a:ext cx="4705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/>
              <a:t>-3	-2	-1	0	1	2	3</a:t>
            </a:r>
            <a:endParaRPr lang="ko-KR" altLang="en-US" dirty="0"/>
          </a:p>
        </p:txBody>
      </p:sp>
      <p:pic>
        <p:nvPicPr>
          <p:cNvPr id="28" name="그래픽 27" descr="별">
            <a:extLst>
              <a:ext uri="{FF2B5EF4-FFF2-40B4-BE49-F238E27FC236}">
                <a16:creationId xmlns:a16="http://schemas.microsoft.com/office/drawing/2014/main" id="{B1997F87-A73F-E620-983C-A239734A302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15239" y="3159667"/>
            <a:ext cx="485496" cy="485496"/>
          </a:xfrm>
          <a:prstGeom prst="rect">
            <a:avLst/>
          </a:prstGeom>
        </p:spPr>
      </p:pic>
      <p:pic>
        <p:nvPicPr>
          <p:cNvPr id="31" name="그래픽 30" descr="별">
            <a:extLst>
              <a:ext uri="{FF2B5EF4-FFF2-40B4-BE49-F238E27FC236}">
                <a16:creationId xmlns:a16="http://schemas.microsoft.com/office/drawing/2014/main" id="{1C6B1354-D5CB-5B29-DCCA-3AAA1F5158B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953327" y="2704498"/>
            <a:ext cx="485496" cy="48549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/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−1,</m:t>
                            </m:r>
                          </m:e>
                          <m:e>
                            <m:r>
                              <a:rPr lang="en-US" altLang="ko-KR" b="0" i="1" smtClean="0">
                                <a:latin typeface="Cambria Math" panose="02040503050406030204" pitchFamily="18" charset="0"/>
                              </a:rPr>
                              <m:t>2)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78074A7-356F-2C14-2D6D-24E36C4B7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178" y="3151590"/>
                <a:ext cx="965008" cy="276999"/>
              </a:xfrm>
              <a:prstGeom prst="rect">
                <a:avLst/>
              </a:prstGeom>
              <a:blipFill>
                <a:blip r:embed="rId9"/>
                <a:stretch>
                  <a:fillRect l="-7595" t="-6667" r="-8228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/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2"/>
                                <m:mcJc m:val="center"/>
                              </m:mcPr>
                            </m:mc>
                          </m:mcs>
                          <m:ctrlPr>
                            <a:rPr lang="en-US" altLang="ko-KR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m:rPr>
                                <m:brk m:alnAt="7"/>
                              </m:rP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3,</m:t>
                            </m:r>
                          </m:e>
                          <m:e>
                            <m:r>
                              <a:rPr lang="en-US" altLang="ko-KR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3)</m:t>
                            </m:r>
                          </m:e>
                        </m:mr>
                      </m:m>
                    </m:oMath>
                  </m:oMathPara>
                </a14:m>
                <a:endParaRPr lang="ko-KR" altLang="en-US" dirty="0">
                  <a:solidFill>
                    <a:srgbClr val="FF0000"/>
                  </a:solidFill>
                </a:endParaRPr>
              </a:p>
            </p:txBody>
          </p:sp>
        </mc:Choice>
        <mc:Fallback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B3CEBCEB-0B03-527A-2949-05A459F0F9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30986" y="2417974"/>
                <a:ext cx="791883" cy="276999"/>
              </a:xfrm>
              <a:prstGeom prst="rect">
                <a:avLst/>
              </a:prstGeom>
              <a:blipFill>
                <a:blip r:embed="rId10"/>
                <a:stretch>
                  <a:fillRect l="-9231" t="-8889" r="-10000" b="-31111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FF4B92F-31B4-3C2F-14FE-6DE1FFDEBE8D}"/>
              </a:ext>
            </a:extLst>
          </p:cNvPr>
          <p:cNvCxnSpPr>
            <a:cxnSpLocks/>
          </p:cNvCxnSpPr>
          <p:nvPr/>
        </p:nvCxnSpPr>
        <p:spPr>
          <a:xfrm flipV="1">
            <a:off x="8485488" y="2556473"/>
            <a:ext cx="3128002" cy="316269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7E8495C-891C-0D45-AD9C-655378854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11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5528851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3CF355-C241-D22E-F97C-7287CE73D8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201957"/>
            <a:ext cx="10364451" cy="560043"/>
          </a:xfrm>
        </p:spPr>
        <p:txBody>
          <a:bodyPr>
            <a:normAutofit fontScale="90000"/>
          </a:bodyPr>
          <a:lstStyle/>
          <a:p>
            <a:r>
              <a:rPr lang="ko-KR" altLang="en-US" dirty="0"/>
              <a:t>기하학적 이해</a:t>
            </a:r>
          </a:p>
        </p:txBody>
      </p:sp>
      <p:sp>
        <p:nvSpPr>
          <p:cNvPr id="4" name="AutoShape 2" descr=", AI generated">
            <a:extLst>
              <a:ext uri="{FF2B5EF4-FFF2-40B4-BE49-F238E27FC236}">
                <a16:creationId xmlns:a16="http://schemas.microsoft.com/office/drawing/2014/main" id="{A12FC27B-0BD4-A5AB-B0E5-D080A53513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A5E0A35-FE29-17FD-803F-F2999E5CD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12</a:t>
            </a:fld>
            <a:endParaRPr lang="en-US" sz="2000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879788B6-01AF-BBCD-D01B-F811349826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6527" y="1518105"/>
            <a:ext cx="9583746" cy="47556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E122F8-6128-F4C0-FFCB-B901DE7CF022}"/>
              </a:ext>
            </a:extLst>
          </p:cNvPr>
          <p:cNvSpPr txBox="1"/>
          <p:nvPr/>
        </p:nvSpPr>
        <p:spPr>
          <a:xfrm>
            <a:off x="1033454" y="939997"/>
            <a:ext cx="831374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벡터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(points), (1,2), (2,1)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행렬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[(2,1), (1,4)]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와의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</a:t>
            </a:r>
          </a:p>
        </p:txBody>
      </p:sp>
    </p:spTree>
    <p:extLst>
      <p:ext uri="{BB962C8B-B14F-4D97-AF65-F5344CB8AC3E}">
        <p14:creationId xmlns:p14="http://schemas.microsoft.com/office/powerpoint/2010/main" val="40940482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B3DBC6-35B0-DF34-8BB2-2CFA82E8E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384837"/>
            <a:ext cx="10364451" cy="641323"/>
          </a:xfrm>
        </p:spPr>
        <p:txBody>
          <a:bodyPr/>
          <a:lstStyle/>
          <a:p>
            <a:r>
              <a:rPr lang="ko-KR" altLang="en-US" dirty="0"/>
              <a:t>행렬과 내적은 선형변환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F67A665-D8BD-3BDD-A95C-EA8AF2CDD90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3775" y="2014539"/>
            <a:ext cx="5182225" cy="33226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39EFB63E-667B-21BC-A172-32BE45A435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82374" y="2014539"/>
            <a:ext cx="5390677" cy="3322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20D1C23-1819-2AC4-B5F5-C6A7D08A2267}"/>
              </a:ext>
            </a:extLst>
          </p:cNvPr>
          <p:cNvSpPr txBox="1"/>
          <p:nvPr/>
        </p:nvSpPr>
        <p:spPr>
          <a:xfrm>
            <a:off x="838200" y="5734658"/>
            <a:ext cx="33441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4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자료원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: 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행렬의 기하학적인 의미와 해석</a:t>
            </a:r>
            <a:endParaRPr lang="ko-KR" altLang="en-US" sz="1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1ECB9CBD-CF82-DC51-07A4-4A3380036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13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0935531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8F990D-7C65-6C21-31D3-EC7CB3751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0A20CEC-BF00-1556-F0BA-6AF560EF0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600553"/>
          </a:xfrm>
        </p:spPr>
        <p:txBody>
          <a:bodyPr/>
          <a:lstStyle/>
          <a:p>
            <a:r>
              <a:rPr lang="ko-KR" altLang="en-US" dirty="0"/>
              <a:t>선형변환</a:t>
            </a: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2491CE45-07B6-3F10-9D80-86C15F8317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8150" y="3120178"/>
            <a:ext cx="4373450" cy="2747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AB99FAD7-67C0-95AC-D700-A35DDC7C501C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97048" y="2296160"/>
            <a:ext cx="5391030" cy="36505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61B9A48-9B38-5029-B7E7-030E2344A517}"/>
              </a:ext>
            </a:extLst>
          </p:cNvPr>
          <p:cNvSpPr txBox="1"/>
          <p:nvPr/>
        </p:nvSpPr>
        <p:spPr>
          <a:xfrm>
            <a:off x="500800" y="1919156"/>
            <a:ext cx="4248150" cy="8697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b="0" i="0" dirty="0">
                <a:solidFill>
                  <a:srgbClr val="00000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Gaussian Random Noise Data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생성하고 행렬 </a:t>
            </a:r>
            <a:r>
              <a:rPr lang="en-US" altLang="ko-KR" b="0" i="0" dirty="0">
                <a:solidFill>
                  <a:srgbClr val="00000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b="0" i="0" dirty="0">
                <a:solidFill>
                  <a:srgbClr val="00000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ko-KR" altLang="en-US" b="0" i="0" dirty="0" err="1">
                <a:solidFill>
                  <a:srgbClr val="00000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선형변환하면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3D3EB99-B1E1-2A0D-C54E-009CFE5952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51503" y="3143249"/>
            <a:ext cx="2345545" cy="1500058"/>
          </a:xfrm>
          <a:prstGeom prst="rect">
            <a:avLst/>
          </a:prstGeom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5C0D2A8-56F8-508B-447C-EB62B27326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14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2612423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EEE4C-CF8D-13F6-E5D0-F069365AC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3B388CFB-5E5A-0B56-2B29-B3655AA0D879}"/>
              </a:ext>
            </a:extLst>
          </p:cNvPr>
          <p:cNvSpPr/>
          <p:nvPr/>
        </p:nvSpPr>
        <p:spPr>
          <a:xfrm>
            <a:off x="579371" y="2524125"/>
            <a:ext cx="8136904" cy="58246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A2FE80-9EDC-A097-418B-57D8C5D574E0}"/>
              </a:ext>
            </a:extLst>
          </p:cNvPr>
          <p:cNvSpPr txBox="1"/>
          <p:nvPr/>
        </p:nvSpPr>
        <p:spPr>
          <a:xfrm>
            <a:off x="1629916" y="147612"/>
            <a:ext cx="8928992" cy="40222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Bef>
                <a:spcPts val="600"/>
              </a:spcBef>
            </a:pPr>
            <a:r>
              <a:rPr lang="ko-KR" altLang="en-US" sz="4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en-US" altLang="ko-KR" sz="4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선형변환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(Linear Transformation)</a:t>
            </a:r>
          </a:p>
          <a:p>
            <a:pPr marL="514350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ko-KR" altLang="en-US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주성분분석</a:t>
            </a:r>
            <a:r>
              <a:rPr lang="en-US" altLang="ko-KR" sz="24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(PCA)</a:t>
            </a:r>
          </a:p>
          <a:p>
            <a:pPr marL="971550" lvl="1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Eigen value</a:t>
            </a:r>
          </a:p>
          <a:p>
            <a:pPr marL="971550" lvl="1" indent="-514350">
              <a:lnSpc>
                <a:spcPct val="150000"/>
              </a:lnSpc>
              <a:spcBef>
                <a:spcPts val="600"/>
              </a:spcBef>
              <a:buAutoNum type="arabicPeriod"/>
            </a:pPr>
            <a:r>
              <a:rPr lang="en-US" altLang="ko-KR" sz="2000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Eigen vector</a:t>
            </a:r>
            <a:endParaRPr lang="en-US" altLang="ko-KR" sz="2400" b="1" dirty="0"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605111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0DE82-E761-815D-D827-048FE401C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제목 1">
            <a:extLst>
              <a:ext uri="{FF2B5EF4-FFF2-40B4-BE49-F238E27FC236}">
                <a16:creationId xmlns:a16="http://schemas.microsoft.com/office/drawing/2014/main" id="{47078DC6-E5BB-C5BD-550D-2D5CFDED855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Dimensionality Reduction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7B8B203A-CA07-6F79-6C40-BA91546468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가 아무리 많아도 대부분의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feature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무의미한 경우가 많음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개의 아라비아 숫자의 </a:t>
            </a:r>
            <a:r>
              <a:rPr lang="en-US" altLang="ko-KR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75% </a:t>
            </a:r>
            <a:r>
              <a:rPr lang="ko-KR" altLang="en-US" sz="19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이상을 지워도 수자를 읽을 수 있음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F4D1D46-BBF5-8CEB-9866-F00627769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4268" y="3088968"/>
            <a:ext cx="6957663" cy="237764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6FE6522-ABBE-27B1-9AC3-605881D2D4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16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3026227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94D45F-9959-C2FE-BCFE-D047BCAF2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C5AFD0A-085C-5BB2-80E4-F468D2675C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6EF78C1A-537C-3E6A-1F7A-9E447E6D7ABB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Dimensionality Reduction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BFB68568-2188-187E-10FA-97C8879C20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8496" y="2838154"/>
            <a:ext cx="5852766" cy="2739686"/>
          </a:xfrm>
          <a:solidFill>
            <a:schemeClr val="accent1">
              <a:lumMod val="40000"/>
              <a:lumOff val="60000"/>
            </a:schemeClr>
          </a:solidFill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pPr marL="0" indent="0">
              <a:buNone/>
            </a:pPr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tensorflow.keras.datasets</a:t>
            </a:r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mnist</a:t>
            </a:r>
            <a:endParaRPr lang="en-US" altLang="ko-KR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>
              <a:buNone/>
            </a:pPr>
            <a:r>
              <a:rPr lang="en-US" altLang="ko-KR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# 1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ko-KR" altLang="en-US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데이터 로드</a:t>
            </a:r>
          </a:p>
          <a:p>
            <a:pPr marL="0" indent="0">
              <a:buNone/>
            </a:pP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21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21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y_train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), _ = </a:t>
            </a:r>
            <a:r>
              <a:rPr lang="en-US" altLang="ko-KR" sz="21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mnist.load_data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pPr marL="0" indent="0">
              <a:buNone/>
            </a:pP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# 5</a:t>
            </a:r>
            <a:r>
              <a:rPr lang="ko-KR" altLang="en-US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번째 그림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전체 데이터의 표준편차 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필요 없는 열 확인용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21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>
              <a:buNone/>
            </a:pPr>
            <a:r>
              <a:rPr lang="en-US" altLang="ko-KR" sz="21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pixel_std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21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np.std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21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x_train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, axis=0)</a:t>
            </a:r>
          </a:p>
          <a:p>
            <a:pPr marL="0" indent="0">
              <a:buNone/>
            </a:pPr>
            <a:r>
              <a:rPr lang="en-US" altLang="ko-KR" sz="21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plt.imshow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21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pixel_std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21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cmap</a:t>
            </a:r>
            <a:r>
              <a:rPr lang="en-US" altLang="ko-KR" sz="21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='hot')</a:t>
            </a:r>
            <a:endParaRPr lang="en-US" altLang="ko-KR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>
              <a:buNone/>
            </a:pPr>
            <a:endParaRPr lang="en-US" altLang="ko-KR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81BE5526-2A5D-5F05-FCBF-F9280260B2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2089" y="2838154"/>
            <a:ext cx="3170871" cy="3148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385E836-BE82-FC36-41B2-006B2F098043}"/>
              </a:ext>
            </a:extLst>
          </p:cNvPr>
          <p:cNvSpPr txBox="1"/>
          <p:nvPr/>
        </p:nvSpPr>
        <p:spPr>
          <a:xfrm>
            <a:off x="601917" y="929734"/>
            <a:ext cx="10977518" cy="12852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60,00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MNIST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필기체 수자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(28 by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28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데이터의 각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pixel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간 표준편차를 구해서 시각화한 이미지를 보면 해보면 중앙 픽셀의 표준편차는 높지만 주변 픽셀의 표준편차는 거의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0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에 근접한 것으로 나타남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주변의 정보는 데이터는 수자를 표현하는데 거의 역할이 없음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5F853161-803E-81DB-419B-7773E6EAF298}"/>
              </a:ext>
            </a:extLst>
          </p:cNvPr>
          <p:cNvGrpSpPr/>
          <p:nvPr/>
        </p:nvGrpSpPr>
        <p:grpSpPr>
          <a:xfrm>
            <a:off x="9966960" y="2838153"/>
            <a:ext cx="1936300" cy="3137007"/>
            <a:chOff x="9628030" y="2838154"/>
            <a:chExt cx="2246046" cy="3638827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BF7B7470-53A3-F586-A9A7-B3DFB8ADC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628030" y="2838154"/>
              <a:ext cx="2246046" cy="1225431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CA28C5B0-4392-9343-2622-9256EF1DEBB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28031" y="4060451"/>
              <a:ext cx="2240700" cy="1204969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1EB1DDEF-D8F2-AB6A-FF39-537D658F4DA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628782" y="5265420"/>
              <a:ext cx="2240701" cy="121156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694478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9A7A78-9A48-AA10-5785-D0F00D44F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822916A-F4FB-A1F9-4AAF-CE84AE99E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394568" cy="640080"/>
          </a:xfrm>
        </p:spPr>
        <p:txBody>
          <a:bodyPr rtlCol="0">
            <a:noAutofit/>
          </a:bodyPr>
          <a:lstStyle/>
          <a:p>
            <a:pPr algn="l"/>
            <a:r>
              <a:rPr lang="en-US" altLang="ko-KR" sz="2400" cap="none" dirty="0">
                <a:cs typeface="Segoe UI Light" panose="020B0502040204020203" pitchFamily="34" charset="0"/>
              </a:rPr>
              <a:t>Rank of Matrix</a:t>
            </a:r>
            <a:endParaRPr lang="ko" sz="2400" cap="none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7B80B36-1BD6-0C45-A304-60C53DC00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FC6C6C-A61D-877F-34B9-4171D276D037}"/>
              </a:ext>
            </a:extLst>
          </p:cNvPr>
          <p:cNvSpPr txBox="1"/>
          <p:nvPr/>
        </p:nvSpPr>
        <p:spPr>
          <a:xfrm>
            <a:off x="610149" y="1528927"/>
            <a:ext cx="8886276" cy="424731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  <a:b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데이터 생성</a:t>
            </a:r>
          </a:p>
          <a:p>
            <a:pPr>
              <a:buNone/>
            </a:pP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base_vector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np.linspace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10, 10).reshape(-1, 1) # (10,1) 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행렬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weights =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([[1, 2, 0.5, 10, -1]]) # (1, 5) 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행렬</a:t>
            </a:r>
            <a:b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en-US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선형변환</a:t>
            </a:r>
          </a:p>
          <a:p>
            <a:pPr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matrix_rank_1 = np.dot(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base_vector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weights) # (10,1) @ (1,5) = (10,5) 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행렬</a:t>
            </a:r>
          </a:p>
          <a:p>
            <a:pPr>
              <a:buNone/>
            </a:pPr>
            <a:endParaRPr lang="ko-KR" altLang="en-US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공분산 행렬</a:t>
            </a:r>
          </a:p>
          <a:p>
            <a:pPr>
              <a:buNone/>
            </a:pP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cov_base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np.cov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base_vector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rowvar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  # 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분산</a:t>
            </a:r>
          </a:p>
          <a:p>
            <a:pPr>
              <a:buNone/>
            </a:pP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cov_trans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np.cov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(matrix_rank_1,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rowvar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</a:t>
            </a:r>
            <a:b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en-US" altLang="ko-KR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eigenvalue 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계산</a:t>
            </a:r>
          </a:p>
          <a:p>
            <a:pPr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base_vector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공분산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분산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은 스칼라이므로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eigvals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적용할 수 없음</a:t>
            </a:r>
          </a:p>
          <a:p>
            <a:pPr>
              <a:buNone/>
            </a:pP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eig_trans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np.linalg.eigvals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cov_trans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4872592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7D67CD-FBD2-ABDB-8546-606C6B959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608748B-CAD3-B066-33B0-3AC7C6280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394568" cy="640080"/>
          </a:xfrm>
        </p:spPr>
        <p:txBody>
          <a:bodyPr rtlCol="0">
            <a:noAutofit/>
          </a:bodyPr>
          <a:lstStyle/>
          <a:p>
            <a:pPr algn="l"/>
            <a:r>
              <a:rPr lang="en-US" altLang="ko-KR" sz="2400" cap="none" dirty="0">
                <a:cs typeface="Segoe UI Light" panose="020B0502040204020203" pitchFamily="34" charset="0"/>
              </a:rPr>
              <a:t>Rank of Matrix</a:t>
            </a:r>
            <a:endParaRPr lang="ko" sz="2400" cap="none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1559F66-3ACC-FA0F-4720-EC8219B20E6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19</a:t>
            </a:fld>
            <a:endParaRPr lang="ko-KR" altLang="en-US" noProof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BAF124-81A7-3727-274F-2EAA4F2A2624}"/>
              </a:ext>
            </a:extLst>
          </p:cNvPr>
          <p:cNvSpPr txBox="1"/>
          <p:nvPr/>
        </p:nvSpPr>
        <p:spPr>
          <a:xfrm>
            <a:off x="618576" y="1462252"/>
            <a:ext cx="8106324" cy="4557786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원래 행렬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shape: {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base_vector.shape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}")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변환 행렬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shape: {matrix_rank_1.shape}\n")</a:t>
            </a:r>
          </a:p>
          <a:p>
            <a:pPr>
              <a:lnSpc>
                <a:spcPct val="150000"/>
              </a:lnSpc>
              <a:buNone/>
            </a:pP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원래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Rank: {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np.linalg.matrix_rank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base_vector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)}")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print(f"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변환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Rank: {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np.linalg.matrix_rank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(matrix_rank_1)}\n")</a:t>
            </a:r>
            <a:endParaRPr lang="en-US" altLang="ko-KR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endParaRPr lang="en-US" altLang="ko-KR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print("=== 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공분산 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===")</a:t>
            </a:r>
            <a:endParaRPr lang="ko-KR" altLang="en-US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원래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:\n",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cov_base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변환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:\n",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cov_trans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  <a:buNone/>
            </a:pPr>
            <a:endParaRPr lang="en-US" altLang="ko-KR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print("\n=== Eigenvalues ===")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원래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(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단일 특성의 분산은 스칼라이므로 </a:t>
            </a:r>
            <a:r>
              <a:rPr lang="ko-KR" altLang="en-US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고유값이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없습니다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)")</a:t>
            </a:r>
            <a:endParaRPr lang="ko-KR" altLang="en-US" sz="15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print("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변환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:",</a:t>
            </a:r>
            <a:r>
              <a:rPr lang="ko-KR" altLang="en-US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eig_trans</a:t>
            </a:r>
            <a:r>
              <a:rPr lang="en-US" altLang="ko-KR" sz="15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500" dirty="0"/>
          </a:p>
        </p:txBody>
      </p:sp>
    </p:spTree>
    <p:extLst>
      <p:ext uri="{BB962C8B-B14F-4D97-AF65-F5344CB8AC3E}">
        <p14:creationId xmlns:p14="http://schemas.microsoft.com/office/powerpoint/2010/main" val="8126399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BCD4B5-49B6-8434-6AA9-B6025B5F8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0DC900B9-E575-3C6F-0002-24C43085AA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394568" cy="640080"/>
          </a:xfrm>
        </p:spPr>
        <p:txBody>
          <a:bodyPr rtlCol="0">
            <a:noAutofit/>
          </a:bodyPr>
          <a:lstStyle/>
          <a:p>
            <a:pPr algn="l"/>
            <a:r>
              <a:rPr lang="en-US" altLang="ko-KR" sz="2400" cap="none" dirty="0">
                <a:cs typeface="Segoe UI Light" panose="020B0502040204020203" pitchFamily="34" charset="0"/>
              </a:rPr>
              <a:t>Rank of Matrix</a:t>
            </a:r>
            <a:endParaRPr lang="ko" sz="2400" cap="none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6A4EB4A-C048-222D-7151-D1ADD961FC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20</a:t>
            </a:fld>
            <a:endParaRPr lang="ko-KR" alt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306F87-CB9F-DCC1-7422-1FBE48C1B880}"/>
              </a:ext>
            </a:extLst>
          </p:cNvPr>
          <p:cNvSpPr txBox="1"/>
          <p:nvPr/>
        </p:nvSpPr>
        <p:spPr>
          <a:xfrm>
            <a:off x="618575" y="1455704"/>
            <a:ext cx="9830349" cy="455817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총변동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(eigenvalue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합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total_var_base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cov_base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#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cov_base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자체가 분산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총변동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입니다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total_var_trans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eig_trans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  <a:buNone/>
            </a:pP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print("\n===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총변동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(Eigenvalue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합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===")</a:t>
            </a:r>
            <a:endParaRPr lang="ko-KR" altLang="en-US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print("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원래 행렬의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총변동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:",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total_var_base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print("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변환된 행렬의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총변동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:",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total_var_trans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lnSpc>
                <a:spcPct val="150000"/>
              </a:lnSpc>
              <a:buNone/>
            </a:pP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# weights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을 적용함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weights_norm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weights /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np.linalg.norm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(weights)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matrix_norm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base_vector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@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weights_norm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cov_norm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np.cov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matrix_norm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rowvar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=False)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f"norm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으로 변환된 행렬의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총변동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: {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np.sum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np.linalg.eigvals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cov_norm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))}")</a:t>
            </a:r>
          </a:p>
        </p:txBody>
      </p:sp>
    </p:spTree>
    <p:extLst>
      <p:ext uri="{BB962C8B-B14F-4D97-AF65-F5344CB8AC3E}">
        <p14:creationId xmlns:p14="http://schemas.microsoft.com/office/powerpoint/2010/main" val="3580617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31E9B-DC1C-C687-ACF2-C837C2EB0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B352C18C-02FC-DB44-6C9C-E85E74559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1394568" cy="640080"/>
          </a:xfrm>
        </p:spPr>
        <p:txBody>
          <a:bodyPr rtlCol="0">
            <a:noAutofit/>
          </a:bodyPr>
          <a:lstStyle/>
          <a:p>
            <a:pPr algn="l"/>
            <a:r>
              <a:rPr lang="en-US" altLang="ko-KR" sz="2400" cap="none" dirty="0">
                <a:cs typeface="Segoe UI Light" panose="020B0502040204020203" pitchFamily="34" charset="0"/>
              </a:rPr>
              <a:t>Compressing</a:t>
            </a:r>
            <a:r>
              <a:rPr lang="ko-KR" altLang="en-US" sz="2400" cap="none" dirty="0">
                <a:cs typeface="Segoe UI Light" panose="020B0502040204020203" pitchFamily="34" charset="0"/>
              </a:rPr>
              <a:t> </a:t>
            </a:r>
            <a:r>
              <a:rPr lang="en-US" altLang="ko-KR" sz="2400" cap="none" dirty="0">
                <a:cs typeface="Segoe UI Light" panose="020B0502040204020203" pitchFamily="34" charset="0"/>
              </a:rPr>
              <a:t>Images – Reducing rank by random choice of features</a:t>
            </a:r>
            <a:endParaRPr lang="ko" sz="2400" cap="none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613EB8A-BEA6-A6CD-7C7A-09A826670B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21</a:t>
            </a:fld>
            <a:endParaRPr lang="ko-KR" alt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1188EFB-4524-4DD2-6EFA-8D2AC221E9D7}"/>
              </a:ext>
            </a:extLst>
          </p:cNvPr>
          <p:cNvSpPr txBox="1"/>
          <p:nvPr/>
        </p:nvSpPr>
        <p:spPr>
          <a:xfrm>
            <a:off x="609600" y="1304243"/>
            <a:ext cx="5486400" cy="2797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url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"https://img.tf.co.kr/article/home/2025/07/22/202598011753169335.jpg"</a:t>
            </a:r>
          </a:p>
        </p:txBody>
      </p:sp>
      <p:pic>
        <p:nvPicPr>
          <p:cNvPr id="11268" name="Picture 4">
            <a:extLst>
              <a:ext uri="{FF2B5EF4-FFF2-40B4-BE49-F238E27FC236}">
                <a16:creationId xmlns:a16="http://schemas.microsoft.com/office/drawing/2014/main" id="{3173D52B-4178-8B02-04E4-68AA1DAE0D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8436" y="1800107"/>
            <a:ext cx="8986982" cy="4869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1876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D481C-56DE-A303-2D4C-E12ED6DB1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B6562AF-EDD3-7FD9-789C-A59F62BFA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pPr algn="l"/>
            <a:r>
              <a:rPr lang="en-US" altLang="ko-KR" cap="none" dirty="0">
                <a:cs typeface="Segoe UI Light" panose="020B0502040204020203" pitchFamily="34" charset="0"/>
              </a:rPr>
              <a:t>Compressing</a:t>
            </a:r>
            <a:r>
              <a:rPr lang="ko-KR" altLang="en-US" cap="none" dirty="0"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cs typeface="Segoe UI Light" panose="020B0502040204020203" pitchFamily="34" charset="0"/>
              </a:rPr>
              <a:t>Images – Reducing rank by SVD, PCA</a:t>
            </a:r>
            <a:endParaRPr lang="ko" cap="none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0C72ECB-26ED-AC43-69FC-B181EE6AD3E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22</a:t>
            </a:fld>
            <a:endParaRPr lang="ko-KR" altLang="en-US" noProof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C1EDBD8-B293-7B46-746E-84D1944B03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8508" y="1820059"/>
            <a:ext cx="8765310" cy="47490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51210D5-7927-EB22-F5B4-C0811943D190}"/>
              </a:ext>
            </a:extLst>
          </p:cNvPr>
          <p:cNvSpPr txBox="1"/>
          <p:nvPr/>
        </p:nvSpPr>
        <p:spPr>
          <a:xfrm>
            <a:off x="604333" y="1358737"/>
            <a:ext cx="52004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Rank </a:t>
            </a:r>
            <a:r>
              <a:rPr lang="ko-KR" altLang="en-US" dirty="0"/>
              <a:t>가 </a:t>
            </a:r>
            <a:r>
              <a:rPr lang="en-US" altLang="ko-KR" dirty="0"/>
              <a:t>30, 10, 5</a:t>
            </a:r>
            <a:r>
              <a:rPr lang="ko-KR" altLang="en-US" dirty="0"/>
              <a:t>인데도 </a:t>
            </a:r>
            <a:r>
              <a:rPr lang="en-US" altLang="ko-KR" dirty="0"/>
              <a:t>face </a:t>
            </a:r>
            <a:r>
              <a:rPr lang="ko-KR" altLang="en-US" dirty="0"/>
              <a:t>식별이 가능한 이유</a:t>
            </a:r>
            <a:r>
              <a:rPr lang="en-US" altLang="ko-KR" dirty="0"/>
              <a:t>?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567591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03F3BF-5796-165E-59FD-C5E0E838CC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0AB4B5FC-1951-DC9A-2887-2CB7803FE4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pPr algn="l"/>
            <a:r>
              <a:rPr lang="en-US" altLang="ko" cap="none" dirty="0">
                <a:cs typeface="Segoe UI Light" panose="020B0502040204020203" pitchFamily="34" charset="0"/>
              </a:rPr>
              <a:t>Total</a:t>
            </a:r>
            <a:r>
              <a:rPr lang="ko-KR" altLang="en-US" cap="none" dirty="0"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cs typeface="Segoe UI Light" panose="020B0502040204020203" pitchFamily="34" charset="0"/>
              </a:rPr>
              <a:t>Variance</a:t>
            </a:r>
            <a:r>
              <a:rPr lang="ko-KR" altLang="en-US" cap="none" dirty="0"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cs typeface="Segoe UI Light" panose="020B0502040204020203" pitchFamily="34" charset="0"/>
              </a:rPr>
              <a:t>of</a:t>
            </a:r>
            <a:r>
              <a:rPr lang="ko-KR" altLang="en-US" cap="none" dirty="0"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cs typeface="Segoe UI Light" panose="020B0502040204020203" pitchFamily="34" charset="0"/>
              </a:rPr>
              <a:t>Matrix</a:t>
            </a:r>
            <a:endParaRPr lang="ko" cap="none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CAAD6EB-6463-0B19-61BA-D998701267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81C1A34-D915-D18A-5B13-3B13DC810727}"/>
              </a:ext>
            </a:extLst>
          </p:cNvPr>
          <p:cNvSpPr txBox="1"/>
          <p:nvPr/>
        </p:nvSpPr>
        <p:spPr>
          <a:xfrm>
            <a:off x="604333" y="1196812"/>
            <a:ext cx="10977518" cy="11526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데이터의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총변동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분산의 합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계산한 뒤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그 값을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2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차원 공간에 동일하게 나누어 배치함으로써 차원이 달라도 전체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변동량은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같다는 것을 보여주며 데이터의 차원이 줄어들면 정보가 사라지는 것이 아니라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분산이 적은 축으로 “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집중”되면서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총변동은 그대로 유지될 수 있음을 확인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BD616B-51CA-2EFE-B2F4-5D841D887C69}"/>
              </a:ext>
            </a:extLst>
          </p:cNvPr>
          <p:cNvSpPr txBox="1"/>
          <p:nvPr/>
        </p:nvSpPr>
        <p:spPr>
          <a:xfrm>
            <a:off x="1572174" y="2564844"/>
            <a:ext cx="6533601" cy="310854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as np</a:t>
            </a:r>
          </a:p>
          <a:p>
            <a:pPr>
              <a:buNone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sklearn.datasets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import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make_regression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np.random.seed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(42)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1) 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데이터 생성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X10, _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make_regression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n_samples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=500,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n_features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=30, noise=10.0)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np.trace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(X10,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rowvar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=False))  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총변동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X2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np.random.multivariate_normal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mean=[0, 0],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=(T/2) *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np.eye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(2),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size=500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)# 3)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총변동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비교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T2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np.trace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np.cov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(X2,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rowvar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=False))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print("30D total variance:", T)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print("2D total variance:", T2)</a:t>
            </a:r>
          </a:p>
        </p:txBody>
      </p:sp>
    </p:spTree>
    <p:extLst>
      <p:ext uri="{BB962C8B-B14F-4D97-AF65-F5344CB8AC3E}">
        <p14:creationId xmlns:p14="http://schemas.microsoft.com/office/powerpoint/2010/main" val="1238607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C6058-BCAC-5973-88B3-9937643CD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F1D1540C-C9B8-D40C-73EE-259E915371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070468" cy="640080"/>
          </a:xfrm>
        </p:spPr>
        <p:txBody>
          <a:bodyPr rtlCol="0">
            <a:normAutofit/>
          </a:bodyPr>
          <a:lstStyle/>
          <a:p>
            <a:pPr algn="l"/>
            <a:r>
              <a:rPr lang="ko-KR" altLang="en-US" cap="none" dirty="0" err="1">
                <a:cs typeface="Segoe UI Light" panose="020B0502040204020203" pitchFamily="34" charset="0"/>
              </a:rPr>
              <a:t>총변동량</a:t>
            </a:r>
            <a:r>
              <a:rPr lang="en-US" altLang="ko-KR" cap="none" dirty="0">
                <a:cs typeface="Segoe UI Light" panose="020B0502040204020203" pitchFamily="34" charset="0"/>
              </a:rPr>
              <a:t>(</a:t>
            </a:r>
            <a:r>
              <a:rPr lang="en-US" altLang="ko" cap="none" dirty="0">
                <a:cs typeface="Segoe UI Light" panose="020B0502040204020203" pitchFamily="34" charset="0"/>
              </a:rPr>
              <a:t>Total</a:t>
            </a:r>
            <a:r>
              <a:rPr lang="ko-KR" altLang="en-US" cap="none" dirty="0"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cs typeface="Segoe UI Light" panose="020B0502040204020203" pitchFamily="34" charset="0"/>
              </a:rPr>
              <a:t>Variance)</a:t>
            </a:r>
            <a:r>
              <a:rPr lang="ko-KR" altLang="en-US" cap="none" dirty="0"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cs typeface="Segoe UI Light" panose="020B0502040204020203" pitchFamily="34" charset="0"/>
              </a:rPr>
              <a:t>of</a:t>
            </a:r>
            <a:r>
              <a:rPr lang="ko-KR" altLang="en-US" cap="none" dirty="0">
                <a:cs typeface="Segoe UI Light" panose="020B0502040204020203" pitchFamily="34" charset="0"/>
              </a:rPr>
              <a:t> </a:t>
            </a:r>
            <a:r>
              <a:rPr lang="en-US" altLang="ko-KR" cap="none" dirty="0">
                <a:cs typeface="Segoe UI Light" panose="020B0502040204020203" pitchFamily="34" charset="0"/>
              </a:rPr>
              <a:t>Matrix</a:t>
            </a:r>
            <a:endParaRPr lang="ko" cap="none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D43EB65-3E9B-ECE8-23C1-24B298B146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24</a:t>
            </a:fld>
            <a:endParaRPr lang="ko-KR" altLang="en-US" noProof="0"/>
          </a:p>
        </p:txBody>
      </p:sp>
      <p:pic>
        <p:nvPicPr>
          <p:cNvPr id="1026" name="Picture 2" descr="The original 3-dimensional data set. The red, blue, green arrows are the direction of the first, second, and third principal components, respectively. Image by the author.">
            <a:extLst>
              <a:ext uri="{FF2B5EF4-FFF2-40B4-BE49-F238E27FC236}">
                <a16:creationId xmlns:a16="http://schemas.microsoft.com/office/drawing/2014/main" id="{FD5454AF-9D9D-C1F8-13C5-FB50F151091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775" y="2264094"/>
            <a:ext cx="4371975" cy="32643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catterplot after PCA reduced from 3-dimensions to 2-dimensions. Image by the author.">
            <a:extLst>
              <a:ext uri="{FF2B5EF4-FFF2-40B4-BE49-F238E27FC236}">
                <a16:creationId xmlns:a16="http://schemas.microsoft.com/office/drawing/2014/main" id="{FD1F97AF-8F47-3913-BD7E-049B0A55E8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7449" y="2264095"/>
            <a:ext cx="5230069" cy="3264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E94DDF2-FA83-1528-ED94-B305BA82EC2A}"/>
              </a:ext>
            </a:extLst>
          </p:cNvPr>
          <p:cNvSpPr txBox="1"/>
          <p:nvPr/>
        </p:nvSpPr>
        <p:spPr>
          <a:xfrm>
            <a:off x="807720" y="5561675"/>
            <a:ext cx="45339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rgbClr val="2A2A2A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original 3-dimensional data set. The red, blue, green arrows are the direction of the first, second, and third principal components, respectively.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036BE2-058E-F2B0-994D-58F741FF8627}"/>
              </a:ext>
            </a:extLst>
          </p:cNvPr>
          <p:cNvSpPr txBox="1"/>
          <p:nvPr/>
        </p:nvSpPr>
        <p:spPr>
          <a:xfrm>
            <a:off x="6267449" y="5561675"/>
            <a:ext cx="45339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0" i="0" dirty="0">
                <a:solidFill>
                  <a:srgbClr val="2A2A2A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Scatterplot after PCA reduced from 3-dimensions to 2-dimensions. </a:t>
            </a:r>
            <a:endParaRPr lang="ko-KR" altLang="en-US" sz="12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FC5D7F7-968B-3650-11E3-08E33038F536}"/>
              </a:ext>
            </a:extLst>
          </p:cNvPr>
          <p:cNvSpPr txBox="1"/>
          <p:nvPr/>
        </p:nvSpPr>
        <p:spPr>
          <a:xfrm>
            <a:off x="521206" y="1219111"/>
            <a:ext cx="10976311" cy="783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0" i="0" dirty="0">
                <a:solidFill>
                  <a:srgbClr val="2A2A2A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Principal component analysis (PCA) is a technique that transforms high-dimensions data into lower-dimensions while retaining as much information as possible.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058976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6BD3A-EE14-2467-AD61-91324A7F0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37BCDE5-4265-7787-19C6-E72CD7BBF7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EC6C347-2434-8363-FDBC-4993208CB100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Undestanding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503D835E-99D8-D1C5-C9A7-2D439DD85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Understanding of PCA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주성분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분석을 시각화로 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639359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E5B62D-C56C-8C8A-D635-BDAE2165A5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5A8DC34F-90C7-F8C5-68DD-229C5975A182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(1/3)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내용 개체 틀 2">
                <a:extLst>
                  <a:ext uri="{FF2B5EF4-FFF2-40B4-BE49-F238E27FC236}">
                    <a16:creationId xmlns:a16="http://schemas.microsoft.com/office/drawing/2014/main" id="{91FDA13A-3F77-01E4-A0CC-B5119286E96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13794" y="1070316"/>
                <a:ext cx="9820881" cy="872839"/>
              </a:xfrm>
              <a:prstGeom prst="rect">
                <a:avLst/>
              </a:prstGeom>
            </p:spPr>
            <p:txBody>
              <a:bodyPr>
                <a:normAutofit fontScale="92500" lnSpcReduction="10000"/>
              </a:bodyPr>
              <a:lstStyle>
                <a:lvl1pPr marL="228600" indent="-228600" algn="l" defTabSz="914400" rtl="0" eaLnBrk="1" latinLnBrk="1" hangingPunct="1">
                  <a:lnSpc>
                    <a:spcPct val="120000"/>
                  </a:lnSpc>
                  <a:spcBef>
                    <a:spcPts val="10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20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8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6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1" hangingPunct="1">
                  <a:lnSpc>
                    <a:spcPct val="120000"/>
                  </a:lnSpc>
                  <a:spcBef>
                    <a:spcPts val="500"/>
                  </a:spcBef>
                  <a:buClr>
                    <a:schemeClr val="tx1"/>
                  </a:buClr>
                  <a:buFont typeface="Arial" panose="020B0604020202020204" pitchFamily="34" charset="0"/>
                  <a:buChar char="•"/>
                  <a:defRPr sz="1400" kern="1200" cap="all" baseline="0">
                    <a:solidFill>
                      <a:schemeClr val="tx1"/>
                    </a:solidFill>
                    <a:effectLst/>
                    <a:latin typeface="+mn-lt"/>
                    <a:ea typeface="+mn-ea"/>
                    <a:cs typeface="+mn-cs"/>
                  </a:defRPr>
                </a:lvl9pPr>
              </a:lstStyle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표준 기저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e</m:t>
                        </m:r>
                      </m:e>
                      <m:sub>
                        <m: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2100" i="1" cap="none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altLang="ko-KR" sz="2100" i="1" cap="none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e</m:t>
                        </m:r>
                      </m:e>
                      <m:sub>
                        <m:r>
                          <a:rPr lang="en-US" altLang="ko-KR" sz="2100" b="0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2</m:t>
                        </m:r>
                      </m:sub>
                    </m:sSub>
                  </m:oMath>
                </a14:m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행렬에 의해 정확히 행렬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A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</a:t>
                </a:r>
                <a:r>
                  <a:rPr lang="ko-KR" altLang="en-US" sz="2100" cap="none" dirty="0" err="1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열벡터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(2,3), (1,4)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선형변화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매핑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되고</a:t>
                </a:r>
                <a:r>
                  <a:rPr lang="en-US" altLang="ko-KR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, </a:t>
                </a:r>
                <a:r>
                  <a:rPr lang="ko-KR" altLang="en-US" sz="21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단위 정사각형이 평행사변형으로 변환</a:t>
                </a:r>
                <a:endParaRPr lang="en-US" altLang="ko-KR" sz="2100" cap="none" dirty="0">
                  <a:latin typeface="맑은 고딕 Semilight" panose="020B0502040204020203" pitchFamily="50" charset="-127"/>
                  <a:ea typeface="맑은 고딕 Semilight" panose="020B0502040204020203" pitchFamily="50" charset="-127"/>
                  <a:cs typeface="맑은 고딕 Semilight" panose="020B0502040204020203" pitchFamily="50" charset="-127"/>
                </a:endParaRPr>
              </a:p>
            </p:txBody>
          </p:sp>
        </mc:Choice>
        <mc:Fallback xmlns="">
          <p:sp>
            <p:nvSpPr>
              <p:cNvPr id="9" name="내용 개체 틀 2">
                <a:extLst>
                  <a:ext uri="{FF2B5EF4-FFF2-40B4-BE49-F238E27FC236}">
                    <a16:creationId xmlns:a16="http://schemas.microsoft.com/office/drawing/2014/main" id="{91FDA13A-3F77-01E4-A0CC-B5119286E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94" y="1070316"/>
                <a:ext cx="9820881" cy="872839"/>
              </a:xfrm>
              <a:prstGeom prst="rect">
                <a:avLst/>
              </a:prstGeom>
              <a:blipFill>
                <a:blip r:embed="rId2"/>
                <a:stretch>
                  <a:fillRect l="-497" b="-979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2D810127-F36F-F750-36B2-F991D65CAA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E07B2FFB-229C-9856-0910-69A35DE404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9676" y="2069849"/>
            <a:ext cx="9033577" cy="441282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CE6F89DE-B4DF-E058-CF78-380106D89E25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9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4467225" y="3101805"/>
            <a:ext cx="2135194" cy="1775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988638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4E58B-E027-B2B0-B8EB-75A34B70B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2">
            <a:extLst>
              <a:ext uri="{FF2B5EF4-FFF2-40B4-BE49-F238E27FC236}">
                <a16:creationId xmlns:a16="http://schemas.microsoft.com/office/drawing/2014/main" id="{F2E9924A-0166-2BF4-B339-E2DEBED57E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8098" y="2129648"/>
            <a:ext cx="8769352" cy="4351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E728BFC4-53E5-BC11-044B-4B5C9539EE4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(2/3)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C6696286-0EB0-4D93-69FB-A9C56117CE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9A56CA-75FB-0E83-0E74-06E43B60B916}"/>
              </a:ext>
            </a:extLst>
          </p:cNvPr>
          <p:cNvSpPr txBox="1"/>
          <p:nvPr/>
        </p:nvSpPr>
        <p:spPr>
          <a:xfrm>
            <a:off x="1641903" y="3360567"/>
            <a:ext cx="3596848" cy="70788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mean = [2, 1]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cov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 = [[0.5, 0], [0, 0.2]] </a:t>
            </a:r>
            <a:endParaRPr lang="ko-KR" altLang="en-US" sz="1200" b="0" dirty="0">
              <a:effectLst/>
              <a:latin typeface="Aptos Narrow" panose="020B0004020202020204" pitchFamily="34" charset="0"/>
            </a:endParaRPr>
          </a:p>
          <a:p>
            <a:pPr>
              <a:lnSpc>
                <a:spcPts val="1575"/>
              </a:lnSpc>
              <a:buNone/>
            </a:pP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data = </a:t>
            </a: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np.random.multivariate_normal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(mean, </a:t>
            </a:r>
            <a:r>
              <a:rPr lang="en-US" altLang="ko-KR" sz="1200" b="0" dirty="0" err="1">
                <a:effectLst/>
                <a:latin typeface="Aptos Narrow" panose="020B0004020202020204" pitchFamily="34" charset="0"/>
              </a:rPr>
              <a:t>cov</a:t>
            </a:r>
            <a:r>
              <a:rPr lang="en-US" altLang="ko-KR" sz="1200" b="0" dirty="0">
                <a:effectLst/>
                <a:latin typeface="Aptos Narrow" panose="020B0004020202020204" pitchFamily="34" charset="0"/>
              </a:rPr>
              <a:t>, 300)</a:t>
            </a:r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A76CE5FD-59F3-5258-A057-D369D8685A4C}"/>
              </a:ext>
            </a:extLst>
          </p:cNvPr>
          <p:cNvSpPr txBox="1">
            <a:spLocks/>
          </p:cNvSpPr>
          <p:nvPr/>
        </p:nvSpPr>
        <p:spPr>
          <a:xfrm>
            <a:off x="913794" y="1070315"/>
            <a:ext cx="10706705" cy="831959"/>
          </a:xfrm>
          <a:prstGeom prst="rect">
            <a:avLst/>
          </a:prstGeom>
        </p:spPr>
        <p:txBody>
          <a:bodyPr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분포를 생성하고 행렬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((2,1), (3,4))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선형변환하면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새로운 기저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(2,3)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(1,4)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x1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과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x2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선형 합으로 데이터를 선형변환 한 것이다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2E1B69E-A794-FFDD-E298-D83ED5A2DC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2362" y="2084612"/>
            <a:ext cx="2135194" cy="1775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22093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825DC-DE68-65F6-09EA-36647289F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74D5D1B-942F-2499-638A-702F6C0E78B3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ko-KR" altLang="en-US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선형변환과 주성분 이해</a:t>
            </a:r>
            <a:r>
              <a:rPr lang="en-US" altLang="ko-KR" b="1" cap="none" dirty="0">
                <a:latin typeface="나눔고딕" pitchFamily="2" charset="-127"/>
                <a:ea typeface="나눔고딕" pitchFamily="2" charset="-127"/>
                <a:cs typeface="Times New Roman" panose="02020603050405020304" pitchFamily="18" charset="0"/>
              </a:rPr>
              <a:t>(3/3)</a:t>
            </a:r>
            <a:endParaRPr lang="ko-KR" altLang="en-US" b="1" cap="none" dirty="0">
              <a:latin typeface="나눔고딕" pitchFamily="2" charset="-127"/>
              <a:ea typeface="나눔고딕" pitchFamily="2" charset="-127"/>
              <a:cs typeface="Times New Roman" panose="02020603050405020304" pitchFamily="18" charset="0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6A79D7C4-9DAF-56C8-6022-B24CFD9C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pic>
        <p:nvPicPr>
          <p:cNvPr id="2" name="Picture 6">
            <a:extLst>
              <a:ext uri="{FF2B5EF4-FFF2-40B4-BE49-F238E27FC236}">
                <a16:creationId xmlns:a16="http://schemas.microsoft.com/office/drawing/2014/main" id="{1F1A5AA8-2CC4-07C0-5F12-95F244FEEC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6077" y="2571239"/>
            <a:ext cx="5192932" cy="3314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8">
            <a:extLst>
              <a:ext uri="{FF2B5EF4-FFF2-40B4-BE49-F238E27FC236}">
                <a16:creationId xmlns:a16="http://schemas.microsoft.com/office/drawing/2014/main" id="{F6B27DAA-3882-D126-BE42-5B74772B0D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9117" y="2123291"/>
            <a:ext cx="5192932" cy="3721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F71733FB-6BFB-1EB3-E879-87A8BBB4946D}"/>
              </a:ext>
            </a:extLst>
          </p:cNvPr>
          <p:cNvSpPr txBox="1">
            <a:spLocks/>
          </p:cNvSpPr>
          <p:nvPr/>
        </p:nvSpPr>
        <p:spPr>
          <a:xfrm>
            <a:off x="913794" y="1070315"/>
            <a:ext cx="10706705" cy="1196635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가상의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가우시안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분포를 생성하고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행렬로 선형변환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매핑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하면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고유벡터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(Eigen vector)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가 주성분임 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74587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12487-4066-E9B9-A601-533736ED5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A0241D-1994-FC82-D69B-0A68B2AAF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CAD98C4D-BA3A-37E3-866A-C8686B216CDE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Eigen value &amp; Eigen vector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1BE4A90-2671-6596-92C0-364DB0A350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2801" y="1866900"/>
            <a:ext cx="4537448" cy="46600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D21DEFFE-BE6E-C89F-DFD1-149A436685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2938" y="1866901"/>
            <a:ext cx="4551073" cy="4660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 6">
            <a:extLst>
              <a:ext uri="{FF2B5EF4-FFF2-40B4-BE49-F238E27FC236}">
                <a16:creationId xmlns:a16="http://schemas.microsoft.com/office/drawing/2014/main" id="{A5F13AEE-DD0E-3B1A-AAB5-ABA378887D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7237" y="870129"/>
            <a:ext cx="10715625" cy="8697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defTabSz="9144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§"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A가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공간을 무작위로 찌그러뜨리는 것 같지만,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A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행렬의 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고유벡터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라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특별한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Eigen vectors)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기준으로 보면 단순히 길이를 늘리거나(4배) 뒤집는(-1배) 연산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Eigenvalues)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하고 있다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.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29B97B-BCF9-D313-1736-B599A138C588}"/>
              </a:ext>
            </a:extLst>
          </p:cNvPr>
          <p:cNvSpPr txBox="1"/>
          <p:nvPr/>
        </p:nvSpPr>
        <p:spPr>
          <a:xfrm>
            <a:off x="8753791" y="3086093"/>
            <a:ext cx="113696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i="0" dirty="0">
                <a:solidFill>
                  <a:schemeClr val="accent4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Eigenvalues</a:t>
            </a:r>
          </a:p>
          <a:p>
            <a:r>
              <a:rPr lang="en-US" altLang="ko-KR" sz="1200" b="1" i="0" dirty="0">
                <a:solidFill>
                  <a:schemeClr val="accent4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[ 4. -1.] </a:t>
            </a:r>
            <a:endParaRPr lang="ko-KR" altLang="en-US" sz="12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DEE789-2360-2E57-1572-04EFF9D6424E}"/>
              </a:ext>
            </a:extLst>
          </p:cNvPr>
          <p:cNvSpPr txBox="1"/>
          <p:nvPr/>
        </p:nvSpPr>
        <p:spPr>
          <a:xfrm>
            <a:off x="6819900" y="3265571"/>
            <a:ext cx="178308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b="1" i="0" dirty="0">
                <a:solidFill>
                  <a:srgbClr val="00B05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Eigenvectors </a:t>
            </a:r>
          </a:p>
          <a:p>
            <a:r>
              <a:rPr lang="en-US" altLang="ko-KR" sz="1200" b="1" i="0" dirty="0">
                <a:solidFill>
                  <a:srgbClr val="00B05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[[ 0.83 -0.71] </a:t>
            </a:r>
          </a:p>
          <a:p>
            <a:r>
              <a:rPr lang="en-US" altLang="ko-KR" sz="1200" b="1" dirty="0">
                <a:solidFill>
                  <a:srgbClr val="00B050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en-US" altLang="ko-KR" sz="1200" b="1" i="0" dirty="0">
                <a:solidFill>
                  <a:srgbClr val="00B050"/>
                </a:solidFill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[ 0.55 0.71]]</a:t>
            </a:r>
            <a:endParaRPr lang="ko-KR" altLang="en-US" sz="1200" b="1" dirty="0">
              <a:solidFill>
                <a:srgbClr val="00B050"/>
              </a:solidFill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041071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95A05-AD8A-4312-2266-14EB3FF74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>
            <a:extLst>
              <a:ext uri="{FF2B5EF4-FFF2-40B4-BE49-F238E27FC236}">
                <a16:creationId xmlns:a16="http://schemas.microsoft.com/office/drawing/2014/main" id="{1EC2804F-41A4-5101-2BDC-FC966F15EAEB}"/>
              </a:ext>
            </a:extLst>
          </p:cNvPr>
          <p:cNvPicPr>
            <a:picLocks noGrp="1" noChangeAspect="1" noChangeArrowheads="1"/>
          </p:cNvPicPr>
          <p:nvPr>
            <p:ph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1524" y="1614619"/>
            <a:ext cx="5774697" cy="40247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1656C6E6-6881-C1B3-F43B-81E4D1656F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10424" y="1378837"/>
            <a:ext cx="4210051" cy="4260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제목 1">
            <a:extLst>
              <a:ext uri="{FF2B5EF4-FFF2-40B4-BE49-F238E27FC236}">
                <a16:creationId xmlns:a16="http://schemas.microsoft.com/office/drawing/2014/main" id="{D3F55857-3EC6-8FE3-FB8E-AA2D6945375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 err="1">
                <a:latin typeface="Times New Roman" panose="02020603050405020304" pitchFamily="18" charset="0"/>
                <a:cs typeface="Times New Roman" panose="02020603050405020304" pitchFamily="18" charset="0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Eigenvalues_and_eigenvectors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98021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DF4DCC-2219-0BAB-D637-2653B9348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399486-55C8-1E83-C07C-51A8D03AB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FD8DB989-8DE9-D0DE-7F4B-F927980EA394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 Combination of Eigen Faces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2D7AAC7A-9724-5ED3-18A4-CC4F34D94D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3794" y="1009355"/>
                <a:ext cx="10706705" cy="1196635"/>
              </a:xfrm>
            </p:spPr>
            <p:txBody>
              <a:bodyPr>
                <a:noAutofit/>
              </a:bodyPr>
              <a:lstStyle/>
              <a:p>
                <a:pPr>
                  <a:lnSpc>
                    <a:spcPct val="150000"/>
                  </a:lnSpc>
                  <a:buFont typeface="Wingdings" panose="05000000000000000000" pitchFamily="2" charset="2"/>
                  <a:buChar char="§"/>
                </a:pP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압축된 얼굴 이미지는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8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</m:ctrlPr>
                      </m:sSubPr>
                      <m:e>
                        <m:r>
                          <a:rPr lang="en-US" altLang="ko-KR" sz="18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(</m:t>
                        </m:r>
                        <m:r>
                          <a:rPr lang="en-US" altLang="ko-KR" sz="18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𝒙</m:t>
                        </m:r>
                      </m:e>
                      <m:sub>
                        <m:r>
                          <a:rPr lang="en-US" altLang="ko-KR" sz="1800" b="1" i="1" cap="none" smtClean="0">
                            <a:latin typeface="Cambria Math" panose="02040503050406030204" pitchFamily="18" charset="0"/>
                            <a:ea typeface="맑은 고딕 Semilight" panose="020B0502040204020203" pitchFamily="50" charset="-127"/>
                            <a:cs typeface="맑은 고딕 Semilight" panose="020B0502040204020203" pitchFamily="50" charset="-127"/>
                          </a:rPr>
                          <m:t>𝒊</m:t>
                        </m:r>
                      </m:sub>
                    </m:sSub>
                    <m:r>
                      <a:rPr lang="en-US" altLang="ko-KR" sz="1800" b="1" i="1" cap="none" smtClean="0">
                        <a:latin typeface="Cambria Math" panose="02040503050406030204" pitchFamily="18" charset="0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rPr>
                      <m:t>)</m:t>
                    </m:r>
                  </m:oMath>
                </a14:m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가중치 벡터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(Weight Vector)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원본 얼굴을 똑같이 재현하기 위해 어떤 주성분 얼굴들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(Eigen Faces)</a:t>
                </a:r>
                <a:r>
                  <a:rPr lang="ko-KR" altLang="en-US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이 각각 얼마나 필요한 지를 나타내는 계수들의 집합</a:t>
                </a:r>
                <a:r>
                  <a:rPr lang="en-US" altLang="ko-KR" sz="1800" cap="none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(Linear Combination of Eigen Faces)</a:t>
                </a:r>
              </a:p>
            </p:txBody>
          </p:sp>
        </mc:Choice>
        <mc:Fallback>
          <p:sp>
            <p:nvSpPr>
              <p:cNvPr id="5" name="내용 개체 틀 2">
                <a:extLst>
                  <a:ext uri="{FF2B5EF4-FFF2-40B4-BE49-F238E27FC236}">
                    <a16:creationId xmlns:a16="http://schemas.microsoft.com/office/drawing/2014/main" id="{2D7AAC7A-9724-5ED3-18A4-CC4F34D94D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3794" y="1009355"/>
                <a:ext cx="10706705" cy="1196635"/>
              </a:xfrm>
              <a:blipFill>
                <a:blip r:embed="rId2"/>
                <a:stretch>
                  <a:fillRect l="-399" b="-1479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그림 2">
            <a:extLst>
              <a:ext uri="{FF2B5EF4-FFF2-40B4-BE49-F238E27FC236}">
                <a16:creationId xmlns:a16="http://schemas.microsoft.com/office/drawing/2014/main" id="{C3DF88BB-1F83-EAAD-283E-E273CA435E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8496" y="2692308"/>
            <a:ext cx="901235" cy="1524645"/>
          </a:xfrm>
          <a:prstGeom prst="rect">
            <a:avLst/>
          </a:prstGeom>
        </p:spPr>
      </p:pic>
      <p:grpSp>
        <p:nvGrpSpPr>
          <p:cNvPr id="12" name="그룹 11">
            <a:extLst>
              <a:ext uri="{FF2B5EF4-FFF2-40B4-BE49-F238E27FC236}">
                <a16:creationId xmlns:a16="http://schemas.microsoft.com/office/drawing/2014/main" id="{59850887-FA84-6932-78C8-28A48DF0DD23}"/>
              </a:ext>
            </a:extLst>
          </p:cNvPr>
          <p:cNvGrpSpPr/>
          <p:nvPr/>
        </p:nvGrpSpPr>
        <p:grpSpPr>
          <a:xfrm>
            <a:off x="2082717" y="2527857"/>
            <a:ext cx="7366382" cy="3873529"/>
            <a:chOff x="1606168" y="2181196"/>
            <a:chExt cx="7928357" cy="4038740"/>
          </a:xfrm>
        </p:grpSpPr>
        <p:pic>
          <p:nvPicPr>
            <p:cNvPr id="12290" name="Picture 2" descr="Linear Combination of EigenFaces">
              <a:extLst>
                <a:ext uri="{FF2B5EF4-FFF2-40B4-BE49-F238E27FC236}">
                  <a16:creationId xmlns:a16="http://schemas.microsoft.com/office/drawing/2014/main" id="{609C152E-5A52-54CC-DF19-EFAF2DC264C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606168" y="2524126"/>
              <a:ext cx="7928357" cy="369581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DC0D49F6-0D9F-05FF-14AF-A84B40F5DB7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606168" y="2181196"/>
              <a:ext cx="7928357" cy="34293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7F849CC-71C0-4D63-6954-F9077A3733FD}"/>
                    </a:ext>
                  </a:extLst>
                </p:cNvPr>
                <p:cNvSpPr txBox="1"/>
                <p:nvPr/>
              </p:nvSpPr>
              <p:spPr>
                <a:xfrm>
                  <a:off x="2275321" y="2568761"/>
                  <a:ext cx="838008" cy="4001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</m:ctrlPr>
                          </m:sSubPr>
                          <m:e>
                            <m: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  <m:t>𝒙</m:t>
                            </m:r>
                          </m:e>
                          <m:sub>
                            <m:r>
                              <a:rPr lang="en-US" altLang="ko-KR" sz="2000" b="1" i="1" cap="none" smtClean="0">
                                <a:latin typeface="Cambria Math" panose="02040503050406030204" pitchFamily="18" charset="0"/>
                                <a:ea typeface="맑은 고딕 Semilight" panose="020B0502040204020203" pitchFamily="50" charset="-127"/>
                                <a:cs typeface="맑은 고딕 Semilight" panose="020B0502040204020203" pitchFamily="50" charset="-127"/>
                              </a:rPr>
                              <m:t>𝒊</m:t>
                            </m:r>
                          </m:sub>
                        </m:sSub>
                      </m:oMath>
                    </m:oMathPara>
                  </a14:m>
                  <a:endParaRPr lang="ko-KR" altLang="en-US" sz="20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17F849CC-71C0-4D63-6954-F9077A3733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5321" y="2568761"/>
                  <a:ext cx="838008" cy="400110"/>
                </a:xfrm>
                <a:prstGeom prst="rect">
                  <a:avLst/>
                </a:prstGeom>
                <a:blipFill>
                  <a:blip r:embed="rId6"/>
                  <a:stretch>
                    <a:fillRect b="-4762"/>
                  </a:stretch>
                </a:blipFill>
              </p:spPr>
              <p:txBody>
                <a:bodyPr/>
                <a:lstStyle/>
                <a:p>
                  <a:r>
                    <a:rPr lang="ko-KR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1535602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5354C-9E3B-A472-9C1F-80823F5CA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E189F65D-167B-B5EE-E8D7-C2A4BEF2742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06D2BF00-A385-9818-F1A0-AF5C00351ECA}"/>
              </a:ext>
            </a:extLst>
          </p:cNvPr>
          <p:cNvSpPr txBox="1">
            <a:spLocks/>
          </p:cNvSpPr>
          <p:nvPr/>
        </p:nvSpPr>
        <p:spPr>
          <a:xfrm>
            <a:off x="913794" y="1070316"/>
            <a:ext cx="10706705" cy="129188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Python </a:t>
            </a:r>
            <a:r>
              <a:rPr lang="en-US" altLang="ko-KR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DataScience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Handbook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의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In Depth: Principal Component Analysis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에서 코드를 다운받아 주성분분석 코드를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이해하고 실습</a:t>
            </a:r>
            <a:endParaRPr lang="en-US" altLang="ko-KR" sz="21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4" name="슬라이드 번호 개체 틀 3">
            <a:extLst>
              <a:ext uri="{FF2B5EF4-FFF2-40B4-BE49-F238E27FC236}">
                <a16:creationId xmlns:a16="http://schemas.microsoft.com/office/drawing/2014/main" id="{9B13165B-37AB-7A55-4979-8CF6B4BF5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24580" name="Picture 4" descr="Book Cover">
            <a:extLst>
              <a:ext uri="{FF2B5EF4-FFF2-40B4-BE49-F238E27FC236}">
                <a16:creationId xmlns:a16="http://schemas.microsoft.com/office/drawing/2014/main" id="{30F49467-6593-5363-0398-441CC38F4A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1301" y="2362200"/>
            <a:ext cx="2674620" cy="3530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42E23B2-6EEA-CE8D-394E-D03D3C7E32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8124" y="2281675"/>
            <a:ext cx="2752866" cy="3336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8722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4FE13-9092-C73E-699B-0636D6259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745650-F2E0-5663-19D7-325C0994E1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algn="l"/>
            <a:r>
              <a:rPr lang="en-US" altLang="ko-KR" sz="4800" b="1" cap="none" dirty="0">
                <a:solidFill>
                  <a:schemeClr val="bg1"/>
                </a:solidFill>
              </a:rPr>
              <a:t>Appendix</a:t>
            </a:r>
            <a:br>
              <a:rPr lang="en-US" altLang="ko-KR" b="1" cap="none" dirty="0"/>
            </a:br>
            <a:endParaRPr lang="ko-KR" altLang="en-US" sz="4800" cap="non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4435405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7CFE12-CADE-3CD4-F5EB-2CA8EA3CB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D9F478-37B9-890A-4D8D-08A58DE69E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34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2BF502A4-1BEC-FF56-E8CB-9AC07C592646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C137CB81-E197-E6C6-6522-135D1F5236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8475480-0AFE-9953-6938-DD8B251F0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155" y="1925794"/>
            <a:ext cx="8307923" cy="4322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18009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1C895-B2D4-20A7-8501-9B8F151CDC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F0E741-02BB-2D6E-FC7F-6ED5637FD1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35</a:t>
            </a:fld>
            <a:endParaRPr lang="en-US" dirty="0"/>
          </a:p>
        </p:txBody>
      </p:sp>
      <p:sp>
        <p:nvSpPr>
          <p:cNvPr id="39" name="제목 1">
            <a:extLst>
              <a:ext uri="{FF2B5EF4-FFF2-40B4-BE49-F238E27FC236}">
                <a16:creationId xmlns:a16="http://schemas.microsoft.com/office/drawing/2014/main" id="{7572FB77-606D-3A2F-1455-79DD3599AE0C}"/>
              </a:ext>
            </a:extLst>
          </p:cNvPr>
          <p:cNvSpPr txBox="1">
            <a:spLocks/>
          </p:cNvSpPr>
          <p:nvPr/>
        </p:nvSpPr>
        <p:spPr>
          <a:xfrm>
            <a:off x="913795" y="1390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Understanding PCA</a:t>
            </a:r>
            <a:r>
              <a:rPr lang="ko-KR" altLang="en-US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내용 개체 틀 2">
            <a:extLst>
              <a:ext uri="{FF2B5EF4-FFF2-40B4-BE49-F238E27FC236}">
                <a16:creationId xmlns:a16="http://schemas.microsoft.com/office/drawing/2014/main" id="{98D2379D-B916-4C85-D178-E45DB6CB4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4" y="1070315"/>
            <a:ext cx="10706705" cy="185386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행렬과 벡터로 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 </a:t>
            </a:r>
            <a:r>
              <a:rPr lang="ko-KR" altLang="en-US" sz="2100" cap="none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총변동량</a:t>
            </a:r>
            <a:r>
              <a:rPr lang="en-US" altLang="ko-KR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1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이해하기</a:t>
            </a:r>
            <a:endParaRPr lang="en-US" altLang="ko-KR" sz="19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4E4CED65-DA9B-3A17-1FD6-A7F2D2F1784C}"/>
              </a:ext>
            </a:extLst>
          </p:cNvPr>
          <p:cNvGrpSpPr/>
          <p:nvPr/>
        </p:nvGrpSpPr>
        <p:grpSpPr>
          <a:xfrm>
            <a:off x="1519921" y="1876425"/>
            <a:ext cx="7024004" cy="4703452"/>
            <a:chOff x="1519921" y="1815282"/>
            <a:chExt cx="6947803" cy="4764595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AF7673C0-666D-0DFD-DB28-36C8AB20A2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19921" y="1815282"/>
              <a:ext cx="6947803" cy="4763228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CC258CFA-D46D-DD63-F476-939B24CFC96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43510" y="6412222"/>
              <a:ext cx="342930" cy="1676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8913036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99FCDD-CBFA-66D7-AD9E-AA6AD5403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CA79D24-D41B-D7B3-BCD9-F79ED5970D8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800" cap="none" dirty="0">
                <a:solidFill>
                  <a:schemeClr val="bg1"/>
                </a:solidFill>
              </a:rPr>
              <a:t>Manifold Learning</a:t>
            </a:r>
            <a:br>
              <a:rPr lang="en-US" altLang="ko-KR" b="1" cap="none" dirty="0"/>
            </a:br>
            <a:endParaRPr lang="ko-KR" altLang="en-US" sz="4800" cap="none" dirty="0">
              <a:solidFill>
                <a:schemeClr val="bg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9C9F60B-DD2B-CE10-C18A-07F6E0EC7DFB}"/>
              </a:ext>
            </a:extLst>
          </p:cNvPr>
          <p:cNvSpPr txBox="1"/>
          <p:nvPr/>
        </p:nvSpPr>
        <p:spPr>
          <a:xfrm>
            <a:off x="1605280" y="3429000"/>
            <a:ext cx="7721600" cy="11289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PCA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선형관계를 차원축소</a:t>
            </a:r>
            <a:endParaRPr lang="en-US" altLang="ko-KR" sz="2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Manifold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는 비선형관계를 차원 축소</a:t>
            </a:r>
          </a:p>
        </p:txBody>
      </p:sp>
    </p:spTree>
    <p:extLst>
      <p:ext uri="{BB962C8B-B14F-4D97-AF65-F5344CB8AC3E}">
        <p14:creationId xmlns:p14="http://schemas.microsoft.com/office/powerpoint/2010/main" val="26720173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10271-03C9-79C4-A8D0-743D4B37A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45690C-43CB-3724-856F-06FE1660C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76331FB-B472-4AEB-20C2-F26C8CDD0265}"/>
              </a:ext>
            </a:extLst>
          </p:cNvPr>
          <p:cNvSpPr txBox="1"/>
          <p:nvPr/>
        </p:nvSpPr>
        <p:spPr>
          <a:xfrm>
            <a:off x="676275" y="285750"/>
            <a:ext cx="36952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Linear manifold-learning</a:t>
            </a:r>
            <a:endParaRPr lang="ko-KR" altLang="en-US" sz="2800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DC820A7-E4A5-0C3C-9D54-74EDF093D8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287" y="1119188"/>
            <a:ext cx="3652837" cy="26987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3458ACA6-AAE7-BFA8-4963-B2D28B8488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288" y="3894175"/>
            <a:ext cx="3652837" cy="27579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75172D9A-6121-3150-113F-9DC135D45A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9388" y="977528"/>
            <a:ext cx="3271838" cy="2735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8">
            <a:extLst>
              <a:ext uri="{FF2B5EF4-FFF2-40B4-BE49-F238E27FC236}">
                <a16:creationId xmlns:a16="http://schemas.microsoft.com/office/drawing/2014/main" id="{48F0B0A6-5055-CDF7-767B-3FFD262077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9388" y="3894175"/>
            <a:ext cx="3271838" cy="2735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78307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2D940E-B85D-7B3C-FEDB-FF455975B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900A08D-D2DD-BAD3-B37D-8F4C5E301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38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AC0FC88-D33D-DE73-67F6-F47F1029A4DD}"/>
              </a:ext>
            </a:extLst>
          </p:cNvPr>
          <p:cNvSpPr txBox="1"/>
          <p:nvPr/>
        </p:nvSpPr>
        <p:spPr>
          <a:xfrm>
            <a:off x="676275" y="285750"/>
            <a:ext cx="43701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Non Linear manifold-learning</a:t>
            </a:r>
            <a:endParaRPr lang="ko-KR" altLang="en-US" sz="280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428666C-BA30-3586-383F-211CFD900B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6275" y="1671638"/>
            <a:ext cx="4286250" cy="4150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38A96B4B-2995-323E-8E35-78602B2F136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46912" y="2082316"/>
            <a:ext cx="4538062" cy="33289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904254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4DF983-F86D-6D96-7178-B287B5AD7C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0937B1-8899-C4BB-E3DB-4847EF7A61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2752250-F92A-1FC4-0C6C-35F2C9B7EEE7}"/>
              </a:ext>
            </a:extLst>
          </p:cNvPr>
          <p:cNvSpPr txBox="1"/>
          <p:nvPr/>
        </p:nvSpPr>
        <p:spPr>
          <a:xfrm>
            <a:off x="609600" y="523875"/>
            <a:ext cx="66848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Nonlinear dimensionality reduction</a:t>
            </a:r>
            <a:r>
              <a:rPr lang="en-US" altLang="ko-KR" sz="2800" dirty="0"/>
              <a:t>: </a:t>
            </a:r>
            <a:r>
              <a:rPr lang="en-US" altLang="ko-KR" sz="2800" dirty="0" err="1"/>
              <a:t>wikipedia</a:t>
            </a:r>
            <a:endParaRPr lang="ko-KR" altLang="en-US" sz="28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57BCA5DA-5050-4E15-4636-E511452670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0250" y="1229311"/>
            <a:ext cx="6618503" cy="5172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385171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CC183E-D86D-7EC7-A480-27281857B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C0ACE3-DEAD-E822-D073-769C98BE2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40</a:t>
            </a:fld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A1F4453-9290-47E2-4FB4-00DD0A6CB8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0013" y="1038811"/>
            <a:ext cx="5494157" cy="5362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7C23143-447F-B9DB-9103-FA4BBF090144}"/>
              </a:ext>
            </a:extLst>
          </p:cNvPr>
          <p:cNvSpPr txBox="1"/>
          <p:nvPr/>
        </p:nvSpPr>
        <p:spPr>
          <a:xfrm>
            <a:off x="676275" y="285750"/>
            <a:ext cx="437010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Non Linear manifold-learning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364753871"/>
      </p:ext>
    </p:extLst>
  </p:cSld>
  <p:clrMapOvr>
    <a:masterClrMapping/>
  </p:clrMapOvr>
</p:sld>
</file>

<file path=ppt/theme/theme1.xml><?xml version="1.0" encoding="utf-8"?>
<a:theme xmlns:a="http://schemas.openxmlformats.org/drawingml/2006/main" name="물방울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{1CC570B9-0437-4096-963A-AEC0F46B8FA6}TF62d0d592-7ac2-4846-a919-75806e8bead4bfbc838d-5dafd7656617</Template>
  <TotalTime>2622</TotalTime>
  <Words>2014</Words>
  <Application>Microsoft Office PowerPoint</Application>
  <PresentationFormat>와이드스크린</PresentationFormat>
  <Paragraphs>249</Paragraphs>
  <Slides>40</Slides>
  <Notes>11</Notes>
  <HiddenSlides>0</HiddenSlides>
  <MMClips>0</MMClips>
  <ScaleCrop>false</ScaleCrop>
  <HeadingPairs>
    <vt:vector size="6" baseType="variant">
      <vt:variant>
        <vt:lpstr>사용한 글꼴</vt:lpstr>
      </vt:variant>
      <vt:variant>
        <vt:i4>15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40</vt:i4>
      </vt:variant>
    </vt:vector>
  </HeadingPairs>
  <TitlesOfParts>
    <vt:vector size="56" baseType="lpstr">
      <vt:lpstr>D2Coding</vt:lpstr>
      <vt:lpstr>나눔고딕</vt:lpstr>
      <vt:lpstr>맑은 고딕</vt:lpstr>
      <vt:lpstr>맑은 고딕 Semilight</vt:lpstr>
      <vt:lpstr>바탕</vt:lpstr>
      <vt:lpstr>한컴 말랑말랑 Bold</vt:lpstr>
      <vt:lpstr>ADLaM Display</vt:lpstr>
      <vt:lpstr>Aptos Narrow</vt:lpstr>
      <vt:lpstr>Arial</vt:lpstr>
      <vt:lpstr>Calibri Light</vt:lpstr>
      <vt:lpstr>Cambria Math</vt:lpstr>
      <vt:lpstr>Segoe UI Light</vt:lpstr>
      <vt:lpstr>Times New Roman</vt:lpstr>
      <vt:lpstr>Tw Cen MT</vt:lpstr>
      <vt:lpstr>Wingdings</vt:lpstr>
      <vt:lpstr>물방울</vt:lpstr>
      <vt:lpstr>Principal Component Analysis</vt:lpstr>
      <vt:lpstr>선형대수(linear algebra)</vt:lpstr>
      <vt:lpstr>PowerPoint 프레젠테이션</vt:lpstr>
      <vt:lpstr>1차원 직선에서의 선형변환</vt:lpstr>
      <vt:lpstr>2차원 평면에서의 선형변환</vt:lpstr>
      <vt:lpstr>2차원 평면에서의 선형변환</vt:lpstr>
      <vt:lpstr>2차원 평면에서의 선형변환에 대해 생각하기</vt:lpstr>
      <vt:lpstr>2차원 평면에서의 선형변환에 대해 생각하기</vt:lpstr>
      <vt:lpstr>Hands-on</vt:lpstr>
      <vt:lpstr>PowerPoint 프레젠테이션</vt:lpstr>
      <vt:lpstr>PowerPoint 프레젠테이션</vt:lpstr>
      <vt:lpstr>기하학적 이해</vt:lpstr>
      <vt:lpstr>행렬과 내적은 선형변환</vt:lpstr>
      <vt:lpstr>선형변환</vt:lpstr>
      <vt:lpstr>PowerPoint 프레젠테이션</vt:lpstr>
      <vt:lpstr>PowerPoint 프레젠테이션</vt:lpstr>
      <vt:lpstr>PowerPoint 프레젠테이션</vt:lpstr>
      <vt:lpstr>Rank of Matrix</vt:lpstr>
      <vt:lpstr>Rank of Matrix</vt:lpstr>
      <vt:lpstr>Rank of Matrix</vt:lpstr>
      <vt:lpstr>Compressing Images – Reducing rank by random choice of features</vt:lpstr>
      <vt:lpstr>Compressing Images – Reducing rank by SVD, PCA</vt:lpstr>
      <vt:lpstr>Total Variance of Matrix</vt:lpstr>
      <vt:lpstr>총변동량(Total Variance) of Matrix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Appendix </vt:lpstr>
      <vt:lpstr>PowerPoint 프레젠테이션</vt:lpstr>
      <vt:lpstr>PowerPoint 프레젠테이션</vt:lpstr>
      <vt:lpstr>Manifold Learning 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Sanggoo Cho</dc:creator>
  <cp:lastModifiedBy>Sanggoo Cho</cp:lastModifiedBy>
  <cp:revision>48</cp:revision>
  <dcterms:created xsi:type="dcterms:W3CDTF">2026-03-09T22:59:08Z</dcterms:created>
  <dcterms:modified xsi:type="dcterms:W3CDTF">2026-04-19T09:38:12Z</dcterms:modified>
</cp:coreProperties>
</file>