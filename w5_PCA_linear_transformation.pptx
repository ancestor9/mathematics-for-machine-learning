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6"/>
  </p:notesMasterIdLst>
  <p:sldIdLst>
    <p:sldId id="928" r:id="rId2"/>
    <p:sldId id="291" r:id="rId3"/>
    <p:sldId id="925" r:id="rId4"/>
    <p:sldId id="265" r:id="rId5"/>
    <p:sldId id="271" r:id="rId6"/>
    <p:sldId id="819" r:id="rId7"/>
    <p:sldId id="820" r:id="rId8"/>
    <p:sldId id="275" r:id="rId9"/>
    <p:sldId id="276" r:id="rId10"/>
    <p:sldId id="272" r:id="rId11"/>
    <p:sldId id="279" r:id="rId12"/>
    <p:sldId id="270" r:id="rId13"/>
    <p:sldId id="259" r:id="rId14"/>
    <p:sldId id="912" r:id="rId15"/>
    <p:sldId id="288" r:id="rId16"/>
    <p:sldId id="913" r:id="rId17"/>
    <p:sldId id="268" r:id="rId18"/>
    <p:sldId id="260" r:id="rId19"/>
    <p:sldId id="818" r:id="rId20"/>
    <p:sldId id="927" r:id="rId21"/>
    <p:sldId id="891" r:id="rId22"/>
    <p:sldId id="940" r:id="rId23"/>
    <p:sldId id="295" r:id="rId24"/>
    <p:sldId id="936" r:id="rId25"/>
    <p:sldId id="937" r:id="rId26"/>
    <p:sldId id="935" r:id="rId27"/>
    <p:sldId id="296" r:id="rId28"/>
    <p:sldId id="938" r:id="rId29"/>
    <p:sldId id="905" r:id="rId30"/>
    <p:sldId id="906" r:id="rId31"/>
    <p:sldId id="939" r:id="rId32"/>
    <p:sldId id="929" r:id="rId33"/>
    <p:sldId id="267" r:id="rId34"/>
    <p:sldId id="899" r:id="rId35"/>
    <p:sldId id="893" r:id="rId36"/>
    <p:sldId id="898" r:id="rId37"/>
    <p:sldId id="897" r:id="rId38"/>
    <p:sldId id="892" r:id="rId39"/>
    <p:sldId id="900" r:id="rId40"/>
    <p:sldId id="930" r:id="rId41"/>
    <p:sldId id="931" r:id="rId42"/>
    <p:sldId id="933" r:id="rId43"/>
    <p:sldId id="934" r:id="rId44"/>
    <p:sldId id="932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>
        <p:scale>
          <a:sx n="75" d="100"/>
          <a:sy n="75" d="100"/>
        </p:scale>
        <p:origin x="1128" y="17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470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2026-04-19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6E429-4172-0104-4675-020C6DB26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3B268A-27EA-A185-235C-9DD3CFED8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346312-6FC9-F192-3682-1DC69CA94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CCD70-DED8-361A-60D8-0D306AF36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144417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5D971-B96D-3C87-EA72-2097AD36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0E5A10-BBA5-DE01-E931-A33CFCAD2D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2DC122-3424-6FCF-5F6A-75AE8E7F0A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113647-1CAA-0F8A-00F3-36C15B55CD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9893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3B44B-8C3C-15DA-CFDA-A2A2681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6A1293-FECC-E061-1869-4D8425FA26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747287-C00D-C5D5-93DA-791514553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405F7D-4517-7AA7-228B-557CB7D5DB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93857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1DFF-B1CB-D074-2A32-2BEB0E50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42E236-F301-84AA-346A-C49A97B6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1BCC40-A8D7-89AD-154A-41A945C23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CE1682-0203-80CE-6796-B834EA3B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10362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30468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9B9C9-2D48-710A-0B89-6C46FD8E0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CAFBAF-F04D-9DAA-227B-7416948893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1A48BC-D34C-4667-1DB8-3BD04FCC5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AA299D-E54C-B666-3D7C-F0381936F0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239181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72862-1A4B-6638-993F-A73E43F1F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5BAB6C-AACF-CC7E-6FD7-3AFC1F995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C40492-4359-487E-09E0-50D494910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D5469-4301-F37A-C47B-C09F7641B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89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E9333-3F5E-BD10-3255-38A0403B0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F17854-DA01-91EC-BEB1-DFFAEEBF21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3AA8CD-D0E3-77C6-AA39-3D5BFA7D0C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A27029-6F14-2C6D-3E56-C26440537C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32426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76707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418319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632481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  <p:sldLayoutId id="2147483670" r:id="rId19"/>
    <p:sldLayoutId id="2147483671" r:id="rId20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30.png"/><Relationship Id="rId7" Type="http://schemas.openxmlformats.org/officeDocument/2006/relationships/image" Target="../media/image27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5" Type="http://schemas.openxmlformats.org/officeDocument/2006/relationships/image" Target="../media/image250.png"/><Relationship Id="rId10" Type="http://schemas.openxmlformats.org/officeDocument/2006/relationships/image" Target="../media/image302.png"/><Relationship Id="rId4" Type="http://schemas.openxmlformats.org/officeDocument/2006/relationships/image" Target="../media/image240.png"/><Relationship Id="rId9" Type="http://schemas.openxmlformats.org/officeDocument/2006/relationships/image" Target="../media/image29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01.png"/><Relationship Id="rId7" Type="http://schemas.openxmlformats.org/officeDocument/2006/relationships/image" Target="../media/image34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0.png"/><Relationship Id="rId5" Type="http://schemas.openxmlformats.org/officeDocument/2006/relationships/image" Target="../media/image320.png"/><Relationship Id="rId10" Type="http://schemas.openxmlformats.org/officeDocument/2006/relationships/image" Target="../media/image371.png"/><Relationship Id="rId4" Type="http://schemas.openxmlformats.org/officeDocument/2006/relationships/image" Target="../media/image311.png"/><Relationship Id="rId9" Type="http://schemas.openxmlformats.org/officeDocument/2006/relationships/image" Target="../media/image36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270.png"/><Relationship Id="rId7" Type="http://schemas.openxmlformats.org/officeDocument/2006/relationships/image" Target="../media/image17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370.png"/><Relationship Id="rId4" Type="http://schemas.openxmlformats.org/officeDocument/2006/relationships/image" Target="../media/image310.png"/><Relationship Id="rId9" Type="http://schemas.openxmlformats.org/officeDocument/2006/relationships/image" Target="../media/image36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4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gif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Eigenvalues_and_eigenvectors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numiqo.com/lab/pca" TargetMode="External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2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hyperlink" Target="https://jakevdp.github.io/PythonDataScienceHandbook/05.10-manifold-learning.html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hyperlink" Target="https://jakevdp.github.io/PythonDataScienceHandbook/05.10-manifold-learning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hyperlink" Target="https://en.wikipedia.org/wiki/Nonlinear_dimensionality_reduction" TargetMode="External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cap="none" dirty="0">
                <a:solidFill>
                  <a:schemeClr val="bg1"/>
                </a:solidFill>
              </a:rPr>
              <a:t>Principal Component Analysis</a:t>
            </a:r>
            <a:endParaRPr lang="ko-KR" altLang="en-US" sz="4800" cap="none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en-US" altLang="ko-KR" sz="2400" cap="none" dirty="0">
                <a:solidFill>
                  <a:schemeClr val="bg1"/>
                </a:solidFill>
              </a:rPr>
              <a:t>Eigen value, Eigen Vector</a:t>
            </a:r>
            <a:endParaRPr lang="ko-KR" altLang="en-US" sz="2400" cap="none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“벡터와 행렬을 이용해 ‘선형 관계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relationship)’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‘공간의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변환’을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다루는 학문”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동영상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C538A5-1423-86C7-259F-7E5AF284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42000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34FC-E499-F18D-86F6-87717BA53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F12D521-939C-02F3-30BA-6F660253FE91}"/>
              </a:ext>
            </a:extLst>
          </p:cNvPr>
          <p:cNvSpPr/>
          <p:nvPr/>
        </p:nvSpPr>
        <p:spPr>
          <a:xfrm>
            <a:off x="579371" y="192405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60960E-8C55-FC63-C8CD-F10F1DFFA9A0}"/>
              </a:ext>
            </a:extLst>
          </p:cNvPr>
          <p:cNvSpPr txBox="1"/>
          <p:nvPr/>
        </p:nvSpPr>
        <p:spPr>
          <a:xfrm>
            <a:off x="1629916" y="147612"/>
            <a:ext cx="8928992" cy="2933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주성분분석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(PCA)</a:t>
            </a:r>
          </a:p>
        </p:txBody>
      </p:sp>
    </p:spTree>
    <p:extLst>
      <p:ext uri="{BB962C8B-B14F-4D97-AF65-F5344CB8AC3E}">
        <p14:creationId xmlns:p14="http://schemas.microsoft.com/office/powerpoint/2010/main" val="3340020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52E407F-6FCE-2AF3-B4C9-590554943A06}"/>
              </a:ext>
            </a:extLst>
          </p:cNvPr>
          <p:cNvGrpSpPr/>
          <p:nvPr/>
        </p:nvGrpSpPr>
        <p:grpSpPr>
          <a:xfrm>
            <a:off x="2286315" y="2000250"/>
            <a:ext cx="5219700" cy="4730560"/>
            <a:chOff x="2286315" y="2000250"/>
            <a:chExt cx="5219700" cy="4730560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F7EF1AA-F153-6183-97D0-69F9B4F583E3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202B12-A258-8108-186D-F5C99EE6F804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ACFDE16B-292D-CEE7-D26B-874B0FDAC37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889A9A-9BF1-DC08-AE34-A7451EE113CD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2EAC99-6513-A21E-6BBF-96E177971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C578CA-2FF6-CF4B-98EE-2B1A44B150DD}"/>
              </a:ext>
            </a:extLst>
          </p:cNvPr>
          <p:cNvSpPr/>
          <p:nvPr/>
        </p:nvSpPr>
        <p:spPr>
          <a:xfrm>
            <a:off x="5036255" y="3333500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내용 개체 틀 3">
            <a:extLst>
              <a:ext uri="{FF2B5EF4-FFF2-40B4-BE49-F238E27FC236}">
                <a16:creationId xmlns:a16="http://schemas.microsoft.com/office/drawing/2014/main" id="{13052355-1119-0517-A20A-A305BD682A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915466" y="1932871"/>
            <a:ext cx="2036761" cy="13025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/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A27F945-2837-878D-1E14-9A8919FBB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5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6DF6-FB18-4294-55E9-C6DBA31A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내용 개체 틀 3">
            <a:extLst>
              <a:ext uri="{FF2B5EF4-FFF2-40B4-BE49-F238E27FC236}">
                <a16:creationId xmlns:a16="http://schemas.microsoft.com/office/drawing/2014/main" id="{129CA579-ACE9-8864-C8FC-DB2CB0CF675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622754" y="2219501"/>
            <a:ext cx="2036761" cy="13025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9A9540-1A43-29C2-FDDD-0FC6C798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41751FB-CCED-D8B7-A89F-2C9659857CB8}"/>
              </a:ext>
            </a:extLst>
          </p:cNvPr>
          <p:cNvGrpSpPr/>
          <p:nvPr/>
        </p:nvGrpSpPr>
        <p:grpSpPr>
          <a:xfrm>
            <a:off x="228915" y="2013945"/>
            <a:ext cx="5219700" cy="4730560"/>
            <a:chOff x="2286315" y="2000250"/>
            <a:chExt cx="5219700" cy="473056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F931236-F7E9-00A7-B658-C585F7F5A16B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237D04F-3639-48C8-2FB6-4B4C978881E0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3C1372A1-72AD-FF90-5EDE-A9675328608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40E2898-EE5A-3D43-1F94-A94D6D1B5225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B198DBB6-2805-CBDB-BED2-D6F2E99DDD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D6A4DB8-F24A-7254-51A8-F5FB6291CB29}"/>
              </a:ext>
            </a:extLst>
          </p:cNvPr>
          <p:cNvSpPr/>
          <p:nvPr/>
        </p:nvSpPr>
        <p:spPr>
          <a:xfrm>
            <a:off x="2978855" y="3347195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/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4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4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/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/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blipFill>
                <a:blip r:embed="rId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타원 35">
            <a:extLst>
              <a:ext uri="{FF2B5EF4-FFF2-40B4-BE49-F238E27FC236}">
                <a16:creationId xmlns:a16="http://schemas.microsoft.com/office/drawing/2014/main" id="{A198A072-9A80-F113-3D6E-1A73198F53F6}"/>
              </a:ext>
            </a:extLst>
          </p:cNvPr>
          <p:cNvSpPr/>
          <p:nvPr/>
        </p:nvSpPr>
        <p:spPr>
          <a:xfrm>
            <a:off x="8346847" y="2041167"/>
            <a:ext cx="687578" cy="1700805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AF8F0BE2-B48C-FF81-58BB-7A85CE8092B1}"/>
              </a:ext>
            </a:extLst>
          </p:cNvPr>
          <p:cNvSpPr/>
          <p:nvPr/>
        </p:nvSpPr>
        <p:spPr>
          <a:xfrm>
            <a:off x="9148418" y="2020388"/>
            <a:ext cx="687578" cy="17008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/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00B05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ko-KR" altLang="en-US" sz="2400" b="1" dirty="0">
                    <a:solidFill>
                      <a:srgbClr val="00B05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00B050"/>
                    </a:solidFill>
                  </a:rPr>
                  <a:t>lands</a:t>
                </a:r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blipFill>
                <a:blip r:embed="rId7"/>
                <a:stretch>
                  <a:fillRect l="-4505" t="-10526" r="-3904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/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FF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ko-KR" alt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FF0000"/>
                    </a:solidFill>
                  </a:rPr>
                  <a:t>lands</a:t>
                </a:r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blipFill>
                <a:blip r:embed="rId8"/>
                <a:stretch>
                  <a:fillRect l="-4491" t="-10526" r="-3892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D458F58-935A-1653-73BC-4F5FF3AFBF2A}"/>
              </a:ext>
            </a:extLst>
          </p:cNvPr>
          <p:cNvCxnSpPr>
            <a:cxnSpLocks/>
          </p:cNvCxnSpPr>
          <p:nvPr/>
        </p:nvCxnSpPr>
        <p:spPr>
          <a:xfrm flipV="1">
            <a:off x="8056207" y="3726137"/>
            <a:ext cx="570365" cy="898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1E6DBA1-4305-2ABF-E831-B71B539AECE9}"/>
              </a:ext>
            </a:extLst>
          </p:cNvPr>
          <p:cNvCxnSpPr>
            <a:cxnSpLocks/>
          </p:cNvCxnSpPr>
          <p:nvPr/>
        </p:nvCxnSpPr>
        <p:spPr>
          <a:xfrm flipH="1" flipV="1">
            <a:off x="9491715" y="3725751"/>
            <a:ext cx="688561" cy="882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/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+mj-ea"/>
                      </a:rPr>
                      <m:t>𝑥</m:t>
                    </m:r>
                  </m:oMath>
                </a14:m>
                <a:r>
                  <a:rPr lang="ko-KR" altLang="en-US" dirty="0">
                    <a:solidFill>
                      <a:srgbClr val="00B050"/>
                    </a:solidFill>
                    <a:latin typeface="+mj-ea"/>
                    <a:ea typeface="+mj-ea"/>
                  </a:rPr>
                  <a:t> 축에 투영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blipFill>
                <a:blip r:embed="rId9"/>
                <a:stretch>
                  <a:fillRect t="-8197" r="-3030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/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</m:oMath>
                </a14:m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 축에</a:t>
                </a:r>
                <a:r>
                  <a:rPr lang="en-US" altLang="ko-KR" dirty="0">
                    <a:solidFill>
                      <a:srgbClr val="FF0000"/>
                    </a:solidFill>
                    <a:latin typeface="+mj-ea"/>
                    <a:ea typeface="+mj-ea"/>
                  </a:rPr>
                  <a:t> </a:t>
                </a:r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투영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blipFill>
                <a:blip r:embed="rId10"/>
                <a:stretch>
                  <a:fillRect t="-8197" r="-3463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6709EDC-A34A-45F5-7DEA-B64FDB647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6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331539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B6047-1098-D4A9-F3E4-BF4B5CC04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6DE6C-07CA-F0F1-E6D9-13C50AF8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BB8FF3-4604-4774-4B17-379BC3468D0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92116" y="4017793"/>
            <a:ext cx="4805524" cy="1389766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5B7846-3221-540A-BE0D-265F91EC9DCF}"/>
              </a:ext>
            </a:extLst>
          </p:cNvPr>
          <p:cNvGrpSpPr/>
          <p:nvPr/>
        </p:nvGrpSpPr>
        <p:grpSpPr>
          <a:xfrm>
            <a:off x="171140" y="2021434"/>
            <a:ext cx="5086975" cy="4480115"/>
            <a:chOff x="2228540" y="2007739"/>
            <a:chExt cx="5086975" cy="4480115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4A685D7-7142-7FF7-0385-F3B28E3CA7AF}"/>
                </a:ext>
              </a:extLst>
            </p:cNvPr>
            <p:cNvCxnSpPr>
              <a:cxnSpLocks/>
            </p:cNvCxnSpPr>
            <p:nvPr/>
          </p:nvCxnSpPr>
          <p:spPr>
            <a:xfrm>
              <a:off x="2228540" y="5455075"/>
              <a:ext cx="508697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60C97EA0-D6BC-35AD-7E07-12F4B4482B87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8" y="2007739"/>
              <a:ext cx="0" cy="448011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F3CC60D-3812-9308-967F-3D2A15B26A06}"/>
              </a:ext>
            </a:extLst>
          </p:cNvPr>
          <p:cNvSpPr/>
          <p:nvPr/>
        </p:nvSpPr>
        <p:spPr>
          <a:xfrm>
            <a:off x="2038347" y="5074071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/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/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16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/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F42118F-F82A-7332-0FAC-BA17BA95771E}"/>
              </a:ext>
            </a:extLst>
          </p:cNvPr>
          <p:cNvCxnSpPr>
            <a:cxnSpLocks/>
          </p:cNvCxnSpPr>
          <p:nvPr/>
        </p:nvCxnSpPr>
        <p:spPr>
          <a:xfrm flipH="1">
            <a:off x="1660986" y="1662825"/>
            <a:ext cx="938932" cy="470993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9513CA9-1FF2-667A-7575-59ED74DD0EDD}"/>
              </a:ext>
            </a:extLst>
          </p:cNvPr>
          <p:cNvGrpSpPr/>
          <p:nvPr/>
        </p:nvGrpSpPr>
        <p:grpSpPr>
          <a:xfrm>
            <a:off x="363921" y="4476615"/>
            <a:ext cx="1354218" cy="787525"/>
            <a:chOff x="6655650" y="2150299"/>
            <a:chExt cx="1692562" cy="11038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/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ko-KR" altLang="en-US" sz="36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FF91148E-CDA5-C323-15C9-30E0A0313DA4}"/>
                </a:ext>
              </a:extLst>
            </p:cNvPr>
            <p:cNvSpPr/>
            <p:nvPr/>
          </p:nvSpPr>
          <p:spPr>
            <a:xfrm>
              <a:off x="7834763" y="2150299"/>
              <a:ext cx="420323" cy="110381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DE10634-30DE-1535-F053-C155E2687217}"/>
                </a:ext>
              </a:extLst>
            </p:cNvPr>
            <p:cNvSpPr/>
            <p:nvPr/>
          </p:nvSpPr>
          <p:spPr>
            <a:xfrm>
              <a:off x="7364141" y="2150299"/>
              <a:ext cx="443256" cy="110381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32D8F7B-60F2-055B-F150-41CD16A22885}"/>
              </a:ext>
            </a:extLst>
          </p:cNvPr>
          <p:cNvCxnSpPr>
            <a:cxnSpLocks/>
          </p:cNvCxnSpPr>
          <p:nvPr/>
        </p:nvCxnSpPr>
        <p:spPr>
          <a:xfrm flipH="1">
            <a:off x="1261516" y="2304898"/>
            <a:ext cx="2830430" cy="4025469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/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=(2,3)</m:t>
                      </m:r>
                    </m:oMath>
                  </m:oMathPara>
                </a14:m>
                <a:endParaRPr lang="ko-KR" alt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blipFill>
                <a:blip r:embed="rId7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/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=(1,4)</m:t>
                      </m:r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blipFill>
                <a:blip r:embed="rId8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6B9350-ECBC-D96D-85CF-14BC15D81B2E}"/>
              </a:ext>
            </a:extLst>
          </p:cNvPr>
          <p:cNvSpPr/>
          <p:nvPr/>
        </p:nvSpPr>
        <p:spPr>
          <a:xfrm>
            <a:off x="2599918" y="3337474"/>
            <a:ext cx="260349" cy="24220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/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=(4, 11)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3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2∗1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3∗1+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4∗2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159570-57A6-4A56-6583-6F15679B8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7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72065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행렬 </a:t>
            </a:r>
            <a:r>
              <a:rPr lang="en-US" altLang="ko-KR" dirty="0"/>
              <a:t>= </a:t>
            </a:r>
            <a:r>
              <a:rPr lang="ko-KR" altLang="en-US" dirty="0"/>
              <a:t>함수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25EF52E-72EE-3C3E-9A88-70B9DC9F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8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26A2FD-DA73-FEBD-A534-047C269AF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9</a:t>
            </a:fld>
            <a:endParaRPr lang="en-US" sz="2000" dirty="0"/>
          </a:p>
        </p:txBody>
      </p:sp>
      <p:pic>
        <p:nvPicPr>
          <p:cNvPr id="8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E244AAB-51AC-B107-48A5-3CF643F4F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제목 1">
            <a:extLst>
              <a:ext uri="{FF2B5EF4-FFF2-40B4-BE49-F238E27FC236}">
                <a16:creationId xmlns:a16="http://schemas.microsoft.com/office/drawing/2014/main" id="{05136CFE-E7F8-CC96-5386-1047EDE84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9713" y="0"/>
            <a:ext cx="61261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75E9DE-B0B6-C8D5-A524-BAACE5A8D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10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7E8495C-891C-0D45-AD9C-65537885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11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F57BCDF-6F41-7650-72C3-22B4E2230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12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A5E0A35-FE29-17FD-803F-F2999E5CD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5E36D-A1FE-2B89-FE3D-9D9496F81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E8B66B-CC98-38AF-CD8F-4481BD3C8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선형대수</a:t>
            </a:r>
            <a:r>
              <a:rPr lang="en-US" altLang="ko-KR" cap="none" dirty="0"/>
              <a:t>(Linear Algebra)</a:t>
            </a:r>
            <a:endParaRPr lang="ko-KR" altLang="en-US" cap="none" dirty="0"/>
          </a:p>
        </p:txBody>
      </p:sp>
      <p:sp>
        <p:nvSpPr>
          <p:cNvPr id="17" name="슬라이드 번호 개체 틀 3">
            <a:extLst>
              <a:ext uri="{FF2B5EF4-FFF2-40B4-BE49-F238E27FC236}">
                <a16:creationId xmlns:a16="http://schemas.microsoft.com/office/drawing/2014/main" id="{3FD9B8B1-9B96-0622-DDFB-0F4F31A12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14</a:t>
            </a:fld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11">
                <a:extLst>
                  <a:ext uri="{FF2B5EF4-FFF2-40B4-BE49-F238E27FC236}">
                    <a16:creationId xmlns:a16="http://schemas.microsoft.com/office/drawing/2014/main" id="{5EFD9993-AB58-C007-9AEC-3E30F10655F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74" y="1243142"/>
                <a:ext cx="10363826" cy="460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“벡터와 행렬을 이용해 ‘선형 관계</a:t>
                </a:r>
                <a:r>
                  <a:rPr lang="en-US" altLang="ko-KR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relationship)’</a:t>
                </a: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‘공간의 </a:t>
                </a:r>
                <a:r>
                  <a:rPr lang="ko-KR" altLang="en-US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변환’을</a:t>
                </a: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다루는 학문”</a:t>
                </a:r>
                <a:endParaRPr lang="en-US" altLang="ko-KR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공간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 변환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연립 선형 방정식 등을 연구하는 수학의 한 분야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데이터를 공간으로 보고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머신러닝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모델을 ‘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변환’으로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이해하는 언어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선형변환식 </a:t>
                </a:r>
                <a14:m>
                  <m:oMath xmlns:m="http://schemas.openxmlformats.org/officeDocument/2006/math">
                    <m:r>
                      <a:rPr lang="en-US" altLang="ko-KR" sz="24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기하학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공간을 어떻게 움직이고 변환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확대/축소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기울이기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투영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지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머신러닝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관측치는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모델은 </a:t>
                </a:r>
                <a14:m>
                  <m:oMath xmlns:m="http://schemas.openxmlformats.org/officeDocument/2006/math">
                    <m:r>
                      <a:rPr lang="en-US" altLang="ko-KR" sz="24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ko-KR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11">
                <a:extLst>
                  <a:ext uri="{FF2B5EF4-FFF2-40B4-BE49-F238E27FC236}">
                    <a16:creationId xmlns:a16="http://schemas.microsoft.com/office/drawing/2014/main" id="{5EFD9993-AB58-C007-9AEC-3E30F1065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4" y="1243142"/>
                <a:ext cx="10363826" cy="4605207"/>
              </a:xfrm>
              <a:prstGeom prst="rect">
                <a:avLst/>
              </a:prstGeom>
              <a:blipFill>
                <a:blip r:embed="rId2"/>
                <a:stretch>
                  <a:fillRect l="-529" t="-2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5987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566F-70DB-C9B6-52A4-104A38E7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16294A1E-74B1-2647-D02F-0AFC5B92A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15</a:t>
            </a:fld>
            <a:endParaRPr lang="en-US" sz="20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AA135C1-5E58-DE61-BCE2-F4353E58502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4850" y="2193800"/>
            <a:ext cx="4501673" cy="217822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E1D530D-01A2-F7EA-0FF5-EB0FA91ED68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2253348"/>
            <a:ext cx="4963722" cy="194060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572FC41-B531-852F-1649-5E8F5EBE594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4503381"/>
            <a:ext cx="3813060" cy="106874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1A72315-8774-4D80-E39B-8177669F955B}"/>
              </a:ext>
            </a:extLst>
          </p:cNvPr>
          <p:cNvSpPr txBox="1"/>
          <p:nvPr/>
        </p:nvSpPr>
        <p:spPr>
          <a:xfrm>
            <a:off x="581025" y="1723384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연립선형방정식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(System of Linear Equations)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900D0B-A8C8-F9A7-91B3-310F01FD50E4}"/>
              </a:ext>
            </a:extLst>
          </p:cNvPr>
          <p:cNvSpPr txBox="1"/>
          <p:nvPr/>
        </p:nvSpPr>
        <p:spPr>
          <a:xfrm>
            <a:off x="6372225" y="1759253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F76A69-7661-C8AE-AE9E-3E2C0DFAADC8}"/>
                  </a:ext>
                </a:extLst>
              </p:cNvPr>
              <p:cNvSpPr txBox="1"/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F76A69-7661-C8AE-AE9E-3E2C0DFA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77766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DE559-9E4F-069B-91D6-E604FED2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17B1727C-5907-1409-048E-992C18E5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16</a:t>
            </a:fld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01F750-2BE1-DE02-C234-81213451B1E8}"/>
                  </a:ext>
                </a:extLst>
              </p:cNvPr>
              <p:cNvSpPr txBox="1"/>
              <p:nvPr/>
            </p:nvSpPr>
            <p:spPr>
              <a:xfrm>
                <a:off x="1195244" y="811930"/>
                <a:ext cx="7375444" cy="3825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sz="20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의미를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열벡터들의 선형 결합으로 기하학적 해석을 하면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열벡터들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우리가 움직일 수 있는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방향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’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들이고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성분들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그 방향으로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얼마나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갈 것인가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최종 도착지  </a:t>
                </a:r>
                <a:endParaRPr lang="en-US" altLang="ko-KR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01F750-2BE1-DE02-C234-81213451B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244" y="811930"/>
                <a:ext cx="7375444" cy="3825214"/>
              </a:xfrm>
              <a:prstGeom prst="rect">
                <a:avLst/>
              </a:prstGeom>
              <a:blipFill>
                <a:blip r:embed="rId2"/>
                <a:stretch>
                  <a:fillRect l="-744" b="-14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12D68391-FF3C-2777-472E-9EDC54C5E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996" y="1466676"/>
            <a:ext cx="2576183" cy="109235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1DDF7A5-028A-2163-E3F4-A553257F0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4595" y="1262802"/>
            <a:ext cx="1149180" cy="14964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F736873-AD7E-F993-D94C-4865EBA2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6692" y="4272114"/>
            <a:ext cx="3422283" cy="200159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0D2E58B-7FE1-13B5-097D-2D7EF28730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996" y="2856923"/>
            <a:ext cx="4427219" cy="1304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238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E0299473-7BDA-1153-07AF-73989810D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17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CB9CBD-CF82-DC51-07A4-4A3380036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18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990D-7C65-6C21-31D3-EC7CB375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20CEC-BF00-1556-F0BA-6AF560EF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91CE45-07B6-3F10-9D80-86C15F83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B99FAD7-67C0-95AC-D700-A35DDC7C501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1B9A48-9B38-5029-B7E7-030E2344A517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3D3EB99-B1E1-2A0D-C54E-009CFE59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42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EEE4C-CF8D-13F6-E5D0-F069365AC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B388CFB-5E5A-0B56-2B29-B3655AA0D879}"/>
              </a:ext>
            </a:extLst>
          </p:cNvPr>
          <p:cNvSpPr/>
          <p:nvPr/>
        </p:nvSpPr>
        <p:spPr>
          <a:xfrm>
            <a:off x="579371" y="2524125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A2FE80-9EDC-A097-418B-57D8C5D574E0}"/>
              </a:ext>
            </a:extLst>
          </p:cNvPr>
          <p:cNvSpPr txBox="1"/>
          <p:nvPr/>
        </p:nvSpPr>
        <p:spPr>
          <a:xfrm>
            <a:off x="1629916" y="147612"/>
            <a:ext cx="8928992" cy="4022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주성분분석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(PCA)</a:t>
            </a:r>
          </a:p>
          <a:p>
            <a:pPr marL="971550" lvl="1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Eigen value</a:t>
            </a:r>
          </a:p>
          <a:p>
            <a:pPr marL="971550" lvl="1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Eigen vector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05111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DE82-E761-815D-D827-048FE401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71A663-E6E2-41F2-752E-AF07B9674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7078DC6-E5BB-C5BD-550D-2D5CFDED855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B8B203A-CA07-6F79-6C40-BA9154646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4D1D46-BBF5-8CEB-9866-F00627769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227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D45F-9959-C2FE-BCFE-D047BCAF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AFD0A-085C-5BB2-80E4-F468D2675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EF78C1A-537C-3E6A-1F7A-9E447E6D7AB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BFB68568-2188-187E-10FA-97C8879C2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8496" y="2838154"/>
            <a:ext cx="5852766" cy="2739686"/>
          </a:xfrm>
          <a:solidFill>
            <a:schemeClr val="accent1">
              <a:lumMod val="40000"/>
              <a:lumOff val="60000"/>
            </a:schemeClr>
          </a:solidFill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 marL="0" indent="0">
              <a:buNone/>
            </a:pP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tensorflow.keras.datasets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mnist</a:t>
            </a:r>
            <a:endParaRPr lang="en-US" altLang="ko-KR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>
              <a:buNone/>
            </a:pP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# 1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로드</a:t>
            </a:r>
          </a:p>
          <a:p>
            <a:pPr marL="0" indent="0">
              <a:buNone/>
            </a:pP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), _ = 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mnist.load_data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0" indent="0">
              <a:buNone/>
            </a:pP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# 5</a:t>
            </a:r>
            <a:r>
              <a:rPr lang="ko-KR" altLang="en-US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번째 그림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전체 데이터의 표준편차 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필요 없는 열 확인용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1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>
              <a:buNone/>
            </a:pP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np.std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, axis=0)</a:t>
            </a:r>
          </a:p>
          <a:p>
            <a:pPr marL="0" indent="0">
              <a:buNone/>
            </a:pP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='hot')</a:t>
            </a:r>
            <a:endParaRPr lang="en-US" altLang="ko-KR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>
              <a:buNone/>
            </a:pPr>
            <a:endParaRPr lang="en-US" altLang="ko-KR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1BE5526-2A5D-5F05-FCBF-F9280260B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089" y="2838154"/>
            <a:ext cx="3170871" cy="314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85E836-BE82-FC36-41B2-006B2F098043}"/>
              </a:ext>
            </a:extLst>
          </p:cNvPr>
          <p:cNvSpPr txBox="1"/>
          <p:nvPr/>
        </p:nvSpPr>
        <p:spPr>
          <a:xfrm>
            <a:off x="601917" y="929734"/>
            <a:ext cx="10977518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60,00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MNIST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필기체 수자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(28 by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pixel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표준편차를 구해서 시각화한 이미지를 보면 해보면 중앙 픽셀의 표준편차는 높지만 주변 픽셀의 표준편차는 거의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근접한 것으로 나타남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주변의 정보는 데이터는 수자를 표현하는데 거의 역할이 없음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5F853161-803E-81DB-419B-7773E6EAF298}"/>
              </a:ext>
            </a:extLst>
          </p:cNvPr>
          <p:cNvGrpSpPr/>
          <p:nvPr/>
        </p:nvGrpSpPr>
        <p:grpSpPr>
          <a:xfrm>
            <a:off x="9966960" y="2838153"/>
            <a:ext cx="1936300" cy="3137007"/>
            <a:chOff x="9628030" y="2838154"/>
            <a:chExt cx="2246046" cy="363882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F7B7470-53A3-F586-A9A7-B3DFB8ADC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A28C5B0-4392-9343-2622-9256EF1DE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EB1DDEF-D8F2-AB6A-FF39-537D658F4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694478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A7A78-9A48-AA10-5785-D0F00D44F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822916A-F4FB-A1F9-4AAF-CE84AE99E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sz="2400" cap="none" dirty="0">
                <a:cs typeface="Segoe UI Light" panose="020B0502040204020203" pitchFamily="34" charset="0"/>
              </a:rPr>
              <a:t>Rank of Matrix</a:t>
            </a:r>
            <a:endParaRPr lang="ko" sz="2400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B80B36-1BD6-0C45-A304-60C53DC00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FC6C6C-A61D-877F-34B9-4171D276D037}"/>
              </a:ext>
            </a:extLst>
          </p:cNvPr>
          <p:cNvSpPr txBox="1"/>
          <p:nvPr/>
        </p:nvSpPr>
        <p:spPr>
          <a:xfrm>
            <a:off x="610149" y="1528927"/>
            <a:ext cx="8886276" cy="424731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  <a:b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10, 10).reshape(-1, 1) # (10,1)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weights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([[1, 2, 0.5, 10, -1]]) # (1, 5)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b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matrix_rank_1 = np.dot(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weights) # (10,1) @ (1,5) = (10,5)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</a:p>
          <a:p>
            <a:pPr>
              <a:buNone/>
            </a:pPr>
            <a:endParaRPr lang="ko-KR" altLang="en-US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공분산 행렬</a:t>
            </a: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cov_base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  #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분산</a:t>
            </a: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(matrix_rank_1,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</a:t>
            </a:r>
            <a:b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eigenvalue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공분산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분산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스칼라이므로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eigvals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적용할 수 없음</a:t>
            </a: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eig_trans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np.linalg.eigvals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87259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67CD-FBD2-ABDB-8546-606C6B959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608748B-CAD3-B066-33B0-3AC7C6280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sz="2400" cap="none" dirty="0">
                <a:cs typeface="Segoe UI Light" panose="020B0502040204020203" pitchFamily="34" charset="0"/>
              </a:rPr>
              <a:t>Rank of Matrix</a:t>
            </a:r>
            <a:endParaRPr lang="ko" sz="2400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559F66-3ACC-FA0F-4720-EC8219B20E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BAF124-81A7-3727-274F-2EAA4F2A2624}"/>
              </a:ext>
            </a:extLst>
          </p:cNvPr>
          <p:cNvSpPr txBox="1"/>
          <p:nvPr/>
        </p:nvSpPr>
        <p:spPr>
          <a:xfrm>
            <a:off x="618576" y="1462252"/>
            <a:ext cx="8106324" cy="455778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원래 행렬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shape: {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base_vector.shape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변환 행렬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shape: {matrix_rank_1.shape}\n")</a:t>
            </a:r>
          </a:p>
          <a:p>
            <a:pPr>
              <a:lnSpc>
                <a:spcPct val="150000"/>
              </a:lnSpc>
              <a:buNone/>
            </a:pP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Rank: {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np.linalg.matrix_rank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변환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Rank: {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np.linalg.matrix_rank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(matrix_rank_1)}\n")</a:t>
            </a: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print("===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공분산 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원래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:\n",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cov_base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변환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:\n",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print("\n=== Eigenvalues ===")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원래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(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특성의 분산은 스칼라이므로 </a:t>
            </a:r>
            <a:r>
              <a:rPr lang="ko-KR" altLang="en-US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고유값이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없습니다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)")</a:t>
            </a:r>
            <a:endParaRPr lang="ko-KR" altLang="en-US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변환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:",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eig_trans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812639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CD4B5-49B6-8434-6AA9-B6025B5F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0DC900B9-E575-3C6F-0002-24C43085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sz="2400" cap="none" dirty="0">
                <a:cs typeface="Segoe UI Light" panose="020B0502040204020203" pitchFamily="34" charset="0"/>
              </a:rPr>
              <a:t>Rank of Matrix</a:t>
            </a:r>
            <a:endParaRPr lang="ko" sz="2400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6A4EB4A-C048-222D-7151-D1ADD961F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306F87-CB9F-DCC1-7422-1FBE48C1B880}"/>
              </a:ext>
            </a:extLst>
          </p:cNvPr>
          <p:cNvSpPr txBox="1"/>
          <p:nvPr/>
        </p:nvSpPr>
        <p:spPr>
          <a:xfrm>
            <a:off x="618575" y="1455704"/>
            <a:ext cx="9830349" cy="455817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(eigenvalue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합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total_var_base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cov_base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#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cov_base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자체가 분산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입니다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total_var_trans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eig_trans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print("\n===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(Eigenvalue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합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===")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원래 행렬의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:",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total_var_base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행렬의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:",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total_var_trans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적용함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weights /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np.linalg.norm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(weights)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matrix_norm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weights_norm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matrix_norm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=False)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f"norm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변환된 행렬의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np.linalg.eigvals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))}")</a:t>
            </a:r>
          </a:p>
        </p:txBody>
      </p:sp>
    </p:spTree>
    <p:extLst>
      <p:ext uri="{BB962C8B-B14F-4D97-AF65-F5344CB8AC3E}">
        <p14:creationId xmlns:p14="http://schemas.microsoft.com/office/powerpoint/2010/main" val="3580617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1E9B-DC1C-C687-ACF2-C837C2EB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352C18C-02FC-DB44-6C9C-E85E7455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sz="2400" cap="none" dirty="0">
                <a:cs typeface="Segoe UI Light" panose="020B0502040204020203" pitchFamily="34" charset="0"/>
              </a:rPr>
              <a:t>Compressing</a:t>
            </a:r>
            <a:r>
              <a:rPr lang="ko-KR" altLang="en-US" sz="2400" cap="none" dirty="0">
                <a:cs typeface="Segoe UI Light" panose="020B0502040204020203" pitchFamily="34" charset="0"/>
              </a:rPr>
              <a:t> </a:t>
            </a:r>
            <a:r>
              <a:rPr lang="en-US" altLang="ko-KR" sz="2400" cap="none" dirty="0">
                <a:cs typeface="Segoe UI Light" panose="020B0502040204020203" pitchFamily="34" charset="0"/>
              </a:rPr>
              <a:t>Images – Reducing rank by random choice of features</a:t>
            </a:r>
            <a:endParaRPr lang="ko" sz="2400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13EB8A-BEA6-A6CD-7C7A-09A826670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8EFB-4524-4DD2-6EFA-8D2AC221E9D7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3173D52B-4178-8B02-04E4-68AA1DAE0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187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-KR" cap="none" dirty="0">
                <a:cs typeface="Segoe UI Light" panose="020B0502040204020203" pitchFamily="34" charset="0"/>
              </a:rPr>
              <a:t>Compressing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Images – Reducing rank by SVD, PCA</a:t>
            </a:r>
            <a:endParaRPr lang="ko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27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200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Rank </a:t>
            </a:r>
            <a:r>
              <a:rPr lang="ko-KR" altLang="en-US" dirty="0"/>
              <a:t>가 </a:t>
            </a:r>
            <a:r>
              <a:rPr lang="en-US" altLang="ko-KR" dirty="0"/>
              <a:t>30, 10, 5</a:t>
            </a:r>
            <a:r>
              <a:rPr lang="ko-KR" altLang="en-US" dirty="0"/>
              <a:t>인데도 </a:t>
            </a:r>
            <a:r>
              <a:rPr lang="en-US" altLang="ko-KR" dirty="0"/>
              <a:t>face </a:t>
            </a:r>
            <a:r>
              <a:rPr lang="ko-KR" altLang="en-US" dirty="0"/>
              <a:t>식별이 가능한 이유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6759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3F3BF-5796-165E-59FD-C5E0E838C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0AB4B5FC-1951-DC9A-2887-2CB7803FE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" cap="none" dirty="0">
                <a:cs typeface="Segoe UI Light" panose="020B0502040204020203" pitchFamily="34" charset="0"/>
              </a:rPr>
              <a:t>Total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Variance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of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Matrix</a:t>
            </a:r>
            <a:endParaRPr lang="ko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CAAD6EB-6463-0B19-61BA-D99870126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1C1A34-D915-D18A-5B13-3B13DC810727}"/>
              </a:ext>
            </a:extLst>
          </p:cNvPr>
          <p:cNvSpPr txBox="1"/>
          <p:nvPr/>
        </p:nvSpPr>
        <p:spPr>
          <a:xfrm>
            <a:off x="604333" y="1196812"/>
            <a:ext cx="10977518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데이터의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분산의 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계산한 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값을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공간에 동일하게 나누어 배치함으로써 차원이 달라도 전체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변동량은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같다는 것을 보여주며 데이터의 차원이 줄어들면 정보가 사라지는 것이 아니라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분산이 적은 축으로 “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집중”되면서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총변동은 그대로 유지될 수 있음을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D616B-51CA-2EFE-B2F4-5D841D887C69}"/>
              </a:ext>
            </a:extLst>
          </p:cNvPr>
          <p:cNvSpPr txBox="1"/>
          <p:nvPr/>
        </p:nvSpPr>
        <p:spPr>
          <a:xfrm>
            <a:off x="1572174" y="2564844"/>
            <a:ext cx="6533601" cy="31085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make_regression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(42)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데이터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X10, _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=500,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n_features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=30, noise=10.0)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np.trace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=False))  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np.random.multivariate_normal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mean=[0, 0],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=(T/2)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np.eye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size=500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)# 3)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np.trace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(X2,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=False))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print("30D total variance:",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print("2D total variance:", T2)</a:t>
            </a:r>
          </a:p>
        </p:txBody>
      </p:sp>
    </p:spTree>
    <p:extLst>
      <p:ext uri="{BB962C8B-B14F-4D97-AF65-F5344CB8AC3E}">
        <p14:creationId xmlns:p14="http://schemas.microsoft.com/office/powerpoint/2010/main" val="1238607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FE12-CADE-3CD4-F5EB-2CA8EA3CB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9F478-37B9-890A-4D8D-08A58DE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BF502A4-1BEC-FF56-E8CB-9AC07C59264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137CB81-E197-E6C6-6522-135D1F523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475480-0AFE-9953-6938-DD8B251F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155" y="1925794"/>
            <a:ext cx="8307923" cy="43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8231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C895-B2D4-20A7-8501-9B8F151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0E741-02BB-2D6E-FC7F-6ED5637FD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7572FB77-606D-3A2F-1455-79DD3599AE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8D2379D-B916-4C85-D178-E45DB6CB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총변동량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E4CED65-DA9B-3A17-1FD6-A7F2D2F1784C}"/>
              </a:ext>
            </a:extLst>
          </p:cNvPr>
          <p:cNvGrpSpPr/>
          <p:nvPr/>
        </p:nvGrpSpPr>
        <p:grpSpPr>
          <a:xfrm>
            <a:off x="1519921" y="1876425"/>
            <a:ext cx="7024004" cy="4703452"/>
            <a:chOff x="1519921" y="1815282"/>
            <a:chExt cx="6947803" cy="476459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F7673C0-666D-0DFD-DB28-36C8AB20A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9921" y="1815282"/>
              <a:ext cx="6947803" cy="4763228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C258CFA-D46D-DD63-F476-939B24CFC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43510" y="6412222"/>
              <a:ext cx="342930" cy="16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007158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6058-BCAC-5973-88B3-9937643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1D1540C-C9B8-D40C-73EE-259E91537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" cap="none" dirty="0">
                <a:cs typeface="Segoe UI Light" panose="020B0502040204020203" pitchFamily="34" charset="0"/>
              </a:rPr>
              <a:t>Total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Variance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of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Matrix</a:t>
            </a:r>
            <a:endParaRPr lang="ko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D43EB65-3E9B-ECE8-23C1-24B298B14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pic>
        <p:nvPicPr>
          <p:cNvPr id="1026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FD5454AF-9D9D-C1F8-13C5-FB50F1510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5" y="2264094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FD1F97AF-8F47-3913-BD7E-049B0A55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449" y="2264095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94DDF2-FA83-1528-ED94-B305BA82EC2A}"/>
              </a:ext>
            </a:extLst>
          </p:cNvPr>
          <p:cNvSpPr txBox="1"/>
          <p:nvPr/>
        </p:nvSpPr>
        <p:spPr>
          <a:xfrm>
            <a:off x="807720" y="5561675"/>
            <a:ext cx="4533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original 3-dimensional data set. The red, blue, green arrows are the direction of the first, second, and third principal components, respectively.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036BE2-058E-F2B0-994D-58F741FF8627}"/>
              </a:ext>
            </a:extLst>
          </p:cNvPr>
          <p:cNvSpPr txBox="1"/>
          <p:nvPr/>
        </p:nvSpPr>
        <p:spPr>
          <a:xfrm>
            <a:off x="6267449" y="5561675"/>
            <a:ext cx="4533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Scatterplot after PCA reduced from 3-dimensions to 2-dimensions. 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C5D7F7-968B-3650-11E3-08E33038F536}"/>
              </a:ext>
            </a:extLst>
          </p:cNvPr>
          <p:cNvSpPr txBox="1"/>
          <p:nvPr/>
        </p:nvSpPr>
        <p:spPr>
          <a:xfrm>
            <a:off x="521206" y="1219111"/>
            <a:ext cx="1097631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Principal component analysis (PCA) is a technique that transforms high-dimensions data into lower-dimensions while retaining as much information as possible.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58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12487-4066-E9B9-A601-533736ED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A0241D-1994-FC82-D69B-0A68B2AAF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D98C4D-BA3A-37E3-866A-C8686B216CDE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Eigen value &amp; Eigen vector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1BE4A90-2671-6596-92C0-364DB0A35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801" y="1866900"/>
            <a:ext cx="4537448" cy="4660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21DEFFE-BE6E-C89F-DFD1-149A436685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2938" y="1866901"/>
            <a:ext cx="4551073" cy="466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6">
            <a:extLst>
              <a:ext uri="{FF2B5EF4-FFF2-40B4-BE49-F238E27FC236}">
                <a16:creationId xmlns:a16="http://schemas.microsoft.com/office/drawing/2014/main" id="{A5F13AEE-DD0E-3B1A-AAB5-ABA378887D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7237" y="870129"/>
            <a:ext cx="10715625" cy="8697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공간을 무작위로 찌그러뜨리는 것 같지만,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행렬의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고유벡터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특별한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 vectors)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기준으로 보면 단순히 길이를 늘리거나(4배) 뒤집는(-1배) 연산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Eigenvalues)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하고 있다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29B97B-BCF9-D313-1736-B599A138C588}"/>
              </a:ext>
            </a:extLst>
          </p:cNvPr>
          <p:cNvSpPr txBox="1"/>
          <p:nvPr/>
        </p:nvSpPr>
        <p:spPr>
          <a:xfrm>
            <a:off x="8753791" y="3086093"/>
            <a:ext cx="11369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i="0" dirty="0">
                <a:solidFill>
                  <a:schemeClr val="accent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Eigenvalues</a:t>
            </a:r>
          </a:p>
          <a:p>
            <a:r>
              <a:rPr lang="en-US" altLang="ko-KR" sz="1200" b="1" i="0" dirty="0">
                <a:solidFill>
                  <a:schemeClr val="accent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[ 4. -1.] </a:t>
            </a:r>
            <a:endParaRPr lang="ko-KR" altLang="en-US" sz="1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DEE789-2360-2E57-1572-04EFF9D6424E}"/>
              </a:ext>
            </a:extLst>
          </p:cNvPr>
          <p:cNvSpPr txBox="1"/>
          <p:nvPr/>
        </p:nvSpPr>
        <p:spPr>
          <a:xfrm>
            <a:off x="6819900" y="3265571"/>
            <a:ext cx="17830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Eigenvectors </a:t>
            </a:r>
          </a:p>
          <a:p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[[ 0.83 -0.71] </a:t>
            </a:r>
          </a:p>
          <a:p>
            <a:r>
              <a:rPr lang="en-US" altLang="ko-KR" sz="1200" b="1" dirty="0">
                <a:solidFill>
                  <a:srgbClr val="00B05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[ 0.55 0.71]]</a:t>
            </a:r>
            <a:endParaRPr lang="ko-KR" altLang="en-US" sz="1200" b="1" dirty="0">
              <a:solidFill>
                <a:srgbClr val="00B05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23118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1614619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378837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3F55857-3EC6-8FE3-FB8E-AA2D6945375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Eigenvalues_and_eigenvectors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75007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6BD3A-EE14-2467-AD61-91324A7F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BCDE5-4265-7787-19C6-E72CD7BBF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EC6C347-2434-8363-FDBC-4993208CB10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Undestanding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03D835E-99D8-D1C5-C9A7-2D439DD85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PCA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주성분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분석을 시각화로 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39359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5B62D-C56C-8C8A-D635-BDAE2165A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A8DC34F-90C7-F8C5-68DD-229C5975A1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(1/3)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표준 기저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행렬에 의해 정확히 행렬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(2,3), (1,4)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선형변화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되고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 정사각형이 평행사변형으로 변환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  <a:blipFill>
                <a:blip r:embed="rId2"/>
                <a:stretch>
                  <a:fillRect l="-497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2D810127-F36F-F750-36B2-F991D65C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7B2FFB-229C-9856-0910-69A35DE40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76" y="2069849"/>
            <a:ext cx="9033577" cy="441282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E6F89DE-B4DF-E058-CF78-380106D89E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467225" y="3101805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8863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E58B-E027-B2B0-B8EB-75A34B70B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F2E9924A-0166-2BF4-B339-E2DEBED57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98" y="2129648"/>
            <a:ext cx="8769352" cy="435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728BFC4-53E5-BC11-044B-4B5C9539EE4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(2/3)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C6696286-0EB0-4D93-69FB-A9C56117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9A56CA-75FB-0E83-0E74-06E43B60B916}"/>
              </a:ext>
            </a:extLst>
          </p:cNvPr>
          <p:cNvSpPr txBox="1"/>
          <p:nvPr/>
        </p:nvSpPr>
        <p:spPr>
          <a:xfrm>
            <a:off x="1641903" y="3360567"/>
            <a:ext cx="3596848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mean = [2, 1]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 = [[0.5, 0], [0, 0.2]] </a:t>
            </a:r>
            <a:endParaRPr lang="ko-KR" altLang="en-US" sz="1200" b="0" dirty="0">
              <a:effectLst/>
              <a:latin typeface="Aptos Narrow" panose="020B0004020202020204" pitchFamily="34" charset="0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data =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np.random.multivariate_normal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(mean,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, 300)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76CE5FD-59F3-5258-A057-D369D8685A4C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83195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행렬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((2,1), (3,4))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새로운 기저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(2,3)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선형 합으로 데이터를 선형변환 한 것이다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E1B69E-A794-FFDD-E298-D83ED5A2D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62" y="2084612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093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25DC-DE68-65F6-09EA-36647289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74D5D1B-942F-2499-638A-702F6C0E78B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(3/3)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6A79D7C4-9DAF-56C8-6022-B24CFD9C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F1A5AA8-2CC4-07C0-5F12-95F244FEE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77" y="2571239"/>
            <a:ext cx="5192932" cy="331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6B27DAA-3882-D126-BE42-5B74772B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117" y="2123291"/>
            <a:ext cx="5192932" cy="372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71733FB-6BFB-1EB3-E879-87A8BBB4946D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119663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행렬로 선형변환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고유벡터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(Eigen vector)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주성분임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74587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4DCC-2219-0BAB-D637-2653B934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99486-55C8-1E83-C07C-51A8D03A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D8DB989-8DE9-D0DE-7F4B-F927980EA3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Combination of Eigen Faces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압축된 얼굴 이미지는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𝒙</m:t>
                        </m:r>
                      </m:e>
                      <m:sub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𝒊</m:t>
                        </m:r>
                      </m:sub>
                    </m:sSub>
                    <m:r>
                      <a:rPr lang="en-US" altLang="ko-KR" sz="2100" b="1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가중치 벡터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(Weight Vector)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원본 얼굴을 똑같이 재현하기 위해 어떤 주성분 얼굴들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(Eigen Faces)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각각 얼마나 필요한 지를 나타내는 계수들의 집합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Combination of Eigen Faces)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  <a:blipFill>
                <a:blip r:embed="rId2"/>
                <a:stretch>
                  <a:fillRect l="-456" r="-114" b="-76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C3DF88BB-1F83-EAAD-283E-E273CA43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8496" y="2692308"/>
            <a:ext cx="901235" cy="1524645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9850887-FA84-6932-78C8-28A48DF0DD23}"/>
              </a:ext>
            </a:extLst>
          </p:cNvPr>
          <p:cNvGrpSpPr/>
          <p:nvPr/>
        </p:nvGrpSpPr>
        <p:grpSpPr>
          <a:xfrm>
            <a:off x="2082717" y="2527857"/>
            <a:ext cx="7366382" cy="3873529"/>
            <a:chOff x="1606168" y="2181196"/>
            <a:chExt cx="7928357" cy="4038740"/>
          </a:xfrm>
        </p:grpSpPr>
        <p:pic>
          <p:nvPicPr>
            <p:cNvPr id="12290" name="Picture 2" descr="Linear Combination of EigenFaces">
              <a:extLst>
                <a:ext uri="{FF2B5EF4-FFF2-40B4-BE49-F238E27FC236}">
                  <a16:creationId xmlns:a16="http://schemas.microsoft.com/office/drawing/2014/main" id="{609C152E-5A52-54CC-DF19-EFAF2DC26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6168" y="2524126"/>
              <a:ext cx="7928357" cy="36958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C0D49F6-0D9F-05FF-14AF-A84B40F5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6168" y="2181196"/>
              <a:ext cx="7928357" cy="3429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/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</m:ctrlPr>
                          </m:sSubPr>
                          <m:e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ko-KR" altLang="en-US" sz="2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535602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354C-9E3B-A472-9C1F-80823F5C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189F65D-167B-B5EE-E8D7-C2A4BEF2742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6D2BF00-A385-9818-F1A0-AF5C00351ECA}"/>
              </a:ext>
            </a:extLst>
          </p:cNvPr>
          <p:cNvSpPr txBox="1">
            <a:spLocks/>
          </p:cNvSpPr>
          <p:nvPr/>
        </p:nvSpPr>
        <p:spPr>
          <a:xfrm>
            <a:off x="913794" y="1070316"/>
            <a:ext cx="10706705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코드를 다운받아 주성분분석을 실습한다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B13165B-37AB-7A55-4979-8CF6B4BF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24580" name="Picture 4" descr="Book Cover">
            <a:extLst>
              <a:ext uri="{FF2B5EF4-FFF2-40B4-BE49-F238E27FC236}">
                <a16:creationId xmlns:a16="http://schemas.microsoft.com/office/drawing/2014/main" id="{30F49467-6593-5363-0398-441CC38F4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0" y="2362200"/>
            <a:ext cx="2965057" cy="3914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42E23B2-6EEA-CE8D-394E-D03D3C7E3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123" y="2281674"/>
            <a:ext cx="3097535" cy="375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8722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9FCDD-CBFA-66D7-AD9E-AA6AD5403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79D24-D41B-D7B3-BCD9-F79ED5970D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800" cap="none" dirty="0">
                <a:solidFill>
                  <a:schemeClr val="bg1"/>
                </a:solidFill>
              </a:rPr>
              <a:t>Manifold Learning</a:t>
            </a:r>
            <a:br>
              <a:rPr lang="en-US" altLang="ko-KR" b="1" cap="none" dirty="0"/>
            </a:br>
            <a:endParaRPr lang="ko-KR" altLang="en-US" sz="4800" cap="non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42746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10271-03C9-79C4-A8D0-743D4B37A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45690C-43CB-3724-856F-06FE1660C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6331FB-B472-4AEB-20C2-F26C8CDD0265}"/>
              </a:ext>
            </a:extLst>
          </p:cNvPr>
          <p:cNvSpPr txBox="1"/>
          <p:nvPr/>
        </p:nvSpPr>
        <p:spPr>
          <a:xfrm>
            <a:off x="676275" y="285750"/>
            <a:ext cx="36952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 manifold-learning</a:t>
            </a:r>
            <a:endParaRPr lang="ko-KR" altLang="en-US" sz="28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DC820A7-E4A5-0C3C-9D54-74EDF093D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287" y="1119188"/>
            <a:ext cx="3652837" cy="2698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458ACA6-AAE7-BFA8-4963-B2D28B8488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288" y="3894175"/>
            <a:ext cx="3652837" cy="2757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75172D9A-6121-3150-113F-9DC135D45A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388" y="977528"/>
            <a:ext cx="3271838" cy="2735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48F0B0A6-5055-CDF7-767B-3FFD26207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388" y="3894175"/>
            <a:ext cx="3271838" cy="2735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6397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D940E-B85D-7B3C-FEDB-FF455975B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00A08D-D2DD-BAD3-B37D-8F4C5E301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C0FC88-D33D-DE73-67F6-F47F1029A4DD}"/>
              </a:ext>
            </a:extLst>
          </p:cNvPr>
          <p:cNvSpPr txBox="1"/>
          <p:nvPr/>
        </p:nvSpPr>
        <p:spPr>
          <a:xfrm>
            <a:off x="676275" y="285750"/>
            <a:ext cx="4370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 Linear manifold-learning</a:t>
            </a:r>
            <a:endParaRPr lang="ko-KR" altLang="en-US" sz="28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428666C-BA30-3586-383F-211CFD900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671638"/>
            <a:ext cx="4286250" cy="4150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38A96B4B-2995-323E-8E35-78602B2F13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6912" y="2082316"/>
            <a:ext cx="4538062" cy="3328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02964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F983-F86D-6D96-7178-B287B5AD7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0937B1-8899-C4BB-E3DB-4847EF7A6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752250-F92A-1FC4-0C6C-35F2C9B7EEE7}"/>
              </a:ext>
            </a:extLst>
          </p:cNvPr>
          <p:cNvSpPr txBox="1"/>
          <p:nvPr/>
        </p:nvSpPr>
        <p:spPr>
          <a:xfrm>
            <a:off x="609600" y="523875"/>
            <a:ext cx="66848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Nonlinear dimensionality reduction</a:t>
            </a:r>
            <a:r>
              <a:rPr lang="en-US" altLang="ko-KR" sz="2800" dirty="0"/>
              <a:t>: </a:t>
            </a:r>
            <a:r>
              <a:rPr lang="en-US" altLang="ko-KR" sz="2800" dirty="0" err="1"/>
              <a:t>wikipedia</a:t>
            </a:r>
            <a:endParaRPr lang="ko-KR" altLang="en-US" sz="28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7BCA5DA-5050-4E15-4636-E51145267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250" y="1229311"/>
            <a:ext cx="6618503" cy="517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08900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C183E-D86D-7EC7-A480-27281857B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C0ACE3-DEAD-E822-D073-769C98BE2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A1F4453-9290-47E2-4FB4-00DD0A6CB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13" y="1038811"/>
            <a:ext cx="5494157" cy="5362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C23143-447F-B9DB-9103-FA4BBF090144}"/>
              </a:ext>
            </a:extLst>
          </p:cNvPr>
          <p:cNvSpPr txBox="1"/>
          <p:nvPr/>
        </p:nvSpPr>
        <p:spPr>
          <a:xfrm>
            <a:off x="676275" y="285750"/>
            <a:ext cx="4370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 Linear manifold-learning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046317414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2368</TotalTime>
  <Words>2058</Words>
  <Application>Microsoft Office PowerPoint</Application>
  <PresentationFormat>와이드스크린</PresentationFormat>
  <Paragraphs>272</Paragraphs>
  <Slides>44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61" baseType="lpstr">
      <vt:lpstr>D2Coding</vt:lpstr>
      <vt:lpstr>Nanum Gothic</vt:lpstr>
      <vt:lpstr>나눔고딕</vt:lpstr>
      <vt:lpstr>맑은 고딕</vt:lpstr>
      <vt:lpstr>맑은 고딕 Semilight</vt:lpstr>
      <vt:lpstr>Batang</vt:lpstr>
      <vt:lpstr>한컴 말랑말랑 Bold</vt:lpstr>
      <vt:lpstr>ADLaM Display</vt:lpstr>
      <vt:lpstr>Aptos Narrow</vt:lpstr>
      <vt:lpstr>Arial</vt:lpstr>
      <vt:lpstr>Calibri Light</vt:lpstr>
      <vt:lpstr>Cambria Math</vt:lpstr>
      <vt:lpstr>Segoe UI Light</vt:lpstr>
      <vt:lpstr>Times New Roman</vt:lpstr>
      <vt:lpstr>Tw Cen MT</vt:lpstr>
      <vt:lpstr>Wingdings</vt:lpstr>
      <vt:lpstr>물방울</vt:lpstr>
      <vt:lpstr>Principal Component Analysis</vt:lpstr>
      <vt:lpstr>선형대수(linear algebra)</vt:lpstr>
      <vt:lpstr>PowerPoint 프레젠테이션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2차원 평면에서의 선형변환에 대해 생각하기</vt:lpstr>
      <vt:lpstr>2차원 평면에서의 선형변환에 대해 생각하기</vt:lpstr>
      <vt:lpstr>Hands-on</vt:lpstr>
      <vt:lpstr>PowerPoint 프레젠테이션</vt:lpstr>
      <vt:lpstr>PowerPoint 프레젠테이션</vt:lpstr>
      <vt:lpstr>선형변환</vt:lpstr>
      <vt:lpstr>기하학적 이해</vt:lpstr>
      <vt:lpstr>선형대수(Linear Algebra)</vt:lpstr>
      <vt:lpstr>PowerPoint 프레젠테이션</vt:lpstr>
      <vt:lpstr>PowerPoint 프레젠테이션</vt:lpstr>
      <vt:lpstr>투영</vt:lpstr>
      <vt:lpstr>행렬과 내적은 선형변환</vt:lpstr>
      <vt:lpstr>선형변환</vt:lpstr>
      <vt:lpstr>PowerPoint 프레젠테이션</vt:lpstr>
      <vt:lpstr>PowerPoint 프레젠테이션</vt:lpstr>
      <vt:lpstr>PowerPoint 프레젠테이션</vt:lpstr>
      <vt:lpstr>Rank of Matrix</vt:lpstr>
      <vt:lpstr>Rank of Matrix</vt:lpstr>
      <vt:lpstr>Rank of Matrix</vt:lpstr>
      <vt:lpstr>Compressing Images – Reducing rank by random choice of features</vt:lpstr>
      <vt:lpstr>Compressing Images – Reducing rank by SVD, PCA</vt:lpstr>
      <vt:lpstr>Total Variance of Matrix</vt:lpstr>
      <vt:lpstr>PowerPoint 프레젠테이션</vt:lpstr>
      <vt:lpstr>PowerPoint 프레젠테이션</vt:lpstr>
      <vt:lpstr>Total Variance of Matrix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Manifold Learning 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46</cp:revision>
  <dcterms:created xsi:type="dcterms:W3CDTF">2026-03-09T22:59:08Z</dcterms:created>
  <dcterms:modified xsi:type="dcterms:W3CDTF">2026-04-19T05:24:26Z</dcterms:modified>
</cp:coreProperties>
</file>