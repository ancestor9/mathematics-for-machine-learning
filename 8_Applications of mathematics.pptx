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1"/>
  </p:notesMasterIdLst>
  <p:sldIdLst>
    <p:sldId id="256" r:id="rId2"/>
    <p:sldId id="836" r:id="rId3"/>
    <p:sldId id="824" r:id="rId4"/>
    <p:sldId id="825" r:id="rId5"/>
    <p:sldId id="826" r:id="rId6"/>
    <p:sldId id="822" r:id="rId7"/>
    <p:sldId id="921" r:id="rId8"/>
    <p:sldId id="838" r:id="rId9"/>
    <p:sldId id="842" r:id="rId10"/>
    <p:sldId id="841" r:id="rId11"/>
    <p:sldId id="840" r:id="rId12"/>
    <p:sldId id="922" r:id="rId13"/>
    <p:sldId id="911" r:id="rId14"/>
    <p:sldId id="913" r:id="rId15"/>
    <p:sldId id="915" r:id="rId16"/>
    <p:sldId id="916" r:id="rId17"/>
    <p:sldId id="917" r:id="rId18"/>
    <p:sldId id="918" r:id="rId19"/>
    <p:sldId id="919" r:id="rId20"/>
    <p:sldId id="920" r:id="rId21"/>
    <p:sldId id="914" r:id="rId22"/>
    <p:sldId id="912" r:id="rId23"/>
    <p:sldId id="888" r:id="rId24"/>
    <p:sldId id="847" r:id="rId25"/>
    <p:sldId id="870" r:id="rId26"/>
    <p:sldId id="871" r:id="rId27"/>
    <p:sldId id="848" r:id="rId28"/>
    <p:sldId id="873" r:id="rId29"/>
    <p:sldId id="874" r:id="rId30"/>
    <p:sldId id="845" r:id="rId31"/>
    <p:sldId id="872" r:id="rId32"/>
    <p:sldId id="851" r:id="rId33"/>
    <p:sldId id="907" r:id="rId34"/>
    <p:sldId id="910" r:id="rId35"/>
    <p:sldId id="812" r:id="rId36"/>
    <p:sldId id="909" r:id="rId37"/>
    <p:sldId id="908" r:id="rId38"/>
    <p:sldId id="852" r:id="rId39"/>
    <p:sldId id="846" r:id="rId40"/>
    <p:sldId id="902" r:id="rId41"/>
    <p:sldId id="854" r:id="rId42"/>
    <p:sldId id="857" r:id="rId43"/>
    <p:sldId id="858" r:id="rId44"/>
    <p:sldId id="856" r:id="rId45"/>
    <p:sldId id="859" r:id="rId46"/>
    <p:sldId id="864" r:id="rId47"/>
    <p:sldId id="862" r:id="rId48"/>
    <p:sldId id="866" r:id="rId49"/>
    <p:sldId id="867" r:id="rId50"/>
    <p:sldId id="855" r:id="rId51"/>
    <p:sldId id="868" r:id="rId52"/>
    <p:sldId id="865" r:id="rId53"/>
    <p:sldId id="878" r:id="rId54"/>
    <p:sldId id="903" r:id="rId55"/>
    <p:sldId id="876" r:id="rId56"/>
    <p:sldId id="879" r:id="rId57"/>
    <p:sldId id="881" r:id="rId58"/>
    <p:sldId id="880" r:id="rId59"/>
    <p:sldId id="883" r:id="rId60"/>
    <p:sldId id="882" r:id="rId61"/>
    <p:sldId id="884" r:id="rId62"/>
    <p:sldId id="886" r:id="rId63"/>
    <p:sldId id="887" r:id="rId64"/>
    <p:sldId id="885" r:id="rId65"/>
    <p:sldId id="904" r:id="rId66"/>
    <p:sldId id="891" r:id="rId67"/>
    <p:sldId id="833" r:id="rId68"/>
    <p:sldId id="923" r:id="rId69"/>
    <p:sldId id="830" r:id="rId7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1651" autoAdjust="0"/>
    <p:restoredTop sz="94677" autoAdjust="0"/>
  </p:normalViewPr>
  <p:slideViewPr>
    <p:cSldViewPr snapToGrid="0">
      <p:cViewPr varScale="1">
        <p:scale>
          <a:sx n="80" d="100"/>
          <a:sy n="80" d="100"/>
        </p:scale>
        <p:origin x="936" y="67"/>
      </p:cViewPr>
      <p:guideLst/>
    </p:cSldViewPr>
  </p:slideViewPr>
  <p:outlineViewPr>
    <p:cViewPr>
      <p:scale>
        <a:sx n="33" d="100"/>
        <a:sy n="33" d="100"/>
      </p:scale>
      <p:origin x="0" y="-14155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443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D2F86-9062-4B78-99E4-F1BEEF85F138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F8537-0286-40EF-BEDA-D09730C549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858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625919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3774" y="625919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14011" y="625919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>
            <a:lvl1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2pPr>
            <a:lvl3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3pPr>
            <a:lvl4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4pPr>
            <a:lvl5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3ED9A29-9868-F004-D477-E1B0BB933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25919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77D30F9-C5FD-9521-DA84-79FBF57E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25919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6A01DD9-3974-9718-87F6-EB78F09A5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25919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 cap="none" baseline="0">
                <a:solidFill>
                  <a:schemeClr val="bg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A99E11-B46A-118A-F76B-E17310DEE2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25919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71614DA-D35D-4B8B-DCBD-E9A199822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25919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B27BFF4-697B-FD92-F05F-295244280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25919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2pPr>
            <a:lvl3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3pPr>
            <a:lvl4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4pPr>
            <a:lvl5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2pPr>
            <a:lvl3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3pPr>
            <a:lvl4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4pPr>
            <a:lvl5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8E69C8F-0918-40E3-4741-67A5B5A91D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25919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62887F7-6A57-BAD0-B669-290D07F51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25919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4F0C71D-A8E9-043B-3AA5-BF120AE9F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25919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>
            <a:lvl1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 cap="none" baseline="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>
            <a:lvl1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2pPr>
            <a:lvl3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3pPr>
            <a:lvl4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4pPr>
            <a:lvl5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 cap="none" baseline="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>
            <a:lvl1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2pPr>
            <a:lvl3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3pPr>
            <a:lvl4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4pPr>
            <a:lvl5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 cap="none" baseline="0">
                <a:latin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627951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3774" y="627951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14011" y="627951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 cap="none" baseline="0">
                <a:latin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615759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3774" y="615759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14011" y="615759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5631107F-D1C4-F805-1498-80BECBF005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4DC48662-B15E-83AA-948A-6E29EC904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6B053EF2-6074-466B-2115-88DE3F354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F09C00A1-E496-9D6D-FCA7-54CAF7D69F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F1974E-196E-D3C9-4363-362788825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404446F-A494-25B8-0869-FB7B6C5BC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68E154EC-00A9-6E79-7724-9D6944B077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EC2A4-54D7-3BF6-D99A-08582FF90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D4F25-CAAA-ECEB-957C-521F20E2D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D1B0384A-C15E-6BC3-788D-790F774B40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7415F5C3-F00B-F7A0-2083-856E045DD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11D89B46-F084-169B-F060-9635BE8E8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7273AA5-3929-967A-5130-C11B3E3756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88B4DE49-D32C-01EA-F5B0-AAAC2AD2C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85456818-C05D-B8E7-2227-39DE6BFCB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208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1B8B1B7-A03F-2EA2-EF8B-567925A49D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78737" y="625919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2B5944-8912-A1D5-050D-8632DCBF7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3774" y="625919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B2289C7-8B26-A377-4243-1486C10E0C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4011" y="625919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  <p:sldLayoutId id="2147483669" r:id="rId18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scikit-learn.org/stable/modules/neighbors.html" TargetMode="Externa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www.kdnuggets.com/2020/11/most-popular-distance-metrics-knn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neighbors.html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metrics.pairwise.cosine_similarity.html" TargetMode="External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.elnn.kr/search/" TargetMode="External"/><Relationship Id="rId2" Type="http://schemas.openxmlformats.org/officeDocument/2006/relationships/hyperlink" Target="https://scikit-learn.org/stable/modules/generated/sklearn.metrics.pairwise.cosine_similarity.html" TargetMode="Externa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2.jpeg"/><Relationship Id="rId5" Type="http://schemas.openxmlformats.org/officeDocument/2006/relationships/hyperlink" Target="https://en.wikipedia.org/wiki/Dynamic_time_warping" TargetMode="External"/><Relationship Id="rId4" Type="http://schemas.openxmlformats.org/officeDocument/2006/relationships/hyperlink" Target="https://wikidocs.net/22650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.elnn.kr/search/" TargetMode="External"/><Relationship Id="rId2" Type="http://schemas.openxmlformats.org/officeDocument/2006/relationships/hyperlink" Target="https://scikit-learn.org/stable/modules/generated/sklearn.metrics.pairwise.cosine_similarity.html" TargetMode="Externa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2.jpeg"/><Relationship Id="rId5" Type="http://schemas.openxmlformats.org/officeDocument/2006/relationships/hyperlink" Target="https://en.wikipedia.org/wiki/Dynamic_time_warping" TargetMode="External"/><Relationship Id="rId4" Type="http://schemas.openxmlformats.org/officeDocument/2006/relationships/hyperlink" Target="https://wikidocs.net/22650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analytics17.blogspot.com/2017/08/2-1.html" TargetMode="Externa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20.png"/><Relationship Id="rId4" Type="http://schemas.openxmlformats.org/officeDocument/2006/relationships/hyperlink" Target="https://mlu-explain.github.io/linear-regression/" TargetMode="Externa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60.png"/><Relationship Id="rId5" Type="http://schemas.microsoft.com/office/2007/relationships/hdphoto" Target="../media/hdphoto1.wdp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8.xml"/><Relationship Id="rId5" Type="http://schemas.microsoft.com/office/2007/relationships/hdphoto" Target="../media/hdphoto2.wdp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linear_model.LinearRegression.html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2.jpeg"/><Relationship Id="rId5" Type="http://schemas.openxmlformats.org/officeDocument/2006/relationships/image" Target="../media/image50.gif"/><Relationship Id="rId4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linear_model.LinearRegression.html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www.kaggle.com/code/shakedzy/alone-in-the-woods-using-theil-s-u-for-survival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www.youtube.com/watch?v=t3VBY9OisCo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sorflow.org/?hl=ko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wikidocs.net/24958" TargetMode="External"/><Relationship Id="rId5" Type="http://schemas.openxmlformats.org/officeDocument/2006/relationships/hyperlink" Target="https://keras.io/" TargetMode="External"/><Relationship Id="rId4" Type="http://schemas.openxmlformats.org/officeDocument/2006/relationships/hyperlink" Target="https://pytorch.org/" TargetMode="Externa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mlu-explain.github.io/bias-variance/" TargetMode="External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5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18.xml"/><Relationship Id="rId5" Type="http://schemas.openxmlformats.org/officeDocument/2006/relationships/hyperlink" Target="https://mlu-explain.github.io/cross-validation/" TargetMode="External"/><Relationship Id="rId4" Type="http://schemas.openxmlformats.org/officeDocument/2006/relationships/image" Target="../media/image6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mlu-explain.github.io/train-test-validation/" TargetMode="External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hyperlink" Target="https://mlu-explain.github.io/decision-tree/" TargetMode="External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hyperlink" Target="https://en.wikipedia.org/wiki/Condorcet%27s_jury_theorem" TargetMode="External"/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hyperlink" Target="https://mlu-explain.github.io/random-forest/" TargetMode="External"/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hyperlink" Target="http://vision.stanford.edu/teaching/cs231n-demos/knn/" TargetMode="Externa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1ai.net/overview/basics" TargetMode="Externa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orch.org/tutorials/beginner/basics/quickstart_tutorial.html" TargetMode="External"/><Relationship Id="rId2" Type="http://schemas.openxmlformats.org/officeDocument/2006/relationships/hyperlink" Target="https://www.101ai.net/basics/https:/www.101ai.net/basics/tensors" TargetMode="External"/><Relationship Id="rId1" Type="http://schemas.openxmlformats.org/officeDocument/2006/relationships/slideLayout" Target="../slideLayouts/slideLayout18.xml"/><Relationship Id="rId5" Type="http://schemas.openxmlformats.org/officeDocument/2006/relationships/hyperlink" Target="https://playground.tensorflow.org/#activation=tanh&amp;batchSize=10&amp;dataset=circle&amp;regDataset=reg-plane&amp;learningRate=0.03&amp;regularizationRate=0&amp;noise=0&amp;networkShape=4,2&amp;seed=0.70624&amp;showTestData=false&amp;discretize=false&amp;percTrainData=50&amp;x=true&amp;y=true&amp;xTimesY=false&amp;xSquared=false&amp;ySquared=false&amp;cosX=false&amp;sinX=false&amp;cosY=false&amp;sinY=false&amp;collectStats=false&amp;problem=classification&amp;initZero=false&amp;hideText=false" TargetMode="External"/><Relationship Id="rId4" Type="http://schemas.openxmlformats.org/officeDocument/2006/relationships/hyperlink" Target="https://www.tensorflow.org/tutorials/customization/basics?hl=ko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660.png"/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2.jpeg"/><Relationship Id="rId5" Type="http://schemas.openxmlformats.org/officeDocument/2006/relationships/image" Target="../media/image640.png"/><Relationship Id="rId4" Type="http://schemas.openxmlformats.org/officeDocument/2006/relationships/hyperlink" Target="https://en.wikipedia.org/wiki/Sign_function" TargetMode="Externa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www.101ai.net/deeplearn/activation" TargetMode="Externa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1ai.net/nnet/perceptron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0.png"/><Relationship Id="rId13" Type="http://schemas.openxmlformats.org/officeDocument/2006/relationships/image" Target="../media/image800.png"/><Relationship Id="rId18" Type="http://schemas.openxmlformats.org/officeDocument/2006/relationships/image" Target="../media/image850.png"/><Relationship Id="rId3" Type="http://schemas.openxmlformats.org/officeDocument/2006/relationships/image" Target="../media/image700.png"/><Relationship Id="rId7" Type="http://schemas.openxmlformats.org/officeDocument/2006/relationships/image" Target="../media/image740.png"/><Relationship Id="rId12" Type="http://schemas.openxmlformats.org/officeDocument/2006/relationships/image" Target="../media/image790.png"/><Relationship Id="rId17" Type="http://schemas.openxmlformats.org/officeDocument/2006/relationships/image" Target="../media/image86.png"/><Relationship Id="rId2" Type="http://schemas.openxmlformats.org/officeDocument/2006/relationships/image" Target="../media/image85.png"/><Relationship Id="rId16" Type="http://schemas.openxmlformats.org/officeDocument/2006/relationships/image" Target="../media/image83.png"/><Relationship Id="rId20" Type="http://schemas.openxmlformats.org/officeDocument/2006/relationships/image" Target="../media/image87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30.png"/><Relationship Id="rId11" Type="http://schemas.openxmlformats.org/officeDocument/2006/relationships/image" Target="../media/image780.png"/><Relationship Id="rId5" Type="http://schemas.openxmlformats.org/officeDocument/2006/relationships/image" Target="../media/image720.png"/><Relationship Id="rId15" Type="http://schemas.openxmlformats.org/officeDocument/2006/relationships/image" Target="../media/image82.png"/><Relationship Id="rId10" Type="http://schemas.openxmlformats.org/officeDocument/2006/relationships/image" Target="../media/image770.png"/><Relationship Id="rId19" Type="http://schemas.openxmlformats.org/officeDocument/2006/relationships/image" Target="../media/image860.png"/><Relationship Id="rId4" Type="http://schemas.openxmlformats.org/officeDocument/2006/relationships/image" Target="../media/image710.png"/><Relationship Id="rId9" Type="http://schemas.openxmlformats.org/officeDocument/2006/relationships/image" Target="../media/image760.png"/><Relationship Id="rId14" Type="http://schemas.openxmlformats.org/officeDocument/2006/relationships/image" Target="../media/image810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1ai.net/deeplearn/data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microsoft.com/office/2007/relationships/hdphoto" Target="../media/hdphoto3.wdp"/><Relationship Id="rId7" Type="http://schemas.microsoft.com/office/2007/relationships/hdphoto" Target="../media/hdphoto5.wdp"/><Relationship Id="rId12" Type="http://schemas.openxmlformats.org/officeDocument/2006/relationships/image" Target="../media/image97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4.png"/><Relationship Id="rId11" Type="http://schemas.microsoft.com/office/2007/relationships/hdphoto" Target="../media/hdphoto7.wdp"/><Relationship Id="rId5" Type="http://schemas.microsoft.com/office/2007/relationships/hdphoto" Target="../media/hdphoto4.wdp"/><Relationship Id="rId10" Type="http://schemas.openxmlformats.org/officeDocument/2006/relationships/image" Target="../media/image96.png"/><Relationship Id="rId4" Type="http://schemas.openxmlformats.org/officeDocument/2006/relationships/image" Target="../media/image93.png"/><Relationship Id="rId9" Type="http://schemas.microsoft.com/office/2007/relationships/hdphoto" Target="../media/hdphoto6.wdp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8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8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94BC4CC-119D-4066-611C-7FF8F6954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1" y="-1"/>
            <a:ext cx="7315200" cy="683417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53B55A5-AD55-D660-8099-86131A403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14571"/>
            <a:ext cx="4876801" cy="2509213"/>
          </a:xfrm>
        </p:spPr>
        <p:txBody>
          <a:bodyPr/>
          <a:lstStyle/>
          <a:p>
            <a:r>
              <a:rPr lang="ko-KR" altLang="en-US" dirty="0"/>
              <a:t>수학의 응용</a:t>
            </a:r>
            <a:br>
              <a:rPr lang="en-US" altLang="ko-KR" dirty="0"/>
            </a:br>
            <a:r>
              <a:rPr lang="en-US" altLang="ko-KR" sz="3600" dirty="0"/>
              <a:t>- </a:t>
            </a:r>
            <a:r>
              <a:rPr lang="ko-KR" altLang="en-US" sz="3600" dirty="0" err="1"/>
              <a:t>머신러닝</a:t>
            </a:r>
            <a:r>
              <a:rPr lang="en-US" altLang="ko-KR" sz="3600" dirty="0"/>
              <a:t> -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CC0AE0-A72B-E734-A33B-67DEC4595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99986"/>
            <a:ext cx="4876801" cy="1371599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2026 Spring</a:t>
            </a:r>
          </a:p>
          <a:p>
            <a:r>
              <a:rPr lang="ko-KR" altLang="en-US" dirty="0" err="1">
                <a:solidFill>
                  <a:schemeClr val="tx1"/>
                </a:solidFill>
              </a:rPr>
              <a:t>조상구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924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9DDB5-17A6-3B86-C607-0CFC0AF11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9A3EEBE5-E1C5-77F8-1CD6-4688155CE328}"/>
              </a:ext>
            </a:extLst>
          </p:cNvPr>
          <p:cNvSpPr/>
          <p:nvPr/>
        </p:nvSpPr>
        <p:spPr>
          <a:xfrm>
            <a:off x="678584" y="1504949"/>
            <a:ext cx="5198341" cy="3958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47E737-0202-3854-C868-F01FAACAADC1}"/>
              </a:ext>
            </a:extLst>
          </p:cNvPr>
          <p:cNvSpPr txBox="1"/>
          <p:nvPr/>
        </p:nvSpPr>
        <p:spPr>
          <a:xfrm>
            <a:off x="1336229" y="1428465"/>
            <a:ext cx="5512246" cy="5013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Distance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Norm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K-nearest neighbor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Cosine Similarity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Regression &amp; Perceptron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Linear regression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Stochastic Gradient Descent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Perceptron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Machine Learning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Bias and Variance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Cross validation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ML algorithms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EC34A9-4B72-FF34-06FC-E57171E6DB12}"/>
              </a:ext>
            </a:extLst>
          </p:cNvPr>
          <p:cNvSpPr txBox="1"/>
          <p:nvPr/>
        </p:nvSpPr>
        <p:spPr>
          <a:xfrm>
            <a:off x="1336229" y="709865"/>
            <a:ext cx="26046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ko-KR" alt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C6C5D6-B9BA-2997-9AB0-664100367C7E}"/>
              </a:ext>
            </a:extLst>
          </p:cNvPr>
          <p:cNvSpPr txBox="1"/>
          <p:nvPr/>
        </p:nvSpPr>
        <p:spPr>
          <a:xfrm>
            <a:off x="7029450" y="1428465"/>
            <a:ext cx="4619625" cy="4597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Deep Learning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Neural Network Architecture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Shallow/Deep learning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Matrix formulation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Forward/backward propagation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FNN, CNN, RNN, Transformer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Dimension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Reduction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Principal Component Analysis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Eigen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value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&amp;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vectors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SVD &amp; Topic Model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Manifold Learning</a:t>
            </a:r>
          </a:p>
        </p:txBody>
      </p:sp>
    </p:spTree>
    <p:extLst>
      <p:ext uri="{BB962C8B-B14F-4D97-AF65-F5344CB8AC3E}">
        <p14:creationId xmlns:p14="http://schemas.microsoft.com/office/powerpoint/2010/main" val="3346699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AFFAD7FC-F84E-93DD-F728-48CF868322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6801" y="3562350"/>
                <a:ext cx="10729565" cy="2471859"/>
              </a:xfrm>
              <a:solidFill>
                <a:schemeClr val="bg2">
                  <a:lumMod val="20000"/>
                  <a:lumOff val="80000"/>
                </a:schemeClr>
              </a:solidFill>
            </p:spPr>
            <p:txBody>
              <a:bodyPr>
                <a:normAutofit/>
              </a:bodyPr>
              <a:lstStyle/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cap="none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sz="2000" i="1" cap="none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0" i="1" cap="none" smtClean="0"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b>
                        <m:r>
                          <a:rPr lang="en-US" altLang="ko-KR" sz="2000" b="0" i="1" cap="none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20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(L1 norm)                                                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1800" i="1" cap="none" smtClean="0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0" b="0" i="1" cap="none" smtClean="0"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ko-KR" sz="1800" i="1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8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[2,3],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cap="none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800" i="1" cap="none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0" i="1" cap="none"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b>
                        <m:r>
                          <a:rPr lang="en-US" altLang="ko-KR" sz="1800" i="1" cap="none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800" b="0" i="1" cap="none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800" i="1" cap="none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0" b="0" i="1" cap="none" smtClean="0">
                            <a:effectLst/>
                            <a:latin typeface="Cambria Math" panose="02040503050406030204" pitchFamily="18" charset="0"/>
                          </a:rPr>
                          <m:t>(2+3)</m:t>
                        </m:r>
                      </m:e>
                      <m:sup>
                        <m:r>
                          <a:rPr lang="en-US" altLang="ko-KR" sz="1800" b="0" i="1" cap="none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ko-KR" sz="18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5 </a:t>
                </a:r>
              </a:p>
              <a:p>
                <a:pPr lvl="1"/>
                <a:endParaRPr lang="en-US" altLang="ko-KR" sz="2000" i="1" cap="none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cap="none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sz="2000" i="1" cap="none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 cap="none"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b>
                        <m:r>
                          <a:rPr lang="en-US" altLang="ko-KR" sz="2000" b="0" i="1" cap="none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20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(L2 norm)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1800" i="1" cap="none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0" i="1" cap="none"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ko-KR" sz="1800" i="1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8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[2,3],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cap="none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800" i="1" cap="none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0" i="1" cap="none"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b>
                        <m:r>
                          <a:rPr lang="en-US" altLang="ko-KR" sz="1800" b="0" i="1" cap="none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800" i="1" cap="none"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800" i="1" cap="none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0" i="1" cap="none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800" i="1" cap="none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0" i="1" cap="none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sz="1800" b="0" i="1" cap="none" smtClean="0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800" i="1" cap="none">
                            <a:effectLst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0" b="0" i="1" cap="none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ko-KR" sz="1800" i="1" cap="none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0" b="0" i="1" cap="none" smtClean="0">
                                <a:effectLst/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US" altLang="ko-KR" sz="1800" i="1" cap="none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800" i="1" cap="none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ko-KR" sz="1800" b="0" i="1" cap="none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altLang="ko-KR" sz="1800" i="1" cap="none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800" b="0" i="1" cap="none" smtClean="0"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800" b="0" i="1" cap="none" smtClean="0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ko-KR" sz="18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i="1" cap="none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0" i="1" cap="none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800" b="0" i="1" cap="none" smtClean="0">
                            <a:effectLst/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ko-KR" sz="1800" i="1" cap="none">
                            <a:effectLst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0" b="0" i="1" cap="none" smtClean="0">
                            <a:effectLst/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ko-KR" sz="1800" i="1" cap="none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altLang="ko-KR" sz="1800" i="1" cap="none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800" i="1" cap="none"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800" i="1" cap="none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ko-KR" sz="18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altLang="ko-KR" sz="1800" i="1" cap="none" smtClean="0">
                            <a:effectLst/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altLang="ko-KR" sz="1800" b="0" i="1" cap="none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deg>
                      <m:e>
                        <m:r>
                          <a:rPr lang="en-US" altLang="ko-KR" sz="1800" b="0" i="1" cap="none" smtClean="0">
                            <a:effectLst/>
                            <a:latin typeface="Cambria Math" panose="02040503050406030204" pitchFamily="18" charset="0"/>
                          </a:rPr>
                          <m:t> 13</m:t>
                        </m:r>
                      </m:e>
                    </m:rad>
                  </m:oMath>
                </a14:m>
                <a:endParaRPr lang="en-US" altLang="ko-KR" sz="2000" cap="none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AFFAD7FC-F84E-93DD-F728-48CF868322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6801" y="3562350"/>
                <a:ext cx="10729565" cy="247185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그룹 20">
            <a:extLst>
              <a:ext uri="{FF2B5EF4-FFF2-40B4-BE49-F238E27FC236}">
                <a16:creationId xmlns:a16="http://schemas.microsoft.com/office/drawing/2014/main" id="{F9834FF0-8FBA-1350-9F1E-D0CB8F426314}"/>
              </a:ext>
            </a:extLst>
          </p:cNvPr>
          <p:cNvGrpSpPr/>
          <p:nvPr/>
        </p:nvGrpSpPr>
        <p:grpSpPr>
          <a:xfrm>
            <a:off x="3246467" y="2558043"/>
            <a:ext cx="5202208" cy="699507"/>
            <a:chOff x="2230094" y="2605995"/>
            <a:chExt cx="7498730" cy="1044030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F05F55E0-B70A-ADCF-C43A-DCB0EB37C1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30094" y="2605995"/>
              <a:ext cx="7498730" cy="1036410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BD8DBB4C-8447-148B-1A2C-41CFBB8F81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39832" y="2605995"/>
              <a:ext cx="1988992" cy="104403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F38668D-D916-87E8-408A-6B6D3F29F0CC}"/>
              </a:ext>
            </a:extLst>
          </p:cNvPr>
          <p:cNvSpPr txBox="1"/>
          <p:nvPr/>
        </p:nvSpPr>
        <p:spPr>
          <a:xfrm>
            <a:off x="666188" y="957141"/>
            <a:ext cx="10848975" cy="1426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 total length of all the vectors in a space (non-negative real numbers that behaves in certain ways like </a:t>
            </a:r>
            <a:r>
              <a:rPr lang="en-US" altLang="ko-KR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 distance from the origin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 p-norm of vector x will be denoted as</a:t>
            </a:r>
            <a:endParaRPr lang="ko-KR" altLang="en-US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7236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1-Norm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AFFAD7FC-F84E-93DD-F728-48CF868322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3794" y="1127464"/>
                <a:ext cx="10729565" cy="1768136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sz="22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L1 Norm (</a:t>
                </a:r>
                <a:r>
                  <a:rPr lang="en-US" altLang="ko-KR" sz="2200" b="1" cap="none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Mahattan</a:t>
                </a:r>
                <a:r>
                  <a:rPr lang="en-US" altLang="ko-KR" sz="2200" b="1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Distance</a:t>
                </a:r>
                <a:r>
                  <a:rPr lang="en-US" altLang="ko-KR" sz="22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Taxicab geometry)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900" i="1" cap="none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900" i="1" cap="none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900" b="0" i="1" cap="none" smtClean="0"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b>
                        <m:r>
                          <a:rPr lang="en-US" altLang="ko-KR" sz="1900" b="0" i="1" cap="none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9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(L1 norm)                                                 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1600" i="1" cap="none" smtClean="0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b="0" i="1" cap="none" smtClean="0"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ko-KR" sz="1600" i="1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6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[2,3],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b>
                        <m: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cap="none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 cap="none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cap="none" smtClean="0">
                            <a:effectLst/>
                            <a:latin typeface="Cambria Math" panose="02040503050406030204" pitchFamily="18" charset="0"/>
                          </a:rPr>
                          <m:t>(2+3)</m:t>
                        </m:r>
                      </m:e>
                      <m:sup>
                        <m:r>
                          <a:rPr lang="en-US" altLang="ko-KR" sz="1600" b="0" i="1" cap="none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ko-KR" sz="16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5 </a:t>
                </a:r>
                <a:endParaRPr lang="en-US" altLang="ko-KR" sz="2200" cap="none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AFFAD7FC-F84E-93DD-F728-48CF868322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3794" y="1127464"/>
                <a:ext cx="10729565" cy="1768136"/>
              </a:xfrm>
              <a:blipFill>
                <a:blip r:embed="rId2"/>
                <a:stretch>
                  <a:fillRect l="-682" t="-3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>
            <a:extLst>
              <a:ext uri="{FF2B5EF4-FFF2-40B4-BE49-F238E27FC236}">
                <a16:creationId xmlns:a16="http://schemas.microsoft.com/office/drawing/2014/main" id="{F3C4AE5B-40B1-4939-A882-6AFA8B8F9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255" y="2895600"/>
            <a:ext cx="3132091" cy="2781541"/>
          </a:xfrm>
          <a:prstGeom prst="rect">
            <a:avLst/>
          </a:prstGeom>
        </p:spPr>
      </p:pic>
      <p:sp>
        <p:nvSpPr>
          <p:cNvPr id="3" name="내용 개체 틀 8">
            <a:extLst>
              <a:ext uri="{FF2B5EF4-FFF2-40B4-BE49-F238E27FC236}">
                <a16:creationId xmlns:a16="http://schemas.microsoft.com/office/drawing/2014/main" id="{B2217166-AD4E-864D-9D87-F525F7C4BEBC}"/>
              </a:ext>
            </a:extLst>
          </p:cNvPr>
          <p:cNvSpPr txBox="1">
            <a:spLocks/>
          </p:cNvSpPr>
          <p:nvPr/>
        </p:nvSpPr>
        <p:spPr>
          <a:xfrm>
            <a:off x="7221071" y="2895599"/>
            <a:ext cx="4643718" cy="26955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06000" algn="l" defTabSz="457200" rtl="0" eaLnBrk="1" latinLnBrk="1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([2, 3])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norm_l1 =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np.linalg.norm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(x,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=1)  # L1 norm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norm_11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 5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x/norm_l1           # scaled by 1-norm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np.square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(x/norm_l1)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np.sum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(x/norm_l1)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73ED5F1A-8C68-4015-6D59-646B058A66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6B7BC5D-BC78-3BE9-3756-43EA405E42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1202" y="1239037"/>
            <a:ext cx="2372872" cy="154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406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2-Norm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AFFAD7FC-F84E-93DD-F728-48CF868322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3794" y="1127464"/>
                <a:ext cx="10729565" cy="1768136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altLang="ko-KR" sz="22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L2 Norm(</a:t>
                </a:r>
                <a:r>
                  <a:rPr lang="en-US" altLang="ko-KR" sz="2200" b="1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Euclidean Distance</a:t>
                </a:r>
                <a:r>
                  <a:rPr lang="en-US" altLang="ko-KR" sz="22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900" i="1" cap="none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900" i="1" cap="none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900" i="1" cap="none"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b>
                        <m:r>
                          <a:rPr lang="en-US" altLang="ko-KR" sz="1900" i="1" cap="none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9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(L2 norm)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ko-KR" sz="1600" i="1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6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[2,3],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b>
                        <m: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 cap="none"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  <m:t>+ </m:t>
                        </m:r>
                        <m:sSup>
                          <m:sSupPr>
                            <m:ctrlP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ko-KR" sz="16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  <m:t>(4+9)</m:t>
                        </m:r>
                      </m:e>
                      <m:sup>
                        <m:f>
                          <m:fPr>
                            <m:ctrlP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ko-KR" sz="16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deg>
                      <m:e>
                        <m: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  <m:t> 13</m:t>
                        </m:r>
                      </m:e>
                    </m:rad>
                  </m:oMath>
                </a14:m>
                <a:endParaRPr lang="en-US" altLang="ko-KR" sz="1900" cap="none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AFFAD7FC-F84E-93DD-F728-48CF868322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3794" y="1127464"/>
                <a:ext cx="10729565" cy="1768136"/>
              </a:xfrm>
              <a:blipFill>
                <a:blip r:embed="rId2"/>
                <a:stretch>
                  <a:fillRect l="-682" t="-3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내용 개체 틀 8">
            <a:extLst>
              <a:ext uri="{FF2B5EF4-FFF2-40B4-BE49-F238E27FC236}">
                <a16:creationId xmlns:a16="http://schemas.microsoft.com/office/drawing/2014/main" id="{B2217166-AD4E-864D-9D87-F525F7C4BEBC}"/>
              </a:ext>
            </a:extLst>
          </p:cNvPr>
          <p:cNvSpPr txBox="1">
            <a:spLocks/>
          </p:cNvSpPr>
          <p:nvPr/>
        </p:nvSpPr>
        <p:spPr>
          <a:xfrm>
            <a:off x="6438900" y="2895599"/>
            <a:ext cx="5502089" cy="3724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nl-NL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norm_l2 = np.linalg.norm(x, ord=2)  # L2 norm</a:t>
            </a:r>
          </a:p>
          <a:p>
            <a:pPr marL="36900" indent="0">
              <a:buNone/>
            </a:pPr>
            <a:r>
              <a:rPr lang="nl-NL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norm_l2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 3.605551275463989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x/norm_l2                       # scaled by 2-norm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np.square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(x/norm_l2)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np.square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(x/norm_l2).sum()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 1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EF7459-2858-2347-75D8-C91F1F465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255" y="2974105"/>
            <a:ext cx="3047769" cy="279718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55C3998-0489-2BF2-5241-E2E505201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8067" y="1092014"/>
            <a:ext cx="2171888" cy="158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98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of L1,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 Norms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6E248E-3EA5-CC93-F0AE-B9FFAD6F6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286" y="3191496"/>
            <a:ext cx="1695512" cy="68144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BBF11DB-61B7-8934-BD93-253DBC814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627" y="5387420"/>
            <a:ext cx="2368851" cy="55165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1A02A16-B33F-125C-25F5-F9A52BA173BF}"/>
              </a:ext>
            </a:extLst>
          </p:cNvPr>
          <p:cNvSpPr txBox="1"/>
          <p:nvPr/>
        </p:nvSpPr>
        <p:spPr>
          <a:xfrm>
            <a:off x="3066445" y="2782139"/>
            <a:ext cx="127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Lasso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EB0BE7-8A5A-862B-FB19-25982BD638E5}"/>
              </a:ext>
            </a:extLst>
          </p:cNvPr>
          <p:cNvSpPr txBox="1"/>
          <p:nvPr/>
        </p:nvSpPr>
        <p:spPr>
          <a:xfrm>
            <a:off x="3066445" y="4905415"/>
            <a:ext cx="13805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Ridge</a:t>
            </a:r>
            <a:endParaRPr lang="ko-KR" altLang="en-US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2BD5D038-DCD7-8C14-A5CF-44500882B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2230" y="2363039"/>
            <a:ext cx="4330872" cy="4235758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CFF3D7-B9E7-2FF5-40EB-78AC8007B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4"/>
            <a:ext cx="10706705" cy="1406186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norm or the length of a vector is the distance between its “origin” and its “end”.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그림에서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원점으로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부터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사각형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(L1, Lasso)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원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(L2, Ridge)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distance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구하고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비교하라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Lasso, Ridge Penalty in machine learning</a:t>
            </a:r>
            <a:endParaRPr lang="en-US" altLang="ko-KR" cap="none" dirty="0"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2701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1D288-EEDE-9323-60CC-E3BD5FD90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0E491-FD50-BD0C-476F-2AE102A6E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of L1,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 Norms with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Fuction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2D60C3-50D4-D561-965B-A505D7782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44C3C6-D03E-29DC-D4BD-0A7E0156D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4"/>
            <a:ext cx="10706705" cy="56800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</a:t>
            </a:r>
            <a:r>
              <a:rPr lang="en-US" altLang="ko-KR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asso</a:t>
            </a:r>
            <a:r>
              <a:rPr lang="ko-KR" altLang="en-US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와 </a:t>
            </a:r>
            <a:r>
              <a:rPr lang="en-US" altLang="ko-KR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Ridge Regression</a:t>
            </a:r>
            <a:r>
              <a:rPr lang="ko-KR" altLang="en-US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MSE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L1, L2 penalty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가산한 손실함수 형태임</a:t>
            </a:r>
            <a:endParaRPr lang="en-US" altLang="ko-KR" cap="none" dirty="0"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A4B5D40-F6B6-40AB-6CEC-763DCFF9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2505" y="1638322"/>
            <a:ext cx="4905375" cy="4933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60010D2-0E8A-7A01-65EC-C5AD562CA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752" y="3215472"/>
            <a:ext cx="2347163" cy="77730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E0A786B-932D-E03A-B381-BECAD025F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752" y="4695792"/>
            <a:ext cx="2339543" cy="76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205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2E486-E568-1525-A997-2588C9CF7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1317D0-7D8A-5E88-1765-C131C8247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Nearest Neighbors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65692A-AF52-86DD-7DAB-748A9F77C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14396A-70AA-B337-BF63-76377B7B9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4"/>
            <a:ext cx="10706705" cy="140618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거리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(distance)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가까운 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 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데이터를 기준으로 분류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(classification)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하거나 회귀생성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(regression) 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및 이상치 탐지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(anomaly detection)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하는 알고리즘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함수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scikit-</a:t>
            </a:r>
            <a:r>
              <a:rPr lang="en-US" altLang="ko-KR" sz="17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learn_neighbors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지도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및 비지도학습 실습</a:t>
            </a:r>
            <a:endParaRPr lang="en-US" altLang="ko-KR" sz="17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4100" name="Picture 4" descr="k-Nearest Neighbor classification example for k=3 and k=7">
            <a:extLst>
              <a:ext uri="{FF2B5EF4-FFF2-40B4-BE49-F238E27FC236}">
                <a16:creationId xmlns:a16="http://schemas.microsoft.com/office/drawing/2014/main" id="{6417C8F0-629A-2475-EDE4-881FFB378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526" y="2806591"/>
            <a:ext cx="5617954" cy="3062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ADE99B2-FC44-E12D-132F-D2FEE475A359}"/>
              </a:ext>
            </a:extLst>
          </p:cNvPr>
          <p:cNvSpPr txBox="1"/>
          <p:nvPr/>
        </p:nvSpPr>
        <p:spPr>
          <a:xfrm>
            <a:off x="2676526" y="5953208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dirty="0">
                <a:effectLst/>
                <a:latin typeface="Open Sans" panose="020B0606030504020204" pitchFamily="34" charset="0"/>
              </a:rPr>
              <a:t>K-nearest neighbor classification example for k=3 and k=7</a:t>
            </a:r>
          </a:p>
          <a:p>
            <a:r>
              <a:rPr lang="en-US" altLang="ko-KR" sz="11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https://www.kdnuggets.com/2020/11/most-popular-distance-metrics-knn.html</a:t>
            </a:r>
            <a:r>
              <a:rPr lang="en-US" altLang="ko-KR" sz="1100" dirty="0"/>
              <a:t> 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499528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01ED5-08C5-B763-06E6-5A1848DC8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0F280105-AA95-367F-B995-300A9AC71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361453F-0232-7492-E06F-018983E8C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Nearest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neighbors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753BBD-7219-566A-677D-D7AC674D4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095" y="2384764"/>
            <a:ext cx="10353762" cy="3701711"/>
          </a:xfrm>
        </p:spPr>
        <p:txBody>
          <a:bodyPr/>
          <a:lstStyle/>
          <a:p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scikit-</a:t>
            </a: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learn_neighbors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지도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및 비지도학습 실습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/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1.6.1.1. Finding the Nearest Neighbors : 2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 평면에 시각화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/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1.6.2. Nearest Neighbors Classification</a:t>
            </a:r>
          </a:p>
          <a:p>
            <a:pPr lvl="1"/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1.6.3. Nearest Neighbors Regression	</a:t>
            </a:r>
            <a:endParaRPr lang="en-US" altLang="ko-KR" cap="none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116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DBBE0-1AFD-561E-114A-4FE8786BE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4BB787-1102-92F1-7AF1-398B0C921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319BCE-F14E-2D87-4A6B-149516F85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A2B8A7-D8C3-0DA3-60F9-F81F27F55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4"/>
            <a:ext cx="10706705" cy="140618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자연어처리</a:t>
            </a:r>
            <a:r>
              <a:rPr lang="en-US" altLang="ko-KR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(Natural Language Processing)</a:t>
            </a:r>
            <a:r>
              <a:rPr lang="ko-KR" altLang="en-US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</a:t>
            </a:r>
            <a:r>
              <a:rPr lang="en-US" altLang="ko-KR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Text </a:t>
            </a:r>
            <a:r>
              <a:rPr lang="ko-KR" altLang="en-US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데이터에 사용되는 유사성거리</a:t>
            </a:r>
            <a:endParaRPr lang="en-US" altLang="ko-KR" cap="none" dirty="0"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행렬과 벡터의 내적과 관련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(Transformer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알고리즘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비슷한 단어의 내적은 코사인 유사성이 크기 때문에 같은 비율로 커짐 </a:t>
            </a:r>
            <a:endParaRPr lang="en-US" altLang="ko-KR" cap="none" dirty="0"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3BFBFE-1D41-A302-B665-B9FE11518771}"/>
                  </a:ext>
                </a:extLst>
              </p:cNvPr>
              <p:cNvSpPr txBox="1"/>
              <p:nvPr/>
            </p:nvSpPr>
            <p:spPr>
              <a:xfrm>
                <a:off x="815358" y="4019836"/>
                <a:ext cx="4496405" cy="11424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m:rPr>
                              <m:lit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m:rPr>
                              <m:lit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m:rPr>
                              <m:lit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  <m:rad>
                                <m:radPr>
                                  <m:degHide m:val="on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Sup>
                                        <m:sSubSup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nary>
                                </m:e>
                              </m:rad>
                            </m:e>
                          </m:ra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3BFBFE-1D41-A302-B665-B9FE11518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58" y="4019836"/>
                <a:ext cx="4496405" cy="11424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C9846482-E2EF-26A6-B901-0D2E7A1FE595}"/>
              </a:ext>
            </a:extLst>
          </p:cNvPr>
          <p:cNvSpPr txBox="1">
            <a:spLocks/>
          </p:cNvSpPr>
          <p:nvPr/>
        </p:nvSpPr>
        <p:spPr>
          <a:xfrm>
            <a:off x="1075719" y="3047714"/>
            <a:ext cx="4496405" cy="7625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cap="none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cosine_similarity</a:t>
            </a:r>
            <a:endParaRPr lang="en-US" altLang="ko-KR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12 | MIPS vs MCSS (Maximum Inner Product / Cosine Similarity Search)">
            <a:extLst>
              <a:ext uri="{FF2B5EF4-FFF2-40B4-BE49-F238E27FC236}">
                <a16:creationId xmlns:a16="http://schemas.microsoft.com/office/drawing/2014/main" id="{0BAAB07F-BF28-39F7-C312-880C96C77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2768" y="2641292"/>
            <a:ext cx="5033513" cy="3394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936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57FAE-85FB-EF39-67C2-446BABA12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Clustering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343E38-DCB2-ADE3-450F-2948A8BA4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095" y="2384764"/>
            <a:ext cx="10353762" cy="3701711"/>
          </a:xfrm>
        </p:spPr>
        <p:txBody>
          <a:bodyPr/>
          <a:lstStyle/>
          <a:p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군집분석의 핵심은 거리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밀도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distance_L1_L2_consine </a:t>
            </a: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similarity.ipynb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sklearn.metrics.pairwise.cosine_similarity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http://w.elnn.kr/search/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04.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카운트 기반의 단어 표현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(Count based word Representation)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Dynamic_time_warping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거리는 주가의 패턴을 분석하는데 사용</a:t>
            </a:r>
          </a:p>
        </p:txBody>
      </p:sp>
      <p:pic>
        <p:nvPicPr>
          <p:cNvPr id="5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E55EE921-5723-9E6B-1B9F-C2C036557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73C067-04F8-FB05-6CD6-443B3EB79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544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2EFD1-DBAD-F67D-EC03-A6CDC4B94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D76040-93EA-4C91-5497-BB32521AC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Clustering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A8EE28-BE5F-1FB3-116F-ED7A08560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820" y="1166377"/>
            <a:ext cx="9135081" cy="12347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예제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문장을 생성하여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word2vector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차원으로 구성하는 </a:t>
            </a: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pytorch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deep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learning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코드를 만들고 각 단어의 거리를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 평면에 </a:t>
            </a:r>
            <a:r>
              <a:rPr lang="ko-KR" altLang="en-US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시각화하라</a:t>
            </a:r>
            <a:endParaRPr lang="ko-KR" altLang="en-US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5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2704CA54-8A55-675C-324C-F4F303EB2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C90D72D1-3B36-223A-50A2-2F75347D0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701" y="2178031"/>
            <a:ext cx="5695516" cy="4557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12956B-D7D6-0066-2FB2-309AD505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022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F3DEC-5F02-17A9-3594-5B9D17DE3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1D767E-F8C0-79F6-6DB4-620918501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RBF kernel similarity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A1413A-DC81-AD18-5C2D-6BF086089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7D42E1-5C83-41E3-39EB-1E717E8C4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4"/>
            <a:ext cx="10706705" cy="140618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머신러닝에서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아주 중요한 개념인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커널 트릭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(Kernel Trick)'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중에서도 </a:t>
            </a:r>
            <a:r>
              <a:rPr lang="ko-KR" altLang="en-US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가우시안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RBF(Radial Basis Function)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커널이 데이터를 어떻게 변환하여 분류 문제를 해결하는지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실습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D41DCBA-E882-86DB-B6A2-48270F964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5" y="2951455"/>
            <a:ext cx="4503366" cy="3084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248477-8772-2C13-773F-F25B8FAE3718}"/>
              </a:ext>
            </a:extLst>
          </p:cNvPr>
          <p:cNvSpPr txBox="1"/>
          <p:nvPr/>
        </p:nvSpPr>
        <p:spPr>
          <a:xfrm>
            <a:off x="6267146" y="2951455"/>
            <a:ext cx="5634599" cy="2671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altLang="ko-KR" sz="1600" b="1" i="0" dirty="0">
                <a:effectLst/>
                <a:latin typeface="Arial Narrow" panose="020B0606020202030204" pitchFamily="34" charset="0"/>
              </a:rPr>
              <a:t>import</a:t>
            </a: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 </a:t>
            </a:r>
            <a:r>
              <a:rPr lang="en-US" altLang="ko-KR" sz="1600" b="0" i="0" dirty="0" err="1">
                <a:effectLst/>
                <a:latin typeface="Arial Narrow" panose="020B0606020202030204" pitchFamily="34" charset="0"/>
              </a:rPr>
              <a:t>scipy.stats</a:t>
            </a: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 </a:t>
            </a:r>
            <a:r>
              <a:rPr lang="en-US" altLang="ko-KR" sz="1600" b="1" i="0" dirty="0">
                <a:effectLst/>
                <a:latin typeface="Arial Narrow" panose="020B0606020202030204" pitchFamily="34" charset="0"/>
              </a:rPr>
              <a:t>as</a:t>
            </a: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 stats</a:t>
            </a:r>
          </a:p>
          <a:p>
            <a:pPr algn="l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x1 </a:t>
            </a:r>
            <a:r>
              <a:rPr lang="en-US" altLang="ko-KR" sz="1600" b="1" i="0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 </a:t>
            </a:r>
            <a:r>
              <a:rPr lang="en-US" altLang="ko-KR" sz="1600" b="0" i="0" dirty="0" err="1">
                <a:effectLst/>
                <a:latin typeface="Arial Narrow" panose="020B0606020202030204" pitchFamily="34" charset="0"/>
              </a:rPr>
              <a:t>np</a:t>
            </a:r>
            <a:r>
              <a:rPr lang="en-US" altLang="ko-KR" sz="1600" b="1" i="0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600" b="0" i="0" dirty="0" err="1">
                <a:effectLst/>
                <a:latin typeface="Arial Narrow" panose="020B0606020202030204" pitchFamily="34" charset="0"/>
              </a:rPr>
              <a:t>arange</a:t>
            </a: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600" b="1" i="0" dirty="0">
                <a:effectLst/>
                <a:latin typeface="Arial Narrow" panose="020B0606020202030204" pitchFamily="34" charset="0"/>
              </a:rPr>
              <a:t>-</a:t>
            </a: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4, 5, 1)</a:t>
            </a:r>
          </a:p>
          <a:p>
            <a:pPr algn="l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x2 </a:t>
            </a:r>
            <a:r>
              <a:rPr lang="en-US" altLang="ko-KR" sz="1600" b="1" i="0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 stats</a:t>
            </a:r>
            <a:r>
              <a:rPr lang="en-US" altLang="ko-KR" sz="1600" b="1" i="0" dirty="0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norm</a:t>
            </a:r>
            <a:r>
              <a:rPr lang="en-US" altLang="ko-KR" sz="1600" b="1" i="0" dirty="0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pdf(x1, </a:t>
            </a:r>
            <a:r>
              <a:rPr lang="en-US" altLang="ko-KR" sz="1600" b="1" i="0" dirty="0">
                <a:effectLst/>
                <a:latin typeface="Arial Narrow" panose="020B0606020202030204" pitchFamily="34" charset="0"/>
              </a:rPr>
              <a:t>-</a:t>
            </a: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2, 1); x3 </a:t>
            </a:r>
            <a:r>
              <a:rPr lang="en-US" altLang="ko-KR" sz="1600" b="1" i="0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 stats</a:t>
            </a:r>
            <a:r>
              <a:rPr lang="en-US" altLang="ko-KR" sz="1600" b="1" i="0" dirty="0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norm</a:t>
            </a:r>
            <a:r>
              <a:rPr lang="en-US" altLang="ko-KR" sz="1600" b="1" i="0" dirty="0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pdf(x1, 1, 1)</a:t>
            </a:r>
          </a:p>
          <a:p>
            <a:pPr algn="l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data </a:t>
            </a:r>
            <a:r>
              <a:rPr lang="en-US" altLang="ko-KR" sz="1600" b="1" i="0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 </a:t>
            </a:r>
            <a:r>
              <a:rPr lang="en-US" altLang="ko-KR" sz="1600" b="0" i="0" dirty="0" err="1">
                <a:effectLst/>
                <a:latin typeface="Arial Narrow" panose="020B0606020202030204" pitchFamily="34" charset="0"/>
              </a:rPr>
              <a:t>pd</a:t>
            </a:r>
            <a:r>
              <a:rPr lang="en-US" altLang="ko-KR" sz="1600" b="1" i="0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600" b="0" i="0" dirty="0" err="1">
                <a:effectLst/>
                <a:latin typeface="Arial Narrow" panose="020B0606020202030204" pitchFamily="34" charset="0"/>
              </a:rPr>
              <a:t>DataFrame</a:t>
            </a: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600" b="0" i="0" dirty="0" err="1">
                <a:effectLst/>
                <a:latin typeface="Arial Narrow" panose="020B0606020202030204" pitchFamily="34" charset="0"/>
              </a:rPr>
              <a:t>np</a:t>
            </a:r>
            <a:r>
              <a:rPr lang="en-US" altLang="ko-KR" sz="1600" b="1" i="0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600" b="0" i="0" dirty="0" err="1">
                <a:effectLst/>
                <a:latin typeface="Arial Narrow" panose="020B0606020202030204" pitchFamily="34" charset="0"/>
              </a:rPr>
              <a:t>c</a:t>
            </a: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_[x1, x2, x3], columns </a:t>
            </a:r>
            <a:r>
              <a:rPr lang="en-US" altLang="ko-KR" sz="1600" b="1" i="0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 ['x1', 'x2', 'x3'])</a:t>
            </a:r>
          </a:p>
          <a:p>
            <a:pPr algn="l">
              <a:lnSpc>
                <a:spcPct val="150000"/>
              </a:lnSpc>
              <a:buNone/>
            </a:pPr>
            <a:r>
              <a:rPr lang="en-US" altLang="ko-KR" sz="1600" b="0" i="0" dirty="0" err="1">
                <a:effectLst/>
                <a:latin typeface="Arial Narrow" panose="020B0606020202030204" pitchFamily="34" charset="0"/>
              </a:rPr>
              <a:t>data</a:t>
            </a:r>
            <a:r>
              <a:rPr lang="en-US" altLang="ko-KR" sz="1600" b="1" i="0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600" b="0" i="0" dirty="0" err="1">
                <a:effectLst/>
                <a:latin typeface="Arial Narrow" panose="020B0606020202030204" pitchFamily="34" charset="0"/>
              </a:rPr>
              <a:t>set_index</a:t>
            </a: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('x1', </a:t>
            </a:r>
            <a:r>
              <a:rPr lang="en-US" altLang="ko-KR" sz="1600" b="0" i="0" dirty="0" err="1">
                <a:effectLst/>
                <a:latin typeface="Arial Narrow" panose="020B0606020202030204" pitchFamily="34" charset="0"/>
              </a:rPr>
              <a:t>inplace</a:t>
            </a:r>
            <a:r>
              <a:rPr lang="en-US" altLang="ko-KR" sz="1600" b="1" i="0" dirty="0">
                <a:effectLst/>
                <a:latin typeface="Arial Narrow" panose="020B0606020202030204" pitchFamily="34" charset="0"/>
              </a:rPr>
              <a:t>=True</a:t>
            </a: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); data[['x2', 'x3']]</a:t>
            </a:r>
            <a:r>
              <a:rPr lang="en-US" altLang="ko-KR" sz="1600" b="1" i="0" dirty="0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plot()</a:t>
            </a:r>
          </a:p>
          <a:p>
            <a:pPr algn="l">
              <a:lnSpc>
                <a:spcPct val="150000"/>
              </a:lnSpc>
              <a:buNone/>
            </a:pPr>
            <a:r>
              <a:rPr lang="en-US" altLang="ko-KR" sz="1600" b="0" i="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600" b="1" i="0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600" b="0" i="0" dirty="0" err="1">
                <a:effectLst/>
                <a:latin typeface="Arial Narrow" panose="020B0606020202030204" pitchFamily="34" charset="0"/>
              </a:rPr>
              <a:t>ylabel</a:t>
            </a: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('Similarity', </a:t>
            </a:r>
            <a:r>
              <a:rPr lang="en-US" altLang="ko-KR" sz="1600" b="0" i="0" dirty="0" err="1">
                <a:effectLst/>
                <a:latin typeface="Arial Narrow" panose="020B0606020202030204" pitchFamily="34" charset="0"/>
              </a:rPr>
              <a:t>fontsize</a:t>
            </a: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 </a:t>
            </a:r>
            <a:r>
              <a:rPr lang="en-US" altLang="ko-KR" sz="1600" b="1" i="0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 16); </a:t>
            </a:r>
            <a:r>
              <a:rPr lang="en-US" altLang="ko-KR" sz="1600" b="0" i="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600" b="1" i="0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600" b="0" i="0" dirty="0" err="1">
                <a:effectLst/>
                <a:latin typeface="Arial Narrow" panose="020B0606020202030204" pitchFamily="34" charset="0"/>
              </a:rPr>
              <a:t>xlabel</a:t>
            </a: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("x1", </a:t>
            </a:r>
            <a:r>
              <a:rPr lang="en-US" altLang="ko-KR" sz="1600" b="0" i="0" dirty="0" err="1">
                <a:effectLst/>
                <a:latin typeface="Arial Narrow" panose="020B0606020202030204" pitchFamily="34" charset="0"/>
              </a:rPr>
              <a:t>fontsize</a:t>
            </a: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 </a:t>
            </a:r>
            <a:r>
              <a:rPr lang="en-US" altLang="ko-KR" sz="1600" b="1" i="0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 16)</a:t>
            </a:r>
          </a:p>
          <a:p>
            <a:pPr algn="l">
              <a:lnSpc>
                <a:spcPct val="150000"/>
              </a:lnSpc>
              <a:buNone/>
            </a:pPr>
            <a:r>
              <a:rPr lang="en-US" altLang="ko-KR" sz="1600" b="0" i="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600" b="1" i="0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600" b="0" i="0" dirty="0" err="1">
                <a:effectLst/>
                <a:latin typeface="Arial Narrow" panose="020B0606020202030204" pitchFamily="34" charset="0"/>
              </a:rPr>
              <a:t>legend</a:t>
            </a: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600" b="0" i="0" dirty="0" err="1">
                <a:effectLst/>
                <a:latin typeface="Arial Narrow" panose="020B0606020202030204" pitchFamily="34" charset="0"/>
              </a:rPr>
              <a:t>fontsize</a:t>
            </a: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 </a:t>
            </a:r>
            <a:r>
              <a:rPr lang="en-US" altLang="ko-KR" sz="1600" b="1" i="0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600" b="0" i="0" dirty="0">
                <a:effectLst/>
                <a:latin typeface="Arial Narrow" panose="020B0606020202030204" pitchFamily="34" charset="0"/>
              </a:rPr>
              <a:t> 16)</a:t>
            </a:r>
          </a:p>
        </p:txBody>
      </p:sp>
    </p:spTree>
    <p:extLst>
      <p:ext uri="{BB962C8B-B14F-4D97-AF65-F5344CB8AC3E}">
        <p14:creationId xmlns:p14="http://schemas.microsoft.com/office/powerpoint/2010/main" val="205430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73B27-3E44-EDBF-2380-68C8D3548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7B7243-22C1-0525-F7BD-4C956D9A9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RBF kernel similarity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FFC9A8-EF50-29A9-7C0A-FD21F3052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366856-FAC7-7882-6C36-17D9647D0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4"/>
            <a:ext cx="10706705" cy="1110911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머신러닝에서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아주 중요한 개념인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커널 트릭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(Kernel Trick)'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중에서도 </a:t>
            </a:r>
            <a:r>
              <a:rPr lang="ko-KR" altLang="en-US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가우시안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RBF(Radial Basis Function)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커널이 </a:t>
            </a: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</a:t>
            </a:r>
            <a:r>
              <a:rPr lang="en-US" altLang="ko-KR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직선</a:t>
            </a:r>
            <a:r>
              <a:rPr lang="en-US" altLang="ko-KR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분류되지 않을 때</a:t>
            </a:r>
            <a:r>
              <a:rPr lang="en-US" altLang="ko-KR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데이터를 고차원 공간으로 </a:t>
            </a:r>
            <a:r>
              <a:rPr lang="en-US" altLang="ko-KR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매핑</a:t>
            </a:r>
            <a:r>
              <a:rPr lang="en-US" altLang="ko-KR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(Mapping)'</a:t>
            </a: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하여 선형 분리가 가능하도록 만드는 기법</a:t>
            </a:r>
            <a:endParaRPr lang="en-US" altLang="ko-KR" sz="20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C0AB2A2-B5C0-A760-45A0-36EBE40E1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884" y="2726203"/>
            <a:ext cx="5208794" cy="3310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6DB8E58-FC9B-E1E7-5494-C407DDAA0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3982" y="3459132"/>
            <a:ext cx="1691787" cy="1844200"/>
          </a:xfrm>
          <a:prstGeom prst="rect">
            <a:avLst/>
          </a:prstGeom>
        </p:spPr>
      </p:pic>
      <p:pic>
        <p:nvPicPr>
          <p:cNvPr id="2062" name="Picture 14">
            <a:extLst>
              <a:ext uri="{FF2B5EF4-FFF2-40B4-BE49-F238E27FC236}">
                <a16:creationId xmlns:a16="http://schemas.microsoft.com/office/drawing/2014/main" id="{9D61F63E-5FEE-0E73-023E-0ED24DB057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6569" y="2666417"/>
            <a:ext cx="4829479" cy="342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7452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D7339-CD25-BCD1-ED3A-419759FBE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A509D9-3310-FA4E-4004-4B10D432B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RBF kernel snippet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BD5CD8-3544-27AE-6536-522FABBD5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2145C0-C662-32EA-080F-78C76C159CE0}"/>
              </a:ext>
            </a:extLst>
          </p:cNvPr>
          <p:cNvSpPr txBox="1"/>
          <p:nvPr/>
        </p:nvSpPr>
        <p:spPr>
          <a:xfrm>
            <a:off x="666750" y="1143064"/>
            <a:ext cx="4724400" cy="52163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600" b="0" dirty="0">
                <a:effectLst/>
                <a:latin typeface="Arial Narrow" panose="020B0606020202030204" pitchFamily="34" charset="0"/>
              </a:rPr>
              <a:t>import </a:t>
            </a:r>
            <a:r>
              <a:rPr lang="en-US" altLang="ko-KR" sz="1600" b="0" dirty="0" err="1">
                <a:effectLst/>
                <a:latin typeface="Arial Narrow" panose="020B0606020202030204" pitchFamily="34" charset="0"/>
              </a:rPr>
              <a:t>scipy.stats</a:t>
            </a:r>
            <a:r>
              <a:rPr lang="en-US" altLang="ko-KR" sz="1600" b="0" dirty="0">
                <a:effectLst/>
                <a:latin typeface="Arial Narrow" panose="020B0606020202030204" pitchFamily="34" charset="0"/>
              </a:rPr>
              <a:t> as stats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600" b="0" dirty="0">
                <a:effectLst/>
                <a:latin typeface="Arial Narrow" panose="020B0606020202030204" pitchFamily="34" charset="0"/>
              </a:rPr>
              <a:t>import </a:t>
            </a:r>
            <a:r>
              <a:rPr lang="en-US" altLang="ko-KR" sz="1600" b="0" dirty="0" err="1">
                <a:effectLst/>
                <a:latin typeface="Arial Narrow" panose="020B0606020202030204" pitchFamily="34" charset="0"/>
              </a:rPr>
              <a:t>matplotlib.pyplot</a:t>
            </a:r>
            <a:r>
              <a:rPr lang="en-US" altLang="ko-KR" sz="1600" b="0" dirty="0">
                <a:effectLst/>
                <a:latin typeface="Arial Narrow" panose="020B0606020202030204" pitchFamily="34" charset="0"/>
              </a:rPr>
              <a:t> as </a:t>
            </a:r>
            <a:r>
              <a:rPr lang="en-US" altLang="ko-KR" sz="1600" b="0" dirty="0" err="1">
                <a:effectLst/>
                <a:latin typeface="Arial Narrow" panose="020B0606020202030204" pitchFamily="34" charset="0"/>
              </a:rPr>
              <a:t>plt</a:t>
            </a:r>
            <a:endParaRPr lang="en-US" altLang="ko-KR" sz="1600" b="0" dirty="0">
              <a:effectLst/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600" b="0" dirty="0">
                <a:effectLst/>
                <a:latin typeface="Arial Narrow" panose="020B0606020202030204" pitchFamily="34" charset="0"/>
              </a:rPr>
              <a:t>import </a:t>
            </a:r>
            <a:r>
              <a:rPr lang="en-US" altLang="ko-KR" sz="1600" b="0" dirty="0" err="1">
                <a:effectLst/>
                <a:latin typeface="Arial Narrow" panose="020B0606020202030204" pitchFamily="34" charset="0"/>
              </a:rPr>
              <a:t>numpy</a:t>
            </a:r>
            <a:r>
              <a:rPr lang="en-US" altLang="ko-KR" sz="1600" b="0" dirty="0">
                <a:effectLst/>
                <a:latin typeface="Arial Narrow" panose="020B0606020202030204" pitchFamily="34" charset="0"/>
              </a:rPr>
              <a:t> as np</a:t>
            </a:r>
          </a:p>
          <a:p>
            <a:pPr>
              <a:lnSpc>
                <a:spcPct val="150000"/>
              </a:lnSpc>
              <a:buNone/>
            </a:pPr>
            <a:endParaRPr lang="en-US" altLang="ko-KR" sz="1600" b="0" dirty="0">
              <a:effectLst/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600" b="0" dirty="0">
                <a:effectLst/>
                <a:latin typeface="Arial Narrow" panose="020B0606020202030204" pitchFamily="34" charset="0"/>
              </a:rPr>
              <a:t>x1 = </a:t>
            </a:r>
            <a:r>
              <a:rPr lang="en-US" altLang="ko-KR" sz="1600" b="0" dirty="0" err="1">
                <a:effectLst/>
                <a:latin typeface="Arial Narrow" panose="020B0606020202030204" pitchFamily="34" charset="0"/>
              </a:rPr>
              <a:t>np.arange</a:t>
            </a:r>
            <a:r>
              <a:rPr lang="en-US" altLang="ko-KR" sz="1600" b="0" dirty="0">
                <a:effectLst/>
                <a:latin typeface="Arial Narrow" panose="020B0606020202030204" pitchFamily="34" charset="0"/>
              </a:rPr>
              <a:t>(-4, 5, 1)</a:t>
            </a:r>
            <a:endParaRPr lang="en-US" altLang="ko-KR" sz="1600" dirty="0"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600" dirty="0">
                <a:latin typeface="Arial Narrow" panose="020B0606020202030204" pitchFamily="34" charset="0"/>
              </a:rPr>
              <a:t># </a:t>
            </a:r>
            <a:r>
              <a:rPr lang="ko-KR" altLang="en-US" sz="1600" dirty="0">
                <a:latin typeface="Arial Narrow" panose="020B0606020202030204" pitchFamily="34" charset="0"/>
              </a:rPr>
              <a:t>평균 </a:t>
            </a:r>
            <a:r>
              <a:rPr lang="en-US" altLang="ko-KR" sz="1600" dirty="0">
                <a:latin typeface="Arial Narrow" panose="020B0606020202030204" pitchFamily="34" charset="0"/>
              </a:rPr>
              <a:t>-2, </a:t>
            </a:r>
            <a:r>
              <a:rPr lang="ko-KR" altLang="en-US" sz="1600" dirty="0">
                <a:latin typeface="Arial Narrow" panose="020B0606020202030204" pitchFamily="34" charset="0"/>
              </a:rPr>
              <a:t>표준편차 </a:t>
            </a:r>
            <a:r>
              <a:rPr lang="en-US" altLang="ko-KR" sz="1600" dirty="0">
                <a:latin typeface="Arial Narrow" panose="020B0606020202030204" pitchFamily="34" charset="0"/>
              </a:rPr>
              <a:t>1</a:t>
            </a:r>
            <a:r>
              <a:rPr lang="ko-KR" altLang="en-US" sz="1600" dirty="0">
                <a:latin typeface="Arial Narrow" panose="020B0606020202030204" pitchFamily="34" charset="0"/>
              </a:rPr>
              <a:t>인 정규분포 </a:t>
            </a:r>
            <a:r>
              <a:rPr lang="en-US" altLang="ko-KR" sz="1600" dirty="0">
                <a:latin typeface="Arial Narrow" panose="020B0606020202030204" pitchFamily="34" charset="0"/>
              </a:rPr>
              <a:t>PDF</a:t>
            </a:r>
            <a:endParaRPr lang="en-US" altLang="ko-KR" sz="1600" b="0" dirty="0">
              <a:effectLst/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600" b="0" dirty="0">
                <a:effectLst/>
                <a:latin typeface="Arial Narrow" panose="020B0606020202030204" pitchFamily="34" charset="0"/>
              </a:rPr>
              <a:t>x2 = stats.norm.pdf(x1, -2, 1) 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600" dirty="0">
                <a:latin typeface="Arial Narrow" panose="020B0606020202030204" pitchFamily="34" charset="0"/>
              </a:rPr>
              <a:t># </a:t>
            </a:r>
            <a:r>
              <a:rPr lang="ko-KR" altLang="en-US" sz="1600" dirty="0">
                <a:latin typeface="Arial Narrow" panose="020B0606020202030204" pitchFamily="34" charset="0"/>
              </a:rPr>
              <a:t>평균 </a:t>
            </a:r>
            <a:r>
              <a:rPr lang="en-US" altLang="ko-KR" sz="1600" dirty="0">
                <a:latin typeface="Arial Narrow" panose="020B0606020202030204" pitchFamily="34" charset="0"/>
              </a:rPr>
              <a:t>1, </a:t>
            </a:r>
            <a:r>
              <a:rPr lang="ko-KR" altLang="en-US" sz="1600" dirty="0">
                <a:latin typeface="Arial Narrow" panose="020B0606020202030204" pitchFamily="34" charset="0"/>
              </a:rPr>
              <a:t>표준편차 </a:t>
            </a:r>
            <a:r>
              <a:rPr lang="en-US" altLang="ko-KR" sz="1600" dirty="0">
                <a:latin typeface="Arial Narrow" panose="020B0606020202030204" pitchFamily="34" charset="0"/>
              </a:rPr>
              <a:t>1</a:t>
            </a:r>
            <a:r>
              <a:rPr lang="ko-KR" altLang="en-US" sz="1600" dirty="0">
                <a:latin typeface="Arial Narrow" panose="020B0606020202030204" pitchFamily="34" charset="0"/>
              </a:rPr>
              <a:t>인 정규분포 </a:t>
            </a:r>
            <a:r>
              <a:rPr lang="en-US" altLang="ko-KR" sz="1600" dirty="0">
                <a:latin typeface="Arial Narrow" panose="020B0606020202030204" pitchFamily="34" charset="0"/>
              </a:rPr>
              <a:t>PDF</a:t>
            </a:r>
            <a:endParaRPr lang="en-US" altLang="ko-KR" sz="1600" b="0" dirty="0">
              <a:effectLst/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600" b="0" dirty="0">
                <a:effectLst/>
                <a:latin typeface="Arial Narrow" panose="020B0606020202030204" pitchFamily="34" charset="0"/>
              </a:rPr>
              <a:t>x3 = stats.norm.pdf(x1, 1, 1)  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600" dirty="0">
                <a:latin typeface="Arial Narrow" panose="020B0606020202030204" pitchFamily="34" charset="0"/>
              </a:rPr>
              <a:t># x1:x</a:t>
            </a:r>
            <a:r>
              <a:rPr lang="ko-KR" altLang="en-US" sz="1600" dirty="0">
                <a:latin typeface="Arial Narrow" panose="020B0606020202030204" pitchFamily="34" charset="0"/>
              </a:rPr>
              <a:t>축</a:t>
            </a:r>
            <a:r>
              <a:rPr lang="en-US" altLang="ko-KR" sz="1600" dirty="0">
                <a:latin typeface="Arial Narrow" panose="020B0606020202030204" pitchFamily="34" charset="0"/>
              </a:rPr>
              <a:t>, x2 &amp; x3: y</a:t>
            </a:r>
            <a:r>
              <a:rPr lang="ko-KR" altLang="en-US" sz="1600" dirty="0">
                <a:latin typeface="Arial Narrow" panose="020B0606020202030204" pitchFamily="34" charset="0"/>
              </a:rPr>
              <a:t>축 설정</a:t>
            </a:r>
            <a:endParaRPr lang="en-US" altLang="ko-KR" sz="1600" b="0" dirty="0">
              <a:effectLst/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600" b="0" dirty="0" err="1">
                <a:effectLst/>
                <a:latin typeface="Arial Narrow" panose="020B0606020202030204" pitchFamily="34" charset="0"/>
              </a:rPr>
              <a:t>plt.plot</a:t>
            </a:r>
            <a:r>
              <a:rPr lang="en-US" altLang="ko-KR" sz="1600" b="0" dirty="0">
                <a:effectLst/>
                <a:latin typeface="Arial Narrow" panose="020B0606020202030204" pitchFamily="34" charset="0"/>
              </a:rPr>
              <a:t>(x1, x2, label='x2'); </a:t>
            </a:r>
            <a:r>
              <a:rPr lang="en-US" altLang="ko-KR" sz="1600" b="0" dirty="0" err="1">
                <a:effectLst/>
                <a:latin typeface="Arial Narrow" panose="020B0606020202030204" pitchFamily="34" charset="0"/>
              </a:rPr>
              <a:t>plt.plot</a:t>
            </a:r>
            <a:r>
              <a:rPr lang="en-US" altLang="ko-KR" sz="1600" b="0" dirty="0">
                <a:effectLst/>
                <a:latin typeface="Arial Narrow" panose="020B0606020202030204" pitchFamily="34" charset="0"/>
              </a:rPr>
              <a:t>(x1, x3, label='x3') </a:t>
            </a:r>
            <a:endParaRPr lang="ko-KR" altLang="en-US" sz="1600" b="0" dirty="0">
              <a:effectLst/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600" b="0" dirty="0" err="1">
                <a:effectLst/>
                <a:latin typeface="Arial Narrow" panose="020B0606020202030204" pitchFamily="34" charset="0"/>
              </a:rPr>
              <a:t>plt.xlabel</a:t>
            </a:r>
            <a:r>
              <a:rPr lang="en-US" altLang="ko-KR" sz="1600" b="0" dirty="0">
                <a:effectLst/>
                <a:latin typeface="Arial Narrow" panose="020B0606020202030204" pitchFamily="34" charset="0"/>
              </a:rPr>
              <a:t>("x1");</a:t>
            </a:r>
            <a:r>
              <a:rPr lang="en-US" altLang="ko-KR" sz="1600" b="0" dirty="0" err="1">
                <a:effectLst/>
                <a:latin typeface="Arial Narrow" panose="020B0606020202030204" pitchFamily="34" charset="0"/>
              </a:rPr>
              <a:t>plt.ylabel</a:t>
            </a:r>
            <a:r>
              <a:rPr lang="en-US" altLang="ko-KR" sz="1600" b="0" dirty="0">
                <a:effectLst/>
                <a:latin typeface="Arial Narrow" panose="020B0606020202030204" pitchFamily="34" charset="0"/>
              </a:rPr>
              <a:t>('Gaussian pdf : Similarity')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600" b="0" dirty="0" err="1">
                <a:effectLst/>
                <a:latin typeface="Arial Narrow" panose="020B0606020202030204" pitchFamily="34" charset="0"/>
              </a:rPr>
              <a:t>plt.legend</a:t>
            </a:r>
            <a:r>
              <a:rPr lang="en-US" altLang="ko-KR" sz="1600" b="0" dirty="0">
                <a:effectLst/>
                <a:latin typeface="Arial Narrow" panose="020B0606020202030204" pitchFamily="34" charset="0"/>
              </a:rPr>
              <a:t>()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600" b="0" dirty="0" err="1">
                <a:effectLst/>
                <a:latin typeface="Arial Narrow" panose="020B0606020202030204" pitchFamily="34" charset="0"/>
              </a:rPr>
              <a:t>plt.title</a:t>
            </a:r>
            <a:r>
              <a:rPr lang="en-US" altLang="ko-KR" sz="1600" b="0" dirty="0">
                <a:effectLst/>
                <a:latin typeface="Arial Narrow" panose="020B0606020202030204" pitchFamily="34" charset="0"/>
              </a:rPr>
              <a:t>('Gaussian RBF(x1)')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B138AC-304D-9719-2F18-1AB332E20984}"/>
              </a:ext>
            </a:extLst>
          </p:cNvPr>
          <p:cNvSpPr txBox="1"/>
          <p:nvPr/>
        </p:nvSpPr>
        <p:spPr>
          <a:xfrm>
            <a:off x="5781675" y="1066023"/>
            <a:ext cx="5657850" cy="152304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600" b="0" dirty="0">
                <a:effectLst/>
                <a:latin typeface="Arial Narrow" panose="020B0606020202030204" pitchFamily="34" charset="0"/>
              </a:rPr>
              <a:t>import pandas as pd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600" b="0" dirty="0">
                <a:effectLst/>
                <a:latin typeface="Arial Narrow" panose="020B0606020202030204" pitchFamily="34" charset="0"/>
              </a:rPr>
              <a:t>data = </a:t>
            </a:r>
            <a:r>
              <a:rPr lang="en-US" altLang="ko-KR" sz="1600" b="0" dirty="0" err="1">
                <a:effectLst/>
                <a:latin typeface="Arial Narrow" panose="020B0606020202030204" pitchFamily="34" charset="0"/>
              </a:rPr>
              <a:t>pd.DataFrame</a:t>
            </a:r>
            <a:r>
              <a:rPr lang="en-US" altLang="ko-KR" sz="1600" b="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600" b="0" dirty="0" err="1">
                <a:effectLst/>
                <a:latin typeface="Arial Narrow" panose="020B0606020202030204" pitchFamily="34" charset="0"/>
              </a:rPr>
              <a:t>np.c</a:t>
            </a:r>
            <a:r>
              <a:rPr lang="en-US" altLang="ko-KR" sz="1600" b="0" dirty="0">
                <a:effectLst/>
                <a:latin typeface="Arial Narrow" panose="020B0606020202030204" pitchFamily="34" charset="0"/>
              </a:rPr>
              <a:t>_[x1, x2, x3], columns = ['x1', 'x2', 'x3'])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600" b="0" dirty="0" err="1">
                <a:effectLst/>
                <a:latin typeface="Arial Narrow" panose="020B0606020202030204" pitchFamily="34" charset="0"/>
              </a:rPr>
              <a:t>data.set_index</a:t>
            </a:r>
            <a:r>
              <a:rPr lang="en-US" altLang="ko-KR" sz="1600" b="0" dirty="0">
                <a:effectLst/>
                <a:latin typeface="Arial Narrow" panose="020B0606020202030204" pitchFamily="34" charset="0"/>
              </a:rPr>
              <a:t>('x1', </a:t>
            </a:r>
            <a:r>
              <a:rPr lang="en-US" altLang="ko-KR" sz="1600" b="0" dirty="0" err="1">
                <a:effectLst/>
                <a:latin typeface="Arial Narrow" panose="020B0606020202030204" pitchFamily="34" charset="0"/>
              </a:rPr>
              <a:t>inplace</a:t>
            </a:r>
            <a:r>
              <a:rPr lang="en-US" altLang="ko-KR" sz="1600" b="0" dirty="0">
                <a:effectLst/>
                <a:latin typeface="Arial Narrow" panose="020B0606020202030204" pitchFamily="34" charset="0"/>
              </a:rPr>
              <a:t>=True)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600" b="0" dirty="0" err="1">
                <a:effectLst/>
                <a:latin typeface="Arial Narrow" panose="020B0606020202030204" pitchFamily="34" charset="0"/>
              </a:rPr>
              <a:t>data.round</a:t>
            </a:r>
            <a:r>
              <a:rPr lang="en-US" altLang="ko-KR" sz="1600" b="0" dirty="0">
                <a:effectLst/>
                <a:latin typeface="Arial Narrow" panose="020B0606020202030204" pitchFamily="34" charset="0"/>
              </a:rPr>
              <a:t>(2)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018733-9E9D-72EA-B112-15B42868A8F6}"/>
              </a:ext>
            </a:extLst>
          </p:cNvPr>
          <p:cNvSpPr txBox="1"/>
          <p:nvPr/>
        </p:nvSpPr>
        <p:spPr>
          <a:xfrm>
            <a:off x="5781675" y="3429000"/>
            <a:ext cx="5657850" cy="152304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600" b="0" dirty="0" err="1">
                <a:effectLst/>
                <a:latin typeface="Arial Narrow" panose="020B0606020202030204" pitchFamily="34" charset="0"/>
              </a:rPr>
              <a:t>plt.scatter</a:t>
            </a:r>
            <a:r>
              <a:rPr lang="en-US" altLang="ko-KR" sz="1600" b="0" dirty="0">
                <a:effectLst/>
                <a:latin typeface="Arial Narrow" panose="020B0606020202030204" pitchFamily="34" charset="0"/>
              </a:rPr>
              <a:t>(x2, x3, c='</a:t>
            </a:r>
            <a:r>
              <a:rPr lang="en-US" altLang="ko-KR" sz="1600" b="0" dirty="0" err="1">
                <a:effectLst/>
                <a:latin typeface="Arial Narrow" panose="020B0606020202030204" pitchFamily="34" charset="0"/>
              </a:rPr>
              <a:t>DarkGreen</a:t>
            </a:r>
            <a:r>
              <a:rPr lang="en-US" altLang="ko-KR" sz="1600" b="0" dirty="0">
                <a:effectLst/>
                <a:latin typeface="Arial Narrow" panose="020B0606020202030204" pitchFamily="34" charset="0"/>
              </a:rPr>
              <a:t>', label='Gaussian RBF(x1)')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600" b="0" dirty="0" err="1">
                <a:effectLst/>
                <a:latin typeface="Arial Narrow" panose="020B0606020202030204" pitchFamily="34" charset="0"/>
              </a:rPr>
              <a:t>plt.legend</a:t>
            </a:r>
            <a:r>
              <a:rPr lang="en-US" altLang="ko-KR" sz="1600" b="0" dirty="0">
                <a:effectLst/>
                <a:latin typeface="Arial Narrow" panose="020B0606020202030204" pitchFamily="34" charset="0"/>
              </a:rPr>
              <a:t>()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600" b="0" dirty="0" err="1">
                <a:effectLst/>
                <a:latin typeface="Arial Narrow" panose="020B0606020202030204" pitchFamily="34" charset="0"/>
              </a:rPr>
              <a:t>plt.xlabel</a:t>
            </a:r>
            <a:r>
              <a:rPr lang="en-US" altLang="ko-KR" sz="1600" b="0" dirty="0">
                <a:effectLst/>
                <a:latin typeface="Arial Narrow" panose="020B0606020202030204" pitchFamily="34" charset="0"/>
              </a:rPr>
              <a:t>("x2"); </a:t>
            </a:r>
            <a:r>
              <a:rPr lang="en-US" altLang="ko-KR" sz="1600" b="0" dirty="0" err="1">
                <a:effectLst/>
                <a:latin typeface="Arial Narrow" panose="020B0606020202030204" pitchFamily="34" charset="0"/>
              </a:rPr>
              <a:t>plt.ylabel</a:t>
            </a:r>
            <a:r>
              <a:rPr lang="en-US" altLang="ko-KR" sz="1600" b="0" dirty="0">
                <a:effectLst/>
                <a:latin typeface="Arial Narrow" panose="020B0606020202030204" pitchFamily="34" charset="0"/>
              </a:rPr>
              <a:t>("x3")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600" b="0" dirty="0" err="1">
                <a:effectLst/>
                <a:latin typeface="Arial Narrow" panose="020B0606020202030204" pitchFamily="34" charset="0"/>
              </a:rPr>
              <a:t>plt.title</a:t>
            </a:r>
            <a:r>
              <a:rPr lang="en-US" altLang="ko-KR" sz="1600" b="0" dirty="0">
                <a:effectLst/>
                <a:latin typeface="Arial Narrow" panose="020B0606020202030204" pitchFamily="34" charset="0"/>
              </a:rPr>
              <a:t>('Linear Separability of Transformed Data in RBF Feature Space')</a:t>
            </a:r>
          </a:p>
        </p:txBody>
      </p:sp>
    </p:spTree>
    <p:extLst>
      <p:ext uri="{BB962C8B-B14F-4D97-AF65-F5344CB8AC3E}">
        <p14:creationId xmlns:p14="http://schemas.microsoft.com/office/powerpoint/2010/main" val="2744667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9187A-6148-38D5-2705-4940F9D9E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78E844-E639-EA26-64FB-4A690B658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Digress : Kernel Transformation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036ED1-BB35-08A4-5EBA-B5D28999D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1" name="내용 개체 틀 8">
            <a:extLst>
              <a:ext uri="{FF2B5EF4-FFF2-40B4-BE49-F238E27FC236}">
                <a16:creationId xmlns:a16="http://schemas.microsoft.com/office/drawing/2014/main" id="{5730A4CC-71E0-5575-1331-F4387F05C679}"/>
              </a:ext>
            </a:extLst>
          </p:cNvPr>
          <p:cNvSpPr txBox="1">
            <a:spLocks/>
          </p:cNvSpPr>
          <p:nvPr/>
        </p:nvSpPr>
        <p:spPr>
          <a:xfrm>
            <a:off x="548640" y="1226740"/>
            <a:ext cx="11544748" cy="487822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python code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sklearn.datasets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import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make_circles</a:t>
            </a:r>
            <a:endParaRPr lang="en-US" altLang="ko-KR" sz="1600" dirty="0">
              <a:solidFill>
                <a:schemeClr val="tx1"/>
              </a:solidFill>
              <a:effectLst/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X, y =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make_circles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n_samples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=500,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random_state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=11, noise=0.1)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plt.scatter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(X[:, 0], X[:, 1], c=y, s=20,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cmap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='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coolwarm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’);</a:t>
            </a:r>
          </a:p>
          <a:p>
            <a:pPr marL="36900" indent="0">
              <a:lnSpc>
                <a:spcPct val="100000"/>
              </a:lnSpc>
              <a:buNone/>
            </a:pPr>
            <a:endParaRPr lang="en-US" altLang="ko-KR" sz="1600" dirty="0">
              <a:solidFill>
                <a:schemeClr val="tx1"/>
              </a:solidFill>
              <a:effectLst/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900" indent="0">
              <a:lnSpc>
                <a:spcPct val="100000"/>
              </a:lnSpc>
              <a:buNone/>
            </a:pPr>
            <a:r>
              <a:rPr lang="pt-BR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=np.exp(-(X ** 2).sum(1))</a:t>
            </a:r>
          </a:p>
          <a:p>
            <a:pPr marL="36900" indent="0">
              <a:lnSpc>
                <a:spcPct val="100000"/>
              </a:lnSpc>
              <a:buNone/>
            </a:pPr>
            <a:endParaRPr lang="en-US" altLang="ko-KR" sz="1600" dirty="0">
              <a:solidFill>
                <a:schemeClr val="tx1"/>
              </a:solidFill>
              <a:effectLst/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mpl_toolkits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import mplot3d</a:t>
            </a:r>
            <a:b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plt.figure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figsize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=(8,6))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 =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plt.axes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(projection='3d')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ax.scatter3D(X[:, 0], X[:, 1], r, c=y,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cmap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='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coolwarm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’)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#ax.view_init(10, 250)</a:t>
            </a:r>
          </a:p>
          <a:p>
            <a:pPr>
              <a:lnSpc>
                <a:spcPct val="100000"/>
              </a:lnSpc>
            </a:pPr>
            <a:endParaRPr lang="en-US" altLang="ko-KR" sz="1200" dirty="0">
              <a:solidFill>
                <a:schemeClr val="tx1"/>
              </a:solidFill>
              <a:effectLst/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EE32C95-F20B-11E7-AEC0-79D85E967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436" y="993074"/>
            <a:ext cx="3294767" cy="250303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B6EC1CA-9C5D-A84E-6551-2B8CF6B1A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036" y="3798534"/>
            <a:ext cx="3294767" cy="2540098"/>
          </a:xfrm>
          <a:prstGeom prst="rect">
            <a:avLst/>
          </a:prstGeom>
        </p:spPr>
      </p:pic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A9170D03-60E5-67C6-54B3-7596FC3559B4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H="1" flipV="1">
            <a:off x="6816436" y="2244593"/>
            <a:ext cx="1070264" cy="1936881"/>
          </a:xfrm>
          <a:prstGeom prst="curvedConnector4">
            <a:avLst>
              <a:gd name="adj1" fmla="val -21359"/>
              <a:gd name="adj2" fmla="val 8230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0F0936EE-9C63-98AA-0953-DBE3BC1C1F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7778" y="3265156"/>
            <a:ext cx="1196444" cy="32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1407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FB776-D62B-6803-B04A-BBE48B553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5DF387-976D-E768-6009-C4BA315CD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t-distribution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8566E6-47D4-0428-C01E-B71969ED1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3A98538D-1D66-BA29-C549-62A251C55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323" y="905522"/>
            <a:ext cx="10706705" cy="1072810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t-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분포는 중심에서 멀어져도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되지 않고 완만하게 유지되기 때문에 우측 화살표를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보면 데이터 포인트들이 원점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(0,0)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너무 밀집되지 않고 조금 더 넓게 퍼지는 경향을 보임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52641FB-42BA-0C94-25E5-AEFB3B40E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836" y="2069794"/>
            <a:ext cx="8220929" cy="4483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301A732C-B6C4-04A7-8549-97F5230BA06B}"/>
              </a:ext>
            </a:extLst>
          </p:cNvPr>
          <p:cNvSpPr txBox="1"/>
          <p:nvPr/>
        </p:nvSpPr>
        <p:spPr>
          <a:xfrm>
            <a:off x="9372599" y="4985518"/>
            <a:ext cx="27146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x1=4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일 때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</a:p>
          <a:p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400" dirty="0">
                <a:solidFill>
                  <a:srgbClr val="FF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olidFill>
                  <a:srgbClr val="FF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정규분포 유사도</a:t>
            </a:r>
            <a:r>
              <a:rPr lang="en-US" altLang="ko-KR" sz="1400" dirty="0">
                <a:solidFill>
                  <a:srgbClr val="FF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0.000134 </a:t>
            </a:r>
          </a:p>
          <a:p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t-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분포 유사도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0.018724</a:t>
            </a:r>
            <a:endParaRPr lang="ko-KR" altLang="en-US" sz="1400" dirty="0">
              <a:solidFill>
                <a:schemeClr val="accent1">
                  <a:lumMod val="75000"/>
                </a:schemeClr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9643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4441B-C720-EC44-CFBB-0C261776F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1D8CE6BA-6C1F-8467-791A-A5FEDEC58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10" y="1105317"/>
            <a:ext cx="6670090" cy="4930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9E2E24A-115A-B39D-93E0-EB5998ED7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t-distribution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37E061-58C4-201C-E320-2086C7250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BC9C7306-924B-A6DE-6560-AD4B4C99C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4284" y="1390650"/>
            <a:ext cx="5067906" cy="4772025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altLang="ko-KR" sz="3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</a:t>
            </a:r>
            <a:r>
              <a:rPr lang="ko-KR" altLang="en-US" sz="3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정규분포는 냉정하다": 빨간색 선(정규분포) </a:t>
            </a:r>
            <a:r>
              <a:rPr lang="en-US" altLang="ko-KR" sz="3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</a:t>
            </a:r>
            <a:r>
              <a:rPr lang="ko-KR" altLang="en-US" sz="3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3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거리가 3~4만 넘어가도 바닥에 딱 붙어버리고 즉, 조금만 멀어져도 "</a:t>
            </a:r>
            <a:r>
              <a:rPr lang="ko-KR" altLang="en-US" sz="30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너랑</a:t>
            </a:r>
            <a:r>
              <a:rPr lang="ko-KR" altLang="en-US" sz="3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나는 아예 남이야(유사도 0)"**라고 판단</a:t>
            </a:r>
            <a:endParaRPr lang="ko-KR" altLang="en-US" sz="2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ko-KR" altLang="en-US" sz="2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29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</a:t>
            </a:r>
            <a:r>
              <a:rPr lang="ko-KR" altLang="en-US" sz="2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-분포는 미련이 많다": 파란색 점선(</a:t>
            </a:r>
            <a:r>
              <a:rPr lang="ko-KR" altLang="en-US" sz="29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</a:t>
            </a:r>
            <a:r>
              <a:rPr lang="ko-KR" altLang="en-US" sz="2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-분포</a:t>
            </a:r>
            <a:r>
              <a:rPr lang="en-US" altLang="ko-KR" sz="2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</a:t>
            </a:r>
            <a:r>
              <a:rPr lang="en-US" altLang="ko-KR" sz="2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2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꼬리가 들려 있어서</a:t>
            </a:r>
            <a:r>
              <a:rPr lang="en-US" altLang="ko-KR" sz="2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2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거리가 5, 10으로 멀어져도 유사도가 0이 되지 않음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ko-KR" altLang="en-US" sz="2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정규분포 커널: 아주 가까운 애들만 챙기고 조금만 멀면 무시합니다. (군집이 좁고 빽빽하게 뭉침)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ko-KR" altLang="en-US" sz="29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</a:t>
            </a:r>
            <a:r>
              <a:rPr lang="ko-KR" altLang="en-US" sz="2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-분포 커널: 멀리 있는 애들도 "어느 정도는 관계가 </a:t>
            </a:r>
            <a:r>
              <a:rPr lang="ko-KR" altLang="en-US" sz="29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있어"라고</a:t>
            </a:r>
            <a:r>
              <a:rPr lang="ko-KR" altLang="en-US" sz="2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인정 (데이터가 고차원 공간에서 시원시원하게 펼쳐짐)</a:t>
            </a:r>
            <a:endParaRPr lang="en-US" altLang="ko-KR" sz="2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6795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726C1-51E6-9297-731B-4580C1217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974358-2781-E36A-5757-1258E477F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t-distribution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B45D4D-3BDD-F3DF-621D-41C74B9D8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885B4B0-C0F6-180B-E7E0-DFBBCD50A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861" y="2413741"/>
            <a:ext cx="9140387" cy="3882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A3006E0D-D23F-E6CF-3CAE-E64DE7C7A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4"/>
            <a:ext cx="10706705" cy="1091861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여러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types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두꺼운 꼬리 덕분에 멀리 있는 점들도 유사도 값이 어느 정도 살아있네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점들이 원점에서 튕겨져 나오듯 더 넓게 분포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 사이의 간격이 넓어져서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 분류기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직선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군집을 훨씬 더 명확하고 구분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11768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EE0AD-0A3B-BFB1-C7BB-0AB2FB88E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7CF060-4EB6-749B-36ED-C69FB929B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t-SNE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D082EE-1588-F079-0F7D-FF845FF3F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6AC22F84-EA7D-7EAB-E302-905B1F963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905522"/>
            <a:ext cx="10706705" cy="139666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70000"/>
              </a:lnSpc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t-distribution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이용한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t-SNE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가까운 이웃들은 적당히 응집시키면서도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멀리 있는 데이터들은 정규분포보다 훨씬 더 멀리 밀어내어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결과적으로 군집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(Cluster)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간의 경계가 </a:t>
            </a:r>
            <a:r>
              <a:rPr lang="ko-KR" altLang="en-US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명확해져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시각적으로 구분이 매우 잘 됨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70000"/>
              </a:lnSpc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비선형 구조 파악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PCA(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주성분 분석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파악하지 못하는 복잡한 비선형적 관계를 파악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169BE02-315C-BDDB-4E31-04DD70A66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444" y="2374985"/>
            <a:ext cx="9538182" cy="3843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83D6E1-98D9-31FF-15FD-A2DFBBE8D496}"/>
              </a:ext>
            </a:extLst>
          </p:cNvPr>
          <p:cNvSpPr txBox="1"/>
          <p:nvPr/>
        </p:nvSpPr>
        <p:spPr>
          <a:xfrm>
            <a:off x="10528574" y="2374985"/>
            <a:ext cx="1477964" cy="2598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“t-SNE</a:t>
            </a:r>
            <a:r>
              <a:rPr lang="ko-KR" altLang="en-US" sz="1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</a:t>
            </a:r>
            <a:r>
              <a:rPr lang="en-US" altLang="ko-KR" sz="1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t-</a:t>
            </a:r>
            <a:r>
              <a:rPr lang="ko-KR" altLang="en-US" sz="1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분포의 두꺼운 꼬리를 이용해 데이터 사이의 거리를 시원 시원하게 </a:t>
            </a:r>
            <a:r>
              <a:rPr lang="ko-KR" altLang="en-US" sz="11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벌려줌으로써</a:t>
            </a:r>
            <a:r>
              <a:rPr lang="en-US" altLang="ko-KR" sz="1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끼리끼리 뭉친 모습을 가장 잘 보여주는 시각화 도구</a:t>
            </a:r>
            <a:r>
              <a:rPr lang="en-US" altLang="ko-KR" sz="1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endParaRPr lang="ko-KR" altLang="en-US" sz="11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64796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25407-C137-2CB8-93F2-B35B85B4D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8FEEA0-384E-4A60-883E-E8E85F51C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types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C4FB2A-AF25-DE60-BC79-FCA9A33B8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F2A156-1325-2B2E-BA04-7F876F781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4"/>
            <a:ext cx="10706705" cy="111091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여러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types</a:t>
            </a:r>
            <a:endParaRPr lang="en-US" altLang="ko-KR" sz="20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B7DFDB4-4C9E-86C3-C0A0-254F982E0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464" y="1885950"/>
            <a:ext cx="7303072" cy="451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932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7B1CB-A0D2-E6BB-9548-F62C6CDF8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3762DA-6E5B-51B6-6178-DA0B3EB0A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Clustering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C2BDC4-A294-11BD-16D7-C3FEE3359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095" y="2384764"/>
            <a:ext cx="10353762" cy="3701711"/>
          </a:xfrm>
        </p:spPr>
        <p:txBody>
          <a:bodyPr/>
          <a:lstStyle/>
          <a:p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군집분석의 핵심은 거리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밀도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distance_L1_L2_consine </a:t>
            </a: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similarity.ipynb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sklearn.metrics.pairwise.cosine_similarity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http://w.elnn.kr/search/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04.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카운트 기반의 단어 표현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(Count based word Representation)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Dynamic_time_warping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거리는 주가의 패턴을 분석하는데 사용</a:t>
            </a:r>
          </a:p>
        </p:txBody>
      </p:sp>
      <p:pic>
        <p:nvPicPr>
          <p:cNvPr id="5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03F6AC31-1870-63E4-E47C-2B4387316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44324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52F10-46DD-AB0A-4567-88F5C32E2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113B510-268E-1741-F69E-DD20DF0966CE}"/>
              </a:ext>
            </a:extLst>
          </p:cNvPr>
          <p:cNvSpPr/>
          <p:nvPr/>
        </p:nvSpPr>
        <p:spPr>
          <a:xfrm>
            <a:off x="678584" y="3133724"/>
            <a:ext cx="5198341" cy="3958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DEE11C-78DB-EF54-2187-E44776A4528C}"/>
              </a:ext>
            </a:extLst>
          </p:cNvPr>
          <p:cNvSpPr txBox="1"/>
          <p:nvPr/>
        </p:nvSpPr>
        <p:spPr>
          <a:xfrm>
            <a:off x="1336229" y="1428465"/>
            <a:ext cx="5512246" cy="5013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Distance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Norm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K-nearest neighbor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Cosine Similarity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Regression &amp; Perceptron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Linear regression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Stochastic Gradient Descent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Perceptron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Machine Learning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Bias and Variance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Cross validation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ML algorithms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7D48E5-F19F-3FBA-73FB-7898B413A5DC}"/>
              </a:ext>
            </a:extLst>
          </p:cNvPr>
          <p:cNvSpPr txBox="1"/>
          <p:nvPr/>
        </p:nvSpPr>
        <p:spPr>
          <a:xfrm>
            <a:off x="1336229" y="709865"/>
            <a:ext cx="26046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ko-KR" alt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63AA07-16E6-4E56-2460-ED5468FC6BAF}"/>
              </a:ext>
            </a:extLst>
          </p:cNvPr>
          <p:cNvSpPr txBox="1"/>
          <p:nvPr/>
        </p:nvSpPr>
        <p:spPr>
          <a:xfrm>
            <a:off x="7029450" y="1428465"/>
            <a:ext cx="4619625" cy="4597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Deep Learning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Neural Network Architecture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Shallow/Deep learning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Matrix formulation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Forward/backward propagation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FNN, CNN, RNN, Transformer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Dimension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Reduction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Eigen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value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&amp;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vectors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Principal Component Analysis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SVD &amp; Topic Model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Manifold Learning</a:t>
            </a:r>
          </a:p>
        </p:txBody>
      </p:sp>
    </p:spTree>
    <p:extLst>
      <p:ext uri="{BB962C8B-B14F-4D97-AF65-F5344CB8AC3E}">
        <p14:creationId xmlns:p14="http://schemas.microsoft.com/office/powerpoint/2010/main" val="34972786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93EA5-99CC-6B44-83F5-540BF3A6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6B6F98-6CDB-E410-0D1F-C367364C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C4210D-B484-A19F-8777-CF1AE1FF5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22F308-10D7-76DC-330D-AFCF4C314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945" y="1498939"/>
            <a:ext cx="4658330" cy="376275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알고리즘</a:t>
            </a:r>
            <a:r>
              <a:rPr lang="en-US" altLang="ko-KR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함수</a:t>
            </a:r>
            <a:r>
              <a:rPr lang="en-US" altLang="ko-KR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실제 데이터와 선형회귀식의 예측 값과의 차이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(Error)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구하고，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차이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(Error)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제곱의 모든 합이 최소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(Minimization)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되는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선형회귀식의 파라미터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(Parameter),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계수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(coefficients)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찾는 최적화 과정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평균에 회귀하는 수식함수라 이상치에 민감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938662-2B68-DDB0-D5D4-BF2ADA739A97}"/>
              </a:ext>
            </a:extLst>
          </p:cNvPr>
          <p:cNvSpPr txBox="1"/>
          <p:nvPr/>
        </p:nvSpPr>
        <p:spPr>
          <a:xfrm>
            <a:off x="5676900" y="6093649"/>
            <a:ext cx="36290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https://analytics17.blogspot.com/2017/08/2-1.html</a:t>
            </a:r>
            <a:r>
              <a:rPr lang="ko-KR" altLang="en-US" sz="1200" dirty="0"/>
              <a:t> 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7A5554C-B588-F8E2-39C1-0661AA1724C3}"/>
              </a:ext>
            </a:extLst>
          </p:cNvPr>
          <p:cNvGrpSpPr/>
          <p:nvPr/>
        </p:nvGrpSpPr>
        <p:grpSpPr>
          <a:xfrm>
            <a:off x="5781673" y="1924050"/>
            <a:ext cx="5404487" cy="4112211"/>
            <a:chOff x="5781673" y="1924050"/>
            <a:chExt cx="5065245" cy="3762753"/>
          </a:xfrm>
        </p:grpSpPr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77DF77E8-48D8-1C11-E742-2FF576CE1E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81673" y="1924050"/>
              <a:ext cx="5065245" cy="37627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4B76198-7BDB-2635-FFAD-9401FE5555EA}"/>
                </a:ext>
              </a:extLst>
            </p:cNvPr>
            <p:cNvSpPr/>
            <p:nvPr/>
          </p:nvSpPr>
          <p:spPr>
            <a:xfrm>
              <a:off x="9305925" y="2638199"/>
              <a:ext cx="386715" cy="34497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7AC9867-39BD-55A1-3ED2-5B9D6DA02C32}"/>
                </a:ext>
              </a:extLst>
            </p:cNvPr>
            <p:cNvSpPr/>
            <p:nvPr/>
          </p:nvSpPr>
          <p:spPr>
            <a:xfrm>
              <a:off x="8475345" y="3467390"/>
              <a:ext cx="361315" cy="35646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A6954AB-B213-A17D-3C1F-85D7A5234449}"/>
                </a:ext>
              </a:extLst>
            </p:cNvPr>
            <p:cNvSpPr/>
            <p:nvPr/>
          </p:nvSpPr>
          <p:spPr>
            <a:xfrm>
              <a:off x="7310754" y="3658405"/>
              <a:ext cx="446406" cy="42591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7B081DE-6B68-1E55-7B58-0C8FA896077E}"/>
              </a:ext>
            </a:extLst>
          </p:cNvPr>
          <p:cNvSpPr txBox="1"/>
          <p:nvPr/>
        </p:nvSpPr>
        <p:spPr>
          <a:xfrm>
            <a:off x="6474470" y="1411845"/>
            <a:ext cx="3586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Understanding of linear-regression/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CE937F-706C-6F21-F5A8-22B3129A5FE0}"/>
                  </a:ext>
                </a:extLst>
              </p:cNvPr>
              <p:cNvSpPr txBox="1"/>
              <p:nvPr/>
            </p:nvSpPr>
            <p:spPr>
              <a:xfrm>
                <a:off x="8588426" y="4902855"/>
                <a:ext cx="2308174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ko-K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ko-K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24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ko-KR" altLang="en-US" sz="24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ko-K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ko-K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ko-KR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CE937F-706C-6F21-F5A8-22B3129A5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426" y="4902855"/>
                <a:ext cx="2308174" cy="461665"/>
              </a:xfrm>
              <a:prstGeom prst="rect">
                <a:avLst/>
              </a:prstGeom>
              <a:blipFill>
                <a:blip r:embed="rId5"/>
                <a:stretch>
                  <a:fillRect t="-3947" b="-171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05444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A4E62-DE40-FBB4-3740-698D55447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A808B9-8204-349A-86A5-630054163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MSE(Mean Squared Error)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01ACFD-5BA0-889B-23C7-3025E298E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2B84053F-541D-D14A-2461-2401B413B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26" y="1248301"/>
            <a:ext cx="4553722" cy="199941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1B0B8A50-B2AC-8C53-65CB-DA63F386867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167711" y="1253287"/>
            <a:ext cx="3783180" cy="195494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F8811D67-C7B0-5C9B-24C0-E86977743F6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71877" y="4329815"/>
            <a:ext cx="3200677" cy="1638442"/>
          </a:xfrm>
          <a:prstGeom prst="rect">
            <a:avLst/>
          </a:prstGeom>
        </p:spPr>
      </p:pic>
      <p:sp>
        <p:nvSpPr>
          <p:cNvPr id="37" name="오른쪽 중괄호 36">
            <a:extLst>
              <a:ext uri="{FF2B5EF4-FFF2-40B4-BE49-F238E27FC236}">
                <a16:creationId xmlns:a16="http://schemas.microsoft.com/office/drawing/2014/main" id="{3D299CA6-819A-997A-F600-531F5A6C1641}"/>
              </a:ext>
            </a:extLst>
          </p:cNvPr>
          <p:cNvSpPr/>
          <p:nvPr/>
        </p:nvSpPr>
        <p:spPr>
          <a:xfrm rot="5400000">
            <a:off x="5407959" y="1488562"/>
            <a:ext cx="404251" cy="4219575"/>
          </a:xfrm>
          <a:prstGeom prst="rightBrace">
            <a:avLst>
              <a:gd name="adj1" fmla="val 57265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E00AC0C-9A02-D235-CB95-D8E493AFBD5A}"/>
                  </a:ext>
                </a:extLst>
              </p:cNvPr>
              <p:cNvSpPr txBox="1"/>
              <p:nvPr/>
            </p:nvSpPr>
            <p:spPr>
              <a:xfrm>
                <a:off x="1332895" y="3844842"/>
                <a:ext cx="4676775" cy="353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에러는 실제와 예측 값의 차이</a:t>
                </a:r>
                <a:r>
                  <a:rPr lang="en-US" altLang="ko-KR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sz="170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𝜖</m:t>
                    </m:r>
                    <m:r>
                      <a:rPr lang="en-US" altLang="ko-KR" sz="170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170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y</m:t>
                    </m:r>
                    <m:r>
                      <a:rPr lang="en-US" altLang="ko-KR" sz="170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− </m:t>
                    </m:r>
                    <m:acc>
                      <m:accPr>
                        <m:chr m:val="̂"/>
                        <m:ctrlPr>
                          <a:rPr lang="ko-KR" altLang="en-US" sz="1700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ko-KR" sz="170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y</m:t>
                        </m:r>
                      </m:e>
                    </m:acc>
                  </m:oMath>
                </a14:m>
                <a:r>
                  <a:rPr lang="en-US" altLang="ko-KR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endParaRPr lang="ko-KR" altLang="en-US" sz="17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E00AC0C-9A02-D235-CB95-D8E493AFB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895" y="3844842"/>
                <a:ext cx="4676775" cy="353943"/>
              </a:xfrm>
              <a:prstGeom prst="rect">
                <a:avLst/>
              </a:prstGeom>
              <a:blipFill>
                <a:blip r:embed="rId6"/>
                <a:stretch>
                  <a:fillRect l="-913" t="-6897" b="-224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414D2ACF-EDDF-1AB0-44AF-6EF356311A17}"/>
              </a:ext>
            </a:extLst>
          </p:cNvPr>
          <p:cNvSpPr txBox="1"/>
          <p:nvPr/>
        </p:nvSpPr>
        <p:spPr>
          <a:xfrm>
            <a:off x="811360" y="883955"/>
            <a:ext cx="1409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Actual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data</a:t>
            </a:r>
            <a:endParaRPr lang="ko-KR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71E307C-EACC-51E4-DD9F-8EE98C51964A}"/>
              </a:ext>
            </a:extLst>
          </p:cNvPr>
          <p:cNvSpPr txBox="1"/>
          <p:nvPr/>
        </p:nvSpPr>
        <p:spPr>
          <a:xfrm>
            <a:off x="7155042" y="883955"/>
            <a:ext cx="19889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Predict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data</a:t>
            </a:r>
            <a:endParaRPr lang="ko-KR" altLang="en-US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BA5809DB-C0E9-5D79-51D1-26D791083115}"/>
              </a:ext>
            </a:extLst>
          </p:cNvPr>
          <p:cNvGrpSpPr/>
          <p:nvPr/>
        </p:nvGrpSpPr>
        <p:grpSpPr>
          <a:xfrm>
            <a:off x="7924800" y="3735068"/>
            <a:ext cx="2824480" cy="1189493"/>
            <a:chOff x="8575040" y="3851111"/>
            <a:chExt cx="2824480" cy="1189493"/>
          </a:xfrm>
        </p:grpSpPr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D19109A4-492F-5FCA-F1D4-896C84870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8670483" y="4329815"/>
              <a:ext cx="2220300" cy="710789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87AC92C-032C-C967-C231-4ED2755AB069}"/>
                </a:ext>
              </a:extLst>
            </p:cNvPr>
            <p:cNvSpPr txBox="1"/>
            <p:nvPr/>
          </p:nvSpPr>
          <p:spPr>
            <a:xfrm>
              <a:off x="8575040" y="3851111"/>
              <a:ext cx="2824480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7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모델의 성능지표</a:t>
              </a:r>
              <a:r>
                <a:rPr lang="en-US" altLang="ko-KR" sz="17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(metric)</a:t>
              </a:r>
              <a:endPara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0E65D59E-6B20-48D6-060D-EDE9FEB86AEE}"/>
              </a:ext>
            </a:extLst>
          </p:cNvPr>
          <p:cNvGrpSpPr/>
          <p:nvPr/>
        </p:nvGrpSpPr>
        <p:grpSpPr>
          <a:xfrm>
            <a:off x="8020243" y="5091483"/>
            <a:ext cx="2824480" cy="1001698"/>
            <a:chOff x="8650279" y="5116220"/>
            <a:chExt cx="2824480" cy="1001698"/>
          </a:xfrm>
        </p:grpSpPr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A0AC1168-EDFF-93B3-9765-389C48B5487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8670483" y="5470163"/>
              <a:ext cx="2575411" cy="647755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0E2E1CB-8BD0-9CBA-C134-C3EA19017FC6}"/>
                </a:ext>
              </a:extLst>
            </p:cNvPr>
            <p:cNvSpPr txBox="1"/>
            <p:nvPr/>
          </p:nvSpPr>
          <p:spPr>
            <a:xfrm>
              <a:off x="8650279" y="5116220"/>
              <a:ext cx="2824480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7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분산</a:t>
              </a:r>
              <a:r>
                <a:rPr lang="en-US" altLang="ko-KR" sz="17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, </a:t>
              </a:r>
              <a:r>
                <a:rPr lang="ko-KR" altLang="en-US" sz="17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내적</a:t>
              </a:r>
              <a:r>
                <a:rPr lang="en-US" altLang="ko-KR" sz="17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, </a:t>
              </a:r>
              <a:r>
                <a:rPr lang="ko-KR" altLang="en-US" sz="17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유클리드 거리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522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9" grpId="0"/>
      <p:bldP spid="4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4D5C5-D1C0-2EAC-D146-0F2AC0629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B88C44-EEF5-724D-88A2-AA6DAE6DA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Formulation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270557-E1CB-D333-5F7F-F4856E8DD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F1DC974-0213-762D-DA9B-996F89ADE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5" y="2453514"/>
            <a:ext cx="6624926" cy="19397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A7676C-C191-A8AC-AF32-140354371AD5}"/>
              </a:ext>
            </a:extLst>
          </p:cNvPr>
          <p:cNvSpPr txBox="1"/>
          <p:nvPr/>
        </p:nvSpPr>
        <p:spPr>
          <a:xfrm>
            <a:off x="7538721" y="2291326"/>
            <a:ext cx="4348479" cy="21019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(n, 1) = (n, p) @ (p, 1) + (n, 1)</a:t>
            </a:r>
          </a:p>
          <a:p>
            <a:pPr>
              <a:lnSpc>
                <a:spcPct val="200000"/>
              </a:lnSpc>
            </a:pP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(n, 1) = (n, p) @ (p, 1)</a:t>
            </a:r>
          </a:p>
          <a:p>
            <a:pPr>
              <a:lnSpc>
                <a:spcPct val="200000"/>
              </a:lnSpc>
            </a:pP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(n, 1) = (n, 1) – (n, 1) = (n,1) - (n, p) @ (p, 1)</a:t>
            </a:r>
          </a:p>
          <a:p>
            <a:pPr>
              <a:lnSpc>
                <a:spcPct val="200000"/>
              </a:lnSpc>
            </a:pP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1) = 1/n * (1, n)@(n, 1)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19B85837-F508-0C94-9CF0-8BC26C9BA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4"/>
            <a:ext cx="10706705" cy="12210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선형회귀식</a:t>
            </a:r>
            <a:r>
              <a:rPr lang="en-US" altLang="ko-KR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(Linear regression)</a:t>
            </a:r>
            <a:r>
              <a:rPr lang="ko-KR" altLang="en-US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행렬</a:t>
            </a:r>
            <a:r>
              <a:rPr lang="en-US" altLang="ko-KR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벡터</a:t>
            </a:r>
            <a:r>
              <a:rPr lang="en-US" altLang="ko-KR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스칼라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등의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수식 연산 표현</a:t>
            </a:r>
            <a:endParaRPr lang="en-US" altLang="ko-KR" cap="none" dirty="0"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81087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C0163-15BA-B9B1-CCC9-DE6AAB400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641706-50DB-4E7F-A770-EC62EB6E7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CB42B101-56A2-19C5-76E1-CE7BD021E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B04C50D8-B70B-4E30-23FF-1BB14F9A85CC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Linear</a:t>
            </a:r>
            <a:r>
              <a:rPr lang="ko-KR" altLang="en-US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Regression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A455A37F-3231-1A41-AE78-15F0E8AEB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0866" y="1747802"/>
            <a:ext cx="4859685" cy="31797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파이썬의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대수학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(Algebra)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모듈인 </a:t>
            </a:r>
            <a:r>
              <a:rPr lang="en-US" altLang="ko-KR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sympy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사용하여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단순회귀식을 구하라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 함수 형태인 </a:t>
            </a:r>
            <a:r>
              <a:rPr lang="en-US" altLang="ko-KR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sse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(sum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squared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errors)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의미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print(d_w0, d_w1)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편미분의미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기울기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 0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의미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FA417F-8E04-9153-94A2-338997BEF6C8}"/>
              </a:ext>
            </a:extLst>
          </p:cNvPr>
          <p:cNvSpPr txBox="1"/>
          <p:nvPr/>
        </p:nvSpPr>
        <p:spPr>
          <a:xfrm>
            <a:off x="913795" y="1233766"/>
            <a:ext cx="5323840" cy="501675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import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sympy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as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sp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1.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심볼 정의</a:t>
            </a:r>
          </a:p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w0, w1, x, y =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sp.symbols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('w0 w1 x y')</a:t>
            </a:r>
          </a:p>
          <a:p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2.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잔차제곱합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(SSE)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정의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data = [(1, 1), (2, 3), (4, 3), (3, 2), (5, 5)]</a:t>
            </a:r>
          </a:p>
          <a:p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sse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sum((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y_i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– (w0 + w1 *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x_i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))**2 for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x_i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y_i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in data)</a:t>
            </a:r>
            <a:b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</a:b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buNone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3.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편미분을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통해 최소값 찾기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기울기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 0)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buNone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d_w0 =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sp.diff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sse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w0)</a:t>
            </a:r>
          </a:p>
          <a:p>
            <a:pPr>
              <a:buNone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d_w1 =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sp.diff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sse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w1)</a:t>
            </a:r>
            <a:b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</a:b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buNone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4.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연립방정식 풀기</a:t>
            </a:r>
          </a:p>
          <a:p>
            <a:pPr>
              <a:buNone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solution =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sp.solve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([d_w0, d_w1], [w0, w1])</a:t>
            </a:r>
          </a:p>
          <a:p>
            <a:pPr>
              <a:buNone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print(f"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최적의 가중치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{solution}")</a:t>
            </a:r>
          </a:p>
          <a:p>
            <a:pPr>
              <a:buNone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buNone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5.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의미해석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>
              <a:buNone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print(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sse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>
              <a:buNone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print(d_w0, d_w1)</a:t>
            </a:r>
          </a:p>
        </p:txBody>
      </p:sp>
    </p:spTree>
    <p:extLst>
      <p:ext uri="{BB962C8B-B14F-4D97-AF65-F5344CB8AC3E}">
        <p14:creationId xmlns:p14="http://schemas.microsoft.com/office/powerpoint/2010/main" val="31956492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F9AB3-E6B8-28DD-5097-6AFE1CE06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C51754-C061-4C8D-DF7E-CB156A83B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451A519D-6530-EE2C-2EF8-DAD2B15AF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A65FD1D8-F992-7ABC-9406-5942C3F347FD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Descending Mount Everest(</a:t>
            </a:r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Errorest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AutoShape 4" descr="Gradient Ascent">
            <a:extLst>
              <a:ext uri="{FF2B5EF4-FFF2-40B4-BE49-F238E27FC236}">
                <a16:creationId xmlns:a16="http://schemas.microsoft.com/office/drawing/2014/main" id="{A5361D08-032E-C069-60DE-3ECECBDA58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54D3919-B9A5-4428-552C-028371B40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819" y="2527576"/>
            <a:ext cx="5644596" cy="3549946"/>
          </a:xfrm>
          <a:prstGeom prst="rect">
            <a:avLst/>
          </a:prstGeom>
        </p:spPr>
      </p:pic>
      <p:pic>
        <p:nvPicPr>
          <p:cNvPr id="9" name="Picture 2" descr="What Is Gradient Descent? | Built In">
            <a:extLst>
              <a:ext uri="{FF2B5EF4-FFF2-40B4-BE49-F238E27FC236}">
                <a16:creationId xmlns:a16="http://schemas.microsoft.com/office/drawing/2014/main" id="{98328970-324B-9F2F-1BB2-C6082D5EB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464" y="2527576"/>
            <a:ext cx="5409396" cy="3532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FBB124D-42BE-A943-8D3C-848A6685895A}"/>
              </a:ext>
            </a:extLst>
          </p:cNvPr>
          <p:cNvSpPr txBox="1"/>
          <p:nvPr/>
        </p:nvSpPr>
        <p:spPr>
          <a:xfrm>
            <a:off x="1026160" y="1276221"/>
            <a:ext cx="8585200" cy="876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 그림에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 함수 형태인 </a:t>
            </a:r>
            <a:r>
              <a:rPr lang="en-US" altLang="ko-KR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sse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(sum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squared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errors), d_w0, d_w1(</a:t>
            </a:r>
            <a:r>
              <a:rPr lang="ko-KR" altLang="en-US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편미분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),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기울기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 0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J(w, b)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등의 모든 용어의 의미가 무엇인지 토론하자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BE7AED-8858-744A-5A7B-924A10F1C090}"/>
              </a:ext>
            </a:extLst>
          </p:cNvPr>
          <p:cNvSpPr txBox="1"/>
          <p:nvPr/>
        </p:nvSpPr>
        <p:spPr>
          <a:xfrm>
            <a:off x="701040" y="608270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출처 </a:t>
            </a:r>
            <a:r>
              <a:rPr lang="en-US" altLang="ko-KR" sz="12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en-US" altLang="ko-KR" sz="12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coursera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599113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5003E-BEDD-42D4-4CBF-A63561644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F0F06A-63C2-DF81-DD67-8ABD6DBB2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D7277938-3F89-0A4B-FD6F-6C3A60E02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125963AB-9938-2FCF-579C-1601FF0C9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4" y="1563412"/>
            <a:ext cx="10343112" cy="14829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LinearRegression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으로 회귀식을 구해 비교하라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numpy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만 사용하여 에러를 최소화하는 함수를 만들어 회귀식을 구하여 비교하라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E29396D-00A5-B113-4D30-096C403C8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621" y="2888271"/>
            <a:ext cx="4127687" cy="333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9FF7C63E-80DF-8535-A0BE-D755DEC0CD6B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Linear</a:t>
            </a:r>
            <a:r>
              <a:rPr lang="ko-KR" altLang="en-US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Regression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6031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2945D-B350-3FF4-7D09-2E334EB77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8CF00E-A436-DA50-48FC-D7F905125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CAD4E53-927A-CBED-1E0D-FD4AF8B1E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002" y="1381125"/>
            <a:ext cx="5762484" cy="426720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6214D33-6987-A093-F549-7C12FD8B65DF}"/>
              </a:ext>
            </a:extLst>
          </p:cNvPr>
          <p:cNvSpPr/>
          <p:nvPr/>
        </p:nvSpPr>
        <p:spPr>
          <a:xfrm>
            <a:off x="4763294" y="1784950"/>
            <a:ext cx="576064" cy="23269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구부러진 연결선 11">
            <a:extLst>
              <a:ext uri="{FF2B5EF4-FFF2-40B4-BE49-F238E27FC236}">
                <a16:creationId xmlns:a16="http://schemas.microsoft.com/office/drawing/2014/main" id="{11810A7A-0B36-327E-EE3E-4B1777215DB3}"/>
              </a:ext>
            </a:extLst>
          </p:cNvPr>
          <p:cNvCxnSpPr>
            <a:cxnSpLocks/>
            <a:stCxn id="11" idx="2"/>
            <a:endCxn id="18" idx="1"/>
          </p:cNvCxnSpPr>
          <p:nvPr/>
        </p:nvCxnSpPr>
        <p:spPr>
          <a:xfrm rot="16200000" flipH="1">
            <a:off x="4768416" y="2300557"/>
            <a:ext cx="1214644" cy="64882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1B06CE2-D3E3-FC6B-500C-F37662CA44B0}"/>
              </a:ext>
            </a:extLst>
          </p:cNvPr>
          <p:cNvSpPr/>
          <p:nvPr/>
        </p:nvSpPr>
        <p:spPr>
          <a:xfrm>
            <a:off x="330620" y="5742724"/>
            <a:ext cx="17011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u="sng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Recursive iterations</a:t>
            </a:r>
            <a:endParaRPr lang="ko-KR" altLang="en-US" sz="1400" u="sng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F90CE7C-504E-5A87-E174-EFE064F13760}"/>
              </a:ext>
            </a:extLst>
          </p:cNvPr>
          <p:cNvSpPr/>
          <p:nvPr/>
        </p:nvSpPr>
        <p:spPr>
          <a:xfrm>
            <a:off x="405355" y="1667063"/>
            <a:ext cx="15808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u="sng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Initialized settings</a:t>
            </a:r>
            <a:endParaRPr lang="ko-KR" altLang="en-US" sz="1400" u="sng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34DFF6C-4FD1-14C3-B024-D1F164F3FE9E}"/>
              </a:ext>
            </a:extLst>
          </p:cNvPr>
          <p:cNvCxnSpPr>
            <a:stCxn id="16" idx="2"/>
            <a:endCxn id="15" idx="0"/>
          </p:cNvCxnSpPr>
          <p:nvPr/>
        </p:nvCxnSpPr>
        <p:spPr>
          <a:xfrm flipH="1">
            <a:off x="1181174" y="1974840"/>
            <a:ext cx="14622" cy="3767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8" name="그림 17">
            <a:extLst>
              <a:ext uri="{FF2B5EF4-FFF2-40B4-BE49-F238E27FC236}">
                <a16:creationId xmlns:a16="http://schemas.microsoft.com/office/drawing/2014/main" id="{64ECB6AE-3EA9-954F-A0B8-9DEED6094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150" y="2405716"/>
            <a:ext cx="5890109" cy="165315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2E07D99B-F812-5A40-0726-AFA6DDA3168B}"/>
              </a:ext>
            </a:extLst>
          </p:cNvPr>
          <p:cNvSpPr/>
          <p:nvPr/>
        </p:nvSpPr>
        <p:spPr>
          <a:xfrm>
            <a:off x="5540825" y="1765388"/>
            <a:ext cx="576064" cy="23269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구부러진 연결선 24">
            <a:extLst>
              <a:ext uri="{FF2B5EF4-FFF2-40B4-BE49-F238E27FC236}">
                <a16:creationId xmlns:a16="http://schemas.microsoft.com/office/drawing/2014/main" id="{BFD02EFB-B366-BACF-6FA4-5FF0D20D3125}"/>
              </a:ext>
            </a:extLst>
          </p:cNvPr>
          <p:cNvCxnSpPr>
            <a:cxnSpLocks/>
            <a:stCxn id="19" idx="2"/>
            <a:endCxn id="23" idx="1"/>
          </p:cNvCxnSpPr>
          <p:nvPr/>
        </p:nvCxnSpPr>
        <p:spPr>
          <a:xfrm rot="16200000" flipH="1">
            <a:off x="4331294" y="3495648"/>
            <a:ext cx="3137539" cy="14241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F0E2918E-5F14-91CA-4AB8-3152ED76C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269" y="4299450"/>
            <a:ext cx="5890111" cy="16723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89DF932-5A51-127A-5A01-129776C56026}"/>
              </a:ext>
            </a:extLst>
          </p:cNvPr>
          <p:cNvSpPr txBox="1"/>
          <p:nvPr/>
        </p:nvSpPr>
        <p:spPr>
          <a:xfrm>
            <a:off x="139403" y="3093969"/>
            <a:ext cx="1905599" cy="8876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Let </a:t>
            </a:r>
            <a:r>
              <a:rPr lang="el-GR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α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</a:t>
            </a:r>
            <a:r>
              <a:rPr lang="el-GR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β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=0,</a:t>
            </a:r>
          </a:p>
          <a:p>
            <a:pPr>
              <a:lnSpc>
                <a:spcPct val="150000"/>
              </a:lnSpc>
            </a:pPr>
            <a:r>
              <a:rPr lang="en-US" altLang="ko-KR" sz="12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y_hat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el-GR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α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+ </a:t>
            </a:r>
            <a:r>
              <a:rPr lang="el-GR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β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* 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X(instance)  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error = </a:t>
            </a:r>
            <a:r>
              <a:rPr lang="en-US" altLang="ko-KR" sz="12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y_hat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- y</a:t>
            </a:r>
            <a:endParaRPr lang="ko-KR" altLang="en-US" sz="12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4FF8BB3B-A077-AFB9-CE95-474DEA4B3137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Gradient Descent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_x422600552" descr="DRW00004be805ca">
            <a:extLst>
              <a:ext uri="{FF2B5EF4-FFF2-40B4-BE49-F238E27FC236}">
                <a16:creationId xmlns:a16="http://schemas.microsoft.com/office/drawing/2014/main" id="{30CB297D-E262-5E5D-CEB1-0ED3249DB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9134" y="3919739"/>
            <a:ext cx="2251372" cy="521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925B0AFC-9A4F-3F16-542C-A67408332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90010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4E4F8-12B7-84F6-67FE-741845805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F2E29C-09FA-E082-C55F-9585B7A83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2AA6105E-4140-477B-7DCF-2A2E71167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7DD94376-4403-4C5C-2798-FEA60EA6400C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Linear</a:t>
            </a:r>
            <a:r>
              <a:rPr lang="ko-KR" altLang="en-US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Regression (Project)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EF1BC567-8CF8-0F01-3159-1111B5C86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093" y="1238249"/>
            <a:ext cx="10773382" cy="463867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sns.load_dataset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(“diamonds")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데이터를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대상으로 </a:t>
            </a: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LinearRegression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사용하여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변수간 상관관계를 산출하여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price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변수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(Target)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가장 상관관계가 높은 변수를 검토하고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수치형 변수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'carat', 'depth', 'table’ 3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개를 입력변수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(Input)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가격을 예측하라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범주형 변수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'cut', 'color', 'clarity’, 3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개를 추가하여 총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6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입력변수로 가격을 예측하라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수치형 및 범주형 변수와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price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변수와의 상관관계를 확인하는 방법을 토론하라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2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alone-in-the-woods-using-</a:t>
            </a: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theil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-s-u-for-survival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적용하라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범주형 변수를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one-hot-encoding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하거나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dummy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변수로 </a:t>
            </a:r>
            <a:r>
              <a:rPr lang="ko-KR" altLang="en-US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전처리하는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의미는 무엇인가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Symson’s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paradox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관련되어 이해하라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70000"/>
              </a:lnSpc>
            </a:pPr>
            <a:r>
              <a:rPr lang="en-US" altLang="ko-KR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statsmodels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라이브러리를 사용하여 통계적 요약 보고서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(Summary)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 변수의 유의성을 판단하도록 하라</a:t>
            </a:r>
          </a:p>
        </p:txBody>
      </p:sp>
    </p:spTree>
    <p:extLst>
      <p:ext uri="{BB962C8B-B14F-4D97-AF65-F5344CB8AC3E}">
        <p14:creationId xmlns:p14="http://schemas.microsoft.com/office/powerpoint/2010/main" val="9645827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C774A-FBC4-2837-ADCA-FEB8629CE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BE44AB-C056-17FD-C251-4668DEBBE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81D2E564-5A67-2191-8947-A738C145604F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Perceptron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B7DCEA7-54A6-B15D-05C9-062775667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6863" y="2818450"/>
            <a:ext cx="5805481" cy="256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628945E9-11C3-FF31-7062-26217F2120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3794" y="1070315"/>
                <a:ext cx="10706705" cy="968036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Single Perceptron Neural Networks = Simple Linear Regression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n 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개의 단일변수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(1 single input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1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x</m:t>
                    </m:r>
                  </m:oMath>
                </a14:m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에 선형변환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100" b="0" i="0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w</m:t>
                    </m:r>
                    <m:r>
                      <m:rPr>
                        <m:sty m:val="p"/>
                      </m:rPr>
                      <a:rPr lang="en-US" altLang="ko-KR" sz="2100" i="1" cap="none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x</m:t>
                    </m:r>
                    <m:r>
                      <a:rPr lang="en-US" altLang="ko-KR" sz="21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 +</m:t>
                    </m:r>
                    <m:r>
                      <m:rPr>
                        <m:sty m:val="p"/>
                      </m:rPr>
                      <a:rPr lang="en-US" altLang="ko-KR" sz="21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b</m:t>
                    </m:r>
                  </m:oMath>
                </a14:m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1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z</m:t>
                    </m:r>
                  </m:oMath>
                </a14:m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생성하는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Perceptron</a:t>
                </a:r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628945E9-11C3-FF31-7062-26217F2120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3794" y="1070315"/>
                <a:ext cx="10706705" cy="968036"/>
              </a:xfrm>
              <a:blipFill>
                <a:blip r:embed="rId3"/>
                <a:stretch>
                  <a:fillRect l="-456" b="-75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AC721B09-7985-FB30-C02C-CDB0F3FFC5C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888379" y="3380613"/>
            <a:ext cx="1824265" cy="4356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F45D2DDE-ED31-970A-8F32-829DACE28F6E}"/>
              </a:ext>
            </a:extLst>
          </p:cNvPr>
          <p:cNvGrpSpPr/>
          <p:nvPr/>
        </p:nvGrpSpPr>
        <p:grpSpPr>
          <a:xfrm>
            <a:off x="8361749" y="2624259"/>
            <a:ext cx="2887276" cy="3294706"/>
            <a:chOff x="8914199" y="2157534"/>
            <a:chExt cx="2887276" cy="3294706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2349E664-7C0D-0A6F-DA46-783EB35CA6F4}"/>
                </a:ext>
              </a:extLst>
            </p:cNvPr>
            <p:cNvGrpSpPr/>
            <p:nvPr/>
          </p:nvGrpSpPr>
          <p:grpSpPr>
            <a:xfrm>
              <a:off x="8914199" y="2637854"/>
              <a:ext cx="2887276" cy="2814386"/>
              <a:chOff x="7009199" y="3511129"/>
              <a:chExt cx="2887276" cy="2814386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182A04B-D395-1DFA-D4A5-FA95694198F3}"/>
                  </a:ext>
                </a:extLst>
              </p:cNvPr>
              <p:cNvSpPr txBox="1"/>
              <p:nvPr/>
            </p:nvSpPr>
            <p:spPr>
              <a:xfrm>
                <a:off x="7009199" y="5986961"/>
                <a:ext cx="2887276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ko-KR" sz="1600" dirty="0">
                    <a:latin typeface="+mj-ea"/>
                  </a:rPr>
                  <a:t>(n, 1) = (n, 1) @ (1, 1) + (n,1)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662C1E02-B87A-DEDD-3BC5-2C00C5141498}"/>
                  </a:ext>
                </a:extLst>
              </p:cNvPr>
              <p:cNvGrpSpPr/>
              <p:nvPr/>
            </p:nvGrpSpPr>
            <p:grpSpPr>
              <a:xfrm>
                <a:off x="7009199" y="3511129"/>
                <a:ext cx="2887276" cy="2534212"/>
                <a:chOff x="7009199" y="3508852"/>
                <a:chExt cx="2462167" cy="2161087"/>
              </a:xfrm>
            </p:grpSpPr>
            <p:pic>
              <p:nvPicPr>
                <p:cNvPr id="34" name="그림 33">
                  <a:extLst>
                    <a:ext uri="{FF2B5EF4-FFF2-40B4-BE49-F238E27FC236}">
                      <a16:creationId xmlns:a16="http://schemas.microsoft.com/office/drawing/2014/main" id="{9A6BDC3D-A4CC-D6F5-EB1A-C74E4C7B2F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09199" y="4115748"/>
                  <a:ext cx="2462167" cy="1554191"/>
                </a:xfrm>
                <a:prstGeom prst="rect">
                  <a:avLst/>
                </a:prstGeom>
              </p:spPr>
            </p:pic>
            <p:pic>
              <p:nvPicPr>
                <p:cNvPr id="41" name="그림 40">
                  <a:extLst>
                    <a:ext uri="{FF2B5EF4-FFF2-40B4-BE49-F238E27FC236}">
                      <a16:creationId xmlns:a16="http://schemas.microsoft.com/office/drawing/2014/main" id="{8058C60F-E1F1-BF72-C7F4-F9EF89B928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179165" y="3508852"/>
                  <a:ext cx="1917954" cy="256124"/>
                </a:xfrm>
                <a:prstGeom prst="rect">
                  <a:avLst/>
                </a:prstGeom>
              </p:spPr>
            </p:pic>
          </p:grp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3032DFD-B8AA-1AB7-E55F-89A8F8BD220A}"/>
                </a:ext>
              </a:extLst>
            </p:cNvPr>
            <p:cNvSpPr txBox="1"/>
            <p:nvPr/>
          </p:nvSpPr>
          <p:spPr>
            <a:xfrm>
              <a:off x="9343312" y="2157534"/>
              <a:ext cx="20193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Matrix Formulation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12773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89DC4-4AF3-EC4A-C1AC-743B8433B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E01BFB-6514-033B-616C-9C8CB0D62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9A7DB6AE-FB70-EC78-BC76-BDCE7F437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095" y="1349374"/>
            <a:ext cx="10353762" cy="32004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입력변수가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개인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XOR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문제를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단층구조 네트워크로 만들고 엑셀로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parameter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 propagation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구하라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EA954B6-12AD-F473-F1AC-6EF7CAC9B994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Backpropagation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AAF4256-6B7B-17F3-D328-42EC644287BB}"/>
              </a:ext>
            </a:extLst>
          </p:cNvPr>
          <p:cNvGrpSpPr/>
          <p:nvPr/>
        </p:nvGrpSpPr>
        <p:grpSpPr>
          <a:xfrm>
            <a:off x="1449579" y="2923303"/>
            <a:ext cx="3284345" cy="2585323"/>
            <a:chOff x="2383030" y="2885975"/>
            <a:chExt cx="3725892" cy="2964901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FE72E79-91B8-7DA0-28A9-365F1BA3D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83030" y="2885975"/>
              <a:ext cx="3725892" cy="2964901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84020636-809F-858B-8DA3-C294DF905B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5743305" y="3817589"/>
              <a:ext cx="358398" cy="925861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A38C01C-CE43-6BF2-860E-78FBA244937F}"/>
              </a:ext>
            </a:extLst>
          </p:cNvPr>
          <p:cNvSpPr txBox="1"/>
          <p:nvPr/>
        </p:nvSpPr>
        <p:spPr>
          <a:xfrm>
            <a:off x="5423677" y="2949574"/>
            <a:ext cx="6096000" cy="25853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dirty="0"/>
              <a:t>        X0 (=1, </a:t>
            </a:r>
            <a:r>
              <a:rPr lang="ko-KR" altLang="en-US" dirty="0" err="1"/>
              <a:t>bias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           │</a:t>
            </a:r>
          </a:p>
          <a:p>
            <a:r>
              <a:rPr lang="ko-KR" altLang="en-US" dirty="0"/>
              <a:t>             │ w0</a:t>
            </a:r>
          </a:p>
          <a:p>
            <a:r>
              <a:rPr lang="ko-KR" altLang="en-US" dirty="0"/>
              <a:t>             ▼</a:t>
            </a:r>
          </a:p>
          <a:p>
            <a:r>
              <a:rPr lang="ko-KR" altLang="en-US" dirty="0"/>
              <a:t>        ┌─────────┐</a:t>
            </a:r>
          </a:p>
          <a:p>
            <a:r>
              <a:rPr lang="ko-KR" altLang="en-US" dirty="0"/>
              <a:t>X1 ──w1▶│         │</a:t>
            </a:r>
          </a:p>
          <a:p>
            <a:r>
              <a:rPr lang="ko-KR" altLang="en-US" dirty="0"/>
              <a:t>        │             </a:t>
            </a:r>
            <a:r>
              <a:rPr lang="ko-KR" altLang="en-US" dirty="0" err="1"/>
              <a:t>Σ</a:t>
            </a:r>
            <a:r>
              <a:rPr lang="ko-KR" altLang="en-US" dirty="0"/>
              <a:t>    │───▶ </a:t>
            </a:r>
            <a:r>
              <a:rPr lang="ko-KR" altLang="en-US" dirty="0" err="1"/>
              <a:t>Activation</a:t>
            </a:r>
            <a:r>
              <a:rPr lang="ko-KR" altLang="en-US" dirty="0"/>
              <a:t> (</a:t>
            </a:r>
            <a:r>
              <a:rPr lang="ko-KR" altLang="en-US" dirty="0" err="1"/>
              <a:t>Step</a:t>
            </a:r>
            <a:r>
              <a:rPr lang="ko-KR" altLang="en-US" dirty="0"/>
              <a:t>) ───▶ </a:t>
            </a:r>
            <a:r>
              <a:rPr lang="ko-KR" altLang="en-US" dirty="0" err="1"/>
              <a:t>y</a:t>
            </a:r>
            <a:endParaRPr lang="ko-KR" altLang="en-US" dirty="0"/>
          </a:p>
          <a:p>
            <a:r>
              <a:rPr lang="ko-KR" altLang="en-US" dirty="0"/>
              <a:t>X2 ──w2▶│ (</a:t>
            </a:r>
            <a:r>
              <a:rPr lang="ko-KR" altLang="en-US" dirty="0" err="1"/>
              <a:t>sum</a:t>
            </a:r>
            <a:r>
              <a:rPr lang="ko-KR" altLang="en-US" dirty="0"/>
              <a:t>) │</a:t>
            </a:r>
          </a:p>
          <a:p>
            <a:r>
              <a:rPr lang="ko-KR" altLang="en-US" dirty="0"/>
              <a:t>        └─────────┘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19494725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09199-A9A7-0518-8BD1-EFF90CBC0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89FB3C-8ED1-2668-A02A-1D719EB70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506554A-7D6A-9722-68E2-D087D62F2964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0E57286B-6519-32B8-78A3-D8BF40374B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2850" y="905522"/>
            <a:ext cx="9245379" cy="549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7636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Digress : Kernel Transformation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11" name="내용 개체 틀 8">
            <a:extLst>
              <a:ext uri="{FF2B5EF4-FFF2-40B4-BE49-F238E27FC236}">
                <a16:creationId xmlns:a16="http://schemas.microsoft.com/office/drawing/2014/main" id="{9BEA41EB-734E-F0B7-AAFC-ED8EC32908F3}"/>
              </a:ext>
            </a:extLst>
          </p:cNvPr>
          <p:cNvSpPr txBox="1">
            <a:spLocks/>
          </p:cNvSpPr>
          <p:nvPr/>
        </p:nvSpPr>
        <p:spPr>
          <a:xfrm>
            <a:off x="548640" y="1226740"/>
            <a:ext cx="11414760" cy="499308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np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random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seed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(0)</a:t>
            </a:r>
          </a:p>
          <a:p>
            <a:pPr marL="36900" indent="0">
              <a:buNone/>
            </a:pPr>
            <a:r>
              <a:rPr lang="en-US" altLang="ko-KR" sz="1400" dirty="0">
                <a:effectLst/>
                <a:latin typeface="Arial Narrow" panose="020B0606020202030204" pitchFamily="34" charset="0"/>
              </a:rPr>
              <a:t>X 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np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random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randn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(500); tr 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1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X_pos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X[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np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logical_and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(X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&lt;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tr, X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&gt;-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tr)];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X_neg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X[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np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logical_or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(X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&gt;=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tr, X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&lt;=-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tr)]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scatter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X_pos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, y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X_pos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*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0, c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'r', marker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'o', label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'class 1', s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30)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scatter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X_neg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, y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X_neg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*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0, c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'b', marker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'd', label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'class 0', s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30)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legend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();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xlabel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('x1',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fontsize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'16');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ylabel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('x2',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fontsize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'16'); 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title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('Problem',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fontsize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'18');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show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()</a:t>
            </a:r>
          </a:p>
          <a:p>
            <a:pPr marL="36900" indent="0">
              <a:buNone/>
            </a:pPr>
            <a:endParaRPr lang="en-US" altLang="ko-KR" sz="1400" dirty="0">
              <a:effectLst/>
              <a:latin typeface="Arial Narrow" panose="020B0606020202030204" pitchFamily="34" charset="0"/>
            </a:endParaRP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scatter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X_pos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, y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X_pos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**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2, c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'r', marker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'o', label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'class 1', s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30)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scatter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X_neg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, y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X_neg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**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2, c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'b', marker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'd', label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'class 0', s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30)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legend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();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xlabel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(r'$\phi_1$',fontsize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'16');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ylabel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(r'$\phi_2$',fontsize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'16')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title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('Problem solving in Transformed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higer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Space',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fontsize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'18')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axhline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(y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tr, color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'g',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linestyle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'-')</a:t>
            </a:r>
          </a:p>
          <a:p>
            <a:pPr marL="36900" indent="0">
              <a:lnSpc>
                <a:spcPct val="100000"/>
              </a:lnSpc>
              <a:buNone/>
            </a:pPr>
            <a:endParaRPr lang="en-US" altLang="ko-KR" sz="700" dirty="0">
              <a:solidFill>
                <a:schemeClr val="tx1"/>
              </a:solidFill>
              <a:effectLst/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D472010-BAB6-CD25-7F2C-8B7FB6C8D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8036" y="980954"/>
            <a:ext cx="3595975" cy="253961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7402423-C18E-BCB8-EB00-3647C7011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928" y="3756341"/>
            <a:ext cx="3507083" cy="2539612"/>
          </a:xfrm>
          <a:prstGeom prst="rect">
            <a:avLst/>
          </a:prstGeom>
        </p:spPr>
      </p:pic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AF92B326-14DF-461C-1D5D-1809FAB4CE5B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6816436" y="2244593"/>
            <a:ext cx="1070264" cy="1936881"/>
          </a:xfrm>
          <a:prstGeom prst="curvedConnector4">
            <a:avLst>
              <a:gd name="adj1" fmla="val -21359"/>
              <a:gd name="adj2" fmla="val 8230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6EEEFA36-8D7F-734A-EF6C-5B6BBB0D0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9675" y="3230863"/>
            <a:ext cx="1272650" cy="39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4113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AE33A-EAD9-0E64-1001-0C1A3E23B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E9882A-1D3D-A251-8607-459BD3A54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Digress : Kernel Transformation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66BB72-ABD2-1253-59B1-C7A5F3588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11" name="내용 개체 틀 8">
            <a:extLst>
              <a:ext uri="{FF2B5EF4-FFF2-40B4-BE49-F238E27FC236}">
                <a16:creationId xmlns:a16="http://schemas.microsoft.com/office/drawing/2014/main" id="{615999D5-3A04-9FF7-FF4A-A3C06F0CBCF3}"/>
              </a:ext>
            </a:extLst>
          </p:cNvPr>
          <p:cNvSpPr txBox="1">
            <a:spLocks/>
          </p:cNvSpPr>
          <p:nvPr/>
        </p:nvSpPr>
        <p:spPr>
          <a:xfrm>
            <a:off x="548640" y="1226740"/>
            <a:ext cx="11544748" cy="487822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python code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sklearn.datasets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import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make_circles</a:t>
            </a:r>
            <a:endParaRPr lang="en-US" altLang="ko-KR" sz="1600" dirty="0">
              <a:solidFill>
                <a:schemeClr val="tx1"/>
              </a:solidFill>
              <a:effectLst/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X, y =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make_circles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n_samples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=500,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random_state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=11, noise=0.1)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plt.scatter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(X[:, 0], X[:, 1], c=y, s=20,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cmap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='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coolwarm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’);</a:t>
            </a:r>
          </a:p>
          <a:p>
            <a:pPr marL="36900" indent="0">
              <a:lnSpc>
                <a:spcPct val="100000"/>
              </a:lnSpc>
              <a:buNone/>
            </a:pPr>
            <a:endParaRPr lang="en-US" altLang="ko-KR" sz="1600" dirty="0">
              <a:solidFill>
                <a:schemeClr val="tx1"/>
              </a:solidFill>
              <a:effectLst/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900" indent="0">
              <a:lnSpc>
                <a:spcPct val="100000"/>
              </a:lnSpc>
              <a:buNone/>
            </a:pPr>
            <a:r>
              <a:rPr lang="pt-BR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=np.exp(-(X ** 2).sum(1))</a:t>
            </a:r>
          </a:p>
          <a:p>
            <a:pPr marL="36900" indent="0">
              <a:lnSpc>
                <a:spcPct val="100000"/>
              </a:lnSpc>
              <a:buNone/>
            </a:pPr>
            <a:endParaRPr lang="en-US" altLang="ko-KR" sz="1600" dirty="0">
              <a:solidFill>
                <a:schemeClr val="tx1"/>
              </a:solidFill>
              <a:effectLst/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mpl_toolkits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import mplot3d</a:t>
            </a:r>
            <a:b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plt.figure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figsize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=(8,6))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 =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plt.axes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(projection='3d')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ax.scatter3D(X[:, 0], X[:, 1], r, c=y,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cmap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='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coolwarm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’)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#ax.view_init(10, 250)</a:t>
            </a:r>
          </a:p>
          <a:p>
            <a:pPr>
              <a:lnSpc>
                <a:spcPct val="100000"/>
              </a:lnSpc>
            </a:pPr>
            <a:endParaRPr lang="en-US" altLang="ko-KR" sz="1200" dirty="0">
              <a:solidFill>
                <a:schemeClr val="tx1"/>
              </a:solidFill>
              <a:effectLst/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021169E-B090-C7DD-2500-1A35C5CD2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436" y="993074"/>
            <a:ext cx="3294767" cy="250303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D7C9931-639E-A2F5-5F58-B82DE55F5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036" y="3798534"/>
            <a:ext cx="3294767" cy="2540098"/>
          </a:xfrm>
          <a:prstGeom prst="rect">
            <a:avLst/>
          </a:prstGeom>
        </p:spPr>
      </p:pic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AA3AF10D-2122-08B5-815F-B739E44E16D1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H="1" flipV="1">
            <a:off x="6816436" y="2244593"/>
            <a:ext cx="1070264" cy="1936881"/>
          </a:xfrm>
          <a:prstGeom prst="curvedConnector4">
            <a:avLst>
              <a:gd name="adj1" fmla="val -21359"/>
              <a:gd name="adj2" fmla="val 8230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442230BC-BB3D-82B6-5A26-4B1E81054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7778" y="3265156"/>
            <a:ext cx="1196444" cy="32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3600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374E8-82B3-D847-F7E8-EF04D487C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61781C-D05A-B519-20BE-DBE65D41B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DEBBEECA-7208-58A6-BAAE-4D2303EBA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F2C9450F-B441-3F20-44D9-4580F732A108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Backpropagation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16D3317-9D82-5C29-5B4D-23A68081D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6344" y="1813025"/>
            <a:ext cx="11118079" cy="39012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1DA442-0A02-35E1-5924-E2BF51A7DDF7}"/>
              </a:ext>
            </a:extLst>
          </p:cNvPr>
          <p:cNvSpPr txBox="1"/>
          <p:nvPr/>
        </p:nvSpPr>
        <p:spPr>
          <a:xfrm>
            <a:off x="924443" y="842754"/>
            <a:ext cx="2702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Neural Network using Excel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CB480A6-A0B3-0246-44AD-75B302A6D0B8}"/>
              </a:ext>
            </a:extLst>
          </p:cNvPr>
          <p:cNvSpPr/>
          <p:nvPr/>
        </p:nvSpPr>
        <p:spPr>
          <a:xfrm>
            <a:off x="2362200" y="4819650"/>
            <a:ext cx="1066800" cy="9906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4A570F2-2DB4-7E00-450D-D41338F92653}"/>
              </a:ext>
            </a:extLst>
          </p:cNvPr>
          <p:cNvSpPr/>
          <p:nvPr/>
        </p:nvSpPr>
        <p:spPr>
          <a:xfrm>
            <a:off x="6915149" y="4819650"/>
            <a:ext cx="2295525" cy="9906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42424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D7270-A613-BE98-819E-33BAE7981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23AD91-9546-54D2-90A5-EBC109034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DDADF338-872C-BF9C-68A7-5537D71ED3F3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Perceptron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B8A4F658-6D9D-07A5-F5AD-7783B226C8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3794" y="1070315"/>
                <a:ext cx="10706705" cy="968036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Single Perceptron Neural Networks = </a:t>
                </a:r>
                <a:r>
                  <a:rPr lang="en-US" altLang="ko-KR" sz="2100" cap="none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Mutiple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Linear Regression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n 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개의 다중변수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(multiple input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1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x</m:t>
                    </m:r>
                  </m:oMath>
                </a14:m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에 선형변환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100" b="0" i="0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w</m:t>
                    </m:r>
                    <m:r>
                      <m:rPr>
                        <m:sty m:val="p"/>
                      </m:rPr>
                      <a:rPr lang="en-US" altLang="ko-KR" sz="2100" i="1" cap="none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x</m:t>
                    </m:r>
                    <m:r>
                      <a:rPr lang="en-US" altLang="ko-KR" sz="21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 +</m:t>
                    </m:r>
                    <m:r>
                      <m:rPr>
                        <m:sty m:val="p"/>
                      </m:rPr>
                      <a:rPr lang="en-US" altLang="ko-KR" sz="21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b</m:t>
                    </m:r>
                  </m:oMath>
                </a14:m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1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z</m:t>
                    </m:r>
                  </m:oMath>
                </a14:m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생성하는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Perceptron</a:t>
                </a:r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B8A4F658-6D9D-07A5-F5AD-7783B226C8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3794" y="1070315"/>
                <a:ext cx="10706705" cy="968036"/>
              </a:xfrm>
              <a:blipFill>
                <a:blip r:embed="rId2"/>
                <a:stretch>
                  <a:fillRect l="-456" b="-75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052D6F70-4FDF-23ED-F1D3-92D182B79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928" y="2624259"/>
            <a:ext cx="6054374" cy="3294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A2954695-EC8A-4B49-2BC8-B84F0379CE77}"/>
              </a:ext>
            </a:extLst>
          </p:cNvPr>
          <p:cNvGrpSpPr/>
          <p:nvPr/>
        </p:nvGrpSpPr>
        <p:grpSpPr>
          <a:xfrm>
            <a:off x="7850179" y="2624259"/>
            <a:ext cx="4172517" cy="2805848"/>
            <a:chOff x="7850179" y="2624259"/>
            <a:chExt cx="4172517" cy="2805848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B00755-4DB1-2290-0D18-9768794AE216}"/>
                </a:ext>
              </a:extLst>
            </p:cNvPr>
            <p:cNvSpPr txBox="1"/>
            <p:nvPr/>
          </p:nvSpPr>
          <p:spPr>
            <a:xfrm>
              <a:off x="8533199" y="5091553"/>
              <a:ext cx="2887276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latin typeface="+mj-ea"/>
                </a:rPr>
                <a:t>(n, 1) = (n, 3) @ (3, 1) + (n,1)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90AF9DB-ABDC-0C64-5932-6FEDD3D030B8}"/>
                </a:ext>
              </a:extLst>
            </p:cNvPr>
            <p:cNvSpPr txBox="1"/>
            <p:nvPr/>
          </p:nvSpPr>
          <p:spPr>
            <a:xfrm>
              <a:off x="8790862" y="2624259"/>
              <a:ext cx="20193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Matrix Formulation</a:t>
              </a:r>
              <a:endParaRPr lang="ko-KR" altLang="en-US" dirty="0"/>
            </a:p>
          </p:txBody>
        </p: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A45D8B4D-97A1-8C20-11EB-B9303DFAC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50179" y="3573619"/>
              <a:ext cx="4172517" cy="1555134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879EF01-D57D-603E-DF74-20AFD0602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23045" y="3170262"/>
              <a:ext cx="3021634" cy="4033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8738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647D6-8297-E662-1ECD-E88CEFF17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6D69ED-B91B-A858-B2E5-19E620F5B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86EF0ECB-1F76-78F8-15CE-364DFA428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78FA17CC-76E0-9904-2189-F27BDFAB0391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Perceptron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7FFFF4F0-7DB3-AABE-D6D5-2193C90BF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095" y="1778000"/>
            <a:ext cx="10353762" cy="425826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24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sns.load_dataset</a:t>
            </a:r>
            <a:r>
              <a:rPr lang="en-US" altLang="ko-KR" sz="24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(“diamonds")</a:t>
            </a:r>
            <a:r>
              <a:rPr lang="ko-KR" altLang="en-US" sz="24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데이터로 </a:t>
            </a:r>
            <a:r>
              <a:rPr lang="en-US" altLang="ko-KR" sz="24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  <a:r>
              <a:rPr lang="ko-KR" altLang="en-US" sz="24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구조를 사용하여 </a:t>
            </a:r>
            <a:r>
              <a:rPr lang="en-US" altLang="ko-KR" sz="24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“price“</a:t>
            </a:r>
            <a:r>
              <a:rPr lang="ko-KR" altLang="en-US" sz="24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예측하라</a:t>
            </a:r>
            <a:endParaRPr lang="en-US" altLang="ko-KR" sz="24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입력변수</a:t>
            </a:r>
            <a:r>
              <a:rPr lang="en-US" altLang="ko-KR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(Features)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'carat’ : 1 feature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'carat’. ‘depth', 'table’ : 3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features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'carat’. ‘depth', 'table’, 'cut', 'color', 'clarity’ : 6 feature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딥러닝 라이브러리</a:t>
            </a:r>
            <a:endParaRPr lang="en-US" altLang="ko-KR" sz="20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tensorflow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pytorch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keras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딥 러닝을 이용한 자연어 처리 입문</a:t>
            </a: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참고</a:t>
            </a:r>
            <a:r>
              <a:rPr lang="en-US" altLang="ko-KR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092546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B856B-19EA-218B-C857-CE05CEAF8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120ECD5B-55BC-704B-D283-E742A9F6F2A8}"/>
              </a:ext>
            </a:extLst>
          </p:cNvPr>
          <p:cNvSpPr/>
          <p:nvPr/>
        </p:nvSpPr>
        <p:spPr>
          <a:xfrm>
            <a:off x="678584" y="4819649"/>
            <a:ext cx="5198341" cy="3958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B3C17D-ADD8-C635-4143-16EF05799BAA}"/>
              </a:ext>
            </a:extLst>
          </p:cNvPr>
          <p:cNvSpPr txBox="1"/>
          <p:nvPr/>
        </p:nvSpPr>
        <p:spPr>
          <a:xfrm>
            <a:off x="1336229" y="1428465"/>
            <a:ext cx="5512246" cy="5013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Distance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Norm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K-nearest neighbor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Cosine Similarity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Regression &amp; Perceptron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Linear regression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Stochastic Gradient Descent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Perceptron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Machine Learning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Bias and Variance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Cross validation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ML algorithms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59D152-0E4E-68A6-9C7D-B18896B7B299}"/>
              </a:ext>
            </a:extLst>
          </p:cNvPr>
          <p:cNvSpPr txBox="1"/>
          <p:nvPr/>
        </p:nvSpPr>
        <p:spPr>
          <a:xfrm>
            <a:off x="1336229" y="709865"/>
            <a:ext cx="26046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ko-KR" alt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007ED4-21E1-A1D7-80A5-42FC103573AA}"/>
              </a:ext>
            </a:extLst>
          </p:cNvPr>
          <p:cNvSpPr txBox="1"/>
          <p:nvPr/>
        </p:nvSpPr>
        <p:spPr>
          <a:xfrm>
            <a:off x="7029450" y="1428465"/>
            <a:ext cx="4619625" cy="4597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Deep Learning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Neural Network Architecture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Shallow/Deep learning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Matrix formulation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Forward/backward propagation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FNN, CNN, RNN, Transformer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Dimension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Reduction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Principal Component Analysis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Eigen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value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&amp;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vectors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SVD &amp; Topic Model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Manifold Learning</a:t>
            </a:r>
          </a:p>
        </p:txBody>
      </p:sp>
    </p:spTree>
    <p:extLst>
      <p:ext uri="{BB962C8B-B14F-4D97-AF65-F5344CB8AC3E}">
        <p14:creationId xmlns:p14="http://schemas.microsoft.com/office/powerpoint/2010/main" val="38227450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74859-7B64-5D9C-880C-3DD03B237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438ABE29-6FFB-BDC6-1057-98F40DD05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7600" y="1341120"/>
            <a:ext cx="7070197" cy="4611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3BFEBE-4E39-F739-9487-D585CA6A0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A6A1DA53-2F42-6742-3CC6-4ED525B8A191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variance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FE870F4F-57D1-9757-1BD3-1F9FB2AF0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1" y="1557994"/>
            <a:ext cx="4399279" cy="4394484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곡선 형태의 가상데이터의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70%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훈련데이터로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9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 다항식으로 학습하고 나머지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hold-out 30%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데이터를 예측한 결과 시각화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이러한 예측의 치명적 결함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9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과대적합</a:t>
            </a:r>
            <a:r>
              <a:rPr lang="en-US" altLang="ko-KR" sz="19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(High variance)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: 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훈련데이터에 과대 집착하여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(too sensitive to past data)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일반화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(Generalization)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모델 생성 실패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9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데이터의</a:t>
            </a:r>
            <a:r>
              <a:rPr lang="en-US" altLang="ko-KR" sz="19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9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낭비 및 편향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데이터는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회만 사용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9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 구조의 신뢰도 저하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9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 다항식 구조가 좋다는 근거가 없음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0A8594-CEA0-048B-D43B-49B4028B885C}"/>
              </a:ext>
            </a:extLst>
          </p:cNvPr>
          <p:cNvSpPr txBox="1"/>
          <p:nvPr/>
        </p:nvSpPr>
        <p:spPr>
          <a:xfrm>
            <a:off x="8398949" y="4416242"/>
            <a:ext cx="2868607" cy="9541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Aptos Narrow" panose="020B0004020202020204" pitchFamily="34" charset="0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 = 1000</a:t>
            </a:r>
          </a:p>
          <a:p>
            <a:r>
              <a:rPr lang="en-US" altLang="ko-KR" sz="1400" dirty="0" err="1">
                <a:latin typeface="Aptos Narrow" panose="020B0004020202020204" pitchFamily="34" charset="0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rng</a:t>
            </a:r>
            <a:r>
              <a:rPr lang="en-US" altLang="ko-KR" sz="1400" dirty="0">
                <a:latin typeface="Aptos Narrow" panose="020B0004020202020204" pitchFamily="34" charset="0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Aptos Narrow" panose="020B0004020202020204" pitchFamily="34" charset="0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np.random.RandomState</a:t>
            </a:r>
            <a:r>
              <a:rPr lang="en-US" altLang="ko-KR" sz="1400" dirty="0">
                <a:latin typeface="Aptos Narrow" panose="020B0004020202020204" pitchFamily="34" charset="0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(11)</a:t>
            </a:r>
          </a:p>
          <a:p>
            <a:r>
              <a:rPr lang="en-US" altLang="ko-KR" sz="1400" dirty="0">
                <a:latin typeface="Aptos Narrow" panose="020B0004020202020204" pitchFamily="34" charset="0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 = 10 * </a:t>
            </a:r>
            <a:r>
              <a:rPr lang="en-US" altLang="ko-KR" sz="1400" dirty="0" err="1">
                <a:latin typeface="Aptos Narrow" panose="020B0004020202020204" pitchFamily="34" charset="0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rng.rand</a:t>
            </a:r>
            <a:r>
              <a:rPr lang="en-US" altLang="ko-KR" sz="1400" dirty="0">
                <a:latin typeface="Aptos Narrow" panose="020B0004020202020204" pitchFamily="34" charset="0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(N)</a:t>
            </a:r>
          </a:p>
          <a:p>
            <a:r>
              <a:rPr lang="en-US" altLang="ko-KR" sz="1400" dirty="0">
                <a:latin typeface="Aptos Narrow" panose="020B0004020202020204" pitchFamily="34" charset="0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 = </a:t>
            </a:r>
            <a:r>
              <a:rPr lang="en-US" altLang="ko-KR" sz="1400" dirty="0" err="1">
                <a:latin typeface="Aptos Narrow" panose="020B0004020202020204" pitchFamily="34" charset="0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np.cos</a:t>
            </a:r>
            <a:r>
              <a:rPr lang="en-US" altLang="ko-KR" sz="1400" dirty="0">
                <a:latin typeface="Aptos Narrow" panose="020B0004020202020204" pitchFamily="34" charset="0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(x) + 0.55 * </a:t>
            </a:r>
            <a:r>
              <a:rPr lang="en-US" altLang="ko-KR" sz="1400" dirty="0" err="1">
                <a:latin typeface="Aptos Narrow" panose="020B0004020202020204" pitchFamily="34" charset="0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rng.randn</a:t>
            </a:r>
            <a:r>
              <a:rPr lang="en-US" altLang="ko-KR" sz="1400" dirty="0">
                <a:latin typeface="Aptos Narrow" panose="020B0004020202020204" pitchFamily="34" charset="0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F3FEA7-014F-6E03-6706-0C4078EAF29F}"/>
              </a:ext>
            </a:extLst>
          </p:cNvPr>
          <p:cNvSpPr txBox="1"/>
          <p:nvPr/>
        </p:nvSpPr>
        <p:spPr>
          <a:xfrm>
            <a:off x="6888481" y="1011920"/>
            <a:ext cx="391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linkClick r:id="rId3"/>
              </a:rPr>
              <a:t>Understanding of bias-variance/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E02784-80C2-04A8-E1CF-3E0D175DA092}"/>
                  </a:ext>
                </a:extLst>
              </p:cNvPr>
              <p:cNvSpPr txBox="1"/>
              <p:nvPr/>
            </p:nvSpPr>
            <p:spPr>
              <a:xfrm>
                <a:off x="6350003" y="1816850"/>
                <a:ext cx="2412998" cy="2970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i="1" cap="none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200" i="1" cap="none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200" i="1" cap="none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 cap="none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sz="1200" i="1" cap="none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200" i="1" cap="none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200" i="1" cap="none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 cap="none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sz="1200" i="1" cap="none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200" i="1" cap="none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200" i="1" cap="none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ko-KR" sz="1200" i="1" cap="none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200" i="1" cap="none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sSup>
                            <m:sSupPr>
                              <m:ctrlPr>
                                <a:rPr lang="en-US" altLang="ko-KR" sz="1200" i="1" cap="none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200" i="1" cap="none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sz="1200" i="1" cap="none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sub>
                        <m:sup>
                          <m:r>
                            <a:rPr lang="en-US" altLang="ko-KR" sz="1200" i="1" cap="none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1200" i="1" cap="none" smtClean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altLang="ko-KR" sz="1200" i="1" cap="none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 cap="none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200" i="1" cap="none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sSup>
                        <m:sSupPr>
                          <m:ctrlPr>
                            <a:rPr lang="en-US" altLang="ko-KR" sz="1200" i="1" cap="none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200" i="1" cap="none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200" b="0" i="1" cap="none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E02784-80C2-04A8-E1CF-3E0D175DA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3" y="1816850"/>
                <a:ext cx="2412998" cy="2970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34412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60C45-A319-75B6-3B2E-57FB4E484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9E36B7-36A4-D9F3-B7CF-5AAF24FC1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B28786A6-6685-0D59-C5FC-8627B4CD0292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 : </a:t>
            </a:r>
            <a:r>
              <a:rPr lang="en-US" altLang="ko-KR" b="1" cap="none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bias</a:t>
            </a:r>
            <a:r>
              <a:rPr lang="ko-KR" altLang="en-US" b="1" cap="none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variance</a:t>
            </a:r>
            <a:endParaRPr lang="ko-KR" altLang="en-US" b="1" cap="none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3E9E8FBC-AA92-AE5E-A12D-A4E96864A1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8321" y="1029674"/>
                <a:ext cx="11338559" cy="1938992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1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차 부터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9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차 다항식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9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개 모델별로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5-fold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사용하여 훈련데이터로 학습하여 검증데이터 예측결과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5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개의 평균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MSE(Mean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Squared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Error)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인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Average CV MSE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 가장 낮은 다항식모델은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7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차 다항식 모델로 결정</a:t>
                </a:r>
                <a:endParaRPr lang="en-US" altLang="ko-KR" sz="2100" cap="none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7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차 다항식모델을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Hold-out 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데이터로 예측</a:t>
                </a:r>
                <a:endParaRPr lang="en-US" altLang="ko-KR" sz="2100" cap="none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100" i="1" cap="none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100" i="1" cap="none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100" i="1" cap="none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100" i="1" cap="none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sz="2100" i="1" cap="none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2100" i="1" cap="none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100" i="1" cap="none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100" i="1" cap="none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sz="2100" i="1" cap="none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100" i="1" cap="none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100" i="1" cap="none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ko-KR" sz="2100" i="1" cap="none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100" i="1" cap="none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sSup>
                            <m:sSupPr>
                              <m:ctrlPr>
                                <a:rPr lang="en-US" altLang="ko-KR" sz="2100" i="1" cap="none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100" i="1" cap="none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sz="2100" i="1" cap="none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sub>
                        <m:sup>
                          <m:r>
                            <a:rPr lang="en-US" altLang="ko-KR" sz="2100" i="1" cap="none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2100" i="1" cap="none" smtClean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altLang="ko-KR" sz="2100" i="1" cap="none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100" i="1" cap="none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100" i="1" cap="none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sSup>
                        <m:sSupPr>
                          <m:ctrlPr>
                            <a:rPr lang="en-US" altLang="ko-KR" sz="2100" i="1" cap="none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100" i="1" cap="none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100" i="1" cap="none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en-US" altLang="ko-KR" sz="2100" cap="none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3E9E8FBC-AA92-AE5E-A12D-A4E96864A1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8321" y="1029674"/>
                <a:ext cx="11338559" cy="1938992"/>
              </a:xfrm>
              <a:blipFill>
                <a:blip r:embed="rId2"/>
                <a:stretch>
                  <a:fillRect l="-3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>
            <a:extLst>
              <a:ext uri="{FF2B5EF4-FFF2-40B4-BE49-F238E27FC236}">
                <a16:creationId xmlns:a16="http://schemas.microsoft.com/office/drawing/2014/main" id="{66912183-750B-BEF1-8EC1-22CC255C4A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512" y="3265569"/>
            <a:ext cx="4767031" cy="2667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글 내용">
            <a:extLst>
              <a:ext uri="{FF2B5EF4-FFF2-40B4-BE49-F238E27FC236}">
                <a16:creationId xmlns:a16="http://schemas.microsoft.com/office/drawing/2014/main" id="{E23B82CF-DF36-DBB3-0484-3A0E301DF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050" y="3270032"/>
            <a:ext cx="4033520" cy="183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7C9529-92E1-ACB2-5833-8FA8A11525AF}"/>
              </a:ext>
            </a:extLst>
          </p:cNvPr>
          <p:cNvSpPr txBox="1"/>
          <p:nvPr/>
        </p:nvSpPr>
        <p:spPr>
          <a:xfrm>
            <a:off x="9605543" y="3266473"/>
            <a:ext cx="25704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i="0" dirty="0">
                <a:effectLst/>
                <a:latin typeface="Arial Narrow" panose="020B0606020202030204" pitchFamily="34" charset="0"/>
              </a:rPr>
              <a:t>Degree 0: Average CV MSE = 0.8165 Degree 1: Average CV MSE = 0.7959 Degree 2: Average CV MSE = 0.7917 Degree 3: Average CV MSE = 0.4621 Degree 4: Average CV MSE = 0.4400 Degree 5: Average CV MSE = 0.3227 Degree 6: Average CV MSE = 0.3203 Degree 7: Average CV MSE = 0.3163 Degree 8: Average CV MSE = 0.4017 Degree 9: Average CV MSE = 0.425</a:t>
            </a:r>
            <a:endParaRPr lang="ko-KR" altLang="en-US" sz="1200" dirty="0">
              <a:latin typeface="Arial Narrow" panose="020B0606020202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60A2D1-C218-05CA-8FA9-4AEC8910906B}"/>
              </a:ext>
            </a:extLst>
          </p:cNvPr>
          <p:cNvSpPr txBox="1"/>
          <p:nvPr/>
        </p:nvSpPr>
        <p:spPr>
          <a:xfrm>
            <a:off x="528321" y="2795924"/>
            <a:ext cx="4033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Understanding of cross-validation/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9111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DB585-A11F-F79D-88AF-E05DA8362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1518FEFF-02A7-FB9B-6B9E-5A87738D4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001" y="4039324"/>
            <a:ext cx="8054649" cy="209804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F9E20B-0C28-71FC-9F92-D69AC6CD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F5953A29-9ACC-0CC5-7F78-319CBCA77A44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 out + CV </a:t>
            </a:r>
            <a:endParaRPr lang="ko-KR" altLang="en-US" b="1" cap="none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807D94E-1A8D-D390-FC8F-11C33CAE9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1" y="1029674"/>
            <a:ext cx="11338559" cy="2617766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과거데이터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(N=1000)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Test set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200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Hold-out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교차검증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(Cross Validation)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나머지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800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데이터로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K-fold 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 학습 및 검증 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MSE,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f1-score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등을 성능지표로 모델 평가 및 선택</a:t>
            </a:r>
            <a:r>
              <a:rPr lang="en-US" altLang="ko-KR" sz="19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9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모델의 구조 결정</a:t>
            </a:r>
            <a:r>
              <a:rPr lang="en-US" altLang="ko-KR" sz="19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선택 모델로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800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데이터를 최종적으로  학습하여 최적모델 생성</a:t>
            </a:r>
            <a:r>
              <a:rPr lang="en-US" altLang="ko-KR" sz="19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9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 </a:t>
            </a:r>
            <a:r>
              <a:rPr lang="en-US" altLang="ko-KR" sz="19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Parameter</a:t>
            </a:r>
            <a:r>
              <a:rPr lang="ko-KR" altLang="en-US" sz="19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결정</a:t>
            </a:r>
            <a:r>
              <a:rPr lang="en-US" altLang="ko-KR" sz="19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마지막으로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Hold-out(Test set)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예측하여 성능지표를 확인하고 종료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909783-0713-3820-12C1-A77FD79F7EE5}"/>
              </a:ext>
            </a:extLst>
          </p:cNvPr>
          <p:cNvSpPr txBox="1"/>
          <p:nvPr/>
        </p:nvSpPr>
        <p:spPr>
          <a:xfrm>
            <a:off x="8566281" y="5639246"/>
            <a:ext cx="1400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3-fold CV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8927D7-6AAF-8E39-7939-23C8DE5ECD57}"/>
              </a:ext>
            </a:extLst>
          </p:cNvPr>
          <p:cNvSpPr txBox="1"/>
          <p:nvPr/>
        </p:nvSpPr>
        <p:spPr>
          <a:xfrm>
            <a:off x="1999240" y="3647440"/>
            <a:ext cx="3756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3"/>
              </a:rPr>
              <a:t>Understanding of train-test-validation/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85628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4DAA0-D37E-C1F2-1874-431BE448E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7EDCE1-6AB3-E560-8604-B89EDD359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20DB93D6-D873-C9CD-5AAF-2637AEE2B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7E84BEA6-DD9A-2E40-C600-CF242B168402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cross validation &amp; CV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1D7CAEEE-98C8-510C-EB2A-AABB921CF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095" y="1777999"/>
            <a:ext cx="10353762" cy="32004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sns.load_dataset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(“diamonds")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데이터에서 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“price”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변수와 가장 상관관계가 높은 수치형 변수를 선택하고 단순회귀식의 몇 차의 다항식이 가장 적합한지 모델을 선택하라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 평가기준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교차검증 평균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MSE(Mean Squared Errors)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Hold-out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20%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교차검증은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5-fold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Hold-out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데이터의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MSE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수치를 최종 제시하라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15018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F1ADF-1B70-2171-5A85-0C9081B95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C730DF-214F-B904-0AC1-6D1A4C55F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B9764CA8-2386-587C-47F7-37D0EB38E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721959"/>
            <a:ext cx="4765039" cy="371856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단순회귀식은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직선만 학습한 데이터 패턴 미반영한 과소적합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(High Bias, Underfitting), 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Polynomial Regression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훈련 데이터에 과도하게 맞춘 </a:t>
            </a:r>
            <a:r>
              <a:rPr lang="ko-KR" altLang="en-US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과적합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(Overfitting, Low Bias)</a:t>
            </a:r>
            <a:endParaRPr lang="ko-KR" altLang="en-US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Ridge (L2)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계수 크기를 억제하여 부드러운 곡선으로 안정화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Lasso (L1)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더 보수적 모델로 불필요한 계수는 제거하여 단순화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53B61E22-BABE-F65A-59D6-4C883DAD80E8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Lasso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</a:t>
            </a:r>
            <a:endParaRPr lang="ko-KR" altLang="en-US" b="1" cap="none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9E898CD-5ED9-B86C-A42F-E29B638B3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840" y="1690270"/>
            <a:ext cx="7073553" cy="4207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03673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07100-FF9F-E59F-6BB5-A4AF985AE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A7134E-3C65-1D6F-88CD-2E9DDCB8F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4288A2D9-A863-5884-9849-6BF257D90CC7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Lasso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</a:t>
            </a:r>
            <a:endParaRPr lang="ko-KR" altLang="en-US" b="1" cap="none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B5E766-0CDC-143F-B4A6-B9D3B79A287B}"/>
              </a:ext>
            </a:extLst>
          </p:cNvPr>
          <p:cNvSpPr txBox="1"/>
          <p:nvPr/>
        </p:nvSpPr>
        <p:spPr>
          <a:xfrm>
            <a:off x="528320" y="1063859"/>
            <a:ext cx="5181600" cy="489903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from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sklearn.linear_model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 import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LinearRegression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, Ridge, Lasso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from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sklearn.preprocessing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 import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PolynomialFeatures</a:t>
            </a:r>
            <a:endParaRPr lang="en-US" altLang="ko-KR" sz="1400" b="0" dirty="0">
              <a:effectLst/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from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sklearn.pipeline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 import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make_pipeline</a:t>
            </a:r>
            <a:endParaRPr lang="en-US" altLang="ko-KR" sz="1400" b="0" dirty="0">
              <a:effectLst/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import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numpy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 as np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import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matplotlib.pyplot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 as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plt</a:t>
            </a:r>
            <a:endParaRPr lang="en-US" altLang="ko-KR" sz="1400" b="0" dirty="0">
              <a:effectLst/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ko-KR" sz="1400" b="0" dirty="0">
              <a:effectLst/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rng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 =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np.random.RandomState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(11)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X = 10 *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rng.rand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(100)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y =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np.cos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(X) + 0.25 *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rng.randn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(100)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X =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X.reshape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(-1,1)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y_predict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 =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LinearRegression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().fit(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X,y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).predict(X)</a:t>
            </a:r>
            <a:br>
              <a:rPr lang="en-US" altLang="ko-KR" sz="1400" b="0" dirty="0">
                <a:effectLst/>
                <a:latin typeface="Arial Narrow" panose="020B0606020202030204" pitchFamily="34" charset="0"/>
              </a:rPr>
            </a:br>
            <a:endParaRPr lang="en-US" altLang="ko-KR" sz="1400" b="0" dirty="0">
              <a:effectLst/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Xfit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 =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np.linspace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(0, 10, 100)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poly_model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 =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make_pipeline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PolynomialFeatures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(20),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LinearRegression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())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yfit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 =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poly_model.fit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(X, y).predict(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Xfit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[:,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np.newaxis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])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B9EAC1-2B2C-AC68-DE86-98EBCEFCE703}"/>
              </a:ext>
            </a:extLst>
          </p:cNvPr>
          <p:cNvSpPr txBox="1"/>
          <p:nvPr/>
        </p:nvSpPr>
        <p:spPr>
          <a:xfrm>
            <a:off x="5984240" y="1063859"/>
            <a:ext cx="6085840" cy="39295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lasso_model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 =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make_pipeline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PolynomialFeatures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(20), Lasso(alpha= 1))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predict_lasso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 =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lasso_model.fit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(X, y).predict(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Xfit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[:,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np.newaxis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])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ridge_model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 =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make_pipeline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PolynomialFeatures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(20), Ridge(alpha= 30))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predict_ridge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 =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ridge_model.fit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(X, y).predict(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Xfit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[:,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np.newaxis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])</a:t>
            </a:r>
          </a:p>
          <a:p>
            <a:pPr>
              <a:lnSpc>
                <a:spcPct val="150000"/>
              </a:lnSpc>
              <a:buNone/>
            </a:pPr>
            <a:endParaRPr lang="en-US" altLang="ko-KR" sz="1400" b="0" dirty="0">
              <a:effectLst/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plt.figure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figsize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=(10, 5))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plt.scatter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(X, y)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plt.plot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(X,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y_predict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, color='red',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lw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=1.5, label='Linear Regression')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plt.plot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Xfit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,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yfit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, color='green',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lw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=2.5, label='Polynomial Regression (High Degree)')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plt.plot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Xfit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,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predict_ridge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, color='blue',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lw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=2,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linestyle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='--', label='Ridge (L2)')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plt.plot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Xfit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,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predict_lasso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, color='black',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lw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=2,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linestyle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=':', label='Lasso (L1)')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plt.legend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(loc='upper left',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frameon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=True, shadow=True)</a:t>
            </a:r>
          </a:p>
        </p:txBody>
      </p:sp>
    </p:spTree>
    <p:extLst>
      <p:ext uri="{BB962C8B-B14F-4D97-AF65-F5344CB8AC3E}">
        <p14:creationId xmlns:p14="http://schemas.microsoft.com/office/powerpoint/2010/main" val="21117123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B9821-B756-B7ED-5927-A6582D795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4E4CEF-C5AB-CE38-A3AF-0240E6A20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7F00297D-AE6D-4177-8CF3-653BAD0F6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095" y="1158240"/>
            <a:ext cx="10239461" cy="933681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사람이 일일이 규칙을 프로그래밍하는 대신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컴퓨터가 데이터를 통해 스스로 학습하여 </a:t>
            </a:r>
            <a:r>
              <a:rPr lang="ko-KR" altLang="en-US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패턴</a:t>
            </a:r>
            <a:r>
              <a:rPr lang="en-US" altLang="ko-KR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(pattern)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찾아내고 미래를 예측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85BE61F-8E74-DF46-4A2C-23D8AA287916}"/>
              </a:ext>
            </a:extLst>
          </p:cNvPr>
          <p:cNvGrpSpPr/>
          <p:nvPr/>
        </p:nvGrpSpPr>
        <p:grpSpPr>
          <a:xfrm>
            <a:off x="1946305" y="2531370"/>
            <a:ext cx="7235795" cy="2896113"/>
            <a:chOff x="1028095" y="3317240"/>
            <a:chExt cx="6455932" cy="237236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DF56A33-9A07-E323-4BB5-ABD1F388EA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8095" y="3317240"/>
              <a:ext cx="6455932" cy="2372360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4E066160-A3F7-2BDE-A962-B12CE5DF6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164801" y="4554242"/>
              <a:ext cx="883997" cy="251482"/>
            </a:xfrm>
            <a:prstGeom prst="rect">
              <a:avLst/>
            </a:prstGeom>
          </p:spPr>
        </p:pic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DE05B0FF-EF30-6052-97FE-54CB919AC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100" y="2531370"/>
            <a:ext cx="2287025" cy="1731604"/>
          </a:xfrm>
          <a:prstGeom prst="rect">
            <a:avLst/>
          </a:prstGeom>
        </p:spPr>
      </p:pic>
      <p:sp>
        <p:nvSpPr>
          <p:cNvPr id="13" name="제목 1">
            <a:extLst>
              <a:ext uri="{FF2B5EF4-FFF2-40B4-BE49-F238E27FC236}">
                <a16:creationId xmlns:a16="http://schemas.microsoft.com/office/drawing/2014/main" id="{10A9643F-3FDC-72A3-A519-E8B62D09C1CB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algorithm(data) </a:t>
            </a:r>
            <a:endParaRPr lang="ko-KR" altLang="en-US" b="1" cap="none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9344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4B538-8014-D56E-3AF2-AA7E15A68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4B672D-5034-9EB6-03BD-E97919B6E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E6BCA8CE-1984-4263-EE4E-D68A539462BC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DB0E83C6-CA8D-D9FF-025D-C229BAF93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4"/>
            <a:ext cx="10706705" cy="1886245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알고리즘의 작동방식을 </a:t>
            </a:r>
            <a:r>
              <a:rPr lang="en-US" altLang="ko-KR" sz="2100" cap="none" dirty="0">
                <a:solidFill>
                  <a:schemeClr val="accent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Understanding of decision-tree/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에서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이해한 후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알고리즘의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parameters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대해 생각해 보고 교차검증에서는 모델의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parameters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결정한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후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Hold-out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데이터의 성능을 제시하라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026" name="Picture 2" descr="푸른 하늘 아래 녹색 잎 나무">
            <a:extLst>
              <a:ext uri="{FF2B5EF4-FFF2-40B4-BE49-F238E27FC236}">
                <a16:creationId xmlns:a16="http://schemas.microsoft.com/office/drawing/2014/main" id="{09CB8783-407C-7E25-651D-AE5EC7243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1" y="2810461"/>
            <a:ext cx="462915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56039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F98D7-464D-06E0-E3A9-D0F7DA7DC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9FA93F-3599-813D-595A-0FA8AB194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C5714B33-1291-40C0-87F0-DE9CD0764C82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Wisdom of the Crowd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E009A463-9FCF-3525-1650-482A97208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4"/>
            <a:ext cx="10706705" cy="1418886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1785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년 프랑스 </a:t>
            </a:r>
            <a:r>
              <a:rPr lang="ko-KR" altLang="en-US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콩도르세의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배심원정리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Condorcet's jury theorem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따르면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근소하게 올바른 판단력을 가진 배심원이 모여서 독립적으로 판결하게 되면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결국 항상 올바른 판단을 내린다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”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것이다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배심원정리는 앙상블모델을 가장 잘 설명해주고 있다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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Randomness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=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Justice,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국민재판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7D322E1-9BA9-0C88-4211-96B32C7AC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066" y="2790530"/>
            <a:ext cx="5372134" cy="28387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9C225B5-AEB2-7110-3011-8B048D776CAA}"/>
              </a:ext>
            </a:extLst>
          </p:cNvPr>
          <p:cNvSpPr txBox="1"/>
          <p:nvPr/>
        </p:nvSpPr>
        <p:spPr>
          <a:xfrm>
            <a:off x="1042572" y="2904829"/>
            <a:ext cx="4948653" cy="1611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53%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올바른 판단을 하는 배심원 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명이 모여 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1,000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회 재판 판결은 재판의 회수가 많아질수록 무작위로 판단하는 ’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50%‘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보다 항상 올바른 결정을 한다는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사실을 파이썬 코드로 만들고 </a:t>
            </a:r>
            <a:r>
              <a:rPr lang="ko-KR" altLang="en-US" sz="17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시각화하라</a:t>
            </a:r>
            <a:endParaRPr lang="en-US" altLang="ko-KR" sz="17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46070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26034-A6AB-F623-ECF6-CE6137265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63024C-F98C-52AE-BB92-450D683F3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AE4CD56B-F88D-FDDC-C438-BEB21800474A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RandomForest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E73D31DD-D90E-51A0-F902-D7B74951F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4"/>
            <a:ext cx="10706705" cy="1886245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알고리즘의 작동방식을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/>
              </a:rPr>
              <a:t>Understanding of random-forest/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에서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이해한 후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알고리즘의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parameters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대해 생각해 보고 교차검증에서는 모델의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parameters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결정한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후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Hold-out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데이터의 성능을 제시하라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050" name="Picture 2" descr="푸른 나무의 항공 사진">
            <a:extLst>
              <a:ext uri="{FF2B5EF4-FFF2-40B4-BE49-F238E27FC236}">
                <a16:creationId xmlns:a16="http://schemas.microsoft.com/office/drawing/2014/main" id="{12DF00AA-B10C-C1B8-1183-1D9FA1B80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5975" y="2718166"/>
            <a:ext cx="4994808" cy="3318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2595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080F7-D07E-7187-40C7-EB970C62C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983E2C-5105-7708-842D-6776A1F1A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816522E9-7406-138D-A270-70260FD2C73F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99E6C6A-E317-6392-884C-D66A85069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442" y="1331475"/>
            <a:ext cx="7669400" cy="441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925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4B199-EB4C-06C5-9EC8-F269DF892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33429F-1589-22DE-EF0F-012D9634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CACEB1B5-A2A0-F626-FF2A-B63F7225799B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neighbors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40FC9930-32A4-A49A-3146-A4E647D3A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4"/>
            <a:ext cx="10706705" cy="1886245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알고리즘의 작동방식을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/>
              </a:rPr>
              <a:t>Understanding of KNN/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에서 이해한 후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알고리즘의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parameters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대해 생각해 보고 교차검증에서는 모델의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parameters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결정한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후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Hold-out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데이터의 성능을 제시하라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0FC78F8-E7C2-CE49-322E-395438848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498" y="2579312"/>
            <a:ext cx="4867528" cy="363951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ED95102-DEB0-1D80-1997-F6D758920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899" y="3409102"/>
            <a:ext cx="1180047" cy="12403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BB6328C-1E8B-51C2-E7A2-49461BC5DF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7899" y="5025366"/>
            <a:ext cx="2098607" cy="119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3141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DDC7B-BD5C-3290-556E-42CA1AB18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248025C-D1D4-622A-2ACB-AAF8CC0D4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00" y="1737538"/>
            <a:ext cx="8163686" cy="4847188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5EF507-0BC0-BFAE-51D4-465B7EDD5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9918A77C-3E4F-2657-B205-806650CF3373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Basic Concepts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4CB262E-C5B7-1A57-7642-965919D38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4"/>
            <a:ext cx="11034365" cy="188624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basic concepts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사이트에서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Data Scaling, Linear Regression, Loss and Metric, Stochastic gradient descent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자습하라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3696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F72B8-7FFD-4E19-8B6C-D002E1ADD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A006566A-DD82-69DA-638D-DF707BA31AA6}"/>
              </a:ext>
            </a:extLst>
          </p:cNvPr>
          <p:cNvSpPr/>
          <p:nvPr/>
        </p:nvSpPr>
        <p:spPr>
          <a:xfrm>
            <a:off x="6374534" y="1485615"/>
            <a:ext cx="5198341" cy="3958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43FB53-BC88-47B7-3491-FAAD945F3932}"/>
              </a:ext>
            </a:extLst>
          </p:cNvPr>
          <p:cNvSpPr txBox="1"/>
          <p:nvPr/>
        </p:nvSpPr>
        <p:spPr>
          <a:xfrm>
            <a:off x="1336229" y="1428465"/>
            <a:ext cx="5512246" cy="5013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Distance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Norm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K-nearest neighbor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Cosine Similarity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Regression &amp; Perceptron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Linear regression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Stochastic Gradient Descent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Perceptron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Machine Learning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Bias and Variance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Cross validation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ML algorithms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215470-3572-70C2-F747-2A86BD210E57}"/>
              </a:ext>
            </a:extLst>
          </p:cNvPr>
          <p:cNvSpPr txBox="1"/>
          <p:nvPr/>
        </p:nvSpPr>
        <p:spPr>
          <a:xfrm>
            <a:off x="1336229" y="709865"/>
            <a:ext cx="26046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ko-KR" alt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094AA1-7E73-197E-8256-AE774F51778F}"/>
              </a:ext>
            </a:extLst>
          </p:cNvPr>
          <p:cNvSpPr txBox="1"/>
          <p:nvPr/>
        </p:nvSpPr>
        <p:spPr>
          <a:xfrm>
            <a:off x="7029450" y="1428465"/>
            <a:ext cx="4619625" cy="4597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Deep Learning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Neural Network Architecture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Shallow/Deep learning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Matrix formulation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Forward/backward propagation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FNN, CNN, RNN, Transformer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Dimension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Reduction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Principal Component Analysis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Eigen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value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&amp;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vectors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SVD &amp; Topic Model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Manifold Learning</a:t>
            </a:r>
          </a:p>
        </p:txBody>
      </p:sp>
    </p:spTree>
    <p:extLst>
      <p:ext uri="{BB962C8B-B14F-4D97-AF65-F5344CB8AC3E}">
        <p14:creationId xmlns:p14="http://schemas.microsoft.com/office/powerpoint/2010/main" val="7260740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3EAD3-0C6D-4A32-6FEE-8F79EC6ED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FABE37-667B-DB2B-DD82-35B58E752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33CEEA0B-D51C-B098-845C-0403C7357090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Tensors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23259F9-A875-6E4B-90BF-6F1E094EB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4"/>
            <a:ext cx="10706705" cy="188624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tensors </a:t>
            </a:r>
            <a:r>
              <a:rPr lang="en-US" altLang="ko-KR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visulalization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개념 익히기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pytorch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tensor flow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tensors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익히기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tensorflow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playground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deep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learning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실습하기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74351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2F4DD-3183-DC87-A058-2B2E5E006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D11D27-CD88-A5DA-A2C9-B8ED92ADE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0A2B623F-9C78-161A-FD9F-97B8315E33E0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0BBCD5E2-0217-2EB7-EEB3-1C30A79157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3794" y="1070314"/>
                <a:ext cx="10706705" cy="188624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Inputs(x)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받아 가중치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(w)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반영한 가중치 합계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(z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은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weighted sum)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활성화함수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100" cap="none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𝑓</m:t>
                    </m:r>
                    <m:r>
                      <a:rPr lang="en-US" altLang="ko-KR" sz="2100" cap="none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2100" cap="none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z</m:t>
                    </m:r>
                    <m:r>
                      <a:rPr lang="en-US" altLang="ko-KR" sz="2100" cap="none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)</m:t>
                    </m:r>
                  </m:oMath>
                </a14:m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거쳐 반응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(1, 0, -1)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하는 네트워크 구조</a:t>
                </a:r>
                <a:endParaRPr lang="en-US" altLang="ko-KR" sz="2100" cap="none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0BBCD5E2-0217-2EB7-EEB3-1C30A79157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3794" y="1070314"/>
                <a:ext cx="10706705" cy="1886245"/>
              </a:xfrm>
              <a:blipFill>
                <a:blip r:embed="rId2"/>
                <a:stretch>
                  <a:fillRect l="-569" r="-3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18" name="Picture 2">
            <a:extLst>
              <a:ext uri="{FF2B5EF4-FFF2-40B4-BE49-F238E27FC236}">
                <a16:creationId xmlns:a16="http://schemas.microsoft.com/office/drawing/2014/main" id="{5BB5F102-81AC-096E-A5A7-E10409134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525" y="2821385"/>
            <a:ext cx="4023780" cy="323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38091E3-1E1C-83D9-CD62-BBA14245814F}"/>
              </a:ext>
            </a:extLst>
          </p:cNvPr>
          <p:cNvSpPr txBox="1"/>
          <p:nvPr/>
        </p:nvSpPr>
        <p:spPr>
          <a:xfrm>
            <a:off x="8561243" y="2384466"/>
            <a:ext cx="2299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Sign Activation function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3F19882-95A0-C76B-E9B9-FE3D76F62273}"/>
                  </a:ext>
                </a:extLst>
              </p:cNvPr>
              <p:cNvSpPr txBox="1"/>
              <p:nvPr/>
            </p:nvSpPr>
            <p:spPr>
              <a:xfrm>
                <a:off x="8697647" y="2956559"/>
                <a:ext cx="809624" cy="4001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cap="none" smtClean="0"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𝑓</m:t>
                      </m:r>
                      <m:r>
                        <a:rPr lang="en-US" altLang="ko-KR" sz="2000" b="0" i="1" cap="none" smtClean="0"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ko-KR" sz="2000" b="0" i="1" cap="none" smtClean="0"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z</m:t>
                      </m:r>
                      <m:r>
                        <a:rPr lang="en-US" altLang="ko-KR" sz="2000" b="0" i="1" cap="none" smtClean="0"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)</m:t>
                      </m:r>
                    </m:oMath>
                  </m:oMathPara>
                </a14:m>
                <a:endParaRPr lang="ko-KR" altLang="en-US" sz="2000" i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3F19882-95A0-C76B-E9B9-FE3D76F62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7647" y="2956559"/>
                <a:ext cx="809624" cy="4001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20" name="Picture 4" descr="Activation function in Neural Networks">
            <a:extLst>
              <a:ext uri="{FF2B5EF4-FFF2-40B4-BE49-F238E27FC236}">
                <a16:creationId xmlns:a16="http://schemas.microsoft.com/office/drawing/2014/main" id="{F5590D0D-2E03-5203-CB79-38ED815C7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381" y="2410346"/>
            <a:ext cx="5227666" cy="392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501ADB-B43C-8A1F-363C-C76FE57C9AE7}"/>
                  </a:ext>
                </a:extLst>
              </p:cNvPr>
              <p:cNvSpPr txBox="1"/>
              <p:nvPr/>
            </p:nvSpPr>
            <p:spPr>
              <a:xfrm>
                <a:off x="11044619" y="4507575"/>
                <a:ext cx="809624" cy="4001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b="0" i="1" cap="none" smtClean="0"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z</m:t>
                      </m:r>
                    </m:oMath>
                  </m:oMathPara>
                </a14:m>
                <a:endParaRPr lang="ko-KR" altLang="en-US" sz="2000" i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501ADB-B43C-8A1F-363C-C76FE57C9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4619" y="4507575"/>
                <a:ext cx="809624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61854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83D93-7637-7C5E-BB4E-92B8DE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266840-5B84-ED6C-269F-E9A3C6DE3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3A2896C1-2712-4A10-2E30-384F1B95FD8A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42" name="Picture 2" descr="Neural Network Activation Functions: Cheat Sheet">
            <a:extLst>
              <a:ext uri="{FF2B5EF4-FFF2-40B4-BE49-F238E27FC236}">
                <a16:creationId xmlns:a16="http://schemas.microsoft.com/office/drawing/2014/main" id="{BD1C19EB-28D3-EE39-23C2-44D46F2811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3706" y="956441"/>
            <a:ext cx="4401339" cy="576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How Activation Function works in Neural Networks">
            <a:extLst>
              <a:ext uri="{FF2B5EF4-FFF2-40B4-BE49-F238E27FC236}">
                <a16:creationId xmlns:a16="http://schemas.microsoft.com/office/drawing/2014/main" id="{1CF8A3D6-A242-4AEA-8E25-67B6718A1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39" y="905522"/>
            <a:ext cx="4783393" cy="3587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7200C4-D722-0DFB-71FB-520B5B1158AD}"/>
              </a:ext>
            </a:extLst>
          </p:cNvPr>
          <p:cNvSpPr txBox="1"/>
          <p:nvPr/>
        </p:nvSpPr>
        <p:spPr>
          <a:xfrm>
            <a:off x="748841" y="725608"/>
            <a:ext cx="23762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activation function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506692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441F2-358C-E450-F072-DDA82D587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07EB3C-2B1D-CC66-3F2B-1B061BD0D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58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25C55EFC-E3D3-936C-FD13-B8B4B3B36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9CA1E0D0-48F4-0136-ACB1-9BAE230E83EC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C45D0520-885A-0B96-6203-3F5CD2FD6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095" y="1777999"/>
            <a:ext cx="10353762" cy="32004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입력변수가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개인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네트워크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Perceptron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만들고 아래에 대해 정답을 생성하는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parameter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확인하라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AND gate with Step Function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OR gate with Step Function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AND gate with Sigmoid Function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Or gate with Sigmoid Function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19104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5FF96-AFFC-CB97-69B7-FCC165417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그림 46">
            <a:extLst>
              <a:ext uri="{FF2B5EF4-FFF2-40B4-BE49-F238E27FC236}">
                <a16:creationId xmlns:a16="http://schemas.microsoft.com/office/drawing/2014/main" id="{C61B7A09-B3CA-0DFD-7409-53A2ABD4F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31" y="1497393"/>
            <a:ext cx="1995078" cy="4442033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61450C-758E-5DB8-ECB4-A2C14D85B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677AF110-24A1-8FC5-BE25-6FC4F14B084D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Neural Network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EB543BC5-EFBD-D448-8727-31DEFAAE453E}"/>
              </a:ext>
            </a:extLst>
          </p:cNvPr>
          <p:cNvGrpSpPr/>
          <p:nvPr/>
        </p:nvGrpSpPr>
        <p:grpSpPr>
          <a:xfrm>
            <a:off x="1197855" y="1981201"/>
            <a:ext cx="10316619" cy="4469792"/>
            <a:chOff x="1350255" y="2204864"/>
            <a:chExt cx="9430539" cy="41584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직사각형 2">
                  <a:extLst>
                    <a:ext uri="{FF2B5EF4-FFF2-40B4-BE49-F238E27FC236}">
                      <a16:creationId xmlns:a16="http://schemas.microsoft.com/office/drawing/2014/main" id="{0BA022F1-8FD0-4A5E-B71C-3CC805BC1E2A}"/>
                    </a:ext>
                  </a:extLst>
                </p:cNvPr>
                <p:cNvSpPr/>
                <p:nvPr/>
              </p:nvSpPr>
              <p:spPr>
                <a:xfrm>
                  <a:off x="1836737" y="3131669"/>
                  <a:ext cx="479279" cy="3722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3" name="직사각형 2">
                  <a:extLst>
                    <a:ext uri="{FF2B5EF4-FFF2-40B4-BE49-F238E27FC236}">
                      <a16:creationId xmlns:a16="http://schemas.microsoft.com/office/drawing/2014/main" id="{0BA022F1-8FD0-4A5E-B71C-3CC805BC1E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6737" y="3131669"/>
                  <a:ext cx="479279" cy="372238"/>
                </a:xfrm>
                <a:prstGeom prst="rect">
                  <a:avLst/>
                </a:prstGeom>
                <a:blipFill>
                  <a:blip r:embed="rId3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직사각형 4">
                  <a:extLst>
                    <a:ext uri="{FF2B5EF4-FFF2-40B4-BE49-F238E27FC236}">
                      <a16:creationId xmlns:a16="http://schemas.microsoft.com/office/drawing/2014/main" id="{A5557686-AD94-E110-230C-C46FFBE83A57}"/>
                    </a:ext>
                  </a:extLst>
                </p:cNvPr>
                <p:cNvSpPr/>
                <p:nvPr/>
              </p:nvSpPr>
              <p:spPr>
                <a:xfrm>
                  <a:off x="1836737" y="3451964"/>
                  <a:ext cx="484729" cy="3722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5" name="직사각형 4">
                  <a:extLst>
                    <a:ext uri="{FF2B5EF4-FFF2-40B4-BE49-F238E27FC236}">
                      <a16:creationId xmlns:a16="http://schemas.microsoft.com/office/drawing/2014/main" id="{A5557686-AD94-E110-230C-C46FFBE83A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6737" y="3451964"/>
                  <a:ext cx="484729" cy="372238"/>
                </a:xfrm>
                <a:prstGeom prst="rect">
                  <a:avLst/>
                </a:prstGeom>
                <a:blipFill>
                  <a:blip r:embed="rId4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직사각형 5">
                  <a:extLst>
                    <a:ext uri="{FF2B5EF4-FFF2-40B4-BE49-F238E27FC236}">
                      <a16:creationId xmlns:a16="http://schemas.microsoft.com/office/drawing/2014/main" id="{AB7E4F7F-0241-B573-E80F-D5CAAE74F6B4}"/>
                    </a:ext>
                  </a:extLst>
                </p:cNvPr>
                <p:cNvSpPr/>
                <p:nvPr/>
              </p:nvSpPr>
              <p:spPr>
                <a:xfrm>
                  <a:off x="1836737" y="5161355"/>
                  <a:ext cx="499382" cy="3722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6" name="직사각형 5">
                  <a:extLst>
                    <a:ext uri="{FF2B5EF4-FFF2-40B4-BE49-F238E27FC236}">
                      <a16:creationId xmlns:a16="http://schemas.microsoft.com/office/drawing/2014/main" id="{AB7E4F7F-0241-B573-E80F-D5CAAE74F6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6737" y="5161355"/>
                  <a:ext cx="499382" cy="37223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65127C1-AFC0-DCA5-920B-9EB79DB3402F}"/>
                    </a:ext>
                  </a:extLst>
                </p:cNvPr>
                <p:cNvSpPr/>
                <p:nvPr/>
              </p:nvSpPr>
              <p:spPr>
                <a:xfrm>
                  <a:off x="1880697" y="3769967"/>
                  <a:ext cx="363693" cy="48677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ko-K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65127C1-AFC0-DCA5-920B-9EB79DB340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0697" y="3769967"/>
                  <a:ext cx="363693" cy="48677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A02A834B-BF33-8BF1-8B8C-FD7D9BCB2573}"/>
                    </a:ext>
                  </a:extLst>
                </p:cNvPr>
                <p:cNvSpPr/>
                <p:nvPr/>
              </p:nvSpPr>
              <p:spPr>
                <a:xfrm>
                  <a:off x="1874834" y="4109200"/>
                  <a:ext cx="363693" cy="48677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ko-K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A02A834B-BF33-8BF1-8B8C-FD7D9BCB25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4834" y="4109200"/>
                  <a:ext cx="363693" cy="48677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D6CD8DFA-6CD0-F1F7-488F-544797BA94D3}"/>
                    </a:ext>
                  </a:extLst>
                </p:cNvPr>
                <p:cNvSpPr/>
                <p:nvPr/>
              </p:nvSpPr>
              <p:spPr>
                <a:xfrm>
                  <a:off x="1879359" y="4838960"/>
                  <a:ext cx="363693" cy="48677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ko-K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D6CD8DFA-6CD0-F1F7-488F-544797BA94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9359" y="4838960"/>
                  <a:ext cx="363693" cy="48677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순서도: 가산 접합 9">
              <a:extLst>
                <a:ext uri="{FF2B5EF4-FFF2-40B4-BE49-F238E27FC236}">
                  <a16:creationId xmlns:a16="http://schemas.microsoft.com/office/drawing/2014/main" id="{0F64D008-769D-7306-6D0B-03CB6D1A5CF2}"/>
                </a:ext>
              </a:extLst>
            </p:cNvPr>
            <p:cNvSpPr/>
            <p:nvPr/>
          </p:nvSpPr>
          <p:spPr bwMode="auto">
            <a:xfrm>
              <a:off x="3721080" y="3196809"/>
              <a:ext cx="239660" cy="239660"/>
            </a:xfrm>
            <a:prstGeom prst="flowChartSummingJunction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ExtraBold" pitchFamily="2" charset="-127"/>
                <a:ea typeface="NanumGothicExtraBold" pitchFamily="2" charset="-127"/>
              </a:endParaRPr>
            </a:p>
          </p:txBody>
        </p:sp>
        <p:sp>
          <p:nvSpPr>
            <p:cNvPr id="11" name="순서도: 가산 접합 10">
              <a:extLst>
                <a:ext uri="{FF2B5EF4-FFF2-40B4-BE49-F238E27FC236}">
                  <a16:creationId xmlns:a16="http://schemas.microsoft.com/office/drawing/2014/main" id="{00BA48F0-4BB3-0BA3-DA8E-666758CAB44F}"/>
                </a:ext>
              </a:extLst>
            </p:cNvPr>
            <p:cNvSpPr/>
            <p:nvPr/>
          </p:nvSpPr>
          <p:spPr bwMode="auto">
            <a:xfrm>
              <a:off x="3721080" y="3731768"/>
              <a:ext cx="239660" cy="239660"/>
            </a:xfrm>
            <a:prstGeom prst="flowChartSummingJunction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ExtraBold" pitchFamily="2" charset="-127"/>
                <a:ea typeface="NanumGothicExtraBold" pitchFamily="2" charset="-127"/>
              </a:endParaRPr>
            </a:p>
          </p:txBody>
        </p:sp>
        <p:sp>
          <p:nvSpPr>
            <p:cNvPr id="12" name="순서도: 가산 접합 11">
              <a:extLst>
                <a:ext uri="{FF2B5EF4-FFF2-40B4-BE49-F238E27FC236}">
                  <a16:creationId xmlns:a16="http://schemas.microsoft.com/office/drawing/2014/main" id="{E3C9CA5A-281B-B879-F18C-A775762C250F}"/>
                </a:ext>
              </a:extLst>
            </p:cNvPr>
            <p:cNvSpPr/>
            <p:nvPr/>
          </p:nvSpPr>
          <p:spPr bwMode="auto">
            <a:xfrm>
              <a:off x="3721080" y="5189069"/>
              <a:ext cx="239660" cy="239660"/>
            </a:xfrm>
            <a:prstGeom prst="flowChartSummingJunction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ExtraBold" pitchFamily="2" charset="-127"/>
                <a:ea typeface="NanumGothicExtraBold" pitchFamily="2" charset="-127"/>
              </a:endParaRPr>
            </a:p>
          </p:txBody>
        </p:sp>
        <p:cxnSp>
          <p:nvCxnSpPr>
            <p:cNvPr id="13" name="구부러진 연결선 42">
              <a:extLst>
                <a:ext uri="{FF2B5EF4-FFF2-40B4-BE49-F238E27FC236}">
                  <a16:creationId xmlns:a16="http://schemas.microsoft.com/office/drawing/2014/main" id="{50841188-01D3-E4E6-137B-CFB73F38D28A}"/>
                </a:ext>
              </a:extLst>
            </p:cNvPr>
            <p:cNvCxnSpPr>
              <a:stCxn id="3" idx="3"/>
              <a:endCxn id="10" idx="3"/>
            </p:cNvCxnSpPr>
            <p:nvPr/>
          </p:nvCxnSpPr>
          <p:spPr bwMode="auto">
            <a:xfrm>
              <a:off x="2316016" y="3317788"/>
              <a:ext cx="1440161" cy="83585"/>
            </a:xfrm>
            <a:prstGeom prst="curvedConnector4">
              <a:avLst>
                <a:gd name="adj1" fmla="val 48781"/>
                <a:gd name="adj2" fmla="val 354444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" name="구부러진 연결선 43">
              <a:extLst>
                <a:ext uri="{FF2B5EF4-FFF2-40B4-BE49-F238E27FC236}">
                  <a16:creationId xmlns:a16="http://schemas.microsoft.com/office/drawing/2014/main" id="{3FF70D99-D749-9F13-5511-F2A78F86D774}"/>
                </a:ext>
              </a:extLst>
            </p:cNvPr>
            <p:cNvCxnSpPr>
              <a:stCxn id="5" idx="3"/>
              <a:endCxn id="11" idx="3"/>
            </p:cNvCxnSpPr>
            <p:nvPr/>
          </p:nvCxnSpPr>
          <p:spPr bwMode="auto">
            <a:xfrm>
              <a:off x="2321465" y="3638084"/>
              <a:ext cx="1434712" cy="298247"/>
            </a:xfrm>
            <a:prstGeom prst="curvedConnector4">
              <a:avLst>
                <a:gd name="adj1" fmla="val 48777"/>
                <a:gd name="adj2" fmla="val 171308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" name="구부러진 연결선 44">
              <a:extLst>
                <a:ext uri="{FF2B5EF4-FFF2-40B4-BE49-F238E27FC236}">
                  <a16:creationId xmlns:a16="http://schemas.microsoft.com/office/drawing/2014/main" id="{F929EBCB-93A1-CCC5-C4E9-762F65D233D6}"/>
                </a:ext>
              </a:extLst>
            </p:cNvPr>
            <p:cNvCxnSpPr>
              <a:stCxn id="6" idx="3"/>
              <a:endCxn id="12" idx="1"/>
            </p:cNvCxnSpPr>
            <p:nvPr/>
          </p:nvCxnSpPr>
          <p:spPr bwMode="auto">
            <a:xfrm flipV="1">
              <a:off x="2336119" y="5224166"/>
              <a:ext cx="1420058" cy="123307"/>
            </a:xfrm>
            <a:prstGeom prst="curvedConnector4">
              <a:avLst>
                <a:gd name="adj1" fmla="val 48764"/>
                <a:gd name="adj2" fmla="val 323416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CA988A9C-97DC-CF1F-008D-2B82CB1E30B1}"/>
                    </a:ext>
                  </a:extLst>
                </p:cNvPr>
                <p:cNvSpPr/>
                <p:nvPr/>
              </p:nvSpPr>
              <p:spPr>
                <a:xfrm>
                  <a:off x="3683433" y="4085735"/>
                  <a:ext cx="335852" cy="42950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ko-KR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kumimoji="0" lang="ko-KR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CA988A9C-97DC-CF1F-008D-2B82CB1E30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3433" y="4085735"/>
                  <a:ext cx="335852" cy="42950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3FC42BDE-F8D7-BA93-7AC7-498EA4FE4FDF}"/>
                    </a:ext>
                  </a:extLst>
                </p:cNvPr>
                <p:cNvSpPr/>
                <p:nvPr/>
              </p:nvSpPr>
              <p:spPr>
                <a:xfrm>
                  <a:off x="3687958" y="4815495"/>
                  <a:ext cx="335852" cy="42950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ko-KR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kumimoji="0" lang="ko-KR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3FC42BDE-F8D7-BA93-7AC7-498EA4FE4F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7958" y="4815495"/>
                  <a:ext cx="335852" cy="42950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구부러진 연결선 48">
              <a:extLst>
                <a:ext uri="{FF2B5EF4-FFF2-40B4-BE49-F238E27FC236}">
                  <a16:creationId xmlns:a16="http://schemas.microsoft.com/office/drawing/2014/main" id="{3EE8D7C1-70B2-DCD2-5375-E1D2B0D1C102}"/>
                </a:ext>
              </a:extLst>
            </p:cNvPr>
            <p:cNvCxnSpPr>
              <a:stCxn id="10" idx="6"/>
            </p:cNvCxnSpPr>
            <p:nvPr/>
          </p:nvCxnSpPr>
          <p:spPr bwMode="auto">
            <a:xfrm>
              <a:off x="3960740" y="3316639"/>
              <a:ext cx="1106394" cy="799195"/>
            </a:xfrm>
            <a:prstGeom prst="curved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" name="구부러진 연결선 49">
              <a:extLst>
                <a:ext uri="{FF2B5EF4-FFF2-40B4-BE49-F238E27FC236}">
                  <a16:creationId xmlns:a16="http://schemas.microsoft.com/office/drawing/2014/main" id="{FDD4B62A-0F4E-E32A-3047-FF2D47788CE3}"/>
                </a:ext>
              </a:extLst>
            </p:cNvPr>
            <p:cNvCxnSpPr/>
            <p:nvPr/>
          </p:nvCxnSpPr>
          <p:spPr bwMode="auto">
            <a:xfrm>
              <a:off x="4018232" y="3931168"/>
              <a:ext cx="1025302" cy="282602"/>
            </a:xfrm>
            <a:prstGeom prst="curved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" name="구부러진 연결선 50">
              <a:extLst>
                <a:ext uri="{FF2B5EF4-FFF2-40B4-BE49-F238E27FC236}">
                  <a16:creationId xmlns:a16="http://schemas.microsoft.com/office/drawing/2014/main" id="{3FCB277F-BE1B-CF65-D449-699DF35B2C00}"/>
                </a:ext>
              </a:extLst>
            </p:cNvPr>
            <p:cNvCxnSpPr>
              <a:stCxn id="12" idx="6"/>
            </p:cNvCxnSpPr>
            <p:nvPr/>
          </p:nvCxnSpPr>
          <p:spPr bwMode="auto">
            <a:xfrm flipV="1">
              <a:off x="3960740" y="4515451"/>
              <a:ext cx="1100531" cy="793448"/>
            </a:xfrm>
            <a:prstGeom prst="curved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74D2B819-BF22-6A6D-06CA-3078CBC06CAF}"/>
                </a:ext>
              </a:extLst>
            </p:cNvPr>
            <p:cNvSpPr/>
            <p:nvPr/>
          </p:nvSpPr>
          <p:spPr>
            <a:xfrm>
              <a:off x="3683433" y="4517878"/>
              <a:ext cx="857507" cy="31497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anumGothicExtraBold" pitchFamily="2" charset="-127"/>
                  <a:ea typeface="NanumGothicExtraBold" pitchFamily="2" charset="-127"/>
                </a:rPr>
                <a:t>multiply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ExtraBold" pitchFamily="2" charset="-127"/>
                <a:ea typeface="NanumGothicExtraBold" pitchFamily="2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590E1639-7D7E-6712-FF30-CB83F617C535}"/>
                </a:ext>
              </a:extLst>
            </p:cNvPr>
            <p:cNvSpPr/>
            <p:nvPr/>
          </p:nvSpPr>
          <p:spPr bwMode="auto">
            <a:xfrm>
              <a:off x="5213736" y="3847869"/>
              <a:ext cx="1143001" cy="955008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ExtraBold" pitchFamily="2" charset="-127"/>
                <a:ea typeface="NanumGothicExtraBold" pitchFamily="2" charset="-127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5A50B49F-C157-0126-A490-361220004B5D}"/>
                    </a:ext>
                  </a:extLst>
                </p:cNvPr>
                <p:cNvSpPr/>
                <p:nvPr/>
              </p:nvSpPr>
              <p:spPr>
                <a:xfrm>
                  <a:off x="4271284" y="3211201"/>
                  <a:ext cx="729965" cy="3722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5A50B49F-C157-0126-A490-361220004B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1284" y="3211201"/>
                  <a:ext cx="729965" cy="372238"/>
                </a:xfrm>
                <a:prstGeom prst="rect">
                  <a:avLst/>
                </a:prstGeom>
                <a:blipFill>
                  <a:blip r:embed="rId11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673C766-9F9B-C9AA-47F6-429BFD243E1C}"/>
                    </a:ext>
                  </a:extLst>
                </p:cNvPr>
                <p:cNvSpPr txBox="1"/>
                <p:nvPr/>
              </p:nvSpPr>
              <p:spPr>
                <a:xfrm>
                  <a:off x="5394593" y="3977991"/>
                  <a:ext cx="781286" cy="78176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kumimoji="0" lang="pt-BR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0" lang="pt-BR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kumimoji="0" lang="en-US" altLang="ko-KR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ko-KR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kumimoji="0" lang="en-US" altLang="ko-KR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0" lang="en-US" altLang="ko-KR" sz="20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ko-KR" sz="20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altLang="ko-KR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673C766-9F9B-C9AA-47F6-429BFD243E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4593" y="3977991"/>
                  <a:ext cx="781286" cy="78176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D31C287D-8A01-9D77-04EF-C7AD720660CD}"/>
                    </a:ext>
                  </a:extLst>
                </p:cNvPr>
                <p:cNvSpPr/>
                <p:nvPr/>
              </p:nvSpPr>
              <p:spPr>
                <a:xfrm>
                  <a:off x="3228015" y="2858255"/>
                  <a:ext cx="308435" cy="37223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D31C287D-8A01-9D77-04EF-C7AD720660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8015" y="2858255"/>
                  <a:ext cx="308435" cy="372238"/>
                </a:xfrm>
                <a:prstGeom prst="rect">
                  <a:avLst/>
                </a:prstGeom>
                <a:blipFill>
                  <a:blip r:embed="rId13"/>
                  <a:stretch>
                    <a:fillRect r="-26786" b="-303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2D8134EE-E7DF-5E0E-831A-A504730F9ECE}"/>
                    </a:ext>
                  </a:extLst>
                </p:cNvPr>
                <p:cNvSpPr/>
                <p:nvPr/>
              </p:nvSpPr>
              <p:spPr>
                <a:xfrm>
                  <a:off x="3195530" y="5439637"/>
                  <a:ext cx="339326" cy="37223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2D8134EE-E7DF-5E0E-831A-A504730F9E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5530" y="5439637"/>
                  <a:ext cx="339326" cy="372238"/>
                </a:xfrm>
                <a:prstGeom prst="rect">
                  <a:avLst/>
                </a:prstGeom>
                <a:blipFill>
                  <a:blip r:embed="rId14"/>
                  <a:stretch>
                    <a:fillRect r="-1475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구부러진 연결선 57">
              <a:extLst>
                <a:ext uri="{FF2B5EF4-FFF2-40B4-BE49-F238E27FC236}">
                  <a16:creationId xmlns:a16="http://schemas.microsoft.com/office/drawing/2014/main" id="{5C4B62FE-1BB2-01D6-82B6-95D45450CA87}"/>
                </a:ext>
              </a:extLst>
            </p:cNvPr>
            <p:cNvCxnSpPr>
              <a:stCxn id="25" idx="3"/>
              <a:endCxn id="10" idx="0"/>
            </p:cNvCxnSpPr>
            <p:nvPr/>
          </p:nvCxnSpPr>
          <p:spPr bwMode="auto">
            <a:xfrm>
              <a:off x="3536450" y="3044374"/>
              <a:ext cx="304459" cy="152435"/>
            </a:xfrm>
            <a:prstGeom prst="curvedConnector2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8" name="구부러진 연결선 58">
              <a:extLst>
                <a:ext uri="{FF2B5EF4-FFF2-40B4-BE49-F238E27FC236}">
                  <a16:creationId xmlns:a16="http://schemas.microsoft.com/office/drawing/2014/main" id="{A1EF489C-9CAC-6D46-19EC-229547969917}"/>
                </a:ext>
              </a:extLst>
            </p:cNvPr>
            <p:cNvCxnSpPr>
              <a:stCxn id="26" idx="3"/>
              <a:endCxn id="12" idx="4"/>
            </p:cNvCxnSpPr>
            <p:nvPr/>
          </p:nvCxnSpPr>
          <p:spPr bwMode="auto">
            <a:xfrm flipV="1">
              <a:off x="3534856" y="5428730"/>
              <a:ext cx="306054" cy="197026"/>
            </a:xfrm>
            <a:prstGeom prst="curvedConnector2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BB956F26-98D0-99CD-A8EA-F48BE61F0415}"/>
                    </a:ext>
                  </a:extLst>
                </p:cNvPr>
                <p:cNvSpPr/>
                <p:nvPr/>
              </p:nvSpPr>
              <p:spPr>
                <a:xfrm>
                  <a:off x="4186130" y="5054889"/>
                  <a:ext cx="763081" cy="3722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BB956F26-98D0-99CD-A8EA-F48BE61F04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6130" y="5054889"/>
                  <a:ext cx="763081" cy="372238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09B29A9B-0AD6-641A-907A-06863BC86DE1}"/>
                </a:ext>
              </a:extLst>
            </p:cNvPr>
            <p:cNvCxnSpPr>
              <a:stCxn id="22" idx="3"/>
            </p:cNvCxnSpPr>
            <p:nvPr/>
          </p:nvCxnSpPr>
          <p:spPr bwMode="auto">
            <a:xfrm>
              <a:off x="6356737" y="4325373"/>
              <a:ext cx="418645" cy="208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9C5A4AE2-DDF5-F4BA-DFD0-CF0888919C7D}"/>
                    </a:ext>
                  </a:extLst>
                </p:cNvPr>
                <p:cNvSpPr/>
                <p:nvPr/>
              </p:nvSpPr>
              <p:spPr>
                <a:xfrm>
                  <a:off x="1476053" y="5819251"/>
                  <a:ext cx="1281815" cy="54404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ko-KR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0" lang="en-US" altLang="ko-KR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~ </m:t>
                        </m:r>
                        <m:d>
                          <m:dPr>
                            <m:ctrlPr>
                              <a:rPr kumimoji="0" lang="en-US" altLang="ko-KR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ko-KR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  <m:r>
                          <a:rPr kumimoji="0" lang="en-US" altLang="ko-KR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kumimoji="0" lang="en-US" altLang="ko-KR" sz="16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ko-KR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𝑠𝑡𝑎𝑛𝑑𝑎𝑟𝑑</m:t>
                        </m:r>
                        <m:r>
                          <a:rPr kumimoji="0" lang="en-US" altLang="ko-KR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en-US" altLang="ko-KR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𝑠𝑐𝑎𝑙𝑖𝑛𝑔</m:t>
                        </m:r>
                      </m:oMath>
                    </m:oMathPara>
                  </a14:m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9C5A4AE2-DDF5-F4BA-DFD0-CF0888919C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6053" y="5819251"/>
                  <a:ext cx="1281815" cy="544040"/>
                </a:xfrm>
                <a:prstGeom prst="rect">
                  <a:avLst/>
                </a:prstGeom>
                <a:blipFill>
                  <a:blip r:embed="rId16"/>
                  <a:stretch>
                    <a:fillRect r="-24783" b="-729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2EA1297B-E0B6-FD29-42F2-BB5D2AB89E92}"/>
                </a:ext>
              </a:extLst>
            </p:cNvPr>
            <p:cNvCxnSpPr/>
            <p:nvPr/>
          </p:nvCxnSpPr>
          <p:spPr bwMode="auto">
            <a:xfrm flipV="1">
              <a:off x="8219653" y="4325373"/>
              <a:ext cx="457200" cy="208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490696ED-F8C8-2749-2824-C1B42D6746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956239" y="3821059"/>
              <a:ext cx="1143001" cy="898684"/>
            </a:xfrm>
            <a:prstGeom prst="rect">
              <a:avLst/>
            </a:prstGeom>
          </p:spPr>
        </p:pic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078073E4-7B4A-F8DF-321C-6BAD6A17AA43}"/>
                </a:ext>
              </a:extLst>
            </p:cNvPr>
            <p:cNvSpPr/>
            <p:nvPr/>
          </p:nvSpPr>
          <p:spPr>
            <a:xfrm>
              <a:off x="6816657" y="2204864"/>
              <a:ext cx="1631596" cy="5440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R="0" lvl="0" algn="ctr" defTabSz="914400" rtl="0" eaLnBrk="1" fontAlgn="base" latinLnBrk="1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600" b="1">
                  <a:solidFill>
                    <a:prstClr val="black"/>
                  </a:solidFill>
                  <a:latin typeface="NanumGothicExtraBold" pitchFamily="2" charset="-127"/>
                  <a:ea typeface="NanumGothicExtraBold" pitchFamily="2" charset="-127"/>
                </a:rPr>
                <a:t>Activation </a:t>
              </a:r>
            </a:p>
            <a:p>
              <a:pPr marR="0" lvl="0" algn="ctr" defTabSz="914400" rtl="0" eaLnBrk="1" fontAlgn="base" latinLnBrk="1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600" b="1">
                  <a:solidFill>
                    <a:prstClr val="black"/>
                  </a:solidFill>
                  <a:latin typeface="NanumGothicExtraBold" pitchFamily="2" charset="-127"/>
                  <a:ea typeface="NanumGothicExtraBold" pitchFamily="2" charset="-127"/>
                </a:rPr>
                <a:t>function</a:t>
              </a:r>
              <a:endParaRPr lang="en-US" altLang="ko-KR" sz="1600" b="1" dirty="0">
                <a:solidFill>
                  <a:prstClr val="black"/>
                </a:solidFill>
                <a:latin typeface="NanumGothicExtraBold" pitchFamily="2" charset="-127"/>
                <a:ea typeface="NanumGothicExtraBold" pitchFamily="2" charset="-127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34FE26FD-6DCD-33DF-8448-274AFE6ADA09}"/>
                </a:ext>
              </a:extLst>
            </p:cNvPr>
            <p:cNvSpPr/>
            <p:nvPr/>
          </p:nvSpPr>
          <p:spPr>
            <a:xfrm>
              <a:off x="1350255" y="2695573"/>
              <a:ext cx="9430539" cy="3627474"/>
            </a:xfrm>
            <a:prstGeom prst="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latin typeface="NanumGothicExtraBold" pitchFamily="2" charset="-127"/>
                <a:ea typeface="NanumGothicExtraBold" pitchFamily="2" charset="-127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B669BD5D-EA24-1B59-C72E-8E7D0000D900}"/>
                    </a:ext>
                  </a:extLst>
                </p:cNvPr>
                <p:cNvSpPr txBox="1"/>
                <p:nvPr/>
              </p:nvSpPr>
              <p:spPr>
                <a:xfrm>
                  <a:off x="8789768" y="2299660"/>
                  <a:ext cx="1570357" cy="22906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ko-KR" sz="1600" b="1">
                      <a:solidFill>
                        <a:prstClr val="black"/>
                      </a:solidFill>
                      <a:latin typeface="NanumGothicExtraBold" pitchFamily="2" charset="-127"/>
                      <a:ea typeface="NanumGothicExtraBold" pitchFamily="2" charset="-127"/>
                    </a:rPr>
                    <a:t>Output: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1" i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  <m:r>
                            <a:rPr lang="en-US" altLang="ko-KR" sz="1600" b="1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6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US" altLang="ko-KR" sz="1600" b="1" i="0" smtClean="0">
                              <a:latin typeface="Cambria Math" panose="02040503050406030204" pitchFamily="18" charset="0"/>
                            </a:rPr>
                            <m:t>𝐰</m:t>
                          </m:r>
                        </m:sub>
                      </m:sSub>
                      <m:d>
                        <m:d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</m:oMath>
                  </a14:m>
                  <a:endParaRPr lang="ko-KR" altLang="en-US" sz="1600" b="1"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B669BD5D-EA24-1B59-C72E-8E7D0000D9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9768" y="2299660"/>
                  <a:ext cx="1570357" cy="229069"/>
                </a:xfrm>
                <a:prstGeom prst="rect">
                  <a:avLst/>
                </a:prstGeom>
                <a:blipFill>
                  <a:blip r:embed="rId18"/>
                  <a:stretch>
                    <a:fillRect l="-7473" t="-25000" b="-52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322F38A2-BD85-521C-A046-DBF25BBD1296}"/>
                    </a:ext>
                  </a:extLst>
                </p:cNvPr>
                <p:cNvSpPr/>
                <p:nvPr/>
              </p:nvSpPr>
              <p:spPr>
                <a:xfrm>
                  <a:off x="8653437" y="4143507"/>
                  <a:ext cx="2127357" cy="34819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activation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w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) </m:t>
                        </m:r>
                      </m:oMath>
                    </m:oMathPara>
                  </a14:m>
                  <a:endParaRPr lang="ko-KR" altLang="en-US" dirty="0"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322F38A2-BD85-521C-A046-DBF25BBD12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53437" y="4143507"/>
                  <a:ext cx="2127357" cy="348198"/>
                </a:xfrm>
                <a:prstGeom prst="rect">
                  <a:avLst/>
                </a:prstGeom>
                <a:blipFill>
                  <a:blip r:embed="rId19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0F4AB18C-266A-4FE9-9B99-F92C03FDDAB3}"/>
                    </a:ext>
                  </a:extLst>
                </p:cNvPr>
                <p:cNvSpPr/>
                <p:nvPr/>
              </p:nvSpPr>
              <p:spPr>
                <a:xfrm>
                  <a:off x="4595473" y="2299660"/>
                  <a:ext cx="2307357" cy="31908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600" b="1">
                      <a:solidFill>
                        <a:prstClr val="black"/>
                      </a:solidFill>
                      <a:latin typeface="NanumGothicExtraBold" pitchFamily="2" charset="-127"/>
                      <a:ea typeface="NanumGothicExtraBold" pitchFamily="2" charset="-127"/>
                    </a:rPr>
                    <a:t>Weighted sum</a:t>
                  </a:r>
                  <a:r>
                    <a:rPr lang="en-US" altLang="ko-KR" sz="1600" b="1">
                      <a:latin typeface="NanumGothicExtraBold" pitchFamily="2" charset="-127"/>
                      <a:ea typeface="NanumGothicExtraBold" pitchFamily="2" charset="-127"/>
                    </a:rPr>
                    <a:t>: </a:t>
                  </a:r>
                  <a14:m>
                    <m:oMath xmlns:m="http://schemas.openxmlformats.org/officeDocument/2006/math"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ko-KR" sz="1600" b="1" i="1"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ko-KR" sz="1600" b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ko-KR" altLang="en-US" sz="1600" b="1"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0F4AB18C-266A-4FE9-9B99-F92C03FDDA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5473" y="2299660"/>
                  <a:ext cx="2307357" cy="319087"/>
                </a:xfrm>
                <a:prstGeom prst="rect">
                  <a:avLst/>
                </a:prstGeom>
                <a:blipFill>
                  <a:blip r:embed="rId20"/>
                  <a:stretch>
                    <a:fillRect l="-1449" t="-3571" b="-2321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A4CFD56-4840-D304-AFC4-6A63FA5A86CD}"/>
                </a:ext>
              </a:extLst>
            </p:cNvPr>
            <p:cNvSpPr/>
            <p:nvPr/>
          </p:nvSpPr>
          <p:spPr>
            <a:xfrm>
              <a:off x="3095195" y="2299660"/>
              <a:ext cx="885349" cy="31497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b="1">
                  <a:solidFill>
                    <a:prstClr val="black"/>
                  </a:solidFill>
                  <a:latin typeface="NanumGothicExtraBold" pitchFamily="2" charset="-127"/>
                  <a:ea typeface="NanumGothicExtraBold" pitchFamily="2" charset="-127"/>
                </a:rPr>
                <a:t>Weights</a:t>
              </a:r>
              <a:endParaRPr lang="ko-KR" altLang="en-US" sz="1600" b="1">
                <a:latin typeface="NanumGothicExtraBold" pitchFamily="2" charset="-127"/>
                <a:ea typeface="NanumGothicExtraBold" pitchFamily="2" charset="-127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46B89BC8-2606-8C67-C7C7-D25251028FC1}"/>
                </a:ext>
              </a:extLst>
            </p:cNvPr>
            <p:cNvSpPr/>
            <p:nvPr/>
          </p:nvSpPr>
          <p:spPr>
            <a:xfrm>
              <a:off x="1657531" y="2299660"/>
              <a:ext cx="624521" cy="31497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b="1">
                  <a:solidFill>
                    <a:prstClr val="black"/>
                  </a:solidFill>
                  <a:latin typeface="NanumGothicExtraBold" pitchFamily="2" charset="-127"/>
                  <a:ea typeface="NanumGothicExtraBold" pitchFamily="2" charset="-127"/>
                </a:rPr>
                <a:t>Input</a:t>
              </a:r>
              <a:endParaRPr lang="ko-KR" altLang="en-US" sz="1600" b="1">
                <a:latin typeface="NanumGothicExtraBold" pitchFamily="2" charset="-127"/>
                <a:ea typeface="NanumGothicExtraBold" pitchFamily="2" charset="-127"/>
              </a:endParaRPr>
            </a:p>
          </p:txBody>
        </p:sp>
      </p:grpSp>
      <p:sp>
        <p:nvSpPr>
          <p:cNvPr id="44" name="내용 개체 틀 2">
            <a:extLst>
              <a:ext uri="{FF2B5EF4-FFF2-40B4-BE49-F238E27FC236}">
                <a16:creationId xmlns:a16="http://schemas.microsoft.com/office/drawing/2014/main" id="{559855AA-45D0-1CBE-CF10-7BE857C50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5"/>
            <a:ext cx="11034365" cy="7467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단일 뉴런의 수학식은 다중회귀분석의 함수식과 동일하다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4960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78076-D70D-47AD-1AED-75E19C2BD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89B271-5192-2F15-5D59-382800A9A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22ABE30C-8E3D-1211-EEE6-CFC56729DE3B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Neural Network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266" name="Picture 2" descr="Artificial Neural Network Architecture">
            <a:extLst>
              <a:ext uri="{FF2B5EF4-FFF2-40B4-BE49-F238E27FC236}">
                <a16:creationId xmlns:a16="http://schemas.microsoft.com/office/drawing/2014/main" id="{0559266C-556E-C20E-726A-EF66A63868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474" y="1010883"/>
            <a:ext cx="7087994" cy="5390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69EBA6B-BE2D-894D-8A52-21457E8B9BC5}"/>
              </a:ext>
            </a:extLst>
          </p:cNvPr>
          <p:cNvSpPr txBox="1">
            <a:spLocks/>
          </p:cNvSpPr>
          <p:nvPr/>
        </p:nvSpPr>
        <p:spPr>
          <a:xfrm>
            <a:off x="8425528" y="2791472"/>
            <a:ext cx="3375947" cy="233297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Regression,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Classification, dimension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reduction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모델의 </a:t>
            </a:r>
            <a:r>
              <a:rPr lang="en-US" altLang="ko-KR" sz="21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Output layer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어떻게 생겼는가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고민해보고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다음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슬라이드를 실습하여 체험하라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22697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99493-D270-9E19-158F-438CCBA1C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32790B-445E-7EC1-FA97-DBE87F9A5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61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E630B377-4167-3B15-6B1D-EF3F23415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97606737-1778-1890-4DC9-1B0DB71118E4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483C2E72-F9E7-891D-5A0E-1AD44544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095" y="1777999"/>
            <a:ext cx="10353762" cy="32004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deep learning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Iris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California </a:t>
            </a: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houseprice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2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가지 경우의 입력과 출력데이터로 인공지능망을 사용하여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target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예측하라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각각의 경우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output layer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노드의 개수를 확인하라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Deep Learning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메뉴의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Overview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메뉴 탭에서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Intro ✓, Data for Training ✓, Activation ✓, Optimizers, Loss Functions ✓, Visual Demo ✓, Manage Model ✓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학습하라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677015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33545-2B0E-A249-D80C-9F7679C59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>
            <a:extLst>
              <a:ext uri="{FF2B5EF4-FFF2-40B4-BE49-F238E27FC236}">
                <a16:creationId xmlns:a16="http://schemas.microsoft.com/office/drawing/2014/main" id="{ABCEC355-4532-C994-A3FD-57D5B514B728}"/>
              </a:ext>
            </a:extLst>
          </p:cNvPr>
          <p:cNvSpPr/>
          <p:nvPr/>
        </p:nvSpPr>
        <p:spPr>
          <a:xfrm>
            <a:off x="7330819" y="1928563"/>
            <a:ext cx="800188" cy="2811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4082105-B0E0-25B4-F0AA-982C2E099761}"/>
              </a:ext>
            </a:extLst>
          </p:cNvPr>
          <p:cNvSpPr/>
          <p:nvPr/>
        </p:nvSpPr>
        <p:spPr>
          <a:xfrm>
            <a:off x="4116887" y="1928563"/>
            <a:ext cx="800188" cy="2811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CE8608-C2CE-46D1-90F0-F1280F959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F0870C28-593A-45A8-E777-9FCA0A33F057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Formulation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312DEB9-2540-E23E-AC49-D83D2A795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5"/>
            <a:ext cx="10706705" cy="7664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네트워크 구조를 행렬식으로 표현하라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68F6BA9-1AD0-FF0D-E49C-0A6F0029F512}"/>
              </a:ext>
            </a:extLst>
          </p:cNvPr>
          <p:cNvGrpSpPr/>
          <p:nvPr/>
        </p:nvGrpSpPr>
        <p:grpSpPr>
          <a:xfrm>
            <a:off x="1104900" y="2777542"/>
            <a:ext cx="359611" cy="1195090"/>
            <a:chOff x="1847850" y="2436106"/>
            <a:chExt cx="359611" cy="1195090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36CA5553-4E01-04D5-0F73-87D04CAACDEF}"/>
                </a:ext>
              </a:extLst>
            </p:cNvPr>
            <p:cNvSpPr/>
            <p:nvPr/>
          </p:nvSpPr>
          <p:spPr>
            <a:xfrm>
              <a:off x="1847850" y="2436106"/>
              <a:ext cx="359611" cy="3596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ECEF51E4-E843-BB8D-3B50-CD68A38D33DF}"/>
                </a:ext>
              </a:extLst>
            </p:cNvPr>
            <p:cNvSpPr/>
            <p:nvPr/>
          </p:nvSpPr>
          <p:spPr>
            <a:xfrm>
              <a:off x="1847850" y="3271585"/>
              <a:ext cx="359611" cy="3596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08EDB37-7360-D473-E49F-83BC099F27E2}"/>
              </a:ext>
            </a:extLst>
          </p:cNvPr>
          <p:cNvGrpSpPr/>
          <p:nvPr/>
        </p:nvGrpSpPr>
        <p:grpSpPr>
          <a:xfrm>
            <a:off x="4325074" y="2247628"/>
            <a:ext cx="359611" cy="2254919"/>
            <a:chOff x="4562921" y="2019028"/>
            <a:chExt cx="359611" cy="2254919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EB783135-C882-4DAA-AE08-7C417401323F}"/>
                </a:ext>
              </a:extLst>
            </p:cNvPr>
            <p:cNvSpPr/>
            <p:nvPr/>
          </p:nvSpPr>
          <p:spPr>
            <a:xfrm>
              <a:off x="4562921" y="2019028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CE4468BB-2600-85EC-06B0-8C1611999753}"/>
                </a:ext>
              </a:extLst>
            </p:cNvPr>
            <p:cNvSpPr/>
            <p:nvPr/>
          </p:nvSpPr>
          <p:spPr>
            <a:xfrm>
              <a:off x="4562921" y="2966682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2A113F6A-F51D-9F1F-2E7B-ED7F22CA9DA9}"/>
                </a:ext>
              </a:extLst>
            </p:cNvPr>
            <p:cNvSpPr/>
            <p:nvPr/>
          </p:nvSpPr>
          <p:spPr>
            <a:xfrm>
              <a:off x="4562921" y="3914336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CAAE21E-89F3-723F-ED8C-4B384E0173B1}"/>
              </a:ext>
            </a:extLst>
          </p:cNvPr>
          <p:cNvGrpSpPr/>
          <p:nvPr/>
        </p:nvGrpSpPr>
        <p:grpSpPr>
          <a:xfrm>
            <a:off x="7545248" y="2247628"/>
            <a:ext cx="367633" cy="2254919"/>
            <a:chOff x="7478016" y="2019028"/>
            <a:chExt cx="367633" cy="2254919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A9C24CB1-536C-3F52-651C-A017E898A879}"/>
                </a:ext>
              </a:extLst>
            </p:cNvPr>
            <p:cNvSpPr/>
            <p:nvPr/>
          </p:nvSpPr>
          <p:spPr>
            <a:xfrm>
              <a:off x="7478016" y="2650797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37C0FCED-4886-7D86-A314-DEF940409413}"/>
                </a:ext>
              </a:extLst>
            </p:cNvPr>
            <p:cNvSpPr/>
            <p:nvPr/>
          </p:nvSpPr>
          <p:spPr>
            <a:xfrm>
              <a:off x="7486038" y="3282566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D3F6B6C6-4080-9D15-2811-714BB8B2560F}"/>
                </a:ext>
              </a:extLst>
            </p:cNvPr>
            <p:cNvSpPr/>
            <p:nvPr/>
          </p:nvSpPr>
          <p:spPr>
            <a:xfrm>
              <a:off x="7486038" y="3914336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9057C09-D53B-721C-3FFC-325CC3C294B3}"/>
                </a:ext>
              </a:extLst>
            </p:cNvPr>
            <p:cNvSpPr/>
            <p:nvPr/>
          </p:nvSpPr>
          <p:spPr>
            <a:xfrm>
              <a:off x="7478017" y="2019028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3D9C08F2-1574-209F-65D6-723769045731}"/>
              </a:ext>
            </a:extLst>
          </p:cNvPr>
          <p:cNvGrpSpPr/>
          <p:nvPr/>
        </p:nvGrpSpPr>
        <p:grpSpPr>
          <a:xfrm>
            <a:off x="10773443" y="2777542"/>
            <a:ext cx="367632" cy="1195090"/>
            <a:chOff x="10033668" y="2436106"/>
            <a:chExt cx="367632" cy="1195090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CD7420D1-4A5A-4997-8F38-B6D1B95E3FAE}"/>
                </a:ext>
              </a:extLst>
            </p:cNvPr>
            <p:cNvSpPr/>
            <p:nvPr/>
          </p:nvSpPr>
          <p:spPr>
            <a:xfrm>
              <a:off x="10041689" y="3271585"/>
              <a:ext cx="359611" cy="3596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C4D5F89C-18F2-0C39-E6CC-6E7984ED407A}"/>
                </a:ext>
              </a:extLst>
            </p:cNvPr>
            <p:cNvSpPr/>
            <p:nvPr/>
          </p:nvSpPr>
          <p:spPr>
            <a:xfrm>
              <a:off x="10033668" y="2436106"/>
              <a:ext cx="359611" cy="3596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FD888255-4994-1FCA-F8EA-3F0CDC1C8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123204"/>
              </p:ext>
            </p:extLst>
          </p:nvPr>
        </p:nvGraphicFramePr>
        <p:xfrm>
          <a:off x="889000" y="5153236"/>
          <a:ext cx="82498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491">
                  <a:extLst>
                    <a:ext uri="{9D8B030D-6E8A-4147-A177-3AD203B41FA5}">
                      <a16:colId xmlns:a16="http://schemas.microsoft.com/office/drawing/2014/main" val="3159189123"/>
                    </a:ext>
                  </a:extLst>
                </a:gridCol>
                <a:gridCol w="412491">
                  <a:extLst>
                    <a:ext uri="{9D8B030D-6E8A-4147-A177-3AD203B41FA5}">
                      <a16:colId xmlns:a16="http://schemas.microsoft.com/office/drawing/2014/main" val="3158959229"/>
                    </a:ext>
                  </a:extLst>
                </a:gridCol>
              </a:tblGrid>
              <a:tr h="17531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95207"/>
                  </a:ext>
                </a:extLst>
              </a:tr>
            </a:tbl>
          </a:graphicData>
        </a:graphic>
      </p:graphicFrame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2B68121E-F8B7-620D-EABC-307022609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48760"/>
              </p:ext>
            </p:extLst>
          </p:nvPr>
        </p:nvGraphicFramePr>
        <p:xfrm>
          <a:off x="3895419" y="5153236"/>
          <a:ext cx="1255704" cy="365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8568">
                  <a:extLst>
                    <a:ext uri="{9D8B030D-6E8A-4147-A177-3AD203B41FA5}">
                      <a16:colId xmlns:a16="http://schemas.microsoft.com/office/drawing/2014/main" val="2939671243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2414763620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1605265231"/>
                    </a:ext>
                  </a:extLst>
                </a:gridCol>
              </a:tblGrid>
              <a:tr h="17531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536081"/>
                  </a:ext>
                </a:extLst>
              </a:tr>
            </a:tbl>
          </a:graphicData>
        </a:graphic>
      </p:graphicFrame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D8DC5B0A-15AE-B264-F684-117D8D903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665914"/>
              </p:ext>
            </p:extLst>
          </p:nvPr>
        </p:nvGraphicFramePr>
        <p:xfrm>
          <a:off x="10537825" y="5153236"/>
          <a:ext cx="82498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491">
                  <a:extLst>
                    <a:ext uri="{9D8B030D-6E8A-4147-A177-3AD203B41FA5}">
                      <a16:colId xmlns:a16="http://schemas.microsoft.com/office/drawing/2014/main" val="3349704126"/>
                    </a:ext>
                  </a:extLst>
                </a:gridCol>
                <a:gridCol w="412491">
                  <a:extLst>
                    <a:ext uri="{9D8B030D-6E8A-4147-A177-3AD203B41FA5}">
                      <a16:colId xmlns:a16="http://schemas.microsoft.com/office/drawing/2014/main" val="2808135352"/>
                    </a:ext>
                  </a:extLst>
                </a:gridCol>
              </a:tblGrid>
              <a:tr h="17531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827078"/>
                  </a:ext>
                </a:extLst>
              </a:tr>
            </a:tbl>
          </a:graphicData>
        </a:graphic>
      </p:graphicFrame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F38EAA0B-A059-9FCB-EA7B-9493451163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339763"/>
              </p:ext>
            </p:extLst>
          </p:nvPr>
        </p:nvGraphicFramePr>
        <p:xfrm>
          <a:off x="6905522" y="5153236"/>
          <a:ext cx="176847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119">
                  <a:extLst>
                    <a:ext uri="{9D8B030D-6E8A-4147-A177-3AD203B41FA5}">
                      <a16:colId xmlns:a16="http://schemas.microsoft.com/office/drawing/2014/main" val="3408541164"/>
                    </a:ext>
                  </a:extLst>
                </a:gridCol>
                <a:gridCol w="442119">
                  <a:extLst>
                    <a:ext uri="{9D8B030D-6E8A-4147-A177-3AD203B41FA5}">
                      <a16:colId xmlns:a16="http://schemas.microsoft.com/office/drawing/2014/main" val="771415720"/>
                    </a:ext>
                  </a:extLst>
                </a:gridCol>
                <a:gridCol w="442119">
                  <a:extLst>
                    <a:ext uri="{9D8B030D-6E8A-4147-A177-3AD203B41FA5}">
                      <a16:colId xmlns:a16="http://schemas.microsoft.com/office/drawing/2014/main" val="4212758754"/>
                    </a:ext>
                  </a:extLst>
                </a:gridCol>
                <a:gridCol w="442119">
                  <a:extLst>
                    <a:ext uri="{9D8B030D-6E8A-4147-A177-3AD203B41FA5}">
                      <a16:colId xmlns:a16="http://schemas.microsoft.com/office/drawing/2014/main" val="2389089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820539"/>
                  </a:ext>
                </a:extLst>
              </a:tr>
            </a:tbl>
          </a:graphicData>
        </a:graphic>
      </p:graphicFrame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43851069-C2D2-B638-1BE7-61FE12E731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046355"/>
              </p:ext>
            </p:extLst>
          </p:nvPr>
        </p:nvGraphicFramePr>
        <p:xfrm>
          <a:off x="2258920" y="3039032"/>
          <a:ext cx="125570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568">
                  <a:extLst>
                    <a:ext uri="{9D8B030D-6E8A-4147-A177-3AD203B41FA5}">
                      <a16:colId xmlns:a16="http://schemas.microsoft.com/office/drawing/2014/main" val="2693896945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1825580151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7419674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663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978202"/>
                  </a:ext>
                </a:extLst>
              </a:tr>
            </a:tbl>
          </a:graphicData>
        </a:graphic>
      </p:graphicFrame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231033F0-706B-415C-BB2D-F30BAA42D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013680"/>
              </p:ext>
            </p:extLst>
          </p:nvPr>
        </p:nvGraphicFramePr>
        <p:xfrm>
          <a:off x="5258243" y="2867063"/>
          <a:ext cx="177015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539">
                  <a:extLst>
                    <a:ext uri="{9D8B030D-6E8A-4147-A177-3AD203B41FA5}">
                      <a16:colId xmlns:a16="http://schemas.microsoft.com/office/drawing/2014/main" val="3464882294"/>
                    </a:ext>
                  </a:extLst>
                </a:gridCol>
                <a:gridCol w="442539">
                  <a:extLst>
                    <a:ext uri="{9D8B030D-6E8A-4147-A177-3AD203B41FA5}">
                      <a16:colId xmlns:a16="http://schemas.microsoft.com/office/drawing/2014/main" val="3109326110"/>
                    </a:ext>
                  </a:extLst>
                </a:gridCol>
                <a:gridCol w="442539">
                  <a:extLst>
                    <a:ext uri="{9D8B030D-6E8A-4147-A177-3AD203B41FA5}">
                      <a16:colId xmlns:a16="http://schemas.microsoft.com/office/drawing/2014/main" val="3213285567"/>
                    </a:ext>
                  </a:extLst>
                </a:gridCol>
                <a:gridCol w="442539">
                  <a:extLst>
                    <a:ext uri="{9D8B030D-6E8A-4147-A177-3AD203B41FA5}">
                      <a16:colId xmlns:a16="http://schemas.microsoft.com/office/drawing/2014/main" val="19113552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291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105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729911"/>
                  </a:ext>
                </a:extLst>
              </a:tr>
            </a:tbl>
          </a:graphicData>
        </a:graphic>
      </p:graphicFrame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4C14BC51-A89C-0C08-BCBF-38E35CDB7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488906"/>
              </p:ext>
            </p:extLst>
          </p:nvPr>
        </p:nvGraphicFramePr>
        <p:xfrm>
          <a:off x="9019668" y="2607239"/>
          <a:ext cx="88868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344">
                  <a:extLst>
                    <a:ext uri="{9D8B030D-6E8A-4147-A177-3AD203B41FA5}">
                      <a16:colId xmlns:a16="http://schemas.microsoft.com/office/drawing/2014/main" val="456541388"/>
                    </a:ext>
                  </a:extLst>
                </a:gridCol>
                <a:gridCol w="444344">
                  <a:extLst>
                    <a:ext uri="{9D8B030D-6E8A-4147-A177-3AD203B41FA5}">
                      <a16:colId xmlns:a16="http://schemas.microsoft.com/office/drawing/2014/main" val="17753490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501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373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918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708776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CB9E2FD1-E9A9-09A9-6394-CF8EFB867B8D}"/>
              </a:ext>
            </a:extLst>
          </p:cNvPr>
          <p:cNvSpPr txBox="1"/>
          <p:nvPr/>
        </p:nvSpPr>
        <p:spPr>
          <a:xfrm>
            <a:off x="809522" y="5624463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CD39B9D-5C5C-9A76-9FA3-B7D5F2A9FCF4}"/>
              </a:ext>
            </a:extLst>
          </p:cNvPr>
          <p:cNvSpPr txBox="1"/>
          <p:nvPr/>
        </p:nvSpPr>
        <p:spPr>
          <a:xfrm>
            <a:off x="2427495" y="3868188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(2, 3)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013415D-8214-9522-94DE-1F6323A05771}"/>
              </a:ext>
            </a:extLst>
          </p:cNvPr>
          <p:cNvSpPr txBox="1"/>
          <p:nvPr/>
        </p:nvSpPr>
        <p:spPr>
          <a:xfrm>
            <a:off x="4052649" y="5624463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(1, 3)</a:t>
            </a:r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26D194A-8ED8-A222-57D7-0A72C366118F}"/>
              </a:ext>
            </a:extLst>
          </p:cNvPr>
          <p:cNvSpPr txBox="1"/>
          <p:nvPr/>
        </p:nvSpPr>
        <p:spPr>
          <a:xfrm>
            <a:off x="5691091" y="4116751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(3, 4)</a:t>
            </a:r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A6946AC-A922-C213-AF08-FE45C68B701C}"/>
              </a:ext>
            </a:extLst>
          </p:cNvPr>
          <p:cNvSpPr txBox="1"/>
          <p:nvPr/>
        </p:nvSpPr>
        <p:spPr>
          <a:xfrm>
            <a:off x="7337530" y="5624463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(1, 4)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F75D844-D316-B0C0-42BB-5BF05177F0D7}"/>
              </a:ext>
            </a:extLst>
          </p:cNvPr>
          <p:cNvSpPr txBox="1"/>
          <p:nvPr/>
        </p:nvSpPr>
        <p:spPr>
          <a:xfrm>
            <a:off x="9019668" y="4237520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(4,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85A9622-072E-EF32-6CFA-DA442C3FEFEA}"/>
              </a:ext>
            </a:extLst>
          </p:cNvPr>
          <p:cNvSpPr txBox="1"/>
          <p:nvPr/>
        </p:nvSpPr>
        <p:spPr>
          <a:xfrm>
            <a:off x="10559338" y="5624463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(1, 4)</a:t>
            </a:r>
            <a:endParaRPr lang="ko-KR" altLang="en-US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110BF7A-D40A-9C35-D312-56455BF7A289}"/>
              </a:ext>
            </a:extLst>
          </p:cNvPr>
          <p:cNvSpPr/>
          <p:nvPr/>
        </p:nvSpPr>
        <p:spPr>
          <a:xfrm>
            <a:off x="913794" y="1762125"/>
            <a:ext cx="10454754" cy="3259121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694B855F-902F-2FDD-C505-F5F030704E5E}"/>
              </a:ext>
            </a:extLst>
          </p:cNvPr>
          <p:cNvCxnSpPr/>
          <p:nvPr/>
        </p:nvCxnSpPr>
        <p:spPr>
          <a:xfrm>
            <a:off x="1713982" y="3324225"/>
            <a:ext cx="314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28B3C84C-B20A-83DC-F853-78C3947A6CA1}"/>
              </a:ext>
            </a:extLst>
          </p:cNvPr>
          <p:cNvCxnSpPr/>
          <p:nvPr/>
        </p:nvCxnSpPr>
        <p:spPr>
          <a:xfrm>
            <a:off x="3694876" y="3324225"/>
            <a:ext cx="314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EDDD5ADB-7D3B-8096-3E2E-A658A91911DE}"/>
              </a:ext>
            </a:extLst>
          </p:cNvPr>
          <p:cNvCxnSpPr/>
          <p:nvPr/>
        </p:nvCxnSpPr>
        <p:spPr>
          <a:xfrm>
            <a:off x="8511249" y="3409950"/>
            <a:ext cx="314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9FDC7CE7-DBED-ADBA-B928-DA0594621939}"/>
              </a:ext>
            </a:extLst>
          </p:cNvPr>
          <p:cNvCxnSpPr/>
          <p:nvPr/>
        </p:nvCxnSpPr>
        <p:spPr>
          <a:xfrm>
            <a:off x="10199168" y="3390900"/>
            <a:ext cx="314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7" name="그림 9216">
            <a:extLst>
              <a:ext uri="{FF2B5EF4-FFF2-40B4-BE49-F238E27FC236}">
                <a16:creationId xmlns:a16="http://schemas.microsoft.com/office/drawing/2014/main" id="{A06CB6E9-29F6-DB9B-673B-41CB5F5F7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981" y="2454826"/>
            <a:ext cx="341640" cy="297078"/>
          </a:xfrm>
          <a:prstGeom prst="rect">
            <a:avLst/>
          </a:prstGeom>
        </p:spPr>
      </p:pic>
      <p:pic>
        <p:nvPicPr>
          <p:cNvPr id="9223" name="그림 9222">
            <a:extLst>
              <a:ext uri="{FF2B5EF4-FFF2-40B4-BE49-F238E27FC236}">
                <a16:creationId xmlns:a16="http://schemas.microsoft.com/office/drawing/2014/main" id="{E005E7C0-EB6C-7392-B2B4-4CF943517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300" y="2436482"/>
            <a:ext cx="350550" cy="289585"/>
          </a:xfrm>
          <a:prstGeom prst="rect">
            <a:avLst/>
          </a:prstGeom>
        </p:spPr>
      </p:pic>
      <p:pic>
        <p:nvPicPr>
          <p:cNvPr id="9225" name="그림 9224">
            <a:extLst>
              <a:ext uri="{FF2B5EF4-FFF2-40B4-BE49-F238E27FC236}">
                <a16:creationId xmlns:a16="http://schemas.microsoft.com/office/drawing/2014/main" id="{F25A77D9-6CA8-EBB1-32C2-CE60ED807B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341" y="2230741"/>
            <a:ext cx="320068" cy="320068"/>
          </a:xfrm>
          <a:prstGeom prst="rect">
            <a:avLst/>
          </a:prstGeom>
        </p:spPr>
      </p:pic>
      <p:pic>
        <p:nvPicPr>
          <p:cNvPr id="9231" name="그림 9230">
            <a:extLst>
              <a:ext uri="{FF2B5EF4-FFF2-40B4-BE49-F238E27FC236}">
                <a16:creationId xmlns:a16="http://schemas.microsoft.com/office/drawing/2014/main" id="{94B2481D-E98C-DA55-0841-B1DD319519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3154" y="2299322"/>
            <a:ext cx="1524132" cy="58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7445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98F57-6188-E26B-9396-E0B2A453F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059C10-D295-2336-F094-4C2FF4396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6AC570A0-8E26-3D3A-06E6-2EB1689EF8DA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Formulation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589D1AB-A7EA-A13D-A66C-047538B0B3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3795" y="1134301"/>
            <a:ext cx="6576630" cy="119644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792EDE67-B548-74E9-CEEB-1E466EB7A9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3795" y="2979371"/>
            <a:ext cx="7430144" cy="112785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1C075147-3363-0723-E9A2-DBEB1EC07F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3795" y="2697407"/>
            <a:ext cx="1524132" cy="281964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F6B102B5-B19B-355D-6B62-8B58AE6BDB4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4444" y="4583378"/>
            <a:ext cx="5342083" cy="143268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81A2A448-85FB-B47B-1612-8A4222CE38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3795" y="4366194"/>
            <a:ext cx="1539373" cy="320068"/>
          </a:xfrm>
          <a:prstGeom prst="rect">
            <a:avLst/>
          </a:prstGeom>
        </p:spPr>
      </p:pic>
      <p:pic>
        <p:nvPicPr>
          <p:cNvPr id="9242" name="그림 9241">
            <a:extLst>
              <a:ext uri="{FF2B5EF4-FFF2-40B4-BE49-F238E27FC236}">
                <a16:creationId xmlns:a16="http://schemas.microsoft.com/office/drawing/2014/main" id="{389C9D37-088D-D449-A58A-7D41E06759E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90426" y="1134301"/>
            <a:ext cx="4596800" cy="120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35690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62381-3972-869E-B311-851346C88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42E03F-B582-8FE9-524B-E033E8675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64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0F2F0F76-653C-E126-EB6E-A7E4FC7B99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07623FCE-2234-98BA-A6C8-AB07B6BDF561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73E8ACEE-D388-F7CA-6A08-DE923D42A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095" y="1777999"/>
            <a:ext cx="10353762" cy="32004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Iris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데이터를 사용하여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Hidden layer 2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개가 각각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개와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개로 구성된 인공지능망으로 품종을 예측하는 코드를 만들고 손실함수를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정의하고 예측의 성능지표를 토론하자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성능지표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정확도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recall, precision, f1-score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등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536409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05AA8-01DA-99FE-B9F8-FDA9346D7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E3FD553-8569-F4F3-4413-AEE3F9C7BC6F}"/>
              </a:ext>
            </a:extLst>
          </p:cNvPr>
          <p:cNvSpPr/>
          <p:nvPr/>
        </p:nvSpPr>
        <p:spPr>
          <a:xfrm>
            <a:off x="6374534" y="3971640"/>
            <a:ext cx="5198341" cy="3958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063917-6747-19F3-9398-F49ECE7F4D17}"/>
              </a:ext>
            </a:extLst>
          </p:cNvPr>
          <p:cNvSpPr txBox="1"/>
          <p:nvPr/>
        </p:nvSpPr>
        <p:spPr>
          <a:xfrm>
            <a:off x="1336229" y="1428465"/>
            <a:ext cx="4619625" cy="5013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Distance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Norm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K-nearest neighbor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Cosine Similarity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Regression &amp; Perceptron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Linear regression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Stochastic Gradient Descent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Perceptron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Machine Learning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Bias and Variance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Cross validation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ML algorithms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223A42-141C-AD21-851B-B1BFD94B8CE6}"/>
              </a:ext>
            </a:extLst>
          </p:cNvPr>
          <p:cNvSpPr txBox="1"/>
          <p:nvPr/>
        </p:nvSpPr>
        <p:spPr>
          <a:xfrm>
            <a:off x="1336229" y="709865"/>
            <a:ext cx="26046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ko-KR" alt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6DED9A-175C-7507-5A3D-BDE211FDB32E}"/>
              </a:ext>
            </a:extLst>
          </p:cNvPr>
          <p:cNvSpPr txBox="1"/>
          <p:nvPr/>
        </p:nvSpPr>
        <p:spPr>
          <a:xfrm>
            <a:off x="7029450" y="1428465"/>
            <a:ext cx="4619625" cy="4597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Deep Learning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Neural Network Architecture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Shallow/Deep learning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Matrix formulation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Forward/backward propagation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FNN, CNN, RNN, Transformer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Dimension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Reduction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Principal Component Analysis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Eigen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value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&amp;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vectors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SVD &amp; Topic Model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Manifold Learning</a:t>
            </a:r>
          </a:p>
        </p:txBody>
      </p:sp>
    </p:spTree>
    <p:extLst>
      <p:ext uri="{BB962C8B-B14F-4D97-AF65-F5344CB8AC3E}">
        <p14:creationId xmlns:p14="http://schemas.microsoft.com/office/powerpoint/2010/main" val="413448716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0DE82-E761-815D-D827-048FE401C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71A663-E6E2-41F2-752E-AF07B9674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47078DC6-E5BB-C5BD-550D-2D5CFDED8556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7B8B203A-CA07-6F79-6C40-BA9154646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5"/>
            <a:ext cx="10706705" cy="18538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Feature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가 아무리 많아도 대부분의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feature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무의미한 경우가 많음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아라비아 숫자의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75% 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이상을 지워도 수자를 읽을 수 있음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F4D1D46-BBF5-8CEB-9866-F00627769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268" y="3088968"/>
            <a:ext cx="6957663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62273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Curse of Dimensionality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67</a:t>
            </a:fld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97C386F-CDC8-D30A-799E-5F0E86CF9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4950" y="1482700"/>
            <a:ext cx="6696075" cy="4387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958E040-12DD-F325-D995-5C6D397BBB82}"/>
              </a:ext>
            </a:extLst>
          </p:cNvPr>
          <p:cNvSpPr txBox="1"/>
          <p:nvPr/>
        </p:nvSpPr>
        <p:spPr>
          <a:xfrm>
            <a:off x="314325" y="1562100"/>
            <a:ext cx="4905375" cy="3738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고차원 공간으로 갈수록 데이터의 대부분이 중심이 아닌 '테두리(</a:t>
            </a:r>
            <a:r>
              <a:rPr lang="ko-KR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Shell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)' 부근에 위치하게 된다는 고차원의 저주(</a:t>
            </a:r>
            <a:r>
              <a:rPr lang="ko-KR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Curse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of </a:t>
            </a:r>
            <a:r>
              <a:rPr lang="ko-KR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Dimensionality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현상을 시각화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ko-KR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ko-KR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가로·세로가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1인 단위 </a:t>
            </a:r>
            <a:r>
              <a:rPr lang="ko-KR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초입방체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Unit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Hypercube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)에서 두께가 </a:t>
            </a:r>
            <a:r>
              <a:rPr lang="ko-KR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epsilon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=0.01인 프레임에 점이 존재할 확률은 전체 부피에서 내부 핵심(</a:t>
            </a:r>
            <a:r>
              <a:rPr lang="ko-KR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Core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부피를 뺀 비율로 계산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하여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개발</a:t>
            </a:r>
            <a:endParaRPr lang="ko-KR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B0D41E7-E641-0EC5-872B-9A81542BF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171" y="3971907"/>
            <a:ext cx="2537680" cy="41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76760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96518-60AC-88AA-C853-524C140D4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D37A5F-C643-5772-B840-67C212BE3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SVD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D6A251-2D5E-4339-F957-B0265B491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62C3F2-3B8C-9E74-A032-4935C5425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127464"/>
            <a:ext cx="9998046" cy="584795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altLang="ko-KR" sz="2200" dirty="0">
                <a:effectLst/>
              </a:rPr>
              <a:t>Singular Value Decomposition (SVD):</a:t>
            </a:r>
          </a:p>
          <a:p>
            <a:pPr marL="36900" indent="0">
              <a:buNone/>
            </a:pPr>
            <a:endParaRPr lang="en-US" altLang="ko-KR" sz="2200" dirty="0">
              <a:effectLst/>
            </a:endParaRPr>
          </a:p>
          <a:p>
            <a:pPr marL="36900" indent="0" algn="l">
              <a:buNone/>
            </a:pPr>
            <a:endParaRPr lang="fr-FR" altLang="ko-KR" sz="1300" dirty="0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B141C94-818D-D2E1-2B51-24A2E04AC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033" y="1934201"/>
            <a:ext cx="5191182" cy="211408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F611E34-3F9F-7D2A-BA34-8903FECF5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033" y="4330588"/>
            <a:ext cx="5191182" cy="186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48658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0083FF-10D2-2ABC-E511-20F9827664E0}"/>
              </a:ext>
            </a:extLst>
          </p:cNvPr>
          <p:cNvSpPr txBox="1"/>
          <p:nvPr/>
        </p:nvSpPr>
        <p:spPr>
          <a:xfrm>
            <a:off x="6949440" y="1647904"/>
            <a:ext cx="524256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from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scipy.optimize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import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linprog</a:t>
            </a:r>
            <a:endParaRPr lang="en-US" altLang="ko-KR" sz="13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b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Objective function coefficients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c = [-3, -2]  # Minimize -3x1 - 2x2 is equivalent to maximizing 3x1 + 2x2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Inequality constraints matrix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A = [[1, 1], [2, 1], [-1, 0]]  # Note the change in the third constraint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Inequality constraints vector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b = [100, 100, -40]</a:t>
            </a:r>
          </a:p>
          <a:p>
            <a:b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Bounds for variables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x0_bounds = (0, None)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x1_bounds = (0, None)</a:t>
            </a:r>
          </a:p>
          <a:p>
            <a:b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Solve linear programming problem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result =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linprog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(c,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A_ub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=A,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b_ub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=b, bounds=[x0_bounds, x1_bounds], method='highs')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Display the results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Negate the result because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linprog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minimizes by default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print('Optimal value (max z):', -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result.fun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)  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print('Optimal point (x1, x2):',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result.x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211BA0-9E12-0D58-B113-24EA975B3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127464"/>
            <a:ext cx="8660511" cy="584795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altLang="ko-KR" sz="2200" dirty="0">
                <a:effectLst/>
              </a:rPr>
              <a:t>Linear Programing :</a:t>
            </a:r>
          </a:p>
          <a:p>
            <a:pPr marL="36900" indent="0" algn="l">
              <a:buNone/>
            </a:pPr>
            <a:endParaRPr lang="fr-FR" altLang="ko-KR" sz="1300" dirty="0">
              <a:solidFill>
                <a:schemeClr val="tx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25234C1-3DF1-C42D-7E13-AF831521D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201" y="2327162"/>
            <a:ext cx="3887267" cy="336791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C9AFD41-360D-DB5A-47E6-646A22156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674" y="1863603"/>
            <a:ext cx="1719806" cy="122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027589"/>
      </p:ext>
    </p:extLst>
  </p:cSld>
  <p:clrMapOvr>
    <a:masterClrMapping/>
  </p:clrMapOvr>
</p:sld>
</file>

<file path=ppt/theme/theme1.xml><?xml version="1.0" encoding="utf-8"?>
<a:theme xmlns:a="http://schemas.openxmlformats.org/drawingml/2006/main" name="물방울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{1CC570B9-0437-4096-963A-AEC0F46B8FA6}TF62d0d592-7ac2-4846-a919-75806e8bead4bfbc838d-5dafd7656617</Template>
  <TotalTime>4648</TotalTime>
  <Words>4754</Words>
  <Application>Microsoft Office PowerPoint</Application>
  <PresentationFormat>와이드스크린</PresentationFormat>
  <Paragraphs>621</Paragraphs>
  <Slides>69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69</vt:i4>
      </vt:variant>
    </vt:vector>
  </HeadingPairs>
  <TitlesOfParts>
    <vt:vector size="85" baseType="lpstr">
      <vt:lpstr>MS PGothic</vt:lpstr>
      <vt:lpstr>NanumGothicExtraBold</vt:lpstr>
      <vt:lpstr>맑은 고딕</vt:lpstr>
      <vt:lpstr>맑은 고딕 Semilight</vt:lpstr>
      <vt:lpstr>바탕</vt:lpstr>
      <vt:lpstr>한컴 말랑말랑 Bold</vt:lpstr>
      <vt:lpstr>ADLaM Display</vt:lpstr>
      <vt:lpstr>Aptos Narrow</vt:lpstr>
      <vt:lpstr>Arial</vt:lpstr>
      <vt:lpstr>Arial Narrow</vt:lpstr>
      <vt:lpstr>Cambria Math</vt:lpstr>
      <vt:lpstr>Open Sans</vt:lpstr>
      <vt:lpstr>Times New Roman</vt:lpstr>
      <vt:lpstr>Tw Cen MT</vt:lpstr>
      <vt:lpstr>Wingdings</vt:lpstr>
      <vt:lpstr>물방울</vt:lpstr>
      <vt:lpstr>수학의 응용 - 머신러닝 -</vt:lpstr>
      <vt:lpstr>PowerPoint 프레젠테이션</vt:lpstr>
      <vt:lpstr>Norm</vt:lpstr>
      <vt:lpstr>1-Norm</vt:lpstr>
      <vt:lpstr>2-Norm</vt:lpstr>
      <vt:lpstr>Visualization of L1, L2 Norms</vt:lpstr>
      <vt:lpstr>Visualization of L1, L2 Norms with Loss Fuction</vt:lpstr>
      <vt:lpstr>Nearest Neighbors</vt:lpstr>
      <vt:lpstr>Hands-on Nearest neighbors</vt:lpstr>
      <vt:lpstr>Cosine similarity</vt:lpstr>
      <vt:lpstr>Hands-on Clustering</vt:lpstr>
      <vt:lpstr>Hands-on Clustering</vt:lpstr>
      <vt:lpstr>RBF kernel similarity</vt:lpstr>
      <vt:lpstr>RBF kernel similarity</vt:lpstr>
      <vt:lpstr>RBF kernel snippet</vt:lpstr>
      <vt:lpstr>Digress : Kernel Transformation</vt:lpstr>
      <vt:lpstr>t-distribution</vt:lpstr>
      <vt:lpstr>t-distribution</vt:lpstr>
      <vt:lpstr>t-distribution</vt:lpstr>
      <vt:lpstr>t-SNE vs PCA</vt:lpstr>
      <vt:lpstr>kernel types</vt:lpstr>
      <vt:lpstr>Hands-on Clustering</vt:lpstr>
      <vt:lpstr>PowerPoint 프레젠테이션</vt:lpstr>
      <vt:lpstr>Linear Regression</vt:lpstr>
      <vt:lpstr>MSE(Mean Squared Error)</vt:lpstr>
      <vt:lpstr>Matrix Formulation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Digress : Kernel Transformation</vt:lpstr>
      <vt:lpstr>Digress : Kernel Transformation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The Curse of Dimensionality</vt:lpstr>
      <vt:lpstr>SVD</vt:lpstr>
      <vt:lpstr>Optimization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Sanggoo Cho</dc:creator>
  <cp:lastModifiedBy>Sanggoo Cho</cp:lastModifiedBy>
  <cp:revision>63</cp:revision>
  <dcterms:created xsi:type="dcterms:W3CDTF">2026-03-09T22:59:08Z</dcterms:created>
  <dcterms:modified xsi:type="dcterms:W3CDTF">2026-04-21T11:56:19Z</dcterms:modified>
</cp:coreProperties>
</file>