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87"/>
  </p:notesMasterIdLst>
  <p:sldIdLst>
    <p:sldId id="256" r:id="rId2"/>
    <p:sldId id="836" r:id="rId3"/>
    <p:sldId id="824" r:id="rId4"/>
    <p:sldId id="825" r:id="rId5"/>
    <p:sldId id="826" r:id="rId6"/>
    <p:sldId id="822" r:id="rId7"/>
    <p:sldId id="921" r:id="rId8"/>
    <p:sldId id="838" r:id="rId9"/>
    <p:sldId id="842" r:id="rId10"/>
    <p:sldId id="841" r:id="rId11"/>
    <p:sldId id="840" r:id="rId12"/>
    <p:sldId id="922" r:id="rId13"/>
    <p:sldId id="911" r:id="rId14"/>
    <p:sldId id="913" r:id="rId15"/>
    <p:sldId id="915" r:id="rId16"/>
    <p:sldId id="916" r:id="rId17"/>
    <p:sldId id="917" r:id="rId18"/>
    <p:sldId id="918" r:id="rId19"/>
    <p:sldId id="919" r:id="rId20"/>
    <p:sldId id="920" r:id="rId21"/>
    <p:sldId id="914" r:id="rId22"/>
    <p:sldId id="912" r:id="rId23"/>
    <p:sldId id="888" r:id="rId24"/>
    <p:sldId id="847" r:id="rId25"/>
    <p:sldId id="870" r:id="rId26"/>
    <p:sldId id="871" r:id="rId27"/>
    <p:sldId id="848" r:id="rId28"/>
    <p:sldId id="873" r:id="rId29"/>
    <p:sldId id="874" r:id="rId30"/>
    <p:sldId id="845" r:id="rId31"/>
    <p:sldId id="872" r:id="rId32"/>
    <p:sldId id="851" r:id="rId33"/>
    <p:sldId id="907" r:id="rId34"/>
    <p:sldId id="910" r:id="rId35"/>
    <p:sldId id="812" r:id="rId36"/>
    <p:sldId id="909" r:id="rId37"/>
    <p:sldId id="908" r:id="rId38"/>
    <p:sldId id="852" r:id="rId39"/>
    <p:sldId id="846" r:id="rId40"/>
    <p:sldId id="902" r:id="rId41"/>
    <p:sldId id="854" r:id="rId42"/>
    <p:sldId id="857" r:id="rId43"/>
    <p:sldId id="858" r:id="rId44"/>
    <p:sldId id="856" r:id="rId45"/>
    <p:sldId id="859" r:id="rId46"/>
    <p:sldId id="864" r:id="rId47"/>
    <p:sldId id="862" r:id="rId48"/>
    <p:sldId id="866" r:id="rId49"/>
    <p:sldId id="867" r:id="rId50"/>
    <p:sldId id="855" r:id="rId51"/>
    <p:sldId id="868" r:id="rId52"/>
    <p:sldId id="865" r:id="rId53"/>
    <p:sldId id="878" r:id="rId54"/>
    <p:sldId id="903" r:id="rId55"/>
    <p:sldId id="876" r:id="rId56"/>
    <p:sldId id="879" r:id="rId57"/>
    <p:sldId id="881" r:id="rId58"/>
    <p:sldId id="880" r:id="rId59"/>
    <p:sldId id="883" r:id="rId60"/>
    <p:sldId id="882" r:id="rId61"/>
    <p:sldId id="884" r:id="rId62"/>
    <p:sldId id="886" r:id="rId63"/>
    <p:sldId id="887" r:id="rId64"/>
    <p:sldId id="885" r:id="rId65"/>
    <p:sldId id="904" r:id="rId66"/>
    <p:sldId id="891" r:id="rId67"/>
    <p:sldId id="833" r:id="rId68"/>
    <p:sldId id="923" r:id="rId69"/>
    <p:sldId id="830" r:id="rId70"/>
    <p:sldId id="924" r:id="rId71"/>
    <p:sldId id="925" r:id="rId72"/>
    <p:sldId id="270" r:id="rId73"/>
    <p:sldId id="304" r:id="rId74"/>
    <p:sldId id="926" r:id="rId75"/>
    <p:sldId id="928" r:id="rId76"/>
    <p:sldId id="931" r:id="rId77"/>
    <p:sldId id="929" r:id="rId78"/>
    <p:sldId id="305" r:id="rId79"/>
    <p:sldId id="306" r:id="rId80"/>
    <p:sldId id="388" r:id="rId81"/>
    <p:sldId id="308" r:id="rId82"/>
    <p:sldId id="311" r:id="rId83"/>
    <p:sldId id="309" r:id="rId84"/>
    <p:sldId id="310" r:id="rId85"/>
    <p:sldId id="930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77" autoAdjust="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outlineViewPr>
    <p:cViewPr>
      <p:scale>
        <a:sx n="33" d="100"/>
        <a:sy n="33" d="100"/>
      </p:scale>
      <p:origin x="0" y="-1415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6E148-616A-C8F8-0665-CF3534AB5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C7D98D-5DFF-EAF8-3916-334791F2A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A1D918-71F7-C808-4AB8-4D3BF7ED0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5909C6-DE8F-8A31-18E4-9F4E00FDED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5968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C5718-97E2-4EE3-B2B0-5BF44FFD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25BA55-8A37-BE29-1862-CCD6FD55E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069EB1-1FDA-6159-5278-6A2FF1B49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A074A0-496E-A478-ECC5-5F154B3071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397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E1B4F-B913-2BE9-9359-92236640D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04812E-3253-4341-DC46-78222B0B4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AE9E0F-6313-3502-1A05-E35F3B8F3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54258E-45FA-3A7A-F9D1-024A700EB7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02634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27E54-28B2-8C19-528B-8C781240B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4D7B0C-202C-6E21-08C8-5AB3D9339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88F541-3E50-4ACF-17EA-E0DC1F891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B0BA84-50CA-6F67-619A-3B549011D1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89327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61178-D3A3-BD01-999B-5CD0CBDA6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4B66A9-55C3-DC1E-3535-AD5D96B30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7FFF2B-2B71-B514-D49C-EF7B099DE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8E91CB-DE8C-2792-9462-33EFA4D63E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39779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00921-2A98-58A1-77F4-D8659C0BA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8269F1-DD08-6BF5-8344-47DF8E22E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96A4B6-DC7D-FF48-46FC-7358B9C81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1E27B-EE8E-0361-5AEB-07842FCFA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33469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2FD5E-B683-05F5-2A8F-95FE3698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14573-C36D-346C-F5A7-A95CE5ED0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B6A3A6-E1B1-4542-BD9E-843AF4A37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3E6ECA-8F6F-B8DE-C544-C72743D372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676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3ED9A29-9868-F004-D477-E1B0BB93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77D30F9-C5FD-9521-DA84-79FBF57E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6A01DD9-3974-9718-87F6-EB78F09A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bg1">
                    <a:lumMod val="50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A99E11-B46A-118A-F76B-E17310DEE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71614DA-D35D-4B8B-DCBD-E9A19982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B27BFF4-697B-FD92-F05F-295244280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8E69C8F-0918-40E3-4741-67A5B5A9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62887F7-6A57-BAD0-B669-290D07F51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4F0C71D-A8E9-043B-3AA5-BF120AE9F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27951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27951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27951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575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575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575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5631107F-D1C4-F805-1498-80BECBF0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DC48662-B15E-83AA-948A-6E29EC904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6B053EF2-6074-466B-2115-88DE3F354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F09C00A1-E496-9D6D-FCA7-54CAF7D69F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F1974E-196E-D3C9-4363-362788825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0404446F-A494-25B8-0869-FB7B6C5BC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68E154EC-00A9-6E79-7724-9D6944B0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EC2A4-54D7-3BF6-D99A-08582FF90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D4F25-CAAA-ECEB-957C-521F20E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D1B0384A-C15E-6BC3-788D-790F774B4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7415F5C3-F00B-F7A0-2083-856E045D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11D89B46-F084-169B-F060-9635BE8E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7273AA5-3929-967A-5130-C11B3E37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88B4DE49-D32C-01EA-F5B0-AAAC2AD2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85456818-C05D-B8E7-2227-39DE6BFC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1B8B1B7-A03F-2EA2-EF8B-567925A49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2B5944-8912-A1D5-050D-8632DCBF79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B2289C7-8B26-A377-4243-1486C10E0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scikit-learn.org/stable/modules/neighbors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dnuggets.com/2020/11/most-popular-distance-metrics-knn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neighbors.html" TargetMode="External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cosine_similarity.html" TargetMode="External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2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2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9.png"/><Relationship Id="rId7" Type="http://schemas.openxmlformats.org/officeDocument/2006/relationships/image" Target="../media/image4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60.png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Relationship Id="rId5" Type="http://schemas.microsoft.com/office/2007/relationships/hdphoto" Target="../media/hdphoto2.wdp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2.jpeg"/><Relationship Id="rId5" Type="http://schemas.openxmlformats.org/officeDocument/2006/relationships/image" Target="../media/image50.gif"/><Relationship Id="rId4" Type="http://schemas.openxmlformats.org/officeDocument/2006/relationships/image" Target="../media/image4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aggle.com/code/shakedzy/alone-in-the-woods-using-theil-s-u-for-survival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youtube.com/watch?v=t3VBY9OisCo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bias-variance/" TargetMode="External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5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mlu-explain.github.io/cross-validation/" TargetMode="External"/><Relationship Id="rId4" Type="http://schemas.openxmlformats.org/officeDocument/2006/relationships/image" Target="../media/image6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train-test-validation/" TargetMode="External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jpeg"/><Relationship Id="rId2" Type="http://schemas.openxmlformats.org/officeDocument/2006/relationships/hyperlink" Target="https://mlu-explain.github.io/decision-tree/" TargetMode="External"/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hyperlink" Target="https://en.wikipedia.org/wiki/Condorcet%27s_jury_theorem" TargetMode="Externa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hyperlink" Target="https://mlu-explain.github.io/random-forest/" TargetMode="External"/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hyperlink" Target="http://vision.stanford.edu/teaching/cs231n-demos/knn/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overview/basics" TargetMode="Externa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660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82.jpeg"/><Relationship Id="rId5" Type="http://schemas.openxmlformats.org/officeDocument/2006/relationships/image" Target="../media/image640.png"/><Relationship Id="rId4" Type="http://schemas.openxmlformats.org/officeDocument/2006/relationships/hyperlink" Target="https://en.wikipedia.org/wiki/Sign_function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jpeg"/><Relationship Id="rId2" Type="http://schemas.openxmlformats.org/officeDocument/2006/relationships/image" Target="../media/image83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101ai.net/deeplearn/activation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0.png"/><Relationship Id="rId18" Type="http://schemas.openxmlformats.org/officeDocument/2006/relationships/image" Target="../media/image850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0.png"/><Relationship Id="rId17" Type="http://schemas.openxmlformats.org/officeDocument/2006/relationships/image" Target="../media/image86.png"/><Relationship Id="rId2" Type="http://schemas.openxmlformats.org/officeDocument/2006/relationships/image" Target="../media/image85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30.png"/><Relationship Id="rId11" Type="http://schemas.openxmlformats.org/officeDocument/2006/relationships/image" Target="../media/image780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0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jpeg"/><Relationship Id="rId1" Type="http://schemas.openxmlformats.org/officeDocument/2006/relationships/slideLayout" Target="../slideLayouts/slideLayout1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97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4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96.png"/><Relationship Id="rId4" Type="http://schemas.openxmlformats.org/officeDocument/2006/relationships/image" Target="../media/image93.png"/><Relationship Id="rId9" Type="http://schemas.microsoft.com/office/2007/relationships/hdphoto" Target="../media/hdphoto6.wdp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8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8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8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18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hyperlink" Target="https://en.wikipedia.org/wiki/Compound_interest" TargetMode="Externa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06.sv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08.jpe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walk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09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08.jpeg"/><Relationship Id="rId4" Type="http://schemas.openxmlformats.org/officeDocument/2006/relationships/image" Target="../media/image11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30.png"/><Relationship Id="rId5" Type="http://schemas.openxmlformats.org/officeDocument/2006/relationships/image" Target="../media/image112.png"/><Relationship Id="rId4" Type="http://schemas.openxmlformats.org/officeDocument/2006/relationships/image" Target="../media/image108.jpe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jpe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08.jpe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ko.wikipedia.org/wiki/%EB%AA%AC%ED%8B%B0_%ED%99%80_%EB%AC%B8%EC%A0%9C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08.jpeg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plus.maths.org/mathematical-dating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08.jpeg"/><Relationship Id="rId4" Type="http://schemas.openxmlformats.org/officeDocument/2006/relationships/image" Target="../media/image117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08.jpe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6785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C6C5D6-B9BA-2997-9AB0-664100367C7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34669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</a:p>
              <a:p>
                <a:pPr lvl="1"/>
                <a:endParaRPr lang="en-US" altLang="ko-KR" sz="2000" i="1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8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8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f>
                          <m:f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20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그룹 20">
            <a:extLst>
              <a:ext uri="{FF2B5EF4-FFF2-40B4-BE49-F238E27FC236}">
                <a16:creationId xmlns:a16="http://schemas.microsoft.com/office/drawing/2014/main" id="{F9834FF0-8FBA-1350-9F1E-D0CB8F426314}"/>
              </a:ext>
            </a:extLst>
          </p:cNvPr>
          <p:cNvGrpSpPr/>
          <p:nvPr/>
        </p:nvGrpSpPr>
        <p:grpSpPr>
          <a:xfrm>
            <a:off x="3246467" y="2558043"/>
            <a:ext cx="5202208" cy="699507"/>
            <a:chOff x="2230094" y="2605995"/>
            <a:chExt cx="7498730" cy="1044030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F05F55E0-B70A-ADCF-C43A-DCB0EB37C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0094" y="2605995"/>
              <a:ext cx="7498730" cy="1036410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BD8DBB4C-8447-148B-1A2C-41CFBB8F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9832" y="2605995"/>
              <a:ext cx="1988992" cy="104403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F38668D-D916-87E8-408A-6B6D3F29F0CC}"/>
              </a:ext>
            </a:extLst>
          </p:cNvPr>
          <p:cNvSpPr txBox="1"/>
          <p:nvPr/>
        </p:nvSpPr>
        <p:spPr>
          <a:xfrm>
            <a:off x="666188" y="957141"/>
            <a:ext cx="10848975" cy="1426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total length of all the vectors in a space (non-negative real numbers that behaves in certain ways like 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distance from the origin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p-norm of vector x will be denoted as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7236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L1 Norm (</a:t>
                </a:r>
                <a:r>
                  <a:rPr lang="en-US" altLang="ko-KR" sz="2200" b="1" cap="none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Mahattan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Taxicab geometry)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  <a:endParaRPr lang="en-US" altLang="ko-KR" sz="22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F3C4AE5B-40B1-4939-A882-6AFA8B8F9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895600"/>
            <a:ext cx="3132091" cy="2781541"/>
          </a:xfrm>
          <a:prstGeom prst="rect">
            <a:avLst/>
          </a:prstGeom>
        </p:spPr>
      </p:pic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7221071" y="2895599"/>
            <a:ext cx="4643718" cy="26955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([2, 3])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norm_l1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np.linalg.norm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=1)  # L1 norm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norm_11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x/norm_l1           # scaled by 1-norm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np.sum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73ED5F1A-8C68-4015-6D59-646B058A66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B7BC5D-BC78-3BE9-3756-43EA405E4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202" y="1239037"/>
            <a:ext cx="2372872" cy="154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06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L2 Norm(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Euclidean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+ 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(4+9)</m:t>
                        </m:r>
                      </m:e>
                      <m:sup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19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6438900" y="2895599"/>
            <a:ext cx="5502089" cy="37242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 = np.linalg.norm(x, ord=2)  # L2 norm</a:t>
            </a:r>
          </a:p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3.605551275463989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x/norm_l2                       # scaled by 2-norm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(x/norm_l2).sum()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1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F7459-2858-2347-75D8-C91F1F465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974105"/>
            <a:ext cx="3047769" cy="27971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5C3998-0489-2BF2-5241-E2E505201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067" y="1092014"/>
            <a:ext cx="2171888" cy="158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8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of L1,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Norms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286" y="3191496"/>
            <a:ext cx="1695512" cy="681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27" y="5387420"/>
            <a:ext cx="2368851" cy="5516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3066445" y="2782139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Lasso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3066445" y="4905415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Ridge</a:t>
            </a:r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BD5D038-DCD7-8C14-A5CF-44500882BB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230" y="2363039"/>
            <a:ext cx="4330872" cy="4235758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CFF3D7-B9E7-2FF5-40EB-78AC8007B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 or the length of a vector is the distance between its “origin” and its “end”.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그림에서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원점으로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사각형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(L1, Lasso)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원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(L2, Ridge)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비교하라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Lasso, Ridge Penalty in machine learning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2701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1D288-EEDE-9323-60CC-E3BD5FD90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0E491-FD50-BD0C-476F-2AE102A6E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of L1,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Norms with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2D60C3-50D4-D561-965B-A505D7782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44C3C6-D03E-29DC-D4BD-0A7E0156D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56800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asso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와 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 Regression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L1, L2 penalty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가산한 손실함수 형태임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A4B5D40-F6B6-40AB-6CEC-763DCFF94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2505" y="1638322"/>
            <a:ext cx="4905375" cy="4933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60010D2-0E8A-7A01-65EC-C5AD562CA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752" y="3215472"/>
            <a:ext cx="2347163" cy="77730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E0A786B-932D-E03A-B381-BECAD025FA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752" y="4695792"/>
            <a:ext cx="2339543" cy="76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205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E486-E568-1525-A997-2588C9CF7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317D0-7D8A-5E88-1765-C131C8247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Nearest Neighbors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5692A-AF52-86DD-7DAB-748A9F77C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14396A-70AA-B337-BF63-76377B7B9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(distance)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가까운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기준으로 분류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회귀생성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이상치 탐지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(anomaly detection)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알고리즘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100" name="Picture 4" descr="k-Nearest Neighbor classification example for k=3 and k=7">
            <a:extLst>
              <a:ext uri="{FF2B5EF4-FFF2-40B4-BE49-F238E27FC236}">
                <a16:creationId xmlns:a16="http://schemas.microsoft.com/office/drawing/2014/main" id="{6417C8F0-629A-2475-EDE4-881FFB378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526" y="2806591"/>
            <a:ext cx="5617954" cy="306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DE99B2-FC44-E12D-132F-D2FEE475A359}"/>
              </a:ext>
            </a:extLst>
          </p:cNvPr>
          <p:cNvSpPr txBox="1"/>
          <p:nvPr/>
        </p:nvSpPr>
        <p:spPr>
          <a:xfrm>
            <a:off x="2676526" y="5953208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Open Sans" panose="020B0606030504020204" pitchFamily="34" charset="0"/>
              </a:rPr>
              <a:t>K-nearest neighbor classification example for k=3 and k=7</a:t>
            </a:r>
          </a:p>
          <a:p>
            <a:r>
              <a:rPr lang="en-US" altLang="ko-KR" sz="11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https://www.kdnuggets.com/2020/11/most-popular-distance-metrics-knn.html</a:t>
            </a:r>
            <a:r>
              <a:rPr lang="en-US" altLang="ko-KR" sz="1100" dirty="0"/>
              <a:t>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499528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01ED5-08C5-B763-06E6-5A1848DC8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80105-AA95-367F-B995-300A9AC71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61453F-0232-7492-E06F-018983E8C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Nearest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neighbors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53BBD-7219-566A-677D-D7AC674D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1.6.1.1. Finding the Nearest Neighbors :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시각화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1.6.2. Nearest Neighbors Classification</a:t>
            </a: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1.6.3. Nearest Neighbors Regression	</a:t>
            </a:r>
            <a:endParaRPr lang="en-US" altLang="ko-KR" cap="none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116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DBBE0-1AFD-561E-114A-4FE8786BE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BB787-1102-92F1-7AF1-398B0C92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Cosine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319BCE-F14E-2D87-4A6B-149516F85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A2B8A7-D8C3-0DA3-60F9-F81F27F55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자연어처리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(Natural Language Processing)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Text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 사용되는 유사성거리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내적과 관련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(Transformer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비슷한 단어의 내적은 코사인 유사성이 크기 때문에 같은 비율로 커짐 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/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  <m:rad>
                                <m:radPr>
                                  <m:degHide m:val="on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nary>
                                </m:e>
                              </m:rad>
                            </m:e>
                          </m:ra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C9846482-E2EF-26A6-B901-0D2E7A1FE595}"/>
              </a:ext>
            </a:extLst>
          </p:cNvPr>
          <p:cNvSpPr txBox="1">
            <a:spLocks/>
          </p:cNvSpPr>
          <p:nvPr/>
        </p:nvSpPr>
        <p:spPr>
          <a:xfrm>
            <a:off x="1075719" y="3047714"/>
            <a:ext cx="4496405" cy="762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cosine_similarity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12 | MIPS vs MCSS (Maximum Inner Product / Cosine Similarity Search)">
            <a:extLst>
              <a:ext uri="{FF2B5EF4-FFF2-40B4-BE49-F238E27FC236}">
                <a16:creationId xmlns:a16="http://schemas.microsoft.com/office/drawing/2014/main" id="{0BAAB07F-BF28-39F7-C312-880C96C77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2768" y="2641292"/>
            <a:ext cx="5033513" cy="339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36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57FAE-85FB-EF39-67C2-446BABA12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43E38-DCB2-ADE3-450F-2948A8BA4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55EE921-5723-9E6B-1B9F-C2C036557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73C067-04F8-FB05-6CD6-443B3EB79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2EFD1-DBAD-F67D-EC03-A6CDC4B94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D76040-93EA-4C91-5497-BB32521AC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A8EE28-BE5F-1FB3-116F-ED7A08560C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820" y="1166377"/>
            <a:ext cx="9135081" cy="123473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문장을 생성하여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word2vector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구성하는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만들고 각 단어의 거리를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704CA54-8A55-675C-324C-F4F303EB2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90D72D1-3B36-223A-50A2-2F75347D0E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7701" y="2178031"/>
            <a:ext cx="5695516" cy="4557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12956B-D7D6-0066-2FB2-309AD5054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402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F3DEC-5F02-17A9-3594-5B9D17DE3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1D767E-F8C0-79F6-6DB4-620918501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A1413A-DC81-AD18-5C2D-6BF086089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7D42E1-5C83-41E3-39EB-1E717E8C42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머신러닝에서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아주 중요한 개념인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 트릭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(Kernel Trick)'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중에서도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RBF(Radial Basis Function)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커널이 데이터를 어떻게 변환하여 분류 문제를 해결하는지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D41DCBA-E882-86DB-B6A2-48270F964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5" y="2951455"/>
            <a:ext cx="4503366" cy="3084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248477-8772-2C13-773F-F25B8FAE3718}"/>
              </a:ext>
            </a:extLst>
          </p:cNvPr>
          <p:cNvSpPr txBox="1"/>
          <p:nvPr/>
        </p:nvSpPr>
        <p:spPr>
          <a:xfrm>
            <a:off x="6267146" y="2951455"/>
            <a:ext cx="5634599" cy="2671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import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scipy.stats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as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x1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arange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-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4, 5, 1)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x2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norm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pdf(x1,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-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2, 1); x3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norm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pdf(x1, 1, 1)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data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pd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DataFrame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c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_[x1, x2, x3], columns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['x1', 'x2', 'x3'])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data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set_index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inplace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=True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); data[['x2', 'x3']]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plot()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('Similarity',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16);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("x1",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</a:t>
            </a:r>
          </a:p>
        </p:txBody>
      </p:sp>
    </p:spTree>
    <p:extLst>
      <p:ext uri="{BB962C8B-B14F-4D97-AF65-F5344CB8AC3E}">
        <p14:creationId xmlns:p14="http://schemas.microsoft.com/office/powerpoint/2010/main" val="2054308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73B27-3E44-EDBF-2380-68C8D3548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B7243-22C1-0525-F7BD-4C956D9A9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FFC9A8-EF50-29A9-7C0A-FD21F3052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366856-FAC7-7882-6C36-17D9647D0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110911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머신러닝에서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아주 중요한 개념인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 트릭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(Kernel Trick)'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중에서도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RBF(Radial Basis Function)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커널이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분류되지 않을 때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고차원 공간으로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(Mapping)'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하여 선형 분리가 가능하도록 만드는 기법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C0AB2A2-B5C0-A760-45A0-36EBE40E15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884" y="2726203"/>
            <a:ext cx="5208794" cy="331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6DB8E58-FC9B-E1E7-5494-C407DDAA0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3982" y="3459132"/>
            <a:ext cx="1691787" cy="1844200"/>
          </a:xfrm>
          <a:prstGeom prst="rect">
            <a:avLst/>
          </a:prstGeom>
        </p:spPr>
      </p:pic>
      <p:pic>
        <p:nvPicPr>
          <p:cNvPr id="2062" name="Picture 14">
            <a:extLst>
              <a:ext uri="{FF2B5EF4-FFF2-40B4-BE49-F238E27FC236}">
                <a16:creationId xmlns:a16="http://schemas.microsoft.com/office/drawing/2014/main" id="{9D61F63E-5FEE-0E73-023E-0ED24DB057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6569" y="2666417"/>
            <a:ext cx="4829479" cy="342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74529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D7339-CD25-BCD1-ED3A-419759FBE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A509D9-3310-FA4E-4004-4B10D432B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snippet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BD5CD8-3544-27AE-6536-522FABBD5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145C0-C662-32EA-080F-78C76C159CE0}"/>
              </a:ext>
            </a:extLst>
          </p:cNvPr>
          <p:cNvSpPr txBox="1"/>
          <p:nvPr/>
        </p:nvSpPr>
        <p:spPr>
          <a:xfrm>
            <a:off x="666750" y="1143064"/>
            <a:ext cx="4724400" cy="52163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scipy.stats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stats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x1 =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np.arange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(-4, 5, 1)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</a:t>
            </a:r>
            <a:r>
              <a:rPr lang="ko-KR" altLang="en-US" sz="1600" dirty="0">
                <a:latin typeface="Arial Narrow" panose="020B0606020202030204" pitchFamily="34" charset="0"/>
              </a:rPr>
              <a:t>평균 </a:t>
            </a:r>
            <a:r>
              <a:rPr lang="en-US" altLang="ko-KR" sz="1600" dirty="0">
                <a:latin typeface="Arial Narrow" panose="020B0606020202030204" pitchFamily="34" charset="0"/>
              </a:rPr>
              <a:t>-2, </a:t>
            </a:r>
            <a:r>
              <a:rPr lang="ko-KR" altLang="en-US" sz="1600" dirty="0">
                <a:latin typeface="Arial Narrow" panose="020B0606020202030204" pitchFamily="34" charset="0"/>
              </a:rPr>
              <a:t>표준편차 </a:t>
            </a:r>
            <a:r>
              <a:rPr lang="en-US" altLang="ko-KR" sz="1600" dirty="0">
                <a:latin typeface="Arial Narrow" panose="020B0606020202030204" pitchFamily="34" charset="0"/>
              </a:rPr>
              <a:t>1</a:t>
            </a:r>
            <a:r>
              <a:rPr lang="ko-KR" altLang="en-US" sz="1600" dirty="0">
                <a:latin typeface="Arial Narrow" panose="020B0606020202030204" pitchFamily="34" charset="0"/>
              </a:rPr>
              <a:t>인 정규분포 </a:t>
            </a:r>
            <a:r>
              <a:rPr lang="en-US" altLang="ko-KR" sz="1600" dirty="0">
                <a:latin typeface="Arial Narrow" panose="020B0606020202030204" pitchFamily="34" charset="0"/>
              </a:rPr>
              <a:t>PDF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x2 = stats.norm.pdf(x1, -2, 1) 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</a:t>
            </a:r>
            <a:r>
              <a:rPr lang="ko-KR" altLang="en-US" sz="1600" dirty="0">
                <a:latin typeface="Arial Narrow" panose="020B0606020202030204" pitchFamily="34" charset="0"/>
              </a:rPr>
              <a:t>평균 </a:t>
            </a:r>
            <a:r>
              <a:rPr lang="en-US" altLang="ko-KR" sz="1600" dirty="0">
                <a:latin typeface="Arial Narrow" panose="020B0606020202030204" pitchFamily="34" charset="0"/>
              </a:rPr>
              <a:t>1, </a:t>
            </a:r>
            <a:r>
              <a:rPr lang="ko-KR" altLang="en-US" sz="1600" dirty="0">
                <a:latin typeface="Arial Narrow" panose="020B0606020202030204" pitchFamily="34" charset="0"/>
              </a:rPr>
              <a:t>표준편차 </a:t>
            </a:r>
            <a:r>
              <a:rPr lang="en-US" altLang="ko-KR" sz="1600" dirty="0">
                <a:latin typeface="Arial Narrow" panose="020B0606020202030204" pitchFamily="34" charset="0"/>
              </a:rPr>
              <a:t>1</a:t>
            </a:r>
            <a:r>
              <a:rPr lang="ko-KR" altLang="en-US" sz="1600" dirty="0">
                <a:latin typeface="Arial Narrow" panose="020B0606020202030204" pitchFamily="34" charset="0"/>
              </a:rPr>
              <a:t>인 정규분포 </a:t>
            </a:r>
            <a:r>
              <a:rPr lang="en-US" altLang="ko-KR" sz="1600" dirty="0">
                <a:latin typeface="Arial Narrow" panose="020B0606020202030204" pitchFamily="34" charset="0"/>
              </a:rPr>
              <a:t>PDF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x3 = stats.norm.pdf(x1, 1, 1)  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x1:x</a:t>
            </a:r>
            <a:r>
              <a:rPr lang="ko-KR" altLang="en-US" sz="1600" dirty="0">
                <a:latin typeface="Arial Narrow" panose="020B0606020202030204" pitchFamily="34" charset="0"/>
              </a:rPr>
              <a:t>축</a:t>
            </a:r>
            <a:r>
              <a:rPr lang="en-US" altLang="ko-KR" sz="1600" dirty="0">
                <a:latin typeface="Arial Narrow" panose="020B0606020202030204" pitchFamily="34" charset="0"/>
              </a:rPr>
              <a:t>, x2 &amp; x3: y</a:t>
            </a:r>
            <a:r>
              <a:rPr lang="ko-KR" altLang="en-US" sz="1600" dirty="0">
                <a:latin typeface="Arial Narrow" panose="020B0606020202030204" pitchFamily="34" charset="0"/>
              </a:rPr>
              <a:t>축 설정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(x1, x2, label='x2');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(x1, x3, label='x3') 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plt.xlabel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("x1");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plt.ylabel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('Gaussian pdf : Similarity')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plt.title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('Gaussian RBF(x1)')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B138AC-304D-9719-2F18-1AB332E20984}"/>
              </a:ext>
            </a:extLst>
          </p:cNvPr>
          <p:cNvSpPr txBox="1"/>
          <p:nvPr/>
        </p:nvSpPr>
        <p:spPr>
          <a:xfrm>
            <a:off x="5781675" y="1066023"/>
            <a:ext cx="5657850" cy="152304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pandas as pd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data =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pd.DataFrame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np.c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_[x1, x2, x3], columns = ['x1', 'x2', 'x3'])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data.set_index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inplace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=True)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data.round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018733-9E9D-72EA-B112-15B42868A8F6}"/>
              </a:ext>
            </a:extLst>
          </p:cNvPr>
          <p:cNvSpPr txBox="1"/>
          <p:nvPr/>
        </p:nvSpPr>
        <p:spPr>
          <a:xfrm>
            <a:off x="5781675" y="3429000"/>
            <a:ext cx="5657850" cy="152304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(x2, x3, c='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DarkGreen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', label='Gaussian RBF(x1)')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plt.xlabel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("x2");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plt.ylabel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("x3")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plt.title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('Linear Separability of Transformed Data in RBF Feature Space')</a:t>
            </a:r>
          </a:p>
        </p:txBody>
      </p:sp>
    </p:spTree>
    <p:extLst>
      <p:ext uri="{BB962C8B-B14F-4D97-AF65-F5344CB8AC3E}">
        <p14:creationId xmlns:p14="http://schemas.microsoft.com/office/powerpoint/2010/main" val="2744667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9187A-6148-38D5-2705-4940F9D9E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78E844-E639-EA26-64FB-4A690B658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036ED1-BB35-08A4-5EBA-B5D28999D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5730A4CC-71E0-5575-1331-F4387F05C679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E32C95-F20B-11E7-AEC0-79D85E967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B6EC1CA-9C5D-A84E-6551-2B8CF6B1A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9170D03-60E5-67C6-54B3-7596FC3559B4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0F0936EE-9C63-98AA-0953-DBE3BC1C1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1407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FB776-D62B-6803-B04A-BBE48B55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5DF387-976D-E768-6009-C4BA315CD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t-distribution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8566E6-47D4-0428-C01E-B71969ED1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3A98538D-1D66-BA29-C549-62A251C55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323" y="905522"/>
            <a:ext cx="10706705" cy="1072810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t-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분포는 중심에서 멀어져도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되지 않고 완만하게 유지되기 때문에 우측 화살표를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보면 데이터 포인트들이 원점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(0,0)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너무 밀집되지 않고 조금 더 넓게 퍼지는 경향을 보임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52641FB-42BA-0C94-25E5-AEFB3B40E8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36" y="2069794"/>
            <a:ext cx="8220929" cy="4483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4">
            <a:extLst>
              <a:ext uri="{FF2B5EF4-FFF2-40B4-BE49-F238E27FC236}">
                <a16:creationId xmlns:a16="http://schemas.microsoft.com/office/drawing/2014/main" id="{301A732C-B6C4-04A7-8549-97F5230BA06B}"/>
              </a:ext>
            </a:extLst>
          </p:cNvPr>
          <p:cNvSpPr txBox="1"/>
          <p:nvPr/>
        </p:nvSpPr>
        <p:spPr>
          <a:xfrm>
            <a:off x="9372599" y="4985518"/>
            <a:ext cx="271462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x1=4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유사도</a:t>
            </a:r>
            <a:r>
              <a:rPr lang="en-US" altLang="ko-KR" sz="1400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0.000134 </a:t>
            </a:r>
          </a:p>
          <a:p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t-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 유사도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0.018724</a:t>
            </a:r>
            <a:endParaRPr lang="ko-KR" altLang="en-US" sz="1400" dirty="0">
              <a:solidFill>
                <a:schemeClr val="accent1">
                  <a:lumMod val="75000"/>
                </a:schemeClr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96431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4441B-C720-EC44-CFBB-0C261776F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1D8CE6BA-6C1F-8467-791A-A5FEDEC58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810" y="1105317"/>
            <a:ext cx="6670090" cy="4930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9E2E24A-115A-B39D-93E0-EB5998ED7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t-distribution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37E061-58C4-201C-E320-2086C7250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BC9C7306-924B-A6DE-6560-AD4B4C99C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4284" y="1390650"/>
            <a:ext cx="5067906" cy="4772025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정규분포는 냉정하다": 빨간색 선(정규분포) </a:t>
            </a:r>
            <a:r>
              <a:rPr lang="en-US" altLang="ko-KR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거리가 3~4만 넘어가도 바닥에 딱 붙어버리고 즉, 조금만 멀어져도 "</a:t>
            </a:r>
            <a:r>
              <a:rPr lang="ko-KR" altLang="en-US" sz="3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너랑</a:t>
            </a:r>
            <a:r>
              <a:rPr lang="ko-KR" altLang="en-US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나는 아예 남이야(유사도 0)"**라고 판단</a:t>
            </a:r>
            <a:endParaRPr lang="ko-KR" altLang="en-US" sz="2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29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-분포는 미련이 많다": 파란색 점선(</a:t>
            </a:r>
            <a:r>
              <a:rPr lang="ko-KR" altLang="en-US" sz="29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-분포</a:t>
            </a:r>
            <a:r>
              <a:rPr lang="en-US" altLang="ko-KR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꼬리가 들려 있어서</a:t>
            </a:r>
            <a:r>
              <a:rPr lang="en-US" altLang="ko-KR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거리가 5, 10으로 멀어져도 유사도가 0이 되지 않음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커널: 아주 가까운 애들만 챙기고 조금만 멀면 무시합니다. (군집이 좁고 빽빽하게 뭉침)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sz="29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-분포 커널: 멀리 있는 애들도 "어느 정도는 관계가 </a:t>
            </a:r>
            <a:r>
              <a:rPr lang="ko-KR" altLang="en-US" sz="29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있어"라고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인정 (데이터가 고차원 공간에서 시원시원하게 펼쳐짐)</a:t>
            </a:r>
            <a:endParaRPr lang="en-US" altLang="ko-KR" sz="2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6795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726C1-51E6-9297-731B-4580C1217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974358-2781-E36A-5757-1258E477F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t-distribution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B45D4D-3BDD-F3DF-621D-41C74B9D8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885B4B0-C0F6-180B-E7E0-DFBBCD50A1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2861" y="2413741"/>
            <a:ext cx="9140387" cy="3882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A3006E0D-D23F-E6CF-3CAE-E64DE7C7A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091861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types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두꺼운 꼬리 덕분에 멀리 있는 점들도 유사도 값이 어느 정도 살아있네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점들이 원점에서 튕겨져 나오듯 더 넓게 분포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사이의 간격이 넓어져서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 분류기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군집을 훨씬 더 명확하고 구분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11768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EE0AD-0A3B-BFB1-C7BB-0AB2FB88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CF060-4EB6-749B-36ED-C69FB929B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t-SNE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082EE-1588-F079-0F7D-FF845FF3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AC22F84-EA7D-7EAB-E302-905B1F963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905522"/>
            <a:ext cx="10706705" cy="1396661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t-distribution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이용한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t-SNE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가까운 이웃들은 적당히 응집시키면서도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멀리 있는 데이터들은 정규분포보다 훨씬 더 멀리 밀어내어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결과적으로 군집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(Cluster)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간의 경계가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명확해져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시각적으로 구분이 매우 잘 됨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구조 파악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주성분 분석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파악하지 못하는 복잡한 비선형적 관계를 파악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169BE02-315C-BDDB-4E31-04DD70A665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374985"/>
            <a:ext cx="9538182" cy="384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383D6E1-98D9-31FF-15FD-A2DFBBE8D496}"/>
              </a:ext>
            </a:extLst>
          </p:cNvPr>
          <p:cNvSpPr txBox="1"/>
          <p:nvPr/>
        </p:nvSpPr>
        <p:spPr>
          <a:xfrm>
            <a:off x="10528574" y="2374985"/>
            <a:ext cx="1477964" cy="2598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“t-SNE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t-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분포의 두꺼운 꼬리를 이용해 데이터 사이의 거리를 시원 시원하게 </a:t>
            </a:r>
            <a:r>
              <a:rPr lang="ko-KR" altLang="en-US" sz="1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벌려줌으로써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끼리끼리 뭉친 모습을 가장 잘 보여주는 시각화 도구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endParaRPr lang="ko-KR" altLang="en-US" sz="1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64796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25407-C137-2CB8-93F2-B35B85B4D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8FEEA0-384E-4A60-883E-E8E85F51C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types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C4FB2A-AF25-DE60-BC79-FCA9A33B8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2A156-1325-2B2E-BA04-7F876F781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11091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types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7DFDB4-4C9E-86C3-C0A0-254F982E0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464" y="1885950"/>
            <a:ext cx="7303072" cy="4515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9320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7B1CB-A0D2-E6BB-9548-F62C6CDF8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3762DA-6E5B-51B6-6178-DA0B3EB0A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C2BDC4-A294-11BD-16D7-C3FEE3359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3F6AC31-1870-63E4-E47C-2B4387316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44324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52F10-46DD-AB0A-4567-88F5C32E2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113B510-268E-1741-F69E-DD20DF0966CE}"/>
              </a:ext>
            </a:extLst>
          </p:cNvPr>
          <p:cNvSpPr/>
          <p:nvPr/>
        </p:nvSpPr>
        <p:spPr>
          <a:xfrm>
            <a:off x="678584" y="3133724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DEE11C-78DB-EF54-2187-E44776A4528C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7D48E5-F19F-3FBA-73FB-7898B413A5DC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63AA07-16E6-4E56-2460-ED5468FC6BAF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4972786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B6F98-6CDB-E410-0D1F-C367364C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498939"/>
            <a:ext cx="4658330" cy="376275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4E62-DE40-FBB4-3740-698D5544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808B9-8204-349A-86A5-630054163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MSE(Mean Squared Error)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1ACFD-5BA0-889B-23C7-3025E298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B84053F-541D-D14A-2461-2401B413B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26" y="1248301"/>
            <a:ext cx="4553722" cy="19994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1B0B8A50-B2AC-8C53-65CB-DA63F38686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167711" y="1253287"/>
            <a:ext cx="3783180" cy="195494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8811D67-C7B0-5C9B-24C0-E86977743F6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71877" y="4329815"/>
            <a:ext cx="3200677" cy="1638442"/>
          </a:xfrm>
          <a:prstGeom prst="rect">
            <a:avLst/>
          </a:prstGeom>
        </p:spPr>
      </p:pic>
      <p:sp>
        <p:nvSpPr>
          <p:cNvPr id="37" name="오른쪽 중괄호 36">
            <a:extLst>
              <a:ext uri="{FF2B5EF4-FFF2-40B4-BE49-F238E27FC236}">
                <a16:creationId xmlns:a16="http://schemas.microsoft.com/office/drawing/2014/main" id="{3D299CA6-819A-997A-F600-531F5A6C1641}"/>
              </a:ext>
            </a:extLst>
          </p:cNvPr>
          <p:cNvSpPr/>
          <p:nvPr/>
        </p:nvSpPr>
        <p:spPr>
          <a:xfrm rot="5400000">
            <a:off x="5407959" y="1488562"/>
            <a:ext cx="404251" cy="4219575"/>
          </a:xfrm>
          <a:prstGeom prst="rightBrace">
            <a:avLst>
              <a:gd name="adj1" fmla="val 57265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/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에러는 실제와 예측 값의 차이</a:t>
                </a:r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𝜖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y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− </m:t>
                    </m:r>
                    <m:acc>
                      <m:accPr>
                        <m:chr m:val="̂"/>
                        <m:ctrlPr>
                          <a:rPr lang="ko-KR" altLang="en-US" sz="1700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70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blipFill>
                <a:blip r:embed="rId6"/>
                <a:stretch>
                  <a:fillRect l="-913" t="-6897" b="-224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414D2ACF-EDDF-1AB0-44AF-6EF356311A17}"/>
              </a:ext>
            </a:extLst>
          </p:cNvPr>
          <p:cNvSpPr txBox="1"/>
          <p:nvPr/>
        </p:nvSpPr>
        <p:spPr>
          <a:xfrm>
            <a:off x="811360" y="883955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1E307C-EACC-51E4-DD9F-8EE98C51964A}"/>
              </a:ext>
            </a:extLst>
          </p:cNvPr>
          <p:cNvSpPr txBox="1"/>
          <p:nvPr/>
        </p:nvSpPr>
        <p:spPr>
          <a:xfrm>
            <a:off x="7155042" y="883955"/>
            <a:ext cx="1988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A5809DB-C0E9-5D79-51D1-26D791083115}"/>
              </a:ext>
            </a:extLst>
          </p:cNvPr>
          <p:cNvGrpSpPr/>
          <p:nvPr/>
        </p:nvGrpSpPr>
        <p:grpSpPr>
          <a:xfrm>
            <a:off x="7924800" y="3735068"/>
            <a:ext cx="2824480" cy="1189493"/>
            <a:chOff x="8575040" y="3851111"/>
            <a:chExt cx="2824480" cy="1189493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D19109A4-492F-5FCA-F1D4-896C8487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4329815"/>
              <a:ext cx="2220300" cy="71078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87AC92C-032C-C967-C231-4ED2755AB069}"/>
                </a:ext>
              </a:extLst>
            </p:cNvPr>
            <p:cNvSpPr txBox="1"/>
            <p:nvPr/>
          </p:nvSpPr>
          <p:spPr>
            <a:xfrm>
              <a:off x="8575040" y="3851111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모델의 성능지표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(metric)</a:t>
              </a:r>
              <a:endPara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E65D59E-6B20-48D6-060D-EDE9FEB86AEE}"/>
              </a:ext>
            </a:extLst>
          </p:cNvPr>
          <p:cNvGrpSpPr/>
          <p:nvPr/>
        </p:nvGrpSpPr>
        <p:grpSpPr>
          <a:xfrm>
            <a:off x="8020243" y="5091483"/>
            <a:ext cx="2824480" cy="1001698"/>
            <a:chOff x="8650279" y="5116220"/>
            <a:chExt cx="2824480" cy="1001698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A0AC1168-EDFF-93B3-9765-389C48B54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5470163"/>
              <a:ext cx="2575411" cy="647755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0E2E1CB-8BD0-9CBA-C134-C3EA19017FC6}"/>
                </a:ext>
              </a:extLst>
            </p:cNvPr>
            <p:cNvSpPr txBox="1"/>
            <p:nvPr/>
          </p:nvSpPr>
          <p:spPr>
            <a:xfrm>
              <a:off x="8650279" y="5116220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분산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내적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유클리드 거리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522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/>
      <p:bldP spid="4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 Formulation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F1DC974-0213-762D-DA9B-996F89AD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453514"/>
            <a:ext cx="6624926" cy="19397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A7676C-C191-A8AC-AF32-140354371AD5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9B85837-F508-0C94-9CF0-8BC26C9BA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2210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수식 연산 표현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8108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0866" y="1747802"/>
            <a:ext cx="4859685" cy="317979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대수학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(Algebra)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단순회귀식을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A417F-8E04-9153-94A2-338997BEF6C8}"/>
              </a:ext>
            </a:extLst>
          </p:cNvPr>
          <p:cNvSpPr txBox="1"/>
          <p:nvPr/>
        </p:nvSpPr>
        <p:spPr>
          <a:xfrm>
            <a:off x="913795" y="1233766"/>
            <a:ext cx="5323840" cy="501675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심볼 정의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w0, w1, x, 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('w0 w1 x y')</a:t>
            </a: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잔차제곱합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(SSE)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[(1, 1), (2, 3), (4, 3), (3, 2), (5, 5)]</a:t>
            </a: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– (w0 + w1 *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))**2 for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data)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통해 최소값 찾기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d_w0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w0)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d_w1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w1)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연립방정식 풀기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([d_w0, d_w1], [w0, w1])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{solution}")</a:t>
            </a:r>
          </a:p>
          <a:p>
            <a:pPr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의미해석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51A519D-6530-EE2C-2EF8-DAD2B15AF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Descending Mount Everest(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Errorest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99113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003E-BEDD-42D4-4CBF-A6356164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0F06A-63C2-DF81-DD67-8ABD6DBB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7277938-3F89-0A4B-FD6F-6C3A60E02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5963AB-9938-2FCF-579C-1601FF0C9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563412"/>
            <a:ext cx="10343112" cy="14829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사용하여 에러를 최소화하는 함수를 만들어 회귀식을 구하여 비교하라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E29396D-00A5-B113-4D30-096C403C8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621" y="2888271"/>
            <a:ext cx="4127687" cy="3330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9FF7C63E-80DF-8535-A0BE-D755DEC0CD6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6031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2945D-B350-3FF4-7D09-2E334EB77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CF00E-A436-DA50-48FC-D7F90512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CAD4E53-927A-CBED-1E0D-FD4AF8B1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002" y="1381125"/>
            <a:ext cx="5762484" cy="42672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6214D33-6987-A093-F549-7C12FD8B65DF}"/>
              </a:ext>
            </a:extLst>
          </p:cNvPr>
          <p:cNvSpPr/>
          <p:nvPr/>
        </p:nvSpPr>
        <p:spPr>
          <a:xfrm>
            <a:off x="4763294" y="1784950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구부러진 연결선 11">
            <a:extLst>
              <a:ext uri="{FF2B5EF4-FFF2-40B4-BE49-F238E27FC236}">
                <a16:creationId xmlns:a16="http://schemas.microsoft.com/office/drawing/2014/main" id="{11810A7A-0B36-327E-EE3E-4B1777215DB3}"/>
              </a:ext>
            </a:extLst>
          </p:cNvPr>
          <p:cNvCxnSpPr>
            <a:cxnSpLocks/>
            <a:stCxn id="11" idx="2"/>
            <a:endCxn id="18" idx="1"/>
          </p:cNvCxnSpPr>
          <p:nvPr/>
        </p:nvCxnSpPr>
        <p:spPr>
          <a:xfrm rot="16200000" flipH="1">
            <a:off x="4768416" y="2300557"/>
            <a:ext cx="1214644" cy="6488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B06CE2-D3E3-FC6B-500C-F37662CA44B0}"/>
              </a:ext>
            </a:extLst>
          </p:cNvPr>
          <p:cNvSpPr/>
          <p:nvPr/>
        </p:nvSpPr>
        <p:spPr>
          <a:xfrm>
            <a:off x="330620" y="5742724"/>
            <a:ext cx="1701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Recursive iterations</a:t>
            </a:r>
            <a:endParaRPr lang="ko-KR" altLang="en-US" sz="14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F90CE7C-504E-5A87-E174-EFE064F13760}"/>
              </a:ext>
            </a:extLst>
          </p:cNvPr>
          <p:cNvSpPr/>
          <p:nvPr/>
        </p:nvSpPr>
        <p:spPr>
          <a:xfrm>
            <a:off x="405355" y="1667063"/>
            <a:ext cx="15808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Initialized settings</a:t>
            </a:r>
            <a:endParaRPr lang="ko-KR" altLang="en-US" sz="1400" u="sng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34DFF6C-4FD1-14C3-B024-D1F164F3FE9E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 flipH="1">
            <a:off x="1181174" y="1974840"/>
            <a:ext cx="14622" cy="3767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64ECB6AE-3EA9-954F-A0B8-9DEED609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0" y="2405716"/>
            <a:ext cx="5890109" cy="1653150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2E07D99B-F812-5A40-0726-AFA6DDA3168B}"/>
              </a:ext>
            </a:extLst>
          </p:cNvPr>
          <p:cNvSpPr/>
          <p:nvPr/>
        </p:nvSpPr>
        <p:spPr>
          <a:xfrm>
            <a:off x="5540825" y="1765388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구부러진 연결선 24">
            <a:extLst>
              <a:ext uri="{FF2B5EF4-FFF2-40B4-BE49-F238E27FC236}">
                <a16:creationId xmlns:a16="http://schemas.microsoft.com/office/drawing/2014/main" id="{BFD02EFB-B366-BACF-6FA4-5FF0D20D3125}"/>
              </a:ext>
            </a:extLst>
          </p:cNvPr>
          <p:cNvCxnSpPr>
            <a:cxnSpLocks/>
            <a:stCxn id="19" idx="2"/>
            <a:endCxn id="23" idx="1"/>
          </p:cNvCxnSpPr>
          <p:nvPr/>
        </p:nvCxnSpPr>
        <p:spPr>
          <a:xfrm rot="16200000" flipH="1">
            <a:off x="4331294" y="3495648"/>
            <a:ext cx="3137539" cy="142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F0E2918E-5F14-91CA-4AB8-3152ED76C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269" y="4299450"/>
            <a:ext cx="5890111" cy="167234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89DF932-5A51-127A-5A01-129776C56026}"/>
              </a:ext>
            </a:extLst>
          </p:cNvPr>
          <p:cNvSpPr txBox="1"/>
          <p:nvPr/>
        </p:nvSpPr>
        <p:spPr>
          <a:xfrm>
            <a:off x="139403" y="3093969"/>
            <a:ext cx="1905599" cy="8876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Let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 = </a:t>
            </a: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y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FF8BB3B-A077-AFB9-CE95-474DEA4B313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Stochastic Gradient Descent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_x422600552" descr="DRW00004be805ca">
            <a:extLst>
              <a:ext uri="{FF2B5EF4-FFF2-40B4-BE49-F238E27FC236}">
                <a16:creationId xmlns:a16="http://schemas.microsoft.com/office/drawing/2014/main" id="{30CB297D-E262-5E5D-CEB1-0ED3249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9134" y="3919739"/>
            <a:ext cx="2251372" cy="521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25B0AFC-9A4F-3F16-542C-A67408332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90010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 (Project)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3" y="1238249"/>
            <a:ext cx="10773382" cy="4638675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사용하여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적용하라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863" y="2818450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3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8361749" y="2624259"/>
            <a:ext cx="2887276" cy="3294706"/>
            <a:chOff x="8914199" y="2157534"/>
            <a:chExt cx="2887276" cy="3294706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8914199" y="2637854"/>
              <a:ext cx="2887276" cy="2814386"/>
              <a:chOff x="7009199" y="3511129"/>
              <a:chExt cx="2887276" cy="28143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7009199" y="3511129"/>
                <a:ext cx="2887276" cy="2534212"/>
                <a:chOff x="7009199" y="3508852"/>
                <a:chExt cx="2462167" cy="2161087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9165" y="3508852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343312" y="2157534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1277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9A7DB6AE-FB70-EC78-BC76-BDCE7F437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349374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A954B6-12AD-F473-F1AC-6EF7CAC9B9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Backpropagation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AAF4256-6B7B-17F3-D328-42EC644287BB}"/>
              </a:ext>
            </a:extLst>
          </p:cNvPr>
          <p:cNvGrpSpPr/>
          <p:nvPr/>
        </p:nvGrpSpPr>
        <p:grpSpPr>
          <a:xfrm>
            <a:off x="1449579" y="2923303"/>
            <a:ext cx="3284345" cy="2585323"/>
            <a:chOff x="2383030" y="2885975"/>
            <a:chExt cx="3725892" cy="29649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FE72E79-91B8-7DA0-28A9-365F1BA3D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83030" y="2885975"/>
              <a:ext cx="3725892" cy="296490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4020636-809F-858B-8DA3-C294DF905B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5743305" y="3817589"/>
              <a:ext cx="358398" cy="92586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A38C01C-CE43-6BF2-860E-78FBA244937F}"/>
              </a:ext>
            </a:extLst>
          </p:cNvPr>
          <p:cNvSpPr txBox="1"/>
          <p:nvPr/>
        </p:nvSpPr>
        <p:spPr>
          <a:xfrm>
            <a:off x="5423677" y="2949574"/>
            <a:ext cx="6096000" cy="2585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dirty="0"/>
              <a:t>        X0 (=1, </a:t>
            </a:r>
            <a:r>
              <a:rPr lang="ko-KR" altLang="en-US" dirty="0" err="1"/>
              <a:t>bias</a:t>
            </a:r>
            <a:r>
              <a:rPr lang="ko-KR" altLang="en-US" dirty="0"/>
              <a:t>)</a:t>
            </a:r>
          </a:p>
          <a:p>
            <a:r>
              <a:rPr lang="ko-KR" altLang="en-US" dirty="0"/>
              <a:t>             │</a:t>
            </a:r>
          </a:p>
          <a:p>
            <a:r>
              <a:rPr lang="ko-KR" altLang="en-US" dirty="0"/>
              <a:t>             │ w0</a:t>
            </a:r>
          </a:p>
          <a:p>
            <a:r>
              <a:rPr lang="ko-KR" altLang="en-US" dirty="0"/>
              <a:t>             ▼</a:t>
            </a:r>
          </a:p>
          <a:p>
            <a:r>
              <a:rPr lang="ko-KR" altLang="en-US" dirty="0"/>
              <a:t>        ┌─────────┐</a:t>
            </a:r>
          </a:p>
          <a:p>
            <a:r>
              <a:rPr lang="ko-KR" altLang="en-US" dirty="0"/>
              <a:t>X1 ──w1▶│         │</a:t>
            </a:r>
          </a:p>
          <a:p>
            <a:r>
              <a:rPr lang="ko-KR" altLang="en-US" dirty="0"/>
              <a:t>        │             </a:t>
            </a:r>
            <a:r>
              <a:rPr lang="ko-KR" altLang="en-US" dirty="0" err="1"/>
              <a:t>Σ</a:t>
            </a:r>
            <a:r>
              <a:rPr lang="ko-KR" altLang="en-US" dirty="0"/>
              <a:t>    │───▶ </a:t>
            </a:r>
            <a:r>
              <a:rPr lang="ko-KR" altLang="en-US" dirty="0" err="1"/>
              <a:t>Activation</a:t>
            </a:r>
            <a:r>
              <a:rPr lang="ko-KR" altLang="en-US" dirty="0"/>
              <a:t> (</a:t>
            </a:r>
            <a:r>
              <a:rPr lang="ko-KR" altLang="en-US" dirty="0" err="1"/>
              <a:t>Step</a:t>
            </a:r>
            <a:r>
              <a:rPr lang="ko-KR" altLang="en-US" dirty="0"/>
              <a:t>) ───▶ </a:t>
            </a:r>
            <a:r>
              <a:rPr lang="ko-KR" altLang="en-US" dirty="0" err="1"/>
              <a:t>y</a:t>
            </a:r>
            <a:endParaRPr lang="ko-KR" altLang="en-US" dirty="0"/>
          </a:p>
          <a:p>
            <a:r>
              <a:rPr lang="ko-KR" altLang="en-US" dirty="0"/>
              <a:t>X2 ──w2▶│ (</a:t>
            </a:r>
            <a:r>
              <a:rPr lang="ko-KR" altLang="en-US" dirty="0" err="1"/>
              <a:t>sum</a:t>
            </a:r>
            <a:r>
              <a:rPr lang="ko-KR" altLang="en-US" dirty="0"/>
              <a:t>) │</a:t>
            </a:r>
          </a:p>
          <a:p>
            <a:r>
              <a:rPr lang="ko-KR" altLang="en-US" dirty="0"/>
              <a:t>        └─────────┘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09199-A9A7-0518-8BD1-EFF90CBC0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89FB3C-8ED1-2668-A02A-1D719EB70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06554A-7D6A-9722-68E2-D087D62F296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0E57286B-6519-32B8-78A3-D8BF40374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2850" y="905522"/>
            <a:ext cx="9245379" cy="5495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7636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414760" cy="49930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seed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(0)</a:t>
            </a:r>
          </a:p>
          <a:p>
            <a:pPr marL="36900" indent="0">
              <a:buNone/>
            </a:pPr>
            <a:r>
              <a:rPr lang="en-US" altLang="ko-KR" sz="1400" dirty="0">
                <a:effectLst/>
                <a:latin typeface="Arial Narrow" panose="020B0606020202030204" pitchFamily="34" charset="0"/>
              </a:rPr>
              <a:t>X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randn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(500); tr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1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logical_and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logical_or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&lt;=-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('x2',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'18');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show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</a:t>
            </a:r>
          </a:p>
          <a:p>
            <a:pPr marL="36900" indent="0">
              <a:buNone/>
            </a:pPr>
            <a:endParaRPr lang="en-US" altLang="ko-KR" sz="1400" dirty="0">
              <a:effectLst/>
              <a:latin typeface="Arial Narrow" panose="020B0606020202030204" pitchFamily="34" charset="0"/>
            </a:endParaRP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(r'$\phi_1$',fontsize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(r'$\phi_2$',fontsize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 solving in Transformed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higer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Space',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axhline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tr, color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'g',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'-')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7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472010-BAB6-CD25-7F2C-8B7FB6C8D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036" y="980954"/>
            <a:ext cx="3595975" cy="253961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7402423-C18E-BCB8-EB00-3647C7011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928" y="3756341"/>
            <a:ext cx="3507083" cy="2539612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6EEEFA36-8D7F-734A-EF6C-5B6BBB0D0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9675" y="3230863"/>
            <a:ext cx="1272650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4113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E33A-EAD9-0E64-1001-0C1A3E23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9882A-1D3D-A251-8607-459BD3A5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6BB72-ABD2-1253-59B1-C7A5F3588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615999D5-3A04-9FF7-FF4A-A3C06F0CBC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21169E-B090-C7DD-2500-1A35C5CD2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D7C9931-639E-A2F5-5F58-B82DE55F5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A3AF10D-2122-08B5-815F-B739E44E16D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42230BC-BB3D-82B6-5A26-4B1E81054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600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Backpropagation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842754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42424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2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8000"/>
            <a:ext cx="10353762" cy="425826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24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구조를 사용하여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B856B-19EA-218B-C857-CE05CEAF8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120ECD5B-55BC-704B-D283-E742A9F6F2A8}"/>
              </a:ext>
            </a:extLst>
          </p:cNvPr>
          <p:cNvSpPr/>
          <p:nvPr/>
        </p:nvSpPr>
        <p:spPr>
          <a:xfrm>
            <a:off x="678584" y="48196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B3C17D-ADD8-C635-4143-16EF05799BAA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59D152-0E4E-68A6-9C7D-B18896B7B299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007ED4-21E1-A1D7-80A5-42FC103573AA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8227450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74859-7B64-5D9C-880C-3DD03B237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438ABE29-6FFB-BDC6-1057-98F40DD05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00" y="1341120"/>
            <a:ext cx="7070197" cy="461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3BFEBE-4E39-F739-9487-D585CA6A0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A1DA53-2F42-6742-3CC6-4ED525B8A1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FE870F4F-57D1-9757-1BD3-1F9FB2AF0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557994"/>
            <a:ext cx="4399279" cy="439448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 형태의 가상데이터의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70%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훈련데이터로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다항식으로 학습하고 나머지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30%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예측한 결과 시각화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이러한 예측의 치명적 결함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과대적합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variance)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훈련데이터에 과대 집착하여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(too sensitive to past data)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일반화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(Generalization)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 생성 실패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낭비 및 편향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회만 사용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구조의 신뢰도 저하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9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 구조가 좋다는 근거가 없음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8594-CEA0-048B-D43B-49B4028B885C}"/>
              </a:ext>
            </a:extLst>
          </p:cNvPr>
          <p:cNvSpPr txBox="1"/>
          <p:nvPr/>
        </p:nvSpPr>
        <p:spPr>
          <a:xfrm>
            <a:off x="8398949" y="4416242"/>
            <a:ext cx="2868607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 = 1000</a:t>
            </a:r>
          </a:p>
          <a:p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np.random.RandomState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(11)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10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np.cos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 + 0.55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rng.randn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F3FEA7-014F-6E03-6706-0C4078EAF29F}"/>
              </a:ext>
            </a:extLst>
          </p:cNvPr>
          <p:cNvSpPr txBox="1"/>
          <p:nvPr/>
        </p:nvSpPr>
        <p:spPr>
          <a:xfrm>
            <a:off x="6888481" y="1011920"/>
            <a:ext cx="391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bias-variance/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/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1200" b="0" i="1" cap="none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34412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60C45-A319-75B6-3B2E-57FB4E484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E36B7-36A4-D9F3-B7CF-5AAF24FC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28786A6-6685-0D59-C5FC-8627B4CD029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cross-validation :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부터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 모델별로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5-fold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사용하여 훈련데이터로 학습하여 검증데이터 예측결과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평균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Squared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Error)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Average CV MSE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가장 낮은 다항식모델은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모델로 결정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다항식모델을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Hold-out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데이터로 예측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  <a:blipFill>
                <a:blip r:embed="rId2"/>
                <a:stretch>
                  <a:fillRect l="-3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66912183-750B-BEF1-8EC1-22CC255C4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8512" y="3265569"/>
            <a:ext cx="4767031" cy="266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글 내용">
            <a:extLst>
              <a:ext uri="{FF2B5EF4-FFF2-40B4-BE49-F238E27FC236}">
                <a16:creationId xmlns:a16="http://schemas.microsoft.com/office/drawing/2014/main" id="{E23B82CF-DF36-DBB3-0484-3A0E301DF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050" y="3270032"/>
            <a:ext cx="4033520" cy="183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7C9529-92E1-ACB2-5833-8FA8A11525AF}"/>
              </a:ext>
            </a:extLst>
          </p:cNvPr>
          <p:cNvSpPr txBox="1"/>
          <p:nvPr/>
        </p:nvSpPr>
        <p:spPr>
          <a:xfrm>
            <a:off x="9605543" y="3266473"/>
            <a:ext cx="25704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Arial Narrow" panose="020B0606020202030204" pitchFamily="34" charset="0"/>
              </a:rPr>
              <a:t>Degree 0: Average CV MSE = 0.8165 Degree 1: Average CV MSE = 0.7959 Degree 2: Average CV MSE = 0.7917 Degree 3: Average CV MSE = 0.4621 Degree 4: Average CV MSE = 0.4400 Degree 5: Average CV MSE = 0.3227 Degree 6: Average CV MSE = 0.3203 Degree 7: Average CV MSE = 0.3163 Degree 8: Average CV MSE = 0.4017 Degree 9: Average CV MSE = 0.425</a:t>
            </a:r>
            <a:endParaRPr lang="ko-KR" altLang="en-US" sz="1200" dirty="0"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60A2D1-C218-05CA-8FA9-4AEC8910906B}"/>
              </a:ext>
            </a:extLst>
          </p:cNvPr>
          <p:cNvSpPr txBox="1"/>
          <p:nvPr/>
        </p:nvSpPr>
        <p:spPr>
          <a:xfrm>
            <a:off x="528321" y="2795924"/>
            <a:ext cx="4033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cross-validation/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29111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DB585-A11F-F79D-88AF-E05DA836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1518FEFF-02A7-FB9B-6B9E-5A87738D4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001" y="4039324"/>
            <a:ext cx="8054649" cy="209804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F9E20B-0C28-71FC-9F92-D69AC6CD0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953A29-9ACC-0CC5-7F78-319CBCA77A4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Hold out + CV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807D94E-1A8D-D390-FC8F-11C33CAE9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029674"/>
            <a:ext cx="11338559" cy="2617766"/>
          </a:xfrm>
        </p:spPr>
        <p:txBody>
          <a:bodyPr>
            <a:normAutofit fontScale="85000" lnSpcReduction="20000"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과거데이터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(N=1000)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 set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(Cross Validation)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나머지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K-fold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학습 및 검증 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f1-score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등을 성능지표로 모델 평가 및 선택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구조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선택 모델로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최종적으로  학습하여 최적모델 생성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Hold-out(Test set)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예측하여 성능지표를 확인하고 종료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909783-0713-3820-12C1-A77FD79F7EE5}"/>
              </a:ext>
            </a:extLst>
          </p:cNvPr>
          <p:cNvSpPr txBox="1"/>
          <p:nvPr/>
        </p:nvSpPr>
        <p:spPr>
          <a:xfrm>
            <a:off x="8566281" y="5639246"/>
            <a:ext cx="14006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solidFill>
                  <a:srgbClr val="666666"/>
                </a:solidFill>
                <a:effectLst/>
                <a:latin typeface="Arial" panose="020B0604020202020204" pitchFamily="34" charset="0"/>
              </a:rPr>
              <a:t>3-fold CV</a:t>
            </a:r>
            <a:endParaRPr lang="ko-KR" alt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8927D7-6AAF-8E39-7939-23C8DE5ECD57}"/>
              </a:ext>
            </a:extLst>
          </p:cNvPr>
          <p:cNvSpPr txBox="1"/>
          <p:nvPr/>
        </p:nvSpPr>
        <p:spPr>
          <a:xfrm>
            <a:off x="1999240" y="3647440"/>
            <a:ext cx="3756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train-test-validation/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85628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4DAA0-D37E-C1F2-1874-431BE448E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EDCE1-6AB3-E560-8604-B89EDD35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0DB93D6-D873-C9CD-5AAF-2637AEE2B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E84BEA6-DD9A-2E40-C600-CF242B16840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cross validation &amp; CV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D7CAEEE-98C8-510C-EB2A-AABB921CF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데이터에서 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“price”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 가장 상관관계가 높은 수치형 변수를 선택하고 단순회귀식의 몇 차의 다항식이 가장 적합한지 모델을 선택하라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평가기준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교차검증 평균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Errors)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20%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5-fold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수치를 최종 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415018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F1ADF-1B70-2171-5A85-0C9081B95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30DF-214F-B904-0AC1-6D1A4C55F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64CA8-2386-587C-47F7-37D0EB38E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1" y="1721959"/>
            <a:ext cx="4765039" cy="371856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직선만 학습한 데이터 패턴 미반영한 과소적합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Bias, Underfitting), 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Polynomial 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 데이터에 과도하게 맞춘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(Overfitting, Low Bias)</a:t>
            </a: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 (L2)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크기를 억제하여 부드러운 곡선으로 안정화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(L1)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더 보수적 모델로 불필요한 계수는 제거하여 단순화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53B61E22-BABE-F65A-59D6-4C883DAD80E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9E898CD-5ED9-B86C-A42F-E29B638B3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9840" y="1690270"/>
            <a:ext cx="7073553" cy="4207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03673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7100-FF9F-E59F-6BB5-A4AF985AE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A7134E-3C65-1D6F-88CD-2E9DDCB8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288A2D9-A863-5884-9849-6BF257D90CC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5E766-0CDC-143F-B4A6-B9D3B79A287B}"/>
              </a:ext>
            </a:extLst>
          </p:cNvPr>
          <p:cNvSpPr txBox="1"/>
          <p:nvPr/>
        </p:nvSpPr>
        <p:spPr>
          <a:xfrm>
            <a:off x="528320" y="1063859"/>
            <a:ext cx="5181600" cy="489903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sklearn.linear_model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Ridge, Lasso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sklearn.preprocessing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np.random.RandomState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10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y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np.cos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(X) + 0.25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X.reshape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(-1,1)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().fit(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X,y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).predict(X)</a:t>
            </a:r>
            <a:br>
              <a:rPr lang="en-US" altLang="ko-KR" sz="1400" b="0" dirty="0">
                <a:effectLst/>
                <a:latin typeface="Arial Narrow" panose="020B0606020202030204" pitchFamily="34" charset="0"/>
              </a:rPr>
            </a:b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np.linspace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(0, 10, 100)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B9EAC1-2B2C-AC68-DE86-98EBCEFCE703}"/>
              </a:ext>
            </a:extLst>
          </p:cNvPr>
          <p:cNvSpPr txBox="1"/>
          <p:nvPr/>
        </p:nvSpPr>
        <p:spPr>
          <a:xfrm>
            <a:off x="5984240" y="1063859"/>
            <a:ext cx="6085840" cy="392953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Lasso(alpha= 1))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Ridge(alpha= 30))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plt.figure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figsize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=(10, 5))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color='red',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=1.5, label='Linear Regression')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color='green',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=2.5, label='Polynomial Regression (High Degree)')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color='blue',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='--', label='Ridge (L2)')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color='black',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=':', label='Lasso (L1)')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(loc='upper left',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frameon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=True, shadow=True)</a:t>
            </a:r>
          </a:p>
        </p:txBody>
      </p:sp>
    </p:spTree>
    <p:extLst>
      <p:ext uri="{BB962C8B-B14F-4D97-AF65-F5344CB8AC3E}">
        <p14:creationId xmlns:p14="http://schemas.microsoft.com/office/powerpoint/2010/main" val="21117123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B9821-B756-B7ED-5927-A6582D795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4E4CEF-C5AB-CE38-A3AF-0240E6A20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00297D-AE6D-4177-8CF3-653BAD0F6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158240"/>
            <a:ext cx="10239461" cy="933681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사람이 일일이 규칙을 프로그래밍하는 대신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데이터를 통해 스스로 학습하여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패턴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(pattern)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찾아내고 미래를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85BE61F-8E74-DF46-4A2C-23D8AA287916}"/>
              </a:ext>
            </a:extLst>
          </p:cNvPr>
          <p:cNvGrpSpPr/>
          <p:nvPr/>
        </p:nvGrpSpPr>
        <p:grpSpPr>
          <a:xfrm>
            <a:off x="1946305" y="2531370"/>
            <a:ext cx="7235795" cy="2896113"/>
            <a:chOff x="1028095" y="3317240"/>
            <a:chExt cx="6455932" cy="237236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DF56A33-9A07-E323-4BB5-ABD1F388E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8095" y="3317240"/>
              <a:ext cx="6455932" cy="237236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E066160-A3F7-2BDE-A962-B12CE5DF6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164801" y="4554242"/>
              <a:ext cx="883997" cy="251482"/>
            </a:xfrm>
            <a:prstGeom prst="rect">
              <a:avLst/>
            </a:prstGeom>
          </p:spPr>
        </p:pic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E05B0FF-EF30-6052-97FE-54CB919AC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100" y="2531370"/>
            <a:ext cx="2287025" cy="1731604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10A9643F-3FDC-72A3-A519-E8B62D09C1C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algorithm(data)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9344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4B538-8014-D56E-3AF2-AA7E15A68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B672D-5034-9EB6-03BD-E97919B6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6BCA8CE-1984-4263-EE4E-D68A539462B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DB0E83C6-CA8D-D9FF-025D-C229BAF93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solidFill>
                  <a:schemeClr val="accent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decision-tree/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 descr="푸른 하늘 아래 녹색 잎 나무">
            <a:extLst>
              <a:ext uri="{FF2B5EF4-FFF2-40B4-BE49-F238E27FC236}">
                <a16:creationId xmlns:a16="http://schemas.microsoft.com/office/drawing/2014/main" id="{09CB8783-407C-7E25-651D-AE5EC7243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1" y="2810461"/>
            <a:ext cx="4629150" cy="308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6039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98D7-464D-06E0-E3A9-D0F7DA7DC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9FA93F-3599-813D-595A-0FA8AB194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5714B33-1291-40C0-87F0-DE9CD0764C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Wisdom of the Crowd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009A463-9FCF-3525-1650-482A97208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188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1785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프랑스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콩도르세의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배심원정리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Condorcet's jury theorem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따르면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근소하게 올바른 판단력을 가진 배심원이 모여서 독립적으로 판결하게 되면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결국 항상 올바른 판단을 내린다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것이다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배심원정리는 앙상블모델을 가장 잘 설명해주고 있다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Randomness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=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Justice,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국민재판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D322E1-9BA9-0C88-4211-96B32C7AC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066" y="2790530"/>
            <a:ext cx="5372134" cy="28387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C225B5-AEB2-7110-3011-8B048D776CAA}"/>
              </a:ext>
            </a:extLst>
          </p:cNvPr>
          <p:cNvSpPr txBox="1"/>
          <p:nvPr/>
        </p:nvSpPr>
        <p:spPr>
          <a:xfrm>
            <a:off x="1042572" y="2904829"/>
            <a:ext cx="4948653" cy="1611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53%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올바른 판단을 하는 배심원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명이 모여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재판 판결은 재판의 회수가 많아질수록 무작위로 판단하는 ’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50%‘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항상 올바른 결정을 한다는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사실을 파이썬 코드로 만들고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46070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034-A6AB-F623-ECF6-CE6137265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63024C-F98C-52AE-BB92-450D683F3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E4CD56B-F88D-FDDC-C438-BEB21800474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73D31DD-D90E-51A0-F902-D7B74951F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random-forest/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푸른 나무의 항공 사진">
            <a:extLst>
              <a:ext uri="{FF2B5EF4-FFF2-40B4-BE49-F238E27FC236}">
                <a16:creationId xmlns:a16="http://schemas.microsoft.com/office/drawing/2014/main" id="{12DF00AA-B10C-C1B8-1183-1D9FA1B80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975" y="2718166"/>
            <a:ext cx="4994808" cy="3318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2595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080F7-D07E-7187-40C7-EB970C62C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83E2C-5105-7708-842D-6776A1F1A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6522E9-7406-138D-A270-70260FD2C73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Ensemble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9E6C6A-E317-6392-884C-D66A85069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442" y="1331475"/>
            <a:ext cx="7669400" cy="4419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25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4B199-EB4C-06C5-9EC8-F269DF89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33429F-1589-22DE-EF0F-012D96344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CEB1B5-A2A0-F626-FF2A-B63F7225799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K-nearest neighbors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40FC9930-32A4-A49A-3146-A4E647D3A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KNN/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0FC78F8-E7C2-CE49-322E-395438848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498" y="2579312"/>
            <a:ext cx="4867528" cy="36395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ED95102-DEB0-1D80-1997-F6D758920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7899" y="3409102"/>
            <a:ext cx="1180047" cy="124039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BB6328C-1E8B-51C2-E7A2-49461BC5DF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899" y="5025366"/>
            <a:ext cx="2098607" cy="119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31411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DDC7B-BD5C-3290-556E-42CA1AB18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248025C-D1D4-622A-2ACB-AAF8CC0D4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0" y="1737538"/>
            <a:ext cx="8163686" cy="4847188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EF507-0BC0-BFAE-51D4-465B7EDD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918A77C-3E4F-2657-B205-806650CF337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Basic Concepts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4CB262E-C5B7-1A57-7642-965919D38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103436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basic concepts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사이트에서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Data Scaling, Linear Regression, Loss and Metric, Stochastic gradient descent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자습하라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36964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F72B8-7FFD-4E19-8B6C-D002E1ADD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A006566A-DD82-69DA-638D-DF707BA31AA6}"/>
              </a:ext>
            </a:extLst>
          </p:cNvPr>
          <p:cNvSpPr/>
          <p:nvPr/>
        </p:nvSpPr>
        <p:spPr>
          <a:xfrm>
            <a:off x="6374534" y="1485615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43FB53-BC88-47B7-3491-FAAD945F3932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215470-3572-70C2-F747-2A86BD210E57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94AA1-7E73-197E-8256-AE774F51778F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7260740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  <a:blipFill>
                <a:blip r:embed="rId2"/>
                <a:stretch>
                  <a:fillRect l="-569" r="-3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525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8561243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Activation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3706" y="956441"/>
            <a:ext cx="4401339" cy="5762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39" y="90552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748841" y="725608"/>
            <a:ext cx="2376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그림 46">
            <a:extLst>
              <a:ext uri="{FF2B5EF4-FFF2-40B4-BE49-F238E27FC236}">
                <a16:creationId xmlns:a16="http://schemas.microsoft.com/office/drawing/2014/main" id="{C61B7A09-B3CA-0DFD-7409-53A2ABD4F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31" y="1497393"/>
            <a:ext cx="1995078" cy="4442033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1034365" cy="7467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474" y="1010883"/>
            <a:ext cx="7087994" cy="53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76644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123204"/>
              </p:ext>
            </p:extLst>
          </p:nvPr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248760"/>
              </p:ext>
            </p:extLst>
          </p:nvPr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665914"/>
              </p:ext>
            </p:extLst>
          </p:nvPr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339763"/>
              </p:ext>
            </p:extLst>
          </p:nvPr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8046355"/>
              </p:ext>
            </p:extLst>
          </p:nvPr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13680"/>
              </p:ext>
            </p:extLst>
          </p:nvPr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488906"/>
              </p:ext>
            </p:extLst>
          </p:nvPr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C570A0-8E26-3D3A-06E6-2EB1689EF8D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1134301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979371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697407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4444" y="4583378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4366194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0426" y="1134301"/>
            <a:ext cx="4596800" cy="120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05AA8-01DA-99FE-B9F8-FDA9346D7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3FD553-8569-F4F3-4413-AEE3F9C7BC6F}"/>
              </a:ext>
            </a:extLst>
          </p:cNvPr>
          <p:cNvSpPr/>
          <p:nvPr/>
        </p:nvSpPr>
        <p:spPr>
          <a:xfrm>
            <a:off x="6374534" y="3971640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063917-6747-19F3-9398-F49ECE7F4D17}"/>
              </a:ext>
            </a:extLst>
          </p:cNvPr>
          <p:cNvSpPr txBox="1"/>
          <p:nvPr/>
        </p:nvSpPr>
        <p:spPr>
          <a:xfrm>
            <a:off x="1336229" y="1428465"/>
            <a:ext cx="4619625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223A42-141C-AD21-851B-B1BFD94B8CE6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6DED9A-175C-7507-5A3D-BDE211FDB32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413448716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DE82-E761-815D-D827-048FE401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71A663-E6E2-41F2-752E-AF07B9674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7078DC6-E5BB-C5BD-550D-2D5CFDED855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B8B203A-CA07-6F79-6C40-BA9154646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4D1D46-BBF5-8CEB-9866-F00627769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2273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Curse of Dimensionality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67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97C386F-CDC8-D30A-799E-5F0E86CF9A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4950" y="1482700"/>
            <a:ext cx="6696075" cy="4387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958E040-12DD-F325-D995-5C6D397BBB82}"/>
              </a:ext>
            </a:extLst>
          </p:cNvPr>
          <p:cNvSpPr txBox="1"/>
          <p:nvPr/>
        </p:nvSpPr>
        <p:spPr>
          <a:xfrm>
            <a:off x="314325" y="1562100"/>
            <a:ext cx="4905375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고차원 공간으로 갈수록 데이터의 대부분이 중심이 아닌 '테두리(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Shell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)' 부근에 위치하게 된다는 고차원의 저주(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Curse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Dimensionality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현상을 시각화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endParaRPr lang="ko-KR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가로·세로가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1인 단위 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초입방체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Unit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Hypercube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)에서 두께가 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epsilon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=0.01인 프레임에 점이 존재할 확률은 전체 부피에서 내부 핵심(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Core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부피를 뺀 비율로 계산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개발</a:t>
            </a:r>
            <a:endParaRPr lang="ko-KR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B0D41E7-E641-0EC5-872B-9A81542BF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5171" y="3971907"/>
            <a:ext cx="2537680" cy="419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760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96518-60AC-88AA-C853-524C140D4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37A5F-C643-5772-B840-67C212BE3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SVD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D6A251-2D5E-4339-F957-B0265B491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68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62C3F2-3B8C-9E74-A032-4935C5425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998046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Singular Value Decomposition (SVD):</a:t>
            </a:r>
          </a:p>
          <a:p>
            <a:pPr marL="36900" indent="0">
              <a:buNone/>
            </a:pPr>
            <a:endParaRPr lang="en-US" altLang="ko-KR" sz="2200" dirty="0">
              <a:effectLst/>
            </a:endParaRP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141C94-818D-D2E1-2B51-24A2E04AC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033" y="1934201"/>
            <a:ext cx="5191182" cy="21140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F611E34-3F9F-7D2A-BA34-8903FECF5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033" y="4330588"/>
            <a:ext cx="5191182" cy="186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4865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69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949440" y="1647904"/>
            <a:ext cx="524256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scipy.optimize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Objective function coefficients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 = [-3, -2]  # Minimize -3x1 - 2x2 is equivalent to maximizing 3x1 + 2x2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matrix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[[1, 1], [2, 1], [-1, 0]]  # Note the change in the third constraint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vector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 = [100, 100, -40]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Bounds for variables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x0_bounds = (0, None)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x1_bounds = (0, None)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Solve linear programming problem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(c,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=A,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=b, bounds=[x0_bounds, x1_bounds], method='highs')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Display the results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Negate the result because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minimizes by default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value (max z):', -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result.fun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  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point (x1, x2):',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result.x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Linear Programing 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25234C1-3DF1-C42D-7E13-AF831521D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01" y="2327162"/>
            <a:ext cx="3887267" cy="33679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C9AFD41-360D-DB5A-47E6-646A22156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74" y="1863603"/>
            <a:ext cx="1719806" cy="122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0275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C7F7-04AB-8B81-7F53-BF986F2A8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9DF299F6-063E-A5FA-8179-AB466B3B8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Compound_interest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021F27D-1221-FB58-BDEC-9B34A7E03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1150966"/>
            <a:ext cx="10758457" cy="1165514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그림은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1,000 US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dollars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interest)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sz="24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6B489B-CD30-D4B5-4A10-E9751D29F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70</a:t>
            </a:fld>
            <a:endParaRPr lang="en-US" dirty="0"/>
          </a:p>
        </p:txBody>
      </p:sp>
      <p:pic>
        <p:nvPicPr>
          <p:cNvPr id="6" name="그래픽 5">
            <a:extLst>
              <a:ext uri="{FF2B5EF4-FFF2-40B4-BE49-F238E27FC236}">
                <a16:creationId xmlns:a16="http://schemas.microsoft.com/office/drawing/2014/main" id="{6B180EC8-ACE7-C4A9-7A76-657288575B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14084" y="2316480"/>
            <a:ext cx="6564086" cy="408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98523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710E2-787E-03C0-6E19-A8FA39C0C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06C2482-E37E-4435-7CBE-2F006E71C350}"/>
              </a:ext>
            </a:extLst>
          </p:cNvPr>
          <p:cNvSpPr/>
          <p:nvPr/>
        </p:nvSpPr>
        <p:spPr>
          <a:xfrm>
            <a:off x="1127448" y="3429501"/>
            <a:ext cx="4749534" cy="5846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99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C4D0AD-05E8-89C2-6D70-AB9EBB424D7E}"/>
              </a:ext>
            </a:extLst>
          </p:cNvPr>
          <p:cNvSpPr txBox="1"/>
          <p:nvPr/>
        </p:nvSpPr>
        <p:spPr>
          <a:xfrm>
            <a:off x="1337468" y="1428986"/>
            <a:ext cx="8435182" cy="3606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derivative function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mathematical 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interest compound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Montecarlo Simulation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Programing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Genetic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BA2290-6C75-39F8-656D-D7C62838E1EE}"/>
              </a:ext>
            </a:extLst>
          </p:cNvPr>
          <p:cNvSpPr txBox="1"/>
          <p:nvPr/>
        </p:nvSpPr>
        <p:spPr>
          <a:xfrm>
            <a:off x="1337470" y="710574"/>
            <a:ext cx="2603977" cy="584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199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199" dirty="0"/>
          </a:p>
        </p:txBody>
      </p:sp>
    </p:spTree>
    <p:extLst>
      <p:ext uri="{BB962C8B-B14F-4D97-AF65-F5344CB8AC3E}">
        <p14:creationId xmlns:p14="http://schemas.microsoft.com/office/powerpoint/2010/main" val="122342108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4A28AC8-4F29-6A5C-3946-6F8E280A0619}"/>
              </a:ext>
            </a:extLst>
          </p:cNvPr>
          <p:cNvSpPr txBox="1">
            <a:spLocks/>
          </p:cNvSpPr>
          <p:nvPr/>
        </p:nvSpPr>
        <p:spPr>
          <a:xfrm>
            <a:off x="10512862" y="6035582"/>
            <a:ext cx="753349" cy="36503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mtClean="0"/>
              <a:pPr/>
              <a:t>72</a:t>
            </a:fld>
            <a:endParaRPr 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61ABC30-95E8-41E4-F62C-84E574B5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F1BE72C5-38C4-1EFB-EF33-005F74E51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Montecarlo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7408" y="1196753"/>
            <a:ext cx="3062912" cy="97084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원주율 구하라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원의 면접 구하기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27E2EF4B-E5C3-7839-EEF5-9C1CFD5C2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73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B8BD9749-90DE-98B4-BB97-053D46BCBA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9353" y="2387412"/>
            <a:ext cx="4081607" cy="401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D039467-9D9F-1A4F-9F2B-2F0043A27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6897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EE1BF-0896-A11C-A3DB-B8AEE4D00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8D7453-40F7-A835-34E6-E534D818D73D}"/>
              </a:ext>
            </a:extLst>
          </p:cNvPr>
          <p:cNvSpPr txBox="1"/>
          <p:nvPr/>
        </p:nvSpPr>
        <p:spPr>
          <a:xfrm>
            <a:off x="767408" y="1196753"/>
            <a:ext cx="11028352" cy="377827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>
              <a:lnSpc>
                <a:spcPct val="150000"/>
              </a:lnSpc>
              <a:buFont typeface="Wingdings" panose="05000000000000000000" pitchFamily="2" charset="2"/>
              <a:buChar char="§"/>
              <a:defRPr sz="200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defRPr>
            </a:lvl1pPr>
          </a:lstStyle>
          <a:p>
            <a:r>
              <a:rPr lang="en-US" altLang="ko-KR" sz="180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Random_walk</a:t>
            </a:r>
            <a:r>
              <a:rPr lang="en-US" altLang="ko-KR" sz="1800" dirty="0"/>
              <a:t> </a:t>
            </a:r>
            <a:r>
              <a:rPr lang="ko-KR" altLang="en-US" sz="1800" dirty="0"/>
              <a:t>는 수학 및 통계학에서 어떤 대상이 매 순간 방향이나 크기를 무작위로 결정하며 이동하는 경로를 의미하며</a:t>
            </a:r>
            <a:r>
              <a:rPr lang="en-US" altLang="ko-KR" sz="1800" dirty="0"/>
              <a:t>, </a:t>
            </a:r>
            <a:r>
              <a:rPr lang="ko-KR" altLang="en-US" sz="1800" dirty="0"/>
              <a:t>가장 쉽게 이해하자면 </a:t>
            </a:r>
            <a:r>
              <a:rPr lang="en-US" altLang="ko-KR" sz="1800" dirty="0"/>
              <a:t>'</a:t>
            </a:r>
            <a:r>
              <a:rPr lang="ko-KR" altLang="en-US" sz="1800" dirty="0"/>
              <a:t>술 취한 사람의 걸음걸이</a:t>
            </a:r>
            <a:r>
              <a:rPr lang="en-US" altLang="ko-KR" sz="1800" dirty="0"/>
              <a:t>'</a:t>
            </a:r>
            <a:r>
              <a:rPr lang="ko-KR" altLang="en-US" sz="1800" dirty="0"/>
              <a:t>를 수학적으로 모델링한 것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/>
              <a:t>어떤 물체</a:t>
            </a:r>
            <a:r>
              <a:rPr lang="en-US" altLang="ko-KR" sz="1800" dirty="0"/>
              <a:t>(</a:t>
            </a:r>
            <a:r>
              <a:rPr lang="ko-KR" altLang="en-US" sz="1800" dirty="0"/>
              <a:t>입자</a:t>
            </a:r>
            <a:r>
              <a:rPr lang="en-US" altLang="ko-KR" sz="1800" dirty="0"/>
              <a:t>)</a:t>
            </a:r>
            <a:r>
              <a:rPr lang="ko-KR" altLang="en-US" sz="1800" dirty="0"/>
              <a:t>가 원점에서 출발하여 매 단계마다 특정 규칙에 따라 다음 위치를 결정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en-US" altLang="ko-KR" sz="1800" dirty="0"/>
              <a:t>"</a:t>
            </a:r>
            <a:r>
              <a:rPr lang="ko-KR" altLang="en-US" sz="1800" dirty="0"/>
              <a:t>다음 위치가 오직 현재 위치에 의해서만 결정되고</a:t>
            </a:r>
            <a:r>
              <a:rPr lang="en-US" altLang="ko-KR" sz="1800" dirty="0"/>
              <a:t>, </a:t>
            </a:r>
            <a:r>
              <a:rPr lang="ko-KR" altLang="en-US" sz="1800" dirty="0"/>
              <a:t>이전 경로와는 상관없다</a:t>
            </a:r>
            <a:r>
              <a:rPr lang="en-US" altLang="ko-KR" sz="1800" dirty="0"/>
              <a:t>"</a:t>
            </a:r>
            <a:r>
              <a:rPr lang="ko-KR" altLang="en-US" sz="1800" dirty="0"/>
              <a:t>는 것으로</a:t>
            </a:r>
            <a:r>
              <a:rPr lang="en-US" altLang="ko-KR" sz="1800" dirty="0"/>
              <a:t> </a:t>
            </a:r>
            <a:r>
              <a:rPr lang="ko-KR" altLang="en-US" sz="1800" dirty="0"/>
              <a:t>이를 확률론에서는 </a:t>
            </a:r>
            <a:r>
              <a:rPr lang="ko-KR" altLang="en-US" sz="1800" dirty="0" err="1"/>
              <a:t>마르코프</a:t>
            </a:r>
            <a:r>
              <a:rPr lang="ko-KR" altLang="en-US" sz="1800" dirty="0"/>
              <a:t> 성질</a:t>
            </a:r>
            <a:r>
              <a:rPr lang="en-US" altLang="ko-KR" sz="1800" dirty="0"/>
              <a:t>(Markov property)</a:t>
            </a:r>
            <a:r>
              <a:rPr lang="ko-KR" altLang="en-US" sz="1800" dirty="0"/>
              <a:t>을 갖고 있다고 함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/>
              <a:t>지금 위치에서 개구리가 다음에는 어디로 점프할지 모른다</a:t>
            </a:r>
            <a:endParaRPr lang="en-US" altLang="ko-KR" sz="1800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2F63A357-A461-C687-AA66-0FA94DA30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74</a:t>
            </a:fld>
            <a:endParaRPr 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8620574C-EA28-4558-65D4-FE1E85ADF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Random</a:t>
            </a:r>
            <a:r>
              <a:rPr lang="ko-KR" altLang="en-US" b="1" cap="none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walk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 descr="undefined">
            <a:extLst>
              <a:ext uri="{FF2B5EF4-FFF2-40B4-BE49-F238E27FC236}">
                <a16:creationId xmlns:a16="http://schemas.microsoft.com/office/drawing/2014/main" id="{42D4BD67-D791-2351-6AC5-8DDB9C25E1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9090" y="3870772"/>
            <a:ext cx="2833772" cy="2529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3017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DA73D-87E6-4BC7-A2FC-EDFB04155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B5D10770-4118-4B52-B1AF-170FDDB91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Random_Walk_Simulation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78830F8-C368-2AEB-15EE-D3591AD2E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1150966"/>
            <a:ext cx="10758457" cy="1944876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-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59709FA-185F-DB29-6C38-BC65761D2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75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F3A30C30-C05F-6BC7-35EE-85ED5C229F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880" y="3268608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6DC762DC-D1CB-BD44-DAC9-58E9387F2F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243" y="2966720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D86F955-DC60-CC44-2659-E1F50A4F87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31033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EF672-8248-82C7-642A-A1D72654E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44E6679B-C856-67CB-A498-66743A507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Random_Walk_Simulation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82EFBD4D-9D50-6C9B-D999-13A9C55F0C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1150965"/>
            <a:ext cx="10758457" cy="112716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모의실험을 베르누이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Galton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Board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비교하여 이해하자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?, single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walk ?,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명이 술이 취해 걸으면 최종 어디에 많이 모일까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40FA9E5-9DC7-F236-DD83-8D1361045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76</a:t>
            </a:fld>
            <a:endParaRPr lang="en-US" dirty="0"/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5503C7CB-F857-9A19-23EF-90925D633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057744" y="2688750"/>
            <a:ext cx="3591005" cy="3260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E0FF5CD-1F36-1F02-9B8C-3FF6677633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2404FA2-1A94-2E89-9A50-3FF05B24E7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051" y="2523570"/>
            <a:ext cx="2671321" cy="35373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4672EE-47B9-9ED0-D846-5A191A83C7B6}"/>
                  </a:ext>
                </a:extLst>
              </p:cNvPr>
              <p:cNvSpPr txBox="1"/>
              <p:nvPr/>
            </p:nvSpPr>
            <p:spPr>
              <a:xfrm>
                <a:off x="5765892" y="3754120"/>
                <a:ext cx="65274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4672EE-47B9-9ED0-D846-5A191A83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5892" y="3754120"/>
                <a:ext cx="652743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052146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CC241-55B4-65D1-A85B-3FADCF3E9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F6E57CEB-CF8E-85B4-E669-8E3467B8A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Random_Walk_Simulation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CFBC279-3653-3D05-7BBC-0AEC90FC9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1150966"/>
            <a:ext cx="10758457" cy="227803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367DF55-DC58-13BA-A039-B02E197A5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77</a:t>
            </a:fld>
            <a:endParaRPr lang="en-US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2EA324D-2C1D-95DB-4C29-29428B521A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2861" y="66676"/>
            <a:ext cx="1509277" cy="998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>
            <a:extLst>
              <a:ext uri="{FF2B5EF4-FFF2-40B4-BE49-F238E27FC236}">
                <a16:creationId xmlns:a16="http://schemas.microsoft.com/office/drawing/2014/main" id="{7AEA76DE-5798-4404-0084-FFA6B99D3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262" y="3429000"/>
            <a:ext cx="7409378" cy="3147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35EC74-1F6D-CE1F-85AE-12A42A886505}"/>
              </a:ext>
            </a:extLst>
          </p:cNvPr>
          <p:cNvSpPr txBox="1"/>
          <p:nvPr/>
        </p:nvSpPr>
        <p:spPr>
          <a:xfrm>
            <a:off x="8659178" y="3512105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269628898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A03C4-9F32-8658-57A1-8179E087B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C1CC16D-7C9C-2F71-E9C9-02A41D849637}"/>
              </a:ext>
            </a:extLst>
          </p:cNvPr>
          <p:cNvSpPr txBox="1"/>
          <p:nvPr/>
        </p:nvSpPr>
        <p:spPr>
          <a:xfrm>
            <a:off x="767408" y="1196753"/>
            <a:ext cx="9250352" cy="97084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재표본추출을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복원추출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(replace=True)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방식으로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100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무한히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재표본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추출하여 평균과 분산에 대해 토론하라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19691D-5BF7-99F5-D054-700096553189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3D10DE-54F1-5E83-B617-EB567D2F7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08" y="2625024"/>
            <a:ext cx="7170609" cy="3410558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B660879-678E-3CEF-7952-761CB7497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78</a:t>
            </a:fld>
            <a:endParaRPr lang="en-US" dirty="0"/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6F7D249-76A0-1D42-5C27-04C837C112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4162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98974" y="1692410"/>
            <a:ext cx="2930832" cy="50917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풀이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AFCC670-9D52-97E0-301E-31793E380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614" y="2724107"/>
            <a:ext cx="3466677" cy="192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3315C22-DE09-0D77-BE86-D502CE4535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2182" y="2764673"/>
            <a:ext cx="1619245" cy="9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F37A84F-98D5-AD78-2108-B8AEF24ABB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1006" y="3900957"/>
            <a:ext cx="815411" cy="97544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9B1586C-C92C-EECE-337A-38419DE5AF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2623" y="3900957"/>
            <a:ext cx="815411" cy="97544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1E66379-8AED-85AD-941D-2FC2A6DCBF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4240" y="3900957"/>
            <a:ext cx="815411" cy="97544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159CE25-5732-0E61-FC70-6FC5DEEA80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857" y="3900957"/>
            <a:ext cx="815411" cy="9754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4069638-5D65-FDE0-686D-96001F8881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7474" y="3900957"/>
            <a:ext cx="815411" cy="9754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575F2FA-ACB7-78F7-B1A7-3E84ABC3B5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9091" y="3900957"/>
            <a:ext cx="815411" cy="9754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EE5B40-1E21-B3D8-55B6-432E2E592F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0707" y="3900957"/>
            <a:ext cx="815411" cy="97544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EAA928D-47DE-DBD9-B4C4-37E1631C5A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1006" y="5158257"/>
            <a:ext cx="815411" cy="97544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E4AE634F-D801-E332-4B85-5D322DF3AF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2623" y="5158257"/>
            <a:ext cx="815411" cy="97544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B32881A-FD31-9325-C6E7-5248E3C6D1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4240" y="5158257"/>
            <a:ext cx="815411" cy="97544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60C4216-BC6D-8454-4D96-0F01187DCC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857" y="5158257"/>
            <a:ext cx="815411" cy="97544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3A4BD92-5A06-85BE-A3AA-232982853B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7474" y="5158257"/>
            <a:ext cx="815411" cy="97544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206C91E5-88B9-0740-BBF7-F4144DD4A4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9091" y="5158257"/>
            <a:ext cx="815411" cy="97544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104512E-4C9A-FCD8-2992-BCB7286B85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0707" y="5158257"/>
            <a:ext cx="815411" cy="97544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E3A43EF-64D5-A843-B2DD-72091B480A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857" y="2724107"/>
            <a:ext cx="815411" cy="97544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B1524A1-71FF-4AA4-1D38-3A81C21A74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7474" y="2724107"/>
            <a:ext cx="815411" cy="97544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7A236CA2-8829-F5DE-B2CE-DCF16BEABA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9091" y="2724107"/>
            <a:ext cx="815411" cy="97544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4F1B1D3F-5406-E68D-69A4-9B8AD69570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0707" y="2724107"/>
            <a:ext cx="815411" cy="975445"/>
          </a:xfrm>
          <a:prstGeom prst="rect">
            <a:avLst/>
          </a:prstGeom>
        </p:spPr>
      </p:pic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DB299DD-9795-FDF8-7F4C-6EA8A4B5B2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3E5455-A30D-EF00-88BD-2B3F157983C4}"/>
              </a:ext>
            </a:extLst>
          </p:cNvPr>
          <p:cNvSpPr txBox="1"/>
          <p:nvPr/>
        </p:nvSpPr>
        <p:spPr>
          <a:xfrm>
            <a:off x="6051006" y="1692410"/>
            <a:ext cx="5342020" cy="50917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10,000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라면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646032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696F-724F-26BD-9C71-E5EC70710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6626646-BEA0-FB3A-7822-5F9972BD6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56C07-5D3C-22AC-8A59-702C8C03FA3F}"/>
              </a:ext>
            </a:extLst>
          </p:cNvPr>
          <p:cNvSpPr txBox="1"/>
          <p:nvPr/>
        </p:nvSpPr>
        <p:spPr>
          <a:xfrm>
            <a:off x="767408" y="1196753"/>
            <a:ext cx="9102081" cy="253178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앞으로 인생에서 총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잠재적 파트너를 만날 수 있다고 가정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매칭되는 것이며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아래의 조건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번 거절한 사람에게는 다시 돌아갈 수 없음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만나는 순서는 무작위이며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좋은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선택할 확률을 최대화하려면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몇 번째 사람을 선책해야 하나요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BE9C9-E7C6-D55A-BC46-CD975C33457A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풀이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0093E0-2B37-39B8-6DB9-925B18522D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3275" y="3861558"/>
            <a:ext cx="3334215" cy="1994109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D41C8BB-9143-9759-5675-5DDCD0405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8778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C777C-D922-8895-688C-C5D8CB36E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B2C61B-EEC0-7491-DD5B-4008A55D9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6F664B-D509-3189-2815-157CC6374EF1}"/>
              </a:ext>
            </a:extLst>
          </p:cNvPr>
          <p:cNvSpPr txBox="1"/>
          <p:nvPr/>
        </p:nvSpPr>
        <p:spPr>
          <a:xfrm>
            <a:off x="767408" y="1196752"/>
            <a:ext cx="8813472" cy="30721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짓을 똑같이 100번 반복해서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89527C-5F15-5354-51AE-303E2EF56CBE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2A31D04-E1AA-540F-6088-A42EB03184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7705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F35E0-A8BA-9E25-DCE5-002AF8EF7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6F4F7E-6F61-4FB4-D872-D19D234DD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ED543-95FD-70FD-6206-68419637947A}"/>
              </a:ext>
            </a:extLst>
          </p:cNvPr>
          <p:cNvSpPr txBox="1"/>
          <p:nvPr/>
        </p:nvSpPr>
        <p:spPr>
          <a:xfrm>
            <a:off x="767408" y="1196753"/>
            <a:ext cx="8925232" cy="128528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모집단의 회귀식의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데이터를 생성하고 표본크기를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5, 30, 100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각각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표본의 기울기와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평균과 분산을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D0FE0-2695-7F37-8905-B8DE24E7A394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A96551-6CD7-9DE7-087B-11A115B1C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171" y="3634206"/>
            <a:ext cx="3721378" cy="289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D6731E-3482-342B-4CF9-362C40D676CA}"/>
              </a:ext>
            </a:extLst>
          </p:cNvPr>
          <p:cNvSpPr txBox="1"/>
          <p:nvPr/>
        </p:nvSpPr>
        <p:spPr>
          <a:xfrm>
            <a:off x="730163" y="2894037"/>
            <a:ext cx="3721378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400" dirty="0">
                <a:latin typeface="Arial Narrow" panose="020B0606020202030204" pitchFamily="34" charset="0"/>
              </a:rPr>
              <a:t>X = </a:t>
            </a:r>
            <a:r>
              <a:rPr lang="en-US" altLang="ko-KR" sz="1400" dirty="0" err="1">
                <a:latin typeface="Arial Narrow" panose="020B0606020202030204" pitchFamily="34" charset="0"/>
              </a:rPr>
              <a:t>np.random.randn</a:t>
            </a:r>
            <a:r>
              <a:rPr lang="en-US" altLang="ko-KR" sz="1400" dirty="0">
                <a:latin typeface="Arial Narrow" panose="020B0606020202030204" pitchFamily="34" charset="0"/>
              </a:rPr>
              <a:t>(10000, 1)</a:t>
            </a:r>
          </a:p>
          <a:p>
            <a:pPr>
              <a:lnSpc>
                <a:spcPts val="1575"/>
              </a:lnSpc>
            </a:pPr>
            <a:r>
              <a:rPr lang="en-US" altLang="ko-KR" sz="1400" dirty="0" err="1">
                <a:latin typeface="Arial Narrow" panose="020B0606020202030204" pitchFamily="34" charset="0"/>
              </a:rPr>
              <a:t>true_w</a:t>
            </a:r>
            <a:r>
              <a:rPr lang="en-US" altLang="ko-KR" sz="1400" dirty="0">
                <a:latin typeface="Arial Narrow" panose="020B0606020202030204" pitchFamily="34" charset="0"/>
              </a:rPr>
              <a:t> = 2.0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Arial Narrow" panose="020B0606020202030204" pitchFamily="34" charset="0"/>
              </a:rPr>
              <a:t>y = </a:t>
            </a:r>
            <a:r>
              <a:rPr lang="en-US" altLang="ko-KR" sz="1400" dirty="0" err="1">
                <a:latin typeface="Arial Narrow" panose="020B0606020202030204" pitchFamily="34" charset="0"/>
              </a:rPr>
              <a:t>true_w</a:t>
            </a:r>
            <a:r>
              <a:rPr lang="en-US" altLang="ko-KR" sz="1400" dirty="0">
                <a:latin typeface="Arial Narrow" panose="020B0606020202030204" pitchFamily="34" charset="0"/>
              </a:rPr>
              <a:t> * X + </a:t>
            </a:r>
            <a:r>
              <a:rPr lang="en-US" altLang="ko-KR" sz="1400" dirty="0" err="1">
                <a:latin typeface="Arial Narrow" panose="020B0606020202030204" pitchFamily="34" charset="0"/>
              </a:rPr>
              <a:t>np.random.randn</a:t>
            </a:r>
            <a:r>
              <a:rPr lang="en-US" altLang="ko-KR" sz="1400" dirty="0">
                <a:latin typeface="Arial Narrow" panose="020B0606020202030204" pitchFamily="34" charset="0"/>
              </a:rPr>
              <a:t>(10000, 1) * 0.5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04A6947-78A3-C7CA-2B50-5D00DD4F3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584" y="2469173"/>
            <a:ext cx="5832647" cy="1919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AC33CC4-6C35-C6FD-C03A-DFEEFB9013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3913" y="4701422"/>
            <a:ext cx="5832647" cy="1919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C0F150E-B972-291C-98C5-D1154ED298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0882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016E6-4DF5-97F6-9486-23E46F5C4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9D4B50-D754-79A0-CD51-823002DF3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43735A-526C-E0D0-66F8-62A3BD4EC82F}"/>
              </a:ext>
            </a:extLst>
          </p:cNvPr>
          <p:cNvSpPr txBox="1"/>
          <p:nvPr/>
        </p:nvSpPr>
        <p:spPr>
          <a:xfrm>
            <a:off x="551384" y="2916953"/>
            <a:ext cx="11377264" cy="31840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학습의 안정성 확보”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 , Cross-Entropy, Log-loss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학습이 가능한 이유”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=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샘플 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CLT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없이는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 없음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교차검증을 통한 모델의 평가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accuracy/loss,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 평균 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적용으로 이  평균들은 → 정규분포 근사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 신뢰구간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비교 가능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A/B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테스트와 실험 설계의 핵심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광고 효과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추천 알고리즘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UI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 효과 측정  등 전부 평균 비교 문제로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덕분에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평균 차이 → 정규분포 근사 →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 가능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A9784-515E-A3E4-8F67-F24BA80B28DC}"/>
              </a:ext>
            </a:extLst>
          </p:cNvPr>
          <p:cNvSpPr txBox="1"/>
          <p:nvPr/>
        </p:nvSpPr>
        <p:spPr>
          <a:xfrm>
            <a:off x="119336" y="260649"/>
            <a:ext cx="36500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풀이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고급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32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039815-B66C-C01C-F725-1707E5711FCB}"/>
              </a:ext>
            </a:extLst>
          </p:cNvPr>
          <p:cNvSpPr txBox="1"/>
          <p:nvPr/>
        </p:nvSpPr>
        <p:spPr>
          <a:xfrm>
            <a:off x="551384" y="1656979"/>
            <a:ext cx="11377264" cy="86979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불규칙하지만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평균은 예측 가능하다 → 그래서 학습이 가능하다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접목하는 내용을 모의실험으로 파이썬 코드로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4F85ED7-5D0C-B6EA-688D-04551BD9D5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9646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E75F-6515-E02E-0A0F-4F2429757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E95A9-2DB2-F8F6-CA7C-3363C9348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84</a:t>
            </a:fld>
            <a:endParaRPr lang="en-US" altLang="ko-KR" noProof="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C8FE015-7FE6-7957-1A9B-65A97D8020B8}"/>
              </a:ext>
            </a:extLst>
          </p:cNvPr>
          <p:cNvGraphicFramePr>
            <a:graphicFrameLocks noGrp="1"/>
          </p:cNvGraphicFramePr>
          <p:nvPr/>
        </p:nvGraphicFramePr>
        <p:xfrm>
          <a:off x="335361" y="1916832"/>
          <a:ext cx="11449273" cy="381341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278453">
                  <a:extLst>
                    <a:ext uri="{9D8B030D-6E8A-4147-A177-3AD203B41FA5}">
                      <a16:colId xmlns:a16="http://schemas.microsoft.com/office/drawing/2014/main" val="2839673302"/>
                    </a:ext>
                  </a:extLst>
                </a:gridCol>
                <a:gridCol w="3045465">
                  <a:extLst>
                    <a:ext uri="{9D8B030D-6E8A-4147-A177-3AD203B41FA5}">
                      <a16:colId xmlns:a16="http://schemas.microsoft.com/office/drawing/2014/main" val="3265452535"/>
                    </a:ext>
                  </a:extLst>
                </a:gridCol>
                <a:gridCol w="3263037">
                  <a:extLst>
                    <a:ext uri="{9D8B030D-6E8A-4147-A177-3AD203B41FA5}">
                      <a16:colId xmlns:a16="http://schemas.microsoft.com/office/drawing/2014/main" val="3151376771"/>
                    </a:ext>
                  </a:extLst>
                </a:gridCol>
                <a:gridCol w="2862318">
                  <a:extLst>
                    <a:ext uri="{9D8B030D-6E8A-4147-A177-3AD203B41FA5}">
                      <a16:colId xmlns:a16="http://schemas.microsoft.com/office/drawing/2014/main" val="2539893238"/>
                    </a:ext>
                  </a:extLst>
                </a:gridCol>
              </a:tblGrid>
              <a:tr h="5115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구분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문제 상황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CLT(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중심극한정리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역할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결과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9735647"/>
                  </a:ext>
                </a:extLst>
              </a:tr>
              <a:tr h="883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1.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분석 기반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분포 모름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이상치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비정규성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평균 → 정규분포 근사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통계적 추론 가능 </a:t>
                      </a:r>
                      <a:endParaRPr lang="en-US" altLang="ko-KR" sz="1600" dirty="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>
                        <a:buNone/>
                      </a:pP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확률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신뢰구간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검정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940290"/>
                  </a:ext>
                </a:extLst>
              </a:tr>
              <a:tr h="883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2. </a:t>
                      </a: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 학습 안정성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손실값이 데이터마다 변동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평균 손실이 안정적으로 수렴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학습 안정화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</a:p>
                    <a:p>
                      <a:pPr>
                        <a:buNone/>
                      </a:pPr>
                      <a:r>
                        <a:rPr 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gradient descent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수렴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6168464"/>
                  </a:ext>
                </a:extLst>
              </a:tr>
              <a:tr h="5115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3. Mini-batch </a:t>
                      </a: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학습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전체 데이터 사용 어려움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작은 샘플 평균이 전체 근사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계산 효율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GPU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활용</a:t>
                      </a:r>
                      <a:endParaRPr lang="en-US" altLang="ko-KR" sz="1600" dirty="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356760"/>
                  </a:ext>
                </a:extLst>
              </a:tr>
              <a:tr h="5115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4. </a:t>
                      </a: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 평가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성능 비교 불확실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평균 성능이 정규분포 따름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신뢰구간</a:t>
                      </a:r>
                      <a:r>
                        <a:rPr lang="en-US" altLang="ko-KR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통계적 비교 가능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531158"/>
                  </a:ext>
                </a:extLst>
              </a:tr>
              <a:tr h="5115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5. A/B </a:t>
                      </a: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테스트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효과 차이 판단 필요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평균 차이 → 정규분포 근사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p-value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기반 의사결정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44464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FF78879-44CC-B0CF-4CFD-7481327951DB}"/>
              </a:ext>
            </a:extLst>
          </p:cNvPr>
          <p:cNvSpPr txBox="1"/>
          <p:nvPr/>
        </p:nvSpPr>
        <p:spPr>
          <a:xfrm>
            <a:off x="119336" y="260649"/>
            <a:ext cx="36500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풀이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고급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32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B8922AC-7C9F-E372-9876-64EC093694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7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D3382-3F3B-FBCB-16B9-54596A299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1978B95-8D74-4C32-41B7-E23FC5CAD023}"/>
              </a:ext>
            </a:extLst>
          </p:cNvPr>
          <p:cNvSpPr/>
          <p:nvPr/>
        </p:nvSpPr>
        <p:spPr>
          <a:xfrm>
            <a:off x="1127448" y="3967981"/>
            <a:ext cx="4749534" cy="5846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99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DE2234-A841-2467-5318-244743AA17A7}"/>
              </a:ext>
            </a:extLst>
          </p:cNvPr>
          <p:cNvSpPr txBox="1"/>
          <p:nvPr/>
        </p:nvSpPr>
        <p:spPr>
          <a:xfrm>
            <a:off x="1337468" y="1428986"/>
            <a:ext cx="8435182" cy="3606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derivative function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mathematical 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interest compound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Montecarlo Simulation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Programing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Genetic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9DD49A-7EEB-6C92-C5D7-5D88A5BA9409}"/>
              </a:ext>
            </a:extLst>
          </p:cNvPr>
          <p:cNvSpPr txBox="1"/>
          <p:nvPr/>
        </p:nvSpPr>
        <p:spPr>
          <a:xfrm>
            <a:off x="1337470" y="710574"/>
            <a:ext cx="2603977" cy="584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199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199" dirty="0"/>
          </a:p>
        </p:txBody>
      </p:sp>
    </p:spTree>
    <p:extLst>
      <p:ext uri="{BB962C8B-B14F-4D97-AF65-F5344CB8AC3E}">
        <p14:creationId xmlns:p14="http://schemas.microsoft.com/office/powerpoint/2010/main" val="2869004681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4653</TotalTime>
  <Words>5662</Words>
  <Application>Microsoft Office PowerPoint</Application>
  <PresentationFormat>와이드스크린</PresentationFormat>
  <Paragraphs>760</Paragraphs>
  <Slides>85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85</vt:i4>
      </vt:variant>
    </vt:vector>
  </HeadingPairs>
  <TitlesOfParts>
    <vt:vector size="101" baseType="lpstr">
      <vt:lpstr>MS PGothic</vt:lpstr>
      <vt:lpstr>NanumGothicExtraBold</vt:lpstr>
      <vt:lpstr>맑은 고딕</vt:lpstr>
      <vt:lpstr>맑은 고딕 Semilight</vt:lpstr>
      <vt:lpstr>Batang</vt:lpstr>
      <vt:lpstr>한컴 말랑말랑 Bold</vt:lpstr>
      <vt:lpstr>ADLaM Display</vt:lpstr>
      <vt:lpstr>Aptos Narrow</vt:lpstr>
      <vt:lpstr>Arial</vt:lpstr>
      <vt:lpstr>Arial Narrow</vt:lpstr>
      <vt:lpstr>Cambria Math</vt:lpstr>
      <vt:lpstr>Open Sans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Norm</vt:lpstr>
      <vt:lpstr>1-Norm</vt:lpstr>
      <vt:lpstr>2-Norm</vt:lpstr>
      <vt:lpstr>Visualization of L1, L2 Norms</vt:lpstr>
      <vt:lpstr>Visualization of L1, L2 Norms with Loss Fuction</vt:lpstr>
      <vt:lpstr>Nearest Neighbors</vt:lpstr>
      <vt:lpstr>Hands-on Nearest neighbors</vt:lpstr>
      <vt:lpstr>Cosine similarity</vt:lpstr>
      <vt:lpstr>Hands-on Clustering</vt:lpstr>
      <vt:lpstr>Hands-on Clustering</vt:lpstr>
      <vt:lpstr>RBF kernel similarity</vt:lpstr>
      <vt:lpstr>RBF kernel similarity</vt:lpstr>
      <vt:lpstr>RBF kernel snippet</vt:lpstr>
      <vt:lpstr>Digress : Kernel Transformation</vt:lpstr>
      <vt:lpstr>t-distribution</vt:lpstr>
      <vt:lpstr>t-distribution</vt:lpstr>
      <vt:lpstr>t-distribution</vt:lpstr>
      <vt:lpstr>t-SNE vs PCA</vt:lpstr>
      <vt:lpstr>kernel types</vt:lpstr>
      <vt:lpstr>Hands-on Clustering</vt:lpstr>
      <vt:lpstr>PowerPoint 프레젠테이션</vt:lpstr>
      <vt:lpstr>Linear Regression</vt:lpstr>
      <vt:lpstr>MSE(Mean Squared Error)</vt:lpstr>
      <vt:lpstr>Matrix Formulation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Digress : Kernel Transformation</vt:lpstr>
      <vt:lpstr>Digress : Kernel Transformation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The Curse of Dimensionality</vt:lpstr>
      <vt:lpstr>SVD</vt:lpstr>
      <vt:lpstr>Optimization</vt:lpstr>
      <vt:lpstr>Hands-on Compound_interest</vt:lpstr>
      <vt:lpstr>PowerPoint 프레젠테이션</vt:lpstr>
      <vt:lpstr>Montecarlo Simulation</vt:lpstr>
      <vt:lpstr>PowerPoint 프레젠테이션</vt:lpstr>
      <vt:lpstr>Random walk</vt:lpstr>
      <vt:lpstr>Hands-on Random_Walk_Simulation</vt:lpstr>
      <vt:lpstr>Hands-on Random_Walk_Simulation</vt:lpstr>
      <vt:lpstr>Hands-on Random_Walk_Simulation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64</cp:revision>
  <dcterms:created xsi:type="dcterms:W3CDTF">2026-03-09T22:59:08Z</dcterms:created>
  <dcterms:modified xsi:type="dcterms:W3CDTF">2026-04-29T12:15:16Z</dcterms:modified>
</cp:coreProperties>
</file>