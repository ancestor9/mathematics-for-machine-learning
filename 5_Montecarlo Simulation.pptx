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15"/>
  </p:notesMasterIdLst>
  <p:handoutMasterIdLst>
    <p:handoutMasterId r:id="rId16"/>
  </p:handoutMasterIdLst>
  <p:sldIdLst>
    <p:sldId id="256" r:id="rId5"/>
    <p:sldId id="270" r:id="rId6"/>
    <p:sldId id="304" r:id="rId7"/>
    <p:sldId id="305" r:id="rId8"/>
    <p:sldId id="307" r:id="rId9"/>
    <p:sldId id="306" r:id="rId10"/>
    <p:sldId id="308" r:id="rId11"/>
    <p:sldId id="311" r:id="rId12"/>
    <p:sldId id="309" r:id="rId13"/>
    <p:sldId id="310" r:id="rId14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7E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673" autoAdjust="0"/>
    <p:restoredTop sz="94660"/>
  </p:normalViewPr>
  <p:slideViewPr>
    <p:cSldViewPr>
      <p:cViewPr varScale="1">
        <p:scale>
          <a:sx n="85" d="100"/>
          <a:sy n="85" d="100"/>
        </p:scale>
        <p:origin x="883" y="58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533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2026-03-24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2026-03-24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265BF-EF79-CC36-C989-051C8DC7E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16F047-73FD-800B-F721-545CE080EC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413728-6C63-B747-2816-22F2177655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EC60E5-66BB-0D7D-7C4A-47B8F229DB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13233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C5718-97E2-4EE3-B2B0-5BF44FFD7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825BA55-8A37-BE29-1862-CCD6FD55EB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0069EB1-1FDA-6159-5278-6A2FF1B494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A074A0-496E-A478-ECC5-5F154B3071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339797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FC978-BC3A-8AA6-CC5E-EE64FB520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FA8F15C-0FFD-4B58-B5E4-E54BD78FED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FAFEF6B-3133-285F-0D2A-D02606B7AF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8ADA10-034C-5FD3-70FA-938527FD9B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691871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265BF-EF79-CC36-C989-051C8DC7E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16F047-73FD-800B-F721-545CE080EC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413728-6C63-B747-2816-22F2177655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EC60E5-66BB-0D7D-7C4A-47B8F229DB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13233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27E54-28B2-8C19-528B-8C781240B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E4D7B0C-202C-6E21-08C8-5AB3D93398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888F541-3E50-4ACF-17EA-E0DC1F891A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B0BA84-50CA-6F67-619A-3B549011D1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789327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61178-D3A3-BD01-999B-5CD0CBDA6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94B66A9-55C3-DC1E-3535-AD5D96B301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7FFF2B-2B71-B514-D49C-EF7B099DE9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8E91CB-DE8C-2792-9462-33EFA4D63E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539779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00921-2A98-58A1-77F4-D8659C0BA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48269F1-DD08-6BF5-8344-47DF8E22EB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496A4B6-DC7D-FF48-46FC-7358B9C81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61E27B-EE8E-0361-5AEB-07842FCFA0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033469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2FD5E-B683-05F5-2A8F-95FE36980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914573-C36D-346C-F5A7-A95CE5ED02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5B6A3A6-E1B1-4542-BD9E-843AF4A378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3E6ECA-8F6F-B8DE-C544-C72743D372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56762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2026-03-24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2026-03-24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2026-03-24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2026-03-24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2026-03-24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2026-03-24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2026-03-24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2026-03-24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2026-03-24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2026-03-24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2026-03-24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2026-03-24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ko.wikipedia.org/wiki/%EB%AA%AC%ED%8B%B0_%ED%99%80_%EB%AC%B8%EC%A0%9C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en-US" altLang="ko-KR" b="1" dirty="0"/>
              <a:t>Simulation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2400" b="1" dirty="0"/>
              <a:t>- </a:t>
            </a:r>
            <a:r>
              <a:rPr lang="ko-KR" altLang="en-US" sz="2400" b="1" dirty="0" err="1"/>
              <a:t>머신러닝을</a:t>
            </a:r>
            <a:r>
              <a:rPr lang="ko-KR" altLang="en-US" sz="2400" b="1" dirty="0"/>
              <a:t> 위한 </a:t>
            </a:r>
            <a:r>
              <a:rPr lang="en-US" altLang="ko-KR" sz="2400" b="1" dirty="0"/>
              <a:t>-</a:t>
            </a:r>
            <a:r>
              <a:rPr lang="en-US" altLang="ko-KR" sz="3200" b="1" dirty="0"/>
              <a:t>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ko-KR" altLang="en-US" dirty="0"/>
          </a:p>
        </p:txBody>
      </p:sp>
      <p:pic>
        <p:nvPicPr>
          <p:cNvPr id="4" name="Picture 4" descr="깊은 생각에 잠긴 남자의 청동 조각상">
            <a:extLst>
              <a:ext uri="{FF2B5EF4-FFF2-40B4-BE49-F238E27FC236}">
                <a16:creationId xmlns:a16="http://schemas.microsoft.com/office/drawing/2014/main" id="{A0238B7E-7B42-DB8C-B129-8BF4F93752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367562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Montecarlo Simulation</a:t>
            </a:r>
            <a:endParaRPr lang="ko-KR" altLang="en-US" sz="28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810ABA-12DE-BC96-E33E-8F12E2CBC316}"/>
              </a:ext>
            </a:extLst>
          </p:cNvPr>
          <p:cNvSpPr txBox="1"/>
          <p:nvPr/>
        </p:nvSpPr>
        <p:spPr>
          <a:xfrm>
            <a:off x="1125860" y="1484783"/>
            <a:ext cx="10873208" cy="46641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불확실한 결과를 예측하기 위해 반복적인 무작위 추출을 사용하는 통계적 기법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이름은 도박으로 유명한 모나코의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몬테카를로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카지노에서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결과가 확률에 의존하는 도박처럼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수학적으로 계산하기 너무 복잡한 문제들을 수만 번의 가상 실험을 통해 그 근삿값을 찾아내는 방식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몬테카를로의</a:t>
            </a:r>
            <a:r>
              <a:rPr lang="ko-KR" altLang="en-US" sz="20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작동 원리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변수 정의</a:t>
            </a:r>
            <a:r>
              <a:rPr lang="en-US" altLang="ko-KR" sz="20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결과에 영향을 주는 불확실한 요소들을 정의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 분포 할당</a:t>
            </a:r>
            <a:r>
              <a:rPr lang="en-US" altLang="ko-KR" sz="20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각 변수가 가질 수 있는 값의 범위와 확률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정규분포 등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설정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반복 실험</a:t>
            </a:r>
            <a:r>
              <a:rPr lang="en-US" altLang="ko-KR" sz="20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컴퓨터를 이용해 무작위 값을 입력하며 수천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수만 번의 시뮬레이션을 실행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결과 분석</a:t>
            </a:r>
            <a:r>
              <a:rPr lang="en-US" altLang="ko-KR" sz="20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도출된 수많은 결과값의 평균이나 분포를 통해 최종 결과를 예측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2D5AF-0F51-91DE-64BD-5E17CEF9A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1B51CDD-C849-F07D-D7BE-8E0C6C436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24D8FB-4BA4-B532-2690-FF91AAEE20BE}"/>
              </a:ext>
            </a:extLst>
          </p:cNvPr>
          <p:cNvSpPr txBox="1"/>
          <p:nvPr/>
        </p:nvSpPr>
        <p:spPr>
          <a:xfrm>
            <a:off x="765820" y="1196752"/>
            <a:ext cx="11233248" cy="97084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원주율 구하기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원의 면접 구하기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CE8694-F9D5-0985-6634-DA4CC7CB87C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23368973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3A03C4-9F32-8658-57A1-8179E087B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B10A560-CAC8-7DA2-E171-6514006BF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1CC16D-7C9C-2F71-E9C9-02A41D849637}"/>
              </a:ext>
            </a:extLst>
          </p:cNvPr>
          <p:cNvSpPr txBox="1"/>
          <p:nvPr/>
        </p:nvSpPr>
        <p:spPr>
          <a:xfrm>
            <a:off x="765820" y="1196752"/>
            <a:ext cx="11233248" cy="97084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표본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1000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개에서 </a:t>
            </a:r>
            <a:r>
              <a:rPr lang="ko-KR" altLang="en-US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재표본추출을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복원추출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(replace=True)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방식으로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100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개를 무한히 </a:t>
            </a:r>
            <a:r>
              <a:rPr lang="ko-KR" altLang="en-US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재표본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추출하여 평균과 분산에 대해 토론하라 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19691D-5BF7-99F5-D054-70009655318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53D10DE-54F1-5E83-B617-EB567D2F7B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3972" y="2533040"/>
            <a:ext cx="8566741" cy="4074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41623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C9014-F20D-7B7E-82F4-291B35DDF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CDD9F21-3F8F-61DF-D1E4-E7AEA20F5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5A16EB-E2DE-F31D-3EA0-A223294CA89B}"/>
              </a:ext>
            </a:extLst>
          </p:cNvPr>
          <p:cNvSpPr txBox="1"/>
          <p:nvPr/>
        </p:nvSpPr>
        <p:spPr>
          <a:xfrm>
            <a:off x="765820" y="1196752"/>
            <a:ext cx="11233248" cy="50917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시간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거리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속도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가속도에 대한 시뮬레이션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미적분</a:t>
            </a:r>
            <a:r>
              <a:rPr lang="en-US" altLang="ko-KR" sz="200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D34784-A486-0A01-E7A2-FD0B1406CD2E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990975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2D5AF-0F51-91DE-64BD-5E17CEF9A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1B51CDD-C849-F07D-D7BE-8E0C6C436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24D8FB-4BA4-B532-2690-FF91AAEE20BE}"/>
              </a:ext>
            </a:extLst>
          </p:cNvPr>
          <p:cNvSpPr txBox="1"/>
          <p:nvPr/>
        </p:nvSpPr>
        <p:spPr>
          <a:xfrm>
            <a:off x="765820" y="1196752"/>
            <a:ext cx="11233248" cy="50917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Monty Hall Problem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문이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10,000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 라면</a:t>
            </a:r>
            <a:r>
              <a:rPr lang="en-US" altLang="ko-KR" sz="200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CE8694-F9D5-0985-6634-DA4CC7CB87C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AFCC670-9D52-97E0-301E-31793E3808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2084" y="2492896"/>
            <a:ext cx="5334969" cy="29662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6032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1C777C-D922-8895-688C-C5D8CB36E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EB2C61B-EEC0-7491-DD5B-4008A55D9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6F664B-D509-3189-2815-157CC6374EF1}"/>
              </a:ext>
            </a:extLst>
          </p:cNvPr>
          <p:cNvSpPr txBox="1"/>
          <p:nvPr/>
        </p:nvSpPr>
        <p:spPr>
          <a:xfrm>
            <a:off x="765820" y="1196752"/>
            <a:ext cx="11233248" cy="50917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평생 미팅하는 상대방이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N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명이라면 몇 번째 만난 사람과 결혼을 해야 최적의 선택인가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89527C-5F15-5354-51AE-303E2EF56CBE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1277058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F35E0-A8BA-9E25-DCE5-002AF8EF7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A6F4F7E-6F61-4FB4-D872-D19D234DD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FED543-95FD-70FD-6206-68419637947A}"/>
              </a:ext>
            </a:extLst>
          </p:cNvPr>
          <p:cNvSpPr txBox="1"/>
          <p:nvPr/>
        </p:nvSpPr>
        <p:spPr>
          <a:xfrm>
            <a:off x="765820" y="1196752"/>
            <a:ext cx="11233248" cy="882999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모집단의 회귀식의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gradient(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기울기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인 데이터를 생성하고 표본크기를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5, 30, 100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으로 각각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1000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 표본의 기울기와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MSE(Mean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Squared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Error)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평균과 분산을 </a:t>
            </a:r>
            <a:r>
              <a:rPr lang="ko-KR" altLang="en-US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시각화하라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 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0D0FE0-2695-7F37-8905-B8DE24E7A394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6A96551-6CD7-9DE7-087B-11A115B1C2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772" y="3162993"/>
            <a:ext cx="3721378" cy="2899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2D6731E-3482-342B-4CF9-362C40D676CA}"/>
              </a:ext>
            </a:extLst>
          </p:cNvPr>
          <p:cNvSpPr txBox="1"/>
          <p:nvPr/>
        </p:nvSpPr>
        <p:spPr>
          <a:xfrm>
            <a:off x="261764" y="2422823"/>
            <a:ext cx="3721378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X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np.random.randn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(10000, 1)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true_w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2.0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y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true_w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* X +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np.random.randn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(10000, 1) * 0.5</a:t>
            </a: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604A6947-78A3-C7CA-2B50-5D00DD4F3D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7995" y="2469173"/>
            <a:ext cx="5832647" cy="19196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0AC33CC4-6C35-C6FD-C03A-DFEEFB9013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2324" y="4701421"/>
            <a:ext cx="5832647" cy="19196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08828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016E6-4DF5-97F6-9486-23E46F5C4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39D4B50-D754-79A0-CD51-823002DF3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43735A-526C-E0D0-66F8-62A3BD4EC82F}"/>
              </a:ext>
            </a:extLst>
          </p:cNvPr>
          <p:cNvSpPr txBox="1"/>
          <p:nvPr/>
        </p:nvSpPr>
        <p:spPr>
          <a:xfrm>
            <a:off x="693812" y="2276872"/>
            <a:ext cx="11233248" cy="360682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모델 학습의 안정성 확보”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MSE , Cross-Entropy, Log-loss 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Mini-batch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학습이 가능한 이유”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Mini-batch =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작은 샘플 평균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CLT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없이는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mini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batch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도 없음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교차검증을 통한 모델의 평가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평균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accuracy/loss,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교차검증 평균 등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CLT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적용으로 이  평균들은 → 정규분포 근사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→ 신뢰구간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→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통계적 비교 가능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A/B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테스트와 실험 설계의 핵심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광고 효과 비교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추천 알고리즘 비교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UI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개선 효과 측정  등 전부 평균 비교 문제로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CLT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덕분에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두 평균 차이 → 정규분포 근사 →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p-value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계산 가능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5A9784-515E-A3E4-8F67-F24BA80B28DC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039815-B66C-C01C-F725-1707E5711FCB}"/>
              </a:ext>
            </a:extLst>
          </p:cNvPr>
          <p:cNvSpPr txBox="1"/>
          <p:nvPr/>
        </p:nvSpPr>
        <p:spPr>
          <a:xfrm>
            <a:off x="549796" y="858989"/>
            <a:ext cx="11377264" cy="97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중심극한정리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데이터는 불규칙하지만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평균은 예측 가능하다 → 그래서 학습이 가능하다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 </a:t>
            </a:r>
            <a:r>
              <a:rPr lang="ko-KR" altLang="en-US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머신러닝에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접목하는 내용을 모의실험으로 파이썬 코드로 제시하라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59646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FE75F-6515-E02E-0A0F-4F2429757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1E95A9-2DB2-F8F6-CA7C-3363C9348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B4EAF7-599C-1643-17BE-529CB7DB3BD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C8FE015-7FE6-7957-1A9B-65A97D8020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1614442"/>
              </p:ext>
            </p:extLst>
          </p:nvPr>
        </p:nvGraphicFramePr>
        <p:xfrm>
          <a:off x="333772" y="1916832"/>
          <a:ext cx="11449273" cy="3312368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2278453">
                  <a:extLst>
                    <a:ext uri="{9D8B030D-6E8A-4147-A177-3AD203B41FA5}">
                      <a16:colId xmlns:a16="http://schemas.microsoft.com/office/drawing/2014/main" val="2839673302"/>
                    </a:ext>
                  </a:extLst>
                </a:gridCol>
                <a:gridCol w="3045465">
                  <a:extLst>
                    <a:ext uri="{9D8B030D-6E8A-4147-A177-3AD203B41FA5}">
                      <a16:colId xmlns:a16="http://schemas.microsoft.com/office/drawing/2014/main" val="3265452535"/>
                    </a:ext>
                  </a:extLst>
                </a:gridCol>
                <a:gridCol w="3263037">
                  <a:extLst>
                    <a:ext uri="{9D8B030D-6E8A-4147-A177-3AD203B41FA5}">
                      <a16:colId xmlns:a16="http://schemas.microsoft.com/office/drawing/2014/main" val="3151376771"/>
                    </a:ext>
                  </a:extLst>
                </a:gridCol>
                <a:gridCol w="2862318">
                  <a:extLst>
                    <a:ext uri="{9D8B030D-6E8A-4147-A177-3AD203B41FA5}">
                      <a16:colId xmlns:a16="http://schemas.microsoft.com/office/drawing/2014/main" val="2539893238"/>
                    </a:ext>
                  </a:extLst>
                </a:gridCol>
              </a:tblGrid>
              <a:tr h="4443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/>
                        <a:t>구분</a:t>
                      </a:r>
                      <a:endParaRPr lang="ko-KR" altLang="en-US" sz="1600" dirty="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문제 상황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CLT(</a:t>
                      </a:r>
                      <a:r>
                        <a:rPr lang="ko-KR" altLang="en-US" sz="1600" dirty="0"/>
                        <a:t>중심극한정리</a:t>
                      </a:r>
                      <a:r>
                        <a:rPr lang="en-US" altLang="ko-KR" sz="1600" dirty="0"/>
                        <a:t>)</a:t>
                      </a:r>
                      <a:r>
                        <a:rPr lang="en-US" sz="1600" dirty="0"/>
                        <a:t> </a:t>
                      </a:r>
                      <a:r>
                        <a:rPr lang="ko-KR" altLang="en-US" sz="1600" dirty="0"/>
                        <a:t>역할</a:t>
                      </a:r>
                      <a:endParaRPr lang="ko-KR" altLang="en-US" sz="1600" dirty="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결과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9735647"/>
                  </a:ext>
                </a:extLst>
              </a:tr>
              <a:tr h="7675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dirty="0"/>
                        <a:t>1. </a:t>
                      </a:r>
                      <a:r>
                        <a:rPr lang="ko-KR" altLang="en-US" sz="1600" dirty="0"/>
                        <a:t>데이터 분석 기반</a:t>
                      </a:r>
                      <a:endParaRPr lang="ko-KR" altLang="en-US" sz="1600" dirty="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분포 모름</a:t>
                      </a:r>
                      <a:r>
                        <a:rPr lang="en-US" altLang="ko-KR" sz="1600"/>
                        <a:t>, </a:t>
                      </a:r>
                      <a:r>
                        <a:rPr lang="ko-KR" altLang="en-US" sz="1600"/>
                        <a:t>이상치</a:t>
                      </a:r>
                      <a:r>
                        <a:rPr lang="en-US" altLang="ko-KR" sz="1600"/>
                        <a:t>, </a:t>
                      </a:r>
                      <a:r>
                        <a:rPr lang="ko-KR" altLang="en-US" sz="1600"/>
                        <a:t>비정규성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평균 → 정규분포 근사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/>
                        <a:t>통계적 추론 가능 </a:t>
                      </a:r>
                      <a:endParaRPr lang="en-US" altLang="ko-KR" sz="1600" dirty="0"/>
                    </a:p>
                    <a:p>
                      <a:pPr>
                        <a:buNone/>
                      </a:pPr>
                      <a:r>
                        <a:rPr lang="en-US" altLang="ko-KR" sz="1600" dirty="0"/>
                        <a:t>(</a:t>
                      </a:r>
                      <a:r>
                        <a:rPr lang="ko-KR" altLang="en-US" sz="1600" dirty="0"/>
                        <a:t>확률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신뢰구간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검정</a:t>
                      </a:r>
                      <a:r>
                        <a:rPr lang="en-US" altLang="ko-KR" sz="1600" dirty="0"/>
                        <a:t>)</a:t>
                      </a:r>
                      <a:endParaRPr lang="en-US" altLang="ko-KR" sz="1600" dirty="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2940290"/>
                  </a:ext>
                </a:extLst>
              </a:tr>
              <a:tr h="7675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/>
                        <a:t>2. </a:t>
                      </a:r>
                      <a:r>
                        <a:rPr lang="ko-KR" altLang="en-US" sz="1600"/>
                        <a:t>모델 학습 안정성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손실값이 데이터마다 변동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평균 손실이 안정적으로 수렴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/>
                        <a:t>학습 안정화</a:t>
                      </a:r>
                      <a:r>
                        <a:rPr lang="en-US" altLang="ko-KR" sz="1600" dirty="0"/>
                        <a:t>, </a:t>
                      </a:r>
                    </a:p>
                    <a:p>
                      <a:pPr>
                        <a:buNone/>
                      </a:pPr>
                      <a:r>
                        <a:rPr lang="en-US" sz="1600" dirty="0"/>
                        <a:t>gradient descent </a:t>
                      </a:r>
                      <a:r>
                        <a:rPr lang="ko-KR" altLang="en-US" sz="1600" dirty="0"/>
                        <a:t>수렴</a:t>
                      </a:r>
                      <a:endParaRPr lang="ko-KR" altLang="en-US" sz="1600" dirty="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6168464"/>
                  </a:ext>
                </a:extLst>
              </a:tr>
              <a:tr h="4443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3. Mini-batch </a:t>
                      </a:r>
                      <a:r>
                        <a:rPr lang="ko-KR" altLang="en-US" sz="1600"/>
                        <a:t>학습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전체 데이터 사용 어려움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작은 샘플 평균이 전체 근사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/>
                        <a:t>계산 효율</a:t>
                      </a:r>
                      <a:r>
                        <a:rPr lang="en-US" altLang="ko-KR" sz="1600" dirty="0"/>
                        <a:t>, GPU </a:t>
                      </a:r>
                      <a:r>
                        <a:rPr lang="ko-KR" altLang="en-US" sz="1600" dirty="0"/>
                        <a:t>활용</a:t>
                      </a:r>
                      <a:endParaRPr lang="en-US" altLang="ko-KR" sz="1600" dirty="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356760"/>
                  </a:ext>
                </a:extLst>
              </a:tr>
              <a:tr h="4443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/>
                        <a:t>4. </a:t>
                      </a:r>
                      <a:r>
                        <a:rPr lang="ko-KR" altLang="en-US" sz="1600"/>
                        <a:t>모델 평가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성능 비교 불확실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평균 성능이 정규분포 따름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신뢰구간</a:t>
                      </a:r>
                      <a:r>
                        <a:rPr lang="en-US" altLang="ko-KR" sz="1600"/>
                        <a:t>, </a:t>
                      </a:r>
                      <a:r>
                        <a:rPr lang="ko-KR" altLang="en-US" sz="1600"/>
                        <a:t>통계적 비교 가능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531158"/>
                  </a:ext>
                </a:extLst>
              </a:tr>
              <a:tr h="4443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5. A/B </a:t>
                      </a:r>
                      <a:r>
                        <a:rPr lang="ko-KR" altLang="en-US" sz="1600"/>
                        <a:t>테스트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/>
                        <a:t>효과 차이 판단 필요</a:t>
                      </a:r>
                      <a:endParaRPr lang="ko-KR" altLang="en-US" sz="1600" dirty="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평균 차이 → 정규분포 근사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dirty="0"/>
                        <a:t>p-value </a:t>
                      </a:r>
                      <a:r>
                        <a:rPr lang="ko-KR" altLang="en-US" sz="1600" dirty="0"/>
                        <a:t>기반 의사결정</a:t>
                      </a:r>
                      <a:endParaRPr lang="ko-KR" altLang="en-US" sz="1600" dirty="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84446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77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Props1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0AACE6D-8EB6-447A-8DFD-C2C0C52916AC}">
  <ds:schemaRefs>
    <ds:schemaRef ds:uri="a4f35948-e619-41b3-aa29-22878b09cfd2"/>
    <ds:schemaRef ds:uri="http://purl.org/dc/elements/1.1/"/>
    <ds:schemaRef ds:uri="http://schemas.microsoft.com/office/infopath/2007/PartnerControls"/>
    <ds:schemaRef ds:uri="40262f94-9f35-4ac3-9a90-690165a166b7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627</TotalTime>
  <Words>486</Words>
  <Application>Microsoft Office PowerPoint</Application>
  <PresentationFormat>사용자 지정</PresentationFormat>
  <Paragraphs>85</Paragraphs>
  <Slides>10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9" baseType="lpstr">
      <vt:lpstr>HY그래픽M</vt:lpstr>
      <vt:lpstr>맑은 고딕</vt:lpstr>
      <vt:lpstr>휴먼모음T</vt:lpstr>
      <vt:lpstr>Arial</vt:lpstr>
      <vt:lpstr>Arial Narrow</vt:lpstr>
      <vt:lpstr>Corbel</vt:lpstr>
      <vt:lpstr>PT Sans</vt:lpstr>
      <vt:lpstr>Wingdings</vt:lpstr>
      <vt:lpstr>마케팅 16x9</vt:lpstr>
      <vt:lpstr>Simulation  - 머신러닝을 위한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Sanggoo Cho</cp:lastModifiedBy>
  <cp:revision>49</cp:revision>
  <dcterms:created xsi:type="dcterms:W3CDTF">2024-06-03T06:10:16Z</dcterms:created>
  <dcterms:modified xsi:type="dcterms:W3CDTF">2026-03-24T13:07:29Z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