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</p:sldMasterIdLst>
  <p:notesMasterIdLst>
    <p:notesMasterId r:id="rId16"/>
  </p:notesMasterIdLst>
  <p:handoutMasterIdLst>
    <p:handoutMasterId r:id="rId17"/>
  </p:handoutMasterIdLst>
  <p:sldIdLst>
    <p:sldId id="256" r:id="rId5"/>
    <p:sldId id="270" r:id="rId6"/>
    <p:sldId id="304" r:id="rId7"/>
    <p:sldId id="305" r:id="rId8"/>
    <p:sldId id="307" r:id="rId9"/>
    <p:sldId id="306" r:id="rId10"/>
    <p:sldId id="308" r:id="rId11"/>
    <p:sldId id="312" r:id="rId12"/>
    <p:sldId id="311" r:id="rId13"/>
    <p:sldId id="309" r:id="rId14"/>
    <p:sldId id="310" r:id="rId15"/>
  </p:sldIdLst>
  <p:sldSz cx="12188825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39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7E3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FABFCF23-3B69-468F-B69F-88F6DE6A72F2}" styleName="보통 스타일 1 - 강조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BDBED569-4797-4DF1-A0F4-6AAB3CD982D8}" styleName="밝은 스타일 3 - 강조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673" autoAdjust="0"/>
    <p:restoredTop sz="94660"/>
  </p:normalViewPr>
  <p:slideViewPr>
    <p:cSldViewPr>
      <p:cViewPr varScale="1">
        <p:scale>
          <a:sx n="85" d="100"/>
          <a:sy n="85" d="100"/>
        </p:scale>
        <p:origin x="883" y="58"/>
      </p:cViewPr>
      <p:guideLst>
        <p:guide pos="3839"/>
        <p:guide orient="horz" pos="216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533"/>
    </p:cViewPr>
  </p:sorterViewPr>
  <p:notesViewPr>
    <p:cSldViewPr showGuides="1">
      <p:cViewPr varScale="1">
        <p:scale>
          <a:sx n="90" d="100"/>
          <a:sy n="90" d="100"/>
        </p:scale>
        <p:origin x="2814" y="8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50A85425-0F1F-4C65-805F-C7280B9ECE9F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2026-03-25</a:t>
            </a:fld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A98ED8CD-4E4C-49AC-BDC6-2963BA49E54F}" type="slidenum">
              <a:rPr lang="en-US" altLang="ko-KR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341795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39DBE7D5-AA2D-4B26-8C69-8B60D39FD5EE}" type="datetime1">
              <a:rPr lang="ko-KR" altLang="en-US" smtClean="0"/>
              <a:pPr/>
              <a:t>2026-03-25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5FB91549-43BF-425A-AF25-75262019208C}" type="slidenum">
              <a:rPr lang="en-US" altLang="ko-KR" smtClean="0"/>
              <a:pPr/>
              <a:t>‹#›</a:t>
            </a:fld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423928641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611453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1141828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8265BF-EF79-CC36-C989-051C8DC7E6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716F047-73FD-800B-F721-545CE080EC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C413728-6C63-B747-2816-22F2177655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8EC60E5-66BB-0D7D-7C4A-47B8F229DBD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113233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CC5718-97E2-4EE3-B2B0-5BF44FFD79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825BA55-8A37-BE29-1862-CCD6FD55EB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0069EB1-1FDA-6159-5278-6A2FF1B494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AA074A0-496E-A478-ECC5-5F154B30713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3397975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0FC978-BC3A-8AA6-CC5E-EE64FB5201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FA8F15C-0FFD-4B58-B5E4-E54BD78FED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FAFEF6B-3133-285F-0D2A-D02606B7AF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38ADA10-034C-5FD3-70FA-938527FD9B8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6918712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8265BF-EF79-CC36-C989-051C8DC7E6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716F047-73FD-800B-F721-545CE080EC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C413728-6C63-B747-2816-22F2177655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8EC60E5-66BB-0D7D-7C4A-47B8F229DBD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1132332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427E54-28B2-8C19-528B-8C781240BA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E4D7B0C-202C-6E21-08C8-5AB3D93398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888F541-3E50-4ACF-17EA-E0DC1F891A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5B0BA84-50CA-6F67-619A-3B549011D17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7893270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545C30-FC2E-5949-B48E-275DB0B4BA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3D7EBCA-E8FA-9264-0E05-68DB33B454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A35FA87-88FD-E3E4-A0AB-F6BEFB4918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124905E-17BC-CEEB-6F2D-8A5C7B33212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394870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661178-D3A3-BD01-999B-5CD0CBDA67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94B66A9-55C3-DC1E-3535-AD5D96B301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97FFF2B-2B71-B514-D49C-EF7B099DE9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08E91CB-DE8C-2792-9462-33EFA4D63E6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5397790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800921-2A98-58A1-77F4-D8659C0BA3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48269F1-DD08-6BF5-8344-47DF8E22EB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496A4B6-DC7D-FF48-46FC-7358B9C815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F61E27B-EE8E-0361-5AEB-07842FCFA0C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0334690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32FD5E-B683-05F5-2A8F-95FE369808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F914573-C36D-346C-F5A7-A95CE5ED02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5B6A3A6-E1B1-4542-BD9E-843AF4A378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63E6ECA-8F6F-B8DE-C544-C72743D3729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56762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유리 벽으로 된 건물로 둘러싸인 파란 하늘과 구름을 아래에서 올려다본 사진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873625" y="0"/>
            <a:ext cx="7315200" cy="6858001"/>
          </a:xfrm>
          <a:prstGeom prst="rect">
            <a:avLst/>
          </a:prstGeom>
        </p:spPr>
      </p:pic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08013" y="685801"/>
            <a:ext cx="3962400" cy="4724399"/>
          </a:xfrm>
        </p:spPr>
        <p:txBody>
          <a:bodyPr rtlCol="0">
            <a:normAutofit/>
          </a:bodyPr>
          <a:lstStyle>
            <a:lvl1pPr>
              <a:defRPr sz="48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algn="l">
              <a:spcBef>
                <a:spcPts val="0"/>
              </a:spcBef>
              <a:buNone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rtl="0"/>
            <a:r>
              <a:rPr lang="ko-KR" altLang="en-US" noProof="0"/>
              <a:t>클릭하여 마스터 부제목 스타일 편집</a:t>
            </a:r>
            <a:endParaRPr lang="ko-KR" altLang="en-US" noProof="0" dirty="0"/>
          </a:p>
        </p:txBody>
      </p:sp>
      <p:sp>
        <p:nvSpPr>
          <p:cNvPr id="8" name="날짜 개체 틀 7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B229CEB-779D-4AB3-81CB-8FCEEAE03F61}" type="datetime1">
              <a:rPr lang="ko-KR" altLang="en-US" smtClean="0"/>
              <a:t>2026-03-25</a:t>
            </a:fld>
            <a:endParaRPr lang="ko-KR" altLang="en-US" dirty="0"/>
          </a:p>
        </p:txBody>
      </p:sp>
      <p:sp>
        <p:nvSpPr>
          <p:cNvPr id="9" name="바닥글 개체 틀 8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/>
              <a:t>바닥글 추가</a:t>
            </a:r>
            <a:endParaRPr lang="ko-KR" altLang="en-US" dirty="0"/>
          </a:p>
        </p:txBody>
      </p:sp>
      <p:sp>
        <p:nvSpPr>
          <p:cNvPr id="10" name="슬라이드 번호 개체 틀 9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3F31473-23EB-4724-8B59-FE6D21D89FA4}" type="slidenum">
              <a:rPr lang="en-US" altLang="ko-KR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3483955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 rtl="0">
              <a:defRPr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 rtlCol="0"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76306AB-75A0-421C-B431-0E4E30A5C28E}" type="datetime1">
              <a:rPr lang="ko-KR" altLang="en-US" noProof="0" smtClean="0"/>
              <a:t>2026-03-25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1378625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3" y="2590800"/>
            <a:ext cx="8229599" cy="2819400"/>
          </a:xfrm>
        </p:spPr>
        <p:txBody>
          <a:bodyPr rtlCol="0" anchor="b">
            <a:normAutofit/>
          </a:bodyPr>
          <a:lstStyle>
            <a:lvl1pPr algn="l">
              <a:defRPr sz="4800" b="0" cap="none" baseline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06425" y="5410200"/>
            <a:ext cx="8231187" cy="762000"/>
          </a:xfrm>
        </p:spPr>
        <p:txBody>
          <a:bodyPr rtlCol="0" anchor="t">
            <a:normAutofit/>
          </a:bodyPr>
          <a:lstStyle>
            <a:lvl1pPr marL="0" indent="0" rtl="0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1D969EE-F1EB-462E-B70D-5B36B3806A4E}" type="datetime1">
              <a:rPr lang="ko-KR" altLang="en-US" noProof="0" smtClean="0"/>
              <a:t>2026-03-25</a:t>
            </a:fld>
            <a:endParaRPr lang="ko-KR" altLang="en-US" noProof="0" dirty="0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pPr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225113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내용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1293813" y="685800"/>
            <a:ext cx="5029200" cy="4191000"/>
          </a:xfrm>
        </p:spPr>
        <p:txBody>
          <a:bodyPr rtlCol="0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551614" y="685800"/>
            <a:ext cx="5029199" cy="4191000"/>
          </a:xfrm>
        </p:spPr>
        <p:txBody>
          <a:bodyPr rtlCol="0"/>
          <a:lstStyle>
            <a:lvl1pPr rtl="0"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8CBB1B7-E0A1-46A3-B5B5-C69931095FF6}" type="datetime1">
              <a:rPr lang="ko-KR" altLang="en-US" noProof="0" smtClean="0"/>
              <a:t>2026-03-25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8970135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293664" y="685800"/>
            <a:ext cx="5029200" cy="990600"/>
          </a:xfrm>
        </p:spPr>
        <p:txBody>
          <a:bodyPr rtlCol="0" anchor="ctr">
            <a:normAutofit/>
          </a:bodyPr>
          <a:lstStyle>
            <a:lvl1pPr marL="0" indent="0" rtl="0">
              <a:spcBef>
                <a:spcPts val="0"/>
              </a:spcBef>
              <a:buNone/>
              <a:defRPr sz="32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1293664" y="1676400"/>
            <a:ext cx="5029200" cy="3200400"/>
          </a:xfrm>
        </p:spPr>
        <p:txBody>
          <a:bodyPr rtlCol="0"/>
          <a:lstStyle>
            <a:lvl1pPr rtl="0"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551613" y="685800"/>
            <a:ext cx="5029200" cy="990600"/>
          </a:xfrm>
        </p:spPr>
        <p:txBody>
          <a:bodyPr rtlCol="0" anchor="ctr">
            <a:normAutofit/>
          </a:bodyPr>
          <a:lstStyle>
            <a:lvl1pPr marL="0" indent="0" rtl="0">
              <a:spcBef>
                <a:spcPts val="0"/>
              </a:spcBef>
              <a:buNone/>
              <a:defRPr sz="32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550025" y="1676400"/>
            <a:ext cx="5029200" cy="3200400"/>
          </a:xfrm>
        </p:spPr>
        <p:txBody>
          <a:bodyPr rtlCol="0"/>
          <a:lstStyle>
            <a:lvl1pPr rtl="0"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AFC0E65-06AB-44D7-AAEE-8F4C7ED84A0C}" type="datetime1">
              <a:rPr lang="ko-KR" altLang="en-US" noProof="0" smtClean="0"/>
              <a:t>2026-03-25</a:t>
            </a:fld>
            <a:endParaRPr lang="ko-KR" altLang="en-US" noProof="0" dirty="0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5130968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0189E66-D439-4767-B911-EB49CB20E313}" type="datetime1">
              <a:rPr lang="ko-KR" altLang="en-US" noProof="0" smtClean="0"/>
              <a:t>2026-03-25</a:t>
            </a:fld>
            <a:endParaRPr lang="ko-KR" altLang="en-US" noProof="0" dirty="0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1344281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비어 있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4E4FFC0-DB28-4291-80A0-63DBF8428320}" type="datetime1">
              <a:rPr lang="ko-KR" altLang="en-US" noProof="0" smtClean="0"/>
              <a:t>2026-03-25</a:t>
            </a:fld>
            <a:endParaRPr lang="ko-KR" altLang="en-US" noProof="0" dirty="0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19103118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4" y="685800"/>
            <a:ext cx="3962400" cy="4724400"/>
          </a:xfrm>
        </p:spPr>
        <p:txBody>
          <a:bodyPr rtlCol="0" anchor="b">
            <a:noAutofit/>
          </a:bodyPr>
          <a:lstStyle>
            <a:lvl1pPr algn="l">
              <a:defRPr sz="3600" b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875212" y="685800"/>
            <a:ext cx="6704171" cy="5486400"/>
          </a:xfrm>
        </p:spPr>
        <p:txBody>
          <a:bodyPr rtlCol="0">
            <a:normAutofit/>
          </a:bodyPr>
          <a:lstStyle>
            <a:lvl1pPr rtl="0"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 baseline="0"/>
            </a:lvl6pPr>
            <a:lvl7pPr>
              <a:defRPr sz="1800" baseline="0"/>
            </a:lvl7pPr>
            <a:lvl8pPr>
              <a:defRPr sz="1800" baseline="0"/>
            </a:lvl8pPr>
            <a:lvl9pPr>
              <a:defRPr sz="1800"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rtl="0">
              <a:spcBef>
                <a:spcPts val="0"/>
              </a:spcBef>
              <a:buNone/>
              <a:defRPr sz="20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AB5804B-C38E-4214-93DF-3E6DA00134E8}" type="datetime1">
              <a:rPr lang="ko-KR" altLang="en-US" noProof="0" smtClean="0"/>
              <a:t>2026-03-25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2347262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4" y="685800"/>
            <a:ext cx="3962400" cy="4724400"/>
          </a:xfrm>
        </p:spPr>
        <p:txBody>
          <a:bodyPr rtlCol="0" anchor="b">
            <a:normAutofit/>
          </a:bodyPr>
          <a:lstStyle>
            <a:lvl1pPr algn="l">
              <a:defRPr sz="3600" b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그림 개체 틀 2" descr="이미지를 추가할 수 있는 빈 개체 틀입니다. 개체 틀을 클릭하고 추가할 이미지를 선택하세요."/>
          <p:cNvSpPr>
            <a:spLocks noGrp="1"/>
          </p:cNvSpPr>
          <p:nvPr>
            <p:ph type="pic" idx="1"/>
          </p:nvPr>
        </p:nvSpPr>
        <p:spPr>
          <a:xfrm>
            <a:off x="4875213" y="685800"/>
            <a:ext cx="6705600" cy="5486400"/>
          </a:xfrm>
          <a:ln w="63500">
            <a:solidFill>
              <a:schemeClr val="bg1"/>
            </a:solidFill>
            <a:miter lim="800000"/>
          </a:ln>
        </p:spPr>
        <p:txBody>
          <a:bodyPr rtlCol="0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ko-KR" altLang="en-US" noProof="0"/>
              <a:t>그림을 추가하려면 아이콘을 클릭하십시오</a:t>
            </a:r>
            <a:endParaRPr lang="en-US" altLang="ko-KR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rtl="0">
              <a:spcBef>
                <a:spcPts val="0"/>
              </a:spcBef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ABEE384-F18F-4153-AC21-608599869F84}" type="datetime1">
              <a:rPr lang="ko-KR" altLang="en-US" noProof="0" smtClean="0"/>
              <a:t>2026-03-25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3520414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 rtlCol="0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tx1"/>
              </a:buClr>
              <a:buSzPct val="80000"/>
              <a:buFont typeface="Arial" pitchFamily="34" charset="0"/>
              <a:buNone/>
              <a:tabLst/>
              <a:defRPr/>
            </a:lvl1pPr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3B7A883-0BF0-4B4B-84D5-D747A0111A56}" type="datetime1">
              <a:rPr lang="ko-KR" altLang="en-US" noProof="0" smtClean="0"/>
              <a:t>2026-03-25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1762946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10285412" y="685800"/>
            <a:ext cx="1295401" cy="5486400"/>
          </a:xfrm>
        </p:spPr>
        <p:txBody>
          <a:bodyPr vert="eaVert"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608012" y="685800"/>
            <a:ext cx="9474253" cy="5486400"/>
          </a:xfrm>
        </p:spPr>
        <p:txBody>
          <a:bodyPr vert="eaVert" rtlCol="0"/>
          <a:lstStyle>
            <a:lvl1pPr rtl="0">
              <a:defRPr/>
            </a:lvl1pPr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DA7EA29-F2BB-4FB1-BB4B-C55A7FA3FC5C}" type="datetime1">
              <a:rPr lang="ko-KR" altLang="en-US" noProof="0" smtClean="0"/>
              <a:t>2026-03-25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8500524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609441" y="5105400"/>
            <a:ext cx="10971372" cy="10668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rtl="0"/>
            <a:r>
              <a:rPr lang="ko-KR" altLang="en-US" noProof="0" dirty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293813" y="685800"/>
            <a:ext cx="10287000" cy="41909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609441" y="6356351"/>
            <a:ext cx="28440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667A4C69-65FB-481C-AC2A-84D254D33675}" type="datetime1">
              <a:rPr lang="ko-KR" altLang="en-US" smtClean="0"/>
              <a:t>2026-03-25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164515" y="6356351"/>
            <a:ext cx="385979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/>
              <a:t>바닥글 추가</a:t>
            </a: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735325" y="6356351"/>
            <a:ext cx="28440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3F31473-23EB-4724-8B59-FE6D21D89FA4}" type="slidenum">
              <a:rPr lang="en-US" altLang="ko-KR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49289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txStyles>
    <p:titleStyle>
      <a:lvl1pPr algn="l" defTabSz="914400" rtl="0" eaLnBrk="1" latinLnBrk="1" hangingPunct="1">
        <a:lnSpc>
          <a:spcPct val="80000"/>
        </a:lnSpc>
        <a:spcBef>
          <a:spcPct val="0"/>
        </a:spcBef>
        <a:buNone/>
        <a:defRPr sz="3600" kern="1200">
          <a:solidFill>
            <a:schemeClr val="accent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800"/>
        </a:spcBef>
        <a:buClr>
          <a:schemeClr val="tx1"/>
        </a:buClr>
        <a:buSzPct val="80000"/>
        <a:buFont typeface="Arial" pitchFamily="34" charset="0"/>
        <a:buChar char="•"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615950" indent="-28575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Corbel" pitchFamily="34" charset="0"/>
        <a:buChar char="–"/>
        <a:defRPr sz="24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996696" indent="-228600" algn="l" defTabSz="914400" rtl="0" eaLnBrk="1" latinLnBrk="1" hangingPunct="1">
        <a:lnSpc>
          <a:spcPct val="90000"/>
        </a:lnSpc>
        <a:spcBef>
          <a:spcPts val="600"/>
        </a:spcBef>
        <a:buClr>
          <a:schemeClr val="tx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380744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764792" indent="-228600" algn="l" defTabSz="914400" rtl="0" eaLnBrk="1" latinLnBrk="1" hangingPunct="1">
        <a:lnSpc>
          <a:spcPct val="90000"/>
        </a:lnSpc>
        <a:spcBef>
          <a:spcPts val="600"/>
        </a:spcBef>
        <a:buClr>
          <a:schemeClr val="tx1"/>
        </a:buClr>
        <a:buSzPct val="80000"/>
        <a:buFont typeface="Arial" pitchFamily="34" charset="0"/>
        <a:buChar char="•"/>
        <a:defRPr sz="1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148840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2532888" indent="-22860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Arial" pitchFamily="34" charset="0"/>
        <a:buChar char="•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916936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3300984" indent="-22860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3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ko.wikipedia.org/wiki/%EB%AA%AC%ED%8B%B0_%ED%99%80_%EB%AC%B8%EC%A0%9C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08013" y="685801"/>
            <a:ext cx="3962400" cy="2959223"/>
          </a:xfrm>
        </p:spPr>
        <p:txBody>
          <a:bodyPr rtlCol="0">
            <a:normAutofit/>
          </a:bodyPr>
          <a:lstStyle/>
          <a:p>
            <a:pPr rtl="0"/>
            <a:r>
              <a:rPr lang="en-US" altLang="ko-KR" b="1" dirty="0"/>
              <a:t>Simulation</a:t>
            </a:r>
            <a:br>
              <a:rPr lang="en-US" altLang="ko-KR" b="1" dirty="0"/>
            </a:br>
            <a:br>
              <a:rPr lang="en-US" altLang="ko-KR" dirty="0"/>
            </a:br>
            <a:r>
              <a:rPr lang="en-US" altLang="ko-KR" sz="2400" b="1" dirty="0"/>
              <a:t>- </a:t>
            </a:r>
            <a:r>
              <a:rPr lang="ko-KR" altLang="en-US" sz="2400" b="1" dirty="0" err="1"/>
              <a:t>머신러닝을</a:t>
            </a:r>
            <a:r>
              <a:rPr lang="ko-KR" altLang="en-US" sz="2400" b="1" dirty="0"/>
              <a:t> 위한 </a:t>
            </a:r>
            <a:r>
              <a:rPr lang="en-US" altLang="ko-KR" sz="2400" b="1" dirty="0"/>
              <a:t>-</a:t>
            </a:r>
            <a:r>
              <a:rPr lang="en-US" altLang="ko-KR" sz="3200" b="1" dirty="0"/>
              <a:t> </a:t>
            </a:r>
            <a:br>
              <a:rPr lang="en-US" altLang="ko-KR" dirty="0"/>
            </a:br>
            <a:endParaRPr lang="ko-KR" altLang="en-US" sz="2400" dirty="0"/>
          </a:p>
        </p:txBody>
      </p:sp>
      <p:sp>
        <p:nvSpPr>
          <p:cNvPr id="3" name="부제 2"/>
          <p:cNvSpPr>
            <a:spLocks noGrp="1"/>
          </p:cNvSpPr>
          <p:nvPr>
            <p:ph type="subTitle" idx="1"/>
          </p:nvPr>
        </p:nvSpPr>
        <p:spPr>
          <a:xfrm>
            <a:off x="589537" y="4293096"/>
            <a:ext cx="3962400" cy="2016224"/>
          </a:xfrm>
        </p:spPr>
        <p:txBody>
          <a:bodyPr rtlCol="0">
            <a:normAutofit/>
          </a:bodyPr>
          <a:lstStyle/>
          <a:p>
            <a:pPr>
              <a:lnSpc>
                <a:spcPct val="120000"/>
              </a:lnSpc>
            </a:pPr>
            <a:br>
              <a:rPr lang="en-US" altLang="ko-KR" dirty="0"/>
            </a:br>
            <a:r>
              <a:rPr lang="en-US" altLang="ko-KR" dirty="0"/>
              <a:t>2026_Spring</a:t>
            </a:r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 rtl="0">
              <a:lnSpc>
                <a:spcPct val="120000"/>
              </a:lnSpc>
            </a:pPr>
            <a:r>
              <a:rPr lang="ko-KR" altLang="en-US" dirty="0" err="1"/>
              <a:t>조상구</a:t>
            </a:r>
            <a:endParaRPr lang="ko-KR" altLang="en-US" dirty="0"/>
          </a:p>
        </p:txBody>
      </p:sp>
      <p:pic>
        <p:nvPicPr>
          <p:cNvPr id="4" name="Picture 4" descr="깊은 생각에 잠긴 남자의 청동 조각상">
            <a:extLst>
              <a:ext uri="{FF2B5EF4-FFF2-40B4-BE49-F238E27FC236}">
                <a16:creationId xmlns:a16="http://schemas.microsoft.com/office/drawing/2014/main" id="{A0238B7E-7B42-DB8C-B129-8BF4F93752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70276" y="3014307"/>
            <a:ext cx="2566021" cy="38436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40801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</a:t>
            </a:fld>
            <a:endParaRPr lang="en-US" altLang="ko-KR" noProof="0" dirty="0"/>
          </a:p>
        </p:txBody>
      </p:sp>
      <p:sp>
        <p:nvSpPr>
          <p:cNvPr id="2" name="직사각형 1"/>
          <p:cNvSpPr/>
          <p:nvPr/>
        </p:nvSpPr>
        <p:spPr>
          <a:xfrm>
            <a:off x="765820" y="764704"/>
            <a:ext cx="3675622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Montecarlo Simulation</a:t>
            </a:r>
            <a:endParaRPr lang="ko-KR" altLang="en-US" sz="28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3810ABA-12DE-BC96-E33E-8F12E2CBC316}"/>
              </a:ext>
            </a:extLst>
          </p:cNvPr>
          <p:cNvSpPr txBox="1"/>
          <p:nvPr/>
        </p:nvSpPr>
        <p:spPr>
          <a:xfrm>
            <a:off x="1125860" y="1484783"/>
            <a:ext cx="10873208" cy="46641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불확실한 결과를 예측하기 위해 반복적인 무작위 추출을 사용하는 통계적 기법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이름은 도박으로 유명한 모나코의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'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몬테카를로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'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카지노에서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결과가 확률에 의존하는 도박처럼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수학적으로 계산하기 너무 복잡한 문제들을 수만 번의 가상 실험을 통해 그 근삿값을 찾아내는 방식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b="1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몬테카를로의</a:t>
            </a:r>
            <a:r>
              <a:rPr lang="ko-KR" altLang="en-US" sz="20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작동 원리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변수 정의</a:t>
            </a:r>
            <a:r>
              <a:rPr lang="en-US" altLang="ko-KR" sz="20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: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결과에 영향을 주는 불확실한 요소들을 정의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확률 분포 할당</a:t>
            </a:r>
            <a:r>
              <a:rPr lang="en-US" altLang="ko-KR" sz="20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: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각 변수가 가질 수 있는 값의 범위와 확률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정규분포 등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)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을 설정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반복 실험</a:t>
            </a:r>
            <a:r>
              <a:rPr lang="en-US" altLang="ko-KR" sz="20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: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컴퓨터를 이용해 무작위 값을 입력하며 수천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수만 번의 시뮬레이션을 실행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결과 분석</a:t>
            </a:r>
            <a:r>
              <a:rPr lang="en-US" altLang="ko-KR" sz="20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: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도출된 수많은 결과값의 평균이나 분포를 통해 최종 결과를 예측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267234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32D5AF-0F51-91DE-64BD-5E17CEF9AA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D1B51CDD-C849-F07D-D7BE-8E0C6C436C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724D8FB-4BA4-B532-2690-FF91AAEE20BE}"/>
              </a:ext>
            </a:extLst>
          </p:cNvPr>
          <p:cNvSpPr txBox="1"/>
          <p:nvPr/>
        </p:nvSpPr>
        <p:spPr>
          <a:xfrm>
            <a:off x="765820" y="1196752"/>
            <a:ext cx="11233248" cy="970843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원주율 구하기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원의 면접 구하기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2CE8694-F9D5-0985-6634-DA4CC7CB87C6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23368973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3A03C4-9F32-8658-57A1-8179E087BD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B10A560-CAC8-7DA2-E171-6514006BFA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C1CC16D-7C9C-2F71-E9C9-02A41D849637}"/>
              </a:ext>
            </a:extLst>
          </p:cNvPr>
          <p:cNvSpPr txBox="1"/>
          <p:nvPr/>
        </p:nvSpPr>
        <p:spPr>
          <a:xfrm>
            <a:off x="765820" y="1196752"/>
            <a:ext cx="11233248" cy="970843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표본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1000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개에서 </a:t>
            </a:r>
            <a:r>
              <a:rPr lang="ko-KR" altLang="en-US" sz="20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재표본추출을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복원추출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(replace=True)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방식으로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100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개를 무한히 </a:t>
            </a:r>
            <a:r>
              <a:rPr lang="ko-KR" altLang="en-US" sz="20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재표본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추출하여 평균과 분산에 대해 토론하라 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419691D-5BF7-99F5-D054-700096553189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53D10DE-54F1-5E83-B617-EB567D2F7B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33972" y="2533040"/>
            <a:ext cx="8566741" cy="40746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41623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7C9014-F20D-7B7E-82F4-291B35DDF2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CDD9F21-3F8F-61DF-D1E4-E7AEA20F5D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35A16EB-E2DE-F31D-3EA0-A223294CA89B}"/>
              </a:ext>
            </a:extLst>
          </p:cNvPr>
          <p:cNvSpPr txBox="1"/>
          <p:nvPr/>
        </p:nvSpPr>
        <p:spPr>
          <a:xfrm>
            <a:off x="765820" y="1196752"/>
            <a:ext cx="11233248" cy="509178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시간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거리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속도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가속도에 대한 시뮬레이션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미적분</a:t>
            </a:r>
            <a:r>
              <a:rPr lang="en-US" altLang="ko-KR" sz="2000">
                <a:latin typeface="휴먼모음T" panose="02030504000101010101" pitchFamily="18" charset="-127"/>
                <a:ea typeface="휴먼모음T" panose="02030504000101010101" pitchFamily="18" charset="-127"/>
              </a:rPr>
              <a:t>)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AD34784-A486-0A01-E7A2-FD0B1406CD2E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19909751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32D5AF-0F51-91DE-64BD-5E17CEF9AA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D1B51CDD-C849-F07D-D7BE-8E0C6C436C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6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724D8FB-4BA4-B532-2690-FF91AAEE20BE}"/>
              </a:ext>
            </a:extLst>
          </p:cNvPr>
          <p:cNvSpPr txBox="1"/>
          <p:nvPr/>
        </p:nvSpPr>
        <p:spPr>
          <a:xfrm>
            <a:off x="765820" y="1196752"/>
            <a:ext cx="11233248" cy="509178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Monty Hall Problem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문이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10,000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 라면</a:t>
            </a:r>
            <a:r>
              <a:rPr lang="en-US" altLang="ko-KR" sz="200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2CE8694-F9D5-0985-6634-DA4CC7CB87C6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3AFCC670-9D52-97E0-301E-31793E3808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42084" y="2492896"/>
            <a:ext cx="5334969" cy="29662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460322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1C777C-D922-8895-688C-C5D8CB36E7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AEB2C61B-EEC0-7491-DD5B-4008A55D9F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7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46F664B-D509-3189-2815-157CC6374EF1}"/>
              </a:ext>
            </a:extLst>
          </p:cNvPr>
          <p:cNvSpPr txBox="1"/>
          <p:nvPr/>
        </p:nvSpPr>
        <p:spPr>
          <a:xfrm>
            <a:off x="765820" y="1196752"/>
            <a:ext cx="11233248" cy="2355838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한 학급에 </a:t>
            </a:r>
            <a:r>
              <a:rPr lang="ko-KR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100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명</a:t>
            </a:r>
            <a:r>
              <a:rPr lang="ko-KR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</a:t>
            </a:r>
            <a:r>
              <a:rPr lang="ko-KR" altLang="ko-KR" sz="20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N</a:t>
            </a:r>
            <a:r>
              <a:rPr lang="ko-KR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=100)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이 있는 반을 </a:t>
            </a:r>
            <a:r>
              <a:rPr lang="ko-KR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상상해 보세요.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선생님이 무작위로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1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명을 </a:t>
            </a:r>
            <a:r>
              <a:rPr lang="ko-KR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뽑고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선물을 주고</a:t>
            </a:r>
            <a:r>
              <a:rPr lang="ko-KR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다시 전체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100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명에서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1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명을 뽑습니다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. </a:t>
            </a:r>
            <a:r>
              <a:rPr lang="ko-KR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이 짓을 똑같이 100번 반복해서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선물을 주게 될 경우 내가 선물을 못박을 확률은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200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번을 반복했는데 내가 못 받을 확률은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300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번을 반복했는데 내가 못 받을 확률은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A89527C-5F15-5354-51AE-303E2EF56CBE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11277058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863252-33CE-8BCC-AD7B-FF64CEC041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92BE835A-B5F4-F995-40C3-C7E940E405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8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B91CA6F-D833-6140-6621-352A7531D611}"/>
              </a:ext>
            </a:extLst>
          </p:cNvPr>
          <p:cNvSpPr txBox="1"/>
          <p:nvPr/>
        </p:nvSpPr>
        <p:spPr>
          <a:xfrm>
            <a:off x="765820" y="1196752"/>
            <a:ext cx="11233248" cy="509178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평생 미팅하는 상대방이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N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명이라면 몇 번째 만난 사람과 결혼을 해야 최적의 선택인가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5A0FD1C-8CA9-3906-1CAB-19D923D4C28D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24791323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2F35E0-A8BA-9E25-DCE5-002AF8EF72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A6F4F7E-6F61-4FB4-D872-D19D234DDF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9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FFED543-95FD-70FD-6206-68419637947A}"/>
              </a:ext>
            </a:extLst>
          </p:cNvPr>
          <p:cNvSpPr txBox="1"/>
          <p:nvPr/>
        </p:nvSpPr>
        <p:spPr>
          <a:xfrm>
            <a:off x="765820" y="1196752"/>
            <a:ext cx="11233248" cy="882999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모집단의 회귀식의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gradient(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기울기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)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2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인 데이터를 생성하고 표본크기를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5, 30, 100 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으로 각각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1000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 표본의 기울기와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MSE(Mean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Squared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Error)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의 평균과 분산을 </a:t>
            </a:r>
            <a:r>
              <a:rPr lang="ko-KR" altLang="en-US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시각화하라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 </a:t>
            </a: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0D0FE0-2695-7F37-8905-B8DE24E7A394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6A96551-6CD7-9DE7-087B-11A115B1C2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3772" y="3162993"/>
            <a:ext cx="3721378" cy="28997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2D6731E-3482-342B-4CF9-362C40D676CA}"/>
              </a:ext>
            </a:extLst>
          </p:cNvPr>
          <p:cNvSpPr txBox="1"/>
          <p:nvPr/>
        </p:nvSpPr>
        <p:spPr>
          <a:xfrm>
            <a:off x="261764" y="2422823"/>
            <a:ext cx="3721378" cy="7181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X =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np.random.randn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(10000, 1)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true_w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 = 2.0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y =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true_w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 * X +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np.random.randn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(10000, 1) * 0.5</a:t>
            </a:r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604A6947-78A3-C7CA-2B50-5D00DD4F3D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07995" y="2469173"/>
            <a:ext cx="5832647" cy="19196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0AC33CC4-6C35-C6FD-C03A-DFEEFB9013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02324" y="4701421"/>
            <a:ext cx="5832647" cy="19196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608828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4016E6-4DF5-97F6-9486-23E46F5C4A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A39D4B50-D754-79A0-CD51-823002DF34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10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843735A-526C-E0D0-66F8-62A3BD4EC82F}"/>
              </a:ext>
            </a:extLst>
          </p:cNvPr>
          <p:cNvSpPr txBox="1"/>
          <p:nvPr/>
        </p:nvSpPr>
        <p:spPr>
          <a:xfrm>
            <a:off x="693812" y="2276872"/>
            <a:ext cx="11233248" cy="3606821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모델 학습의 안정성 확보”</a:t>
            </a: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MSE , Cross-Entropy, Log-loss </a:t>
            </a: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Mini-batch 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학습이 가능한 이유”</a:t>
            </a: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Mini-batch =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작은 샘플 평균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CLT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없이는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mini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batch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도 없음</a:t>
            </a: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교차검증을 통한 모델의 평가</a:t>
            </a: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평균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accuracy/loss,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교차검증 평균 등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CLT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적용으로 이  평균들은 → 정규분포 근사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→ 신뢰구간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→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통계적 비교 가능</a:t>
            </a: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A/B 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테스트와 실험 설계의 핵심</a:t>
            </a: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광고 효과 비교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추천 알고리즘 비교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UI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개선 효과 측정  등 전부 평균 비교 문제로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CLT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덕분에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두 평균 차이 → 정규분포 근사 →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p-value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계산 가능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5A9784-515E-A3E4-8F67-F24BA80B28DC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2039815-B66C-C01C-F725-1707E5711FCB}"/>
              </a:ext>
            </a:extLst>
          </p:cNvPr>
          <p:cNvSpPr txBox="1"/>
          <p:nvPr/>
        </p:nvSpPr>
        <p:spPr>
          <a:xfrm>
            <a:off x="549796" y="858989"/>
            <a:ext cx="11377264" cy="97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중심극한정리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데이터는 불규칙하지만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평균은 예측 가능하다 → 그래서 학습이 가능하다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)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가 </a:t>
            </a:r>
            <a:r>
              <a:rPr lang="ko-KR" altLang="en-US" sz="20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머신러닝에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접목하는 내용을 모의실험으로 파이썬 코드로 제시하라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596462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BFE75F-6515-E02E-0A0F-4F2429757F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21E95A9-2DB2-F8F6-CA7C-3363C9348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11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EB4EAF7-599C-1643-17BE-529CB7DB3BDF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FC8FE015-7FE6-7957-1A9B-65A97D8020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31614442"/>
              </p:ext>
            </p:extLst>
          </p:nvPr>
        </p:nvGraphicFramePr>
        <p:xfrm>
          <a:off x="333772" y="1916832"/>
          <a:ext cx="11449273" cy="3312368"/>
        </p:xfrm>
        <a:graphic>
          <a:graphicData uri="http://schemas.openxmlformats.org/drawingml/2006/table">
            <a:tbl>
              <a:tblPr>
                <a:tableStyleId>{BDBED569-4797-4DF1-A0F4-6AAB3CD982D8}</a:tableStyleId>
              </a:tblPr>
              <a:tblGrid>
                <a:gridCol w="2278453">
                  <a:extLst>
                    <a:ext uri="{9D8B030D-6E8A-4147-A177-3AD203B41FA5}">
                      <a16:colId xmlns:a16="http://schemas.microsoft.com/office/drawing/2014/main" val="2839673302"/>
                    </a:ext>
                  </a:extLst>
                </a:gridCol>
                <a:gridCol w="3045465">
                  <a:extLst>
                    <a:ext uri="{9D8B030D-6E8A-4147-A177-3AD203B41FA5}">
                      <a16:colId xmlns:a16="http://schemas.microsoft.com/office/drawing/2014/main" val="3265452535"/>
                    </a:ext>
                  </a:extLst>
                </a:gridCol>
                <a:gridCol w="3263037">
                  <a:extLst>
                    <a:ext uri="{9D8B030D-6E8A-4147-A177-3AD203B41FA5}">
                      <a16:colId xmlns:a16="http://schemas.microsoft.com/office/drawing/2014/main" val="3151376771"/>
                    </a:ext>
                  </a:extLst>
                </a:gridCol>
                <a:gridCol w="2862318">
                  <a:extLst>
                    <a:ext uri="{9D8B030D-6E8A-4147-A177-3AD203B41FA5}">
                      <a16:colId xmlns:a16="http://schemas.microsoft.com/office/drawing/2014/main" val="2539893238"/>
                    </a:ext>
                  </a:extLst>
                </a:gridCol>
              </a:tblGrid>
              <a:tr h="4443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dirty="0"/>
                        <a:t>구분</a:t>
                      </a:r>
                      <a:endParaRPr lang="ko-KR" altLang="en-US" sz="1600" dirty="0">
                        <a:latin typeface="HY그래픽M" panose="02030600000101010101" pitchFamily="18" charset="-127"/>
                        <a:ea typeface="HY그래픽M" panose="02030600000101010101" pitchFamily="18" charset="-127"/>
                        <a:cs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/>
                        <a:t>문제 상황</a:t>
                      </a:r>
                      <a:endParaRPr lang="ko-KR" altLang="en-US" sz="1600">
                        <a:latin typeface="HY그래픽M" panose="02030600000101010101" pitchFamily="18" charset="-127"/>
                        <a:ea typeface="HY그래픽M" panose="02030600000101010101" pitchFamily="18" charset="-127"/>
                        <a:cs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/>
                        <a:t>CLT(</a:t>
                      </a:r>
                      <a:r>
                        <a:rPr lang="ko-KR" altLang="en-US" sz="1600" dirty="0"/>
                        <a:t>중심극한정리</a:t>
                      </a:r>
                      <a:r>
                        <a:rPr lang="en-US" altLang="ko-KR" sz="1600" dirty="0"/>
                        <a:t>)</a:t>
                      </a:r>
                      <a:r>
                        <a:rPr lang="en-US" sz="1600" dirty="0"/>
                        <a:t> </a:t>
                      </a:r>
                      <a:r>
                        <a:rPr lang="ko-KR" altLang="en-US" sz="1600" dirty="0"/>
                        <a:t>역할</a:t>
                      </a:r>
                      <a:endParaRPr lang="ko-KR" altLang="en-US" sz="1600" dirty="0">
                        <a:latin typeface="HY그래픽M" panose="02030600000101010101" pitchFamily="18" charset="-127"/>
                        <a:ea typeface="HY그래픽M" panose="02030600000101010101" pitchFamily="18" charset="-127"/>
                        <a:cs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/>
                        <a:t>결과</a:t>
                      </a:r>
                      <a:endParaRPr lang="ko-KR" altLang="en-US" sz="1600">
                        <a:latin typeface="HY그래픽M" panose="02030600000101010101" pitchFamily="18" charset="-127"/>
                        <a:ea typeface="HY그래픽M" panose="02030600000101010101" pitchFamily="18" charset="-127"/>
                        <a:cs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69735647"/>
                  </a:ext>
                </a:extLst>
              </a:tr>
              <a:tr h="7675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600" dirty="0"/>
                        <a:t>1. </a:t>
                      </a:r>
                      <a:r>
                        <a:rPr lang="ko-KR" altLang="en-US" sz="1600" dirty="0"/>
                        <a:t>데이터 분석 기반</a:t>
                      </a:r>
                      <a:endParaRPr lang="ko-KR" altLang="en-US" sz="1600" dirty="0">
                        <a:latin typeface="HY그래픽M" panose="02030600000101010101" pitchFamily="18" charset="-127"/>
                        <a:ea typeface="HY그래픽M" panose="02030600000101010101" pitchFamily="18" charset="-127"/>
                        <a:cs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/>
                        <a:t>분포 모름</a:t>
                      </a:r>
                      <a:r>
                        <a:rPr lang="en-US" altLang="ko-KR" sz="1600"/>
                        <a:t>, </a:t>
                      </a:r>
                      <a:r>
                        <a:rPr lang="ko-KR" altLang="en-US" sz="1600"/>
                        <a:t>이상치</a:t>
                      </a:r>
                      <a:r>
                        <a:rPr lang="en-US" altLang="ko-KR" sz="1600"/>
                        <a:t>, </a:t>
                      </a:r>
                      <a:r>
                        <a:rPr lang="ko-KR" altLang="en-US" sz="1600"/>
                        <a:t>비정규성</a:t>
                      </a:r>
                      <a:endParaRPr lang="ko-KR" altLang="en-US" sz="1600">
                        <a:latin typeface="HY그래픽M" panose="02030600000101010101" pitchFamily="18" charset="-127"/>
                        <a:ea typeface="HY그래픽M" panose="02030600000101010101" pitchFamily="18" charset="-127"/>
                        <a:cs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/>
                        <a:t>평균 → 정규분포 근사</a:t>
                      </a:r>
                      <a:endParaRPr lang="ko-KR" altLang="en-US" sz="1600">
                        <a:latin typeface="HY그래픽M" panose="02030600000101010101" pitchFamily="18" charset="-127"/>
                        <a:ea typeface="HY그래픽M" panose="02030600000101010101" pitchFamily="18" charset="-127"/>
                        <a:cs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dirty="0"/>
                        <a:t>통계적 추론 가능 </a:t>
                      </a:r>
                      <a:endParaRPr lang="en-US" altLang="ko-KR" sz="1600" dirty="0"/>
                    </a:p>
                    <a:p>
                      <a:pPr>
                        <a:buNone/>
                      </a:pPr>
                      <a:r>
                        <a:rPr lang="en-US" altLang="ko-KR" sz="1600" dirty="0"/>
                        <a:t>(</a:t>
                      </a:r>
                      <a:r>
                        <a:rPr lang="ko-KR" altLang="en-US" sz="1600" dirty="0"/>
                        <a:t>확률</a:t>
                      </a:r>
                      <a:r>
                        <a:rPr lang="en-US" altLang="ko-KR" sz="1600" dirty="0"/>
                        <a:t>, </a:t>
                      </a:r>
                      <a:r>
                        <a:rPr lang="ko-KR" altLang="en-US" sz="1600" dirty="0"/>
                        <a:t>신뢰구간</a:t>
                      </a:r>
                      <a:r>
                        <a:rPr lang="en-US" altLang="ko-KR" sz="1600" dirty="0"/>
                        <a:t>, </a:t>
                      </a:r>
                      <a:r>
                        <a:rPr lang="ko-KR" altLang="en-US" sz="1600" dirty="0"/>
                        <a:t>검정</a:t>
                      </a:r>
                      <a:r>
                        <a:rPr lang="en-US" altLang="ko-KR" sz="1600" dirty="0"/>
                        <a:t>)</a:t>
                      </a:r>
                      <a:endParaRPr lang="en-US" altLang="ko-KR" sz="1600" dirty="0">
                        <a:latin typeface="HY그래픽M" panose="02030600000101010101" pitchFamily="18" charset="-127"/>
                        <a:ea typeface="HY그래픽M" panose="02030600000101010101" pitchFamily="18" charset="-127"/>
                        <a:cs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22940290"/>
                  </a:ext>
                </a:extLst>
              </a:tr>
              <a:tr h="7675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600"/>
                        <a:t>2. </a:t>
                      </a:r>
                      <a:r>
                        <a:rPr lang="ko-KR" altLang="en-US" sz="1600"/>
                        <a:t>모델 학습 안정성</a:t>
                      </a:r>
                      <a:endParaRPr lang="ko-KR" altLang="en-US" sz="1600">
                        <a:latin typeface="HY그래픽M" panose="02030600000101010101" pitchFamily="18" charset="-127"/>
                        <a:ea typeface="HY그래픽M" panose="02030600000101010101" pitchFamily="18" charset="-127"/>
                        <a:cs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/>
                        <a:t>손실값이 데이터마다 변동</a:t>
                      </a:r>
                      <a:endParaRPr lang="ko-KR" altLang="en-US" sz="1600">
                        <a:latin typeface="HY그래픽M" panose="02030600000101010101" pitchFamily="18" charset="-127"/>
                        <a:ea typeface="HY그래픽M" panose="02030600000101010101" pitchFamily="18" charset="-127"/>
                        <a:cs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/>
                        <a:t>평균 손실이 안정적으로 수렴</a:t>
                      </a:r>
                      <a:endParaRPr lang="ko-KR" altLang="en-US" sz="1600">
                        <a:latin typeface="HY그래픽M" panose="02030600000101010101" pitchFamily="18" charset="-127"/>
                        <a:ea typeface="HY그래픽M" panose="02030600000101010101" pitchFamily="18" charset="-127"/>
                        <a:cs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dirty="0"/>
                        <a:t>학습 안정화</a:t>
                      </a:r>
                      <a:r>
                        <a:rPr lang="en-US" altLang="ko-KR" sz="1600" dirty="0"/>
                        <a:t>, </a:t>
                      </a:r>
                    </a:p>
                    <a:p>
                      <a:pPr>
                        <a:buNone/>
                      </a:pPr>
                      <a:r>
                        <a:rPr lang="en-US" sz="1600" dirty="0"/>
                        <a:t>gradient descent </a:t>
                      </a:r>
                      <a:r>
                        <a:rPr lang="ko-KR" altLang="en-US" sz="1600" dirty="0"/>
                        <a:t>수렴</a:t>
                      </a:r>
                      <a:endParaRPr lang="ko-KR" altLang="en-US" sz="1600" dirty="0">
                        <a:latin typeface="HY그래픽M" panose="02030600000101010101" pitchFamily="18" charset="-127"/>
                        <a:ea typeface="HY그래픽M" panose="02030600000101010101" pitchFamily="18" charset="-127"/>
                        <a:cs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6168464"/>
                  </a:ext>
                </a:extLst>
              </a:tr>
              <a:tr h="4443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3. Mini-batch </a:t>
                      </a:r>
                      <a:r>
                        <a:rPr lang="ko-KR" altLang="en-US" sz="1600"/>
                        <a:t>학습</a:t>
                      </a:r>
                      <a:endParaRPr lang="ko-KR" altLang="en-US" sz="1600">
                        <a:latin typeface="HY그래픽M" panose="02030600000101010101" pitchFamily="18" charset="-127"/>
                        <a:ea typeface="HY그래픽M" panose="02030600000101010101" pitchFamily="18" charset="-127"/>
                        <a:cs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/>
                        <a:t>전체 데이터 사용 어려움</a:t>
                      </a:r>
                      <a:endParaRPr lang="ko-KR" altLang="en-US" sz="1600">
                        <a:latin typeface="HY그래픽M" panose="02030600000101010101" pitchFamily="18" charset="-127"/>
                        <a:ea typeface="HY그래픽M" panose="02030600000101010101" pitchFamily="18" charset="-127"/>
                        <a:cs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/>
                        <a:t>작은 샘플 평균이 전체 근사</a:t>
                      </a:r>
                      <a:endParaRPr lang="ko-KR" altLang="en-US" sz="1600">
                        <a:latin typeface="HY그래픽M" panose="02030600000101010101" pitchFamily="18" charset="-127"/>
                        <a:ea typeface="HY그래픽M" panose="02030600000101010101" pitchFamily="18" charset="-127"/>
                        <a:cs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dirty="0"/>
                        <a:t>계산 효율</a:t>
                      </a:r>
                      <a:r>
                        <a:rPr lang="en-US" altLang="ko-KR" sz="1600" dirty="0"/>
                        <a:t>, GPU </a:t>
                      </a:r>
                      <a:r>
                        <a:rPr lang="ko-KR" altLang="en-US" sz="1600" dirty="0"/>
                        <a:t>활용</a:t>
                      </a:r>
                      <a:endParaRPr lang="en-US" altLang="ko-KR" sz="1600" dirty="0">
                        <a:latin typeface="HY그래픽M" panose="02030600000101010101" pitchFamily="18" charset="-127"/>
                        <a:ea typeface="HY그래픽M" panose="02030600000101010101" pitchFamily="18" charset="-127"/>
                        <a:cs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8356760"/>
                  </a:ext>
                </a:extLst>
              </a:tr>
              <a:tr h="4443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600"/>
                        <a:t>4. </a:t>
                      </a:r>
                      <a:r>
                        <a:rPr lang="ko-KR" altLang="en-US" sz="1600"/>
                        <a:t>모델 평가</a:t>
                      </a:r>
                      <a:endParaRPr lang="ko-KR" altLang="en-US" sz="1600">
                        <a:latin typeface="HY그래픽M" panose="02030600000101010101" pitchFamily="18" charset="-127"/>
                        <a:ea typeface="HY그래픽M" panose="02030600000101010101" pitchFamily="18" charset="-127"/>
                        <a:cs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/>
                        <a:t>성능 비교 불확실</a:t>
                      </a:r>
                      <a:endParaRPr lang="ko-KR" altLang="en-US" sz="1600">
                        <a:latin typeface="HY그래픽M" panose="02030600000101010101" pitchFamily="18" charset="-127"/>
                        <a:ea typeface="HY그래픽M" panose="02030600000101010101" pitchFamily="18" charset="-127"/>
                        <a:cs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/>
                        <a:t>평균 성능이 정규분포 따름</a:t>
                      </a:r>
                      <a:endParaRPr lang="ko-KR" altLang="en-US" sz="1600">
                        <a:latin typeface="HY그래픽M" panose="02030600000101010101" pitchFamily="18" charset="-127"/>
                        <a:ea typeface="HY그래픽M" panose="02030600000101010101" pitchFamily="18" charset="-127"/>
                        <a:cs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/>
                        <a:t>신뢰구간</a:t>
                      </a:r>
                      <a:r>
                        <a:rPr lang="en-US" altLang="ko-KR" sz="1600"/>
                        <a:t>, </a:t>
                      </a:r>
                      <a:r>
                        <a:rPr lang="ko-KR" altLang="en-US" sz="1600"/>
                        <a:t>통계적 비교 가능</a:t>
                      </a:r>
                      <a:endParaRPr lang="ko-KR" altLang="en-US" sz="1600">
                        <a:latin typeface="HY그래픽M" panose="02030600000101010101" pitchFamily="18" charset="-127"/>
                        <a:ea typeface="HY그래픽M" panose="02030600000101010101" pitchFamily="18" charset="-127"/>
                        <a:cs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1531158"/>
                  </a:ext>
                </a:extLst>
              </a:tr>
              <a:tr h="4443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5. A/B </a:t>
                      </a:r>
                      <a:r>
                        <a:rPr lang="ko-KR" altLang="en-US" sz="1600"/>
                        <a:t>테스트</a:t>
                      </a:r>
                      <a:endParaRPr lang="ko-KR" altLang="en-US" sz="1600">
                        <a:latin typeface="HY그래픽M" panose="02030600000101010101" pitchFamily="18" charset="-127"/>
                        <a:ea typeface="HY그래픽M" panose="02030600000101010101" pitchFamily="18" charset="-127"/>
                        <a:cs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dirty="0"/>
                        <a:t>효과 차이 판단 필요</a:t>
                      </a:r>
                      <a:endParaRPr lang="ko-KR" altLang="en-US" sz="1600" dirty="0">
                        <a:latin typeface="HY그래픽M" panose="02030600000101010101" pitchFamily="18" charset="-127"/>
                        <a:ea typeface="HY그래픽M" panose="02030600000101010101" pitchFamily="18" charset="-127"/>
                        <a:cs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/>
                        <a:t>평균 차이 → 정규분포 근사</a:t>
                      </a:r>
                      <a:endParaRPr lang="ko-KR" altLang="en-US" sz="1600">
                        <a:latin typeface="HY그래픽M" panose="02030600000101010101" pitchFamily="18" charset="-127"/>
                        <a:ea typeface="HY그래픽M" panose="02030600000101010101" pitchFamily="18" charset="-127"/>
                        <a:cs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600" dirty="0"/>
                        <a:t>p-value </a:t>
                      </a:r>
                      <a:r>
                        <a:rPr lang="ko-KR" altLang="en-US" sz="1600" dirty="0"/>
                        <a:t>기반 의사결정</a:t>
                      </a:r>
                      <a:endParaRPr lang="ko-KR" altLang="en-US" sz="1600" dirty="0">
                        <a:latin typeface="HY그래픽M" panose="02030600000101010101" pitchFamily="18" charset="-127"/>
                        <a:ea typeface="HY그래픽M" panose="02030600000101010101" pitchFamily="18" charset="-127"/>
                        <a:cs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844464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177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마케팅 16x9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13666154_TF02801084.potx" id="{B893C259-098E-47F8-8877-587E0721A18C}" vid="{F842517E-B3F6-4577-896B-5E1D47976B3A}"/>
    </a:ext>
  </a:extLst>
</a:theme>
</file>

<file path=ppt/theme/theme2.xml><?xml version="1.0" encoding="utf-8"?>
<a:theme xmlns:a="http://schemas.openxmlformats.org/drawingml/2006/main" name="Office 테마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VSO_x0020_item_x0020_id xmlns="40262f94-9f35-4ac3-9a90-690165a166b7" xsi:nil="true"/>
    <Assetid_x0020_ xmlns="40262f94-9f35-4ac3-9a90-690165a166b7" xsi:nil="true"/>
    <Item_x0020_Details xmlns="40262f94-9f35-4ac3-9a90-690165a166b7" xsi:nil="true"/>
    <Template_x0020_details xmlns="40262f94-9f35-4ac3-9a90-690165a166b7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A3F7D94069FF64A86F7DFF56D60E3BE" ma:contentTypeVersion="6" ma:contentTypeDescription="Create a new document." ma:contentTypeScope="" ma:versionID="c32302c77d4085ecf495bdddb7f5e889">
  <xsd:schema xmlns:xsd="http://www.w3.org/2001/XMLSchema" xmlns:xs="http://www.w3.org/2001/XMLSchema" xmlns:p="http://schemas.microsoft.com/office/2006/metadata/properties" xmlns:ns2="a4f35948-e619-41b3-aa29-22878b09cfd2" xmlns:ns3="40262f94-9f35-4ac3-9a90-690165a166b7" targetNamespace="http://schemas.microsoft.com/office/2006/metadata/properties" ma:root="true" ma:fieldsID="4ab5ae46be95f9d0be6107e8200be7a2" ns2:_="" ns3:_="">
    <xsd:import namespace="a4f35948-e619-41b3-aa29-22878b09cfd2"/>
    <xsd:import namespace="40262f94-9f35-4ac3-9a90-690165a166b7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VSO_x0020_item_x0020_id" minOccurs="0"/>
                <xsd:element ref="ns3:Item_x0020_Details" minOccurs="0"/>
                <xsd:element ref="ns3:Template_x0020_details" minOccurs="0"/>
                <xsd:element ref="ns3:Assetid_x0020_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4f35948-e619-41b3-aa29-22878b09cfd2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0262f94-9f35-4ac3-9a90-690165a166b7" elementFormDefault="qualified">
    <xsd:import namespace="http://schemas.microsoft.com/office/2006/documentManagement/types"/>
    <xsd:import namespace="http://schemas.microsoft.com/office/infopath/2007/PartnerControls"/>
    <xsd:element name="VSO_x0020_item_x0020_id" ma:index="10" nillable="true" ma:displayName="VSO item id" ma:description="Please add the bug number to refer to VSO items." ma:internalName="VSO_x0020_item_x0020_id">
      <xsd:simpleType>
        <xsd:restriction base="dms:Text">
          <xsd:maxLength value="255"/>
        </xsd:restriction>
      </xsd:simpleType>
    </xsd:element>
    <xsd:element name="Item_x0020_Details" ma:index="11" nillable="true" ma:displayName="Item Details" ma:internalName="Item_x0020_Details">
      <xsd:simpleType>
        <xsd:restriction base="dms:Note">
          <xsd:maxLength value="255"/>
        </xsd:restriction>
      </xsd:simpleType>
    </xsd:element>
    <xsd:element name="Template_x0020_details" ma:index="12" nillable="true" ma:displayName="Template details" ma:internalName="Template_x0020_details">
      <xsd:simpleType>
        <xsd:restriction base="dms:Text"/>
      </xsd:simpleType>
    </xsd:element>
    <xsd:element name="Assetid_x0020_" ma:index="13" nillable="true" ma:displayName="Assetid " ma:internalName="Assetid_x0020_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0AACE6D-8EB6-447A-8DFD-C2C0C52916AC}">
  <ds:schemaRefs>
    <ds:schemaRef ds:uri="a4f35948-e619-41b3-aa29-22878b09cfd2"/>
    <ds:schemaRef ds:uri="http://purl.org/dc/elements/1.1/"/>
    <ds:schemaRef ds:uri="http://schemas.microsoft.com/office/infopath/2007/PartnerControls"/>
    <ds:schemaRef ds:uri="40262f94-9f35-4ac3-9a90-690165a166b7"/>
    <ds:schemaRef ds:uri="http://purl.org/dc/dcmitype/"/>
    <ds:schemaRef ds:uri="http://schemas.microsoft.com/office/2006/documentManagement/types"/>
    <ds:schemaRef ds:uri="http://schemas.microsoft.com/office/2006/metadata/properties"/>
    <ds:schemaRef ds:uri="http://schemas.openxmlformats.org/package/2006/metadata/core-properties"/>
    <ds:schemaRef ds:uri="http://www.w3.org/XML/1998/namespace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7F9B8BCC-BF24-4800-92E1-9F891BBB27E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CCB2C71-1ED8-4540-B003-293B5E75C71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4f35948-e619-41b3-aa29-22878b09cfd2"/>
    <ds:schemaRef ds:uri="40262f94-9f35-4ac3-9a90-690165a166b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유리 건물 배경의 비즈니스 마케팅 프레젠테이션(와이드스크린)</Template>
  <TotalTime>639</TotalTime>
  <Words>552</Words>
  <Application>Microsoft Office PowerPoint</Application>
  <PresentationFormat>사용자 지정</PresentationFormat>
  <Paragraphs>91</Paragraphs>
  <Slides>11</Slides>
  <Notes>11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20" baseType="lpstr">
      <vt:lpstr>HY그래픽M</vt:lpstr>
      <vt:lpstr>맑은 고딕</vt:lpstr>
      <vt:lpstr>휴먼모음T</vt:lpstr>
      <vt:lpstr>Arial</vt:lpstr>
      <vt:lpstr>Arial Narrow</vt:lpstr>
      <vt:lpstr>Corbel</vt:lpstr>
      <vt:lpstr>PT Sans</vt:lpstr>
      <vt:lpstr>Wingdings</vt:lpstr>
      <vt:lpstr>마케팅 16x9</vt:lpstr>
      <vt:lpstr>Simulation  - 머신러닝을 위한 -  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ADsP 특강   2024_Summer</dc:title>
  <dc:creator>조상구</dc:creator>
  <cp:lastModifiedBy>Sanggoo Cho</cp:lastModifiedBy>
  <cp:revision>50</cp:revision>
  <dcterms:created xsi:type="dcterms:W3CDTF">2024-06-03T06:10:16Z</dcterms:created>
  <dcterms:modified xsi:type="dcterms:W3CDTF">2026-03-25T07:35:45Z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nternalTags">
    <vt:lpwstr/>
  </property>
  <property fmtid="{D5CDD505-2E9C-101B-9397-08002B2CF9AE}" pid="3" name="ContentTypeId">
    <vt:lpwstr>0x010100AA3F7D94069FF64A86F7DFF56D60E3BE</vt:lpwstr>
  </property>
  <property fmtid="{D5CDD505-2E9C-101B-9397-08002B2CF9AE}" pid="4" name="FeatureTags">
    <vt:lpwstr/>
  </property>
  <property fmtid="{D5CDD505-2E9C-101B-9397-08002B2CF9AE}" pid="5" name="LocalizationTags">
    <vt:lpwstr/>
  </property>
  <property fmtid="{D5CDD505-2E9C-101B-9397-08002B2CF9AE}" pid="6" name="ScenarioTags">
    <vt:lpwstr/>
  </property>
  <property fmtid="{D5CDD505-2E9C-101B-9397-08002B2CF9AE}" pid="7" name="CampaignTags">
    <vt:lpwstr/>
  </property>
</Properties>
</file>