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4"/>
  </p:notesMasterIdLst>
  <p:sldIdLst>
    <p:sldId id="256" r:id="rId2"/>
    <p:sldId id="839" r:id="rId3"/>
    <p:sldId id="911" r:id="rId4"/>
    <p:sldId id="840" r:id="rId5"/>
    <p:sldId id="914" r:id="rId6"/>
    <p:sldId id="915" r:id="rId7"/>
    <p:sldId id="916" r:id="rId8"/>
    <p:sldId id="917" r:id="rId9"/>
    <p:sldId id="912" r:id="rId10"/>
    <p:sldId id="918" r:id="rId11"/>
    <p:sldId id="920" r:id="rId12"/>
    <p:sldId id="919" r:id="rId13"/>
    <p:sldId id="922" r:id="rId14"/>
    <p:sldId id="923" r:id="rId15"/>
    <p:sldId id="924" r:id="rId16"/>
    <p:sldId id="925" r:id="rId17"/>
    <p:sldId id="913" r:id="rId18"/>
    <p:sldId id="921" r:id="rId19"/>
    <p:sldId id="270" r:id="rId20"/>
    <p:sldId id="304" r:id="rId21"/>
    <p:sldId id="926" r:id="rId22"/>
    <p:sldId id="928" r:id="rId23"/>
    <p:sldId id="931" r:id="rId24"/>
    <p:sldId id="929" r:id="rId25"/>
    <p:sldId id="305" r:id="rId26"/>
    <p:sldId id="306" r:id="rId27"/>
    <p:sldId id="388" r:id="rId28"/>
    <p:sldId id="308" r:id="rId29"/>
    <p:sldId id="311" r:id="rId30"/>
    <p:sldId id="309" r:id="rId31"/>
    <p:sldId id="310" r:id="rId32"/>
    <p:sldId id="930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77" autoAdjust="0"/>
  </p:normalViewPr>
  <p:slideViewPr>
    <p:cSldViewPr snapToGrid="0">
      <p:cViewPr>
        <p:scale>
          <a:sx n="75" d="100"/>
          <a:sy n="75" d="100"/>
        </p:scale>
        <p:origin x="1128" y="173"/>
      </p:cViewPr>
      <p:guideLst/>
    </p:cSldViewPr>
  </p:slideViewPr>
  <p:outlineViewPr>
    <p:cViewPr>
      <p:scale>
        <a:sx n="33" d="100"/>
        <a:sy n="33" d="100"/>
      </p:scale>
      <p:origin x="0" y="-14155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6101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D2F86-9062-4B78-99E4-F1BEEF85F138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5F8537-0286-40EF-BEDA-D09730C549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858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1418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265BF-EF79-CC36-C989-051C8DC7E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716F047-73FD-800B-F721-545CE080EC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413728-6C63-B747-2816-22F2177655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EC60E5-66BB-0D7D-7C4A-47B8F229DB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1323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6E148-616A-C8F8-0665-CF3534AB5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C7D98D-5DFF-EAF8-3916-334791F2A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0A1D918-71F7-C808-4AB8-4D3BF7ED0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5909C6-DE8F-8A31-18E4-9F4E00FDED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5968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C5718-97E2-4EE3-B2B0-5BF44FFD7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25BA55-8A37-BE29-1862-CCD6FD55EB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069EB1-1FDA-6159-5278-6A2FF1B494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A074A0-496E-A478-ECC5-5F154B3071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39797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265BF-EF79-CC36-C989-051C8DC7E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716F047-73FD-800B-F721-545CE080EC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413728-6C63-B747-2816-22F2177655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EC60E5-66BB-0D7D-7C4A-47B8F229DB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13233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E1B4F-B913-2BE9-9359-92236640D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D04812E-3253-4341-DC46-78222B0B4D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AE9E0F-6313-3502-1A05-E35F3B8F3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54258E-45FA-3A7A-F9D1-024A700EB7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02634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27E54-28B2-8C19-528B-8C781240B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4D7B0C-202C-6E21-08C8-5AB3D93398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88F541-3E50-4ACF-17EA-E0DC1F891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B0BA84-50CA-6F67-619A-3B549011D1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89327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61178-D3A3-BD01-999B-5CD0CBDA6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94B66A9-55C3-DC1E-3535-AD5D96B301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7FFF2B-2B71-B514-D49C-EF7B099DE9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8E91CB-DE8C-2792-9462-33EFA4D63E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39779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00921-2A98-58A1-77F4-D8659C0BA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8269F1-DD08-6BF5-8344-47DF8E22EB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96A4B6-DC7D-FF48-46FC-7358B9C815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61E27B-EE8E-0361-5AEB-07842FCFA0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33469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2FD5E-B683-05F5-2A8F-95FE36980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914573-C36D-346C-F5A7-A95CE5ED02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B6A3A6-E1B1-4542-BD9E-843AF4A37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3E6ECA-8F6F-B8DE-C544-C72743D372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676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78737" y="625919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3774" y="625919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14011" y="625919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>
            <a:lvl1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  <a:lvl2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2pPr>
            <a:lvl3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3pPr>
            <a:lvl4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4pPr>
            <a:lvl5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3ED9A29-9868-F004-D477-E1B0BB933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25919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77D30F9-C5FD-9521-DA84-79FBF57E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25919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6A01DD9-3974-9718-87F6-EB78F09A5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25919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 cap="none" baseline="0">
                <a:solidFill>
                  <a:schemeClr val="bg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3A99E11-B46A-118A-F76B-E17310DEE2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25919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71614DA-D35D-4B8B-DCBD-E9A199822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25919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B27BFF4-697B-FD92-F05F-295244280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25919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>
            <a:lvl1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>
            <a:lvl1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  <a:lvl2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2pPr>
            <a:lvl3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3pPr>
            <a:lvl4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4pPr>
            <a:lvl5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>
            <a:lvl1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  <a:lvl2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2pPr>
            <a:lvl3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3pPr>
            <a:lvl4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4pPr>
            <a:lvl5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8E69C8F-0918-40E3-4741-67A5B5A91D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25919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62887F7-6A57-BAD0-B669-290D07F51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25919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4F0C71D-A8E9-043B-3AA5-BF120AE9F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25919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>
            <a:lvl1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 cap="none" baseline="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>
            <a:lvl1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  <a:lvl2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2pPr>
            <a:lvl3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3pPr>
            <a:lvl4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4pPr>
            <a:lvl5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 cap="none" baseline="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>
            <a:lvl1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  <a:lvl2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2pPr>
            <a:lvl3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3pPr>
            <a:lvl4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4pPr>
            <a:lvl5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 cap="none" baseline="0">
                <a:latin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627951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3774" y="627951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14011" y="627951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 cap="none" baseline="0">
                <a:latin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615759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3774" y="615759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14011" y="615759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5631107F-D1C4-F805-1498-80BECBF005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4DC48662-B15E-83AA-948A-6E29EC904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6B053EF2-6074-466B-2115-88DE3F354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F09C00A1-E496-9D6D-FCA7-54CAF7D69F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F1974E-196E-D3C9-4363-362788825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404446F-A494-25B8-0869-FB7B6C5BC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68E154EC-00A9-6E79-7724-9D6944B077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BEC2A4-54D7-3BF6-D99A-08582FF90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4D4F25-CAAA-ECEB-957C-521F20E2D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D1B0384A-C15E-6BC3-788D-790F774B40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7415F5C3-F00B-F7A0-2083-856E045DD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11D89B46-F084-169B-F060-9635BE8E8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7273AA5-3929-967A-5130-C11B3E3756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88B4DE49-D32C-01EA-F5B0-AAAC2AD2C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85456818-C05D-B8E7-2227-39DE6BFCB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208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1B8B1B7-A03F-2EA2-EF8B-567925A49D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78737" y="625919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72B5944-8912-A1D5-050D-8632DCBF79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3774" y="625919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B2289C7-8B26-A377-4243-1486C10E0C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4011" y="625919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  <p:sldLayoutId id="2147483669" r:id="rId18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en.wikipedia.org/wiki/Velocity" TargetMode="External"/><Relationship Id="rId1" Type="http://schemas.openxmlformats.org/officeDocument/2006/relationships/slideLayout" Target="../slideLayouts/slideLayout18.xml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ell_division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Relationship Id="rId5" Type="http://schemas.microsoft.com/office/2007/relationships/hdphoto" Target="../media/hdphoto2.wdp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s://en.wikipedia.org/wiki/Cell_division" TargetMode="Externa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9.jpeg"/><Relationship Id="rId7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6.png"/><Relationship Id="rId5" Type="http://schemas.microsoft.com/office/2007/relationships/hdphoto" Target="../media/hdphoto3.wdp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0.png"/><Relationship Id="rId5" Type="http://schemas.microsoft.com/office/2007/relationships/hdphoto" Target="../media/hdphoto3.wdp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3.png"/><Relationship Id="rId7" Type="http://schemas.microsoft.com/office/2007/relationships/hdphoto" Target="../media/hdphoto5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microsoft.com/office/2007/relationships/hdphoto" Target="../media/hdphoto4.wdp"/><Relationship Id="rId10" Type="http://schemas.openxmlformats.org/officeDocument/2006/relationships/image" Target="../media/image28.png"/><Relationship Id="rId4" Type="http://schemas.openxmlformats.org/officeDocument/2006/relationships/image" Target="../media/image24.png"/><Relationship Id="rId9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s://github.com/ancestor9/mathematics-for-machine-learning/blob/main/scripts/cell_contamination.ipynb" TargetMode="Externa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hyperlink" Target="https://en.wikipedia.org/wiki/Compound_interest" TargetMode="Externa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7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andom_walk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hyperlink" Target="https://github.com/ancestor9/mathematics-for-machine-learning/blob/main/scripts/Random_Walk_Simulation.ipynb" TargetMode="Externa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9.jpeg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hyperlink" Target="https://github.com/ancestor9/mathematics-for-machine-learning/blob/main/scripts/Random_Walk_Simulation.ipynb" TargetMode="Externa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9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s://github.com/ancestor9/mathematics-for-machine-learning/blob/main/scripts/Random_Walk_Simulation.ipynb" TargetMode="Externa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ko.wikipedia.org/wiki/%EB%AA%AC%ED%8B%B0_%ED%99%80_%EB%AC%B8%EC%A0%9C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.jpe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plus.maths.org/mathematical-dating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9.jpeg"/><Relationship Id="rId4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.jpe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94BC4CC-119D-4066-611C-7FF8F6954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1" y="-1"/>
            <a:ext cx="7315200" cy="683417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53B55A5-AD55-D660-8099-86131A403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14571"/>
            <a:ext cx="4876801" cy="2509213"/>
          </a:xfrm>
        </p:spPr>
        <p:txBody>
          <a:bodyPr/>
          <a:lstStyle/>
          <a:p>
            <a:r>
              <a:rPr lang="ko-KR" altLang="en-US" dirty="0"/>
              <a:t>수학의 응용</a:t>
            </a:r>
            <a:br>
              <a:rPr lang="en-US" altLang="ko-KR" dirty="0"/>
            </a:br>
            <a:r>
              <a:rPr lang="en-US" altLang="ko-KR" sz="3600" dirty="0"/>
              <a:t>- </a:t>
            </a:r>
            <a:r>
              <a:rPr lang="ko-KR" altLang="en-US" sz="3600" dirty="0" err="1"/>
              <a:t>머신러닝</a:t>
            </a:r>
            <a:r>
              <a:rPr lang="en-US" altLang="ko-KR" sz="3600" dirty="0"/>
              <a:t> -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CC0AE0-A72B-E734-A33B-67DEC45955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99986"/>
            <a:ext cx="4876801" cy="1371599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2026 Spring</a:t>
            </a:r>
          </a:p>
          <a:p>
            <a:r>
              <a:rPr lang="ko-KR" altLang="en-US" dirty="0" err="1">
                <a:solidFill>
                  <a:schemeClr val="tx1"/>
                </a:solidFill>
              </a:rPr>
              <a:t>조상구</a:t>
            </a:r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924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9DDB5-17A6-3B86-C607-0CFC0AF11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9A3EEBE5-E1C5-77F8-1CD6-4688155CE328}"/>
              </a:ext>
            </a:extLst>
          </p:cNvPr>
          <p:cNvSpPr/>
          <p:nvPr/>
        </p:nvSpPr>
        <p:spPr>
          <a:xfrm>
            <a:off x="1127448" y="1505451"/>
            <a:ext cx="4749534" cy="5846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99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47E737-0202-3854-C868-F01FAACAADC1}"/>
              </a:ext>
            </a:extLst>
          </p:cNvPr>
          <p:cNvSpPr txBox="1"/>
          <p:nvPr/>
        </p:nvSpPr>
        <p:spPr>
          <a:xfrm>
            <a:off x="1337468" y="1428986"/>
            <a:ext cx="8435182" cy="3606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196" indent="-514196">
              <a:lnSpc>
                <a:spcPct val="150000"/>
              </a:lnSpc>
              <a:buAutoNum type="arabicPeriod"/>
            </a:pPr>
            <a:r>
              <a:rPr lang="en-US" altLang="ko-KR" sz="2400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Modeling</a:t>
            </a:r>
          </a:p>
          <a:p>
            <a:pPr marL="971396" lvl="1" indent="-514196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derivative function</a:t>
            </a:r>
          </a:p>
          <a:p>
            <a:pPr marL="971396" lvl="1" indent="-514196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mathematical modeling</a:t>
            </a:r>
          </a:p>
          <a:p>
            <a:pPr marL="971396" lvl="1" indent="-514196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interest compound</a:t>
            </a:r>
          </a:p>
          <a:p>
            <a:pPr marL="514196" indent="-514196">
              <a:lnSpc>
                <a:spcPct val="150000"/>
              </a:lnSpc>
              <a:buAutoNum type="arabicPeriod"/>
            </a:pPr>
            <a:r>
              <a:rPr lang="en-US" altLang="ko-KR" sz="2400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Montecarlo Simulation</a:t>
            </a:r>
          </a:p>
          <a:p>
            <a:pPr marL="514196" indent="-514196">
              <a:lnSpc>
                <a:spcPct val="150000"/>
              </a:lnSpc>
              <a:buAutoNum type="arabicPeriod"/>
            </a:pPr>
            <a:r>
              <a:rPr lang="en-US" altLang="ko-KR" sz="2400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Linear Programing</a:t>
            </a:r>
          </a:p>
          <a:p>
            <a:pPr marL="514196" indent="-514196">
              <a:lnSpc>
                <a:spcPct val="150000"/>
              </a:lnSpc>
              <a:buAutoNum type="arabicPeriod"/>
            </a:pPr>
            <a:r>
              <a:rPr lang="en-US" altLang="ko-KR" sz="2400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Genetic algorithm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EC34A9-4B72-FF34-06FC-E57171E6DB12}"/>
              </a:ext>
            </a:extLst>
          </p:cNvPr>
          <p:cNvSpPr txBox="1"/>
          <p:nvPr/>
        </p:nvSpPr>
        <p:spPr>
          <a:xfrm>
            <a:off x="1337470" y="710574"/>
            <a:ext cx="2603977" cy="584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199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ko-KR" altLang="en-US" sz="3199" dirty="0"/>
          </a:p>
        </p:txBody>
      </p:sp>
    </p:spTree>
    <p:extLst>
      <p:ext uri="{BB962C8B-B14F-4D97-AF65-F5344CB8AC3E}">
        <p14:creationId xmlns:p14="http://schemas.microsoft.com/office/powerpoint/2010/main" val="3139017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F3DEC-5F02-17A9-3594-5B9D17DE3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A1413A-DC81-AD18-5C2D-6BF086089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2862" y="6035582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E9B157DA-C9A3-9224-8EA5-15C2E9891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BDC7E784-6620-0FB7-979E-D2BFBA886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8" y="1321459"/>
            <a:ext cx="10158333" cy="358282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복잡한 현실 세계의 현상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시스템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사물 등을 일정한 규칙이나 관점에 따라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추상화하여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단순한 형태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모델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표현하는 과정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추상화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단순화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미래에 대한 결과를 논리적으로 추정하는 행위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통계적 모델링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머신러닝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모델링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시뮬레이션 및 테스트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수학적 모델링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데이터베이스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모델링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(ERD)……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F5A445B-3694-E092-8071-FF439CABD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230" y="3194913"/>
            <a:ext cx="4608512" cy="3023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430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81398CD2-47AC-F5C1-E48C-7BEE837D6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/>
          <a:lstStyle/>
          <a:p>
            <a:r>
              <a:rPr lang="en-US" altLang="ko-KR" cap="none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derative</a:t>
            </a:r>
            <a:r>
              <a:rPr lang="ko-KR" altLang="en-US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function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내용 개체 틀 2">
                <a:extLst>
                  <a:ext uri="{FF2B5EF4-FFF2-40B4-BE49-F238E27FC236}">
                    <a16:creationId xmlns:a16="http://schemas.microsoft.com/office/drawing/2014/main" id="{A4BF8824-1D8A-37E0-8B47-F3F99409C2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5383" y="1339880"/>
                <a:ext cx="11106756" cy="5279995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2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속도</a:t>
                </a:r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hlinkClick r:id="rId2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Velocity</a:t>
                </a:r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미분방정식</a:t>
                </a:r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미분을 포함한 방정식</a:t>
                </a:r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의 수식으로 표현하자</a:t>
                </a:r>
                <a:endParaRPr lang="en-US" altLang="ko-KR" cap="none" dirty="0">
                  <a:solidFill>
                    <a:schemeClr val="tx1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lvl="1">
                  <a:lnSpc>
                    <a:spcPct val="16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직관적으로 속도는 거리를 시간으로 나눈 값 </a:t>
                </a:r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평균속도</a:t>
                </a:r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</a:p>
              <a:p>
                <a:pPr lvl="2">
                  <a:lnSpc>
                    <a:spcPct val="16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ko-KR" i="1" cap="none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ko-KR" i="1" cap="none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 cap="none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cap="none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ko-KR" i="1" cap="none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altLang="ko-KR" b="0" i="1" cap="none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altLang="ko-KR" i="1" cap="none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ko-KR" b="0" i="1" cap="none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속도</a:t>
                </a:r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i="1" cap="none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i="1" cap="none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거리</a:t>
                </a:r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i="1" cap="none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i="1" cap="none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시간</a:t>
                </a:r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</a:p>
              <a:p>
                <a:pPr lvl="2">
                  <a:lnSpc>
                    <a:spcPct val="16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 cap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sSubPr>
                      <m:e>
                        <m:r>
                          <a:rPr lang="ko-KR" altLang="en-US" cap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𝑣</m:t>
                        </m:r>
                      </m:e>
                      <m:sub>
                        <m:r>
                          <a:rPr lang="ko-KR" altLang="en-US" cap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𝑎𝑣</m:t>
                        </m:r>
                      </m:sub>
                    </m:sSub>
                    <m:r>
                      <a:rPr lang="en-US" altLang="ko-KR" cap="none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=</m:t>
                    </m:r>
                    <m:f>
                      <m:fPr>
                        <m:ctrlPr>
                          <a:rPr lang="ko-KR" altLang="en-US" i="1" cap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ko-KR" cap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Δ</m:t>
                        </m:r>
                        <m:r>
                          <a:rPr lang="ko-KR" altLang="en-US" cap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ko-KR" cap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Δ</m:t>
                        </m:r>
                        <m:r>
                          <a:rPr lang="ko-KR" altLang="en-US" cap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 </a:t>
                </a:r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 </a:t>
                </a:r>
                <a:r>
                  <a:rPr lang="ko-KR" altLang="en-US" b="1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평균속도</a:t>
                </a: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 개념으로 </a:t>
                </a: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일정한 시간대 </a:t>
                </a:r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1</a:t>
                </a: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시간</a:t>
                </a:r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1</a:t>
                </a: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분</a:t>
                </a:r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1</a:t>
                </a: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초 시간 동안에 움직인 거리</a:t>
                </a:r>
                <a:endParaRPr lang="en-US" altLang="ko-KR" cap="none" dirty="0">
                  <a:solidFill>
                    <a:schemeClr val="tx1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lvl="3">
                  <a:lnSpc>
                    <a:spcPct val="16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100km</a:t>
                </a: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</a:t>
                </a:r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2</a:t>
                </a: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시간 동안 달렸다면 </a:t>
                </a:r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100/2=50km/hour</a:t>
                </a:r>
              </a:p>
              <a:p>
                <a:pPr lvl="1">
                  <a:lnSpc>
                    <a:spcPct val="2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아주 미세한 시간에 움직인 거리 </a:t>
                </a:r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순간속도</a:t>
                </a:r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endParaRPr lang="en-US" altLang="ko-KR" sz="600" cap="none" dirty="0">
                  <a:solidFill>
                    <a:schemeClr val="tx1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물리학에서 일반적으로 다루는 속도는 물체가 갖는 어떠한 순간의 속도</a:t>
                </a:r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즉 순간속도</a:t>
                </a:r>
                <a:endParaRPr lang="en-US" altLang="ko-KR" cap="none" dirty="0">
                  <a:solidFill>
                    <a:schemeClr val="tx1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순간속도는 평균속도를 측정하는 시간간격을 매우 짧게 하여 </a:t>
                </a:r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0</a:t>
                </a: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에 접근시킨 극한값</a:t>
                </a:r>
                <a:endParaRPr lang="en-US" altLang="ko-KR" cap="none" dirty="0">
                  <a:solidFill>
                    <a:schemeClr val="tx1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　　　　　　　　　　　</a:t>
                </a: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　</a:t>
                </a:r>
                <a:r>
                  <a:rPr lang="ko-KR" altLang="en-US" b="1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순간속도</a:t>
                </a: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는 변위를 시간에 대하여 미분한 것</a:t>
                </a:r>
                <a:endParaRPr lang="en-US" altLang="ko-KR" cap="none" dirty="0">
                  <a:solidFill>
                    <a:schemeClr val="tx1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10" name="내용 개체 틀 2">
                <a:extLst>
                  <a:ext uri="{FF2B5EF4-FFF2-40B4-BE49-F238E27FC236}">
                    <a16:creationId xmlns:a16="http://schemas.microsoft.com/office/drawing/2014/main" id="{A4BF8824-1D8A-37E0-8B47-F3F99409C2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5383" y="1339880"/>
                <a:ext cx="11106756" cy="5279995"/>
              </a:xfrm>
              <a:blipFill>
                <a:blip r:embed="rId3"/>
                <a:stretch>
                  <a:fillRect l="-4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utoShape 2" descr="{\displaystyle {\boldsymbol {v}}=\lim _{{\Delta t}\to 0}{\frac {\Delta {\boldsymbol {s}}}{\Delta t}}={\frac {d{\boldsymbol {s}}}{dt}}.}">
            <a:extLst>
              <a:ext uri="{FF2B5EF4-FFF2-40B4-BE49-F238E27FC236}">
                <a16:creationId xmlns:a16="http://schemas.microsoft.com/office/drawing/2014/main" id="{090EF87D-2E28-82B5-D1C2-77DFA43A05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1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3A02375D-6E04-E35C-A592-EDBF089A5F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08126" y="5587847"/>
            <a:ext cx="2004234" cy="609653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F9302F10-0716-C4EB-440F-B5806EFF1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2862" y="6035582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544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B44A4-DE61-7543-956C-13764059A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D98EFE44-D11A-00B2-17EB-AFC718106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/>
          <a:lstStyle/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 </a:t>
            </a:r>
            <a:r>
              <a:rPr lang="en-US" altLang="ko-K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Velocity</a:t>
            </a:r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11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D8F75B4A-132C-EA13-4987-147857E15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9489" y="66676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AutoShape 2" descr="{\displaystyle {\boldsymbol {v}}=\lim _{{\Delta t}\to 0}{\frac {\Delta {\boldsymbol {s}}}{\Delta t}}={\frac {d{\boldsymbol {s}}}{dt}}.}">
            <a:extLst>
              <a:ext uri="{FF2B5EF4-FFF2-40B4-BE49-F238E27FC236}">
                <a16:creationId xmlns:a16="http://schemas.microsoft.com/office/drawing/2014/main" id="{AD7E4053-2951-11E0-D09E-A998382F94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1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8229F449-DE69-C46A-77C6-1D1D427B41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당신은 서울에서 강릉까지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(180 km)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여행을 가는데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처음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90 km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는 교통체증으로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90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분이 걸렸고 뒤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90 km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는 도로가 뻥 뚫려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45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분 만에 달렸다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.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전체 평균속도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>
                            <a:latin typeface="Cambria Math" panose="02040503050406030204" pitchFamily="18" charset="0"/>
                          </a:rPr>
                          <m:t>𝑎𝑣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km/h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단위로 계산하세요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. 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각 구간의 속도는 각각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60 km/h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와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120 km/h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입니다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. 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단순히 두 속도의 산술평균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(90 km/h)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과 왜 다를까요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? “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총 거리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÷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총 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시간”이라는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평균속도의 정의를 이용해 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설명하시오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8229F449-DE69-C46A-77C6-1D1D427B41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5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7704B45-70A6-DCDF-5C33-14A3ECB97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2862" y="6035582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308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1E039-6B94-C0B4-2AE8-5AFDD9E21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ED08A57D-C6EE-5C90-D0E0-3C121BB03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/>
          <a:lstStyle/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 </a:t>
            </a:r>
            <a:r>
              <a:rPr lang="en-US" altLang="ko-K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Velocity</a:t>
            </a:r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11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ABF1C25D-1FC8-18E1-9898-B71505F87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9489" y="66676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AutoShape 2" descr="{\displaystyle {\boldsymbol {v}}=\lim _{{\Delta t}\to 0}{\frac {\Delta {\boldsymbol {s}}}{\Delta t}}={\frac {d{\boldsymbol {s}}}{dt}}.}">
            <a:extLst>
              <a:ext uri="{FF2B5EF4-FFF2-40B4-BE49-F238E27FC236}">
                <a16:creationId xmlns:a16="http://schemas.microsoft.com/office/drawing/2014/main" id="{A1E4C3B0-6C08-1F83-CCCE-6BD6243225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1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1C76119E-A61F-F19B-3077-25C168FE0D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5383" y="1756114"/>
                <a:ext cx="10353762" cy="4663735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당신은 마블의 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퀵실버가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순간 이동을 합니다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.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그의 위치가 시간에 따라 아래와 같이 주어졌어요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.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𝑥</m:t>
                    </m:r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dPr>
                      <m:e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𝑡</m:t>
                        </m:r>
                      </m:e>
                    </m:d>
                    <m:r>
                      <a:rPr lang="en-US" altLang="ko-KR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=4</m:t>
                    </m:r>
                    <m:sSup>
                      <m:sSupPr>
                        <m:ctrlPr>
                          <a:rPr lang="ko-KR" altLang="en-US" i="1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sSupPr>
                      <m:e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𝑡</m:t>
                        </m:r>
                      </m:e>
                      <m:sup>
                        <m:r>
                          <a:rPr lang="en-US" altLang="ko-KR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2</m:t>
                        </m:r>
                      </m:sup>
                    </m:sSup>
                    <m:r>
                      <a:rPr lang="en-US" altLang="ko-KR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+2</m:t>
                    </m:r>
                    <m:r>
                      <a:rPr lang="ko-KR" altLang="en-US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𝑡</m:t>
                    </m:r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단위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m, t: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초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𝑡</m:t>
                    </m:r>
                    <m:r>
                      <a:rPr lang="en-US" altLang="ko-KR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=0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초부터 </a:t>
                </a: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𝑡</m:t>
                    </m:r>
                    <m:r>
                      <a:rPr lang="en-US" altLang="ko-KR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=5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초까지의 평균속도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sSubPr>
                      <m:e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𝑣</m:t>
                        </m:r>
                      </m:e>
                      <m:sub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𝑎𝑣</m:t>
                        </m:r>
                      </m:sub>
                    </m:sSub>
                    <m:r>
                      <a:rPr lang="en-US" altLang="ko-KR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=</m:t>
                    </m:r>
                    <m:f>
                      <m:fPr>
                        <m:ctrlPr>
                          <a:rPr lang="ko-KR" altLang="en-US" i="1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Δ</m:t>
                        </m:r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Δ</m:t>
                        </m:r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𝑡</m:t>
                        </m:r>
                      </m:den>
                    </m:f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구하시오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순간속도 함수 </a:t>
                </a: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𝑣</m:t>
                    </m:r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dPr>
                      <m:e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𝑡</m:t>
                        </m:r>
                      </m:e>
                    </m:d>
                    <m:r>
                      <a:rPr lang="en-US" altLang="ko-KR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=</m:t>
                    </m:r>
                    <m:f>
                      <m:fPr>
                        <m:ctrlPr>
                          <a:rPr lang="ko-KR" altLang="en-US" i="1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fPr>
                      <m:num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𝑑𝑥</m:t>
                        </m:r>
                      </m:num>
                      <m:den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구하고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𝑡</m:t>
                    </m:r>
                    <m:r>
                      <a:rPr lang="en-US" altLang="ko-KR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=3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초에서의 순간속도를 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계산하시오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평균속도과 순간속도를 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설명하시오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1C76119E-A61F-F19B-3077-25C168FE0D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5383" y="1756114"/>
                <a:ext cx="10353762" cy="4663735"/>
              </a:xfrm>
              <a:blipFill>
                <a:blip r:embed="rId3"/>
                <a:stretch>
                  <a:fillRect l="-530" t="-1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F3A322F4-E8CE-0B05-BFFB-38CA14838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2862" y="6035582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204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6F428-4528-92B8-4D41-DEFE1BA09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C604E4BF-870B-BEE4-8F73-6ACC67B6E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/>
          <a:lstStyle/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 </a:t>
            </a:r>
            <a:r>
              <a:rPr lang="en-US" altLang="ko-K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Velocity</a:t>
            </a:r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11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075B460A-B19E-2BE0-435B-DE56D82A1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9489" y="66676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AutoShape 2" descr="{\displaystyle {\boldsymbol {v}}=\lim _{{\Delta t}\to 0}{\frac {\Delta {\boldsymbol {s}}}{\Delta t}}={\frac {d{\boldsymbol {s}}}{dt}}.}">
            <a:extLst>
              <a:ext uri="{FF2B5EF4-FFF2-40B4-BE49-F238E27FC236}">
                <a16:creationId xmlns:a16="http://schemas.microsoft.com/office/drawing/2014/main" id="{95757E7D-CE4C-AB53-0AC5-E159498ADF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1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E923C22-F00C-B1DC-C756-C08430E28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당신은 자동차를 타고 배달을 하는 상황으로 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/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GPS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앱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네이버지도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“평균속도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48 km/h”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라고 알려줍니다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 </a:t>
            </a:r>
          </a:p>
          <a:p>
            <a:pPr lvl="1"/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계기판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속도계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지금 순간속도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 km/h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신호등 때문에 멈춤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입니다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</a:p>
          <a:p>
            <a:pPr lvl="2"/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같은 이동인데 왜 두 값이 다를까요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 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평균속도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 </a:t>
            </a:r>
            <a:r>
              <a:rPr lang="en-US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Δx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/</a:t>
            </a:r>
            <a:r>
              <a:rPr lang="en-US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Δt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순간속도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 dx/dt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개념으로 설명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 상황 중 순간속도가 더 중요한 순간과 평균속도가 더 중요한 순간을 골라 친구와 토론해 보세요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</a:p>
          <a:p>
            <a:pPr lvl="1"/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치타가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200 m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초 만에 사냥할 때</a:t>
            </a:r>
          </a:p>
          <a:p>
            <a:pPr lvl="1"/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KTX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서울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-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부산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430 km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시간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45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분에 달릴 때</a:t>
            </a:r>
          </a:p>
          <a:p>
            <a:pPr lvl="1"/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야구 선수가 홈런을 치고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루→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루→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루→ 홈으로 돌아올 때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왕복 변위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 0)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7E9D65-4314-C59E-822C-4CBDE69FCEB1}"/>
              </a:ext>
            </a:extLst>
          </p:cNvPr>
          <p:cNvSpPr txBox="1"/>
          <p:nvPr/>
        </p:nvSpPr>
        <p:spPr>
          <a:xfrm>
            <a:off x="1532919" y="5252456"/>
            <a:ext cx="7773005" cy="95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sz="2000" b="1" i="1" cap="all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순간속도는 물체가 지금 얼마나 </a:t>
            </a:r>
            <a:r>
              <a:rPr lang="ko-KR" altLang="en-US" sz="2000" b="1" i="1" cap="all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빠른지</a:t>
            </a:r>
            <a:r>
              <a:rPr lang="en-US" altLang="ko-KR" sz="2000" b="1" i="1" cap="all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2000" b="1" i="1" cap="all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평균속도는 전체 얼마나 빨리 도착했는지를 알려준다</a:t>
            </a:r>
            <a:r>
              <a:rPr lang="en-US" altLang="ko-KR" sz="2000" b="1" i="1" cap="all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!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8265F97-B4B7-0F8D-9F10-BCAC11121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2862" y="6035582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078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12C6A-34C8-5B86-F0CF-24EA42B73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10B2A55E-C052-BE91-B275-EBA68D57C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/>
          <a:lstStyle/>
          <a:p>
            <a:r>
              <a:rPr lang="en-US" altLang="ko-KR" b="1" cap="none" dirty="0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mathematical modeling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7338A396-DBB3-C429-F909-C9B1EFDCD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383" y="1339880"/>
            <a:ext cx="10257442" cy="5279995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컴퓨터가 생물학적 또는 물리적 현상을 이해할 수 있도록 수학적으로 묘사하는 과정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컴퓨터는 미분과 적분 연산에 최적화되어 있어 세포분열 현상을 미분식으로 표현하면 컴퓨터는 미래를 예측할 수 있음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속도는 미분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거리는 적분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세포분열의 경우 분열 속도를 미분방정식으로 표현하고 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2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일정 시간 이후 세포는 몇 개까지 증식하는지는 적분하여 예측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2" name="AutoShape 2" descr="{\displaystyle {\boldsymbol {v}}=\lim _{{\Delta t}\to 0}{\frac {\Delta {\boldsymbol {s}}}{\Delta t}}={\frac {d{\boldsymbol {s}}}{dt}}.}">
            <a:extLst>
              <a:ext uri="{FF2B5EF4-FFF2-40B4-BE49-F238E27FC236}">
                <a16:creationId xmlns:a16="http://schemas.microsoft.com/office/drawing/2014/main" id="{BC9462C7-222E-E549-C89E-677432725E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1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9AC13E2F-0D51-F5B8-143F-B6DCD0AAB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2862" y="6035582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659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13E92-EBAC-11A0-A5AB-D6F564136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6F558932-1960-3D11-785F-972EB23F2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4059" y="4113840"/>
            <a:ext cx="1116966" cy="2546683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A5E02309-97FC-1F8F-07BF-34E2DD2F3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/>
          <a:lstStyle/>
          <a:p>
            <a:r>
              <a:rPr lang="en-US" altLang="ko-KR" b="1" dirty="0" err="1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Cell_division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ADB0003-573E-3589-FE60-79D4624B6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384" y="1618326"/>
            <a:ext cx="9890853" cy="33727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세포분열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Cell_division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아메바나 인체 세포는 일정 크기로 성장하면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개로 분열하고 정상 세포는 보통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24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시간 주기로 아래와 같이 분열한다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증식 속도 </a:t>
            </a:r>
            <a:r>
              <a:rPr lang="en-US" altLang="ko-KR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(Rate)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속도는 “늘어난 세포의 수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/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걸린 </a:t>
            </a:r>
            <a:r>
              <a:rPr lang="ko-KR" altLang="en-US" sz="18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시간”으로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정의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세포가 많을수록 분열하는 개체수도 늘어나므로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증가 속도는 현재 세포 수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(X)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비례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4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6824202-A51D-7439-12C2-2D4B0BFD5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2862" y="6035582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550BF00-34ED-E5C1-6A6D-3B169040CD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26303" y="4333492"/>
            <a:ext cx="1398297" cy="94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436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D93F9-02FF-8CCA-8FC2-6E1CDDBC2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440BC855-9DA6-5E8F-7DB2-641F54356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/>
          <a:lstStyle/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 </a:t>
            </a:r>
            <a:r>
              <a:rPr lang="en-US" altLang="ko-KR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Cell_division</a:t>
            </a:r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461866C7-2FE3-9746-62C9-962EC6383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384" y="1618326"/>
            <a:ext cx="10350827" cy="33727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세포분열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Cell_division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변화율 식을 시간에 대해 적분하면 시간에 따른 세포 수를 예측할 수 있고 이 결과를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축은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시간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축은 세포 수를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차원 좌표에 표시하라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numpy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</a:t>
            </a:r>
            <a:r>
              <a:rPr lang="ko-KR" altLang="en-US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오일러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방식으로 코딩하거나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sympy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모듈로 미분방정식을 정의하고 적분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4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1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20BB7A4C-DD6B-364F-EEF6-38E800F3E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9489" y="66676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0C1D700-4744-4E2C-919E-2632E193B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2862" y="6035582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46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A75F2-CDC2-EEF9-2B70-4E618A3BC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DE93DA52-AB08-F7D6-966C-479D4C1F24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7642" y="2450726"/>
            <a:ext cx="5800722" cy="4126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2F63659A-D57E-63C1-0FE7-035CCB166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/>
          <a:lstStyle/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 </a:t>
            </a:r>
            <a:r>
              <a:rPr lang="en-US" altLang="ko-KR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Cell_division</a:t>
            </a:r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4F32A5EF-184F-F2C8-11D0-5CACC1587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384" y="1154097"/>
            <a:ext cx="10876566" cy="1424329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24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시간 이후에는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배가 아니라 자연상수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오일러상수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인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2.718….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배가 됨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세포 수가 늘어남에 따라 증가 속도가 실시간으로 가속되어 기하급수적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(Exponential)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증가함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4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1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BB627874-F793-8274-A2A9-220E08A11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9489" y="66676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EBA1C0E-6273-DA11-86A2-F006E5654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2862" y="6035582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1995DC5-690D-D0F1-BA72-462E351F67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09896" y="2602882"/>
            <a:ext cx="1981007" cy="59334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F6CC582-1965-6929-2DFA-632F8DD737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4346" y="5316568"/>
            <a:ext cx="1646063" cy="32768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899244F-A620-A933-F4EC-7C77ADA782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4346" y="5648310"/>
            <a:ext cx="1874682" cy="34293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D2F2542-A4A3-BEDF-5D4E-9187C7530E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86021" y="5459634"/>
            <a:ext cx="1082134" cy="274344"/>
          </a:xfrm>
          <a:prstGeom prst="rect">
            <a:avLst/>
          </a:prstGeom>
        </p:spPr>
      </p:pic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16302C16-A1B2-FF6D-EC33-2E56B3BAA571}"/>
              </a:ext>
            </a:extLst>
          </p:cNvPr>
          <p:cNvCxnSpPr>
            <a:cxnSpLocks/>
          </p:cNvCxnSpPr>
          <p:nvPr/>
        </p:nvCxnSpPr>
        <p:spPr>
          <a:xfrm flipH="1">
            <a:off x="3876675" y="5895975"/>
            <a:ext cx="1219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8D20AC05-699D-0720-969C-1CDCB35033F5}"/>
              </a:ext>
            </a:extLst>
          </p:cNvPr>
          <p:cNvCxnSpPr>
            <a:cxnSpLocks/>
          </p:cNvCxnSpPr>
          <p:nvPr/>
        </p:nvCxnSpPr>
        <p:spPr>
          <a:xfrm>
            <a:off x="3876675" y="5895975"/>
            <a:ext cx="12192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1385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20385-A589-8B8A-9C4A-6ADA1EDDF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BDF0F539-388D-4228-0ED4-0110B00862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242" y="2707024"/>
            <a:ext cx="5760544" cy="376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86E50604-6662-009F-F0F6-A0F85A8DD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/>
          <a:lstStyle/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 </a:t>
            </a:r>
            <a:r>
              <a:rPr lang="en-US" altLang="ko-KR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Cell_division</a:t>
            </a:r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0C7D6C32-5F57-630B-78B6-7C52C3A5A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384" y="1154097"/>
            <a:ext cx="10876566" cy="132920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변분법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(calculus of variations)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사고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미분방정식이 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t=80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에서는 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＂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너 지금 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1.17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속도로 올라가야 해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!＂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라는 명령어</a:t>
            </a:r>
            <a:endParaRPr lang="en-US" altLang="ko-KR" sz="17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접선의 식은 그 명령어를 받아서 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그럼 일단 이 방향으로 </a:t>
            </a:r>
            <a:r>
              <a:rPr lang="ko-KR" altLang="en-US" sz="17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가볼게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라고 그려본 가상의 직선 경로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1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550307AE-07C2-1BA0-B183-3CC0E9660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9489" y="66676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A16943DF-40B9-E7AE-6F82-027FCEE7C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2862" y="6035582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F554A70-0CDC-9EDE-F24D-187F11FF0E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57366" y="3429000"/>
            <a:ext cx="1214409" cy="363736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4569A176-09E6-03E6-12FE-276BBECB63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4367" y="4156241"/>
            <a:ext cx="971058" cy="65371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1155595-99F4-06FB-D1D4-EC441F0AB851}"/>
              </a:ext>
            </a:extLst>
          </p:cNvPr>
          <p:cNvSpPr txBox="1"/>
          <p:nvPr/>
        </p:nvSpPr>
        <p:spPr>
          <a:xfrm>
            <a:off x="6894055" y="2719003"/>
            <a:ext cx="4135896" cy="821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접선을 </a:t>
            </a:r>
            <a:r>
              <a:rPr lang="en-US" altLang="ko-KR" sz="1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t=80 </a:t>
            </a:r>
            <a:r>
              <a:rPr lang="ko-KR" altLang="en-US" sz="1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근처에서 아주 짧게 그리면 실제 세포 수 곡선과 거의 일치하게 되며 이 원리를 이용해서 컴퓨터는 복잡한 미분 방정식을 한 단계씩 직선으로 연결하며 풀어나감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A55574BE-B93E-E3E5-FF8C-04E8E82821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9654" y="3886200"/>
            <a:ext cx="3068557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106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D9FE4-288C-F5BD-2161-64A2E1332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7036A181-2AFA-ED0A-1ECD-79AA566E4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/>
          <a:lstStyle/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 </a:t>
            </a:r>
            <a:r>
              <a:rPr lang="en-US" altLang="ko-KR" cap="none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Cell_Contamination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FEEDA485-9332-147E-02ED-42BCF2A84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384" y="1113457"/>
            <a:ext cx="10876566" cy="1665303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정상세포 수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감염세포 수로 가정하고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X, Y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다음과 같이 상호작용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24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시간안에 세포분열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(X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 X + X)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Y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는 정상세포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X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를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24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시간안에 감염시킴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(X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+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Y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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Y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+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Y)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X,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Y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에 대한 미분방정식을 만들어라</a:t>
            </a: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0F6400E-EB26-F2F7-700F-707D8DD07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2862" y="6035582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C7C616-F2D2-0A02-BE33-C1F885F3790E}"/>
                  </a:ext>
                </a:extLst>
              </p:cNvPr>
              <p:cNvSpPr txBox="1"/>
              <p:nvPr/>
            </p:nvSpPr>
            <p:spPr>
              <a:xfrm>
                <a:off x="5695950" y="3137303"/>
                <a:ext cx="6096000" cy="1107804"/>
              </a:xfrm>
              <a:prstGeom prst="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  <a:prstDash val="sysDot"/>
              </a:ln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17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1700" dirty="0" err="1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ko-KR" altLang="en-US" sz="1700" i="1" dirty="0" err="1"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ko-KR" altLang="en-US" sz="1700" i="0" dirty="0" err="1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ko-KR" altLang="en-US" sz="1700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ko-KR" altLang="en-US" sz="1700" i="0" dirty="0" err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ko-KR" altLang="en-US" sz="1700" i="1" dirty="0" err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1700" i="1" dirty="0" err="1"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ko-KR" altLang="en-US" sz="1700" i="0" dirty="0" err="1"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a:rPr lang="ko-KR" altLang="en-US" sz="1700" i="0" dirty="0" err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sz="1700" i="1" dirty="0" err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ko-KR" altLang="en-US" sz="1700" i="1" dirty="0" err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　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1700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의</a:t>
                </a:r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양이 시간에 따라 어떻게 변하는지.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＋</m:t>
                    </m:r>
                    <m:f>
                      <m:fPr>
                        <m:ctrlPr>
                          <a:rPr lang="ko-KR" altLang="en-US" sz="17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1700" i="1" dirty="0" err="1"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ko-KR" altLang="en-US" sz="1700" dirty="0" err="1"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스스로 복제되는 증가 항.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－</m:t>
                    </m:r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𝑘𝑋𝑌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와 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만나 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소모되는 감소 항.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C7C616-F2D2-0A02-BE33-C1F885F379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5950" y="3137303"/>
                <a:ext cx="6096000" cy="1107804"/>
              </a:xfrm>
              <a:prstGeom prst="rect">
                <a:avLst/>
              </a:prstGeom>
              <a:blipFill>
                <a:blip r:embed="rId2"/>
                <a:stretch>
                  <a:fillRect l="-399" b="-6011"/>
                </a:stretch>
              </a:blipFill>
              <a:ln>
                <a:solidFill>
                  <a:schemeClr val="bg1">
                    <a:lumMod val="50000"/>
                  </a:schemeClr>
                </a:solidFill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8D8A8A1-516F-54F6-9655-20752B9380BD}"/>
                  </a:ext>
                </a:extLst>
              </p:cNvPr>
              <p:cNvSpPr txBox="1"/>
              <p:nvPr/>
            </p:nvSpPr>
            <p:spPr>
              <a:xfrm>
                <a:off x="5695950" y="4573068"/>
                <a:ext cx="6096000" cy="999313"/>
              </a:xfrm>
              <a:prstGeom prst="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  <a:prstDash val="sysDot"/>
              </a:ln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17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1700" smtClean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ko-KR" altLang="en-US" sz="1700" i="1" smtClean="0"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ko-KR" altLang="en-US" sz="1700" i="0" smtClean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ko-KR" altLang="en-US" sz="17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ko-KR" altLang="en-US" sz="170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𝑘𝑋</m:t>
                    </m:r>
                    <m:r>
                      <a:rPr lang="ko-KR" altLang="en-US" sz="1700" i="1" dirty="0" err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ko-KR" altLang="en-US" sz="1700" i="0" smtClean="0">
                        <a:latin typeface="Cambria Math" panose="02040503050406030204" pitchFamily="18" charset="0"/>
                      </a:rPr>
                      <m:t>−ⅆ</m:t>
                    </m:r>
                    <m:r>
                      <a:rPr lang="ko-KR" altLang="en-US" sz="170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　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의 양이 시간에 따라 어떻게 변하는지.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700" i="1" dirty="0" smtClean="0">
                        <a:latin typeface="Cambria Math" panose="02040503050406030204" pitchFamily="18" charset="0"/>
                      </a:rPr>
                      <m:t>＋</m:t>
                    </m:r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𝑘𝑋</m:t>
                    </m:r>
                    <m:r>
                      <a:rPr lang="ko-KR" altLang="en-US" sz="1700" i="1" dirty="0" err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와 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만나 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증가하는 증가 항.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－</m:t>
                    </m:r>
                    <m:r>
                      <a:rPr lang="ko-KR" altLang="en-US" sz="1700">
                        <a:latin typeface="Cambria Math" panose="02040503050406030204" pitchFamily="18" charset="0"/>
                      </a:rPr>
                      <m:t>ⅆ</m:t>
                    </m:r>
                    <m:r>
                      <a:rPr lang="ko-KR" altLang="en-US" sz="17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소멸되는 감소 항.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8D8A8A1-516F-54F6-9655-20752B9380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5950" y="4573068"/>
                <a:ext cx="6096000" cy="999313"/>
              </a:xfrm>
              <a:prstGeom prst="rect">
                <a:avLst/>
              </a:prstGeom>
              <a:blipFill>
                <a:blip r:embed="rId3"/>
                <a:stretch>
                  <a:fillRect l="-399" b="-6627"/>
                </a:stretch>
              </a:blipFill>
              <a:ln>
                <a:solidFill>
                  <a:schemeClr val="bg1">
                    <a:lumMod val="50000"/>
                  </a:schemeClr>
                </a:solidFill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그림 13">
            <a:extLst>
              <a:ext uri="{FF2B5EF4-FFF2-40B4-BE49-F238E27FC236}">
                <a16:creationId xmlns:a16="http://schemas.microsoft.com/office/drawing/2014/main" id="{BE301EE7-54E8-63B0-4B0A-E5CCC2F2B3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37864" y="3130233"/>
            <a:ext cx="1737511" cy="66299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8DE9E9B-CAAF-3988-0804-665724D829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37864" y="4574855"/>
            <a:ext cx="1722269" cy="6706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1330426-513E-B9EF-B18B-E6F3A2F793C5}"/>
                  </a:ext>
                </a:extLst>
              </p:cNvPr>
              <p:cNvSpPr txBox="1"/>
              <p:nvPr/>
            </p:nvSpPr>
            <p:spPr>
              <a:xfrm>
                <a:off x="454511" y="3305270"/>
                <a:ext cx="6529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800" i="1" dirty="0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1330426-513E-B9EF-B18B-E6F3A2F79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511" y="3305270"/>
                <a:ext cx="65292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E5A8857-5D0D-A73F-C354-C4EE21264C90}"/>
                  </a:ext>
                </a:extLst>
              </p:cNvPr>
              <p:cNvSpPr txBox="1"/>
              <p:nvPr/>
            </p:nvSpPr>
            <p:spPr>
              <a:xfrm>
                <a:off x="454511" y="4645975"/>
                <a:ext cx="9755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sz="18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sz="1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＋</m:t>
                    </m:r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E5A8857-5D0D-A73F-C354-C4EE21264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511" y="4645975"/>
                <a:ext cx="97551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813EA2A-E35D-F644-3075-D1BFEF7FE4D5}"/>
                  </a:ext>
                </a:extLst>
              </p:cNvPr>
              <p:cNvSpPr txBox="1"/>
              <p:nvPr/>
            </p:nvSpPr>
            <p:spPr>
              <a:xfrm>
                <a:off x="2741780" y="4645975"/>
                <a:ext cx="9755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ko-KR" sz="1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＋</m:t>
                    </m:r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813EA2A-E35D-F644-3075-D1BFEF7FE4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780" y="4645975"/>
                <a:ext cx="97551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545E9EA-1D34-7AD0-417E-8B5A2566A115}"/>
                  </a:ext>
                </a:extLst>
              </p:cNvPr>
              <p:cNvSpPr txBox="1"/>
              <p:nvPr/>
            </p:nvSpPr>
            <p:spPr>
              <a:xfrm>
                <a:off x="2741780" y="3305270"/>
                <a:ext cx="9755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sz="18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sz="1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＋</m:t>
                    </m:r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545E9EA-1D34-7AD0-417E-8B5A2566A1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780" y="3305270"/>
                <a:ext cx="97551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D92EC5CA-626F-0391-72C6-242D61885FCE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>
            <a:off x="1107440" y="3489936"/>
            <a:ext cx="16343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4F4EA3D-A2F4-FFE0-24D7-456237537186}"/>
              </a:ext>
            </a:extLst>
          </p:cNvPr>
          <p:cNvSpPr txBox="1"/>
          <p:nvPr/>
        </p:nvSpPr>
        <p:spPr>
          <a:xfrm>
            <a:off x="1538530" y="3060066"/>
            <a:ext cx="772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1/24</a:t>
            </a:r>
            <a:endParaRPr lang="ko-KR" altLang="en-US" sz="1400" dirty="0"/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A92939AF-077C-3CF2-4F7D-E42086626B37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1430021" y="4830641"/>
            <a:ext cx="13117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81CC7AF-2E46-40DC-831F-245A87300FE7}"/>
              </a:ext>
            </a:extLst>
          </p:cNvPr>
          <p:cNvSpPr txBox="1"/>
          <p:nvPr/>
        </p:nvSpPr>
        <p:spPr>
          <a:xfrm>
            <a:off x="1619810" y="4355200"/>
            <a:ext cx="772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1/24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177710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8" grpId="0"/>
      <p:bldP spid="19" grpId="0"/>
      <p:bldP spid="20" grpId="0"/>
      <p:bldP spid="21" grpId="0"/>
      <p:bldP spid="34" grpId="0"/>
      <p:bldP spid="3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8BE07-4C0A-8797-2286-3FE88213C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1B11B676-BA9C-AE41-6A19-35642B42C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/>
          <a:lstStyle/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 </a:t>
            </a:r>
            <a:r>
              <a:rPr lang="en-US" altLang="ko-KR" cap="none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Cell_Contamination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E4EA9A02-0F5D-0344-7925-B18A338D7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384" y="1113457"/>
            <a:ext cx="10876566" cy="125528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X,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Y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에 대한 미분방정식을 만들고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시간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(t)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에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X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와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Y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의 그래프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(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snippet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)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제시하라</a:t>
            </a: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초기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정상세포와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감염세포의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수를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변경하면서 확인하라</a:t>
            </a:r>
            <a:endParaRPr lang="en-US" altLang="ko-KR" sz="17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감염률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(k)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과 감염세포의 </a:t>
            </a:r>
            <a:r>
              <a:rPr lang="ko-KR" altLang="en-US" sz="17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소멸율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(d)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가 변화하면 어떤 그래프 모양인지 확인하라</a:t>
            </a:r>
            <a:endParaRPr lang="en-US" altLang="ko-KR" sz="17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1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2BD6B249-C94F-B481-724B-E776A7D7B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9489" y="66676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8FBE910-AE82-78FA-D7F7-4C7121FA8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2862" y="6035582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7DEAD89-AC7C-1985-FB62-8A93DC934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583" y="2663589"/>
            <a:ext cx="6897657" cy="3737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5750E1-4B7D-E575-25C5-16F19044E9E2}"/>
              </a:ext>
            </a:extLst>
          </p:cNvPr>
          <p:cNvSpPr txBox="1"/>
          <p:nvPr/>
        </p:nvSpPr>
        <p:spPr>
          <a:xfrm>
            <a:off x="8435659" y="3986561"/>
            <a:ext cx="3756341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k = 0.1      # Reaction rate for X + Y → Y + Y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 = 0.05   # Decay rate of Y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81612BF-779D-BAE2-67D8-6BC818792B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9184" y="2839836"/>
            <a:ext cx="870945" cy="957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9592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FD6DB-40BA-C81C-2913-DB4400E9B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>
            <a:extLst>
              <a:ext uri="{FF2B5EF4-FFF2-40B4-BE49-F238E27FC236}">
                <a16:creationId xmlns:a16="http://schemas.microsoft.com/office/drawing/2014/main" id="{7F59FA67-9B7C-E328-4BBE-BF8E9F840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3616" y="2851047"/>
            <a:ext cx="4913104" cy="3665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429EBAD6-CB9F-5E56-1030-984978808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/>
          <a:lstStyle/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 </a:t>
            </a:r>
            <a:r>
              <a:rPr lang="en-US" altLang="ko-KR" cap="none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Cell_Contamination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내용 개체 틀 2">
                <a:extLst>
                  <a:ext uri="{FF2B5EF4-FFF2-40B4-BE49-F238E27FC236}">
                    <a16:creationId xmlns:a16="http://schemas.microsoft.com/office/drawing/2014/main" id="{15437735-9BD9-63FE-6B55-D6C42E30E1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5384" y="1113456"/>
                <a:ext cx="10876566" cy="2683463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7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S</a:t>
                </a:r>
                <a:r>
                  <a:rPr lang="ko-KR" altLang="en-US" sz="17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자 곡선</a:t>
                </a:r>
                <a:r>
                  <a:rPr lang="en-US" altLang="ko-KR" sz="17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(S-shape)' </a:t>
                </a:r>
                <a:r>
                  <a:rPr lang="ko-KR" altLang="en-US" sz="17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형태의 전염병 확산 모델</a:t>
                </a:r>
                <a:endParaRPr lang="en-US" altLang="ko-KR" sz="1700" cap="none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  <a:sym typeface="Wingdings" panose="05000000000000000000" pitchFamily="2" charset="2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15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전염병 모델링에서 가장 대표적인 </a:t>
                </a:r>
                <a:r>
                  <a:rPr lang="en-US" altLang="ko-KR" sz="15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'S-</a:t>
                </a:r>
                <a:r>
                  <a:rPr lang="ko-KR" altLang="en-US" sz="15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자</a:t>
                </a:r>
                <a:r>
                  <a:rPr lang="en-US" altLang="ko-KR" sz="15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' </a:t>
                </a:r>
                <a:r>
                  <a:rPr lang="ko-KR" altLang="en-US" sz="15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곡선은 로지스틱 성장 모델</a:t>
                </a:r>
                <a:r>
                  <a:rPr lang="en-US" altLang="ko-KR" sz="15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(Logistic Growth Model)</a:t>
                </a:r>
                <a:r>
                  <a:rPr lang="ko-KR" altLang="en-US" sz="15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에서 나옵니다</a:t>
                </a:r>
                <a:r>
                  <a:rPr lang="en-US" altLang="ko-KR" sz="15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.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15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이 모델은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15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1500" dirty="0" err="1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ko-KR" altLang="en-US" sz="1500" i="1" dirty="0" err="1"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ko-KR" altLang="en-US" sz="1500" dirty="0" err="1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ko-KR" altLang="en-US" sz="1500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ko-KR" altLang="en-US" sz="1500" dirty="0" err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ko-KR" altLang="en-US" sz="1500" i="1" dirty="0" err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1500" i="1" dirty="0" err="1"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ko-KR" altLang="en-US" sz="1500" dirty="0" err="1"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lang="ko-KR" altLang="en-US" sz="15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와 같은 단순한 미분방정식으로 표현되지 않으며</a:t>
                </a:r>
                <a:r>
                  <a:rPr lang="en-US" altLang="ko-KR" sz="15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, </a:t>
                </a:r>
                <a:r>
                  <a:rPr lang="ko-KR" altLang="en-US" sz="15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인구 수에 비례하여 확산 속도가 달라지는 형태</a:t>
                </a:r>
                <a:endParaRPr lang="en-US" altLang="ko-KR" sz="1500" cap="none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  <a:sym typeface="Wingdings" panose="05000000000000000000" pitchFamily="2" charset="2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ko-KR" sz="1900" cap="none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10" name="내용 개체 틀 2">
                <a:extLst>
                  <a:ext uri="{FF2B5EF4-FFF2-40B4-BE49-F238E27FC236}">
                    <a16:creationId xmlns:a16="http://schemas.microsoft.com/office/drawing/2014/main" id="{15437735-9BD9-63FE-6B55-D6C42E30E1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5384" y="1113456"/>
                <a:ext cx="10876566" cy="2683463"/>
              </a:xfrm>
              <a:blipFill>
                <a:blip r:embed="rId3"/>
                <a:stretch>
                  <a:fillRect l="-2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069CB5C-AFD4-C9E8-3208-0CA0E18B5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2862" y="6035582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F46BBCD-6367-D4CA-6B92-EE57EAED30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0850" y="3000258"/>
            <a:ext cx="562345" cy="61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137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8DED2-665E-9E8D-94B8-E3038FDE2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FA7C4F98-6EBF-D4D8-6D3C-64B73AA35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/>
          <a:lstStyle/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 </a:t>
            </a:r>
            <a:r>
              <a:rPr lang="en-US" altLang="ko-KR" cap="none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Cell_Contamination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3BB2038B-55AD-37FB-0E9B-889C9E5FA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384" y="1113456"/>
            <a:ext cx="10876566" cy="26834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S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자 곡선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(S-shape)' 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형태의 전염병 확산 모델</a:t>
            </a:r>
            <a:endParaRPr lang="en-US" altLang="ko-KR" sz="15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F3551DD-F7B7-931B-A50C-EF8BF1AA9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2862" y="6035582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4101" name="Picture 5">
            <a:extLst>
              <a:ext uri="{FF2B5EF4-FFF2-40B4-BE49-F238E27FC236}">
                <a16:creationId xmlns:a16="http://schemas.microsoft.com/office/drawing/2014/main" id="{F4F76BE5-9A70-0DBF-CCBF-B270E21F5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385" y="1970212"/>
            <a:ext cx="5292048" cy="343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F0D50413-51F5-9836-A641-D0CA0A4F0A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5296" y="1970212"/>
            <a:ext cx="4941496" cy="343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1168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6C7F7-04AB-8B81-7F53-BF986F2A8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9DF299F6-063E-A5FA-8179-AB466B3B8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/>
          <a:lstStyle/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 </a:t>
            </a:r>
            <a:r>
              <a:rPr lang="en-US" altLang="ko-KR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Compound_interest</a:t>
            </a:r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E021F27D-1221-FB58-BDEC-9B34A7E03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383" y="1150966"/>
            <a:ext cx="10758457" cy="1165514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4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</a:t>
            </a:r>
            <a:r>
              <a:rPr lang="en-US" altLang="ko-KR" sz="24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4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그림은</a:t>
            </a:r>
            <a:r>
              <a:rPr lang="en-US" altLang="ko-KR" sz="24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1,000 US</a:t>
            </a:r>
            <a:r>
              <a:rPr lang="ko-KR" altLang="en-US" sz="24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4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dollars</a:t>
            </a:r>
            <a:r>
              <a:rPr lang="ko-KR" altLang="en-US" sz="24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은행에 복리이자</a:t>
            </a:r>
            <a:r>
              <a:rPr lang="en-US" altLang="ko-KR" sz="24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(compound</a:t>
            </a:r>
            <a:r>
              <a:rPr lang="ko-KR" altLang="en-US" sz="24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4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interest)</a:t>
            </a:r>
            <a:r>
              <a:rPr lang="ko-KR" altLang="en-US" sz="24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</a:t>
            </a:r>
            <a:r>
              <a:rPr lang="ko-KR" altLang="en-US" sz="24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월복리</a:t>
            </a:r>
            <a:r>
              <a:rPr lang="en-US" altLang="ko-KR" sz="24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1</a:t>
            </a:r>
            <a:r>
              <a:rPr lang="ko-KR" altLang="en-US" sz="24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분기복리</a:t>
            </a:r>
            <a:r>
              <a:rPr lang="en-US" altLang="ko-KR" sz="24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24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년 복리 그리고 시간을 무한히 나누어 복리이자를 한 경우의 그래프이다</a:t>
            </a:r>
            <a:r>
              <a:rPr lang="en-US" altLang="ko-KR" sz="24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4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미분방정식과 미래 가치 등을 계산하여 시각화를 재현하라 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D6B489B-CD30-D4B5-4A10-E9751D29F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2862" y="6035582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6" name="그래픽 5">
            <a:extLst>
              <a:ext uri="{FF2B5EF4-FFF2-40B4-BE49-F238E27FC236}">
                <a16:creationId xmlns:a16="http://schemas.microsoft.com/office/drawing/2014/main" id="{6B180EC8-ACE7-C4A9-7A76-657288575B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14084" y="2316480"/>
            <a:ext cx="6564086" cy="408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9852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710E2-787E-03C0-6E19-A8FA39C0C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06C2482-E37E-4435-7CBE-2F006E71C350}"/>
              </a:ext>
            </a:extLst>
          </p:cNvPr>
          <p:cNvSpPr/>
          <p:nvPr/>
        </p:nvSpPr>
        <p:spPr>
          <a:xfrm>
            <a:off x="1127448" y="3429501"/>
            <a:ext cx="4749534" cy="5846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99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C4D0AD-05E8-89C2-6D70-AB9EBB424D7E}"/>
              </a:ext>
            </a:extLst>
          </p:cNvPr>
          <p:cNvSpPr txBox="1"/>
          <p:nvPr/>
        </p:nvSpPr>
        <p:spPr>
          <a:xfrm>
            <a:off x="1337468" y="1428986"/>
            <a:ext cx="8435182" cy="3606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196" indent="-514196">
              <a:lnSpc>
                <a:spcPct val="150000"/>
              </a:lnSpc>
              <a:buAutoNum type="arabicPeriod"/>
            </a:pPr>
            <a:r>
              <a:rPr lang="en-US" altLang="ko-KR" sz="2400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Modeling</a:t>
            </a:r>
          </a:p>
          <a:p>
            <a:pPr marL="971396" lvl="1" indent="-514196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derivative function</a:t>
            </a:r>
          </a:p>
          <a:p>
            <a:pPr marL="971396" lvl="1" indent="-514196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mathematical modeling</a:t>
            </a:r>
          </a:p>
          <a:p>
            <a:pPr marL="971396" lvl="1" indent="-514196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interest compound</a:t>
            </a:r>
          </a:p>
          <a:p>
            <a:pPr marL="514196" indent="-514196">
              <a:lnSpc>
                <a:spcPct val="150000"/>
              </a:lnSpc>
              <a:buAutoNum type="arabicPeriod"/>
            </a:pPr>
            <a:r>
              <a:rPr lang="en-US" altLang="ko-KR" sz="2400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Montecarlo Simulation</a:t>
            </a:r>
          </a:p>
          <a:p>
            <a:pPr marL="514196" indent="-514196">
              <a:lnSpc>
                <a:spcPct val="150000"/>
              </a:lnSpc>
              <a:buAutoNum type="arabicPeriod"/>
            </a:pPr>
            <a:r>
              <a:rPr lang="en-US" altLang="ko-KR" sz="2400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Linear Programing</a:t>
            </a:r>
          </a:p>
          <a:p>
            <a:pPr marL="514196" indent="-514196">
              <a:lnSpc>
                <a:spcPct val="150000"/>
              </a:lnSpc>
              <a:buAutoNum type="arabicPeriod"/>
            </a:pPr>
            <a:r>
              <a:rPr lang="en-US" altLang="ko-KR" sz="2400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Genetic algorithm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A2290-6C75-39F8-656D-D7C62838E1EE}"/>
              </a:ext>
            </a:extLst>
          </p:cNvPr>
          <p:cNvSpPr txBox="1"/>
          <p:nvPr/>
        </p:nvSpPr>
        <p:spPr>
          <a:xfrm>
            <a:off x="1337470" y="710574"/>
            <a:ext cx="2603977" cy="584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199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ko-KR" altLang="en-US" sz="3199" dirty="0"/>
          </a:p>
        </p:txBody>
      </p:sp>
    </p:spTree>
    <p:extLst>
      <p:ext uri="{BB962C8B-B14F-4D97-AF65-F5344CB8AC3E}">
        <p14:creationId xmlns:p14="http://schemas.microsoft.com/office/powerpoint/2010/main" val="12234210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04A28AC8-4F29-6A5C-3946-6F8E280A0619}"/>
              </a:ext>
            </a:extLst>
          </p:cNvPr>
          <p:cNvSpPr txBox="1">
            <a:spLocks/>
          </p:cNvSpPr>
          <p:nvPr/>
        </p:nvSpPr>
        <p:spPr>
          <a:xfrm>
            <a:off x="10512862" y="6035582"/>
            <a:ext cx="753349" cy="36503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061ABC30-95E8-41E4-F62C-84E574B58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717" y="1661628"/>
            <a:ext cx="10876566" cy="3936532"/>
          </a:xfrm>
        </p:spPr>
        <p:txBody>
          <a:bodyPr>
            <a:normAutofit lnSpcReduction="10000"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불확실한 결과를 예측하기 위해 반복적인 무작위 추출을 사용하는 통계적 기법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결과가 확률에 의존하는 도박처럼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수학적으로 계산하기 너무 복잡한 문제들을 수만 번의 가상 실험을 통해 그 근삿값을 찾아내는 방식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몬테카를로의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작동 원리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변수 정의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결과에 영향을 주는 불확실한 요소들을 정의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확률 분포 할당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각 변수가 가질 수 있는 값의 범위와 확률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정규분포 등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설정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반복 실험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컴퓨터를 이용해 무작위 값을 입력하며 수천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수만 번의 시뮬레이션을 실행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결과 분석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도출된 수많은 결과값의 평균이나 분포를 통해 최종 결과를 예측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F1BE72C5-38C4-1EFB-EF33-005F74E51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Montecarlo Simulation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723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2D5AF-0F51-91DE-64BD-5E17CEF9A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24D8FB-4BA4-B532-2690-FF91AAEE20BE}"/>
              </a:ext>
            </a:extLst>
          </p:cNvPr>
          <p:cNvSpPr txBox="1"/>
          <p:nvPr/>
        </p:nvSpPr>
        <p:spPr>
          <a:xfrm>
            <a:off x="767408" y="1196753"/>
            <a:ext cx="3062912" cy="9708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원주율 구하라 </a:t>
            </a:r>
            <a:endParaRPr lang="en-US" altLang="ko-KR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원의 면접 구하기</a:t>
            </a:r>
            <a:endParaRPr lang="en-US" altLang="ko-KR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CE8694-F9D5-0985-6634-DA4CC7CB87C6}"/>
              </a:ext>
            </a:extLst>
          </p:cNvPr>
          <p:cNvSpPr txBox="1"/>
          <p:nvPr/>
        </p:nvSpPr>
        <p:spPr>
          <a:xfrm>
            <a:off x="119336" y="260649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27E2EF4B-E5C3-7839-EEF5-9C1CFD5C2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2862" y="6035582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8BD9749-90DE-98B4-BB97-053D46BCB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9353" y="2387412"/>
            <a:ext cx="4081607" cy="401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3D039467-9D9F-1A4F-9F2B-2F0043A276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9489" y="66676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6897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EE1BF-0896-A11C-A3DB-B8AEE4D00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8D7453-40F7-A835-34E6-E534D818D73D}"/>
              </a:ext>
            </a:extLst>
          </p:cNvPr>
          <p:cNvSpPr txBox="1"/>
          <p:nvPr/>
        </p:nvSpPr>
        <p:spPr>
          <a:xfrm>
            <a:off x="767408" y="1196753"/>
            <a:ext cx="11028352" cy="377827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defRPr>
            </a:lvl1pPr>
          </a:lstStyle>
          <a:p>
            <a:r>
              <a:rPr lang="en-US" altLang="ko-KR" sz="1800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Random_walk</a:t>
            </a:r>
            <a:r>
              <a:rPr lang="en-US" altLang="ko-KR" sz="1800" dirty="0"/>
              <a:t> </a:t>
            </a:r>
            <a:r>
              <a:rPr lang="ko-KR" altLang="en-US" sz="1800" dirty="0"/>
              <a:t>는 수학 및 통계학에서 어떤 대상이 매 순간 방향이나 크기를 무작위로 결정하며 이동하는 경로를 의미하며</a:t>
            </a:r>
            <a:r>
              <a:rPr lang="en-US" altLang="ko-KR" sz="1800" dirty="0"/>
              <a:t>, </a:t>
            </a:r>
            <a:r>
              <a:rPr lang="ko-KR" altLang="en-US" sz="1800" dirty="0"/>
              <a:t>가장 쉽게 이해하자면 </a:t>
            </a:r>
            <a:r>
              <a:rPr lang="en-US" altLang="ko-KR" sz="1800" dirty="0"/>
              <a:t>'</a:t>
            </a:r>
            <a:r>
              <a:rPr lang="ko-KR" altLang="en-US" sz="1800" dirty="0"/>
              <a:t>술 취한 사람의 걸음걸이</a:t>
            </a:r>
            <a:r>
              <a:rPr lang="en-US" altLang="ko-KR" sz="1800" dirty="0"/>
              <a:t>'</a:t>
            </a:r>
            <a:r>
              <a:rPr lang="ko-KR" altLang="en-US" sz="1800" dirty="0"/>
              <a:t>를 수학적으로 모델링한 것</a:t>
            </a:r>
            <a:endParaRPr lang="en-US" altLang="ko-KR" sz="1800" dirty="0"/>
          </a:p>
          <a:p>
            <a:endParaRPr lang="en-US" altLang="ko-KR" sz="1800" dirty="0"/>
          </a:p>
          <a:p>
            <a:r>
              <a:rPr lang="ko-KR" altLang="en-US" sz="1800" dirty="0"/>
              <a:t>어떤 물체</a:t>
            </a:r>
            <a:r>
              <a:rPr lang="en-US" altLang="ko-KR" sz="1800" dirty="0"/>
              <a:t>(</a:t>
            </a:r>
            <a:r>
              <a:rPr lang="ko-KR" altLang="en-US" sz="1800" dirty="0"/>
              <a:t>입자</a:t>
            </a:r>
            <a:r>
              <a:rPr lang="en-US" altLang="ko-KR" sz="1800" dirty="0"/>
              <a:t>)</a:t>
            </a:r>
            <a:r>
              <a:rPr lang="ko-KR" altLang="en-US" sz="1800" dirty="0"/>
              <a:t>가 원점에서 출발하여 매 단계마다 특정 규칙에 따라 다음 위치를 결정</a:t>
            </a:r>
            <a:endParaRPr lang="en-US" altLang="ko-KR" sz="1800" dirty="0"/>
          </a:p>
          <a:p>
            <a:endParaRPr lang="en-US" altLang="ko-KR" sz="1800" dirty="0"/>
          </a:p>
          <a:p>
            <a:r>
              <a:rPr lang="en-US" altLang="ko-KR" sz="1800" dirty="0"/>
              <a:t>"</a:t>
            </a:r>
            <a:r>
              <a:rPr lang="ko-KR" altLang="en-US" sz="1800" dirty="0"/>
              <a:t>다음 위치가 오직 현재 위치에 의해서만 결정되고</a:t>
            </a:r>
            <a:r>
              <a:rPr lang="en-US" altLang="ko-KR" sz="1800" dirty="0"/>
              <a:t>, </a:t>
            </a:r>
            <a:r>
              <a:rPr lang="ko-KR" altLang="en-US" sz="1800" dirty="0"/>
              <a:t>이전 경로와는 상관없다</a:t>
            </a:r>
            <a:r>
              <a:rPr lang="en-US" altLang="ko-KR" sz="1800" dirty="0"/>
              <a:t>"</a:t>
            </a:r>
            <a:r>
              <a:rPr lang="ko-KR" altLang="en-US" sz="1800" dirty="0"/>
              <a:t>는 것으로</a:t>
            </a:r>
            <a:r>
              <a:rPr lang="en-US" altLang="ko-KR" sz="1800" dirty="0"/>
              <a:t> </a:t>
            </a:r>
            <a:r>
              <a:rPr lang="ko-KR" altLang="en-US" sz="1800" dirty="0"/>
              <a:t>이를 확률론에서는 </a:t>
            </a:r>
            <a:r>
              <a:rPr lang="ko-KR" altLang="en-US" sz="1800" dirty="0" err="1"/>
              <a:t>마르코프</a:t>
            </a:r>
            <a:r>
              <a:rPr lang="ko-KR" altLang="en-US" sz="1800" dirty="0"/>
              <a:t> 성질</a:t>
            </a:r>
            <a:r>
              <a:rPr lang="en-US" altLang="ko-KR" sz="1800" dirty="0"/>
              <a:t>(Markov property)</a:t>
            </a:r>
            <a:r>
              <a:rPr lang="ko-KR" altLang="en-US" sz="1800" dirty="0"/>
              <a:t>을 갖고 있다고 함</a:t>
            </a:r>
            <a:endParaRPr lang="en-US" altLang="ko-KR" sz="1800" dirty="0"/>
          </a:p>
          <a:p>
            <a:endParaRPr lang="en-US" altLang="ko-KR" sz="1800" dirty="0"/>
          </a:p>
          <a:p>
            <a:r>
              <a:rPr lang="ko-KR" altLang="en-US" sz="1800" dirty="0"/>
              <a:t>지금 위치에서 개구리가 다음에는 어디로 점프할지 모른다</a:t>
            </a:r>
            <a:endParaRPr lang="en-US" altLang="ko-KR" sz="1800" dirty="0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2F63A357-A461-C687-AA66-0FA94DA30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2862" y="6035582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620574C-EA28-4558-65D4-FE1E85ADF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Random</a:t>
            </a:r>
            <a:r>
              <a:rPr lang="ko-KR" altLang="en-US" b="1" cap="none" dirty="0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walk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 descr="undefined">
            <a:extLst>
              <a:ext uri="{FF2B5EF4-FFF2-40B4-BE49-F238E27FC236}">
                <a16:creationId xmlns:a16="http://schemas.microsoft.com/office/drawing/2014/main" id="{42D4BD67-D791-2351-6AC5-8DDB9C25E1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9090" y="3870772"/>
            <a:ext cx="2833772" cy="2529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3017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DA73D-87E6-4BC7-A2FC-EDFB04155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B5D10770-4118-4B52-B1AF-170FDDB91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/>
          <a:lstStyle/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 </a:t>
            </a:r>
            <a:r>
              <a:rPr lang="en-US" altLang="ko-KR" cap="none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Random_Walk_Simulation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778830F8-C368-2AEB-15EE-D3591AD2E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383" y="1150966"/>
            <a:ext cx="10758457" cy="1944876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차원 단순 랜덤 워크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(1D Simple Random Walk) -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snippet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동전 던지기처럼 앞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(+1)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또는 뒤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(-1)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로만 움직이는 가장 기본인 형태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이산적 이동으로 매 스텝마다 이동 거리가 항상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±1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움직임이 고정된 크기로 제한됨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격자 위를 한 칸씩 움직이는 형태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359709FA-185F-DB29-6C38-BC65761D2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2862" y="6035582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F3A30C30-C05F-6BC7-35EE-85ED5C229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880" y="3268608"/>
            <a:ext cx="4973727" cy="2711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id="{6DC762DC-D1CB-BD44-DAC9-58E9387F2F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8243" y="2966720"/>
            <a:ext cx="5537739" cy="3013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3D86F955-DC60-CC44-2659-E1F50A4F8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9489" y="66676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31033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EF672-8248-82C7-642A-A1D72654E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44E6679B-C856-67CB-A498-66743A507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/>
          <a:lstStyle/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 </a:t>
            </a:r>
            <a:r>
              <a:rPr lang="en-US" altLang="ko-KR" cap="none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Random_Walk_Simulation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82EFBD4D-9D50-6C9B-D999-13A9C55F0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383" y="1150965"/>
            <a:ext cx="10758457" cy="11271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모의실험을 베르누이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이항분포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Galton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Board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비교하여 이해하자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구슬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?, single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random walk ?,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여러 명이 술이 취해 걸으면 최종 어디에 많이 모일까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40FA9E5-9DC7-F236-DD83-8D1361045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2862" y="6035582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5503C7CB-F857-9A19-23EF-90925D633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057744" y="2688750"/>
            <a:ext cx="3591005" cy="3260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EE0FF5CD-1F36-1F02-9B8C-3FF6677633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9489" y="66676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2404FA2-1A94-2E89-9A50-3FF05B24E7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4051" y="2523570"/>
            <a:ext cx="2671321" cy="353733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74672EE-47B9-9ED0-D846-5A191A83C7B6}"/>
                  </a:ext>
                </a:extLst>
              </p:cNvPr>
              <p:cNvSpPr txBox="1"/>
              <p:nvPr/>
            </p:nvSpPr>
            <p:spPr>
              <a:xfrm>
                <a:off x="5765892" y="3754120"/>
                <a:ext cx="65274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ko-KR" altLang="en-US" sz="3600" b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74672EE-47B9-9ED0-D846-5A191A83C7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5892" y="3754120"/>
                <a:ext cx="652743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05214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CC241-55B4-65D1-A85B-3FADCF3E9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F6E57CEB-CF8E-85B4-E669-8E3467B8A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/>
          <a:lstStyle/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 </a:t>
            </a:r>
            <a:r>
              <a:rPr lang="en-US" altLang="ko-KR" cap="none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Random_Walk_Simulation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ECFBC279-3653-3D05-7BBC-0AEC90FC9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383" y="1150966"/>
            <a:ext cx="10758457" cy="2278034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차원 </a:t>
            </a:r>
            <a:r>
              <a:rPr lang="en-US" altLang="ko-KR" sz="21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Guassian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랜덤 워크 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정규분포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(Normal Distribution)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이용한 랜덤 워크는 </a:t>
            </a:r>
            <a:r>
              <a:rPr lang="ko-KR" altLang="en-US" sz="21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가우시안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랜덤 워크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(Gaussian Random Walk)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라고 하며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수학적으로는 브라운 운동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(Brownian Motion)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기초가 되는 모델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연속적 이동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정규분포 기반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이동 거리가 정규분포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종 모양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따름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대부분은 작게 움직이고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가끔 크게 이동하는 경우도 발생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실제 세계 물리현상과 유사</a:t>
            </a: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367DF55-DC58-13BA-A039-B02E197A5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2862" y="6035582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3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F2EA324D-2C1D-95DB-4C29-29428B521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2861" y="66676"/>
            <a:ext cx="1509277" cy="998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Picture 2">
            <a:extLst>
              <a:ext uri="{FF2B5EF4-FFF2-40B4-BE49-F238E27FC236}">
                <a16:creationId xmlns:a16="http://schemas.microsoft.com/office/drawing/2014/main" id="{7AEA76DE-5798-4404-0084-FFA6B99D3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262" y="3429000"/>
            <a:ext cx="7409378" cy="3147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35EC74-1F6D-CE1F-85AE-12A42A886505}"/>
              </a:ext>
            </a:extLst>
          </p:cNvPr>
          <p:cNvSpPr txBox="1"/>
          <p:nvPr/>
        </p:nvSpPr>
        <p:spPr>
          <a:xfrm>
            <a:off x="8659178" y="3512105"/>
            <a:ext cx="3362960" cy="102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미세 입자의 확산</a:t>
            </a:r>
            <a:r>
              <a:rPr lang="en-US" altLang="ko-KR" sz="140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브라운 운동</a:t>
            </a:r>
            <a:r>
              <a:rPr lang="en-US" altLang="ko-KR" sz="140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sz="1400" i="0" dirty="0"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주식 가격 변동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열 운동</a:t>
            </a:r>
            <a:r>
              <a:rPr lang="en-US" altLang="ko-KR" sz="140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40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분자 운동의 시뮬레이션</a:t>
            </a:r>
          </a:p>
        </p:txBody>
      </p:sp>
    </p:spTree>
    <p:extLst>
      <p:ext uri="{BB962C8B-B14F-4D97-AF65-F5344CB8AC3E}">
        <p14:creationId xmlns:p14="http://schemas.microsoft.com/office/powerpoint/2010/main" val="26962889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A03C4-9F32-8658-57A1-8179E087B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1CC16D-7C9C-2F71-E9C9-02A41D849637}"/>
              </a:ext>
            </a:extLst>
          </p:cNvPr>
          <p:cNvSpPr txBox="1"/>
          <p:nvPr/>
        </p:nvSpPr>
        <p:spPr>
          <a:xfrm>
            <a:off x="767408" y="1196753"/>
            <a:ext cx="9250352" cy="9708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표본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1000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개에서 </a:t>
            </a:r>
            <a:r>
              <a:rPr lang="ko-KR" altLang="en-US" sz="20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재표본추출을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복원추출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(replace=True)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방식으로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100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개를 무한히 </a:t>
            </a:r>
            <a:r>
              <a:rPr lang="ko-KR" altLang="en-US" sz="20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재표본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추출하여 평균과 분산에 대해 토론하라 </a:t>
            </a:r>
            <a:endParaRPr lang="en-US" altLang="ko-KR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19691D-5BF7-99F5-D054-700096553189}"/>
              </a:ext>
            </a:extLst>
          </p:cNvPr>
          <p:cNvSpPr txBox="1"/>
          <p:nvPr/>
        </p:nvSpPr>
        <p:spPr>
          <a:xfrm>
            <a:off x="119336" y="260649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문제 풀이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53D10DE-54F1-5E83-B617-EB567D2F7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08" y="2625024"/>
            <a:ext cx="7170609" cy="3410558"/>
          </a:xfrm>
          <a:prstGeom prst="rect">
            <a:avLst/>
          </a:prstGeom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3B660879-678E-3CEF-7952-761CB7497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2862" y="6035582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36F7D249-76A0-1D42-5C27-04C837C11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9489" y="66676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4162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2D5AF-0F51-91DE-64BD-5E17CEF9A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1B51CDD-C849-F07D-D7BE-8E0C6C436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26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24D8FB-4BA4-B532-2690-FF91AAEE20BE}"/>
              </a:ext>
            </a:extLst>
          </p:cNvPr>
          <p:cNvSpPr txBox="1"/>
          <p:nvPr/>
        </p:nvSpPr>
        <p:spPr>
          <a:xfrm>
            <a:off x="798974" y="1692410"/>
            <a:ext cx="2930832" cy="50917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Monty Hall Problem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CE8694-F9D5-0985-6634-DA4CC7CB87C6}"/>
              </a:ext>
            </a:extLst>
          </p:cNvPr>
          <p:cNvSpPr txBox="1"/>
          <p:nvPr/>
        </p:nvSpPr>
        <p:spPr>
          <a:xfrm>
            <a:off x="119336" y="260649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문제 풀이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AFCC670-9D52-97E0-301E-31793E380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614" y="2724107"/>
            <a:ext cx="3466677" cy="1927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3315C22-DE09-0D77-BE86-D502CE4535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2182" y="2764673"/>
            <a:ext cx="1619245" cy="900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F37A84F-98D5-AD78-2108-B8AEF24ABB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1006" y="3900957"/>
            <a:ext cx="815411" cy="97544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9B1586C-C92C-EECE-337A-38419DE5AF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2623" y="3900957"/>
            <a:ext cx="815411" cy="97544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1E66379-8AED-85AD-941D-2FC2A6DCBF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4240" y="3900957"/>
            <a:ext cx="815411" cy="97544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159CE25-5732-0E61-FC70-6FC5DEEA80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857" y="3900957"/>
            <a:ext cx="815411" cy="97544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4069638-5D65-FDE0-686D-96001F8881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7474" y="3900957"/>
            <a:ext cx="815411" cy="97544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575F2FA-ACB7-78F7-B1A7-3E84ABC3B5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9091" y="3900957"/>
            <a:ext cx="815411" cy="97544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FEE5B40-1E21-B3D8-55B6-432E2E592F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0707" y="3900957"/>
            <a:ext cx="815411" cy="97544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4EAA928D-47DE-DBD9-B4C4-37E1631C5A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1006" y="5158257"/>
            <a:ext cx="815411" cy="97544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E4AE634F-D801-E332-4B85-5D322DF3AF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2623" y="5158257"/>
            <a:ext cx="815411" cy="97544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CB32881A-FD31-9325-C6E7-5248E3C6D1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4240" y="5158257"/>
            <a:ext cx="815411" cy="97544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560C4216-BC6D-8454-4D96-0F01187DCC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857" y="5158257"/>
            <a:ext cx="815411" cy="97544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13A4BD92-5A06-85BE-A3AA-232982853B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7474" y="5158257"/>
            <a:ext cx="815411" cy="975445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206C91E5-88B9-0740-BBF7-F4144DD4A4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9091" y="5158257"/>
            <a:ext cx="815411" cy="97544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6104512E-4C9A-FCD8-2992-BCB7286B85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0707" y="5158257"/>
            <a:ext cx="815411" cy="975445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AE3A43EF-64D5-A843-B2DD-72091B480A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857" y="2724107"/>
            <a:ext cx="815411" cy="975445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1B1524A1-71FF-4AA4-1D38-3A81C21A74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7474" y="2724107"/>
            <a:ext cx="815411" cy="975445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7A236CA2-8829-F5DE-B2CE-DCF16BEABA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9091" y="2724107"/>
            <a:ext cx="815411" cy="975445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4F1B1D3F-5406-E68D-69A4-9B8AD69570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0707" y="2724107"/>
            <a:ext cx="815411" cy="975445"/>
          </a:xfrm>
          <a:prstGeom prst="rect">
            <a:avLst/>
          </a:prstGeom>
        </p:spPr>
      </p:pic>
      <p:pic>
        <p:nvPicPr>
          <p:cNvPr id="5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CDB299DD-9795-FDF8-7F4C-6EA8A4B5B2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9489" y="66676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3E5455-A30D-EF00-88BD-2B3F157983C4}"/>
              </a:ext>
            </a:extLst>
          </p:cNvPr>
          <p:cNvSpPr txBox="1"/>
          <p:nvPr/>
        </p:nvSpPr>
        <p:spPr>
          <a:xfrm>
            <a:off x="6051006" y="1692410"/>
            <a:ext cx="5342020" cy="50917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Monty Hall Problem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문이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10,000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라면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46032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F696F-724F-26BD-9C71-E5EC70710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6626646-BEA0-FB3A-7822-5F9972BD6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27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456C07-5D3C-22AC-8A59-702C8C03FA3F}"/>
              </a:ext>
            </a:extLst>
          </p:cNvPr>
          <p:cNvSpPr txBox="1"/>
          <p:nvPr/>
        </p:nvSpPr>
        <p:spPr>
          <a:xfrm>
            <a:off x="767408" y="1196753"/>
            <a:ext cx="9102081" cy="25317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당신은 앞으로 인생에서 총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명의 잠재적 파트너를 만날 수 있다고 가정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당신의 목표는 그중 가장 뛰어난 사람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(X)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 매칭되는 것이며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아래의 조건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한 번 거절한 사람에게는 다시 돌아갈 수 없음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만나는 순서는 무작위이며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당신은 상대를 만날 때마다 점수를 매길 수 있음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가장 좋은 사람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(X)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선택할 확률을 최대화하려면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몇 번째 사람을 선책해야 하나요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mathematical-dating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5BE9C9-E7C6-D55A-BC46-CD975C33457A}"/>
              </a:ext>
            </a:extLst>
          </p:cNvPr>
          <p:cNvSpPr txBox="1"/>
          <p:nvPr/>
        </p:nvSpPr>
        <p:spPr>
          <a:xfrm>
            <a:off x="119336" y="260649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문제 풀이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E0093E0-2B37-39B8-6DB9-925B18522D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3275" y="3861558"/>
            <a:ext cx="3334215" cy="1994109"/>
          </a:xfrm>
          <a:prstGeom prst="rect">
            <a:avLst/>
          </a:prstGeom>
        </p:spPr>
      </p:pic>
      <p:pic>
        <p:nvPicPr>
          <p:cNvPr id="3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9D41C8BB-9143-9759-5675-5DDCD0405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9489" y="66676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8778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C777C-D922-8895-688C-C5D8CB36E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EB2C61B-EEC0-7491-DD5B-4008A55D9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28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6F664B-D509-3189-2815-157CC6374EF1}"/>
              </a:ext>
            </a:extLst>
          </p:cNvPr>
          <p:cNvSpPr txBox="1"/>
          <p:nvPr/>
        </p:nvSpPr>
        <p:spPr>
          <a:xfrm>
            <a:off x="767408" y="1196752"/>
            <a:ext cx="8813472" cy="30721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한 학급에 </a:t>
            </a:r>
            <a:r>
              <a:rPr lang="ko-KR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100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명</a:t>
            </a:r>
            <a:r>
              <a:rPr lang="ko-KR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ko-KR" sz="20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</a:t>
            </a:r>
            <a:r>
              <a:rPr lang="ko-KR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=100)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있는 반을 </a:t>
            </a:r>
            <a:r>
              <a:rPr lang="ko-KR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상상해 보세요.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선생님이 무작위로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명을 </a:t>
            </a:r>
            <a:r>
              <a:rPr lang="ko-KR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뽑고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선물을 주고</a:t>
            </a:r>
            <a:r>
              <a:rPr lang="ko-KR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다시 전체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100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명에서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명을 뽑습니다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 </a:t>
            </a:r>
            <a:r>
              <a:rPr lang="ko-KR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짓을 똑같이 100번 반복해서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선물을 주게 될 경우 내가 선물을 못박을 확률은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200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번을 반복했는데 내가 못 받을 확률은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300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번을 반복했는데 내가 못 받을 확률은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89527C-5F15-5354-51AE-303E2EF56CBE}"/>
              </a:ext>
            </a:extLst>
          </p:cNvPr>
          <p:cNvSpPr txBox="1"/>
          <p:nvPr/>
        </p:nvSpPr>
        <p:spPr>
          <a:xfrm>
            <a:off x="119336" y="260649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문제 풀이</a:t>
            </a:r>
          </a:p>
        </p:txBody>
      </p:sp>
      <p:pic>
        <p:nvPicPr>
          <p:cNvPr id="3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E2A31D04-E1AA-540F-6088-A42EB0318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9489" y="66676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7705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F35E0-A8BA-9E25-DCE5-002AF8EF7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A6F4F7E-6F61-4FB4-D872-D19D234DD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29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FED543-95FD-70FD-6206-68419637947A}"/>
              </a:ext>
            </a:extLst>
          </p:cNvPr>
          <p:cNvSpPr txBox="1"/>
          <p:nvPr/>
        </p:nvSpPr>
        <p:spPr>
          <a:xfrm>
            <a:off x="767408" y="1196753"/>
            <a:ext cx="8925232" cy="12852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모집단의 회귀식의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gradient(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기울기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인 데이터를 생성하고 표본크기를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5, 30, 100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각각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1000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표본의 기울기와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MSE(Mean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Squared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Error)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평균과 분산을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시각화하라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 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0D0FE0-2695-7F37-8905-B8DE24E7A394}"/>
              </a:ext>
            </a:extLst>
          </p:cNvPr>
          <p:cNvSpPr txBox="1"/>
          <p:nvPr/>
        </p:nvSpPr>
        <p:spPr>
          <a:xfrm>
            <a:off x="119336" y="260649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문제 풀이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6A96551-6CD7-9DE7-087B-11A115B1C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71" y="3634206"/>
            <a:ext cx="3721378" cy="2899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D6731E-3482-342B-4CF9-362C40D676CA}"/>
              </a:ext>
            </a:extLst>
          </p:cNvPr>
          <p:cNvSpPr txBox="1"/>
          <p:nvPr/>
        </p:nvSpPr>
        <p:spPr>
          <a:xfrm>
            <a:off x="730163" y="2894037"/>
            <a:ext cx="3721378" cy="718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</a:pPr>
            <a:r>
              <a:rPr lang="en-US" altLang="ko-KR" sz="1400" dirty="0">
                <a:latin typeface="Arial Narrow" panose="020B0606020202030204" pitchFamily="34" charset="0"/>
              </a:rPr>
              <a:t>X = </a:t>
            </a:r>
            <a:r>
              <a:rPr lang="en-US" altLang="ko-KR" sz="1400" dirty="0" err="1">
                <a:latin typeface="Arial Narrow" panose="020B0606020202030204" pitchFamily="34" charset="0"/>
              </a:rPr>
              <a:t>np.random.randn</a:t>
            </a:r>
            <a:r>
              <a:rPr lang="en-US" altLang="ko-KR" sz="1400" dirty="0">
                <a:latin typeface="Arial Narrow" panose="020B0606020202030204" pitchFamily="34" charset="0"/>
              </a:rPr>
              <a:t>(10000, 1)</a:t>
            </a:r>
          </a:p>
          <a:p>
            <a:pPr>
              <a:lnSpc>
                <a:spcPts val="1575"/>
              </a:lnSpc>
            </a:pPr>
            <a:r>
              <a:rPr lang="en-US" altLang="ko-KR" sz="1400" dirty="0" err="1">
                <a:latin typeface="Arial Narrow" panose="020B0606020202030204" pitchFamily="34" charset="0"/>
              </a:rPr>
              <a:t>true_w</a:t>
            </a:r>
            <a:r>
              <a:rPr lang="en-US" altLang="ko-KR" sz="1400" dirty="0">
                <a:latin typeface="Arial Narrow" panose="020B0606020202030204" pitchFamily="34" charset="0"/>
              </a:rPr>
              <a:t> = 2.0</a:t>
            </a:r>
          </a:p>
          <a:p>
            <a:pPr>
              <a:lnSpc>
                <a:spcPts val="1575"/>
              </a:lnSpc>
            </a:pPr>
            <a:r>
              <a:rPr lang="en-US" altLang="ko-KR" sz="1400" dirty="0">
                <a:latin typeface="Arial Narrow" panose="020B0606020202030204" pitchFamily="34" charset="0"/>
              </a:rPr>
              <a:t>y = </a:t>
            </a:r>
            <a:r>
              <a:rPr lang="en-US" altLang="ko-KR" sz="1400" dirty="0" err="1">
                <a:latin typeface="Arial Narrow" panose="020B0606020202030204" pitchFamily="34" charset="0"/>
              </a:rPr>
              <a:t>true_w</a:t>
            </a:r>
            <a:r>
              <a:rPr lang="en-US" altLang="ko-KR" sz="1400" dirty="0">
                <a:latin typeface="Arial Narrow" panose="020B0606020202030204" pitchFamily="34" charset="0"/>
              </a:rPr>
              <a:t> * X + </a:t>
            </a:r>
            <a:r>
              <a:rPr lang="en-US" altLang="ko-KR" sz="1400" dirty="0" err="1">
                <a:latin typeface="Arial Narrow" panose="020B0606020202030204" pitchFamily="34" charset="0"/>
              </a:rPr>
              <a:t>np.random.randn</a:t>
            </a:r>
            <a:r>
              <a:rPr lang="en-US" altLang="ko-KR" sz="1400" dirty="0">
                <a:latin typeface="Arial Narrow" panose="020B0606020202030204" pitchFamily="34" charset="0"/>
              </a:rPr>
              <a:t>(10000, 1) * 0.5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604A6947-78A3-C7CA-2B50-5D00DD4F3D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9584" y="2469173"/>
            <a:ext cx="5832647" cy="1919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0AC33CC4-6C35-C6FD-C03A-DFEEFB901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913" y="4701422"/>
            <a:ext cx="5832647" cy="1919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1C0F150E-B972-291C-98C5-D1154ED29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9489" y="66676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0882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016E6-4DF5-97F6-9486-23E46F5C4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39D4B50-D754-79A0-CD51-823002DF3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30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43735A-526C-E0D0-66F8-62A3BD4EC82F}"/>
              </a:ext>
            </a:extLst>
          </p:cNvPr>
          <p:cNvSpPr txBox="1"/>
          <p:nvPr/>
        </p:nvSpPr>
        <p:spPr>
          <a:xfrm>
            <a:off x="551384" y="2916953"/>
            <a:ext cx="11377264" cy="31840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모델 학습의 안정성 확보”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MSE , Cross-Entropy, Log-loss 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Mini-batch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학습이 가능한 이유”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Mini-batch =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작은 샘플 평균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CLT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없이는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mini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batch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도 없음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교차검증을 통한 모델의 평가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평균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accuracy/loss,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교차검증 평균 등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CLT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적용으로 이  평균들은 → 정규분포 근사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→ 신뢰구간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→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통계적 비교 가능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A/B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테스트와 실험 설계의 핵심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광고 효과 비교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추천 알고리즘 비교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UI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개선 효과 측정  등 전부 평균 비교 문제로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CLT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덕분에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두 평균 차이 → 정규분포 근사 →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p-value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계산 가능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5A9784-515E-A3E4-8F67-F24BA80B28DC}"/>
              </a:ext>
            </a:extLst>
          </p:cNvPr>
          <p:cNvSpPr txBox="1"/>
          <p:nvPr/>
        </p:nvSpPr>
        <p:spPr>
          <a:xfrm>
            <a:off x="119336" y="260649"/>
            <a:ext cx="3650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문제 풀이</a:t>
            </a:r>
            <a:r>
              <a:rPr lang="en-US" altLang="ko-KR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고급</a:t>
            </a:r>
            <a:r>
              <a:rPr lang="en-US" altLang="ko-KR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sz="32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039815-B66C-C01C-F725-1707E5711FCB}"/>
              </a:ext>
            </a:extLst>
          </p:cNvPr>
          <p:cNvSpPr txBox="1"/>
          <p:nvPr/>
        </p:nvSpPr>
        <p:spPr>
          <a:xfrm>
            <a:off x="551384" y="1656979"/>
            <a:ext cx="11377264" cy="8697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중심극한정리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데이터는 불규칙하지만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평균은 예측 가능하다 → 그래서 학습이 가능하다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머신러닝에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접목하는 내용을 모의실험으로 파이썬 코드로 제시하라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B4F85ED7-5D0C-B6EA-688D-04551BD9D5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9489" y="66676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9646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FE75F-6515-E02E-0A0F-4F2429757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E95A9-2DB2-F8F6-CA7C-3363C9348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31</a:t>
            </a:fld>
            <a:endParaRPr lang="en-US" altLang="ko-KR" noProof="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C8FE015-7FE6-7957-1A9B-65A97D8020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552468"/>
              </p:ext>
            </p:extLst>
          </p:nvPr>
        </p:nvGraphicFramePr>
        <p:xfrm>
          <a:off x="335361" y="1916832"/>
          <a:ext cx="11449273" cy="381341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278453">
                  <a:extLst>
                    <a:ext uri="{9D8B030D-6E8A-4147-A177-3AD203B41FA5}">
                      <a16:colId xmlns:a16="http://schemas.microsoft.com/office/drawing/2014/main" val="2839673302"/>
                    </a:ext>
                  </a:extLst>
                </a:gridCol>
                <a:gridCol w="3045465">
                  <a:extLst>
                    <a:ext uri="{9D8B030D-6E8A-4147-A177-3AD203B41FA5}">
                      <a16:colId xmlns:a16="http://schemas.microsoft.com/office/drawing/2014/main" val="3265452535"/>
                    </a:ext>
                  </a:extLst>
                </a:gridCol>
                <a:gridCol w="3263037">
                  <a:extLst>
                    <a:ext uri="{9D8B030D-6E8A-4147-A177-3AD203B41FA5}">
                      <a16:colId xmlns:a16="http://schemas.microsoft.com/office/drawing/2014/main" val="3151376771"/>
                    </a:ext>
                  </a:extLst>
                </a:gridCol>
                <a:gridCol w="2862318">
                  <a:extLst>
                    <a:ext uri="{9D8B030D-6E8A-4147-A177-3AD203B41FA5}">
                      <a16:colId xmlns:a16="http://schemas.microsoft.com/office/drawing/2014/main" val="2539893238"/>
                    </a:ext>
                  </a:extLst>
                </a:gridCol>
              </a:tblGrid>
              <a:tr h="511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구분</a:t>
                      </a: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문제 상황</a:t>
                      </a: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CLT(</a:t>
                      </a:r>
                      <a:r>
                        <a:rPr lang="ko-KR" altLang="en-US" sz="16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중심극한정리</a:t>
                      </a:r>
                      <a:r>
                        <a:rPr lang="en-US" altLang="ko-KR" sz="16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en-US" sz="16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6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역할</a:t>
                      </a: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결과</a:t>
                      </a: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9735647"/>
                  </a:ext>
                </a:extLst>
              </a:tr>
              <a:tr h="883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1. </a:t>
                      </a:r>
                      <a:r>
                        <a:rPr lang="ko-KR" altLang="en-US" sz="16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데이터 분석 기반</a:t>
                      </a: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분포 모름</a:t>
                      </a:r>
                      <a:r>
                        <a:rPr lang="en-US" altLang="ko-KR" sz="16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6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이상치</a:t>
                      </a:r>
                      <a:r>
                        <a:rPr lang="en-US" altLang="ko-KR" sz="16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6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비정규성</a:t>
                      </a: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평균 → 정규분포 근사</a:t>
                      </a: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통계적 추론 가능 </a:t>
                      </a:r>
                      <a:endParaRPr lang="en-US" altLang="ko-KR" sz="16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>
                        <a:buNone/>
                      </a:pPr>
                      <a:r>
                        <a:rPr lang="en-US" altLang="ko-KR" sz="16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6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확률</a:t>
                      </a:r>
                      <a:r>
                        <a:rPr lang="en-US" altLang="ko-KR" sz="16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6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신뢰구간</a:t>
                      </a:r>
                      <a:r>
                        <a:rPr lang="en-US" altLang="ko-KR" sz="16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6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검정</a:t>
                      </a:r>
                      <a:r>
                        <a:rPr lang="en-US" altLang="ko-KR" sz="16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940290"/>
                  </a:ext>
                </a:extLst>
              </a:tr>
              <a:tr h="883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2. </a:t>
                      </a:r>
                      <a:r>
                        <a:rPr lang="ko-KR" altLang="en-US" sz="160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모델 학습 안정성</a:t>
                      </a: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손실값이 데이터마다 변동</a:t>
                      </a: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평균 손실이 안정적으로 수렴</a:t>
                      </a: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학습 안정화</a:t>
                      </a:r>
                      <a:r>
                        <a:rPr lang="en-US" altLang="ko-KR" sz="16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</a:p>
                    <a:p>
                      <a:pPr>
                        <a:buNone/>
                      </a:pPr>
                      <a:r>
                        <a:rPr lang="en-US" sz="16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gradient descent </a:t>
                      </a:r>
                      <a:r>
                        <a:rPr lang="ko-KR" altLang="en-US" sz="16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수렴</a:t>
                      </a: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6168464"/>
                  </a:ext>
                </a:extLst>
              </a:tr>
              <a:tr h="511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3. Mini-batch </a:t>
                      </a:r>
                      <a:r>
                        <a:rPr lang="ko-KR" altLang="en-US" sz="160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학습</a:t>
                      </a: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전체 데이터 사용 어려움</a:t>
                      </a: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작은 샘플 평균이 전체 근사</a:t>
                      </a: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계산 효율</a:t>
                      </a:r>
                      <a:r>
                        <a:rPr lang="en-US" altLang="ko-KR" sz="16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GPU </a:t>
                      </a:r>
                      <a:r>
                        <a:rPr lang="ko-KR" altLang="en-US" sz="16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활용</a:t>
                      </a:r>
                      <a:endParaRPr lang="en-US" altLang="ko-KR" sz="16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356760"/>
                  </a:ext>
                </a:extLst>
              </a:tr>
              <a:tr h="511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4. </a:t>
                      </a:r>
                      <a:r>
                        <a:rPr lang="ko-KR" altLang="en-US" sz="160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모델 평가</a:t>
                      </a: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성능 비교 불확실</a:t>
                      </a: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평균 성능이 정규분포 따름</a:t>
                      </a: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신뢰구간</a:t>
                      </a:r>
                      <a:r>
                        <a:rPr lang="en-US" altLang="ko-KR" sz="160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60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통계적 비교 가능</a:t>
                      </a: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531158"/>
                  </a:ext>
                </a:extLst>
              </a:tr>
              <a:tr h="511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5. A/B </a:t>
                      </a:r>
                      <a:r>
                        <a:rPr lang="ko-KR" altLang="en-US" sz="160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테스트</a:t>
                      </a: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효과 차이 판단 필요</a:t>
                      </a: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평균 차이 → 정규분포 근사</a:t>
                      </a: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p-value </a:t>
                      </a:r>
                      <a:r>
                        <a:rPr lang="ko-KR" altLang="en-US" sz="16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기반 의사결정</a:t>
                      </a:r>
                    </a:p>
                  </a:txBody>
                  <a:tcPr anchor="ctr">
                    <a:solidFill>
                      <a:srgbClr val="D7E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844464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FF78879-44CC-B0CF-4CFD-7481327951DB}"/>
              </a:ext>
            </a:extLst>
          </p:cNvPr>
          <p:cNvSpPr txBox="1"/>
          <p:nvPr/>
        </p:nvSpPr>
        <p:spPr>
          <a:xfrm>
            <a:off x="119336" y="260649"/>
            <a:ext cx="3650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문제 풀이</a:t>
            </a:r>
            <a:r>
              <a:rPr lang="en-US" altLang="ko-KR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고급</a:t>
            </a:r>
            <a:r>
              <a:rPr lang="en-US" altLang="ko-KR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sz="32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5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4B8922AC-7C9F-E372-9876-64EC09369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9489" y="66676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7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D3382-3F3B-FBCB-16B9-54596A299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1978B95-8D74-4C32-41B7-E23FC5CAD023}"/>
              </a:ext>
            </a:extLst>
          </p:cNvPr>
          <p:cNvSpPr/>
          <p:nvPr/>
        </p:nvSpPr>
        <p:spPr>
          <a:xfrm>
            <a:off x="1127448" y="3967981"/>
            <a:ext cx="4749534" cy="5846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99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DE2234-A841-2467-5318-244743AA17A7}"/>
              </a:ext>
            </a:extLst>
          </p:cNvPr>
          <p:cNvSpPr txBox="1"/>
          <p:nvPr/>
        </p:nvSpPr>
        <p:spPr>
          <a:xfrm>
            <a:off x="1337468" y="1428986"/>
            <a:ext cx="8435182" cy="3606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196" indent="-514196">
              <a:lnSpc>
                <a:spcPct val="150000"/>
              </a:lnSpc>
              <a:buAutoNum type="arabicPeriod"/>
            </a:pPr>
            <a:r>
              <a:rPr lang="en-US" altLang="ko-KR" sz="2400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Modeling</a:t>
            </a:r>
          </a:p>
          <a:p>
            <a:pPr marL="971396" lvl="1" indent="-514196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derivative function</a:t>
            </a:r>
          </a:p>
          <a:p>
            <a:pPr marL="971396" lvl="1" indent="-514196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mathematical modeling</a:t>
            </a:r>
          </a:p>
          <a:p>
            <a:pPr marL="971396" lvl="1" indent="-514196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interest compound</a:t>
            </a:r>
          </a:p>
          <a:p>
            <a:pPr marL="514196" indent="-514196">
              <a:lnSpc>
                <a:spcPct val="150000"/>
              </a:lnSpc>
              <a:buAutoNum type="arabicPeriod"/>
            </a:pPr>
            <a:r>
              <a:rPr lang="en-US" altLang="ko-KR" sz="2400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Montecarlo Simulation</a:t>
            </a:r>
          </a:p>
          <a:p>
            <a:pPr marL="514196" indent="-514196">
              <a:lnSpc>
                <a:spcPct val="150000"/>
              </a:lnSpc>
              <a:buAutoNum type="arabicPeriod"/>
            </a:pPr>
            <a:r>
              <a:rPr lang="en-US" altLang="ko-KR" sz="2400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Linear Programing</a:t>
            </a:r>
          </a:p>
          <a:p>
            <a:pPr marL="514196" indent="-514196">
              <a:lnSpc>
                <a:spcPct val="150000"/>
              </a:lnSpc>
              <a:buAutoNum type="arabicPeriod"/>
            </a:pPr>
            <a:r>
              <a:rPr lang="en-US" altLang="ko-KR" sz="2400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Genetic algorithm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9DD49A-7EEB-6C92-C5D7-5D88A5BA9409}"/>
              </a:ext>
            </a:extLst>
          </p:cNvPr>
          <p:cNvSpPr txBox="1"/>
          <p:nvPr/>
        </p:nvSpPr>
        <p:spPr>
          <a:xfrm>
            <a:off x="1337470" y="710574"/>
            <a:ext cx="2603977" cy="584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199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ko-KR" altLang="en-US" sz="3199" dirty="0"/>
          </a:p>
        </p:txBody>
      </p:sp>
    </p:spTree>
    <p:extLst>
      <p:ext uri="{BB962C8B-B14F-4D97-AF65-F5344CB8AC3E}">
        <p14:creationId xmlns:p14="http://schemas.microsoft.com/office/powerpoint/2010/main" val="2869004681"/>
      </p:ext>
    </p:extLst>
  </p:cSld>
  <p:clrMapOvr>
    <a:masterClrMapping/>
  </p:clrMapOvr>
</p:sld>
</file>

<file path=ppt/theme/theme1.xml><?xml version="1.0" encoding="utf-8"?>
<a:theme xmlns:a="http://schemas.openxmlformats.org/drawingml/2006/main" name="물방울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{1CC570B9-0437-4096-963A-AEC0F46B8FA6}TF62d0d592-7ac2-4846-a919-75806e8bead4bfbc838d-5dafd7656617</Template>
  <TotalTime>4926</TotalTime>
  <Words>1919</Words>
  <Application>Microsoft Office PowerPoint</Application>
  <PresentationFormat>와이드스크린</PresentationFormat>
  <Paragraphs>256</Paragraphs>
  <Slides>32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45" baseType="lpstr">
      <vt:lpstr>MS PGothic</vt:lpstr>
      <vt:lpstr>맑은 고딕</vt:lpstr>
      <vt:lpstr>맑은 고딕 Semilight</vt:lpstr>
      <vt:lpstr>Batang</vt:lpstr>
      <vt:lpstr>한컴 말랑말랑 Bold</vt:lpstr>
      <vt:lpstr>ADLaM Display</vt:lpstr>
      <vt:lpstr>Arial</vt:lpstr>
      <vt:lpstr>Arial Narrow</vt:lpstr>
      <vt:lpstr>Cambria Math</vt:lpstr>
      <vt:lpstr>Times New Roman</vt:lpstr>
      <vt:lpstr>Tw Cen MT</vt:lpstr>
      <vt:lpstr>Wingdings</vt:lpstr>
      <vt:lpstr>물방울</vt:lpstr>
      <vt:lpstr>수학의 응용 - 머신러닝 -</vt:lpstr>
      <vt:lpstr>PowerPoint 프레젠테이션</vt:lpstr>
      <vt:lpstr>Modeling</vt:lpstr>
      <vt:lpstr>derative function</vt:lpstr>
      <vt:lpstr>Hands-on Velocity</vt:lpstr>
      <vt:lpstr>Hands-on Velocity</vt:lpstr>
      <vt:lpstr>Hands-on Velocity</vt:lpstr>
      <vt:lpstr>mathematical modeling</vt:lpstr>
      <vt:lpstr>Cell_division</vt:lpstr>
      <vt:lpstr>Hands-on Cell_division</vt:lpstr>
      <vt:lpstr>Hands-on Cell_division</vt:lpstr>
      <vt:lpstr>Hands-on Cell_division</vt:lpstr>
      <vt:lpstr>Hands-on Cell_Contamination</vt:lpstr>
      <vt:lpstr>Hands-on Cell_Contamination</vt:lpstr>
      <vt:lpstr>Hands-on Cell_Contamination</vt:lpstr>
      <vt:lpstr>Hands-on Cell_Contamination</vt:lpstr>
      <vt:lpstr>Hands-on Compound_interest</vt:lpstr>
      <vt:lpstr>PowerPoint 프레젠테이션</vt:lpstr>
      <vt:lpstr>Montecarlo Simulation</vt:lpstr>
      <vt:lpstr>PowerPoint 프레젠테이션</vt:lpstr>
      <vt:lpstr>Random walk</vt:lpstr>
      <vt:lpstr>Hands-on Random_Walk_Simulation</vt:lpstr>
      <vt:lpstr>Hands-on Random_Walk_Simulation</vt:lpstr>
      <vt:lpstr>Hands-on Random_Walk_Simulation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Sanggoo Cho</dc:creator>
  <cp:lastModifiedBy>Sanggoo Cho</cp:lastModifiedBy>
  <cp:revision>65</cp:revision>
  <dcterms:created xsi:type="dcterms:W3CDTF">2026-03-09T22:59:08Z</dcterms:created>
  <dcterms:modified xsi:type="dcterms:W3CDTF">2026-04-01T04:00:06Z</dcterms:modified>
</cp:coreProperties>
</file>