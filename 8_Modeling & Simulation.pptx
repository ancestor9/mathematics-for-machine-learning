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7"/>
  </p:notesMasterIdLst>
  <p:sldIdLst>
    <p:sldId id="256" r:id="rId2"/>
    <p:sldId id="839" r:id="rId3"/>
    <p:sldId id="911" r:id="rId4"/>
    <p:sldId id="840" r:id="rId5"/>
    <p:sldId id="914" r:id="rId6"/>
    <p:sldId id="915" r:id="rId7"/>
    <p:sldId id="916" r:id="rId8"/>
    <p:sldId id="917" r:id="rId9"/>
    <p:sldId id="912" r:id="rId10"/>
    <p:sldId id="918" r:id="rId11"/>
    <p:sldId id="920" r:id="rId12"/>
    <p:sldId id="919" r:id="rId13"/>
    <p:sldId id="913" r:id="rId14"/>
    <p:sldId id="921" r:id="rId15"/>
    <p:sldId id="270" r:id="rId16"/>
    <p:sldId id="304" r:id="rId17"/>
    <p:sldId id="305" r:id="rId18"/>
    <p:sldId id="307" r:id="rId19"/>
    <p:sldId id="306" r:id="rId20"/>
    <p:sldId id="388" r:id="rId21"/>
    <p:sldId id="308" r:id="rId22"/>
    <p:sldId id="312" r:id="rId23"/>
    <p:sldId id="311" r:id="rId24"/>
    <p:sldId id="309" r:id="rId25"/>
    <p:sldId id="31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331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5C30-FC2E-5949-B48E-275DB0B4B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7EBCA-E8FA-9264-0E05-68DB33B4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35FA87-88FD-E3E4-A0AB-F6BEFB491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4905E-17BC-CEEB-6F2D-8A5C7B3321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9487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Velocity" TargetMode="External"/><Relationship Id="rId1" Type="http://schemas.openxmlformats.org/officeDocument/2006/relationships/slideLayout" Target="../slideLayouts/slideLayout18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6" Type="http://schemas.microsoft.com/office/2007/relationships/hdphoto" Target="../media/hdphoto2.wdp"/><Relationship Id="rId5" Type="http://schemas.openxmlformats.org/officeDocument/2006/relationships/image" Target="../media/image13.png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9.jpe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0.pn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en.wikipedia.org/wiki/Compound_interest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1127448" y="150545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3139017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9B157DA-C9A3-9224-8EA5-15C2E989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DC7E784-6620-0FB7-979E-D2BFBA886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8" y="1321459"/>
            <a:ext cx="10158333" cy="358282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F5A445B-3694-E092-8071-FF439CAB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81398CD2-47AC-F5C1-E48C-7BEE837D6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derative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Velocity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미분방정식의 수식으로 표현하자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직관적으로 속도는 거리를 시간으로 나눈 값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 cap="none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cap="none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a:rPr lang="en-US" altLang="ko-KR" i="1" cap="none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ko-KR" b="0" i="1" cap="none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b="0" i="1" cap="none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 cap="none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b="1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평균속도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 개념으로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일정한 시간대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 시간 동안에 움직인 거리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3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100km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동안 달렸다면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100/2=50km/hour</a:t>
                </a:r>
              </a:p>
              <a:p>
                <a:pPr lvl="1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아주 미세한 시간에 움직인 거리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sz="600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물리학에서 일반적으로 다루는 속도는 물체가 갖는 어떠한 순간의 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 순간속도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순간속도는 평균속도를 측정하는 시간간격을 매우 짧게 하여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접근시킨 극한값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　　　　　　　　　　　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　</a:t>
                </a:r>
                <a:r>
                  <a:rPr lang="ko-KR" altLang="en-US" b="1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변위를 시간에 대하여 미분한 것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  <a:blipFill>
                <a:blip r:embed="rId3"/>
                <a:stretch>
                  <a:fillRect l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090EF87D-2E28-82B5-D1C2-77DFA43A0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A02375D-6E04-E35C-A592-EDBF089A5F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08126" y="5587847"/>
            <a:ext cx="2004234" cy="60965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9302F10-0716-C4EB-440F-B5806EFF1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44A4-DE61-7543-956C-13764059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D98EFE44-D11A-00B2-17EB-AFC718106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8F75B4A-132C-EA13-4987-147857E15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AD7E4053-2951-11E0-D09E-A998382F94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8229F449-DE69-C46A-77C6-1D1D427B41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8229F449-DE69-C46A-77C6-1D1D427B41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5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7704B45-70A6-DCDF-5C33-14A3ECB97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308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1E039-6B94-C0B4-2AE8-5AFDD9E2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ED08A57D-C6EE-5C90-D0E0-3C121BB03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BF1C25D-1FC8-18E1-9898-B71505F87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A1E4C3B0-6C08-1F83-CCCE-6BD6243225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C76119E-A61F-F19B-3077-25C168FE0D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3" y="1756114"/>
                <a:ext cx="10353762" cy="4663735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퀵실버가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순간 이동을 합니다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=0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=5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=3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ko-KR" altLang="en-US" dirty="0"/>
              </a:p>
            </p:txBody>
          </p:sp>
        </mc:Choice>
        <mc:Fallback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C76119E-A61F-F19B-3077-25C168FE0D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3" y="1756114"/>
                <a:ext cx="10353762" cy="4663735"/>
              </a:xfrm>
              <a:blipFill>
                <a:blip r:embed="rId3"/>
                <a:stretch>
                  <a:fillRect l="-530" t="-1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3A322F4-E8CE-0B05-BFFB-38CA14838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204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F428-4528-92B8-4D41-DEFE1BA09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C604E4BF-870B-BEE4-8F73-6ACC67B6E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75B460A-B19E-2BE0-435B-DE56D82A1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95757E7D-CE4C-AB53-0AC5-E159498ADF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E923C22-F00C-B1DC-C756-C08430E28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자동차를 타고 배달을 하는 상황으로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GPS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네이버지도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“평균속도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48 km/h”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알려줍니다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계기판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지금 순간속도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 km/h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신호등 때문에 멈춤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2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같은 이동인데 왜 두 값이 다를까요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Δx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Δt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순간속도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dx/dt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개념으로 설명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상황 중 순간속도가 더 중요한 순간과 평균속도가 더 중요한 순간을 골라 친구와 토론해 보세요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치타가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 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초 만에 사냥할 때</a:t>
            </a:r>
          </a:p>
          <a:p>
            <a:pPr lvl="1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KTX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430 km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분에 달릴 때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야구 선수가 홈런을 치고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홈으로 돌아올 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왕복 변위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7E9D65-4314-C59E-822C-4CBDE69FCEB1}"/>
              </a:ext>
            </a:extLst>
          </p:cNvPr>
          <p:cNvSpPr txBox="1"/>
          <p:nvPr/>
        </p:nvSpPr>
        <p:spPr>
          <a:xfrm>
            <a:off x="1532919" y="5252456"/>
            <a:ext cx="7773005" cy="95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순간속도는 물체가 지금 얼마나 </a:t>
            </a:r>
            <a:r>
              <a:rPr lang="ko-KR" altLang="en-US" sz="2000" b="1" i="1" cap="all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빠른지</a:t>
            </a:r>
            <a:r>
              <a:rPr lang="en-US" altLang="ko-KR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평균속도는 전체 얼마나 빨리 도착했는지를 알려준다</a:t>
            </a:r>
            <a:r>
              <a:rPr lang="en-US" altLang="ko-KR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65F97-B4B7-0F8D-9F10-BCAC11121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078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2C6A-34C8-5B86-F0CF-24EA42B73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10B2A55E-C052-BE91-B275-EBA68D57C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mathematical modeling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338A396-DBB3-C429-F909-C9B1EFDCD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52799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BC9462C7-222E-E549-C89E-677432725E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C13E2F-0D51-F5B8-143F-B6DCD0AA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659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3E92-EBAC-11A0-A5AB-D6F56413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6F558932-1960-3D11-785F-972EB23F2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A5E02309-97FC-1F8F-07BF-34E2DD2F3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ADB0003-573E-3589-FE60-79D4624B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10BD142-A3EF-DA25-B44C-294E5AE65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824202-A51D-7439-12C2-2D4B0BFD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50BF00-34ED-E5C1-6A6D-3B169040CD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436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D93F9-02FF-8CCA-8FC2-6E1CDDBC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440BC855-9DA6-5E8F-7DB2-641F5435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61866C7-2FE3-9746-62C9-962EC6383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BB7A4C-DD6B-364F-EEF6-38E800F3E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0C1D700-4744-4E2C-919E-2632E193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46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75F2-CDC2-EEF9-2B70-4E618A3BC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E93DA52-AB08-F7D6-966C-479D4C1F24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F63659A-D57E-63C1-0FE7-035CCB166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F32A5EF-184F-F2C8-11D0-5CACC1587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B627874-F793-8274-A2A9-220E08A11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BA1C0E-6273-DA11-86A2-F006E565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1995DC5-690D-D0F1-BA72-462E351F6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6CC582-1965-6929-2DFA-632F8DD737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99244F-A620-A933-F4EC-7C77ADA782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4346" y="5648310"/>
            <a:ext cx="1874682" cy="34293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D2F2542-A4A3-BEDF-5D4E-9187C7530E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021" y="5459634"/>
            <a:ext cx="1082134" cy="274344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6302C16-A1B2-FF6D-EC33-2E56B3BAA571}"/>
              </a:ext>
            </a:extLst>
          </p:cNvPr>
          <p:cNvCxnSpPr>
            <a:cxnSpLocks/>
          </p:cNvCxnSpPr>
          <p:nvPr/>
        </p:nvCxnSpPr>
        <p:spPr>
          <a:xfrm flipH="1">
            <a:off x="3876675" y="5895975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D20AC05-699D-0720-969C-1CDCB35033F5}"/>
              </a:ext>
            </a:extLst>
          </p:cNvPr>
          <p:cNvCxnSpPr>
            <a:cxnSpLocks/>
          </p:cNvCxnSpPr>
          <p:nvPr/>
        </p:nvCxnSpPr>
        <p:spPr>
          <a:xfrm>
            <a:off x="3876675" y="5895975"/>
            <a:ext cx="12192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385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0385-A589-8B8A-9C4A-6ADA1EDD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BDF0F539-388D-4228-0ED4-0110B0086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86E50604-6662-009F-F0F6-A0F85A8DD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0C7D6C32-5F57-630B-78B6-7C52C3A5A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0307AE-07C2-1BA0-B183-3CC0E9660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16943DF-40B9-E7AE-6F82-027FCEE7C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F554A70-0CDC-9EDE-F24D-187F11FF0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7366" y="3429000"/>
            <a:ext cx="1214409" cy="36373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69A176-09E6-03E6-12FE-276BBECB6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4367" y="4156241"/>
            <a:ext cx="971058" cy="65371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1155595-99F4-06FB-D1D4-EC441F0AB851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55574BE-B93E-E3E5-FF8C-04E8E82821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106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7F7-04AB-8B81-7F53-BF986F2A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9DF299F6-063E-A5FA-8179-AB466B3B8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Compound_interest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21F27D-1221-FB58-BDEC-9B34A7E0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9890853" cy="154829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복리이자 예금의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계산</a:t>
            </a: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8BE8AD7-5D82-6818-5BA2-2A45FB07A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6B489B-CD30-D4B5-4A10-E9751D29F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65559BA-7054-87D2-ED97-79FE2BD93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275" y="2531922"/>
            <a:ext cx="5905038" cy="368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3985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710E2-787E-03C0-6E19-A8FA39C0C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6C2482-E37E-4435-7CBE-2F006E71C350}"/>
              </a:ext>
            </a:extLst>
          </p:cNvPr>
          <p:cNvSpPr/>
          <p:nvPr/>
        </p:nvSpPr>
        <p:spPr>
          <a:xfrm>
            <a:off x="1127448" y="342950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C4D0AD-05E8-89C2-6D70-AB9EBB424D7E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BA2290-6C75-39F8-656D-D7C62838E1EE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1223421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67408" y="764704"/>
            <a:ext cx="37321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Montecarlo Simulation</a:t>
            </a:r>
            <a:endParaRPr lang="ko-KR" altLang="en-US" sz="28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7448" y="1484784"/>
            <a:ext cx="10873208" cy="5111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이름은 도박으로 유명한 모나코의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카지노에서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4A28AC8-4F29-6A5C-3946-6F8E280A0619}"/>
              </a:ext>
            </a:extLst>
          </p:cNvPr>
          <p:cNvSpPr txBox="1">
            <a:spLocks/>
          </p:cNvSpPr>
          <p:nvPr/>
        </p:nvSpPr>
        <p:spPr>
          <a:xfrm>
            <a:off x="10512862" y="6035582"/>
            <a:ext cx="753349" cy="36503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3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7E2EF4B-E5C3-7839-EEF5-9C1CFD5C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7408" y="1196753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561" y="2533041"/>
            <a:ext cx="8566741" cy="4074601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660879-678E-3CEF-7952-761CB7497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148" y="2465263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315C22-DE09-0D77-BE86-D502CE453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901" y="2311529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F37A84F-98D5-AD78-2108-B8AEF24AB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725" y="3447813"/>
            <a:ext cx="815411" cy="9754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9B1586C-C92C-EECE-337A-38419DE5AF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342" y="3447813"/>
            <a:ext cx="815411" cy="97544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1E66379-8AED-85AD-941D-2FC2A6DCB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959" y="3447813"/>
            <a:ext cx="815411" cy="9754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159CE25-5732-0E61-FC70-6FC5DEEA8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6576" y="3447813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4069638-5D65-FDE0-686D-96001F888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193" y="3447813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75F2FA-ACB7-78F7-B1A7-3E84ABC3B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9810" y="3447813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EE5B40-1E21-B3D8-55B6-432E2E592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1426" y="3447813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EAA928D-47DE-DBD9-B4C4-37E1631C5A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725" y="4705113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4AE634F-D801-E332-4B85-5D322DF3A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342" y="4705113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B32881A-FD31-9325-C6E7-5248E3C6D1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959" y="4705113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60C4216-BC6D-8454-4D96-0F01187DC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6576" y="4705113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3A4BD92-5A06-85BE-A3AA-232982853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193" y="4705113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206C91E5-88B9-0740-BBF7-F4144DD4A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9810" y="4705113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104512E-4C9A-FCD8-2992-BCB7286B8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1426" y="4705113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E3A43EF-64D5-A843-B2DD-72091B480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6576" y="2270963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B1524A1-71FF-4AA4-1D38-3A81C21A7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193" y="2270963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A236CA2-8829-F5DE-B2CE-DCF16BEAB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9810" y="2270963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4F1B1D3F-5406-E68D-69A4-9B8AD6957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1426" y="2270963"/>
            <a:ext cx="815411" cy="97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7408" y="1196753"/>
            <a:ext cx="1123324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앞으로 인생에서 총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잠재적 파트너를 만날 수 있다고 가정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매칭되는 것이며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단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아래의 조건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번 거절한 사람에게는 다시 돌아갈 수 없음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만나는 순서는 무작위이며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가장 좋은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선택할 확률을 최대화하려면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몇 번째 사람을 선책해야 하나요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75" y="4204126"/>
            <a:ext cx="3334215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7408" y="1196752"/>
            <a:ext cx="11233248" cy="23558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학급에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=100)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있는 반을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상상해 보세요.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선생님이 무작위로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뽑고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주고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다시 전체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뽑습니다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짓을 똑같이 100번 반복해서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주게 될 경우 내가 선물을 못박을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3252-33CE-8BCC-AD7B-FF64CEC0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2BE835A-B5F4-F995-40C3-C7E940E4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CA6F-D833-6140-6621-352A7531D611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0FD1C-8CA9-3906-1CAB-19D923D4C28D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4791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7408" y="1196753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60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3352" y="2422824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X =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y = </a:t>
            </a: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* X +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584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913" y="4701422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5400" y="2276873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51384" y="858990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/>
        </p:nvGraphicFramePr>
        <p:xfrm>
          <a:off x="335361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4782</TotalTime>
  <Words>1363</Words>
  <Application>Microsoft Office PowerPoint</Application>
  <PresentationFormat>와이드스크린</PresentationFormat>
  <Paragraphs>190</Paragraphs>
  <Slides>25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40" baseType="lpstr">
      <vt:lpstr>HY그래픽M</vt:lpstr>
      <vt:lpstr>MS PGothic</vt:lpstr>
      <vt:lpstr>맑은 고딕</vt:lpstr>
      <vt:lpstr>맑은 고딕 Semilight</vt:lpstr>
      <vt:lpstr>바탕</vt:lpstr>
      <vt:lpstr>한컴 말랑말랑 Bold</vt:lpstr>
      <vt:lpstr>휴먼모음T</vt:lpstr>
      <vt:lpstr>ADLaM Display</vt:lpstr>
      <vt:lpstr>Arial</vt:lpstr>
      <vt:lpstr>Arial Narrow</vt:lpstr>
      <vt:lpstr>Cambria Math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Modeling</vt:lpstr>
      <vt:lpstr>derative function</vt:lpstr>
      <vt:lpstr>Hands-on Velocity</vt:lpstr>
      <vt:lpstr>Hands-on Velocity</vt:lpstr>
      <vt:lpstr>Hands-on Velocity</vt:lpstr>
      <vt:lpstr>mathematical modeling</vt:lpstr>
      <vt:lpstr>Hands-on Cell_division</vt:lpstr>
      <vt:lpstr>Hands-on Cell_division</vt:lpstr>
      <vt:lpstr>Hands-on Cell_division</vt:lpstr>
      <vt:lpstr>Hands-on Cell_division</vt:lpstr>
      <vt:lpstr>Hands-on Compound_interest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61</cp:revision>
  <dcterms:created xsi:type="dcterms:W3CDTF">2026-03-09T22:59:08Z</dcterms:created>
  <dcterms:modified xsi:type="dcterms:W3CDTF">2026-03-31T16:45:39Z</dcterms:modified>
</cp:coreProperties>
</file>