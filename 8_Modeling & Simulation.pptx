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0"/>
  </p:notesMasterIdLst>
  <p:sldIdLst>
    <p:sldId id="256" r:id="rId2"/>
    <p:sldId id="839" r:id="rId3"/>
    <p:sldId id="911" r:id="rId4"/>
    <p:sldId id="840" r:id="rId5"/>
    <p:sldId id="914" r:id="rId6"/>
    <p:sldId id="912" r:id="rId7"/>
    <p:sldId id="913" r:id="rId8"/>
    <p:sldId id="270" r:id="rId9"/>
    <p:sldId id="304" r:id="rId10"/>
    <p:sldId id="305" r:id="rId11"/>
    <p:sldId id="307" r:id="rId12"/>
    <p:sldId id="306" r:id="rId13"/>
    <p:sldId id="388" r:id="rId14"/>
    <p:sldId id="308" r:id="rId15"/>
    <p:sldId id="312" r:id="rId16"/>
    <p:sldId id="311" r:id="rId17"/>
    <p:sldId id="309" r:id="rId18"/>
    <p:sldId id="31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77" autoAdjust="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FC978-BC3A-8AA6-CC5E-EE64FB5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A8F15C-0FFD-4B58-B5E4-E54BD78FE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AFEF6B-3133-285F-0D2A-D02606B7A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8ADA10-034C-5FD3-70FA-938527FD9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91871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1B4F-B913-2BE9-9359-92236640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04812E-3253-4341-DC46-78222B0B4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AE9E0F-6313-3502-1A05-E35F3B8F3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54258E-45FA-3A7A-F9D1-024A700EB7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02634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45C30-FC2E-5949-B48E-275DB0B4B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D7EBCA-E8FA-9264-0E05-68DB33B45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35FA87-88FD-E3E4-A0AB-F6BEFB491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4905E-17BC-CEEB-6F2D-8A5C7B3321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9487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61178-D3A3-BD01-999B-5CD0CBD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B66A9-55C3-DC1E-3535-AD5D96B30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7FFF2B-2B71-B514-D49C-EF7B099DE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E91CB-DE8C-2792-9462-33EFA4D63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39779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0921-2A98-58A1-77F4-D8659C0B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8269F1-DD08-6BF5-8344-47DF8E22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96A4B6-DC7D-FF48-46FC-7358B9C8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E27B-EE8E-0361-5AEB-07842FCFA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346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2FD5E-B683-05F5-2A8F-95FE3698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14573-C36D-346C-F5A7-A95CE5ED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6A3A6-E1B1-4542-BD9E-843AF4A37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3E6ECA-8F6F-B8DE-C544-C72743D372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6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microsoft.com/office/2007/relationships/hdphoto" Target="../media/hdphoto2.wdp"/><Relationship Id="rId2" Type="http://schemas.openxmlformats.org/officeDocument/2006/relationships/hyperlink" Target="https://en.wikipedia.org/wiki/Velocity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png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en.wikipedia.org/wiki/Velocity" TargetMode="Externa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en.wikipedia.org/wiki/Compound_interest" TargetMode="Externa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lus.maths.org/mathematical-dating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1127448" y="150545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7468" y="1428986"/>
            <a:ext cx="6486724" cy="277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7470" y="710574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3139017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E9B157DA-C9A3-9224-8EA5-15C2E9891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DC7E784-6620-0FB7-979E-D2BFBA886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8" y="1321459"/>
            <a:ext cx="10158333" cy="358282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F5A445B-3694-E092-8071-FF439CAB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080" y="2636912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81398CD2-47AC-F5C1-E48C-7BEE837D6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내용 개체 틀 2">
                <a:extLst>
                  <a:ext uri="{FF2B5EF4-FFF2-40B4-BE49-F238E27FC236}">
                    <a16:creationId xmlns:a16="http://schemas.microsoft.com/office/drawing/2014/main" id="{A4BF8824-1D8A-37E0-8B47-F3F99409C2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3" y="1339880"/>
                <a:ext cx="11106756" cy="527999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속도를 수식으로 표현하라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직관적으로 속도는 거리를 시간으로 나눈 값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 lvl="2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num>
                      <m:den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속도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 lvl="2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 dirty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dirty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        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평균속도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 개념으로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일정한 시간대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 시간 동안에 움직인 거리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3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 동안 달렸다면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100/2=50km/hour</a:t>
                </a:r>
              </a:p>
              <a:p>
                <a:pPr lvl="1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아주 미세한 시간에 움직인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en-US" altLang="ko-KR" sz="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물리학에서 일반적으로 다루는 속도는 물체가 갖는 어떠한 순간의 속도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즉 순간속도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순간속도는 평균속도를 측정하는 시간간격을 매우 짧게 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접근시킨 극한값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　　　　　　　　　　　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　</a:t>
                </a:r>
                <a:r>
                  <a:rPr lang="ko-KR" altLang="en-US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변위를 시간에 대하여 미분한 것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0" name="내용 개체 틀 2">
                <a:extLst>
                  <a:ext uri="{FF2B5EF4-FFF2-40B4-BE49-F238E27FC236}">
                    <a16:creationId xmlns:a16="http://schemas.microsoft.com/office/drawing/2014/main" id="{A4BF8824-1D8A-37E0-8B47-F3F99409C2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3" y="1339880"/>
                <a:ext cx="11106756" cy="5279995"/>
              </a:xfrm>
              <a:blipFill>
                <a:blip r:embed="rId3"/>
                <a:stretch>
                  <a:fillRect l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090EF87D-2E28-82B5-D1C2-77DFA43A0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A02375D-6E04-E35C-A592-EDBF089A5F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08126" y="5587847"/>
            <a:ext cx="2004234" cy="60965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E50BEEE-152E-97D9-AB7F-C504945A55C8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500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08126" y="3131794"/>
            <a:ext cx="1120237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B44A4-DE61-7543-956C-13764059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D98EFE44-D11A-00B2-17EB-AFC718106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8E0E839-F5F2-EB3E-8070-CCDE2CE55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977930"/>
            <a:ext cx="11106756" cy="547540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속도를　파이썬　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ｓｙｍｂｐｌｉｃ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　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8F75B4A-132C-EA13-4987-147857E15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AD7E4053-2951-11E0-D09E-A998382F94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1308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3E92-EBAC-11A0-A5AB-D6F56413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A5E02309-97FC-1F8F-07BF-34E2DD2F3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9ADB0003-573E-3589-FE60-79D4624B6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9890853" cy="154829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10BD142-A3EF-DA25-B44C-294E5AE65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0865B2A-4BD6-4208-7874-D54A97509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0177" y="1777473"/>
            <a:ext cx="4376887" cy="441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4436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7F7-04AB-8B81-7F53-BF986F2A8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9DF299F6-063E-A5FA-8179-AB466B3B8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Compound_interest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021F27D-1221-FB58-BDEC-9B34A7E03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9890853" cy="154829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복리이자 예금</a:t>
            </a: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8BE8AD7-5D82-6818-5BA2-2A45FB07A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3985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7408" y="764704"/>
            <a:ext cx="373211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Montecarlo Simulation</a:t>
            </a:r>
            <a:endParaRPr lang="ko-KR" altLang="en-US" sz="28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10ABA-12DE-BC96-E33E-8F12E2CBC316}"/>
              </a:ext>
            </a:extLst>
          </p:cNvPr>
          <p:cNvSpPr txBox="1"/>
          <p:nvPr/>
        </p:nvSpPr>
        <p:spPr>
          <a:xfrm>
            <a:off x="1127448" y="1484784"/>
            <a:ext cx="10873208" cy="5111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이름은 도박으로 유명한 모나코의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카지노에서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7408" y="1196753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원주율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원의 면접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A560-CAC8-7DA2-E171-6514006B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7408" y="1196753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개에서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재표본추출을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복원추출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(replace=True)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개를 무한히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추출하여 평균과 분산에 대해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561" y="2533041"/>
            <a:ext cx="8566741" cy="407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9014-F20D-7B7E-82F4-291B35DDF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CDD9F21-3F8F-61DF-D1E4-E7AEA20F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A16EB-E2DE-F31D-3EA0-A223294CA89B}"/>
              </a:ext>
            </a:extLst>
          </p:cNvPr>
          <p:cNvSpPr txBox="1"/>
          <p:nvPr/>
        </p:nvSpPr>
        <p:spPr>
          <a:xfrm>
            <a:off x="767408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거리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속도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가속도에 대한 시뮬레이션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미적분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D34784-A486-0A01-E7A2-FD0B1406CD2E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990975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7408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10,000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라면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673" y="2492897"/>
            <a:ext cx="5334969" cy="2966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696F-724F-26BD-9C71-E5EC70710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626646-BEA0-FB3A-7822-5F9972BD6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56C07-5D3C-22AC-8A59-702C8C03FA3F}"/>
              </a:ext>
            </a:extLst>
          </p:cNvPr>
          <p:cNvSpPr txBox="1"/>
          <p:nvPr/>
        </p:nvSpPr>
        <p:spPr>
          <a:xfrm>
            <a:off x="767408" y="1196753"/>
            <a:ext cx="1123324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앞으로 인생에서 총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잠재적 파트너를 만날 수 있다고 가정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(X)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매칭되는 것이며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단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아래의 조건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번 거절한 사람에게는 다시 돌아갈 수 없음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만나는 순서는 무작위이며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가장 좋은 사람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(X)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선택할 확률을 최대화하려면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몇 번째 사람을 선책해야 하나요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BE9C9-E7C6-D55A-BC46-CD975C33457A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0093E0-2B37-39B8-6DB9-925B18522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75" y="4204126"/>
            <a:ext cx="3334215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778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7408" y="1196752"/>
            <a:ext cx="11233248" cy="23558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학급에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=100)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있는 반을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상상해 보세요.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선생님이 무작위로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뽑고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주고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다시 전체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뽑습니다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짓을 똑같이 100번 반복해서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주게 될 경우 내가 선물을 못박을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63252-33CE-8BCC-AD7B-FF64CEC0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2BE835A-B5F4-F995-40C3-C7E940E40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1CA6F-D833-6140-6621-352A7531D611}"/>
              </a:ext>
            </a:extLst>
          </p:cNvPr>
          <p:cNvSpPr txBox="1"/>
          <p:nvPr/>
        </p:nvSpPr>
        <p:spPr>
          <a:xfrm>
            <a:off x="767408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평생 미팅하는 상대방이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명이라면 몇 번째 만난 사람과 결혼을 해야 최적의 선택인가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0FD1C-8CA9-3906-1CAB-19D923D4C28D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4791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35E0-A8BA-9E25-DCE5-002AF8EF7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6F4F7E-6F61-4FB4-D872-D19D234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ED543-95FD-70FD-6206-68419637947A}"/>
              </a:ext>
            </a:extLst>
          </p:cNvPr>
          <p:cNvSpPr txBox="1"/>
          <p:nvPr/>
        </p:nvSpPr>
        <p:spPr>
          <a:xfrm>
            <a:off x="767408" y="1196753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모집단의 회귀식의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gradient(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기울기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 데이터를 생성하고 표본크기를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5, 30, 100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표본의 기울기와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MSE(Mean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Squared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Error)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평균과 분산을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D0FE0-2695-7F37-8905-B8DE24E7A394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A96551-6CD7-9DE7-087B-11A115B1C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60" y="3162993"/>
            <a:ext cx="3721378" cy="289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6731E-3482-342B-4CF9-362C40D676CA}"/>
              </a:ext>
            </a:extLst>
          </p:cNvPr>
          <p:cNvSpPr txBox="1"/>
          <p:nvPr/>
        </p:nvSpPr>
        <p:spPr>
          <a:xfrm>
            <a:off x="263352" y="2422824"/>
            <a:ext cx="3721378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Arial Narrow" panose="020B0606020202030204" pitchFamily="34" charset="0"/>
              </a:rPr>
              <a:t>X = </a:t>
            </a:r>
            <a:r>
              <a:rPr lang="en-US" altLang="ko-KR" sz="1400" dirty="0" err="1">
                <a:latin typeface="Arial Narrow" panose="020B0606020202030204" pitchFamily="34" charset="0"/>
              </a:rPr>
              <a:t>np.random.randn</a:t>
            </a:r>
            <a:r>
              <a:rPr lang="en-US" altLang="ko-KR" sz="1400" dirty="0">
                <a:latin typeface="Arial Narrow" panose="020B0606020202030204" pitchFamily="34" charset="0"/>
              </a:rPr>
              <a:t>(10000, 1)</a:t>
            </a: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Arial Narrow" panose="020B0606020202030204" pitchFamily="34" charset="0"/>
              </a:rPr>
              <a:t>true_w</a:t>
            </a:r>
            <a:r>
              <a:rPr lang="en-US" altLang="ko-KR" sz="1400" dirty="0">
                <a:latin typeface="Arial Narrow" panose="020B0606020202030204" pitchFamily="34" charset="0"/>
              </a:rPr>
              <a:t> = 2.0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Arial Narrow" panose="020B0606020202030204" pitchFamily="34" charset="0"/>
              </a:rPr>
              <a:t>y = </a:t>
            </a:r>
            <a:r>
              <a:rPr lang="en-US" altLang="ko-KR" sz="1400" dirty="0" err="1">
                <a:latin typeface="Arial Narrow" panose="020B0606020202030204" pitchFamily="34" charset="0"/>
              </a:rPr>
              <a:t>true_w</a:t>
            </a:r>
            <a:r>
              <a:rPr lang="en-US" altLang="ko-KR" sz="1400" dirty="0">
                <a:latin typeface="Arial Narrow" panose="020B0606020202030204" pitchFamily="34" charset="0"/>
              </a:rPr>
              <a:t> * X + </a:t>
            </a:r>
            <a:r>
              <a:rPr lang="en-US" altLang="ko-KR" sz="1400" dirty="0" err="1">
                <a:latin typeface="Arial Narrow" panose="020B0606020202030204" pitchFamily="34" charset="0"/>
              </a:rPr>
              <a:t>np.random.randn</a:t>
            </a:r>
            <a:r>
              <a:rPr lang="en-US" altLang="ko-KR" sz="1400" dirty="0">
                <a:latin typeface="Arial Narrow" panose="020B0606020202030204" pitchFamily="34" charset="0"/>
              </a:rPr>
              <a:t>(10000, 1) * 0.5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04A6947-78A3-C7CA-2B50-5D00DD4F3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584" y="2469173"/>
            <a:ext cx="5832647" cy="191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C33CC4-6C35-C6FD-C03A-DFEEFB901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913" y="4701422"/>
            <a:ext cx="5832647" cy="1919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882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16E6-4DF5-97F6-9486-23E46F5C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9D4B50-D754-79A0-CD51-823002DF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43735A-526C-E0D0-66F8-62A3BD4EC82F}"/>
              </a:ext>
            </a:extLst>
          </p:cNvPr>
          <p:cNvSpPr txBox="1"/>
          <p:nvPr/>
        </p:nvSpPr>
        <p:spPr>
          <a:xfrm>
            <a:off x="695400" y="2276873"/>
            <a:ext cx="11233248" cy="36068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모델 학습의 안정성 확보”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 , Cross-Entropy, Log-loss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학습이 가능한 이유”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=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작은 샘플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CLT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없이는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batch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 없음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교차검증을 통한 모델의 평가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accuracy/loss,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 평균 등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적용으로 이  평균들은 → 정규분포 근사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 신뢰구간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통계적 비교 가능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테스트와 실험 설계의 핵심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광고 효과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추천 알고리즘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UI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개선 효과 측정  등 전부 평균 비교 문제로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덕분에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평균 차이 → 정규분포 근사 →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계산 가능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A9784-515E-A3E4-8F67-F24BA80B28DC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39815-B66C-C01C-F725-1707E5711FCB}"/>
              </a:ext>
            </a:extLst>
          </p:cNvPr>
          <p:cNvSpPr txBox="1"/>
          <p:nvPr/>
        </p:nvSpPr>
        <p:spPr>
          <a:xfrm>
            <a:off x="551384" y="858990"/>
            <a:ext cx="11377264" cy="97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중심극한정리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데이터는 불규칙하지만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평균은 예측 가능하다 → 그래서 학습이 가능하다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머신러닝에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접목하는 내용을 모의실험으로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964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E75F-6515-E02E-0A0F-4F242975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E95A9-2DB2-F8F6-CA7C-3363C934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4EAF7-599C-1643-17BE-529CB7DB3BDF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C8FE015-7FE6-7957-1A9B-65A97D8020B8}"/>
              </a:ext>
            </a:extLst>
          </p:cNvPr>
          <p:cNvGraphicFramePr>
            <a:graphicFrameLocks noGrp="1"/>
          </p:cNvGraphicFramePr>
          <p:nvPr/>
        </p:nvGraphicFramePr>
        <p:xfrm>
          <a:off x="335361" y="1916832"/>
          <a:ext cx="11449273" cy="331236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278453">
                  <a:extLst>
                    <a:ext uri="{9D8B030D-6E8A-4147-A177-3AD203B41FA5}">
                      <a16:colId xmlns:a16="http://schemas.microsoft.com/office/drawing/2014/main" val="2839673302"/>
                    </a:ext>
                  </a:extLst>
                </a:gridCol>
                <a:gridCol w="3045465">
                  <a:extLst>
                    <a:ext uri="{9D8B030D-6E8A-4147-A177-3AD203B41FA5}">
                      <a16:colId xmlns:a16="http://schemas.microsoft.com/office/drawing/2014/main" val="3265452535"/>
                    </a:ext>
                  </a:extLst>
                </a:gridCol>
                <a:gridCol w="3263037">
                  <a:extLst>
                    <a:ext uri="{9D8B030D-6E8A-4147-A177-3AD203B41FA5}">
                      <a16:colId xmlns:a16="http://schemas.microsoft.com/office/drawing/2014/main" val="3151376771"/>
                    </a:ext>
                  </a:extLst>
                </a:gridCol>
                <a:gridCol w="2862318">
                  <a:extLst>
                    <a:ext uri="{9D8B030D-6E8A-4147-A177-3AD203B41FA5}">
                      <a16:colId xmlns:a16="http://schemas.microsoft.com/office/drawing/2014/main" val="2539893238"/>
                    </a:ext>
                  </a:extLst>
                </a:gridCol>
              </a:tblGrid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구분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문제 상황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CLT(</a:t>
                      </a:r>
                      <a:r>
                        <a:rPr lang="ko-KR" altLang="en-US" sz="1600" dirty="0"/>
                        <a:t>중심극한정리</a:t>
                      </a:r>
                      <a:r>
                        <a:rPr lang="en-US" altLang="ko-KR" sz="1600" dirty="0"/>
                        <a:t>)</a:t>
                      </a:r>
                      <a:r>
                        <a:rPr lang="en-US" sz="1600" dirty="0"/>
                        <a:t> </a:t>
                      </a:r>
                      <a:r>
                        <a:rPr lang="ko-KR" altLang="en-US" sz="1600" dirty="0"/>
                        <a:t>역할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결과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735647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1. </a:t>
                      </a:r>
                      <a:r>
                        <a:rPr lang="ko-KR" altLang="en-US" sz="1600" dirty="0"/>
                        <a:t>데이터 분석 기반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분포 모름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이상치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비정규성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통계적 추론 가능 </a:t>
                      </a:r>
                      <a:endParaRPr lang="en-US" altLang="ko-KR" sz="1600" dirty="0"/>
                    </a:p>
                    <a:p>
                      <a:pPr>
                        <a:buNone/>
                      </a:pP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신뢰구간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검정</a:t>
                      </a:r>
                      <a:r>
                        <a:rPr lang="en-US" altLang="ko-KR" sz="1600" dirty="0"/>
                        <a:t>)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940290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2. </a:t>
                      </a:r>
                      <a:r>
                        <a:rPr lang="ko-KR" altLang="en-US" sz="1600"/>
                        <a:t>모델 학습 안정성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손실값이 데이터마다 변동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손실이 안정적으로 수렴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학습 안정화</a:t>
                      </a:r>
                      <a:r>
                        <a:rPr lang="en-US" altLang="ko-KR" sz="1600" dirty="0"/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gradient descent </a:t>
                      </a:r>
                      <a:r>
                        <a:rPr lang="ko-KR" altLang="en-US" sz="1600" dirty="0"/>
                        <a:t>수렴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168464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3. Mini-batch </a:t>
                      </a:r>
                      <a:r>
                        <a:rPr lang="ko-KR" altLang="en-US" sz="1600"/>
                        <a:t>학습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전체 데이터 사용 어려움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작은 샘플 평균이 전체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계산 효율</a:t>
                      </a:r>
                      <a:r>
                        <a:rPr lang="en-US" altLang="ko-KR" sz="1600" dirty="0"/>
                        <a:t>, GPU </a:t>
                      </a:r>
                      <a:r>
                        <a:rPr lang="ko-KR" altLang="en-US" sz="1600" dirty="0"/>
                        <a:t>활용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356760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4. </a:t>
                      </a:r>
                      <a:r>
                        <a:rPr lang="ko-KR" altLang="en-US" sz="1600"/>
                        <a:t>모델 평가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성능 비교 불확실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성능이 정규분포 따름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신뢰구간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통계적 비교 가능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531158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5. A/B </a:t>
                      </a:r>
                      <a:r>
                        <a:rPr lang="ko-KR" altLang="en-US" sz="1600"/>
                        <a:t>테스트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효과 차이 판단 필요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차이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p-value </a:t>
                      </a:r>
                      <a:r>
                        <a:rPr lang="ko-KR" altLang="en-US" sz="1600" dirty="0"/>
                        <a:t>기반 의사결정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44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4616</TotalTime>
  <Words>790</Words>
  <Application>Microsoft Office PowerPoint</Application>
  <PresentationFormat>와이드스크린</PresentationFormat>
  <Paragraphs>129</Paragraphs>
  <Slides>18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3" baseType="lpstr">
      <vt:lpstr>HY그래픽M</vt:lpstr>
      <vt:lpstr>MS PGothic</vt:lpstr>
      <vt:lpstr>맑은 고딕</vt:lpstr>
      <vt:lpstr>맑은 고딕 Semilight</vt:lpstr>
      <vt:lpstr>바탕</vt:lpstr>
      <vt:lpstr>한컴 말랑말랑 Bold</vt:lpstr>
      <vt:lpstr>휴먼모음T</vt:lpstr>
      <vt:lpstr>ADLaM Display</vt:lpstr>
      <vt:lpstr>Arial</vt:lpstr>
      <vt:lpstr>Arial Narrow</vt:lpstr>
      <vt:lpstr>Cambria Math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Modeling</vt:lpstr>
      <vt:lpstr>Velocity</vt:lpstr>
      <vt:lpstr>Hands-on Velocity</vt:lpstr>
      <vt:lpstr>Hands-on cell Cell_division </vt:lpstr>
      <vt:lpstr>Hands-on Compound_interest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58</cp:revision>
  <dcterms:created xsi:type="dcterms:W3CDTF">2026-03-09T22:59:08Z</dcterms:created>
  <dcterms:modified xsi:type="dcterms:W3CDTF">2026-03-31T13:00:37Z</dcterms:modified>
</cp:coreProperties>
</file>