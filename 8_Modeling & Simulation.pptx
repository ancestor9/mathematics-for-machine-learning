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4"/>
  </p:sldMasterIdLst>
  <p:notesMasterIdLst>
    <p:notesMasterId r:id="rId22"/>
  </p:notesMasterIdLst>
  <p:handoutMasterIdLst>
    <p:handoutMasterId r:id="rId23"/>
  </p:handoutMasterIdLst>
  <p:sldIdLst>
    <p:sldId id="256" r:id="rId5"/>
    <p:sldId id="836" r:id="rId6"/>
    <p:sldId id="911" r:id="rId7"/>
    <p:sldId id="840" r:id="rId8"/>
    <p:sldId id="912" r:id="rId9"/>
    <p:sldId id="913" r:id="rId10"/>
    <p:sldId id="270" r:id="rId11"/>
    <p:sldId id="304" r:id="rId12"/>
    <p:sldId id="305" r:id="rId13"/>
    <p:sldId id="307" r:id="rId14"/>
    <p:sldId id="306" r:id="rId15"/>
    <p:sldId id="388" r:id="rId16"/>
    <p:sldId id="308" r:id="rId17"/>
    <p:sldId id="312" r:id="rId18"/>
    <p:sldId id="311" r:id="rId19"/>
    <p:sldId id="309" r:id="rId20"/>
    <p:sldId id="310" r:id="rId21"/>
  </p:sldIdLst>
  <p:sldSz cx="12188825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39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7E3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FABFCF23-3B69-468F-B69F-88F6DE6A72F2}" styleName="보통 스타일 1 - 강조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BDBED569-4797-4DF1-A0F4-6AAB3CD982D8}" styleName="밝은 스타일 3 - 강조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673" autoAdjust="0"/>
    <p:restoredTop sz="94660"/>
  </p:normalViewPr>
  <p:slideViewPr>
    <p:cSldViewPr>
      <p:cViewPr varScale="1">
        <p:scale>
          <a:sx n="85" d="100"/>
          <a:sy n="85" d="100"/>
        </p:scale>
        <p:origin x="883" y="58"/>
      </p:cViewPr>
      <p:guideLst>
        <p:guide pos="3839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90" d="100"/>
          <a:sy n="90" d="100"/>
        </p:scale>
        <p:origin x="2814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50A85425-0F1F-4C65-805F-C7280B9ECE9F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2026-03-31</a:t>
            </a:fld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A98ED8CD-4E4C-49AC-BDC6-2963BA49E54F}" type="slidenum">
              <a:rPr lang="en-US" altLang="ko-KR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341795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39DBE7D5-AA2D-4B26-8C69-8B60D39FD5EE}" type="datetime1">
              <a:rPr lang="ko-KR" altLang="en-US" smtClean="0"/>
              <a:pPr/>
              <a:t>2026-03-31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5FB91549-43BF-425A-AF25-75262019208C}" type="slidenum">
              <a:rPr lang="en-US" altLang="ko-KR" smtClean="0"/>
              <a:pPr/>
              <a:t>‹#›</a:t>
            </a:fld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23928641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2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6114531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14182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C5718-97E2-4EE3-B2B0-5BF44FFD79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25BA55-8A37-BE29-1862-CCD6FD55EB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0069EB1-1FDA-6159-5278-6A2FF1B494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AA074A0-496E-A478-ECC5-5F154B30713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339797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0FC978-BC3A-8AA6-CC5E-EE64FB520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FA8F15C-0FFD-4B58-B5E4-E54BD78FED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FAFEF6B-3133-285F-0D2A-D02606B7AF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38ADA10-034C-5FD3-70FA-938527FD9B8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918712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265BF-EF79-CC36-C989-051C8DC7E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16F047-73FD-800B-F721-545CE080EC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413728-6C63-B747-2816-22F217765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8EC60E5-66BB-0D7D-7C4A-47B8F229DBD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113233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E1B4F-B913-2BE9-9359-92236640D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D04812E-3253-4341-DC46-78222B0B4D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6AE9E0F-6313-3502-1A05-E35F3B8F36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D54258E-45FA-3A7A-F9D1-024A700EB7C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6026343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7E54-28B2-8C19-528B-8C781240B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E4D7B0C-202C-6E21-08C8-5AB3D93398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888F541-3E50-4ACF-17EA-E0DC1F891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B0BA84-50CA-6F67-619A-3B549011D17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893270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545C30-FC2E-5949-B48E-275DB0B4B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3D7EBCA-E8FA-9264-0E05-68DB33B454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A35FA87-88FD-E3E4-A0AB-F6BEFB4918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4905E-17BC-CEEB-6F2D-8A5C7B33212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394870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61178-D3A3-BD01-999B-5CD0CBDA6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4B66A9-55C3-DC1E-3535-AD5D96B301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97FFF2B-2B71-B514-D49C-EF7B099DE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8E91CB-DE8C-2792-9462-33EFA4D63E6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539779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00921-2A98-58A1-77F4-D8659C0BA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48269F1-DD08-6BF5-8344-47DF8E22EB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496A4B6-DC7D-FF48-46FC-7358B9C815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61E27B-EE8E-0361-5AEB-07842FCFA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033469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2FD5E-B683-05F5-2A8F-95FE36980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F914573-C36D-346C-F5A7-A95CE5ED02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B6A3A6-E1B1-4542-BD9E-843AF4A378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63E6ECA-8F6F-B8DE-C544-C72743D3729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rtl="0"/>
            <a:fld id="{5FB91549-43BF-425A-AF25-75262019208C}" type="slidenum">
              <a:rPr lang="en-US" altLang="ko-KR" smtClean="0"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6762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유리 벽으로 된 건물로 둘러싸인 파란 하늘과 구름을 아래에서 올려다본 사진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73625" y="0"/>
            <a:ext cx="7315200" cy="6858001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3" y="685801"/>
            <a:ext cx="3962400" cy="4724399"/>
          </a:xfrm>
        </p:spPr>
        <p:txBody>
          <a:bodyPr rtlCol="0">
            <a:normAutofit/>
          </a:bodyPr>
          <a:lstStyle>
            <a:lvl1pPr>
              <a:defRPr sz="48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rtl="0"/>
            <a:r>
              <a:rPr lang="ko-KR" altLang="en-US" noProof="0"/>
              <a:t>클릭하여 마스터 부제목 스타일 편집</a:t>
            </a:r>
            <a:endParaRPr lang="ko-KR" altLang="en-US" noProof="0" dirty="0"/>
          </a:p>
        </p:txBody>
      </p:sp>
      <p:sp>
        <p:nvSpPr>
          <p:cNvPr id="8" name="날짜 개체 틀 7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B229CEB-779D-4AB3-81CB-8FCEEAE03F61}" type="datetime1">
              <a:rPr lang="ko-KR" altLang="en-US" smtClean="0"/>
              <a:t>2026-03-31</a:t>
            </a:fld>
            <a:endParaRPr lang="ko-KR" altLang="en-US" dirty="0"/>
          </a:p>
        </p:txBody>
      </p:sp>
      <p:sp>
        <p:nvSpPr>
          <p:cNvPr id="9" name="바닥글 개체 틀 8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10" name="슬라이드 번호 개체 틀 9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3483955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 rtl="0"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 rtlCol="0"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76306AB-75A0-421C-B431-0E4E30A5C28E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78625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3" y="2590800"/>
            <a:ext cx="8229599" cy="2819400"/>
          </a:xfrm>
        </p:spPr>
        <p:txBody>
          <a:bodyPr rtlCol="0" anchor="b">
            <a:normAutofit/>
          </a:bodyPr>
          <a:lstStyle>
            <a:lvl1pPr algn="l">
              <a:defRPr sz="4800" b="0" cap="none" baseline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606425" y="5410200"/>
            <a:ext cx="8231187" cy="762000"/>
          </a:xfrm>
        </p:spPr>
        <p:txBody>
          <a:bodyPr rtlCol="0" anchor="t">
            <a:normAutofit/>
          </a:bodyPr>
          <a:lstStyle>
            <a:lvl1pPr marL="0" indent="0" rtl="0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1D969EE-F1EB-462E-B70D-5B36B3806A4E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pPr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225113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내용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293813" y="685800"/>
            <a:ext cx="5029200" cy="4191000"/>
          </a:xfrm>
        </p:spPr>
        <p:txBody>
          <a:bodyPr rtlCol="0"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551614" y="685800"/>
            <a:ext cx="5029199" cy="4191000"/>
          </a:xfrm>
        </p:spPr>
        <p:txBody>
          <a:bodyPr rtlCol="0"/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CBB1B7-E0A1-46A3-B5B5-C69931095FF6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97013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664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1293664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551613" y="685800"/>
            <a:ext cx="5029200" cy="990600"/>
          </a:xfrm>
        </p:spPr>
        <p:txBody>
          <a:bodyPr rtlCol="0" anchor="ctr">
            <a:normAutofit/>
          </a:bodyPr>
          <a:lstStyle>
            <a:lvl1pPr marL="0" indent="0" rtl="0">
              <a:spcBef>
                <a:spcPts val="0"/>
              </a:spcBef>
              <a:buNone/>
              <a:defRPr sz="3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550025" y="1676400"/>
            <a:ext cx="5029200" cy="3200400"/>
          </a:xfrm>
        </p:spPr>
        <p:txBody>
          <a:bodyPr rtlCol="0"/>
          <a:lstStyle>
            <a:lvl1pPr rtl="0"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AFC0E65-06AB-44D7-AAEE-8F4C7ED84A0C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5130968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0189E66-D439-4767-B911-EB49CB20E313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1344281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비어 있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4E4FFC0-DB28-4291-80A0-63DBF8428320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19103118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875212" y="685800"/>
            <a:ext cx="6704171" cy="5486400"/>
          </a:xfrm>
        </p:spPr>
        <p:txBody>
          <a:bodyPr rtlCol="0">
            <a:normAutofit/>
          </a:bodyPr>
          <a:lstStyle>
            <a:lvl1pPr rtl="0"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 baseline="0"/>
            </a:lvl6pPr>
            <a:lvl7pPr>
              <a:defRPr sz="1800" baseline="0"/>
            </a:lvl7pPr>
            <a:lvl8pPr>
              <a:defRPr sz="1800" baseline="0"/>
            </a:lvl8pPr>
            <a:lvl9pPr>
              <a:defRPr sz="1800"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AB5804B-C38E-4214-93DF-3E6DA00134E8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234726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08014" y="685800"/>
            <a:ext cx="3962400" cy="4724400"/>
          </a:xfrm>
        </p:spPr>
        <p:txBody>
          <a:bodyPr rtlCol="0" anchor="b">
            <a:normAutofit/>
          </a:bodyPr>
          <a:lstStyle>
            <a:lvl1pPr algn="l">
              <a:defRPr sz="3600" b="0"/>
            </a:lvl1pPr>
          </a:lstStyle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그림 개체 틀 2" descr="이미지를 추가할 수 있는 빈 개체 틀입니다. 개체 틀을 클릭하고 추가할 이미지를 선택하세요."/>
          <p:cNvSpPr>
            <a:spLocks noGrp="1"/>
          </p:cNvSpPr>
          <p:nvPr>
            <p:ph type="pic" idx="1"/>
          </p:nvPr>
        </p:nvSpPr>
        <p:spPr>
          <a:xfrm>
            <a:off x="4875213" y="685800"/>
            <a:ext cx="6705600" cy="5486400"/>
          </a:xfrm>
          <a:ln w="63500">
            <a:solidFill>
              <a:schemeClr val="bg1"/>
            </a:solidFill>
            <a:miter lim="800000"/>
          </a:ln>
        </p:spPr>
        <p:txBody>
          <a:bodyPr rtlCol="0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ko-KR" altLang="en-US" noProof="0"/>
              <a:t>그림을 추가하려면 아이콘을 클릭하십시오</a:t>
            </a:r>
            <a:endParaRPr lang="en-US" altLang="ko-KR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608013" y="5410200"/>
            <a:ext cx="3962400" cy="762000"/>
          </a:xfrm>
        </p:spPr>
        <p:txBody>
          <a:bodyPr rtlCol="0">
            <a:normAutofit/>
          </a:bodyPr>
          <a:lstStyle>
            <a:lvl1pPr marL="0" indent="0" rtl="0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ABEE384-F18F-4153-AC21-608599869F84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3520414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 rtlCol="0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800"/>
              </a:spcBef>
              <a:spcAft>
                <a:spcPts val="0"/>
              </a:spcAft>
              <a:buClr>
                <a:schemeClr val="tx1"/>
              </a:buClr>
              <a:buSzPct val="80000"/>
              <a:buFont typeface="Arial" pitchFamily="34" charset="0"/>
              <a:buNone/>
              <a:tabLst/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C3B7A883-0BF0-4B4B-84D5-D747A0111A56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217629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10285412" y="685800"/>
            <a:ext cx="1295401" cy="5486400"/>
          </a:xfrm>
        </p:spPr>
        <p:txBody>
          <a:bodyPr vert="eaVert" rtlCol="0"/>
          <a:lstStyle/>
          <a:p>
            <a:pPr rtl="0"/>
            <a:r>
              <a:rPr lang="ko-KR" altLang="en-US" noProof="0"/>
              <a:t>마스터 제목 스타일 편집</a:t>
            </a:r>
            <a:endParaRPr lang="ko-KR" altLang="en-US" noProof="0" dirty="0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608012" y="685800"/>
            <a:ext cx="9474253" cy="5486400"/>
          </a:xfrm>
        </p:spPr>
        <p:txBody>
          <a:bodyPr vert="eaVert" rtlCol="0"/>
          <a:lstStyle>
            <a:lvl1pPr rtl="0">
              <a:defRPr/>
            </a:lvl1pPr>
            <a:lvl5pPr>
              <a:defRPr/>
            </a:lvl5pPr>
            <a:lvl6pPr>
              <a:defRPr/>
            </a:lvl6pPr>
            <a:lvl7pPr>
              <a:defRPr/>
            </a:lvl7pPr>
            <a:lvl8pPr>
              <a:defRPr baseline="0"/>
            </a:lvl8pPr>
            <a:lvl9pPr>
              <a:defRPr baseline="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noProof="0" dirty="0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3DA7EA29-F2BB-4FB1-BB4B-C55A7FA3FC5C}" type="datetime1">
              <a:rPr lang="ko-KR" altLang="en-US" noProof="0" smtClean="0"/>
              <a:t>2026-03-31</a:t>
            </a:fld>
            <a:endParaRPr lang="ko-KR" altLang="en-US" noProof="0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r>
              <a:rPr lang="ko-KR" altLang="en-US" noProof="0" dirty="0"/>
              <a:t>바닥글 추가</a:t>
            </a: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A3F31473-23EB-4724-8B59-FE6D21D89FA4}" type="slidenum">
              <a:rPr lang="en-US" altLang="ko-KR" noProof="0" smtClean="0"/>
              <a:t>‹#›</a:t>
            </a:fld>
            <a:endParaRPr lang="en-US" altLang="ko-KR" noProof="0" dirty="0"/>
          </a:p>
        </p:txBody>
      </p:sp>
    </p:spTree>
    <p:extLst>
      <p:ext uri="{BB962C8B-B14F-4D97-AF65-F5344CB8AC3E}">
        <p14:creationId xmlns:p14="http://schemas.microsoft.com/office/powerpoint/2010/main" val="3850052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8882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536" y="2367093"/>
            <a:ext cx="10361127" cy="3424107"/>
          </a:xfrm>
        </p:spPr>
        <p:txBody>
          <a:bodyPr/>
          <a:lstStyle>
            <a:lvl1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1pPr>
            <a:lvl2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2pPr>
            <a:lvl3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3pPr>
            <a:lvl4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4pPr>
            <a:lvl5pPr>
              <a:defRPr cap="none" baseline="0">
                <a:latin typeface="맑은 고딕 Semilight" panose="020B0502040204020203" pitchFamily="50" charset="-127"/>
                <a:ea typeface="맑은 고딕 Semilight" panose="020B0502040204020203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3ED9A29-9868-F004-D477-E1B0BB93303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6737" y="6259196"/>
            <a:ext cx="2742486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3/31/2026</a:t>
            </a:fld>
            <a:endParaRPr lang="en-US" dirty="0"/>
          </a:p>
        </p:txBody>
      </p:sp>
      <p:sp>
        <p:nvSpPr>
          <p:cNvPr id="8" name="Footer Placeholder 4">
            <a:extLst>
              <a:ext uri="{FF2B5EF4-FFF2-40B4-BE49-F238E27FC236}">
                <a16:creationId xmlns:a16="http://schemas.microsoft.com/office/drawing/2014/main" id="{F77D30F9-C5FD-9521-DA84-79FBF57E52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537" y="6259196"/>
            <a:ext cx="6671149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C6A01DD9-3974-9718-87F6-EB78F09A5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1273" y="6259196"/>
            <a:ext cx="764016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6581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609441" y="5105400"/>
            <a:ext cx="10971372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rtl="0"/>
            <a:r>
              <a:rPr lang="ko-KR" altLang="en-US" noProof="0" dirty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1293813" y="685800"/>
            <a:ext cx="10287000" cy="419099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609441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667A4C69-65FB-481C-AC2A-84D254D33675}" type="datetime1">
              <a:rPr lang="ko-KR" altLang="en-US" smtClean="0"/>
              <a:t>2026-03-31</a:t>
            </a:fld>
            <a:endParaRPr lang="ko-KR" altLang="en-US" dirty="0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164515" y="6356351"/>
            <a:ext cx="385979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r>
              <a:rPr lang="ko-KR" altLang="en-US"/>
              <a:t>바닥글 추가</a:t>
            </a:r>
            <a:endParaRPr lang="ko-KR" altLang="en-US" dirty="0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735325" y="6356351"/>
            <a:ext cx="284405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2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A3F31473-23EB-4724-8B59-FE6D21D89FA4}" type="slidenum">
              <a:rPr lang="en-US" altLang="ko-KR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9289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hdr="0" ftr="0" dt="0"/>
  <p:txStyles>
    <p:titleStyle>
      <a:lvl1pPr algn="l" defTabSz="914400" rtl="0" eaLnBrk="1" latinLnBrk="1" hangingPunct="1">
        <a:lnSpc>
          <a:spcPct val="80000"/>
        </a:lnSpc>
        <a:spcBef>
          <a:spcPct val="0"/>
        </a:spcBef>
        <a:buNone/>
        <a:defRPr sz="3600" kern="1200">
          <a:solidFill>
            <a:schemeClr val="accent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800"/>
        </a:spcBef>
        <a:buClr>
          <a:schemeClr val="tx1"/>
        </a:buClr>
        <a:buSzPct val="80000"/>
        <a:buFont typeface="Arial" pitchFamily="34" charset="0"/>
        <a:buChar char="•"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615950" indent="-28575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Corbel" pitchFamily="34" charset="0"/>
        <a:buChar char="–"/>
        <a:defRPr sz="24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996696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20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380744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764792" indent="-228600" algn="l" defTabSz="914400" rtl="0" eaLnBrk="1" latinLnBrk="1" hangingPunct="1">
        <a:lnSpc>
          <a:spcPct val="90000"/>
        </a:lnSpc>
        <a:spcBef>
          <a:spcPts val="600"/>
        </a:spcBef>
        <a:buClr>
          <a:schemeClr val="tx1"/>
        </a:buClr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148840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2532888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916936" indent="-283464" algn="l" defTabSz="914400" rtl="0" eaLnBrk="1" latinLnBrk="1" hangingPunct="1">
        <a:lnSpc>
          <a:spcPct val="90000"/>
        </a:lnSpc>
        <a:spcBef>
          <a:spcPts val="600"/>
        </a:spcBef>
        <a:buFont typeface="Corbel" pitchFamily="34" charset="0"/>
        <a:buChar char="–"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3300984" indent="-228600" algn="l" defTabSz="914400" rtl="0" eaLnBrk="1" latinLnBrk="1" hangingPunct="1">
        <a:lnSpc>
          <a:spcPct val="90000"/>
        </a:lnSpc>
        <a:spcBef>
          <a:spcPts val="600"/>
        </a:spcBef>
        <a:buSzPct val="80000"/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39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Velocity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Cell_division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hyperlink" Target="https://en.wikipedia.org/wiki/Compound_interest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ko.wikipedia.org/wiki/%EB%AA%AC%ED%8B%B0_%ED%99%80_%EB%AC%B8%EC%A0%9C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plus.maths.org/mathematical-dating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08012" y="685801"/>
            <a:ext cx="4550295" cy="3607295"/>
          </a:xfrm>
        </p:spPr>
        <p:txBody>
          <a:bodyPr rtlCol="0">
            <a:normAutofit/>
          </a:bodyPr>
          <a:lstStyle/>
          <a:p>
            <a:pPr rtl="0"/>
            <a:r>
              <a:rPr lang="en-US" altLang="ko-KR" b="1" dirty="0"/>
              <a:t>Modeling </a:t>
            </a:r>
            <a:br>
              <a:rPr lang="en-US" altLang="ko-KR" b="1" dirty="0"/>
            </a:br>
            <a:r>
              <a:rPr lang="en-US" altLang="ko-KR" b="1" dirty="0"/>
              <a:t>&amp;</a:t>
            </a:r>
            <a:br>
              <a:rPr lang="en-US" altLang="ko-KR" b="1" dirty="0"/>
            </a:br>
            <a:r>
              <a:rPr lang="en-US" altLang="ko-KR" b="1" dirty="0"/>
              <a:t>Simulation</a:t>
            </a:r>
            <a:br>
              <a:rPr lang="en-US" altLang="ko-KR" b="1" dirty="0"/>
            </a:br>
            <a:br>
              <a:rPr lang="en-US" altLang="ko-KR" dirty="0"/>
            </a:br>
            <a:r>
              <a:rPr lang="en-US" altLang="ko-KR" sz="2400" b="1" dirty="0"/>
              <a:t>- </a:t>
            </a:r>
            <a:r>
              <a:rPr lang="ko-KR" altLang="en-US" sz="2400" b="1" dirty="0" err="1"/>
              <a:t>머신러닝을</a:t>
            </a:r>
            <a:r>
              <a:rPr lang="ko-KR" altLang="en-US" sz="2400" b="1" dirty="0"/>
              <a:t> 위한 </a:t>
            </a:r>
            <a:r>
              <a:rPr lang="en-US" altLang="ko-KR" sz="2400" b="1" dirty="0"/>
              <a:t>-</a:t>
            </a:r>
            <a:r>
              <a:rPr lang="en-US" altLang="ko-KR" sz="3200" b="1" dirty="0"/>
              <a:t> </a:t>
            </a:r>
            <a:br>
              <a:rPr lang="en-US" altLang="ko-KR" dirty="0"/>
            </a:br>
            <a:endParaRPr lang="ko-KR" altLang="en-US" sz="2400" dirty="0"/>
          </a:p>
        </p:txBody>
      </p:sp>
      <p:sp>
        <p:nvSpPr>
          <p:cNvPr id="3" name="부제 2"/>
          <p:cNvSpPr>
            <a:spLocks noGrp="1"/>
          </p:cNvSpPr>
          <p:nvPr>
            <p:ph type="subTitle" idx="1"/>
          </p:nvPr>
        </p:nvSpPr>
        <p:spPr>
          <a:xfrm>
            <a:off x="589537" y="4293096"/>
            <a:ext cx="3962400" cy="2016224"/>
          </a:xfrm>
        </p:spPr>
        <p:txBody>
          <a:bodyPr rtlCol="0">
            <a:normAutofit/>
          </a:bodyPr>
          <a:lstStyle/>
          <a:p>
            <a:pPr>
              <a:lnSpc>
                <a:spcPct val="120000"/>
              </a:lnSpc>
            </a:pPr>
            <a:br>
              <a:rPr lang="en-US" altLang="ko-KR" dirty="0"/>
            </a:br>
            <a:r>
              <a:rPr lang="en-US" altLang="ko-KR" dirty="0"/>
              <a:t>2026_Spring</a:t>
            </a:r>
          </a:p>
          <a:p>
            <a:pPr>
              <a:lnSpc>
                <a:spcPct val="120000"/>
              </a:lnSpc>
            </a:pPr>
            <a:endParaRPr lang="en-US" altLang="ko-KR" dirty="0"/>
          </a:p>
          <a:p>
            <a:pPr rtl="0">
              <a:lnSpc>
                <a:spcPct val="120000"/>
              </a:lnSpc>
            </a:pPr>
            <a:r>
              <a:rPr lang="ko-KR" altLang="en-US" dirty="0" err="1"/>
              <a:t>조상구</a:t>
            </a:r>
            <a:endParaRPr lang="ko-KR" altLang="en-US" dirty="0"/>
          </a:p>
        </p:txBody>
      </p:sp>
      <p:pic>
        <p:nvPicPr>
          <p:cNvPr id="4" name="Picture 4" descr="깊은 생각에 잠긴 남자의 청동 조각상">
            <a:extLst>
              <a:ext uri="{FF2B5EF4-FFF2-40B4-BE49-F238E27FC236}">
                <a16:creationId xmlns:a16="http://schemas.microsoft.com/office/drawing/2014/main" id="{A0238B7E-7B42-DB8C-B129-8BF4F93752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870276" y="3014307"/>
            <a:ext cx="2566021" cy="38436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4080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B9DDB5-17A6-3B86-C607-0CFC0AF117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9A3EEBE5-E1C5-77F8-1CD6-4688155CE328}"/>
              </a:ext>
            </a:extLst>
          </p:cNvPr>
          <p:cNvSpPr/>
          <p:nvPr/>
        </p:nvSpPr>
        <p:spPr>
          <a:xfrm>
            <a:off x="1125860" y="1505451"/>
            <a:ext cx="4749534" cy="58462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799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47E737-0202-3854-C868-F01FAACAADC1}"/>
              </a:ext>
            </a:extLst>
          </p:cNvPr>
          <p:cNvSpPr txBox="1"/>
          <p:nvPr/>
        </p:nvSpPr>
        <p:spPr>
          <a:xfrm>
            <a:off x="1335880" y="1428986"/>
            <a:ext cx="6486724" cy="2775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Modeling</a:t>
            </a:r>
          </a:p>
          <a:p>
            <a:pPr marL="971396" lvl="1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derivative function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Montecarlo Simulation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Linear Programing</a:t>
            </a:r>
          </a:p>
          <a:p>
            <a:pPr marL="514196" indent="-514196">
              <a:lnSpc>
                <a:spcPct val="150000"/>
              </a:lnSpc>
              <a:buAutoNum type="arabicPeriod"/>
            </a:pPr>
            <a:r>
              <a:rPr lang="en-US" altLang="ko-KR" sz="2400" dirty="0">
                <a:latin typeface="MS PGothic" panose="020B0600070205080204" pitchFamily="34" charset="-128"/>
                <a:ea typeface="MS PGothic" panose="020B0600070205080204" pitchFamily="34" charset="-128"/>
                <a:cs typeface="Times New Roman" panose="02020603050405020304" pitchFamily="18" charset="0"/>
              </a:rPr>
              <a:t>Genetic algorithm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5EC34A9-4B72-FF34-06FC-E57171E6DB12}"/>
              </a:ext>
            </a:extLst>
          </p:cNvPr>
          <p:cNvSpPr txBox="1"/>
          <p:nvPr/>
        </p:nvSpPr>
        <p:spPr>
          <a:xfrm>
            <a:off x="1335881" y="710573"/>
            <a:ext cx="2603977" cy="5846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3199" b="1" dirty="0"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목차</a:t>
            </a:r>
            <a:endParaRPr lang="ko-KR" altLang="en-US" sz="3199" dirty="0"/>
          </a:p>
        </p:txBody>
      </p:sp>
    </p:spTree>
    <p:extLst>
      <p:ext uri="{BB962C8B-B14F-4D97-AF65-F5344CB8AC3E}">
        <p14:creationId xmlns:p14="http://schemas.microsoft.com/office/powerpoint/2010/main" val="3346699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4F3DEC-5F02-17A9-3594-5B9D17DE3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A1413A-DC81-AD18-5C2D-6BF086089C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1273" y="6035582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8" name="제목 1">
            <a:extLst>
              <a:ext uri="{FF2B5EF4-FFF2-40B4-BE49-F238E27FC236}">
                <a16:creationId xmlns:a16="http://schemas.microsoft.com/office/drawing/2014/main" id="{E9B157DA-C9A3-9224-8EA5-15C2E9891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Modeling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" name="내용 개체 틀 2">
            <a:extLst>
              <a:ext uri="{FF2B5EF4-FFF2-40B4-BE49-F238E27FC236}">
                <a16:creationId xmlns:a16="http://schemas.microsoft.com/office/drawing/2014/main" id="{BDC7E784-6620-0FB7-979E-D2BFBA8869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76639" y="1321459"/>
            <a:ext cx="10158333" cy="3582822"/>
          </a:xfrm>
        </p:spPr>
        <p:txBody>
          <a:bodyPr>
            <a:normAutofit fontScale="70000" lnSpcReduction="20000"/>
          </a:bodyPr>
          <a:lstStyle/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복잡한 현실 세계의 현상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시스템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사물 등을 일정한 규칙이나 관점에 따라 </a:t>
            </a: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추상화하여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단순한 형태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 표현하는 과정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추상화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단순화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미래에 대한 결과를 논리적으로 추정하는 행위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통계적 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머신러닝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시뮬레이션 및 테스트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 모델링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데이터베이스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모델링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(ERD)……</a:t>
            </a:r>
          </a:p>
        </p:txBody>
      </p:sp>
      <p:pic>
        <p:nvPicPr>
          <p:cNvPr id="12" name="Picture 2">
            <a:extLst>
              <a:ext uri="{FF2B5EF4-FFF2-40B4-BE49-F238E27FC236}">
                <a16:creationId xmlns:a16="http://schemas.microsoft.com/office/drawing/2014/main" id="{BF5A445B-3694-E092-8071-FF439CABD3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14492" y="2636912"/>
            <a:ext cx="4608512" cy="30231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54308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81398CD2-47AC-F5C1-E48C-7BEE837D61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Velocity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A4BF8824-1D8A-37E0-8B47-F3F99409C2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618326"/>
            <a:ext cx="9890853" cy="1548292"/>
          </a:xfrm>
        </p:spPr>
        <p:txBody>
          <a:bodyPr>
            <a:normAutofit/>
          </a:bodyPr>
          <a:lstStyle/>
          <a:p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(Velocity)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란 무엇인가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?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시간</a:t>
            </a:r>
            <a:r>
              <a:rPr lang="en-US" altLang="ko-KR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거리</a:t>
            </a:r>
            <a:endParaRPr lang="en-US" altLang="ko-KR" sz="2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r>
              <a:rPr lang="ko-KR" altLang="en-US" sz="2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속도를 수식으로 표현하라</a:t>
            </a:r>
            <a:endParaRPr lang="en-US" altLang="ko-KR" sz="24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82C0574C-878E-CD5F-915D-6E73721368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AutoShape 2" descr="{\displaystyle {\boldsymbol {v}}=\lim _{{\Delta t}\to 0}{\frac {\Delta {\boldsymbol {s}}}{\Delta t}}={\frac {d{\boldsymbol {s}}}{dt}}.}">
            <a:extLst>
              <a:ext uri="{FF2B5EF4-FFF2-40B4-BE49-F238E27FC236}">
                <a16:creationId xmlns:a16="http://schemas.microsoft.com/office/drawing/2014/main" id="{090EF87D-2E28-82B5-D1C2-77DFA43A05A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2013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55449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B13E92-EBAC-11A0-A5AB-D6F564136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A5E02309-97FC-1F8F-07BF-34E2DD2F3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cell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Cell_division</a:t>
            </a:r>
            <a:r>
              <a:rPr lang="en-US" altLang="ko-KR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9ADB0003-573E-3589-FE60-79D4624B67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618326"/>
            <a:ext cx="9890853" cy="1548292"/>
          </a:xfrm>
        </p:spPr>
        <p:txBody>
          <a:bodyPr>
            <a:normAutofit/>
          </a:bodyPr>
          <a:lstStyle/>
          <a:p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세포분열</a:t>
            </a:r>
            <a:endParaRPr lang="en-US" altLang="ko-KR" sz="2400" cap="none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E10BD142-A3EF-DA25-B44C-294E5AE65E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>
            <a:extLst>
              <a:ext uri="{FF2B5EF4-FFF2-40B4-BE49-F238E27FC236}">
                <a16:creationId xmlns:a16="http://schemas.microsoft.com/office/drawing/2014/main" id="{60865B2A-4BD6-4208-7874-D54A975096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78588" y="1777472"/>
            <a:ext cx="4376887" cy="44166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4436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6C7F7-04AB-8B81-7F53-BF986F2A88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제목 1">
            <a:extLst>
              <a:ext uri="{FF2B5EF4-FFF2-40B4-BE49-F238E27FC236}">
                <a16:creationId xmlns:a16="http://schemas.microsoft.com/office/drawing/2014/main" id="{9DF299F6-063E-A5FA-8179-AB466B3B8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/>
          <a:lstStyle/>
          <a:p>
            <a:pPr algn="l"/>
            <a:r>
              <a:rPr lang="en-US" altLang="ko-KR" cap="none" dirty="0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Hands-on </a:t>
            </a:r>
            <a:r>
              <a:rPr lang="en-US" altLang="ko-KR" dirty="0" err="1"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Compound_interest</a:t>
            </a:r>
            <a:endParaRPr lang="ko-KR" altLang="en-US" dirty="0"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10" name="내용 개체 틀 2">
            <a:extLst>
              <a:ext uri="{FF2B5EF4-FFF2-40B4-BE49-F238E27FC236}">
                <a16:creationId xmlns:a16="http://schemas.microsoft.com/office/drawing/2014/main" id="{E021F27D-1221-FB58-BDEC-9B34A7E03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618326"/>
            <a:ext cx="9890853" cy="1548292"/>
          </a:xfrm>
        </p:spPr>
        <p:txBody>
          <a:bodyPr>
            <a:normAutofit/>
          </a:bodyPr>
          <a:lstStyle/>
          <a:p>
            <a:r>
              <a:rPr lang="ko-KR" altLang="en-US" sz="2400" cap="none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복리이자 예금</a:t>
            </a:r>
          </a:p>
        </p:txBody>
      </p:sp>
      <p:pic>
        <p:nvPicPr>
          <p:cNvPr id="11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A8BE8AD7-5D82-6818-5BA2-2A45FB07A8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7901" y="66675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939852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슬라이드 번호 개체 틀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7</a:t>
            </a:fld>
            <a:endParaRPr lang="en-US" altLang="ko-KR" noProof="0" dirty="0"/>
          </a:p>
        </p:txBody>
      </p:sp>
      <p:sp>
        <p:nvSpPr>
          <p:cNvPr id="2" name="직사각형 1"/>
          <p:cNvSpPr/>
          <p:nvPr/>
        </p:nvSpPr>
        <p:spPr>
          <a:xfrm>
            <a:off x="765820" y="764704"/>
            <a:ext cx="373211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2800" b="1" dirty="0">
                <a:solidFill>
                  <a:srgbClr val="313131"/>
                </a:solidFill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Montecarlo Simulation</a:t>
            </a:r>
            <a:endParaRPr lang="ko-KR" altLang="en-US" sz="2800" b="1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3810ABA-12DE-BC96-E33E-8F12E2CBC316}"/>
              </a:ext>
            </a:extLst>
          </p:cNvPr>
          <p:cNvSpPr txBox="1"/>
          <p:nvPr/>
        </p:nvSpPr>
        <p:spPr>
          <a:xfrm>
            <a:off x="1125860" y="1484783"/>
            <a:ext cx="10873208" cy="51111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불확실한 결과를 예측하기 위해 반복적인 무작위 추출을 사용하는 통계적 기법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이름은 도박으로 유명한 모나코의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'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카지노에서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결과가 확률에 의존하는 도박처럼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수학적으로 계산하기 너무 복잡한 문제들을 수만 번의 가상 실험을 통해 그 근삿값을 찾아내는 방식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몬테카를로의</a:t>
            </a: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작동 원리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변수 정의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결과에 영향을 주는 불확실한 요소들을 정의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확률 분포 할당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각 변수가 가질 수 있는 값의 범위와 확률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정규분포 등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설정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반복 실험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컴퓨터를 이용해 무작위 값을 입력하며 수천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수만 번의 시뮬레이션을 실행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결과 분석</a:t>
            </a:r>
            <a:r>
              <a:rPr lang="en-US" altLang="ko-KR" sz="20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도출된 수많은 결과값의 평균이나 분포를 통해 최종 결과를 예측</a:t>
            </a:r>
            <a:endParaRPr lang="en-US" altLang="ko-KR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26723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8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5820" y="1196752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원주율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원의 면접 구하기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3368973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3A03C4-9F32-8658-57A1-8179E087BD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B10A560-CAC8-7DA2-E171-6514006BFA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9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1CC16D-7C9C-2F71-E9C9-02A41D849637}"/>
              </a:ext>
            </a:extLst>
          </p:cNvPr>
          <p:cNvSpPr txBox="1"/>
          <p:nvPr/>
        </p:nvSpPr>
        <p:spPr>
          <a:xfrm>
            <a:off x="765820" y="1196752"/>
            <a:ext cx="11233248" cy="97084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표본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개에서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재표본추출을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복원추출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(replace=True)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방식으로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개를 무한히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재표본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추출하여 평균과 분산에 대해 토론하라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419691D-5BF7-99F5-D054-700096553189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53D10DE-54F1-5E83-B617-EB567D2F7B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33972" y="2533040"/>
            <a:ext cx="8566741" cy="4074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41623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7C9014-F20D-7B7E-82F4-291B35DDF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7CDD9F21-3F8F-61DF-D1E4-E7AEA20F5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10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5A16EB-E2DE-F31D-3EA0-A223294CA89B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시간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거리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속도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가속도에 대한 시뮬레이션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미적분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AD34784-A486-0A01-E7A2-FD0B1406CD2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9909751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32D5AF-0F51-91DE-64BD-5E17CEF9A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D1B51CDD-C849-F07D-D7BE-8E0C6C436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11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24D8FB-4BA4-B532-2690-FF91AAEE20BE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Monty Hall Problem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문이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10,000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라면</a:t>
            </a:r>
            <a:r>
              <a:rPr lang="en-US" altLang="ko-KR" sz="200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CE8694-F9D5-0985-6634-DA4CC7CB87C6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FCC670-9D52-97E0-301E-31793E3808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42084" y="2492896"/>
            <a:ext cx="5334969" cy="29662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460322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EF696F-724F-26BD-9C71-E5EC70710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B6626646-BEA0-FB3A-7822-5F9972BD64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12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56C07-5D3C-22AC-8A59-702C8C03FA3F}"/>
              </a:ext>
            </a:extLst>
          </p:cNvPr>
          <p:cNvSpPr txBox="1"/>
          <p:nvPr/>
        </p:nvSpPr>
        <p:spPr>
          <a:xfrm>
            <a:off x="765820" y="1196752"/>
            <a:ext cx="11233248" cy="2531783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앞으로 인생에서 총 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N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명의 잠재적 파트너를 만날 수 있다고 가정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당신의 목표는 그중 가장 뛰어난 사람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(X)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과 매칭되는 것이며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단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아래의 조건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한 번 거절한 사람에게는 다시 돌아갈 수 없음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만나는 순서는 무작위이며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당신은 상대를 만날 때마다 점수를 매길 수 있음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가장 좋은 사람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(X)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을 선택할 확률을 최대화하려면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몇 번째 사람을 선책해야 하나요</a:t>
            </a: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?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mathematical-dating</a:t>
            </a:r>
            <a:endParaRPr lang="en-US" altLang="ko-KR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BE9C9-E7C6-D55A-BC46-CD975C33457A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E0093E0-2B37-39B8-6DB9-925B18522DF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0486" y="4204126"/>
            <a:ext cx="3334215" cy="16766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778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1C777C-D922-8895-688C-C5D8CB36E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EB2C61B-EEC0-7491-DD5B-4008A55D9F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13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6F664B-D509-3189-2815-157CC6374EF1}"/>
              </a:ext>
            </a:extLst>
          </p:cNvPr>
          <p:cNvSpPr txBox="1"/>
          <p:nvPr/>
        </p:nvSpPr>
        <p:spPr>
          <a:xfrm>
            <a:off x="765820" y="1196752"/>
            <a:ext cx="11233248" cy="235583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한 학급에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ko-KR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=100)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있는 반을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상상해 보세요.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선생님이 무작위로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명을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뽑고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선물을 주고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다시 전체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명에서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명을 뽑습니다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. </a:t>
            </a:r>
            <a:r>
              <a:rPr lang="ko-KR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이 짓을 똑같이 100번 반복해서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선물을 주게 될 경우 내가 선물을 못박을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반복했는데 내가 못 받을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300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번을 반복했는데 내가 못 받을 확률은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89527C-5F15-5354-51AE-303E2EF56CBE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11277058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863252-33CE-8BCC-AD7B-FF64CEC041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92BE835A-B5F4-F995-40C3-C7E940E405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14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B91CA6F-D833-6140-6621-352A7531D611}"/>
              </a:ext>
            </a:extLst>
          </p:cNvPr>
          <p:cNvSpPr txBox="1"/>
          <p:nvPr/>
        </p:nvSpPr>
        <p:spPr>
          <a:xfrm>
            <a:off x="765820" y="1196752"/>
            <a:ext cx="11233248" cy="509178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평생 미팅하는 상대방이 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N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명이라면 몇 번째 만난 사람과 결혼을 해야 최적의 선택인가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?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A0FD1C-8CA9-3906-1CAB-19D923D4C28D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</p:spTree>
    <p:extLst>
      <p:ext uri="{BB962C8B-B14F-4D97-AF65-F5344CB8AC3E}">
        <p14:creationId xmlns:p14="http://schemas.microsoft.com/office/powerpoint/2010/main" val="247913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F35E0-A8BA-9E25-DCE5-002AF8EF7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CA6F4F7E-6F61-4FB4-D872-D19D234DD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15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FFED543-95FD-70FD-6206-68419637947A}"/>
              </a:ext>
            </a:extLst>
          </p:cNvPr>
          <p:cNvSpPr txBox="1"/>
          <p:nvPr/>
        </p:nvSpPr>
        <p:spPr>
          <a:xfrm>
            <a:off x="765820" y="1196752"/>
            <a:ext cx="11233248" cy="882999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모집단의 회귀식의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gradient(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기울기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2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인 데이터를 생성하고 표본크기를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5, 30, 100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으로 각각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1000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 표본의 기울기와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MSE(Mean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Squared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Error)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의 평균과 분산을 </a:t>
            </a:r>
            <a:r>
              <a:rPr lang="ko-KR" altLang="en-US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시각화하라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30D0FE0-2695-7F37-8905-B8DE24E7A394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6A96551-6CD7-9DE7-087B-11A115B1C2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772" y="3162993"/>
            <a:ext cx="3721378" cy="28997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2D6731E-3482-342B-4CF9-362C40D676CA}"/>
              </a:ext>
            </a:extLst>
          </p:cNvPr>
          <p:cNvSpPr txBox="1"/>
          <p:nvPr/>
        </p:nvSpPr>
        <p:spPr>
          <a:xfrm>
            <a:off x="261764" y="2422823"/>
            <a:ext cx="3721378" cy="7181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X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(10000, 1)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true_w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= 2.0</a:t>
            </a:r>
          </a:p>
          <a:p>
            <a:pPr>
              <a:lnSpc>
                <a:spcPts val="1575"/>
              </a:lnSpc>
              <a:buNone/>
            </a:pP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y =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true_w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 * X + </a:t>
            </a:r>
            <a:r>
              <a:rPr lang="en-US" altLang="ko-KR" sz="1400" b="0" dirty="0" err="1">
                <a:effectLst/>
                <a:latin typeface="Arial Narrow" panose="020B0606020202030204" pitchFamily="34" charset="0"/>
              </a:rPr>
              <a:t>np.random.randn</a:t>
            </a:r>
            <a:r>
              <a:rPr lang="en-US" altLang="ko-KR" sz="1400" b="0" dirty="0">
                <a:effectLst/>
                <a:latin typeface="Arial Narrow" panose="020B0606020202030204" pitchFamily="34" charset="0"/>
              </a:rPr>
              <a:t>(10000, 1) * 0.5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604A6947-78A3-C7CA-2B50-5D00DD4F3D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7995" y="2469173"/>
            <a:ext cx="5832647" cy="19196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0AC33CC4-6C35-C6FD-C03A-DFEEFB9013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02324" y="4701421"/>
            <a:ext cx="5832647" cy="19196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608828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016E6-4DF5-97F6-9486-23E46F5C4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9D4B50-D754-79A0-CD51-823002DF3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16</a:t>
            </a:fld>
            <a:endParaRPr lang="en-US" altLang="ko-K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843735A-526C-E0D0-66F8-62A3BD4EC82F}"/>
              </a:ext>
            </a:extLst>
          </p:cNvPr>
          <p:cNvSpPr txBox="1"/>
          <p:nvPr/>
        </p:nvSpPr>
        <p:spPr>
          <a:xfrm>
            <a:off x="693812" y="2276872"/>
            <a:ext cx="11233248" cy="3606821"/>
          </a:xfrm>
          <a:prstGeom prst="rect">
            <a:avLst/>
          </a:prstGeom>
          <a:solidFill>
            <a:schemeClr val="tx1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모델 학습의 안정성 확보”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MSE , Cross-Entropy, Log-loss 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학습이 가능한 이유”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Mini-batch =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작은 샘플 평균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CLT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없이는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mini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batch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도 없음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교차검증을 통한 모델의 평가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accuracy/loss,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교차검증 평균 등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적용으로 이  평균들은 → 정규분포 근사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 신뢰구간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→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통계적 비교 가능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A/B 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테스트와 실험 설계의 핵심</a:t>
            </a:r>
            <a:endParaRPr lang="en-US" altLang="ko-KR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광고 효과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추천 알고리즘 비교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UI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개선 효과 측정  등 전부 평균 비교 문제로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CLT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덕분에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두 평균 차이 → 정규분포 근사 → </a:t>
            </a:r>
            <a:r>
              <a:rPr lang="en-US" altLang="ko-KR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p-value </a:t>
            </a:r>
            <a:r>
              <a:rPr lang="ko-KR" altLang="en-US" sz="16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계산 가능</a:t>
            </a:r>
            <a:r>
              <a:rPr lang="ko-KR" altLang="en-US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5A9784-515E-A3E4-8F67-F24BA80B28DC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039815-B66C-C01C-F725-1707E5711FCB}"/>
              </a:ext>
            </a:extLst>
          </p:cNvPr>
          <p:cNvSpPr txBox="1"/>
          <p:nvPr/>
        </p:nvSpPr>
        <p:spPr>
          <a:xfrm>
            <a:off x="549796" y="858989"/>
            <a:ext cx="11377264" cy="9708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중심극한정리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(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데이터는 불규칙하지만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, 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평균은 예측 가능하다 → 그래서 학습이 가능하다</a:t>
            </a:r>
            <a:r>
              <a:rPr lang="en-US" altLang="ko-KR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)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가 </a:t>
            </a:r>
            <a:r>
              <a:rPr lang="ko-KR" altLang="en-US" sz="2000" dirty="0" err="1">
                <a:latin typeface="휴먼모음T" panose="02030504000101010101" pitchFamily="18" charset="-127"/>
                <a:ea typeface="휴먼모음T" panose="02030504000101010101" pitchFamily="18" charset="-127"/>
              </a:rPr>
              <a:t>머신러닝에</a:t>
            </a:r>
            <a:r>
              <a:rPr lang="ko-KR" altLang="en-US" sz="2000" dirty="0">
                <a:latin typeface="휴먼모음T" panose="02030504000101010101" pitchFamily="18" charset="-127"/>
                <a:ea typeface="휴먼모음T" panose="02030504000101010101" pitchFamily="18" charset="-127"/>
              </a:rPr>
              <a:t> 접목하는 내용을 모의실험으로 파이썬 코드로 제시하라</a:t>
            </a:r>
            <a:endParaRPr lang="en-US" altLang="ko-KR" sz="2000" dirty="0">
              <a:latin typeface="휴먼모음T" panose="02030504000101010101" pitchFamily="18" charset="-127"/>
              <a:ea typeface="휴먼모음T" panose="0203050400010101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596462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BFE75F-6515-E02E-0A0F-4F2429757F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21E95A9-2DB2-F8F6-CA7C-3363C9348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A3F31473-23EB-4724-8B59-FE6D21D89FA4}" type="slidenum">
              <a:rPr lang="en-US" altLang="ko-KR" noProof="0" smtClean="0"/>
              <a:t>17</a:t>
            </a:fld>
            <a:endParaRPr lang="en-US" altLang="ko-KR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B4EAF7-599C-1643-17BE-529CB7DB3BDF}"/>
              </a:ext>
            </a:extLst>
          </p:cNvPr>
          <p:cNvSpPr txBox="1"/>
          <p:nvPr/>
        </p:nvSpPr>
        <p:spPr>
          <a:xfrm>
            <a:off x="117748" y="260648"/>
            <a:ext cx="25922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200" b="1"/>
              <a:t>문제 풀이</a:t>
            </a: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FC8FE015-7FE6-7957-1A9B-65A97D8020B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1614442"/>
              </p:ext>
            </p:extLst>
          </p:nvPr>
        </p:nvGraphicFramePr>
        <p:xfrm>
          <a:off x="333772" y="1916832"/>
          <a:ext cx="11449273" cy="3312368"/>
        </p:xfrm>
        <a:graphic>
          <a:graphicData uri="http://schemas.openxmlformats.org/drawingml/2006/table">
            <a:tbl>
              <a:tblPr>
                <a:tableStyleId>{BDBED569-4797-4DF1-A0F4-6AAB3CD982D8}</a:tableStyleId>
              </a:tblPr>
              <a:tblGrid>
                <a:gridCol w="2278453">
                  <a:extLst>
                    <a:ext uri="{9D8B030D-6E8A-4147-A177-3AD203B41FA5}">
                      <a16:colId xmlns:a16="http://schemas.microsoft.com/office/drawing/2014/main" val="2839673302"/>
                    </a:ext>
                  </a:extLst>
                </a:gridCol>
                <a:gridCol w="3045465">
                  <a:extLst>
                    <a:ext uri="{9D8B030D-6E8A-4147-A177-3AD203B41FA5}">
                      <a16:colId xmlns:a16="http://schemas.microsoft.com/office/drawing/2014/main" val="3265452535"/>
                    </a:ext>
                  </a:extLst>
                </a:gridCol>
                <a:gridCol w="3263037">
                  <a:extLst>
                    <a:ext uri="{9D8B030D-6E8A-4147-A177-3AD203B41FA5}">
                      <a16:colId xmlns:a16="http://schemas.microsoft.com/office/drawing/2014/main" val="3151376771"/>
                    </a:ext>
                  </a:extLst>
                </a:gridCol>
                <a:gridCol w="2862318">
                  <a:extLst>
                    <a:ext uri="{9D8B030D-6E8A-4147-A177-3AD203B41FA5}">
                      <a16:colId xmlns:a16="http://schemas.microsoft.com/office/drawing/2014/main" val="2539893238"/>
                    </a:ext>
                  </a:extLst>
                </a:gridCol>
              </a:tblGrid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구분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문제 상황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CLT(</a:t>
                      </a:r>
                      <a:r>
                        <a:rPr lang="ko-KR" altLang="en-US" sz="1600" dirty="0"/>
                        <a:t>중심극한정리</a:t>
                      </a:r>
                      <a:r>
                        <a:rPr lang="en-US" altLang="ko-KR" sz="1600" dirty="0"/>
                        <a:t>)</a:t>
                      </a:r>
                      <a:r>
                        <a:rPr lang="en-US" sz="1600" dirty="0"/>
                        <a:t> </a:t>
                      </a:r>
                      <a:r>
                        <a:rPr lang="ko-KR" altLang="en-US" sz="1600" dirty="0"/>
                        <a:t>역할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결과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69735647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1. </a:t>
                      </a:r>
                      <a:r>
                        <a:rPr lang="ko-KR" altLang="en-US" sz="1600" dirty="0"/>
                        <a:t>데이터 분석 기반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분포 모름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이상치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비정규성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통계적 추론 가능 </a:t>
                      </a:r>
                      <a:endParaRPr lang="en-US" altLang="ko-KR" sz="1600" dirty="0"/>
                    </a:p>
                    <a:p>
                      <a:pPr>
                        <a:buNone/>
                      </a:pPr>
                      <a:r>
                        <a:rPr lang="en-US" altLang="ko-KR" sz="1600" dirty="0"/>
                        <a:t>(</a:t>
                      </a:r>
                      <a:r>
                        <a:rPr lang="ko-KR" altLang="en-US" sz="1600" dirty="0"/>
                        <a:t>확률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신뢰구간</a:t>
                      </a:r>
                      <a:r>
                        <a:rPr lang="en-US" altLang="ko-KR" sz="1600" dirty="0"/>
                        <a:t>, </a:t>
                      </a:r>
                      <a:r>
                        <a:rPr lang="ko-KR" altLang="en-US" sz="1600" dirty="0"/>
                        <a:t>검정</a:t>
                      </a:r>
                      <a:r>
                        <a:rPr lang="en-US" altLang="ko-KR" sz="1600" dirty="0"/>
                        <a:t>)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2940290"/>
                  </a:ext>
                </a:extLst>
              </a:tr>
              <a:tr h="76750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2. </a:t>
                      </a:r>
                      <a:r>
                        <a:rPr lang="ko-KR" altLang="en-US" sz="1600"/>
                        <a:t>모델 학습 안정성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손실값이 데이터마다 변동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손실이 안정적으로 수렴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학습 안정화</a:t>
                      </a:r>
                      <a:r>
                        <a:rPr lang="en-US" altLang="ko-KR" sz="1600" dirty="0"/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en-US" sz="1600" dirty="0"/>
                        <a:t>gradient descent </a:t>
                      </a:r>
                      <a:r>
                        <a:rPr lang="ko-KR" altLang="en-US" sz="1600" dirty="0"/>
                        <a:t>수렴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36168464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3. Mini-batch </a:t>
                      </a:r>
                      <a:r>
                        <a:rPr lang="ko-KR" altLang="en-US" sz="1600"/>
                        <a:t>학습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전체 데이터 사용 어려움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작은 샘플 평균이 전체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계산 효율</a:t>
                      </a:r>
                      <a:r>
                        <a:rPr lang="en-US" altLang="ko-KR" sz="1600" dirty="0"/>
                        <a:t>, GPU </a:t>
                      </a:r>
                      <a:r>
                        <a:rPr lang="ko-KR" altLang="en-US" sz="1600" dirty="0"/>
                        <a:t>활용</a:t>
                      </a:r>
                      <a:endParaRPr lang="en-US" altLang="ko-KR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356760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/>
                        <a:t>4. </a:t>
                      </a:r>
                      <a:r>
                        <a:rPr lang="ko-KR" altLang="en-US" sz="1600"/>
                        <a:t>모델 평가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성능 비교 불확실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성능이 정규분포 따름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신뢰구간</a:t>
                      </a:r>
                      <a:r>
                        <a:rPr lang="en-US" altLang="ko-KR" sz="1600"/>
                        <a:t>, </a:t>
                      </a:r>
                      <a:r>
                        <a:rPr lang="ko-KR" altLang="en-US" sz="1600"/>
                        <a:t>통계적 비교 가능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531158"/>
                  </a:ext>
                </a:extLst>
              </a:tr>
              <a:tr h="44434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5. A/B </a:t>
                      </a:r>
                      <a:r>
                        <a:rPr lang="ko-KR" altLang="en-US" sz="1600"/>
                        <a:t>테스트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/>
                        <a:t>효과 차이 판단 필요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/>
                        <a:t>평균 차이 → 정규분포 근사</a:t>
                      </a:r>
                      <a:endParaRPr lang="ko-KR" altLang="en-US" sz="160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600" dirty="0"/>
                        <a:t>p-value </a:t>
                      </a:r>
                      <a:r>
                        <a:rPr lang="ko-KR" altLang="en-US" sz="1600" dirty="0"/>
                        <a:t>기반 의사결정</a:t>
                      </a:r>
                      <a:endParaRPr lang="ko-KR" altLang="en-US" sz="1600" dirty="0">
                        <a:latin typeface="HY그래픽M" panose="02030600000101010101" pitchFamily="18" charset="-127"/>
                        <a:ea typeface="HY그래픽M" panose="02030600000101010101" pitchFamily="18" charset="-127"/>
                        <a:cs typeface="Calibri Light" panose="020F0302020204030204" pitchFamily="34" charset="0"/>
                      </a:endParaRPr>
                    </a:p>
                  </a:txBody>
                  <a:tcPr anchor="ctr">
                    <a:solidFill>
                      <a:srgbClr val="D7E3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84446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177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마케팅 16x9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13666154_TF02801084.potx" id="{B893C259-098E-47F8-8877-587E0721A18C}" vid="{F842517E-B3F6-4577-896B-5E1D47976B3A}"/>
    </a:ext>
  </a:extLst>
</a:theme>
</file>

<file path=ppt/theme/theme2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Marketing_16x9">
      <a:dk1>
        <a:srgbClr val="404040"/>
      </a:dk1>
      <a:lt1>
        <a:sysClr val="window" lastClr="FFFFFF"/>
      </a:lt1>
      <a:dk2>
        <a:srgbClr val="000000"/>
      </a:dk2>
      <a:lt2>
        <a:srgbClr val="A1C1DE"/>
      </a:lt2>
      <a:accent1>
        <a:srgbClr val="39527B"/>
      </a:accent1>
      <a:accent2>
        <a:srgbClr val="528DC2"/>
      </a:accent2>
      <a:accent3>
        <a:srgbClr val="7EA939"/>
      </a:accent3>
      <a:accent4>
        <a:srgbClr val="30AEAB"/>
      </a:accent4>
      <a:accent5>
        <a:srgbClr val="31A962"/>
      </a:accent5>
      <a:accent6>
        <a:srgbClr val="78648E"/>
      </a:accent6>
      <a:hlink>
        <a:srgbClr val="7EA939"/>
      </a:hlink>
      <a:folHlink>
        <a:srgbClr val="7F7F7F"/>
      </a:folHlink>
    </a:clrScheme>
    <a:fontScheme name="Corbel">
      <a:maj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4400000" scaled="0"/>
          <a:tileRect/>
        </a:gradFill>
        <a:gradFill flip="none" rotWithShape="1">
          <a:gsLst>
            <a:gs pos="0">
              <a:schemeClr val="phClr">
                <a:lumMod val="20000"/>
                <a:lumOff val="80000"/>
              </a:schemeClr>
            </a:gs>
            <a:gs pos="58000">
              <a:schemeClr val="phClr">
                <a:lumMod val="40000"/>
                <a:lumOff val="60000"/>
              </a:schemeClr>
            </a:gs>
            <a:gs pos="100000">
              <a:schemeClr val="phClr"/>
            </a:gs>
          </a:gsLst>
          <a:lin ang="17400000" scaled="0"/>
          <a:tileRect/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A3F7D94069FF64A86F7DFF56D60E3BE" ma:contentTypeVersion="6" ma:contentTypeDescription="Create a new document." ma:contentTypeScope="" ma:versionID="c32302c77d4085ecf495bdddb7f5e889">
  <xsd:schema xmlns:xsd="http://www.w3.org/2001/XMLSchema" xmlns:xs="http://www.w3.org/2001/XMLSchema" xmlns:p="http://schemas.microsoft.com/office/2006/metadata/properties" xmlns:ns2="a4f35948-e619-41b3-aa29-22878b09cfd2" xmlns:ns3="40262f94-9f35-4ac3-9a90-690165a166b7" targetNamespace="http://schemas.microsoft.com/office/2006/metadata/properties" ma:root="true" ma:fieldsID="4ab5ae46be95f9d0be6107e8200be7a2" ns2:_="" ns3:_="">
    <xsd:import namespace="a4f35948-e619-41b3-aa29-22878b09cfd2"/>
    <xsd:import namespace="40262f94-9f35-4ac3-9a90-690165a166b7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VSO_x0020_item_x0020_id" minOccurs="0"/>
                <xsd:element ref="ns3:Item_x0020_Details" minOccurs="0"/>
                <xsd:element ref="ns3:Template_x0020_details" minOccurs="0"/>
                <xsd:element ref="ns3:Assetid_x0020_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4f35948-e619-41b3-aa29-22878b09cfd2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Shared With Details" ma:description="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0262f94-9f35-4ac3-9a90-690165a166b7" elementFormDefault="qualified">
    <xsd:import namespace="http://schemas.microsoft.com/office/2006/documentManagement/types"/>
    <xsd:import namespace="http://schemas.microsoft.com/office/infopath/2007/PartnerControls"/>
    <xsd:element name="VSO_x0020_item_x0020_id" ma:index="10" nillable="true" ma:displayName="VSO item id" ma:description="Please add the bug number to refer to VSO items." ma:internalName="VSO_x0020_item_x0020_id">
      <xsd:simpleType>
        <xsd:restriction base="dms:Text">
          <xsd:maxLength value="255"/>
        </xsd:restriction>
      </xsd:simpleType>
    </xsd:element>
    <xsd:element name="Item_x0020_Details" ma:index="11" nillable="true" ma:displayName="Item Details" ma:internalName="Item_x0020_Details">
      <xsd:simpleType>
        <xsd:restriction base="dms:Note">
          <xsd:maxLength value="255"/>
        </xsd:restriction>
      </xsd:simpleType>
    </xsd:element>
    <xsd:element name="Template_x0020_details" ma:index="12" nillable="true" ma:displayName="Template details" ma:internalName="Template_x0020_details">
      <xsd:simpleType>
        <xsd:restriction base="dms:Text"/>
      </xsd:simpleType>
    </xsd:element>
    <xsd:element name="Assetid_x0020_" ma:index="13" nillable="true" ma:displayName="Assetid " ma:internalName="Assetid_x0020_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VSO_x0020_item_x0020_id xmlns="40262f94-9f35-4ac3-9a90-690165a166b7" xsi:nil="true"/>
    <Assetid_x0020_ xmlns="40262f94-9f35-4ac3-9a90-690165a166b7" xsi:nil="true"/>
    <Item_x0020_Details xmlns="40262f94-9f35-4ac3-9a90-690165a166b7" xsi:nil="true"/>
    <Template_x0020_details xmlns="40262f94-9f35-4ac3-9a90-690165a166b7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5CCB2C71-1ED8-4540-B003-293B5E75C71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4f35948-e619-41b3-aa29-22878b09cfd2"/>
    <ds:schemaRef ds:uri="40262f94-9f35-4ac3-9a90-690165a166b7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0AACE6D-8EB6-447A-8DFD-C2C0C52916AC}">
  <ds:schemaRefs>
    <ds:schemaRef ds:uri="a4f35948-e619-41b3-aa29-22878b09cfd2"/>
    <ds:schemaRef ds:uri="http://purl.org/dc/elements/1.1/"/>
    <ds:schemaRef ds:uri="http://schemas.microsoft.com/office/infopath/2007/PartnerControls"/>
    <ds:schemaRef ds:uri="40262f94-9f35-4ac3-9a90-690165a166b7"/>
    <ds:schemaRef ds:uri="http://purl.org/dc/dcmitype/"/>
    <ds:schemaRef ds:uri="http://schemas.microsoft.com/office/2006/documentManagement/types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7F9B8BCC-BF24-4800-92E1-9F891BBB27E6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유리 건물 배경의 비즈니스 마케팅 프레젠테이션(와이드스크린)</Template>
  <TotalTime>770</TotalTime>
  <Words>712</Words>
  <Application>Microsoft Office PowerPoint</Application>
  <PresentationFormat>사용자 지정</PresentationFormat>
  <Paragraphs>122</Paragraphs>
  <Slides>17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12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30" baseType="lpstr">
      <vt:lpstr>HY그래픽M</vt:lpstr>
      <vt:lpstr>MS PGothic</vt:lpstr>
      <vt:lpstr>맑은 고딕</vt:lpstr>
      <vt:lpstr>맑은 고딕 Semilight</vt:lpstr>
      <vt:lpstr>한컴 말랑말랑 Bold</vt:lpstr>
      <vt:lpstr>휴먼모음T</vt:lpstr>
      <vt:lpstr>ADLaM Display</vt:lpstr>
      <vt:lpstr>Arial</vt:lpstr>
      <vt:lpstr>Arial Narrow</vt:lpstr>
      <vt:lpstr>Corbel</vt:lpstr>
      <vt:lpstr>Times New Roman</vt:lpstr>
      <vt:lpstr>Wingdings</vt:lpstr>
      <vt:lpstr>마케팅 16x9</vt:lpstr>
      <vt:lpstr>Modeling  &amp; Simulation  - 머신러닝을 위한 -  </vt:lpstr>
      <vt:lpstr>PowerPoint 프레젠테이션</vt:lpstr>
      <vt:lpstr>Modeling</vt:lpstr>
      <vt:lpstr>Hands-on Velocity</vt:lpstr>
      <vt:lpstr>Hands-on cell Cell_division </vt:lpstr>
      <vt:lpstr>Hands-on Compound_interest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ADsP 특강   2024_Summer</dc:title>
  <dc:creator>조상구</dc:creator>
  <cp:lastModifiedBy>Sanggoo Cho</cp:lastModifiedBy>
  <cp:revision>54</cp:revision>
  <dcterms:created xsi:type="dcterms:W3CDTF">2024-06-03T06:10:16Z</dcterms:created>
  <dcterms:modified xsi:type="dcterms:W3CDTF">2026-03-31T12:04:52Z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0x010100AA3F7D94069FF64A86F7DFF56D60E3BE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