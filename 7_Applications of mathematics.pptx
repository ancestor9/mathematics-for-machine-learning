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65"/>
  </p:notesMasterIdLst>
  <p:sldIdLst>
    <p:sldId id="256" r:id="rId2"/>
    <p:sldId id="836" r:id="rId3"/>
    <p:sldId id="824" r:id="rId4"/>
    <p:sldId id="825" r:id="rId5"/>
    <p:sldId id="826" r:id="rId6"/>
    <p:sldId id="822" r:id="rId7"/>
    <p:sldId id="838" r:id="rId8"/>
    <p:sldId id="842" r:id="rId9"/>
    <p:sldId id="841" r:id="rId10"/>
    <p:sldId id="840" r:id="rId11"/>
    <p:sldId id="860" r:id="rId12"/>
    <p:sldId id="847" r:id="rId13"/>
    <p:sldId id="870" r:id="rId14"/>
    <p:sldId id="871" r:id="rId15"/>
    <p:sldId id="848" r:id="rId16"/>
    <p:sldId id="873" r:id="rId17"/>
    <p:sldId id="874" r:id="rId18"/>
    <p:sldId id="845" r:id="rId19"/>
    <p:sldId id="872" r:id="rId20"/>
    <p:sldId id="851" r:id="rId21"/>
    <p:sldId id="852" r:id="rId22"/>
    <p:sldId id="846" r:id="rId23"/>
    <p:sldId id="861" r:id="rId24"/>
    <p:sldId id="854" r:id="rId25"/>
    <p:sldId id="857" r:id="rId26"/>
    <p:sldId id="858" r:id="rId27"/>
    <p:sldId id="856" r:id="rId28"/>
    <p:sldId id="859" r:id="rId29"/>
    <p:sldId id="864" r:id="rId30"/>
    <p:sldId id="862" r:id="rId31"/>
    <p:sldId id="866" r:id="rId32"/>
    <p:sldId id="867" r:id="rId33"/>
    <p:sldId id="855" r:id="rId34"/>
    <p:sldId id="868" r:id="rId35"/>
    <p:sldId id="865" r:id="rId36"/>
    <p:sldId id="878" r:id="rId37"/>
    <p:sldId id="875" r:id="rId38"/>
    <p:sldId id="876" r:id="rId39"/>
    <p:sldId id="879" r:id="rId40"/>
    <p:sldId id="880" r:id="rId41"/>
    <p:sldId id="881" r:id="rId42"/>
    <p:sldId id="883" r:id="rId43"/>
    <p:sldId id="882" r:id="rId44"/>
    <p:sldId id="884" r:id="rId45"/>
    <p:sldId id="886" r:id="rId46"/>
    <p:sldId id="887" r:id="rId47"/>
    <p:sldId id="885" r:id="rId48"/>
    <p:sldId id="877" r:id="rId49"/>
    <p:sldId id="829" r:id="rId50"/>
    <p:sldId id="831" r:id="rId51"/>
    <p:sldId id="833" r:id="rId52"/>
    <p:sldId id="820" r:id="rId53"/>
    <p:sldId id="834" r:id="rId54"/>
    <p:sldId id="282" r:id="rId55"/>
    <p:sldId id="284" r:id="rId56"/>
    <p:sldId id="850" r:id="rId57"/>
    <p:sldId id="264" r:id="rId58"/>
    <p:sldId id="261" r:id="rId59"/>
    <p:sldId id="262" r:id="rId60"/>
    <p:sldId id="267" r:id="rId61"/>
    <p:sldId id="839" r:id="rId62"/>
    <p:sldId id="830" r:id="rId63"/>
    <p:sldId id="869" r:id="rId6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4660"/>
  </p:normalViewPr>
  <p:slideViewPr>
    <p:cSldViewPr snapToGrid="0">
      <p:cViewPr varScale="1">
        <p:scale>
          <a:sx n="80" d="100"/>
          <a:sy n="80" d="100"/>
        </p:scale>
        <p:origin x="936" y="67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-24835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6D2F86-9062-4B78-99E4-F1BEEF85F138}" type="datetimeFigureOut">
              <a:rPr lang="ko-KR" altLang="en-US" smtClean="0"/>
              <a:t>2026-03-29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F8537-0286-40EF-BEDA-D09730C549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1858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73ED9A29-9868-F004-D477-E1B0BB9330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F77D30F9-C5FD-9521-DA84-79FBF57E5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6A01DD9-3974-9718-87F6-EB78F09A5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 cap="none" baseline="0">
                <a:solidFill>
                  <a:schemeClr val="bg1">
                    <a:lumMod val="50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3A99E11-B46A-118A-F76B-E17310DEE25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671614DA-D35D-4B8B-DCBD-E9A1998229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2B27BFF4-697B-FD92-F05F-295244280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68E69C8F-0918-40E3-4741-67A5B5A91D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562887F7-6A57-BAD0-B669-290D07F51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4F0C71D-A8E9-043B-3AA5-BF120AE9F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 cap="none" baseline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 cap="none" baseline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 cap="none" baseline="0">
                <a:latin typeface="Times New Roman" panose="020206030504050203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627951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627951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627951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 cap="none" baseline="0">
                <a:latin typeface="Times New Roman" panose="020206030504050203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61575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61575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61575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5631107F-D1C4-F805-1498-80BECBF005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4DC48662-B15E-83AA-948A-6E29EC904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6B053EF2-6074-466B-2115-88DE3F354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" name="Date Placeholder 4">
            <a:extLst>
              <a:ext uri="{FF2B5EF4-FFF2-40B4-BE49-F238E27FC236}">
                <a16:creationId xmlns:a16="http://schemas.microsoft.com/office/drawing/2014/main" id="{F09C00A1-E496-9D6D-FCA7-54CAF7D69F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F1974E-196E-D3C9-4363-3627888251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4" name="Slide Number Placeholder 6">
            <a:extLst>
              <a:ext uri="{FF2B5EF4-FFF2-40B4-BE49-F238E27FC236}">
                <a16:creationId xmlns:a16="http://schemas.microsoft.com/office/drawing/2014/main" id="{0404446F-A494-25B8-0869-FB7B6C5BC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" name="Date Placeholder 4">
            <a:extLst>
              <a:ext uri="{FF2B5EF4-FFF2-40B4-BE49-F238E27FC236}">
                <a16:creationId xmlns:a16="http://schemas.microsoft.com/office/drawing/2014/main" id="{68E154EC-00A9-6E79-7724-9D6944B0777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BEC2A4-54D7-3BF6-D99A-08582FF906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4D4F25-CAAA-ECEB-957C-521F20E2D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D1B0384A-C15E-6BC3-788D-790F774B409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7" name="Footer Placeholder 5">
            <a:extLst>
              <a:ext uri="{FF2B5EF4-FFF2-40B4-BE49-F238E27FC236}">
                <a16:creationId xmlns:a16="http://schemas.microsoft.com/office/drawing/2014/main" id="{7415F5C3-F00B-F7A0-2083-856E045DD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11D89B46-F084-169B-F060-9635BE8E8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B7273AA5-3929-967A-5130-C11B3E3756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7" name="Footer Placeholder 5">
            <a:extLst>
              <a:ext uri="{FF2B5EF4-FFF2-40B4-BE49-F238E27FC236}">
                <a16:creationId xmlns:a16="http://schemas.microsoft.com/office/drawing/2014/main" id="{88B4DE49-D32C-01EA-F5B0-AAAC2AD2C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85456818-C05D-B8E7-2227-39DE6BFCB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1208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11B8B1B7-A03F-2EA2-EF8B-567925A49D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72B5944-8912-A1D5-050D-8632DCBF79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B2289C7-8B26-A377-4243-1486C10E0C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  <p:sldLayoutId id="2147483669" r:id="rId18"/>
  </p:sldLayoutIdLst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scikit-learn.org/stable/modules/neighbors.html" TargetMode="External"/><Relationship Id="rId1" Type="http://schemas.openxmlformats.org/officeDocument/2006/relationships/slideLayout" Target="../slideLayouts/slideLayout18.xml"/><Relationship Id="rId4" Type="http://schemas.openxmlformats.org/officeDocument/2006/relationships/hyperlink" Target="https://www.kdnuggets.com/2020/11/most-popular-distance-metrics-knn.html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neighbors.html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metrics.pairwise.cosine_similarity.html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0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://w.elnn.kr/search/" TargetMode="External"/><Relationship Id="rId2" Type="http://schemas.openxmlformats.org/officeDocument/2006/relationships/hyperlink" Target="https://scikit-learn.org/stable/modules/generated/sklearn.metrics.pairwise.cosine_similarity.html" TargetMode="Externa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9.jpeg"/><Relationship Id="rId5" Type="http://schemas.openxmlformats.org/officeDocument/2006/relationships/hyperlink" Target="https://en.wikipedia.org/wiki/Dynamic_time_warping" TargetMode="External"/><Relationship Id="rId4" Type="http://schemas.openxmlformats.org/officeDocument/2006/relationships/hyperlink" Target="https://wikidocs.net/22650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2.png"/><Relationship Id="rId4" Type="http://schemas.openxmlformats.org/officeDocument/2006/relationships/hyperlink" Target="https://mlu-explain.github.io/linear-regression/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6.png"/><Relationship Id="rId5" Type="http://schemas.microsoft.com/office/2007/relationships/hdphoto" Target="../media/hdphoto1.wdp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Relationship Id="rId5" Type="http://schemas.microsoft.com/office/2007/relationships/hdphoto" Target="../media/hdphoto2.wdp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linear_model.LinearRegression.html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9.jpeg"/><Relationship Id="rId5" Type="http://schemas.openxmlformats.org/officeDocument/2006/relationships/image" Target="../media/image36.gif"/><Relationship Id="rId4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linear_model.LinearRegression.html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Relationship Id="rId4" Type="http://schemas.openxmlformats.org/officeDocument/2006/relationships/hyperlink" Target="https://www.kaggle.com/code/shakedzy/alone-in-the-woods-using-theil-s-u-for-survival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?hl=ko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Relationship Id="rId6" Type="http://schemas.openxmlformats.org/officeDocument/2006/relationships/hyperlink" Target="https://wikidocs.net/24958" TargetMode="External"/><Relationship Id="rId5" Type="http://schemas.openxmlformats.org/officeDocument/2006/relationships/hyperlink" Target="https://keras.io/" TargetMode="External"/><Relationship Id="rId4" Type="http://schemas.openxmlformats.org/officeDocument/2006/relationships/hyperlink" Target="https://pytorch.org/" TargetMode="Externa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mlu-explain.github.io/bias-variance/" TargetMode="External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8.xml"/><Relationship Id="rId5" Type="http://schemas.openxmlformats.org/officeDocument/2006/relationships/hyperlink" Target="https://mlu-explain.github.io/cross-validation/" TargetMode="External"/><Relationship Id="rId4" Type="http://schemas.openxmlformats.org/officeDocument/2006/relationships/image" Target="../media/image4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mlu-explain.github.io/train-test-validation/" TargetMode="External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2" Type="http://schemas.openxmlformats.org/officeDocument/2006/relationships/hyperlink" Target="https://mlu-explain.github.io/decision-tree/" TargetMode="External"/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hyperlink" Target="https://en.wikipedia.org/wiki/Condorcet%27s_jury_theorem" TargetMode="External"/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jpeg"/><Relationship Id="rId2" Type="http://schemas.openxmlformats.org/officeDocument/2006/relationships/hyperlink" Target="https://mlu-explain.github.io/random-forest/" TargetMode="External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hyperlink" Target="http://vision.stanford.edu/teaching/cs231n-demos/knn/" TargetMode="Externa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overview/basics" TargetMode="External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8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orch.org/tutorials/beginner/basics/quickstart_tutorial.html" TargetMode="External"/><Relationship Id="rId2" Type="http://schemas.openxmlformats.org/officeDocument/2006/relationships/hyperlink" Target="https://www.101ai.net/basics/https:/www.101ai.net/basics/tensors" TargetMode="External"/><Relationship Id="rId1" Type="http://schemas.openxmlformats.org/officeDocument/2006/relationships/slideLayout" Target="../slideLayouts/slideLayout18.xml"/><Relationship Id="rId5" Type="http://schemas.openxmlformats.org/officeDocument/2006/relationships/hyperlink" Target="https://playground.tensorflow.org/#activation=tanh&amp;batchSize=10&amp;dataset=circle&amp;regDataset=reg-plane&amp;learningRate=0.03&amp;regularizationRate=0&amp;noise=0&amp;networkShape=4,2&amp;seed=0.70624&amp;showTestData=false&amp;discretize=false&amp;percTrainData=50&amp;x=true&amp;y=true&amp;xTimesY=false&amp;xSquared=false&amp;ySquared=false&amp;cosX=false&amp;sinX=false&amp;cosY=false&amp;sinY=false&amp;collectStats=false&amp;problem=classification&amp;initZero=false&amp;hideText=false" TargetMode="External"/><Relationship Id="rId4" Type="http://schemas.openxmlformats.org/officeDocument/2006/relationships/hyperlink" Target="https://www.tensorflow.org/tutorials/customization/basics?hl=ko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7" Type="http://schemas.openxmlformats.org/officeDocument/2006/relationships/image" Target="../media/image66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65.jpeg"/><Relationship Id="rId5" Type="http://schemas.openxmlformats.org/officeDocument/2006/relationships/image" Target="../media/image64.png"/><Relationship Id="rId4" Type="http://schemas.openxmlformats.org/officeDocument/2006/relationships/hyperlink" Target="https://en.wikipedia.org/wiki/Sign_function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nnet/perceptron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jpeg"/><Relationship Id="rId2" Type="http://schemas.openxmlformats.org/officeDocument/2006/relationships/image" Target="../media/image67.jpeg"/><Relationship Id="rId1" Type="http://schemas.openxmlformats.org/officeDocument/2006/relationships/slideLayout" Target="../slideLayouts/slideLayout18.xml"/><Relationship Id="rId4" Type="http://schemas.openxmlformats.org/officeDocument/2006/relationships/hyperlink" Target="https://www.101ai.net/deeplearn/activation" TargetMode="Externa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13" Type="http://schemas.openxmlformats.org/officeDocument/2006/relationships/image" Target="../media/image80.png"/><Relationship Id="rId18" Type="http://schemas.openxmlformats.org/officeDocument/2006/relationships/image" Target="../media/image85.png"/><Relationship Id="rId3" Type="http://schemas.openxmlformats.org/officeDocument/2006/relationships/image" Target="../media/image70.png"/><Relationship Id="rId7" Type="http://schemas.openxmlformats.org/officeDocument/2006/relationships/image" Target="../media/image74.png"/><Relationship Id="rId12" Type="http://schemas.openxmlformats.org/officeDocument/2006/relationships/image" Target="../media/image79.png"/><Relationship Id="rId17" Type="http://schemas.openxmlformats.org/officeDocument/2006/relationships/image" Target="../media/image84.png"/><Relationship Id="rId2" Type="http://schemas.openxmlformats.org/officeDocument/2006/relationships/image" Target="../media/image69.png"/><Relationship Id="rId16" Type="http://schemas.openxmlformats.org/officeDocument/2006/relationships/image" Target="../media/image83.png"/><Relationship Id="rId20" Type="http://schemas.openxmlformats.org/officeDocument/2006/relationships/image" Target="../media/image87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73.png"/><Relationship Id="rId11" Type="http://schemas.openxmlformats.org/officeDocument/2006/relationships/image" Target="../media/image78.png"/><Relationship Id="rId5" Type="http://schemas.openxmlformats.org/officeDocument/2006/relationships/image" Target="../media/image72.png"/><Relationship Id="rId15" Type="http://schemas.openxmlformats.org/officeDocument/2006/relationships/image" Target="../media/image82.png"/><Relationship Id="rId10" Type="http://schemas.openxmlformats.org/officeDocument/2006/relationships/image" Target="../media/image77.png"/><Relationship Id="rId19" Type="http://schemas.openxmlformats.org/officeDocument/2006/relationships/image" Target="../media/image86.png"/><Relationship Id="rId4" Type="http://schemas.openxmlformats.org/officeDocument/2006/relationships/image" Target="../media/image71.png"/><Relationship Id="rId9" Type="http://schemas.openxmlformats.org/officeDocument/2006/relationships/image" Target="../media/image76.png"/><Relationship Id="rId14" Type="http://schemas.openxmlformats.org/officeDocument/2006/relationships/image" Target="../media/image81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jpeg"/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deeplearn/data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92.png"/><Relationship Id="rId4" Type="http://schemas.openxmlformats.org/officeDocument/2006/relationships/image" Target="../media/image91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6.png"/><Relationship Id="rId3" Type="http://schemas.microsoft.com/office/2007/relationships/hdphoto" Target="../media/hdphoto3.wdp"/><Relationship Id="rId7" Type="http://schemas.microsoft.com/office/2007/relationships/hdphoto" Target="../media/hdphoto5.wdp"/><Relationship Id="rId12" Type="http://schemas.openxmlformats.org/officeDocument/2006/relationships/image" Target="../media/image98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95.png"/><Relationship Id="rId11" Type="http://schemas.microsoft.com/office/2007/relationships/hdphoto" Target="../media/hdphoto7.wdp"/><Relationship Id="rId5" Type="http://schemas.microsoft.com/office/2007/relationships/hdphoto" Target="../media/hdphoto4.wdp"/><Relationship Id="rId10" Type="http://schemas.openxmlformats.org/officeDocument/2006/relationships/image" Target="../media/image97.png"/><Relationship Id="rId4" Type="http://schemas.openxmlformats.org/officeDocument/2006/relationships/image" Target="../media/image94.png"/><Relationship Id="rId9" Type="http://schemas.microsoft.com/office/2007/relationships/hdphoto" Target="../media/hdphoto6.wdp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18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18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18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18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18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0.png"/><Relationship Id="rId2" Type="http://schemas.openxmlformats.org/officeDocument/2006/relationships/image" Target="../media/image50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jpe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05.jpe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jpe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hyperlink" Target="https://en.wikipedia.org/wiki/Eigenvalues_and_eigenvector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9.gif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18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94BC4CC-119D-4066-611C-7FF8F6954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1" y="-1"/>
            <a:ext cx="7315200" cy="683417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53B55A5-AD55-D660-8099-86131A4036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614571"/>
            <a:ext cx="4876801" cy="2509213"/>
          </a:xfrm>
        </p:spPr>
        <p:txBody>
          <a:bodyPr/>
          <a:lstStyle/>
          <a:p>
            <a:r>
              <a:rPr lang="ko-KR" altLang="en-US" dirty="0"/>
              <a:t>수학의 응용</a:t>
            </a:r>
            <a:br>
              <a:rPr lang="en-US" altLang="ko-KR" dirty="0"/>
            </a:br>
            <a:r>
              <a:rPr lang="en-US" altLang="ko-KR" sz="3600" dirty="0"/>
              <a:t>- </a:t>
            </a:r>
            <a:r>
              <a:rPr lang="ko-KR" altLang="en-US" sz="3600" dirty="0" err="1"/>
              <a:t>머신러닝</a:t>
            </a:r>
            <a:r>
              <a:rPr lang="en-US" altLang="ko-KR" sz="3600" dirty="0"/>
              <a:t> -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9CC0AE0-A72B-E734-A33B-67DEC45955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199986"/>
            <a:ext cx="4876801" cy="1371599"/>
          </a:xfrm>
        </p:spPr>
        <p:txBody>
          <a:bodyPr/>
          <a:lstStyle/>
          <a:p>
            <a:r>
              <a:rPr lang="en-US" altLang="ko-KR" dirty="0">
                <a:solidFill>
                  <a:schemeClr val="tx1"/>
                </a:solidFill>
              </a:rPr>
              <a:t>2026 Spring</a:t>
            </a:r>
          </a:p>
          <a:p>
            <a:r>
              <a:rPr lang="ko-KR" altLang="en-US" dirty="0" err="1">
                <a:solidFill>
                  <a:schemeClr val="tx1"/>
                </a:solidFill>
              </a:rPr>
              <a:t>조상구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09249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9DDB5-17A6-3B86-C607-0CFC0AF11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9A3EEBE5-E1C5-77F8-1CD6-4688155CE328}"/>
              </a:ext>
            </a:extLst>
          </p:cNvPr>
          <p:cNvSpPr/>
          <p:nvPr/>
        </p:nvSpPr>
        <p:spPr>
          <a:xfrm>
            <a:off x="678584" y="1504949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47E737-0202-3854-C868-F01FAACAADC1}"/>
              </a:ext>
            </a:extLst>
          </p:cNvPr>
          <p:cNvSpPr txBox="1"/>
          <p:nvPr/>
        </p:nvSpPr>
        <p:spPr>
          <a:xfrm>
            <a:off x="1336229" y="1428465"/>
            <a:ext cx="5512246" cy="5013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Machine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ML algorithms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EC34A9-4B72-FF34-06FC-E57171E6DB12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C6C5D6-B9BA-2997-9AB0-664100367C7E}"/>
              </a:ext>
            </a:extLst>
          </p:cNvPr>
          <p:cNvSpPr txBox="1"/>
          <p:nvPr/>
        </p:nvSpPr>
        <p:spPr>
          <a:xfrm>
            <a:off x="7029450" y="1428465"/>
            <a:ext cx="4619625" cy="4597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Neural Network Architecture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Shallow/Deep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Matrix formulation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Forward/backward propagation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FNN, CNN, RNN, Transformer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Dimension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Reduction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Eigen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value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&amp;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SVD &amp; Topic Model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Manifold Learning</a:t>
            </a:r>
          </a:p>
        </p:txBody>
      </p:sp>
    </p:spTree>
    <p:extLst>
      <p:ext uri="{BB962C8B-B14F-4D97-AF65-F5344CB8AC3E}">
        <p14:creationId xmlns:p14="http://schemas.microsoft.com/office/powerpoint/2010/main" val="3346699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Norm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66801" y="3562350"/>
                <a:ext cx="10729565" cy="2471859"/>
              </a:xfr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>
                <a:normAutofit/>
              </a:bodyPr>
              <a:lstStyle/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2000" i="1" cap="none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20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20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20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(L1 norm)                                                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8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8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800" b="0" i="1" cap="none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8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(2+3)</m:t>
                        </m:r>
                      </m:e>
                      <m:sup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5 </a:t>
                </a:r>
              </a:p>
              <a:p>
                <a:pPr lvl="1"/>
                <a:endParaRPr lang="en-US" altLang="ko-KR" sz="2000" i="1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20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20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2000" b="0" i="1" cap="none" smtClean="0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20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(L2 norm)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8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1800" i="1" cap="none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sup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altLang="ko-KR" sz="1800" i="1" cap="none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9</m:t>
                        </m:r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f>
                          <m:fPr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rad>
                      <m:radPr>
                        <m:ctrlPr>
                          <a:rPr lang="en-US" altLang="ko-KR" sz="18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m:rPr>
                            <m:brk m:alnAt="7"/>
                          </m:rP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deg>
                      <m:e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 13</m:t>
                        </m:r>
                      </m:e>
                    </m:rad>
                  </m:oMath>
                </a14:m>
                <a:endParaRPr lang="en-US" altLang="ko-KR" sz="2000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66801" y="3562350"/>
                <a:ext cx="10729565" cy="2471859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그룹 20">
            <a:extLst>
              <a:ext uri="{FF2B5EF4-FFF2-40B4-BE49-F238E27FC236}">
                <a16:creationId xmlns:a16="http://schemas.microsoft.com/office/drawing/2014/main" id="{F9834FF0-8FBA-1350-9F1E-D0CB8F426314}"/>
              </a:ext>
            </a:extLst>
          </p:cNvPr>
          <p:cNvGrpSpPr/>
          <p:nvPr/>
        </p:nvGrpSpPr>
        <p:grpSpPr>
          <a:xfrm>
            <a:off x="3246467" y="2558043"/>
            <a:ext cx="5202208" cy="699507"/>
            <a:chOff x="2230094" y="2605995"/>
            <a:chExt cx="7498730" cy="1044030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F05F55E0-B70A-ADCF-C43A-DCB0EB37C1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30094" y="2605995"/>
              <a:ext cx="7498730" cy="1036410"/>
            </a:xfrm>
            <a:prstGeom prst="rect">
              <a:avLst/>
            </a:prstGeom>
          </p:spPr>
        </p:pic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BD8DBB4C-8447-148B-1A2C-41CFBB8F81F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739832" y="2605995"/>
              <a:ext cx="1988992" cy="1044030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F38668D-D916-87E8-408A-6B6D3F29F0CC}"/>
              </a:ext>
            </a:extLst>
          </p:cNvPr>
          <p:cNvSpPr txBox="1"/>
          <p:nvPr/>
        </p:nvSpPr>
        <p:spPr>
          <a:xfrm>
            <a:off x="666188" y="957141"/>
            <a:ext cx="10848975" cy="14265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total length of all the vectors in a space (non-negative real numbers that behaves in certain ways like 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distance from the origin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p-norm of vector x will be denoted as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97236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1-Norm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</p:spPr>
            <p:txBody>
              <a:bodyPr>
                <a:normAutofit/>
              </a:bodyPr>
              <a:lstStyle/>
              <a:p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L1 Norm (</a:t>
                </a:r>
                <a:r>
                  <a:rPr lang="en-US" altLang="ko-KR" sz="2200" b="1" cap="none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Mahattan</a:t>
                </a:r>
                <a:r>
                  <a:rPr lang="en-US" altLang="ko-KR" sz="2200" b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Distance</a:t>
                </a:r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Taxicab geometry)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9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900" i="1" cap="none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9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9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9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(L1 norm)                                                 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6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b="0" i="1" cap="none" smtClean="0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6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b="0" i="1" cap="none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6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cap="none" smtClean="0">
                            <a:effectLst/>
                            <a:latin typeface="Cambria Math" panose="02040503050406030204" pitchFamily="18" charset="0"/>
                          </a:rPr>
                          <m:t>(2+3)</m:t>
                        </m:r>
                      </m:e>
                      <m:sup>
                        <m:r>
                          <a:rPr lang="en-US" altLang="ko-KR" sz="16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5 </a:t>
                </a:r>
                <a:endParaRPr lang="en-US" altLang="ko-KR" sz="2200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  <a:blipFill>
                <a:blip r:embed="rId2"/>
                <a:stretch>
                  <a:fillRect l="-682" t="-34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그림 9">
            <a:extLst>
              <a:ext uri="{FF2B5EF4-FFF2-40B4-BE49-F238E27FC236}">
                <a16:creationId xmlns:a16="http://schemas.microsoft.com/office/drawing/2014/main" id="{F3C4AE5B-40B1-4939-A882-6AFA8B8F96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6255" y="2895600"/>
            <a:ext cx="3132091" cy="2781541"/>
          </a:xfrm>
          <a:prstGeom prst="rect">
            <a:avLst/>
          </a:prstGeom>
        </p:spPr>
      </p:pic>
      <p:sp>
        <p:nvSpPr>
          <p:cNvPr id="3" name="내용 개체 틀 8">
            <a:extLst>
              <a:ext uri="{FF2B5EF4-FFF2-40B4-BE49-F238E27FC236}">
                <a16:creationId xmlns:a16="http://schemas.microsoft.com/office/drawing/2014/main" id="{B2217166-AD4E-864D-9D87-F525F7C4BEBC}"/>
              </a:ext>
            </a:extLst>
          </p:cNvPr>
          <p:cNvSpPr txBox="1">
            <a:spLocks/>
          </p:cNvSpPr>
          <p:nvPr/>
        </p:nvSpPr>
        <p:spPr>
          <a:xfrm>
            <a:off x="7221071" y="2895599"/>
            <a:ext cx="4643718" cy="269557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lnSpcReduction="10000"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([2, 3])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norm_l1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np.linalg.norm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ord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=1)  # L1 norm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norm_11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# 5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x/norm_l1           # scaled by 1-norm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np.square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(x/norm_l1)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np.sum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(x/norm_l1)</a:t>
            </a:r>
          </a:p>
        </p:txBody>
      </p:sp>
      <p:sp>
        <p:nvSpPr>
          <p:cNvPr id="5" name="AutoShape 2">
            <a:extLst>
              <a:ext uri="{FF2B5EF4-FFF2-40B4-BE49-F238E27FC236}">
                <a16:creationId xmlns:a16="http://schemas.microsoft.com/office/drawing/2014/main" id="{73ED5F1A-8C68-4015-6D59-646B058A66A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6B7BC5D-BC78-3BE9-3756-43EA405E42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1202" y="1239037"/>
            <a:ext cx="2372872" cy="1544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4060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2-Norm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</p:spPr>
            <p:txBody>
              <a:bodyPr>
                <a:normAutofit/>
              </a:bodyPr>
              <a:lstStyle/>
              <a:p>
                <a:pPr algn="l"/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L2 Norm(</a:t>
                </a:r>
                <a:r>
                  <a:rPr lang="en-US" altLang="ko-KR" sz="2200" b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Euclidean Distance</a:t>
                </a:r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9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9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9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900" i="1" cap="none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9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(L2 norm)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6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1600" i="1" cap="none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+ </m:t>
                        </m:r>
                        <m:sSup>
                          <m:sSup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sup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(4+9)</m:t>
                        </m:r>
                      </m:e>
                      <m:sup>
                        <m:f>
                          <m:f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rad>
                      <m:rad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m:rPr>
                            <m:brk m:alnAt="7"/>
                          </m:r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deg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 13</m:t>
                        </m:r>
                      </m:e>
                    </m:rad>
                  </m:oMath>
                </a14:m>
                <a:endParaRPr lang="en-US" altLang="ko-KR" sz="1900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  <a:blipFill>
                <a:blip r:embed="rId2"/>
                <a:stretch>
                  <a:fillRect l="-682" t="-34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내용 개체 틀 8">
            <a:extLst>
              <a:ext uri="{FF2B5EF4-FFF2-40B4-BE49-F238E27FC236}">
                <a16:creationId xmlns:a16="http://schemas.microsoft.com/office/drawing/2014/main" id="{B2217166-AD4E-864D-9D87-F525F7C4BEBC}"/>
              </a:ext>
            </a:extLst>
          </p:cNvPr>
          <p:cNvSpPr txBox="1">
            <a:spLocks/>
          </p:cNvSpPr>
          <p:nvPr/>
        </p:nvSpPr>
        <p:spPr>
          <a:xfrm>
            <a:off x="6438900" y="2895599"/>
            <a:ext cx="5502089" cy="372427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nl-NL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norm_l2 = np.linalg.norm(x, ord=2)  # L2 norm</a:t>
            </a:r>
          </a:p>
          <a:p>
            <a:pPr marL="36900" indent="0">
              <a:buNone/>
            </a:pPr>
            <a:r>
              <a:rPr lang="nl-NL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norm_l2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# 3.605551275463989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x/norm_l2                       # scaled by 2-norm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np.square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(x/norm_l2)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np.square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(x/norm_l2).sum()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# 1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1EF7459-2858-2347-75D8-C91F1F4651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6255" y="2974105"/>
            <a:ext cx="3047769" cy="279718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55C3998-0489-2BF2-5241-E2E5052013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8067" y="1092014"/>
            <a:ext cx="2171888" cy="1585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987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 of L1,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 Norms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36E248E-3EA5-CC93-F0AE-B9FFAD6F69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286" y="3191496"/>
            <a:ext cx="1695512" cy="68144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BBF11DB-61B7-8934-BD93-253DBC8147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627" y="5387420"/>
            <a:ext cx="2368851" cy="55165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11A02A16-B33F-125C-25F5-F9A52BA173BF}"/>
              </a:ext>
            </a:extLst>
          </p:cNvPr>
          <p:cNvSpPr txBox="1"/>
          <p:nvPr/>
        </p:nvSpPr>
        <p:spPr>
          <a:xfrm>
            <a:off x="3066445" y="2782139"/>
            <a:ext cx="127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Lasso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EB0BE7-8A5A-862B-FB19-25982BD638E5}"/>
              </a:ext>
            </a:extLst>
          </p:cNvPr>
          <p:cNvSpPr txBox="1"/>
          <p:nvPr/>
        </p:nvSpPr>
        <p:spPr>
          <a:xfrm>
            <a:off x="3066445" y="4905415"/>
            <a:ext cx="13805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Ridge</a:t>
            </a:r>
            <a:endParaRPr lang="ko-KR" altLang="en-US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2BD5D038-DCD7-8C14-A5CF-44500882BB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2230" y="2363039"/>
            <a:ext cx="4330872" cy="4235758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CFF3D7-B9E7-2FF5-40EB-78AC8007B5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06186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norm or the length of a vector is the distance between its “origin” and its “end”.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그림에서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원점으로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부터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사각형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(L1, Lasso)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원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(L2, Ridge)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비교하라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Lasso, Ridge Penalty in machine learning</a:t>
            </a:r>
            <a:endParaRPr lang="en-US" altLang="ko-KR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335A80CF-D165-5CA0-06B2-C788EE911AE2}"/>
              </a:ext>
            </a:extLst>
          </p:cNvPr>
          <p:cNvCxnSpPr/>
          <p:nvPr/>
        </p:nvCxnSpPr>
        <p:spPr>
          <a:xfrm flipV="1">
            <a:off x="6715125" y="3609975"/>
            <a:ext cx="723900" cy="733425"/>
          </a:xfrm>
          <a:prstGeom prst="straightConnector1">
            <a:avLst/>
          </a:prstGeom>
          <a:ln w="9525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8D18DBA7-34C7-EC06-D8C6-6F92D732CB8F}"/>
              </a:ext>
            </a:extLst>
          </p:cNvPr>
          <p:cNvCxnSpPr>
            <a:cxnSpLocks/>
          </p:cNvCxnSpPr>
          <p:nvPr/>
        </p:nvCxnSpPr>
        <p:spPr>
          <a:xfrm>
            <a:off x="6715125" y="4419600"/>
            <a:ext cx="1114425" cy="1028700"/>
          </a:xfrm>
          <a:prstGeom prst="straightConnector1">
            <a:avLst/>
          </a:prstGeom>
          <a:ln w="9525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7017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52E486-E568-1525-A997-2588C9CF7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1317D0-7D8A-5E88-1765-C131C8247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Nearest Neighbors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65692A-AF52-86DD-7DAB-748A9F77C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14396A-70AA-B337-BF63-76377B7B9C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061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거리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(distance)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가까운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데이터를 기준으로 분류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하거나 회귀생성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및 이상치 탐지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(anomaly detection)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하는 알고리즘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</a:t>
            </a:r>
            <a:r>
              <a:rPr lang="en-US" altLang="ko-KR" sz="17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learn_neighbors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지도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및 비지도학습 실습</a:t>
            </a:r>
            <a:endParaRPr lang="en-US" altLang="ko-KR" sz="17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100" name="Picture 4" descr="k-Nearest Neighbor classification example for k=3 and k=7">
            <a:extLst>
              <a:ext uri="{FF2B5EF4-FFF2-40B4-BE49-F238E27FC236}">
                <a16:creationId xmlns:a16="http://schemas.microsoft.com/office/drawing/2014/main" id="{6417C8F0-629A-2475-EDE4-881FFB3783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6526" y="2806591"/>
            <a:ext cx="5617954" cy="3062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ADE99B2-FC44-E12D-132F-D2FEE475A359}"/>
              </a:ext>
            </a:extLst>
          </p:cNvPr>
          <p:cNvSpPr txBox="1"/>
          <p:nvPr/>
        </p:nvSpPr>
        <p:spPr>
          <a:xfrm>
            <a:off x="2676526" y="5953208"/>
            <a:ext cx="6096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Open Sans" panose="020B0606030504020204" pitchFamily="34" charset="0"/>
              </a:rPr>
              <a:t>K-nearest neighbor classification example for k=3 and k=7</a:t>
            </a:r>
          </a:p>
          <a:p>
            <a:r>
              <a:rPr lang="en-US" altLang="ko-KR" sz="11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https://www.kdnuggets.com/2020/11/most-popular-distance-metrics-knn.html</a:t>
            </a:r>
            <a:r>
              <a:rPr lang="en-US" altLang="ko-KR" sz="1100" dirty="0"/>
              <a:t> 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4995287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01ED5-08C5-B763-06E6-5A1848DC8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80105-AA95-367F-B995-300A9AC71C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361453F-0232-7492-E06F-018983E8C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ko-KR" b="1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b="1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b="1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Nearest</a:t>
            </a:r>
            <a:r>
              <a:rPr lang="ko-KR" altLang="en-US" b="1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b="1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neighbors</a:t>
            </a:r>
            <a:endParaRPr lang="ko-KR" altLang="en-US" b="1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B753BBD-7219-566A-677D-D7AC674D4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2384764"/>
            <a:ext cx="10353762" cy="3701711"/>
          </a:xfrm>
        </p:spPr>
        <p:txBody>
          <a:bodyPr/>
          <a:lstStyle/>
          <a:p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learn_neighbors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지도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및 비지도학습 실습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/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1.6.1.1. Finding the Nearest Neighbors : 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평면에 시각화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/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1.6.2. Nearest Neighbors Classification</a:t>
            </a:r>
          </a:p>
          <a:p>
            <a:pPr lvl="1"/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1.6.3. Nearest Neighbors Regression	</a:t>
            </a:r>
            <a:endParaRPr lang="en-US" altLang="ko-KR" cap="none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31160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DBBE0-1AFD-561E-114A-4FE8786BE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BB787-1102-92F1-7AF1-398B0C921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Cosine similarity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319BCE-F14E-2D87-4A6B-149516F85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A2B8A7-D8C3-0DA3-60F9-F81F27F55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06186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자연어처리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(Natural Language Processing)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Text 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데이터에 사용되는 유사성거리</a:t>
            </a:r>
            <a:endParaRPr lang="en-US" altLang="ko-KR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 벡터의 내적과 관련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(Transformer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비슷한 단어의 내적은 코사인 유사성이 크기 때문에 같은 비율로 커짐 </a:t>
            </a:r>
            <a:endParaRPr lang="en-US" altLang="ko-KR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3BFBFE-1D41-A302-B665-B9FE11518771}"/>
                  </a:ext>
                </a:extLst>
              </p:cNvPr>
              <p:cNvSpPr txBox="1"/>
              <p:nvPr/>
            </p:nvSpPr>
            <p:spPr>
              <a:xfrm>
                <a:off x="815358" y="4019836"/>
                <a:ext cx="4496405" cy="114242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i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m:rPr>
                              <m:lit/>
                            </m:rPr>
                            <a:rPr lang="en-US" altLang="ko-KR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m:rPr>
                              <m:lit/>
                            </m:rPr>
                            <a:rPr lang="en-US" altLang="ko-KR" i="1">
                              <a:latin typeface="Cambria Math" panose="02040503050406030204" pitchFamily="18" charset="0"/>
                            </a:rPr>
                            <m:t>||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m:rPr>
                              <m:lit/>
                            </m:rPr>
                            <a:rPr lang="en-US" altLang="ko-KR" i="1">
                              <a:latin typeface="Cambria Math" panose="02040503050406030204" pitchFamily="18" charset="0"/>
                            </a:rPr>
                            <m:t>|</m:t>
                          </m:r>
                        </m:den>
                      </m:f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nary>
                              <m:rad>
                                <m:radPr>
                                  <m:degHide m:val="on"/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nary>
                                    <m:naryPr>
                                      <m:chr m:val="∑"/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p>
                                    <m:e>
                                      <m:sSubSup>
                                        <m:sSubSup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  <m:sub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nary>
                                </m:e>
                              </m:rad>
                            </m:e>
                          </m:rad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3BFBFE-1D41-A302-B665-B9FE115187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358" y="4019836"/>
                <a:ext cx="4496405" cy="114242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C9846482-E2EF-26A6-B901-0D2E7A1FE595}"/>
              </a:ext>
            </a:extLst>
          </p:cNvPr>
          <p:cNvSpPr txBox="1">
            <a:spLocks/>
          </p:cNvSpPr>
          <p:nvPr/>
        </p:nvSpPr>
        <p:spPr>
          <a:xfrm>
            <a:off x="1075719" y="3047714"/>
            <a:ext cx="4496405" cy="7625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altLang="ko-KR" cap="none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cosine_similarity</a:t>
            </a:r>
            <a:endParaRPr lang="en-US" altLang="ko-KR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 descr="12 | MIPS vs MCSS (Maximum Inner Product / Cosine Similarity Search)">
            <a:extLst>
              <a:ext uri="{FF2B5EF4-FFF2-40B4-BE49-F238E27FC236}">
                <a16:creationId xmlns:a16="http://schemas.microsoft.com/office/drawing/2014/main" id="{0BAAB07F-BF28-39F7-C312-880C96C770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2768" y="2641292"/>
            <a:ext cx="5033513" cy="3394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936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557FAE-85FB-EF39-67C2-446BABA12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Clustering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7343E38-DCB2-ADE3-450F-2948A8BA42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2384764"/>
            <a:ext cx="10353762" cy="3701711"/>
          </a:xfrm>
        </p:spPr>
        <p:txBody>
          <a:bodyPr/>
          <a:lstStyle/>
          <a:p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군집분석의 핵심은 거리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밀도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distance_L1_L2_consine 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similarity.ipynb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sklearn.metrics.pairwise.cosine_similarity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http://w.elnn.kr/search/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04.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카운트 기반의 단어 표현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(Count based word Representation)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Dynamic_time_warping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거리는 주가의 패턴을 분석하는데 사용</a:t>
            </a: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55EE921-5723-9E6B-1B9F-C2C0365577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155449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0C48F-ECB6-57A2-F2AE-9050627F37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173620BF-B479-F41F-DE52-8CCD7AE0217C}"/>
              </a:ext>
            </a:extLst>
          </p:cNvPr>
          <p:cNvSpPr/>
          <p:nvPr/>
        </p:nvSpPr>
        <p:spPr>
          <a:xfrm>
            <a:off x="678584" y="3171189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3C3457-A427-EFA6-F3FB-DCD0D0087F9B}"/>
              </a:ext>
            </a:extLst>
          </p:cNvPr>
          <p:cNvSpPr txBox="1"/>
          <p:nvPr/>
        </p:nvSpPr>
        <p:spPr>
          <a:xfrm>
            <a:off x="1336229" y="1428465"/>
            <a:ext cx="5512246" cy="5028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Supervised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Lasso &amp; Ridge regression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D24C2B-4319-CCE0-D527-DE9200D684EB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71260-4854-BA3D-38BC-192B27E610FF}"/>
              </a:ext>
            </a:extLst>
          </p:cNvPr>
          <p:cNvSpPr txBox="1"/>
          <p:nvPr/>
        </p:nvSpPr>
        <p:spPr>
          <a:xfrm>
            <a:off x="7029450" y="1428465"/>
            <a:ext cx="4619625" cy="419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Unsupervised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Eigen</a:t>
            </a:r>
            <a:r>
              <a:rPr lang="ko-KR" altLang="en-US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value</a:t>
            </a:r>
            <a:r>
              <a:rPr lang="ko-KR" altLang="en-US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&amp;</a:t>
            </a:r>
            <a:r>
              <a:rPr lang="ko-KR" altLang="en-US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SVD &amp; Topic Model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Affine Function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Activation Function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Convolution Transformation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endParaRPr lang="ko-KR" altLang="en-US" dirty="0">
              <a:latin typeface="Times New Roman" panose="02020603050405020304" pitchFamily="18" charset="0"/>
              <a:ea typeface="맑은 고딕 Semilight" panose="020B0502040204020203" pitchFamily="50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88612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6B6F98-6CDB-E410-0D1F-C367364C1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Regression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498939"/>
            <a:ext cx="4658330" cy="3762753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A4E62-DE40-FBB4-3740-698D55447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A808B9-8204-349A-86A5-630054163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MSE(Mean Squared Error)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01ACFD-5BA0-889B-23C7-3025E298E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2B84053F-541D-D14A-2461-2401B413BF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626" y="1248301"/>
            <a:ext cx="4553722" cy="1999410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1B0B8A50-B2AC-8C53-65CB-DA63F386867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3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167711" y="1253287"/>
            <a:ext cx="3783180" cy="1954945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F8811D67-C7B0-5C9B-24C0-E86977743F6B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571877" y="4329815"/>
            <a:ext cx="3200677" cy="1638442"/>
          </a:xfrm>
          <a:prstGeom prst="rect">
            <a:avLst/>
          </a:prstGeom>
        </p:spPr>
      </p:pic>
      <p:sp>
        <p:nvSpPr>
          <p:cNvPr id="37" name="오른쪽 중괄호 36">
            <a:extLst>
              <a:ext uri="{FF2B5EF4-FFF2-40B4-BE49-F238E27FC236}">
                <a16:creationId xmlns:a16="http://schemas.microsoft.com/office/drawing/2014/main" id="{3D299CA6-819A-997A-F600-531F5A6C1641}"/>
              </a:ext>
            </a:extLst>
          </p:cNvPr>
          <p:cNvSpPr/>
          <p:nvPr/>
        </p:nvSpPr>
        <p:spPr>
          <a:xfrm rot="5400000">
            <a:off x="5407959" y="1488562"/>
            <a:ext cx="404251" cy="4219575"/>
          </a:xfrm>
          <a:prstGeom prst="rightBrace">
            <a:avLst>
              <a:gd name="adj1" fmla="val 57265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E00AC0C-9A02-D235-CB95-D8E493AFBD5A}"/>
                  </a:ext>
                </a:extLst>
              </p:cNvPr>
              <p:cNvSpPr txBox="1"/>
              <p:nvPr/>
            </p:nvSpPr>
            <p:spPr>
              <a:xfrm>
                <a:off x="1332895" y="3844842"/>
                <a:ext cx="4676775" cy="3539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에러는 실제와 예측 값의 차이</a:t>
                </a:r>
                <a:r>
                  <a:rPr lang="en-US" altLang="ko-KR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700"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𝜖</m:t>
                    </m:r>
                    <m:r>
                      <a:rPr lang="en-US" altLang="ko-KR" sz="1700"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r>
                      <m:rPr>
                        <m:sty m:val="p"/>
                      </m:rPr>
                      <a:rPr lang="en-US" altLang="ko-KR" sz="1700"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y</m:t>
                    </m:r>
                    <m:r>
                      <a:rPr lang="en-US" altLang="ko-KR" sz="1700"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− </m:t>
                    </m:r>
                    <m:acc>
                      <m:accPr>
                        <m:chr m:val="̂"/>
                        <m:ctrlPr>
                          <a:rPr lang="ko-KR" altLang="en-US" sz="1700"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ko-KR" sz="1700"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y</m:t>
                        </m:r>
                      </m:e>
                    </m:acc>
                  </m:oMath>
                </a14:m>
                <a:r>
                  <a:rPr lang="en-US" altLang="ko-KR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endPara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E00AC0C-9A02-D235-CB95-D8E493AFBD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2895" y="3844842"/>
                <a:ext cx="4676775" cy="353943"/>
              </a:xfrm>
              <a:prstGeom prst="rect">
                <a:avLst/>
              </a:prstGeom>
              <a:blipFill>
                <a:blip r:embed="rId6"/>
                <a:stretch>
                  <a:fillRect l="-913" t="-6897" b="-2241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414D2ACF-EDDF-1AB0-44AF-6EF356311A17}"/>
              </a:ext>
            </a:extLst>
          </p:cNvPr>
          <p:cNvSpPr txBox="1"/>
          <p:nvPr/>
        </p:nvSpPr>
        <p:spPr>
          <a:xfrm>
            <a:off x="811360" y="883955"/>
            <a:ext cx="14097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Actual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endParaRPr lang="ko-KR" alt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71E307C-EACC-51E4-DD9F-8EE98C51964A}"/>
              </a:ext>
            </a:extLst>
          </p:cNvPr>
          <p:cNvSpPr txBox="1"/>
          <p:nvPr/>
        </p:nvSpPr>
        <p:spPr>
          <a:xfrm>
            <a:off x="7155042" y="883955"/>
            <a:ext cx="19889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endParaRPr lang="ko-KR" altLang="en-US" dirty="0"/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BA5809DB-C0E9-5D79-51D1-26D791083115}"/>
              </a:ext>
            </a:extLst>
          </p:cNvPr>
          <p:cNvGrpSpPr/>
          <p:nvPr/>
        </p:nvGrpSpPr>
        <p:grpSpPr>
          <a:xfrm>
            <a:off x="7924800" y="3735068"/>
            <a:ext cx="2824480" cy="1189493"/>
            <a:chOff x="8575040" y="3851111"/>
            <a:chExt cx="2824480" cy="1189493"/>
          </a:xfrm>
        </p:grpSpPr>
        <p:pic>
          <p:nvPicPr>
            <p:cNvPr id="47" name="그림 46">
              <a:extLst>
                <a:ext uri="{FF2B5EF4-FFF2-40B4-BE49-F238E27FC236}">
                  <a16:creationId xmlns:a16="http://schemas.microsoft.com/office/drawing/2014/main" id="{D19109A4-492F-5FCA-F1D4-896C8487056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8670483" y="4329815"/>
              <a:ext cx="2220300" cy="710789"/>
            </a:xfrm>
            <a:prstGeom prst="rect">
              <a:avLst/>
            </a:prstGeom>
          </p:spPr>
        </p:pic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87AC92C-032C-C967-C231-4ED2755AB069}"/>
                </a:ext>
              </a:extLst>
            </p:cNvPr>
            <p:cNvSpPr txBox="1"/>
            <p:nvPr/>
          </p:nvSpPr>
          <p:spPr>
            <a:xfrm>
              <a:off x="8575040" y="3851111"/>
              <a:ext cx="2824480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모델의 성능지표</a:t>
              </a:r>
              <a:r>
                <a:rPr lang="en-US" altLang="ko-KR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(metric)</a:t>
              </a:r>
              <a:endPara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0E65D59E-6B20-48D6-060D-EDE9FEB86AEE}"/>
              </a:ext>
            </a:extLst>
          </p:cNvPr>
          <p:cNvGrpSpPr/>
          <p:nvPr/>
        </p:nvGrpSpPr>
        <p:grpSpPr>
          <a:xfrm>
            <a:off x="8020243" y="5091483"/>
            <a:ext cx="2824480" cy="1001698"/>
            <a:chOff x="8650279" y="5116220"/>
            <a:chExt cx="2824480" cy="1001698"/>
          </a:xfrm>
        </p:grpSpPr>
        <p:pic>
          <p:nvPicPr>
            <p:cNvPr id="45" name="그림 44">
              <a:extLst>
                <a:ext uri="{FF2B5EF4-FFF2-40B4-BE49-F238E27FC236}">
                  <a16:creationId xmlns:a16="http://schemas.microsoft.com/office/drawing/2014/main" id="{A0AC1168-EDFF-93B3-9765-389C48B5487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8670483" y="5470163"/>
              <a:ext cx="2575411" cy="647755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B0E2E1CB-8BD0-9CBA-C134-C3EA19017FC6}"/>
                </a:ext>
              </a:extLst>
            </p:cNvPr>
            <p:cNvSpPr txBox="1"/>
            <p:nvPr/>
          </p:nvSpPr>
          <p:spPr>
            <a:xfrm>
              <a:off x="8650279" y="5116220"/>
              <a:ext cx="2824480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분산</a:t>
              </a:r>
              <a:r>
                <a:rPr lang="en-US" altLang="ko-KR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, </a:t>
              </a:r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내적</a:t>
              </a:r>
              <a:r>
                <a:rPr lang="en-US" altLang="ko-KR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, </a:t>
              </a:r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유클리드 거리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452221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9" grpId="0"/>
      <p:bldP spid="4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 Formulation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F1DC974-0213-762D-DA9B-996F89ADE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453514"/>
            <a:ext cx="6624926" cy="193979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BA7676C-C191-A8AC-AF32-140354371AD5}"/>
              </a:ext>
            </a:extLst>
          </p:cNvPr>
          <p:cNvSpPr txBox="1"/>
          <p:nvPr/>
        </p:nvSpPr>
        <p:spPr>
          <a:xfrm>
            <a:off x="7538721" y="2291326"/>
            <a:ext cx="4348479" cy="21019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 + (n,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1) – (n, 1) = (n,1) -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 = 1/n * (1, n)@(n, 1)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9B85837-F508-0C94-9CF0-8BC26C9BAE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22101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수식 연산 표현</a:t>
            </a:r>
            <a:endParaRPr lang="en-US" altLang="ko-KR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081087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C0163-15BA-B9B1-CCC9-DE6AAB400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641706-50DB-4E7F-A770-EC62EB6E7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B42B101-56A2-19C5-76E1-CE7BD021E8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B04C50D8-B70B-4E30-23FF-1BB14F9A85C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Linear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A455A37F-3231-1A41-AE78-15F0E8AEBF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60866" y="1747802"/>
            <a:ext cx="4859685" cy="317979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대수학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(Algebra)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단순회귀식을 구하라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의미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print(d_w0, d_w1)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편미분의미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의미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FA417F-8E04-9153-94A2-338997BEF6C8}"/>
              </a:ext>
            </a:extLst>
          </p:cNvPr>
          <p:cNvSpPr txBox="1"/>
          <p:nvPr/>
        </p:nvSpPr>
        <p:spPr>
          <a:xfrm>
            <a:off x="913795" y="1233766"/>
            <a:ext cx="5323840" cy="5016758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심볼 정의</a:t>
            </a: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w0, w1, x, y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('w0 w1 x y')</a:t>
            </a:r>
          </a:p>
          <a:p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잔차제곱합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(SSE)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정의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 = [(1, 1), (2, 3), (4, 3), (3, 2), (5, 5)]</a:t>
            </a:r>
          </a:p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sum((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– (w0 + w1 *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))**2 for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in data)</a:t>
            </a:r>
            <a:b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통해 최소값 찾기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d_w0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w0)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d_w1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w1)</a:t>
            </a:r>
            <a:b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연립방정식 풀기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solution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sp.solve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([d_w0, d_w1], [w0, w1])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최적의 가중치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{solution}")</a:t>
            </a:r>
          </a:p>
          <a:p>
            <a:pPr>
              <a:buNone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의미해석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print(d_w0, d_w1)</a:t>
            </a:r>
          </a:p>
        </p:txBody>
      </p:sp>
    </p:spTree>
    <p:extLst>
      <p:ext uri="{BB962C8B-B14F-4D97-AF65-F5344CB8AC3E}">
        <p14:creationId xmlns:p14="http://schemas.microsoft.com/office/powerpoint/2010/main" val="31956492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451A519D-6530-EE2C-2EF8-DAD2B15AF5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Descending Mount Everest(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Errorest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1026160" y="1276221"/>
            <a:ext cx="8585200" cy="876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599113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5003E-BEDD-42D4-4CBF-A63561644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DF0F06A-63C2-DF81-DD67-8ABD6DBB2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7277938-3F89-0A4B-FD6F-6C3A60E027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125963AB-9938-2FCF-579C-1601FF0C90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444" y="1563412"/>
            <a:ext cx="10343112" cy="1482914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사용하여 에러를 최소화하는 함수를 만들어 회귀식을 구하여 비교하라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AE29396D-00A5-B113-4D30-096C403C81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5621" y="2888271"/>
            <a:ext cx="4127687" cy="3330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제목 1">
            <a:extLst>
              <a:ext uri="{FF2B5EF4-FFF2-40B4-BE49-F238E27FC236}">
                <a16:creationId xmlns:a16="http://schemas.microsoft.com/office/drawing/2014/main" id="{9FF7C63E-80DF-8535-A0BE-D755DEC0CD6B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Linear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96031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02945D-B350-3FF4-7D09-2E334EB77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8CF00E-A436-DA50-48FC-D7F905125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CAD4E53-927A-CBED-1E0D-FD4AF8B1E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5002" y="1381125"/>
            <a:ext cx="5762484" cy="426720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66214D33-6987-A093-F549-7C12FD8B65DF}"/>
              </a:ext>
            </a:extLst>
          </p:cNvPr>
          <p:cNvSpPr/>
          <p:nvPr/>
        </p:nvSpPr>
        <p:spPr>
          <a:xfrm>
            <a:off x="4763294" y="1784950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" name="구부러진 연결선 11">
            <a:extLst>
              <a:ext uri="{FF2B5EF4-FFF2-40B4-BE49-F238E27FC236}">
                <a16:creationId xmlns:a16="http://schemas.microsoft.com/office/drawing/2014/main" id="{11810A7A-0B36-327E-EE3E-4B1777215DB3}"/>
              </a:ext>
            </a:extLst>
          </p:cNvPr>
          <p:cNvCxnSpPr>
            <a:cxnSpLocks/>
            <a:stCxn id="11" idx="2"/>
            <a:endCxn id="18" idx="1"/>
          </p:cNvCxnSpPr>
          <p:nvPr/>
        </p:nvCxnSpPr>
        <p:spPr>
          <a:xfrm rot="16200000" flipH="1">
            <a:off x="4768416" y="2300557"/>
            <a:ext cx="1214644" cy="64882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1B06CE2-D3E3-FC6B-500C-F37662CA44B0}"/>
              </a:ext>
            </a:extLst>
          </p:cNvPr>
          <p:cNvSpPr/>
          <p:nvPr/>
        </p:nvSpPr>
        <p:spPr>
          <a:xfrm>
            <a:off x="330620" y="5742724"/>
            <a:ext cx="17011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Recursive iterations</a:t>
            </a:r>
            <a:endParaRPr lang="ko-KR" altLang="en-US" sz="1400" u="sng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F90CE7C-504E-5A87-E174-EFE064F13760}"/>
              </a:ext>
            </a:extLst>
          </p:cNvPr>
          <p:cNvSpPr/>
          <p:nvPr/>
        </p:nvSpPr>
        <p:spPr>
          <a:xfrm>
            <a:off x="405355" y="1667063"/>
            <a:ext cx="158088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Initialized settings</a:t>
            </a:r>
            <a:endParaRPr lang="ko-KR" altLang="en-US" sz="1400" u="sng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F34DFF6C-4FD1-14C3-B024-D1F164F3FE9E}"/>
              </a:ext>
            </a:extLst>
          </p:cNvPr>
          <p:cNvCxnSpPr>
            <a:stCxn id="16" idx="2"/>
            <a:endCxn id="15" idx="0"/>
          </p:cNvCxnSpPr>
          <p:nvPr/>
        </p:nvCxnSpPr>
        <p:spPr>
          <a:xfrm flipH="1">
            <a:off x="1181174" y="1974840"/>
            <a:ext cx="14622" cy="37678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8" name="그림 17">
            <a:extLst>
              <a:ext uri="{FF2B5EF4-FFF2-40B4-BE49-F238E27FC236}">
                <a16:creationId xmlns:a16="http://schemas.microsoft.com/office/drawing/2014/main" id="{64ECB6AE-3EA9-954F-A0B8-9DEED6094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0150" y="2405716"/>
            <a:ext cx="5890109" cy="1653150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2E07D99B-F812-5A40-0726-AFA6DDA3168B}"/>
              </a:ext>
            </a:extLst>
          </p:cNvPr>
          <p:cNvSpPr/>
          <p:nvPr/>
        </p:nvSpPr>
        <p:spPr>
          <a:xfrm>
            <a:off x="5540825" y="1765388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구부러진 연결선 24">
            <a:extLst>
              <a:ext uri="{FF2B5EF4-FFF2-40B4-BE49-F238E27FC236}">
                <a16:creationId xmlns:a16="http://schemas.microsoft.com/office/drawing/2014/main" id="{BFD02EFB-B366-BACF-6FA4-5FF0D20D3125}"/>
              </a:ext>
            </a:extLst>
          </p:cNvPr>
          <p:cNvCxnSpPr>
            <a:cxnSpLocks/>
            <a:stCxn id="19" idx="2"/>
            <a:endCxn id="23" idx="1"/>
          </p:cNvCxnSpPr>
          <p:nvPr/>
        </p:nvCxnSpPr>
        <p:spPr>
          <a:xfrm rot="16200000" flipH="1">
            <a:off x="4331294" y="3495648"/>
            <a:ext cx="3137539" cy="14241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그림 22">
            <a:extLst>
              <a:ext uri="{FF2B5EF4-FFF2-40B4-BE49-F238E27FC236}">
                <a16:creationId xmlns:a16="http://schemas.microsoft.com/office/drawing/2014/main" id="{F0E2918E-5F14-91CA-4AB8-3152ED76C9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269" y="4299450"/>
            <a:ext cx="5890111" cy="167234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89DF932-5A51-127A-5A01-129776C56026}"/>
              </a:ext>
            </a:extLst>
          </p:cNvPr>
          <p:cNvSpPr txBox="1"/>
          <p:nvPr/>
        </p:nvSpPr>
        <p:spPr>
          <a:xfrm>
            <a:off x="139403" y="3093969"/>
            <a:ext cx="1905599" cy="88761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Let 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*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 = </a:t>
            </a:r>
            <a:r>
              <a:rPr lang="en-US" altLang="ko-KR" sz="12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- y</a:t>
            </a:r>
            <a:endParaRPr lang="ko-KR" altLang="en-US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FF8BB3B-A077-AFB9-CE95-474DEA4B3137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Stochastic Gradient Descent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_x422600552" descr="DRW00004be805ca">
            <a:extLst>
              <a:ext uri="{FF2B5EF4-FFF2-40B4-BE49-F238E27FC236}">
                <a16:creationId xmlns:a16="http://schemas.microsoft.com/office/drawing/2014/main" id="{30CB297D-E262-5E5D-CEB1-0ED3249DB5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09134" y="3919739"/>
            <a:ext cx="2251372" cy="521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25B0AFC-9A4F-3F16-542C-A67408332E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90010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Linear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Regression (Project)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EF1BC567-8CF8-0F01-3159-1111B5C86B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3" y="1238249"/>
            <a:ext cx="10773382" cy="4638675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대상으로 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사용하여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변수간 상관관계를 산출하여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price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변수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(Target)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가장 상관관계가 높은 변수를 검토하고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수치형 변수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'carat', 'depth', 'table’ 3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입력변수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(Input)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가격을 예측하라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범주형 변수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'cut', 'color', 'clarity’, 3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추가하여 총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입력변수로 가격을 예측하라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수치형 및 범주형 변수와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price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변수와의 상관관계를 확인하는 방법을 토론하라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alone-in-the-woods-using-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theil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-s-u-for-survival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적용하라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범주형 변수를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one-hot-encoding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하거나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dummy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변수로 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전처리하는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의미는 무엇인가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Symson’s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paradox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관련되어 이해하라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statsmodels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라이브러리를 사용하여 통계적 요약 보고서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(Summary)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변수의 유의성을 판단하도록 하라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Perceptron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B7DCEA7-54A6-B15D-05C9-0627756675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6863" y="2818450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21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  <a:blipFill>
                <a:blip r:embed="rId3"/>
                <a:stretch>
                  <a:fillRect l="-456" b="-75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AC721B09-7985-FB30-C02C-CDB0F3FFC5C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F45D2DDE-ED31-970A-8F32-829DACE28F6E}"/>
              </a:ext>
            </a:extLst>
          </p:cNvPr>
          <p:cNvGrpSpPr/>
          <p:nvPr/>
        </p:nvGrpSpPr>
        <p:grpSpPr>
          <a:xfrm>
            <a:off x="8361749" y="2624259"/>
            <a:ext cx="2887276" cy="3294706"/>
            <a:chOff x="8914199" y="2157534"/>
            <a:chExt cx="2887276" cy="3294706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2349E664-7C0D-0A6F-DA46-783EB35CA6F4}"/>
                </a:ext>
              </a:extLst>
            </p:cNvPr>
            <p:cNvGrpSpPr/>
            <p:nvPr/>
          </p:nvGrpSpPr>
          <p:grpSpPr>
            <a:xfrm>
              <a:off x="8914199" y="2637854"/>
              <a:ext cx="2887276" cy="2814386"/>
              <a:chOff x="7009199" y="3511129"/>
              <a:chExt cx="2887276" cy="2814386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182A04B-D395-1DFA-D4A5-FA95694198F3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662C1E02-B87A-DEDD-3BC5-2C00C5141498}"/>
                  </a:ext>
                </a:extLst>
              </p:cNvPr>
              <p:cNvGrpSpPr/>
              <p:nvPr/>
            </p:nvGrpSpPr>
            <p:grpSpPr>
              <a:xfrm>
                <a:off x="7009199" y="3511129"/>
                <a:ext cx="2887276" cy="2534212"/>
                <a:chOff x="7009199" y="3508852"/>
                <a:chExt cx="2462167" cy="2161087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A6BDC3D-A4CC-D6F5-EB1A-C74E4C7B2F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8058C60F-E1F1-BF72-C7F4-F9EF89B9287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179165" y="3508852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3032DFD-B8AA-1AB7-E55F-89A8F8BD220A}"/>
                </a:ext>
              </a:extLst>
            </p:cNvPr>
            <p:cNvSpPr txBox="1"/>
            <p:nvPr/>
          </p:nvSpPr>
          <p:spPr>
            <a:xfrm>
              <a:off x="9343312" y="2157534"/>
              <a:ext cx="20193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012773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Perceptron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21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21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  <a:blipFill>
                <a:blip r:embed="rId2"/>
                <a:stretch>
                  <a:fillRect l="-456" b="-75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A2954695-EC8A-4B49-2BC8-B84F0379CE77}"/>
              </a:ext>
            </a:extLst>
          </p:cNvPr>
          <p:cNvGrpSpPr/>
          <p:nvPr/>
        </p:nvGrpSpPr>
        <p:grpSpPr>
          <a:xfrm>
            <a:off x="7850179" y="2624259"/>
            <a:ext cx="4172517" cy="2805848"/>
            <a:chOff x="7850179" y="2624259"/>
            <a:chExt cx="4172517" cy="2805848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5B00755-4DB1-2290-0D18-9768794AE216}"/>
                </a:ext>
              </a:extLst>
            </p:cNvPr>
            <p:cNvSpPr txBox="1"/>
            <p:nvPr/>
          </p:nvSpPr>
          <p:spPr>
            <a:xfrm>
              <a:off x="8533199" y="5091553"/>
              <a:ext cx="2887276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altLang="ko-KR" sz="1600" dirty="0">
                  <a:latin typeface="+mj-ea"/>
                </a:rPr>
                <a:t>(n, 1) = (n, 3) @ (3, 1) + (n,1)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90AF9DB-ABDC-0C64-5932-6FEDD3D030B8}"/>
                </a:ext>
              </a:extLst>
            </p:cNvPr>
            <p:cNvSpPr txBox="1"/>
            <p:nvPr/>
          </p:nvSpPr>
          <p:spPr>
            <a:xfrm>
              <a:off x="8790862" y="2624259"/>
              <a:ext cx="20193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45D8B4D-97A1-8C20-11EB-B9303DFAC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50179" y="3573619"/>
              <a:ext cx="4172517" cy="1555134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879EF01-D57D-603E-DF74-20AFD06028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23045" y="3170262"/>
              <a:ext cx="3021634" cy="4033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647D6-8297-E662-1ECD-E88CEFF17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6D69ED-B91B-A858-B2E5-19E620F5B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6EF0ECB-1F76-78F8-15CE-364DFA4286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8FA17CC-76E0-9904-2189-F27BDFAB0391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FFFF4F0-7DB3-AABE-D6D5-2193C90BF2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8000"/>
            <a:ext cx="10353762" cy="4258262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24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데이터로 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구조를 사용하여 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“price“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예측하라</a:t>
            </a:r>
            <a:endParaRPr lang="en-US" altLang="ko-KR" sz="24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(Features)</a:t>
            </a: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 : 1 feature</a:t>
            </a: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 : 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features</a:t>
            </a: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'table’, 'cut', 'color', 'clarity’ : 6 feature</a:t>
            </a:r>
          </a:p>
          <a:p>
            <a:pPr lvl="1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딥러닝 라이브러리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keras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딥 러닝을 이용한 자연어 처리 입문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참고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092546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1F7F6-89A5-0B80-EB32-B2DDFDEF3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B0E1AC2E-EF53-5A39-5B3D-190AC0014543}"/>
              </a:ext>
            </a:extLst>
          </p:cNvPr>
          <p:cNvSpPr/>
          <p:nvPr/>
        </p:nvSpPr>
        <p:spPr>
          <a:xfrm>
            <a:off x="678584" y="4796789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DD54FD-FD12-712F-EE7A-51DC5A142B09}"/>
              </a:ext>
            </a:extLst>
          </p:cNvPr>
          <p:cNvSpPr txBox="1"/>
          <p:nvPr/>
        </p:nvSpPr>
        <p:spPr>
          <a:xfrm>
            <a:off x="1336229" y="1428465"/>
            <a:ext cx="5512246" cy="5444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Supervised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Lasso &amp; Ridge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endParaRPr lang="en-US" altLang="ko-KR" b="1" dirty="0">
              <a:latin typeface="Times New Roman" panose="02020603050405020304" pitchFamily="18" charset="0"/>
              <a:ea typeface="맑은 고딕 Semilight" panose="020B0502040204020203" pitchFamily="50" charset="-127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1E85B9-35DA-589C-0500-0FBD615487C7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F3BDBB-FA15-F1CC-EA9B-B506B15D5731}"/>
              </a:ext>
            </a:extLst>
          </p:cNvPr>
          <p:cNvSpPr txBox="1"/>
          <p:nvPr/>
        </p:nvSpPr>
        <p:spPr>
          <a:xfrm>
            <a:off x="7029450" y="1428465"/>
            <a:ext cx="4619625" cy="419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Unsupervised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Eigen</a:t>
            </a:r>
            <a:r>
              <a:rPr lang="ko-KR" altLang="en-US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value</a:t>
            </a:r>
            <a:r>
              <a:rPr lang="ko-KR" altLang="en-US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&amp;</a:t>
            </a:r>
            <a:r>
              <a:rPr lang="ko-KR" altLang="en-US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SVD &amp; Topic Model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Affine Function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Activation Function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Convolution Transformation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endParaRPr lang="ko-KR" altLang="en-US" dirty="0">
              <a:latin typeface="Times New Roman" panose="02020603050405020304" pitchFamily="18" charset="0"/>
              <a:ea typeface="맑은 고딕 Semilight" panose="020B0502040204020203" pitchFamily="50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53813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74859-7B64-5D9C-880C-3DD03B237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0" name="Picture 4">
            <a:extLst>
              <a:ext uri="{FF2B5EF4-FFF2-40B4-BE49-F238E27FC236}">
                <a16:creationId xmlns:a16="http://schemas.microsoft.com/office/drawing/2014/main" id="{438ABE29-6FFB-BDC6-1057-98F40DD052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7600" y="1341120"/>
            <a:ext cx="7070197" cy="4611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3BFEBE-4E39-F739-9487-D585CA6A0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A1DA53-2F42-6742-3CC6-4ED525B8A191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bias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variance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FE870F4F-57D1-9757-1BD3-1F9FB2AF01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321" y="1557994"/>
            <a:ext cx="4399279" cy="4394484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곡선 형태의 가상데이터의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70%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훈련데이터로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다항식으로 학습하고 나머지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30%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예측한 결과 시각화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이러한 예측의 치명적 결함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과대적합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(High variance)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훈련데이터에 과대 집착하여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(too sensitive to past data)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일반화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(Generalization)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모델 생성 실패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낭비 및 편향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데이터는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회만 사용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구조의 신뢰도 저하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9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다항식 구조가 좋다는 근거가 없음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0A8594-CEA0-048B-D43B-49B4028B885C}"/>
              </a:ext>
            </a:extLst>
          </p:cNvPr>
          <p:cNvSpPr txBox="1"/>
          <p:nvPr/>
        </p:nvSpPr>
        <p:spPr>
          <a:xfrm>
            <a:off x="8398949" y="4416242"/>
            <a:ext cx="2868607" cy="95410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 = 1000</a:t>
            </a:r>
          </a:p>
          <a:p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rng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np.random.RandomState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(11)</a:t>
            </a:r>
          </a:p>
          <a:p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= 10 * </a:t>
            </a:r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rng.rand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(N)</a:t>
            </a:r>
          </a:p>
          <a:p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np.cos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 + 0.55 * </a:t>
            </a:r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rng.randn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F3FEA7-014F-6E03-6706-0C4078EAF29F}"/>
              </a:ext>
            </a:extLst>
          </p:cNvPr>
          <p:cNvSpPr txBox="1"/>
          <p:nvPr/>
        </p:nvSpPr>
        <p:spPr>
          <a:xfrm>
            <a:off x="6888481" y="1011920"/>
            <a:ext cx="391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linkClick r:id="rId3"/>
              </a:rPr>
              <a:t>Understanding of bias-variance/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8E02784-80C2-04A8-E1CF-3E0D175DA092}"/>
                  </a:ext>
                </a:extLst>
              </p:cNvPr>
              <p:cNvSpPr txBox="1"/>
              <p:nvPr/>
            </p:nvSpPr>
            <p:spPr>
              <a:xfrm>
                <a:off x="6350003" y="1816850"/>
                <a:ext cx="2412998" cy="29706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sSup>
                            <m:sSupPr>
                              <m:ctrlPr>
                                <a:rPr lang="en-US" altLang="ko-KR" sz="1200" i="1" cap="none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200" i="1" cap="none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altLang="ko-KR" sz="1200" i="1" cap="none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sub>
                        <m:sup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sSup>
                        <m:sSup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ko-KR" sz="1200" b="0" i="1" cap="none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p>
                    </m:oMath>
                  </m:oMathPara>
                </a14:m>
                <a:endParaRPr lang="ko-KR" altLang="en-US" sz="12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8E02784-80C2-04A8-E1CF-3E0D175DA0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0003" y="1816850"/>
                <a:ext cx="2412998" cy="29706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34412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60C45-A319-75B6-3B2E-57FB4E484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9E36B7-36A4-D9F3-B7CF-5AAF24FC1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B28786A6-6685-0D59-C5FC-8627B4CD0292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cross-validation : </a:t>
            </a:r>
            <a:r>
              <a:rPr lang="en-US" altLang="ko-KR" b="1" cap="none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bias</a:t>
            </a:r>
            <a:r>
              <a:rPr lang="ko-KR" altLang="en-US" b="1" cap="none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 variance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3E9E8FBC-AA92-AE5E-A12D-A4E96864A1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8321" y="1029674"/>
                <a:ext cx="11338559" cy="1938992"/>
              </a:xfrm>
            </p:spPr>
            <p:txBody>
              <a:bodyPr>
                <a:normAutofit fontScale="85000" lnSpcReduction="1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차 부터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차 다항식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 모델별로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5-fold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사용하여 훈련데이터로 학습하여 검증데이터 예측결과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5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평균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Squared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Error)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Average CV MSE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가장 낮은 다항식모델은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7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차 다항식 모델로 결정</a:t>
                </a:r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7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차 다항식모델을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Hold-out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데이터로 예측</a:t>
                </a:r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sSup>
                            <m:sSupPr>
                              <m:ctrlPr>
                                <a:rPr lang="en-US" altLang="ko-KR" sz="2100" i="1" cap="none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2100" i="1" cap="none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altLang="ko-KR" sz="2100" i="1" cap="none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sub>
                        <m:sup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sSup>
                        <m:sSup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p>
                    </m:oMath>
                  </m:oMathPara>
                </a14:m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3E9E8FBC-AA92-AE5E-A12D-A4E96864A1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8321" y="1029674"/>
                <a:ext cx="11338559" cy="1938992"/>
              </a:xfrm>
              <a:blipFill>
                <a:blip r:embed="rId2"/>
                <a:stretch>
                  <a:fillRect l="-37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22" name="Picture 2">
            <a:extLst>
              <a:ext uri="{FF2B5EF4-FFF2-40B4-BE49-F238E27FC236}">
                <a16:creationId xmlns:a16="http://schemas.microsoft.com/office/drawing/2014/main" id="{66912183-750B-BEF1-8EC1-22CC255C4A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38512" y="3265569"/>
            <a:ext cx="4767031" cy="26675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글 내용">
            <a:extLst>
              <a:ext uri="{FF2B5EF4-FFF2-40B4-BE49-F238E27FC236}">
                <a16:creationId xmlns:a16="http://schemas.microsoft.com/office/drawing/2014/main" id="{E23B82CF-DF36-DBB3-0484-3A0E301DFD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050" y="3270032"/>
            <a:ext cx="4033520" cy="1836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B7C9529-92E1-ACB2-5833-8FA8A11525AF}"/>
              </a:ext>
            </a:extLst>
          </p:cNvPr>
          <p:cNvSpPr txBox="1"/>
          <p:nvPr/>
        </p:nvSpPr>
        <p:spPr>
          <a:xfrm>
            <a:off x="9605543" y="3266473"/>
            <a:ext cx="257048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Arial Narrow" panose="020B0606020202030204" pitchFamily="34" charset="0"/>
              </a:rPr>
              <a:t>Degree 0: Average CV MSE = 0.8165 Degree 1: Average CV MSE = 0.7959 Degree 2: Average CV MSE = 0.7917 Degree 3: Average CV MSE = 0.4621 Degree 4: Average CV MSE = 0.4400 Degree 5: Average CV MSE = 0.3227 Degree 6: Average CV MSE = 0.3203 Degree 7: Average CV MSE = 0.3163 Degree 8: Average CV MSE = 0.4017 Degree 9: Average CV MSE = 0.425</a:t>
            </a:r>
            <a:endParaRPr lang="ko-KR" altLang="en-US" sz="1200" dirty="0">
              <a:latin typeface="Arial Narrow" panose="020B0606020202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60A2D1-C218-05CA-8FA9-4AEC8910906B}"/>
              </a:ext>
            </a:extLst>
          </p:cNvPr>
          <p:cNvSpPr txBox="1"/>
          <p:nvPr/>
        </p:nvSpPr>
        <p:spPr>
          <a:xfrm>
            <a:off x="528321" y="2795924"/>
            <a:ext cx="4033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cross-validation/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29111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DB585-A11F-F79D-88AF-E05DA8362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1518FEFF-02A7-FB9B-6B9E-5A87738D4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4001" y="4039324"/>
            <a:ext cx="8054649" cy="2098040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F9E20B-0C28-71FC-9F92-D69AC6CD0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5953A29-9ACC-0CC5-7F78-319CBCA77A44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Hold out + CV 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807D94E-1A8D-D390-FC8F-11C33CAE9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321" y="1029674"/>
            <a:ext cx="11338559" cy="2617766"/>
          </a:xfrm>
        </p:spPr>
        <p:txBody>
          <a:bodyPr>
            <a:normAutofit fontScale="85000" lnSpcReduction="20000"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과거데이터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(N=1000)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Test set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200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(Cross Validation)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나머지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800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데이터로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K-fold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학습 및 검증 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MSE,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f1-score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등을 성능지표로 모델 평가 및 선택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구조 결정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선택 모델로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800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데이터를 최종적으로  학습하여 최적모델 생성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결정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마지막으로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Hold-out(Test set)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예측하여 성능지표를 확인하고 종료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909783-0713-3820-12C1-A77FD79F7EE5}"/>
              </a:ext>
            </a:extLst>
          </p:cNvPr>
          <p:cNvSpPr txBox="1"/>
          <p:nvPr/>
        </p:nvSpPr>
        <p:spPr>
          <a:xfrm>
            <a:off x="8566281" y="5639246"/>
            <a:ext cx="14006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i="0" dirty="0">
                <a:solidFill>
                  <a:srgbClr val="666666"/>
                </a:solidFill>
                <a:effectLst/>
                <a:latin typeface="Arial" panose="020B0604020202020204" pitchFamily="34" charset="0"/>
              </a:rPr>
              <a:t>3-fold CV</a:t>
            </a:r>
            <a:endParaRPr lang="ko-KR" altLang="en-US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8927D7-6AAF-8E39-7939-23C8DE5ECD57}"/>
              </a:ext>
            </a:extLst>
          </p:cNvPr>
          <p:cNvSpPr txBox="1"/>
          <p:nvPr/>
        </p:nvSpPr>
        <p:spPr>
          <a:xfrm>
            <a:off x="1999240" y="3647440"/>
            <a:ext cx="37561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3"/>
              </a:rPr>
              <a:t>Understanding of train-test-validation/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185628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4DAA0-D37E-C1F2-1874-431BE448E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7EDCE1-6AB3-E560-8604-B89EDD359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0DB93D6-D873-C9CD-5AAF-2637AEE2B7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E84BEA6-DD9A-2E40-C600-CF242B168402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cross validation &amp; CV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1D7CAEEE-98C8-510C-EB2A-AABB921CF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데이터에서 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“price”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변수와 가장 상관관계가 높은 수치형 변수를 선택하고 단순회귀식의 몇 차의 다항식이 가장 적합한지 모델을 선택하라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평가기준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교차검증 평균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Errors)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20%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5-fold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수치를 최종 제시하라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415018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F1ADF-1B70-2171-5A85-0C9081B95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C730DF-214F-B904-0AC1-6D1A4C55F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B9764CA8-2386-587C-47F7-37D0EB38EF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4001" y="1721959"/>
            <a:ext cx="4765039" cy="3718562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단순회귀식은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직선만 학습한 데이터 패턴 미반영한 과소적합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(High Bias, Underfitting), </a:t>
            </a: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Polynomial Regression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훈련 데이터에 과도하게 맞춘 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과적합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(Overfitting, Low Bias)</a:t>
            </a:r>
            <a:endParaRPr lang="ko-KR" altLang="en-US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 (L2)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계수 크기를 억제하여 부드러운 곡선으로 안정화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 (L1)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더 보수적 모델로 불필요한 계수는 제거하여 단순화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53B61E22-BABE-F65A-59D6-4C883DAD80E8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Lasso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Ridge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Regression 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F9E898CD-5ED9-B86C-A42F-E29B638B3E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9840" y="1690270"/>
            <a:ext cx="7073553" cy="4207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03673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07100-FF9F-E59F-6BB5-A4AF985AE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A7134E-3C65-1D6F-88CD-2E9DDCB8F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4288A2D9-A863-5884-9849-6BF257D90CC7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Lasso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Ridge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Regression 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B5E766-0CDC-143F-B4A6-B9D3B79A287B}"/>
              </a:ext>
            </a:extLst>
          </p:cNvPr>
          <p:cNvSpPr txBox="1"/>
          <p:nvPr/>
        </p:nvSpPr>
        <p:spPr>
          <a:xfrm>
            <a:off x="528320" y="1063859"/>
            <a:ext cx="5181600" cy="4899033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from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sklearn.linear_model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LinearRegression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Ridge, Lasso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from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sklearn.preprocessing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PolynomialFeatures</a:t>
            </a: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from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sklearn.pipeline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make_pipeline</a:t>
            </a: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numpy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as np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matplotlib.pyplot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as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</a:t>
            </a: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rng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np.random.RandomState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(11)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X = 10 *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rng.rand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(100)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y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np.cos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(X) + 0.25 *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rng.randn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(100)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X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X.reshape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(-1,1)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y_predict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LinearRegression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().fit(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X,y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).predict(X)</a:t>
            </a:r>
            <a:br>
              <a:rPr lang="en-US" altLang="ko-KR" sz="1400" b="0" dirty="0">
                <a:effectLst/>
                <a:latin typeface="Arial Narrow" panose="020B0606020202030204" pitchFamily="34" charset="0"/>
              </a:rPr>
            </a:b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np.linspace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(0, 10, 100)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poly_model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make_pipeline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PolynomialFeatures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(20),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LinearRegression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())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yfit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poly_model.fit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y).predict(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[:,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np.newaxis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])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B9EAC1-2B2C-AC68-DE86-98EBCEFCE703}"/>
              </a:ext>
            </a:extLst>
          </p:cNvPr>
          <p:cNvSpPr txBox="1"/>
          <p:nvPr/>
        </p:nvSpPr>
        <p:spPr>
          <a:xfrm>
            <a:off x="5984240" y="1063859"/>
            <a:ext cx="6085840" cy="3929537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lasso_model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make_pipeline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PolynomialFeatures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(20), Lasso(alpha= 1))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predict_lasso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lasso_model.fit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y).predict(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[:,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np.newaxis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])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ridge_model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make_pipeline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PolynomialFeatures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(20), Ridge(alpha= 30))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predict_ridge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ridge_model.fit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y).predict(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[:,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np.newaxis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])</a:t>
            </a:r>
          </a:p>
          <a:p>
            <a:pPr>
              <a:lnSpc>
                <a:spcPct val="150000"/>
              </a:lnSpc>
              <a:buNone/>
            </a:pP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plt.figure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figsize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=(10, 5))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plt.scatter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y)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y_predict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color='red',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=1.5, label='Linear Regression')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yfit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color='green',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=2.5, label='Polynomial Regression (High Degree)')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predict_ridge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color='blue',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=2,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linestyle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='--', label='Ridge (L2)')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predict_lasso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color='black',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=2,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linestyle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=':', label='Lasso (L1)')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plt.legend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(loc='upper left',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frameon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=True, shadow=True)</a:t>
            </a:r>
          </a:p>
        </p:txBody>
      </p:sp>
    </p:spTree>
    <p:extLst>
      <p:ext uri="{BB962C8B-B14F-4D97-AF65-F5344CB8AC3E}">
        <p14:creationId xmlns:p14="http://schemas.microsoft.com/office/powerpoint/2010/main" val="21117123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B9821-B756-B7ED-5927-A6582D795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4E4CEF-C5AB-CE38-A3AF-0240E6A20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F00297D-AE6D-4177-8CF3-653BAD0F6E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158240"/>
            <a:ext cx="10239461" cy="933681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사람이 일일이 규칙을 프로그래밍하는 대신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컴퓨터가 데이터를 통해 스스로 학습하여 </a:t>
            </a:r>
            <a:r>
              <a:rPr lang="ko-KR" altLang="en-US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패턴</a:t>
            </a:r>
            <a:r>
              <a:rPr lang="en-US" altLang="ko-KR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(pattern)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찾아내고 미래를 예측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D85BE61F-8E74-DF46-4A2C-23D8AA287916}"/>
              </a:ext>
            </a:extLst>
          </p:cNvPr>
          <p:cNvGrpSpPr/>
          <p:nvPr/>
        </p:nvGrpSpPr>
        <p:grpSpPr>
          <a:xfrm>
            <a:off x="1946305" y="2531370"/>
            <a:ext cx="7235795" cy="2896113"/>
            <a:chOff x="1028095" y="3317240"/>
            <a:chExt cx="6455932" cy="237236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BDF56A33-9A07-E323-4BB5-ABD1F388EA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28095" y="3317240"/>
              <a:ext cx="6455932" cy="2372360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E066160-A3F7-2BDE-A962-B12CE5DF61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chemeClr val="tx2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164801" y="4554242"/>
              <a:ext cx="883997" cy="251482"/>
            </a:xfrm>
            <a:prstGeom prst="rect">
              <a:avLst/>
            </a:prstGeom>
          </p:spPr>
        </p:pic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DE05B0FF-EF30-6052-97FE-54CB919ACB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2100" y="2531370"/>
            <a:ext cx="2287025" cy="1731604"/>
          </a:xfrm>
          <a:prstGeom prst="rect">
            <a:avLst/>
          </a:prstGeom>
        </p:spPr>
      </p:pic>
      <p:sp>
        <p:nvSpPr>
          <p:cNvPr id="13" name="제목 1">
            <a:extLst>
              <a:ext uri="{FF2B5EF4-FFF2-40B4-BE49-F238E27FC236}">
                <a16:creationId xmlns:a16="http://schemas.microsoft.com/office/drawing/2014/main" id="{10A9643F-3FDC-72A3-A519-E8B62D09C1CB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algorithm(data) 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29344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4B538-8014-D56E-3AF2-AA7E15A68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4B672D-5034-9EB6-03BD-E97919B6E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E6BCA8CE-1984-4263-EE4E-D68A539462B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Decision tree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DB0E83C6-CA8D-D9FF-025D-C229BAF938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886245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작동방식을 </a:t>
            </a:r>
            <a:r>
              <a:rPr lang="en-US" altLang="ko-KR" sz="2100" cap="none" dirty="0">
                <a:solidFill>
                  <a:schemeClr val="accent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decision-tree/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에서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이해한 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생각해 보고 교차검증에서는 모델의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결정한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성능을 제시하라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26" name="Picture 2" descr="푸른 하늘 아래 녹색 잎 나무">
            <a:extLst>
              <a:ext uri="{FF2B5EF4-FFF2-40B4-BE49-F238E27FC236}">
                <a16:creationId xmlns:a16="http://schemas.microsoft.com/office/drawing/2014/main" id="{09CB8783-407C-7E25-651D-AE5EC72433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1251" y="2810461"/>
            <a:ext cx="4629150" cy="3086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56039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F98D7-464D-06E0-E3A9-D0F7DA7DC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9FA93F-3599-813D-595A-0FA8AB194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5714B33-1291-40C0-87F0-DE9CD0764C82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Wisdom of the Crowd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E009A463-9FCF-3525-1650-482A97208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18886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1785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프랑스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콩도르세의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배심원정리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Condorcet's jury theorem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따르면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근소하게 올바른 판단력을 가진 배심원이 모여서 독립적으로 판결하게 되면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결국 항상 올바른 판단을 내린다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”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것이다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배심원정리는 앙상블모델을 가장 잘 설명해주고 있다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Randomness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=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Justice,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국민재판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7D322E1-9BA9-0C88-4211-96B32C7AC6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4066" y="2790530"/>
            <a:ext cx="5372134" cy="28387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9C225B5-AEB2-7110-3011-8B048D776CAA}"/>
              </a:ext>
            </a:extLst>
          </p:cNvPr>
          <p:cNvSpPr txBox="1"/>
          <p:nvPr/>
        </p:nvSpPr>
        <p:spPr>
          <a:xfrm>
            <a:off x="1042572" y="2904829"/>
            <a:ext cx="4948653" cy="1611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53%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올바른 판단을 하는 배심원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명이 모여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 재판 판결은 재판의 회수가 많아질수록 무작위로 판단하는 ’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50%‘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항상 올바른 결정을 한다는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사실을 파이썬 코드로 만들고 </a:t>
            </a:r>
            <a:r>
              <a:rPr lang="ko-KR" altLang="en-US" sz="17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7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446070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26034-A6AB-F623-ECF6-CE6137265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63024C-F98C-52AE-BB92-450D683F3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E4CD56B-F88D-FDDC-C438-BEB21800474A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RandomForest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E73D31DD-D90E-51A0-F902-D7B74951FA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886245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작동방식을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Understanding of random-forest/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에서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이해한 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생각해 보고 교차검증에서는 모델의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결정한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성능을 제시하라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푸른 나무의 항공 사진">
            <a:extLst>
              <a:ext uri="{FF2B5EF4-FFF2-40B4-BE49-F238E27FC236}">
                <a16:creationId xmlns:a16="http://schemas.microsoft.com/office/drawing/2014/main" id="{12DF00AA-B10C-C1B8-1183-1D9FA1B80A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5975" y="2718166"/>
            <a:ext cx="4994808" cy="33180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2595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080F7-D07E-7187-40C7-EB970C62C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983E2C-5105-7708-842D-6776A1F1A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6522E9-7406-138D-A270-70260FD2C73F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Ensemble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Algorithms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99E6C6A-E317-6392-884C-D66A85069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2442" y="1331475"/>
            <a:ext cx="7669400" cy="4419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09252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4B199-EB4C-06C5-9EC8-F269DF89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33429F-1589-22DE-EF0F-012D96344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ACEB1B5-A2A0-F626-FF2A-B63F7225799B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K-nearest neighbors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40FC9930-32A4-A49A-3146-A4E647D3AD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886245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작동방식을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Understanding of KNN/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에서 이해한 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생각해 보고 교차검증에서는 모델의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결정한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성능을 제시하라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0FC78F8-E7C2-CE49-322E-395438848A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498" y="2579312"/>
            <a:ext cx="4867528" cy="363951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ED95102-DEB0-1D80-1997-F6D758920F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7899" y="3409102"/>
            <a:ext cx="1180047" cy="124039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BB6328C-1E8B-51C2-E7A2-49461BC5DF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47899" y="5025366"/>
            <a:ext cx="2098607" cy="1193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31411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CDDC7B-BD5C-3290-556E-42CA1AB18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F248025C-D1D4-622A-2ACB-AAF8CC0D4B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5200" y="1737538"/>
            <a:ext cx="8163686" cy="4847188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5EF507-0BC0-BFAE-51D4-465B7EDD5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9918A77C-3E4F-2657-B205-806650CF3373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Basic Concepts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34CB262E-C5B7-1A57-7642-965919D385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1034365" cy="188624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basic concepts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사이트에서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Data Scaling, Linear Regression, Loss and Metric, Stochastic gradient descent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자습하라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636964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4A7DA-90C3-061E-B96D-101B7B6B7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4004334F-2520-BB8B-F399-416C5E2D5ACF}"/>
              </a:ext>
            </a:extLst>
          </p:cNvPr>
          <p:cNvSpPr/>
          <p:nvPr/>
        </p:nvSpPr>
        <p:spPr>
          <a:xfrm>
            <a:off x="6418984" y="1504949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0CEBE5-8C75-2329-0C2F-7A9C9BB88134}"/>
              </a:ext>
            </a:extLst>
          </p:cNvPr>
          <p:cNvSpPr txBox="1"/>
          <p:nvPr/>
        </p:nvSpPr>
        <p:spPr>
          <a:xfrm>
            <a:off x="1336229" y="1428465"/>
            <a:ext cx="5512246" cy="5013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Machine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ML algorithms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A0F165-635F-CB15-7145-EF6593B857B4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DC1CEA-7F15-09C4-72FB-272F77E26B79}"/>
              </a:ext>
            </a:extLst>
          </p:cNvPr>
          <p:cNvSpPr txBox="1"/>
          <p:nvPr/>
        </p:nvSpPr>
        <p:spPr>
          <a:xfrm>
            <a:off x="7029450" y="1428465"/>
            <a:ext cx="4619625" cy="4597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Neural Network Architecture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Shallow/Deep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Matrix formulation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Forward/backward propagation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FNN, CNN, RNN, Transformer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Dimension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Reduction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Eigen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value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&amp;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SVD &amp; Topic Model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Manifold Learning</a:t>
            </a:r>
          </a:p>
        </p:txBody>
      </p:sp>
    </p:spTree>
    <p:extLst>
      <p:ext uri="{BB962C8B-B14F-4D97-AF65-F5344CB8AC3E}">
        <p14:creationId xmlns:p14="http://schemas.microsoft.com/office/powerpoint/2010/main" val="222543502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3EAD3-0C6D-4A32-6FEE-8F79EC6ED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FABE37-667B-DB2B-DD82-35B58E752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3CEEA0B-D51C-B098-845C-0403C7357090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Tensors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823259F9-A875-6E4B-90BF-6F1E094EBF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88624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tensors </a:t>
            </a:r>
            <a:r>
              <a:rPr lang="en-US" altLang="ko-KR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visulalization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개념 익히기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 flow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tensors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익히기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playground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deep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실습하기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743511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2F4DD-3183-DC87-A058-2B2E5E006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D11D27-CD88-A5DA-A2C9-B8ED92ADE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0A2B623F-9C78-161A-FD9F-97B8315E33E0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Neural Network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070314"/>
                <a:ext cx="10706705" cy="1886245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Inputs(x)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받아 가중치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반영한 가중치 합계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(z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weighted sum)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활성화함수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2100" cap="none"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𝑓</m:t>
                    </m:r>
                    <m:r>
                      <a:rPr lang="en-US" altLang="ko-KR" sz="2100" cap="none"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m:rPr>
                        <m:sty m:val="p"/>
                      </m:rPr>
                      <a:rPr lang="en-US" altLang="ko-KR" sz="2100" cap="none"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  <m:r>
                      <a:rPr lang="en-US" altLang="ko-KR" sz="2100" cap="none"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반응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(1, 0, -1)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네트워크 구조</a:t>
                </a:r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070314"/>
                <a:ext cx="10706705" cy="1886245"/>
              </a:xfrm>
              <a:blipFill>
                <a:blip r:embed="rId2"/>
                <a:stretch>
                  <a:fillRect l="-569" r="-3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18" name="Picture 2">
            <a:extLst>
              <a:ext uri="{FF2B5EF4-FFF2-40B4-BE49-F238E27FC236}">
                <a16:creationId xmlns:a16="http://schemas.microsoft.com/office/drawing/2014/main" id="{5BB5F102-81AC-096E-A5A7-E104091347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5525" y="2821385"/>
            <a:ext cx="4023780" cy="3235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38091E3-1E1C-83D9-CD62-BBA14245814F}"/>
              </a:ext>
            </a:extLst>
          </p:cNvPr>
          <p:cNvSpPr txBox="1"/>
          <p:nvPr/>
        </p:nvSpPr>
        <p:spPr>
          <a:xfrm>
            <a:off x="8561243" y="2384466"/>
            <a:ext cx="2299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Sign Activation function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/>
              <p:nvPr/>
            </p:nvSpPr>
            <p:spPr>
              <a:xfrm>
                <a:off x="8697647" y="2956559"/>
                <a:ext cx="809624" cy="40011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𝑓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7647" y="2956559"/>
                <a:ext cx="809624" cy="4001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20" name="Picture 4" descr="Activation function in Neural Networks">
            <a:extLst>
              <a:ext uri="{FF2B5EF4-FFF2-40B4-BE49-F238E27FC236}">
                <a16:creationId xmlns:a16="http://schemas.microsoft.com/office/drawing/2014/main" id="{F5590D0D-2E03-5203-CB79-38ED815C7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7381" y="2410346"/>
            <a:ext cx="5227666" cy="392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/>
              <p:nvPr/>
            </p:nvSpPr>
            <p:spPr>
              <a:xfrm>
                <a:off x="11044619" y="4507575"/>
                <a:ext cx="809624" cy="40011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4619" y="4507575"/>
                <a:ext cx="809624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618545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441F2-358C-E450-F072-DDA82D587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07EB3C-2B1D-CC66-3F2B-1B061BD0D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5C55EFC-E3D3-936C-FD13-B8B4B3B36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CA1E0D0-48F4-0136-ACB1-9BAE230E83E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C45D0520-885A-0B96-6203-3F5CD2FD65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네트워크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Perceptron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만들고 아래에 대해 정답을 생성하는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확인하라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Step Function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Step Function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Sigmoid Function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Sigmoid Function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191042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83D93-7637-7C5E-BB4E-92B8DECB9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266840-5B84-ED6C-269F-E9A3C6DE3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A2896C1-2712-4A10-2E30-384F1B95FD8A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Activation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42" name="Picture 2" descr="Neural Network Activation Functions: Cheat Sheet">
            <a:extLst>
              <a:ext uri="{FF2B5EF4-FFF2-40B4-BE49-F238E27FC236}">
                <a16:creationId xmlns:a16="http://schemas.microsoft.com/office/drawing/2014/main" id="{BD1C19EB-28D3-EE39-23C2-44D46F28110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3706" y="956441"/>
            <a:ext cx="4401339" cy="5762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How Activation Function works in Neural Networks">
            <a:extLst>
              <a:ext uri="{FF2B5EF4-FFF2-40B4-BE49-F238E27FC236}">
                <a16:creationId xmlns:a16="http://schemas.microsoft.com/office/drawing/2014/main" id="{1CF8A3D6-A242-4AEA-8E25-67B6718A17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839" y="905522"/>
            <a:ext cx="4783393" cy="3587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57200C4-D722-0DFB-71FB-520B5B1158AD}"/>
              </a:ext>
            </a:extLst>
          </p:cNvPr>
          <p:cNvSpPr txBox="1"/>
          <p:nvPr/>
        </p:nvSpPr>
        <p:spPr>
          <a:xfrm>
            <a:off x="748841" y="725608"/>
            <a:ext cx="23762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activation function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95066926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그림 46">
            <a:extLst>
              <a:ext uri="{FF2B5EF4-FFF2-40B4-BE49-F238E27FC236}">
                <a16:creationId xmlns:a16="http://schemas.microsoft.com/office/drawing/2014/main" id="{C61B7A09-B3CA-0DFD-7409-53A2ABD4F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331" y="1497393"/>
            <a:ext cx="1995078" cy="4442033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Artificial Neural Network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EB543BC5-EFBD-D448-8727-31DEFAAE453E}"/>
              </a:ext>
            </a:extLst>
          </p:cNvPr>
          <p:cNvGrpSpPr/>
          <p:nvPr/>
        </p:nvGrpSpPr>
        <p:grpSpPr>
          <a:xfrm>
            <a:off x="1197855" y="1981201"/>
            <a:ext cx="10316619" cy="4469792"/>
            <a:chOff x="1350255" y="2204864"/>
            <a:chExt cx="9430539" cy="4158427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/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  <a:blipFill>
                  <a:blip r:embed="rId3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/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  <a:blipFill>
                  <a:blip r:embed="rId4"/>
                  <a:stretch>
                    <a:fillRect b="-151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/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/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/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/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순서도: 가산 접합 9">
              <a:extLst>
                <a:ext uri="{FF2B5EF4-FFF2-40B4-BE49-F238E27FC236}">
                  <a16:creationId xmlns:a16="http://schemas.microsoft.com/office/drawing/2014/main" id="{0F64D008-769D-7306-6D0B-03CB6D1A5CF2}"/>
                </a:ext>
              </a:extLst>
            </p:cNvPr>
            <p:cNvSpPr/>
            <p:nvPr/>
          </p:nvSpPr>
          <p:spPr bwMode="auto">
            <a:xfrm>
              <a:off x="3721080" y="319680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1" name="순서도: 가산 접합 10">
              <a:extLst>
                <a:ext uri="{FF2B5EF4-FFF2-40B4-BE49-F238E27FC236}">
                  <a16:creationId xmlns:a16="http://schemas.microsoft.com/office/drawing/2014/main" id="{00BA48F0-4BB3-0BA3-DA8E-666758CAB44F}"/>
                </a:ext>
              </a:extLst>
            </p:cNvPr>
            <p:cNvSpPr/>
            <p:nvPr/>
          </p:nvSpPr>
          <p:spPr bwMode="auto">
            <a:xfrm>
              <a:off x="3721080" y="3731768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2" name="순서도: 가산 접합 11">
              <a:extLst>
                <a:ext uri="{FF2B5EF4-FFF2-40B4-BE49-F238E27FC236}">
                  <a16:creationId xmlns:a16="http://schemas.microsoft.com/office/drawing/2014/main" id="{E3C9CA5A-281B-B879-F18C-A775762C250F}"/>
                </a:ext>
              </a:extLst>
            </p:cNvPr>
            <p:cNvSpPr/>
            <p:nvPr/>
          </p:nvSpPr>
          <p:spPr bwMode="auto">
            <a:xfrm>
              <a:off x="3721080" y="518906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cxnSp>
          <p:nvCxnSpPr>
            <p:cNvPr id="13" name="구부러진 연결선 42">
              <a:extLst>
                <a:ext uri="{FF2B5EF4-FFF2-40B4-BE49-F238E27FC236}">
                  <a16:creationId xmlns:a16="http://schemas.microsoft.com/office/drawing/2014/main" id="{50841188-01D3-E4E6-137B-CFB73F38D28A}"/>
                </a:ext>
              </a:extLst>
            </p:cNvPr>
            <p:cNvCxnSpPr>
              <a:stCxn id="3" idx="3"/>
              <a:endCxn id="10" idx="3"/>
            </p:cNvCxnSpPr>
            <p:nvPr/>
          </p:nvCxnSpPr>
          <p:spPr bwMode="auto">
            <a:xfrm>
              <a:off x="2316016" y="3317788"/>
              <a:ext cx="1440161" cy="83585"/>
            </a:xfrm>
            <a:prstGeom prst="curvedConnector4">
              <a:avLst>
                <a:gd name="adj1" fmla="val 48781"/>
                <a:gd name="adj2" fmla="val 354444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4" name="구부러진 연결선 43">
              <a:extLst>
                <a:ext uri="{FF2B5EF4-FFF2-40B4-BE49-F238E27FC236}">
                  <a16:creationId xmlns:a16="http://schemas.microsoft.com/office/drawing/2014/main" id="{3FF70D99-D749-9F13-5511-F2A78F86D774}"/>
                </a:ext>
              </a:extLst>
            </p:cNvPr>
            <p:cNvCxnSpPr>
              <a:stCxn id="5" idx="3"/>
              <a:endCxn id="11" idx="3"/>
            </p:cNvCxnSpPr>
            <p:nvPr/>
          </p:nvCxnSpPr>
          <p:spPr bwMode="auto">
            <a:xfrm>
              <a:off x="2321465" y="3638084"/>
              <a:ext cx="1434712" cy="298247"/>
            </a:xfrm>
            <a:prstGeom prst="curvedConnector4">
              <a:avLst>
                <a:gd name="adj1" fmla="val 48777"/>
                <a:gd name="adj2" fmla="val 171308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5" name="구부러진 연결선 44">
              <a:extLst>
                <a:ext uri="{FF2B5EF4-FFF2-40B4-BE49-F238E27FC236}">
                  <a16:creationId xmlns:a16="http://schemas.microsoft.com/office/drawing/2014/main" id="{F929EBCB-93A1-CCC5-C4E9-762F65D233D6}"/>
                </a:ext>
              </a:extLst>
            </p:cNvPr>
            <p:cNvCxnSpPr>
              <a:stCxn id="6" idx="3"/>
              <a:endCxn id="12" idx="1"/>
            </p:cNvCxnSpPr>
            <p:nvPr/>
          </p:nvCxnSpPr>
          <p:spPr bwMode="auto">
            <a:xfrm flipV="1">
              <a:off x="2336119" y="5224166"/>
              <a:ext cx="1420058" cy="123307"/>
            </a:xfrm>
            <a:prstGeom prst="curvedConnector4">
              <a:avLst>
                <a:gd name="adj1" fmla="val 48764"/>
                <a:gd name="adj2" fmla="val 323416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/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/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구부러진 연결선 48">
              <a:extLst>
                <a:ext uri="{FF2B5EF4-FFF2-40B4-BE49-F238E27FC236}">
                  <a16:creationId xmlns:a16="http://schemas.microsoft.com/office/drawing/2014/main" id="{3EE8D7C1-70B2-DCD2-5375-E1D2B0D1C102}"/>
                </a:ext>
              </a:extLst>
            </p:cNvPr>
            <p:cNvCxnSpPr>
              <a:stCxn id="10" idx="6"/>
            </p:cNvCxnSpPr>
            <p:nvPr/>
          </p:nvCxnSpPr>
          <p:spPr bwMode="auto">
            <a:xfrm>
              <a:off x="3960740" y="3316639"/>
              <a:ext cx="1106394" cy="799195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9" name="구부러진 연결선 49">
              <a:extLst>
                <a:ext uri="{FF2B5EF4-FFF2-40B4-BE49-F238E27FC236}">
                  <a16:creationId xmlns:a16="http://schemas.microsoft.com/office/drawing/2014/main" id="{FDD4B62A-0F4E-E32A-3047-FF2D47788CE3}"/>
                </a:ext>
              </a:extLst>
            </p:cNvPr>
            <p:cNvCxnSpPr/>
            <p:nvPr/>
          </p:nvCxnSpPr>
          <p:spPr bwMode="auto">
            <a:xfrm>
              <a:off x="4018232" y="3931168"/>
              <a:ext cx="1025302" cy="282602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20" name="구부러진 연결선 50">
              <a:extLst>
                <a:ext uri="{FF2B5EF4-FFF2-40B4-BE49-F238E27FC236}">
                  <a16:creationId xmlns:a16="http://schemas.microsoft.com/office/drawing/2014/main" id="{3FCB277F-BE1B-CF65-D449-699DF35B2C00}"/>
                </a:ext>
              </a:extLst>
            </p:cNvPr>
            <p:cNvCxnSpPr>
              <a:stCxn id="12" idx="6"/>
            </p:cNvCxnSpPr>
            <p:nvPr/>
          </p:nvCxnSpPr>
          <p:spPr bwMode="auto">
            <a:xfrm flipV="1">
              <a:off x="3960740" y="4515451"/>
              <a:ext cx="1100531" cy="793448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74D2B819-BF22-6A6D-06CA-3078CBC06CAF}"/>
                </a:ext>
              </a:extLst>
            </p:cNvPr>
            <p:cNvSpPr/>
            <p:nvPr/>
          </p:nvSpPr>
          <p:spPr>
            <a:xfrm>
              <a:off x="3683433" y="4517878"/>
              <a:ext cx="857507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rPr>
                <a:t>multiply</a:t>
              </a:r>
              <a:endPara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90E1639-7D7E-6712-FF30-CB83F617C535}"/>
                </a:ext>
              </a:extLst>
            </p:cNvPr>
            <p:cNvSpPr/>
            <p:nvPr/>
          </p:nvSpPr>
          <p:spPr bwMode="auto">
            <a:xfrm>
              <a:off x="5213736" y="3847869"/>
              <a:ext cx="1143001" cy="955008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/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  <a:blipFill>
                  <a:blip r:embed="rId11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/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/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  <a:blipFill>
                  <a:blip r:embed="rId13"/>
                  <a:stretch>
                    <a:fillRect r="-26786"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/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  <a:blipFill>
                  <a:blip r:embed="rId14"/>
                  <a:stretch>
                    <a:fillRect r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구부러진 연결선 57">
              <a:extLst>
                <a:ext uri="{FF2B5EF4-FFF2-40B4-BE49-F238E27FC236}">
                  <a16:creationId xmlns:a16="http://schemas.microsoft.com/office/drawing/2014/main" id="{5C4B62FE-1BB2-01D6-82B6-95D45450CA87}"/>
                </a:ext>
              </a:extLst>
            </p:cNvPr>
            <p:cNvCxnSpPr>
              <a:stCxn id="25" idx="3"/>
              <a:endCxn id="10" idx="0"/>
            </p:cNvCxnSpPr>
            <p:nvPr/>
          </p:nvCxnSpPr>
          <p:spPr bwMode="auto">
            <a:xfrm>
              <a:off x="3536450" y="3044374"/>
              <a:ext cx="304459" cy="152435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8" name="구부러진 연결선 58">
              <a:extLst>
                <a:ext uri="{FF2B5EF4-FFF2-40B4-BE49-F238E27FC236}">
                  <a16:creationId xmlns:a16="http://schemas.microsoft.com/office/drawing/2014/main" id="{A1EF489C-9CAC-6D46-19EC-229547969917}"/>
                </a:ext>
              </a:extLst>
            </p:cNvPr>
            <p:cNvCxnSpPr>
              <a:stCxn id="26" idx="3"/>
              <a:endCxn id="12" idx="4"/>
            </p:cNvCxnSpPr>
            <p:nvPr/>
          </p:nvCxnSpPr>
          <p:spPr bwMode="auto">
            <a:xfrm flipV="1">
              <a:off x="3534856" y="5428730"/>
              <a:ext cx="306054" cy="197026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/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09B29A9B-0AD6-641A-907A-06863BC86DE1}"/>
                </a:ext>
              </a:extLst>
            </p:cNvPr>
            <p:cNvCxnSpPr>
              <a:stCxn id="22" idx="3"/>
            </p:cNvCxnSpPr>
            <p:nvPr/>
          </p:nvCxnSpPr>
          <p:spPr bwMode="auto">
            <a:xfrm>
              <a:off x="6356737" y="4325373"/>
              <a:ext cx="418645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/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~ </m:t>
                        </m:r>
                        <m:d>
                          <m:d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kumimoji="0" lang="en-US" altLang="ko-KR" sz="1600" b="0" i="1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𝑠𝑡𝑎𝑛𝑑𝑎𝑟𝑑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𝑠𝑐𝑎𝑙𝑖𝑛𝑔</m:t>
                        </m:r>
                      </m:oMath>
                    </m:oMathPara>
                  </a14:m>
                  <a:endParaRPr kumimoji="0" lang="ko-KR" altLang="en-US" sz="1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  <a:blipFill>
                  <a:blip r:embed="rId16"/>
                  <a:stretch>
                    <a:fillRect r="-24783" b="-729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직선 화살표 연결선 31">
              <a:extLst>
                <a:ext uri="{FF2B5EF4-FFF2-40B4-BE49-F238E27FC236}">
                  <a16:creationId xmlns:a16="http://schemas.microsoft.com/office/drawing/2014/main" id="{2EA1297B-E0B6-FD29-42F2-BB5D2AB89E92}"/>
                </a:ext>
              </a:extLst>
            </p:cNvPr>
            <p:cNvCxnSpPr/>
            <p:nvPr/>
          </p:nvCxnSpPr>
          <p:spPr bwMode="auto">
            <a:xfrm flipV="1">
              <a:off x="8219653" y="4325373"/>
              <a:ext cx="457200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490696ED-F8C8-2749-2824-C1B42D674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6956239" y="3821059"/>
              <a:ext cx="1143001" cy="898684"/>
            </a:xfrm>
            <a:prstGeom prst="rect">
              <a:avLst/>
            </a:prstGeom>
          </p:spPr>
        </p:pic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078073E4-7B4A-F8DF-321C-6BAD6A17AA43}"/>
                </a:ext>
              </a:extLst>
            </p:cNvPr>
            <p:cNvSpPr/>
            <p:nvPr/>
          </p:nvSpPr>
          <p:spPr>
            <a:xfrm>
              <a:off x="6816657" y="2204864"/>
              <a:ext cx="1631596" cy="54404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Activation </a:t>
              </a:r>
            </a:p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function</a:t>
              </a:r>
              <a:endPara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34FE26FD-6DCD-33DF-8448-274AFE6ADA09}"/>
                </a:ext>
              </a:extLst>
            </p:cNvPr>
            <p:cNvSpPr/>
            <p:nvPr/>
          </p:nvSpPr>
          <p:spPr>
            <a:xfrm>
              <a:off x="1350255" y="2695573"/>
              <a:ext cx="9430539" cy="3627474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/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Output: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𝐰</m:t>
                          </m:r>
                        </m:sub>
                      </m:sSub>
                      <m:d>
                        <m:d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d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blipFill>
                  <a:blip r:embed="rId18"/>
                  <a:stretch>
                    <a:fillRect l="-7473" t="-25000" b="-5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/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ko-KR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activation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) </m:t>
                        </m:r>
                      </m:oMath>
                    </m:oMathPara>
                  </a14:m>
                  <a:endParaRPr lang="ko-KR" altLang="en-US" dirty="0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  <a:blipFill>
                  <a:blip r:embed="rId19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/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Weighted sum</a:t>
                  </a:r>
                  <a:r>
                    <a:rPr lang="en-US" altLang="ko-KR" sz="1600" b="1">
                      <a:latin typeface="NanumGothicExtraBold" pitchFamily="2" charset="-127"/>
                      <a:ea typeface="NanumGothicExtraBold" pitchFamily="2" charset="-127"/>
                    </a:rPr>
                    <a:t>: </a:t>
                  </a:r>
                  <a14:m>
                    <m:oMath xmlns:m="http://schemas.openxmlformats.org/officeDocument/2006/math"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altLang="ko-KR" sz="1600" b="1" i="1">
                          <a:latin typeface="Cambria Math" panose="02040503050406030204" pitchFamily="18" charset="0"/>
                        </a:rPr>
                        <m:t>𝐰</m:t>
                      </m:r>
                      <m:r>
                        <a:rPr lang="en-US" altLang="ko-KR" sz="1600" b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  <a:blipFill>
                  <a:blip r:embed="rId20"/>
                  <a:stretch>
                    <a:fillRect l="-1449" t="-3571" b="-2321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9A4CFD56-4840-D304-AFC4-6A63FA5A86CD}"/>
                </a:ext>
              </a:extLst>
            </p:cNvPr>
            <p:cNvSpPr/>
            <p:nvPr/>
          </p:nvSpPr>
          <p:spPr>
            <a:xfrm>
              <a:off x="3095195" y="2299660"/>
              <a:ext cx="885349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Weights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46B89BC8-2606-8C67-C7C7-D25251028FC1}"/>
                </a:ext>
              </a:extLst>
            </p:cNvPr>
            <p:cNvSpPr/>
            <p:nvPr/>
          </p:nvSpPr>
          <p:spPr>
            <a:xfrm>
              <a:off x="1657531" y="2299660"/>
              <a:ext cx="624521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Input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</p:grp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559855AA-45D0-1CBE-CF10-7BE857C500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1034365" cy="74673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6496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Artificial Neural Network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4474" y="1010883"/>
            <a:ext cx="7087994" cy="5390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425528" y="2791472"/>
            <a:ext cx="3375947" cy="233297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고민해보고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다음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슬라이드를 실습하여 체험하라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99493-D270-9E19-158F-438CCBA1C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32790B-445E-7EC1-FA97-DBE87F9A5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630B377-4167-3B15-6B1D-EF3F23415A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7606737-1778-1890-4DC9-1B0DB71118E4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483C2E72-F9E7-891D-5A0E-1AD445444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deep learning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California 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houseprice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경우의 입력과 출력데이터로 인공지능망을 사용하여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예측하라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각각의 경우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노드의 개수를 확인하라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Deep Learning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Overview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 탭에서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Intro ✓, Data for Training ✓, Activation ✓, Optimizers, Loss Functions ✓, Visual Demo ✓, Manage Model ✓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학습하라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677015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4082105-B0E0-25B4-F0AA-982C2E099761}"/>
              </a:ext>
            </a:extLst>
          </p:cNvPr>
          <p:cNvSpPr/>
          <p:nvPr/>
        </p:nvSpPr>
        <p:spPr>
          <a:xfrm>
            <a:off x="4116887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Formulation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76644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네트워크 구조를 행렬식으로 표현하라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77754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24762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24762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77754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FD888255-4994-1FCA-F8EA-3F0CDC1C85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1123204"/>
              </p:ext>
            </p:extLst>
          </p:nvPr>
        </p:nvGraphicFramePr>
        <p:xfrm>
          <a:off x="889000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159189123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3158959229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95207"/>
                  </a:ext>
                </a:extLst>
              </a:tr>
            </a:tbl>
          </a:graphicData>
        </a:graphic>
      </p:graphicFrame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2B68121E-F8B7-620D-EABC-307022609F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248760"/>
              </p:ext>
            </p:extLst>
          </p:nvPr>
        </p:nvGraphicFramePr>
        <p:xfrm>
          <a:off x="3895419" y="5153236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D8DC5B0A-15AE-B264-F684-117D8D903A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9665914"/>
              </p:ext>
            </p:extLst>
          </p:nvPr>
        </p:nvGraphicFramePr>
        <p:xfrm>
          <a:off x="10537825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349704126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2808135352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8827078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F38EAA0B-A059-9FCB-EA7B-9493451163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9339763"/>
              </p:ext>
            </p:extLst>
          </p:nvPr>
        </p:nvGraphicFramePr>
        <p:xfrm>
          <a:off x="6905522" y="5153236"/>
          <a:ext cx="176847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119">
                  <a:extLst>
                    <a:ext uri="{9D8B030D-6E8A-4147-A177-3AD203B41FA5}">
                      <a16:colId xmlns:a16="http://schemas.microsoft.com/office/drawing/2014/main" val="340854116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771415720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421275875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23890892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7820539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43851069-C2D2-B638-1BE7-61FE12E731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8046355"/>
              </p:ext>
            </p:extLst>
          </p:nvPr>
        </p:nvGraphicFramePr>
        <p:xfrm>
          <a:off x="2258920" y="3039032"/>
          <a:ext cx="125570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97820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231033F0-706B-415C-BB2D-F30BAA42D8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4013680"/>
              </p:ext>
            </p:extLst>
          </p:nvPr>
        </p:nvGraphicFramePr>
        <p:xfrm>
          <a:off x="5258243" y="2867063"/>
          <a:ext cx="177015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539">
                  <a:extLst>
                    <a:ext uri="{9D8B030D-6E8A-4147-A177-3AD203B41FA5}">
                      <a16:colId xmlns:a16="http://schemas.microsoft.com/office/drawing/2014/main" val="3464882294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109326110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213285567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1911355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0291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105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1729911"/>
                  </a:ext>
                </a:extLst>
              </a:tr>
            </a:tbl>
          </a:graphicData>
        </a:graphic>
      </p:graphicFrame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4C14BC51-A89C-0C08-BCBF-38E35CDB74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3488906"/>
              </p:ext>
            </p:extLst>
          </p:nvPr>
        </p:nvGraphicFramePr>
        <p:xfrm>
          <a:off x="9019668" y="2607239"/>
          <a:ext cx="88868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4344">
                  <a:extLst>
                    <a:ext uri="{9D8B030D-6E8A-4147-A177-3AD203B41FA5}">
                      <a16:colId xmlns:a16="http://schemas.microsoft.com/office/drawing/2014/main" val="456541388"/>
                    </a:ext>
                  </a:extLst>
                </a:gridCol>
                <a:gridCol w="444344">
                  <a:extLst>
                    <a:ext uri="{9D8B030D-6E8A-4147-A177-3AD203B41FA5}">
                      <a16:colId xmlns:a16="http://schemas.microsoft.com/office/drawing/2014/main" val="17753490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01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373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918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708776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CB9E2FD1-E9A9-09A9-6394-CF8EFB867B8D}"/>
              </a:ext>
            </a:extLst>
          </p:cNvPr>
          <p:cNvSpPr txBox="1"/>
          <p:nvPr/>
        </p:nvSpPr>
        <p:spPr>
          <a:xfrm>
            <a:off x="809522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CD39B9D-5C5C-9A76-9FA3-B7D5F2A9FCF4}"/>
              </a:ext>
            </a:extLst>
          </p:cNvPr>
          <p:cNvSpPr txBox="1"/>
          <p:nvPr/>
        </p:nvSpPr>
        <p:spPr>
          <a:xfrm>
            <a:off x="2427495" y="386818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(2, 3)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013415D-8214-9522-94DE-1F6323A05771}"/>
              </a:ext>
            </a:extLst>
          </p:cNvPr>
          <p:cNvSpPr txBox="1"/>
          <p:nvPr/>
        </p:nvSpPr>
        <p:spPr>
          <a:xfrm>
            <a:off x="4052649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26D194A-8ED8-A222-57D7-0A72C366118F}"/>
              </a:ext>
            </a:extLst>
          </p:cNvPr>
          <p:cNvSpPr txBox="1"/>
          <p:nvPr/>
        </p:nvSpPr>
        <p:spPr>
          <a:xfrm>
            <a:off x="5691091" y="4116751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(3, 4)</a:t>
            </a:r>
            <a:endParaRPr lang="ko-KR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6946AC-A922-C213-AF08-FE45C68B701C}"/>
              </a:ext>
            </a:extLst>
          </p:cNvPr>
          <p:cNvSpPr txBox="1"/>
          <p:nvPr/>
        </p:nvSpPr>
        <p:spPr>
          <a:xfrm>
            <a:off x="7337530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F75D844-D316-B0C0-42BB-5BF05177F0D7}"/>
              </a:ext>
            </a:extLst>
          </p:cNvPr>
          <p:cNvSpPr txBox="1"/>
          <p:nvPr/>
        </p:nvSpPr>
        <p:spPr>
          <a:xfrm>
            <a:off x="9019668" y="423752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(4,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85A9622-072E-EF32-6CFA-DA442C3FEFEA}"/>
              </a:ext>
            </a:extLst>
          </p:cNvPr>
          <p:cNvSpPr txBox="1"/>
          <p:nvPr/>
        </p:nvSpPr>
        <p:spPr>
          <a:xfrm>
            <a:off x="10559338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3110BF7A-D40A-9C35-D312-56455BF7A289}"/>
              </a:ext>
            </a:extLst>
          </p:cNvPr>
          <p:cNvSpPr/>
          <p:nvPr/>
        </p:nvSpPr>
        <p:spPr>
          <a:xfrm>
            <a:off x="913794" y="1762125"/>
            <a:ext cx="10454754" cy="3259121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694B855F-902F-2FDD-C505-F5F030704E5E}"/>
              </a:ext>
            </a:extLst>
          </p:cNvPr>
          <p:cNvCxnSpPr/>
          <p:nvPr/>
        </p:nvCxnSpPr>
        <p:spPr>
          <a:xfrm>
            <a:off x="1713982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8B3C84C-B20A-83DC-F853-78C3947A6CA1}"/>
              </a:ext>
            </a:extLst>
          </p:cNvPr>
          <p:cNvCxnSpPr/>
          <p:nvPr/>
        </p:nvCxnSpPr>
        <p:spPr>
          <a:xfrm>
            <a:off x="3694876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EDDD5ADB-7D3B-8096-3E2E-A658A91911DE}"/>
              </a:ext>
            </a:extLst>
          </p:cNvPr>
          <p:cNvCxnSpPr/>
          <p:nvPr/>
        </p:nvCxnSpPr>
        <p:spPr>
          <a:xfrm>
            <a:off x="8511249" y="34099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FDC7CE7-DBED-ADBA-B928-DA0594621939}"/>
              </a:ext>
            </a:extLst>
          </p:cNvPr>
          <p:cNvCxnSpPr/>
          <p:nvPr/>
        </p:nvCxnSpPr>
        <p:spPr>
          <a:xfrm>
            <a:off x="10199168" y="339090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17" name="그림 9216">
            <a:extLst>
              <a:ext uri="{FF2B5EF4-FFF2-40B4-BE49-F238E27FC236}">
                <a16:creationId xmlns:a16="http://schemas.microsoft.com/office/drawing/2014/main" id="{A06CB6E9-29F6-DB9B-673B-41CB5F5F7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981" y="2454826"/>
            <a:ext cx="341640" cy="297078"/>
          </a:xfrm>
          <a:prstGeom prst="rect">
            <a:avLst/>
          </a:prstGeom>
        </p:spPr>
      </p:pic>
      <p:pic>
        <p:nvPicPr>
          <p:cNvPr id="9223" name="그림 9222">
            <a:extLst>
              <a:ext uri="{FF2B5EF4-FFF2-40B4-BE49-F238E27FC236}">
                <a16:creationId xmlns:a16="http://schemas.microsoft.com/office/drawing/2014/main" id="{E005E7C0-EB6C-7392-B2B4-4CF943517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300" y="2436482"/>
            <a:ext cx="350550" cy="289585"/>
          </a:xfrm>
          <a:prstGeom prst="rect">
            <a:avLst/>
          </a:prstGeom>
        </p:spPr>
      </p:pic>
      <p:pic>
        <p:nvPicPr>
          <p:cNvPr id="9225" name="그림 9224">
            <a:extLst>
              <a:ext uri="{FF2B5EF4-FFF2-40B4-BE49-F238E27FC236}">
                <a16:creationId xmlns:a16="http://schemas.microsoft.com/office/drawing/2014/main" id="{F25A77D9-6CA8-EBB1-32C2-CE60ED807B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341" y="2230741"/>
            <a:ext cx="320068" cy="320068"/>
          </a:xfrm>
          <a:prstGeom prst="rect">
            <a:avLst/>
          </a:prstGeom>
        </p:spPr>
      </p:pic>
      <p:pic>
        <p:nvPicPr>
          <p:cNvPr id="9231" name="그림 9230">
            <a:extLst>
              <a:ext uri="{FF2B5EF4-FFF2-40B4-BE49-F238E27FC236}">
                <a16:creationId xmlns:a16="http://schemas.microsoft.com/office/drawing/2014/main" id="{94B2481D-E98C-DA55-0841-B1DD319519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3154" y="2299322"/>
            <a:ext cx="1524132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98F57-6188-E26B-9396-E0B2A453F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059C10-D295-2336-F094-4C2FF4396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AC570A0-8E26-3D3A-06E6-2EB1689EF8DA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Formulation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A589D1AB-A7EA-A13D-A66C-047538B0B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3795" y="1134301"/>
            <a:ext cx="6576630" cy="119644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92EDE67-B548-74E9-CEEB-1E466EB7A9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3795" y="2979371"/>
            <a:ext cx="7430144" cy="1127858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1C075147-3363-0723-E9A2-DBEB1EC07F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3795" y="2697407"/>
            <a:ext cx="1524132" cy="28196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F6B102B5-B19B-355D-6B62-8B58AE6BDB4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4444" y="4583378"/>
            <a:ext cx="5342083" cy="143268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81A2A448-85FB-B47B-1612-8A4222CE382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3795" y="4366194"/>
            <a:ext cx="1539373" cy="320068"/>
          </a:xfrm>
          <a:prstGeom prst="rect">
            <a:avLst/>
          </a:prstGeom>
        </p:spPr>
      </p:pic>
      <p:pic>
        <p:nvPicPr>
          <p:cNvPr id="9242" name="그림 9241">
            <a:extLst>
              <a:ext uri="{FF2B5EF4-FFF2-40B4-BE49-F238E27FC236}">
                <a16:creationId xmlns:a16="http://schemas.microsoft.com/office/drawing/2014/main" id="{389C9D37-088D-D449-A58A-7D41E06759E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90426" y="1134301"/>
            <a:ext cx="4596800" cy="1209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35690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사용하여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개가 각각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개로 구성된 인공지능망으로 품종을 예측하는 코드를 만들고 손실함수를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정의하고 예측의 성능지표를 토론하자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성능지표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정확도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recall</a:t>
            </a:r>
            <a:r>
              <a:rPr lang="en-US" altLang="ko-KR" cap="none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precision, f1-score </a:t>
            </a:r>
            <a:r>
              <a:rPr lang="ko-KR" altLang="en-US" cap="none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B4D12-7E80-5677-E308-27E95EE78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EA355270-0967-A793-B144-19E0CC41ADF4}"/>
              </a:ext>
            </a:extLst>
          </p:cNvPr>
          <p:cNvSpPr/>
          <p:nvPr/>
        </p:nvSpPr>
        <p:spPr>
          <a:xfrm>
            <a:off x="6418984" y="1504949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BE48CB6-E141-E6B6-1328-E60DD147408A}"/>
              </a:ext>
            </a:extLst>
          </p:cNvPr>
          <p:cNvSpPr txBox="1"/>
          <p:nvPr/>
        </p:nvSpPr>
        <p:spPr>
          <a:xfrm>
            <a:off x="1336229" y="1428465"/>
            <a:ext cx="5512246" cy="5013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Machine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ML algorithms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59C854-DF17-9022-D0C5-37F2117EE0EF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FA5631-31AE-F96B-B230-2C9CC1354BA3}"/>
              </a:ext>
            </a:extLst>
          </p:cNvPr>
          <p:cNvSpPr txBox="1"/>
          <p:nvPr/>
        </p:nvSpPr>
        <p:spPr>
          <a:xfrm>
            <a:off x="7029450" y="1428465"/>
            <a:ext cx="4619625" cy="4597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Neural Network Architecture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Shallow/Deep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Matrix formulation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Forward/backward propagation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FNN, CNN, RNN, Transformer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Dimension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Reduction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Eigen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value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&amp;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SVD &amp; Topic Model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Manifold Learning</a:t>
            </a:r>
          </a:p>
        </p:txBody>
      </p:sp>
    </p:spTree>
    <p:extLst>
      <p:ext uri="{BB962C8B-B14F-4D97-AF65-F5344CB8AC3E}">
        <p14:creationId xmlns:p14="http://schemas.microsoft.com/office/powerpoint/2010/main" val="416011760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Geometry(2/2)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49</a:t>
            </a:fld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0083FF-10D2-2ABC-E511-20F9827664E0}"/>
              </a:ext>
            </a:extLst>
          </p:cNvPr>
          <p:cNvSpPr txBox="1"/>
          <p:nvPr/>
        </p:nvSpPr>
        <p:spPr>
          <a:xfrm>
            <a:off x="7772400" y="1647905"/>
            <a:ext cx="4025154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import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numpy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as np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from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sklearn.decomposition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import PCA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import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matplotlib.pyplot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as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</a:t>
            </a:r>
            <a:endParaRPr lang="en-US" altLang="ko-KR" sz="13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latin typeface="Batang" panose="02030600000101010101" pitchFamily="18" charset="-127"/>
              <a:ea typeface="Batang" panose="02030600000101010101" pitchFamily="18" charset="-127"/>
            </a:endParaRP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Generate 2D data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data =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np.random.multivariate_normal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(mean=[0, 0],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cov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=[[1, 0.8], [0.8, 1]], size=100)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Apply PCA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pca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= PCA()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pca.fit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(data)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Plot the original data and principal components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plt.scatter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(data[:, 0], data[:, 1], label='Original Data')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plt.quiver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(0, 0,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pca.components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_[0, 0],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pca.components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_[0, 1], scale=3, color='r', label='Principal Component 1')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plt.quiver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(0, 0,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pca.components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_[1, 0],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pca.components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_[1, 1], scale=3, color='b', label='Principal Component 2')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plt.legend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plt.axis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('equal')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211BA0-9E12-0D58-B113-24EA975B3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27464"/>
            <a:ext cx="9896446" cy="740742"/>
          </a:xfrm>
        </p:spPr>
        <p:txBody>
          <a:bodyPr>
            <a:normAutofit fontScale="92500" lnSpcReduction="20000"/>
          </a:bodyPr>
          <a:lstStyle/>
          <a:p>
            <a:pPr marL="36900" indent="0">
              <a:buNone/>
            </a:pPr>
            <a:r>
              <a:rPr lang="en-US" altLang="ko-KR" sz="2200" dirty="0">
                <a:effectLst/>
              </a:rPr>
              <a:t>2. Eigenvalues and Eigenvectors (Principal Component Analysis - PCA):</a:t>
            </a:r>
          </a:p>
          <a:p>
            <a:pPr marL="36900" indent="0" algn="l">
              <a:buNone/>
            </a:pPr>
            <a:endParaRPr lang="fr-FR" altLang="ko-KR" sz="1300" dirty="0">
              <a:solidFill>
                <a:schemeClr val="tx1"/>
              </a:solidFill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4F29429-0D78-9599-8AE2-C36D3FFD62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3484" y="2008372"/>
            <a:ext cx="5014395" cy="3917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497805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900" dirty="0"/>
              <a:t>Machine Learning(1/2)</a:t>
            </a:r>
            <a:endParaRPr lang="ko-KR" altLang="en-US" sz="29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50</a:t>
            </a:fld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0083FF-10D2-2ABC-E511-20F9827664E0}"/>
              </a:ext>
            </a:extLst>
          </p:cNvPr>
          <p:cNvSpPr txBox="1"/>
          <p:nvPr/>
        </p:nvSpPr>
        <p:spPr>
          <a:xfrm>
            <a:off x="5110480" y="1647905"/>
            <a:ext cx="6687074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import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numpy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as np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import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matplotlib.pyplot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as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</a:t>
            </a:r>
            <a:endParaRPr lang="en-US" altLang="ko-KR" sz="13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latin typeface="Batang" panose="02030600000101010101" pitchFamily="18" charset="-127"/>
              <a:ea typeface="Batang" panose="02030600000101010101" pitchFamily="18" charset="-127"/>
            </a:endParaRP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from mpl_toolkits.mplot3d import Axes3D  # Import necessary module for 3D projection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from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sklearn.decomposition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import PCA</a:t>
            </a:r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Generate 3D data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data =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np.random.multivariate_normal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(mean=[0, 0, 0], 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                                     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cov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=[[1, 0.8, 0.5], [0.8, 1, 0.3], [0.5, 0.3, 1]], 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                                     size=500)*20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Apply PCA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pca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= PCA(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n_components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=2)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transformed_data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=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pca.fit_transform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(data)</a:t>
            </a:r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Plot the original and transformed data in 3D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fig =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plt.figure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()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ax =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fig.add_subplot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(111, projection='3d')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ax.scatter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(data[:, 0], data[:, 1], data[:, 2], label='Original Data', alpha = 0.3)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ax.scatter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transformed_data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[:, 0],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transformed_data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[:, 1],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np.zeros_like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transformed_data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[:, 1]), label='Transformed Data',)</a:t>
            </a:r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ax.set_xlabel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('X’);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ax.set_ylabel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('Y’);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ax.set_zlabel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('Z')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ax.legend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()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Adjust the viewing angle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ax.view_init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elev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=5,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azim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=80)  # Set the elevation and azimuth angles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plt.show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211BA0-9E12-0D58-B113-24EA975B3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27464"/>
            <a:ext cx="8660511" cy="584795"/>
          </a:xfrm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en-US" altLang="ko-KR" sz="2200" dirty="0">
                <a:effectLst/>
              </a:rPr>
              <a:t>1. Principal Component Analysis(PCA):</a:t>
            </a:r>
          </a:p>
          <a:p>
            <a:pPr marL="36900" indent="0" algn="l">
              <a:buNone/>
            </a:pPr>
            <a:endParaRPr lang="fr-FR" altLang="ko-KR" sz="1300" dirty="0">
              <a:solidFill>
                <a:schemeClr val="tx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84CC400-E8E0-1EA9-09C5-E32DC27787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188" y="1793100"/>
            <a:ext cx="3947898" cy="3662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18035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900" dirty="0"/>
              <a:t>Machine Learning(2/2)</a:t>
            </a:r>
            <a:endParaRPr lang="ko-KR" altLang="en-US" sz="29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51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211BA0-9E12-0D58-B113-24EA975B3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27464"/>
            <a:ext cx="9998046" cy="584795"/>
          </a:xfrm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en-US" altLang="ko-KR" sz="2200" dirty="0">
                <a:effectLst/>
              </a:rPr>
              <a:t>2. Singular Value Decomposition (SVD):</a:t>
            </a:r>
          </a:p>
          <a:p>
            <a:pPr marL="36900" indent="0">
              <a:buNone/>
            </a:pPr>
            <a:endParaRPr lang="en-US" altLang="ko-KR" sz="2200" dirty="0">
              <a:effectLst/>
            </a:endParaRPr>
          </a:p>
          <a:p>
            <a:pPr marL="36900" indent="0" algn="l">
              <a:buNone/>
            </a:pPr>
            <a:endParaRPr lang="fr-FR" altLang="ko-KR" sz="1300" dirty="0">
              <a:solidFill>
                <a:schemeClr val="tx1"/>
              </a:solidFill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46ED8A4-C208-67D0-B099-F24B263F0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033" y="1934201"/>
            <a:ext cx="5191182" cy="211408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F1127DD-44D7-255B-8A79-1A234EEBCA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9033" y="4330588"/>
            <a:ext cx="5191182" cy="1868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76760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52</a:t>
            </a:fld>
            <a:endParaRPr 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121C909-C89C-9ED4-F930-CBE121341F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520" y="1156490"/>
            <a:ext cx="10045785" cy="362675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544FA471-0605-8E6D-3555-55B598005FF1}"/>
              </a:ext>
            </a:extLst>
          </p:cNvPr>
          <p:cNvSpPr/>
          <p:nvPr/>
        </p:nvSpPr>
        <p:spPr>
          <a:xfrm>
            <a:off x="3516554" y="2918011"/>
            <a:ext cx="8130989" cy="51098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3FEDD420-6C76-0647-08D3-8F4892D50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900" dirty="0"/>
              <a:t>Machine Learning(2/2)</a:t>
            </a:r>
            <a:endParaRPr lang="ko-KR" altLang="en-US" sz="2900" dirty="0"/>
          </a:p>
        </p:txBody>
      </p:sp>
    </p:spTree>
    <p:extLst>
      <p:ext uri="{BB962C8B-B14F-4D97-AF65-F5344CB8AC3E}">
        <p14:creationId xmlns:p14="http://schemas.microsoft.com/office/powerpoint/2010/main" val="319895271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53</a:t>
            </a:fld>
            <a:endParaRPr lang="en-US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3FEDD420-6C76-0647-08D3-8F4892D50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900" dirty="0"/>
              <a:t>Machine Learning(2/2)</a:t>
            </a:r>
            <a:endParaRPr lang="ko-KR" altLang="en-US" sz="29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87B24D-D4DE-DC67-AA26-0344FFFCEC62}"/>
              </a:ext>
            </a:extLst>
          </p:cNvPr>
          <p:cNvSpPr txBox="1"/>
          <p:nvPr/>
        </p:nvSpPr>
        <p:spPr>
          <a:xfrm>
            <a:off x="660400" y="1288762"/>
            <a:ext cx="668528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import </a:t>
            </a:r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numpy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as np</a:t>
            </a:r>
          </a:p>
          <a:p>
            <a:b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Generate a matrix</a:t>
            </a:r>
          </a:p>
          <a:p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 = </a:t>
            </a:r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np.random.rand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(3, 3)</a:t>
            </a:r>
          </a:p>
          <a:p>
            <a:b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Perform SVD</a:t>
            </a:r>
          </a:p>
          <a:p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U, S, Vt = </a:t>
            </a:r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np.linalg.svd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(A, </a:t>
            </a:r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full_matrices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=False)</a:t>
            </a:r>
          </a:p>
          <a:p>
            <a:b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Reconstruct the original matrix</a:t>
            </a:r>
          </a:p>
          <a:p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A_reconstructed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= U @ </a:t>
            </a:r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np.diag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(S) @ Vt</a:t>
            </a:r>
          </a:p>
          <a:p>
            <a:b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print("Original Matrix:")</a:t>
            </a:r>
          </a:p>
          <a:p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print(A)</a:t>
            </a:r>
          </a:p>
          <a:p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print("\</a:t>
            </a:r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nReconstructed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Matrix:")</a:t>
            </a:r>
          </a:p>
          <a:p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</a:t>
            </a:r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A_reconstructed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2ACBECF-C3A7-A000-B7AC-908A2CE1CB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912" y="1124960"/>
            <a:ext cx="6216973" cy="223785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2A09A4A-AB14-5C62-A6CD-279DFDDCDA86}"/>
              </a:ext>
            </a:extLst>
          </p:cNvPr>
          <p:cNvSpPr txBox="1"/>
          <p:nvPr/>
        </p:nvSpPr>
        <p:spPr>
          <a:xfrm>
            <a:off x="5779912" y="3910499"/>
            <a:ext cx="469924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Original Matrix: </a:t>
            </a:r>
          </a:p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[[0.40895294 0.17329432 0.15643704]   </a:t>
            </a:r>
          </a:p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 [0.2502429 0.54922666 0.71459592] </a:t>
            </a:r>
          </a:p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 [0.66019738 0.2799339 0.95486528]]</a:t>
            </a:r>
          </a:p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</a:t>
            </a:r>
          </a:p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Reconstructed Matrix: </a:t>
            </a:r>
          </a:p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[[0.40895294 0.17329432 0.15643704] </a:t>
            </a:r>
          </a:p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 [0.2502429 0.54922666 0.71459592] </a:t>
            </a:r>
          </a:p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[0.66019738 0.2799339 0.95486528]]</a:t>
            </a:r>
            <a:endParaRPr lang="ko-KR" altLang="en-US" sz="16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latin typeface="Batang" panose="02030600000101010101" pitchFamily="18" charset="-127"/>
              <a:ea typeface="Batang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0395050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DC9B65-F8EA-6AA1-1DA5-2D80DF7BE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대수</a:t>
            </a:r>
            <a:r>
              <a:rPr lang="en-US" altLang="ko-KR" dirty="0"/>
              <a:t>(algebra)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8F94065A-3B86-1519-6348-51928857D09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Algebra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기호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(symbol) 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값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(value)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의 관계를 다루고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</a:t>
            </a:r>
          </a:p>
          <a:p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Python namespace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이름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(name) 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객체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(object)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의 매핑을 관리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1DB9E3E-3577-1260-128B-9898F7CF9E9C}"/>
                  </a:ext>
                </a:extLst>
              </p:cNvPr>
              <p:cNvSpPr txBox="1"/>
              <p:nvPr/>
            </p:nvSpPr>
            <p:spPr>
              <a:xfrm>
                <a:off x="1114424" y="2588389"/>
                <a:ext cx="4200525" cy="3185616"/>
              </a:xfrm>
              <a:prstGeom prst="rect">
                <a:avLst/>
              </a:prstGeom>
              <a:solidFill>
                <a:srgbClr val="FFC000"/>
              </a:solidFill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2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Algebra </a:t>
                </a:r>
                <a:r>
                  <a:rPr lang="ko-KR" altLang="en-US" sz="2000" dirty="0">
                    <a:latin typeface="Cambria Math" panose="02040503050406030204" pitchFamily="18" charset="0"/>
                  </a:rPr>
                  <a:t>관점에서 보기</a:t>
                </a:r>
                <a:endParaRPr lang="en-US" altLang="ko-KR" sz="2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ko-KR" sz="2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</m:t>
                    </m:r>
                  </m:oMath>
                </a14:m>
                <a:endParaRPr lang="ko-KR" altLang="en-US" sz="1600" dirty="0">
                  <a:latin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ko-KR" altLang="en-US" sz="16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</m:oMath>
                </a14:m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는 이름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기호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), 3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은 값 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는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3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을 “참조” 즉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기호 → 값으로 매핑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1DB9E3E-3577-1260-128B-9898F7CF9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4424" y="2588389"/>
                <a:ext cx="4200525" cy="3185616"/>
              </a:xfrm>
              <a:prstGeom prst="rect">
                <a:avLst/>
              </a:prstGeom>
              <a:blipFill>
                <a:blip r:embed="rId2"/>
                <a:stretch>
                  <a:fillRect l="-1597" b="-15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BB6EF32-8427-BBBA-0DE1-7EADCB0C34DF}"/>
                  </a:ext>
                </a:extLst>
              </p:cNvPr>
              <p:cNvSpPr txBox="1"/>
              <p:nvPr/>
            </p:nvSpPr>
            <p:spPr>
              <a:xfrm>
                <a:off x="6095687" y="2588389"/>
                <a:ext cx="4562788" cy="3179909"/>
              </a:xfrm>
              <a:prstGeom prst="rect">
                <a:avLst/>
              </a:prstGeom>
              <a:solidFill>
                <a:srgbClr val="FFC000"/>
              </a:solidFill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2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Python Namespace </a:t>
                </a:r>
                <a:r>
                  <a:rPr lang="ko-KR" altLang="en-US" sz="2000" dirty="0">
                    <a:latin typeface="Cambria Math" panose="02040503050406030204" pitchFamily="18" charset="0"/>
                  </a:rPr>
                  <a:t>구조</a:t>
                </a:r>
                <a:endParaRPr lang="en-US" altLang="ko-KR" sz="20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endParaRPr lang="ko-KR" altLang="en-US" sz="1600" dirty="0">
                  <a:latin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    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# 3(class)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를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가 객체화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</m:oMath>
                </a14:m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→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3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객체를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, 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y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→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5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객체를 가리킴 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이걸 저장하는 공간이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namespace</a:t>
                </a:r>
                <a:endParaRPr lang="ko-KR" altLang="en-US" sz="1600" dirty="0">
                  <a:latin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이름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(name) →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객체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(object)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매핑 테이블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BB6EF32-8427-BBBA-0DE1-7EADCB0C34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687" y="2588389"/>
                <a:ext cx="4562788" cy="3179909"/>
              </a:xfrm>
              <a:prstGeom prst="rect">
                <a:avLst/>
              </a:prstGeom>
              <a:blipFill>
                <a:blip r:embed="rId3"/>
                <a:stretch>
                  <a:fillRect l="-147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39770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BE0C7-8609-6D65-19A9-8E7645A55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40955959-D6AE-86A3-75EF-BA7993E3B175}"/>
              </a:ext>
            </a:extLst>
          </p:cNvPr>
          <p:cNvSpPr/>
          <p:nvPr/>
        </p:nvSpPr>
        <p:spPr>
          <a:xfrm>
            <a:off x="636521" y="1646709"/>
            <a:ext cx="8136904" cy="4883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5F22C6-1AF1-442F-1ED8-59ADC941BCAB}"/>
              </a:ext>
            </a:extLst>
          </p:cNvPr>
          <p:cNvSpPr txBox="1"/>
          <p:nvPr/>
        </p:nvSpPr>
        <p:spPr>
          <a:xfrm>
            <a:off x="1629916" y="147612"/>
            <a:ext cx="8928992" cy="33066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en-US" altLang="ko-KR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Numpy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주성분 분석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(Principal Component Analysis)</a:t>
            </a:r>
          </a:p>
        </p:txBody>
      </p:sp>
    </p:spTree>
    <p:extLst>
      <p:ext uri="{BB962C8B-B14F-4D97-AF65-F5344CB8AC3E}">
        <p14:creationId xmlns:p14="http://schemas.microsoft.com/office/powerpoint/2010/main" val="31254290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62A6AC-F31D-7803-9BAE-57D8037A7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B6F374-757A-05DA-106C-A5174A1D6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F12DF600-6320-5427-2C4F-C5B7F8FEED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A641F8A1-7380-8B6A-5FC2-A66B2A041CB7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Stochastic Gradient Descent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68A00688-D431-6FA8-A887-7BC5C5B355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2384764"/>
            <a:ext cx="10353762" cy="3701711"/>
          </a:xfrm>
        </p:spPr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핵심 메커니즘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tf.GradientTape</a:t>
            </a:r>
            <a:endParaRPr lang="ko-KR" altLang="en-US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TensorFlow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가장 큰 특징은 **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GradientTape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**입니다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구문 안에서 일어나는 모든 연산은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테이프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기록되며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tape.gradient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호출하는 순간 기록된 연산들을 역순으로 추적하여 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미분값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계산해냅니다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이를 **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(Backpropagation)**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라고 부릅니다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>
              <a:buFont typeface="Wingdings" panose="05000000000000000000" pitchFamily="2" charset="2"/>
              <a:buChar char="§"/>
            </a:pPr>
            <a:endParaRPr lang="en-US" altLang="ko-KR" cap="none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8465188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B0106-250C-EDA4-CFBA-23A14D248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E97C0B-D82D-3948-18EA-EA57EC29E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주성분</a:t>
            </a:r>
            <a:r>
              <a:rPr lang="en-US" altLang="ko-KR" dirty="0"/>
              <a:t>(Principal component)</a:t>
            </a:r>
            <a:endParaRPr lang="ko-KR" altLang="en-US" dirty="0"/>
          </a:p>
        </p:txBody>
      </p:sp>
      <p:pic>
        <p:nvPicPr>
          <p:cNvPr id="4102" name="Picture 6">
            <a:extLst>
              <a:ext uri="{FF2B5EF4-FFF2-40B4-BE49-F238E27FC236}">
                <a16:creationId xmlns:a16="http://schemas.microsoft.com/office/drawing/2014/main" id="{EC556570-9556-C9E9-F483-2FA62BEA55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6763" y="1647825"/>
            <a:ext cx="6257925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5238951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D4C6D7-90E2-02DD-095D-F5CFC88C5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행렬변환에 의한 기저좌표의 변화</a:t>
            </a:r>
          </a:p>
        </p:txBody>
      </p:sp>
      <p:pic>
        <p:nvPicPr>
          <p:cNvPr id="3078" name="Picture 6">
            <a:extLst>
              <a:ext uri="{FF2B5EF4-FFF2-40B4-BE49-F238E27FC236}">
                <a16:creationId xmlns:a16="http://schemas.microsoft.com/office/drawing/2014/main" id="{8661F9D4-6959-ECD9-DFE2-38BAFFAD0C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476" y="2214694"/>
            <a:ext cx="5581650" cy="3562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>
            <a:extLst>
              <a:ext uri="{FF2B5EF4-FFF2-40B4-BE49-F238E27FC236}">
                <a16:creationId xmlns:a16="http://schemas.microsoft.com/office/drawing/2014/main" id="{537BC7C1-934D-9636-2C4B-CD031F9EC6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5848" y="1776923"/>
            <a:ext cx="5581651" cy="4000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511062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6D487E-2A47-66D1-E5D6-203622E2B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주성분분석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9F8F0A64-97F6-9176-29ED-C3A737B3980D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0582" y="2366963"/>
            <a:ext cx="6869311" cy="4252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739909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95A05-AD8A-4312-2266-14EB3FF74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9996B7-68D5-154D-EEB6-A81286B77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hlinkClick r:id="rId2"/>
              </a:rPr>
              <a:t>Eigenvalues_and_eigenvectors</a:t>
            </a:r>
            <a:endParaRPr lang="ko-KR" alt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1EC2804F-41A4-5101-2BDC-FC966F15EAEB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524" y="2214694"/>
            <a:ext cx="5774697" cy="4024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1656C6E6-6881-C1B3-F43B-81E4D1656F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10424" y="1978912"/>
            <a:ext cx="4210051" cy="4260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660209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33E37C-BEEC-4D15-38F4-646D0CD10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SVD</a:t>
            </a:r>
            <a:r>
              <a:rPr lang="ko-KR" altLang="en-US" dirty="0"/>
              <a:t>로 주성분분석 배우기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304BD9F-6B4D-86EF-FC4A-F9FD4C3992BD}"/>
              </a:ext>
            </a:extLst>
          </p:cNvPr>
          <p:cNvSpPr>
            <a:spLocks noGrp="1" noChangeArrowheads="1"/>
          </p:cNvSpPr>
          <p:nvPr>
            <p:ph sz="quarter" idx="13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9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1. </a:t>
            </a:r>
            <a:r>
              <a:rPr kumimoji="0" lang="ko-KR" altLang="ko-KR" sz="9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SVD를</a:t>
            </a:r>
            <a:r>
              <a:rPr kumimoji="0" lang="ko-KR" altLang="ko-KR" sz="9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이용한 </a:t>
            </a:r>
            <a:r>
              <a:rPr kumimoji="0" lang="ko-KR" altLang="ko-KR" sz="9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PCA의</a:t>
            </a:r>
            <a:r>
              <a:rPr kumimoji="0" lang="ko-KR" altLang="ko-KR" sz="9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수학적 단계</a:t>
            </a:r>
            <a:endParaRPr kumimoji="0" lang="ko-KR" altLang="ko-KR" sz="9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PCA의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목적은 데이터의 분산을 최대한 보존하는 새로운 축(주성분)을 찾는 것입니다. 데이터 행렬 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$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X$가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있을 때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SVD는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다음과 같이 분해됩니다.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$$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X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=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U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\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Sigma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V^T$$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데이터 중심화 (</a:t>
            </a:r>
            <a:r>
              <a:rPr kumimoji="0" lang="ko-KR" altLang="ko-KR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Centering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):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각 특성(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Feature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)의 평균을 0으로 만듭니다. (매우 중요!)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SVD 수행: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중심화된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행렬 $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X$를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$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U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, \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Sigma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,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V^T$로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분해합니다.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주성분 추출: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$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V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$ 행렬의 열 벡터들이 바로 주성분 축(Principal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Axes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)이 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차원 축소 (</a:t>
            </a:r>
            <a:r>
              <a:rPr kumimoji="0" lang="ko-KR" altLang="ko-KR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Projection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):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$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X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V$를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계산하거나, $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U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\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Sigma$의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앞부분을 취하여 데이터를 저차원으로 투영합니다.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604336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Optimization(1/2)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62</a:t>
            </a:fld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0083FF-10D2-2ABC-E511-20F9827664E0}"/>
              </a:ext>
            </a:extLst>
          </p:cNvPr>
          <p:cNvSpPr txBox="1"/>
          <p:nvPr/>
        </p:nvSpPr>
        <p:spPr>
          <a:xfrm>
            <a:off x="6949440" y="1647904"/>
            <a:ext cx="5242560" cy="44935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from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scipy.optimize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import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linprog</a:t>
            </a:r>
            <a:endParaRPr lang="en-US" altLang="ko-KR" sz="13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latin typeface="Batang" panose="02030600000101010101" pitchFamily="18" charset="-127"/>
              <a:ea typeface="Batang" panose="02030600000101010101" pitchFamily="18" charset="-127"/>
            </a:endParaRP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Objective function coefficients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c = [-3, -2]  # Minimize -3x1 - 2x2 is equivalent to maximizing 3x1 + 2x2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Inequality constraints matrix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 = [[1, 1], [2, 1], [-1, 0]]  # Note the change in the third constraint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Inequality constraints vector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b = [100, 100, -40]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Bounds for variables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x0_bounds = (0, None)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x1_bounds = (0, None)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Solve linear programming problem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result =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linprog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(c,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A_ub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=A,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b_ub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=b, bounds=[x0_bounds, x1_bounds], method='highs')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Display the results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Negate the result because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linprog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minimizes by default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print('Optimal value (max z):', -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result.fun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)  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print('Optimal point (x1, x2):',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result.x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211BA0-9E12-0D58-B113-24EA975B3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27464"/>
            <a:ext cx="8660511" cy="584795"/>
          </a:xfrm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en-US" altLang="ko-KR" sz="2200" dirty="0">
                <a:effectLst/>
              </a:rPr>
              <a:t>1. Linear Programing :</a:t>
            </a:r>
          </a:p>
          <a:p>
            <a:pPr marL="36900" indent="0" algn="l">
              <a:buNone/>
            </a:pPr>
            <a:endParaRPr lang="fr-FR" altLang="ko-KR" sz="1300" dirty="0">
              <a:solidFill>
                <a:schemeClr val="tx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25234C1-3DF1-C42D-7E13-AF831521D9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201" y="2327162"/>
            <a:ext cx="3887267" cy="336791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C9AFD41-360D-DB5A-47E6-646A22156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2674" y="1863603"/>
            <a:ext cx="1719806" cy="1229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02758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16EA4-6A32-55B9-F2F8-5DA6ECD6C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815623-C2EB-F15E-FEC2-5A5896A33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genetic </a:t>
            </a:r>
            <a:r>
              <a:rPr lang="ko-KR" altLang="en-US" dirty="0"/>
              <a:t>알고리즘</a:t>
            </a:r>
            <a:r>
              <a:rPr lang="en-US" altLang="ko-KR" dirty="0"/>
              <a:t>(1/2)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0F0CDC-6830-A631-01EB-846962DB3C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63</a:t>
            </a:fld>
            <a:endParaRPr lang="en-US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629CA4A-E5A9-E179-9C9D-D09F7EDC2B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4679002"/>
      </p:ext>
    </p:extLst>
  </p:cSld>
  <p:clrMapOvr>
    <a:masterClrMapping/>
  </p:clrMapOvr>
</p:sld>
</file>

<file path=ppt/theme/theme1.xml><?xml version="1.0" encoding="utf-8"?>
<a:theme xmlns:a="http://schemas.openxmlformats.org/drawingml/2006/main" name="물방울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{1CC570B9-0437-4096-963A-AEC0F46B8FA6}TF62d0d592-7ac2-4846-a919-75806e8bead4bfbc838d-5dafd7656617</Template>
  <TotalTime>4050</TotalTime>
  <Words>4150</Words>
  <Application>Microsoft Office PowerPoint</Application>
  <PresentationFormat>와이드스크린</PresentationFormat>
  <Paragraphs>578</Paragraphs>
  <Slides>63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63</vt:i4>
      </vt:variant>
    </vt:vector>
  </HeadingPairs>
  <TitlesOfParts>
    <vt:vector size="80" baseType="lpstr">
      <vt:lpstr>MS PGothic</vt:lpstr>
      <vt:lpstr>NanumGothicExtraBold</vt:lpstr>
      <vt:lpstr>맑은 고딕</vt:lpstr>
      <vt:lpstr>맑은 고딕 Semilight</vt:lpstr>
      <vt:lpstr>바탕</vt:lpstr>
      <vt:lpstr>한컴 말랑말랑 Bold</vt:lpstr>
      <vt:lpstr>ADLaM Display</vt:lpstr>
      <vt:lpstr>Aptos Narrow</vt:lpstr>
      <vt:lpstr>Arial</vt:lpstr>
      <vt:lpstr>Arial Narrow</vt:lpstr>
      <vt:lpstr>Calibri Light</vt:lpstr>
      <vt:lpstr>Cambria Math</vt:lpstr>
      <vt:lpstr>Open Sans</vt:lpstr>
      <vt:lpstr>Times New Roman</vt:lpstr>
      <vt:lpstr>Tw Cen MT</vt:lpstr>
      <vt:lpstr>Wingdings</vt:lpstr>
      <vt:lpstr>물방울</vt:lpstr>
      <vt:lpstr>수학의 응용 - 머신러닝 -</vt:lpstr>
      <vt:lpstr>PowerPoint 프레젠테이션</vt:lpstr>
      <vt:lpstr>Norm</vt:lpstr>
      <vt:lpstr>1-Norm</vt:lpstr>
      <vt:lpstr>2-Norm</vt:lpstr>
      <vt:lpstr>Visualization of L1, L2 Norms</vt:lpstr>
      <vt:lpstr>Nearest Neighbors</vt:lpstr>
      <vt:lpstr>Hands-on Nearest neighbors</vt:lpstr>
      <vt:lpstr>Cosine similarity</vt:lpstr>
      <vt:lpstr>Hands-on Clustering</vt:lpstr>
      <vt:lpstr>PowerPoint 프레젠테이션</vt:lpstr>
      <vt:lpstr>Linear Regression</vt:lpstr>
      <vt:lpstr>MSE(Mean Squared Error)</vt:lpstr>
      <vt:lpstr>Matrix Formulation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Geometry(2/2)</vt:lpstr>
      <vt:lpstr>Machine Learning(1/2)</vt:lpstr>
      <vt:lpstr>Machine Learning(2/2)</vt:lpstr>
      <vt:lpstr>Machine Learning(2/2)</vt:lpstr>
      <vt:lpstr>Machine Learning(2/2)</vt:lpstr>
      <vt:lpstr>대수(algebra)</vt:lpstr>
      <vt:lpstr>PowerPoint 프레젠테이션</vt:lpstr>
      <vt:lpstr>PowerPoint 프레젠테이션</vt:lpstr>
      <vt:lpstr>주성분(Principal component)</vt:lpstr>
      <vt:lpstr>행렬변환에 의한 기저좌표의 변화</vt:lpstr>
      <vt:lpstr>주성분분석</vt:lpstr>
      <vt:lpstr>Eigenvalues_and_eigenvectors</vt:lpstr>
      <vt:lpstr>SVD로 주성분분석 배우기</vt:lpstr>
      <vt:lpstr>Optimization(1/2)</vt:lpstr>
      <vt:lpstr>genetic 알고리즘(1/2)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49</cp:revision>
  <dcterms:created xsi:type="dcterms:W3CDTF">2026-03-09T22:59:08Z</dcterms:created>
  <dcterms:modified xsi:type="dcterms:W3CDTF">2026-03-29T08:34:36Z</dcterms:modified>
</cp:coreProperties>
</file>