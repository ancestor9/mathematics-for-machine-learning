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4"/>
  </p:notesMasterIdLst>
  <p:sldIdLst>
    <p:sldId id="256" r:id="rId2"/>
    <p:sldId id="266" r:id="rId3"/>
    <p:sldId id="836" r:id="rId4"/>
    <p:sldId id="824" r:id="rId5"/>
    <p:sldId id="825" r:id="rId6"/>
    <p:sldId id="826" r:id="rId7"/>
    <p:sldId id="822" r:id="rId8"/>
    <p:sldId id="838" r:id="rId9"/>
    <p:sldId id="837" r:id="rId10"/>
    <p:sldId id="829" r:id="rId11"/>
    <p:sldId id="830" r:id="rId12"/>
    <p:sldId id="832" r:id="rId13"/>
    <p:sldId id="831" r:id="rId14"/>
    <p:sldId id="833" r:id="rId15"/>
    <p:sldId id="820" r:id="rId16"/>
    <p:sldId id="834" r:id="rId17"/>
    <p:sldId id="282" r:id="rId18"/>
    <p:sldId id="284" r:id="rId19"/>
    <p:sldId id="264" r:id="rId20"/>
    <p:sldId id="261" r:id="rId21"/>
    <p:sldId id="262" r:id="rId22"/>
    <p:sldId id="26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2026-03-25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336229" y="1428465"/>
            <a:ext cx="5512246" cy="4890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 &amp; Optimization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  <a:endParaRPr lang="en-US" altLang="ko-KR" sz="1600" b="1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Naive Bayes classifier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Random Forest &amp; Bootstrap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BC02FE-7274-0BF4-65CA-64C4510F99D6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92B4C6-81DE-4946-F673-2B889963FFB1}"/>
              </a:ext>
            </a:extLst>
          </p:cNvPr>
          <p:cNvSpPr txBox="1"/>
          <p:nvPr/>
        </p:nvSpPr>
        <p:spPr>
          <a:xfrm>
            <a:off x="7029450" y="1428465"/>
            <a:ext cx="4619625" cy="392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 &amp; 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sz="1600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7697"/>
            <a:ext cx="5198341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4890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 &amp; Optimization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  <a:endParaRPr lang="en-US" altLang="ko-KR" sz="1600" b="1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Naive Bayes classifier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Random Forest &amp; Bootstrap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392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 &amp; 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sz="1600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distance from the origin</a:t>
            </a:r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ko-KR" sz="2000" dirty="0"/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p-norm of vector x will be denoted as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Norms</a:t>
            </a:r>
            <a:endParaRPr lang="ko-KR" alt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아래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그림에서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원점으로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부터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사각형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(L1, Lasso)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과 원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(L2, Ridge)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의 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distance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를 구하고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비교하라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Lasso, Ridge Penalty in machine learning</a:t>
            </a:r>
            <a:endParaRPr lang="en-US" altLang="ko-KR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</a:t>
            </a: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Neighors</a:t>
            </a:r>
            <a:endParaRPr lang="ko-KR" alt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D7B7BB8-7250-9DC7-9821-CFFC8EE45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627" y="3429000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DD09B8C-AE0F-9059-383E-FC807A2858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6A7DF7C-BB26-2ABE-FBC3-99E9E9C83C76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807B3-41AF-AB58-735D-892FD09244F4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아래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그림에서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원점으로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부터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사각형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(L1, Lasso)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과 원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(L2, Ridge)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의 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distance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를 구하고</a:t>
            </a: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ko-KR" alt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비교하라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Lasso, Ridge Penalty in machine learning</a:t>
            </a:r>
            <a:endParaRPr lang="en-US" altLang="ko-KR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D9ACFDA-4703-18E2-2911-DDBA96EE940F}"/>
              </a:ext>
            </a:extLst>
          </p:cNvPr>
          <p:cNvGrpSpPr/>
          <p:nvPr/>
        </p:nvGrpSpPr>
        <p:grpSpPr>
          <a:xfrm>
            <a:off x="5743653" y="2229997"/>
            <a:ext cx="4237145" cy="4228539"/>
            <a:chOff x="6002230" y="2363039"/>
            <a:chExt cx="4330872" cy="4235758"/>
          </a:xfrm>
        </p:grpSpPr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4548357B-ECE6-1410-2D5E-B12717123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2230" y="2363039"/>
              <a:ext cx="4330872" cy="4235758"/>
            </a:xfrm>
            <a:prstGeom prst="rect">
              <a:avLst/>
            </a:prstGeom>
          </p:spPr>
        </p:pic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BBAB6170-7851-0E54-963E-EBF7992D764C}"/>
                </a:ext>
              </a:extLst>
            </p:cNvPr>
            <p:cNvCxnSpPr/>
            <p:nvPr/>
          </p:nvCxnSpPr>
          <p:spPr>
            <a:xfrm flipV="1">
              <a:off x="8391525" y="3609975"/>
              <a:ext cx="723900" cy="733425"/>
            </a:xfrm>
            <a:prstGeom prst="straightConnector1">
              <a:avLst/>
            </a:prstGeom>
            <a:ln w="9525" cap="flat" cmpd="sng" algn="ctr">
              <a:solidFill>
                <a:schemeClr val="accent4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ED26D79C-31D4-D73D-22F9-29534FC4689A}"/>
                </a:ext>
              </a:extLst>
            </p:cNvPr>
            <p:cNvCxnSpPr>
              <a:cxnSpLocks/>
            </p:cNvCxnSpPr>
            <p:nvPr/>
          </p:nvCxnSpPr>
          <p:spPr>
            <a:xfrm>
              <a:off x="8391525" y="4419600"/>
              <a:ext cx="1114425" cy="1028700"/>
            </a:xfrm>
            <a:prstGeom prst="straightConnector1">
              <a:avLst/>
            </a:prstGeom>
            <a:ln w="9525" cap="flat" cmpd="sng" algn="ctr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E7DD3-5259-D8A2-1219-2EBD44DFD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534C7EF-A70F-E030-FDCD-A296D2FEA1CC}"/>
              </a:ext>
            </a:extLst>
          </p:cNvPr>
          <p:cNvSpPr/>
          <p:nvPr/>
        </p:nvSpPr>
        <p:spPr>
          <a:xfrm>
            <a:off x="6669809" y="1466648"/>
            <a:ext cx="5198341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5FD4A8-708A-F0E7-059E-15BD4BCD278F}"/>
              </a:ext>
            </a:extLst>
          </p:cNvPr>
          <p:cNvSpPr txBox="1"/>
          <p:nvPr/>
        </p:nvSpPr>
        <p:spPr>
          <a:xfrm>
            <a:off x="1336229" y="1428465"/>
            <a:ext cx="5512246" cy="4890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 &amp; Optimization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  <a:endParaRPr lang="en-US" altLang="ko-KR" sz="1600" b="1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Naive Bayes classifier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Random Forest &amp; Bootstrap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79FDF5-047E-21FB-D9D4-725C60665E4B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844BFF-C62D-C3B2-6C69-235AC301C025}"/>
              </a:ext>
            </a:extLst>
          </p:cNvPr>
          <p:cNvSpPr txBox="1"/>
          <p:nvPr/>
        </p:nvSpPr>
        <p:spPr>
          <a:xfrm>
            <a:off x="7029450" y="1428465"/>
            <a:ext cx="4619625" cy="392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 &amp; 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sz="1600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350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Geometry(2/2)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7772400" y="1647905"/>
            <a:ext cx="402515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sklearn.decomposition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PCA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2D data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data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np.random.multivariate_normal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(mean=[0,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cov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=[[1, 0.8], [0.8, 1]], size=100)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Apply PCA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PCA()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pca.fit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original data and principal components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(data[:, 0], data[:, 1], label='Original Data')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plt.quiver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(0, 0,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_[0,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_[0, 1], scale=3, color='r', label='Principal Component 1')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plt.quiver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(0, 0,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_[1,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_[1, 1], scale=3, color='b', label='Principal Component 2')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plt.axis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('equal')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896446" cy="740742"/>
          </a:xfrm>
        </p:spPr>
        <p:txBody>
          <a:bodyPr>
            <a:normAutofit fontScale="92500" lnSpcReduction="20000"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Eigenvalues and Eigenvectors (Principal Component Analysis - PCA):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4F29429-0D78-9599-8AE2-C36D3FFD6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484" y="2008372"/>
            <a:ext cx="5014395" cy="3917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78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Optimization(1/2)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275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Optimization(2/2)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339840" y="2119264"/>
            <a:ext cx="585216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synthetic data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np.random.seed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(42)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 = 2 *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(100, 1)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y = 4 + 3 * X +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(100, 1)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Perform linear regression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X_b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np.c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np.ones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((100, 1)), X]  # add x0 = 1 to each instance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theta_best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np.linalg.inv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(X_b.T.dot(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X_b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)).dot(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X_b.T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).dot(y)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data and regression line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(X, y, label='Data')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(X, X_b.dot(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theta_best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), color='red', label='Linear Regression')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 algn="l">
              <a:buNone/>
            </a:pPr>
            <a:r>
              <a:rPr lang="en-US" altLang="ko-KR" sz="2200" dirty="0">
                <a:effectLst/>
              </a:rPr>
              <a:t>2. Least Squares Regression: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B637D28-6F52-9C52-834F-AFBD1A4CD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68" y="2119264"/>
            <a:ext cx="4645193" cy="3489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8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Learning(1/2)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5110480" y="1647905"/>
            <a:ext cx="668707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mpl_toolkits.mplot3d import Axes3D  # Import necessary module for 3D projection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sklearn.decomposition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PCA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3D data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data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np.random.multivariate_normal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(mean=[0, 0, 0], 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                                     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cov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=[[1, 0.8, 0.5], [0.8, 1, 0.3], [0.5, 0.3, 1]], 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                                     size=500)*20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Apply PCA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PCA(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n_components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=2)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pca.fit_transform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(data)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original and transformed data in 3D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fig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plt.figure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fig.add_subplot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(111, projection='3d')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(data[:, 0], data[:, 1], data[:, 2], label='Original Data', alpha = 0.3)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1],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np.zeros_like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1]), label='Transformed Data',)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ax.set_xlabel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('X’);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ax.set_ylabel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('Y’);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ax.set_zlabel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('Z')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Adjust the viewing angle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ax.view_init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elev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=5,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azim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=80)  # Set the elevation and azimuth angles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plt.show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Principal Component Analysis(PCA):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84CC400-E8E0-1EA9-09C5-E32DC2778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188" y="1793100"/>
            <a:ext cx="3947898" cy="366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1803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21C909-C89C-9ED4-F930-CBE12134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520" y="1156490"/>
            <a:ext cx="10045785" cy="362675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44FA471-0605-8E6D-3555-55B598005FF1}"/>
              </a:ext>
            </a:extLst>
          </p:cNvPr>
          <p:cNvSpPr/>
          <p:nvPr/>
        </p:nvSpPr>
        <p:spPr>
          <a:xfrm>
            <a:off x="3516554" y="2918011"/>
            <a:ext cx="8130989" cy="510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FEDD420-6C76-0647-08D3-8F4892D5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</p:spTree>
    <p:extLst>
      <p:ext uri="{BB962C8B-B14F-4D97-AF65-F5344CB8AC3E}">
        <p14:creationId xmlns:p14="http://schemas.microsoft.com/office/powerpoint/2010/main" val="3198952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FEDD420-6C76-0647-08D3-8F4892D5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87B24D-D4DE-DC67-AA26-0344FFFCEC62}"/>
              </a:ext>
            </a:extLst>
          </p:cNvPr>
          <p:cNvSpPr txBox="1"/>
          <p:nvPr/>
        </p:nvSpPr>
        <p:spPr>
          <a:xfrm>
            <a:off x="660400" y="1288762"/>
            <a:ext cx="66852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a matrix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(3, 3)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Perform SVD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U, S, Vt =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np.linalg.svd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(A,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full_matrices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=False)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Reconstruct the original matrix</a:t>
            </a:r>
          </a:p>
          <a:p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U @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np.diag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(S) @ Vt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print("Original Matrix:")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print(A)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print("\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Matrix:")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2ACBECF-C3A7-A000-B7AC-908A2CE1C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912" y="1124960"/>
            <a:ext cx="6216973" cy="22378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A09A4A-AB14-5C62-A6CD-279DFDDCDA86}"/>
              </a:ext>
            </a:extLst>
          </p:cNvPr>
          <p:cNvSpPr txBox="1"/>
          <p:nvPr/>
        </p:nvSpPr>
        <p:spPr>
          <a:xfrm>
            <a:off x="5779912" y="3910499"/>
            <a:ext cx="46992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Original Matrix: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[[0.40895294 0.17329432 0.15643704]  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[0.2502429 0.54922666 0.71459592]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[0.66019738 0.2799339 0.95486528]]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Reconstructed Matrix: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[[0.40895294 0.17329432 0.15643704]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[0.2502429 0.54922666 0.71459592]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[0.66019738 0.2799339 0.95486528]]</a:t>
            </a:r>
            <a:endParaRPr lang="ko-KR" altLang="en-US" sz="16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39505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BE0C7-8609-6D65-19A9-8E7645A5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0955959-D6AE-86A3-75EF-BA7993E3B175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F22C6-1AF1-442F-1ED8-59ADC941BCAB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125429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1921</TotalTime>
  <Words>1645</Words>
  <Application>Microsoft Office PowerPoint</Application>
  <PresentationFormat>와이드스크린</PresentationFormat>
  <Paragraphs>243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2" baseType="lpstr">
      <vt:lpstr>맑은 고딕</vt:lpstr>
      <vt:lpstr>Batang</vt:lpstr>
      <vt:lpstr>한컴 말랑말랑 Bold</vt:lpstr>
      <vt:lpstr>Arial</vt:lpstr>
      <vt:lpstr>Calibri Light</vt:lpstr>
      <vt:lpstr>Cambria Math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PowerPoint 프레젠테이션</vt:lpstr>
      <vt:lpstr>Norm</vt:lpstr>
      <vt:lpstr>1-Norm</vt:lpstr>
      <vt:lpstr>2-Norm</vt:lpstr>
      <vt:lpstr>Vector Norms</vt:lpstr>
      <vt:lpstr>Nearest Neighors</vt:lpstr>
      <vt:lpstr>PowerPoint 프레젠테이션</vt:lpstr>
      <vt:lpstr>Geometry(2/2)</vt:lpstr>
      <vt:lpstr>Optimization(1/2)</vt:lpstr>
      <vt:lpstr>Optimization(2/2)</vt:lpstr>
      <vt:lpstr>Machine Learning(1/2)</vt:lpstr>
      <vt:lpstr>Machine Learning(2/2)</vt:lpstr>
      <vt:lpstr>Machine Learning(2/2)</vt:lpstr>
      <vt:lpstr>Machine Learning(2/2)</vt:lpstr>
      <vt:lpstr>대수(algebra)</vt:lpstr>
      <vt:lpstr>PowerPoint 프레젠테이션</vt:lpstr>
      <vt:lpstr>주성분(Principal component)</vt:lpstr>
      <vt:lpstr>행렬변환에 의한 기저좌표의 변화</vt:lpstr>
      <vt:lpstr>주성분분석</vt:lpstr>
      <vt:lpstr>Eigenvalues_and_eigenvectors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22</cp:revision>
  <dcterms:created xsi:type="dcterms:W3CDTF">2026-03-09T22:59:08Z</dcterms:created>
  <dcterms:modified xsi:type="dcterms:W3CDTF">2026-03-25T01:33:11Z</dcterms:modified>
</cp:coreProperties>
</file>