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2"/>
  </p:notesMasterIdLst>
  <p:sldIdLst>
    <p:sldId id="256" r:id="rId2"/>
    <p:sldId id="836" r:id="rId3"/>
    <p:sldId id="824" r:id="rId4"/>
    <p:sldId id="825" r:id="rId5"/>
    <p:sldId id="826" r:id="rId6"/>
    <p:sldId id="822" r:id="rId7"/>
    <p:sldId id="838" r:id="rId8"/>
    <p:sldId id="842" r:id="rId9"/>
    <p:sldId id="841" r:id="rId10"/>
    <p:sldId id="840" r:id="rId11"/>
    <p:sldId id="888" r:id="rId12"/>
    <p:sldId id="847" r:id="rId13"/>
    <p:sldId id="870" r:id="rId14"/>
    <p:sldId id="871" r:id="rId15"/>
    <p:sldId id="848" r:id="rId16"/>
    <p:sldId id="873" r:id="rId17"/>
    <p:sldId id="874" r:id="rId18"/>
    <p:sldId id="845" r:id="rId19"/>
    <p:sldId id="872" r:id="rId20"/>
    <p:sldId id="851" r:id="rId21"/>
    <p:sldId id="852" r:id="rId22"/>
    <p:sldId id="846" r:id="rId23"/>
    <p:sldId id="902" r:id="rId24"/>
    <p:sldId id="854" r:id="rId25"/>
    <p:sldId id="857" r:id="rId26"/>
    <p:sldId id="858" r:id="rId27"/>
    <p:sldId id="856" r:id="rId28"/>
    <p:sldId id="859" r:id="rId29"/>
    <p:sldId id="864" r:id="rId30"/>
    <p:sldId id="862" r:id="rId31"/>
    <p:sldId id="866" r:id="rId32"/>
    <p:sldId id="867" r:id="rId33"/>
    <p:sldId id="855" r:id="rId34"/>
    <p:sldId id="868" r:id="rId35"/>
    <p:sldId id="865" r:id="rId36"/>
    <p:sldId id="878" r:id="rId37"/>
    <p:sldId id="903" r:id="rId38"/>
    <p:sldId id="876" r:id="rId39"/>
    <p:sldId id="879" r:id="rId40"/>
    <p:sldId id="880" r:id="rId41"/>
    <p:sldId id="881" r:id="rId42"/>
    <p:sldId id="883" r:id="rId43"/>
    <p:sldId id="882" r:id="rId44"/>
    <p:sldId id="884" r:id="rId45"/>
    <p:sldId id="886" r:id="rId46"/>
    <p:sldId id="887" r:id="rId47"/>
    <p:sldId id="885" r:id="rId48"/>
    <p:sldId id="904" r:id="rId49"/>
    <p:sldId id="891" r:id="rId50"/>
    <p:sldId id="899" r:id="rId51"/>
    <p:sldId id="893" r:id="rId52"/>
    <p:sldId id="898" r:id="rId53"/>
    <p:sldId id="897" r:id="rId54"/>
    <p:sldId id="267" r:id="rId55"/>
    <p:sldId id="892" r:id="rId56"/>
    <p:sldId id="905" r:id="rId57"/>
    <p:sldId id="906" r:id="rId58"/>
    <p:sldId id="900" r:id="rId59"/>
    <p:sldId id="833" r:id="rId60"/>
    <p:sldId id="830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651" autoAdjust="0"/>
    <p:restoredTop sz="94660"/>
  </p:normalViewPr>
  <p:slideViewPr>
    <p:cSldViewPr snapToGrid="0">
      <p:cViewPr varScale="1">
        <p:scale>
          <a:sx n="80" d="100"/>
          <a:sy n="80" d="100"/>
        </p:scale>
        <p:origin x="93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723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3ED9A29-9868-F004-D477-E1B0BB93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77D30F9-C5FD-9521-DA84-79FBF57E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6A01DD9-3974-9718-87F6-EB78F09A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bg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A99E11-B46A-118A-F76B-E17310DE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71614DA-D35D-4B8B-DCBD-E9A19982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27BFF4-697B-FD92-F05F-29524428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8E69C8F-0918-40E3-4741-67A5B5A9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2887F7-6A57-BAD0-B669-290D07F5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F0C71D-A8E9-043B-3AA5-BF120AE9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 cap="none" baseline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 cap="none" baseline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 cap="none" baseline="0">
                <a:latin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27951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27951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27951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 cap="none" baseline="0">
                <a:latin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1575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1575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1575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631107F-D1C4-F805-1498-80BECBF0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DC48662-B15E-83AA-948A-6E29EC90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B053EF2-6074-466B-2115-88DE3F35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F09C00A1-E496-9D6D-FCA7-54CAF7D6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1974E-196E-D3C9-4363-36278882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404446F-A494-25B8-0869-FB7B6C5B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68E154EC-00A9-6E79-7724-9D6944B0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EC2A4-54D7-3BF6-D99A-08582FF9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D4F25-CAAA-ECEB-957C-521F20E2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D1B0384A-C15E-6BC3-788D-790F774B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415F5C3-F00B-F7A0-2083-856E045D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11D89B46-F084-169B-F060-9635BE8E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7273AA5-3929-967A-5130-C11B3E37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8B4DE49-D32C-01EA-F5B0-AAAC2AD2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5456818-C05D-B8E7-2227-39DE6BFC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20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1B8B1B7-A03F-2EA2-EF8B-567925A49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2B5944-8912-A1D5-050D-8632DCBF7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289C7-8B26-A377-4243-1486C10E0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cikit-learn.org/stable/modules/neighbors.html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kdnuggets.com/2020/11/most-popular-distance-metrics-knn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neighbors.html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pairwise.cosine_similarity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.elnn.kr/search/" TargetMode="External"/><Relationship Id="rId2" Type="http://schemas.openxmlformats.org/officeDocument/2006/relationships/hyperlink" Target="https://scikit-learn.org/stable/modules/generated/sklearn.metrics.pairwise.cosine_similarity.html" TargetMode="Externa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jpeg"/><Relationship Id="rId5" Type="http://schemas.openxmlformats.org/officeDocument/2006/relationships/hyperlink" Target="https://en.wikipedia.org/wiki/Dynamic_time_warping" TargetMode="External"/><Relationship Id="rId4" Type="http://schemas.openxmlformats.org/officeDocument/2006/relationships/hyperlink" Target="https://wikidocs.net/22650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analytics17.blogspot.com/2017/08/2-1.html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hyperlink" Target="https://mlu-explain.github.io/linear-regression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png"/><Relationship Id="rId5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Relationship Id="rId5" Type="http://schemas.microsoft.com/office/2007/relationships/hdphoto" Target="../media/hdphoto2.wdp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linear_model.LinearRegression.html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jpeg"/><Relationship Id="rId5" Type="http://schemas.openxmlformats.org/officeDocument/2006/relationships/image" Target="../media/image36.gif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linear_model.LinearRegression.html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kaggle.com/code/shakedzy/alone-in-the-woods-using-theil-s-u-for-surviva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?hl=ko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ikidocs.net/24958" TargetMode="External"/><Relationship Id="rId5" Type="http://schemas.openxmlformats.org/officeDocument/2006/relationships/hyperlink" Target="https://keras.io/" TargetMode="External"/><Relationship Id="rId4" Type="http://schemas.openxmlformats.org/officeDocument/2006/relationships/hyperlink" Target="https://pytorch.org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lu-explain.github.io/bias-variance/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mlu-explain.github.io/cross-validation/" TargetMode="Externa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lu-explain.github.io/train-test-validation/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hyperlink" Target="https://mlu-explain.github.io/decision-tree/" TargetMode="Externa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hyperlink" Target="https://en.wikipedia.org/wiki/Condorcet%27s_jury_theorem" TargetMode="Externa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hyperlink" Target="https://mlu-explain.github.io/random-forest/" TargetMode="Externa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://vision.stanford.edu/teaching/cs231n-demos/knn/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overview/basics" TargetMode="Externa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tutorials/beginner/basics/quickstart_tutorial.html" TargetMode="External"/><Relationship Id="rId2" Type="http://schemas.openxmlformats.org/officeDocument/2006/relationships/hyperlink" Target="https://www.101ai.net/basics/https:/www.101ai.net/basics/tensors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playground.tensorflow.org/#activation=tanh&amp;batchSize=10&amp;dataset=circle&amp;regDataset=reg-plane&amp;learningRate=0.03&amp;regularizationRate=0&amp;noise=0&amp;networkShape=4,2&amp;seed=0.70624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Relationship Id="rId4" Type="http://schemas.openxmlformats.org/officeDocument/2006/relationships/hyperlink" Target="https://www.tensorflow.org/tutorials/customization/basics?hl=ko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4.jpeg"/><Relationship Id="rId5" Type="http://schemas.openxmlformats.org/officeDocument/2006/relationships/image" Target="../media/image64.png"/><Relationship Id="rId4" Type="http://schemas.openxmlformats.org/officeDocument/2006/relationships/hyperlink" Target="https://en.wikipedia.org/wiki/Sign_function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nnet/perceptron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101ai.net/deeplearn/activation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68.png"/><Relationship Id="rId2" Type="http://schemas.openxmlformats.org/officeDocument/2006/relationships/image" Target="../media/image67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deeplearn/data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microsoft.com/office/2007/relationships/hdphoto" Target="../media/hdphoto3.wdp"/><Relationship Id="rId7" Type="http://schemas.microsoft.com/office/2007/relationships/hdphoto" Target="../media/hdphoto5.wdp"/><Relationship Id="rId12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3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95.png"/><Relationship Id="rId4" Type="http://schemas.openxmlformats.org/officeDocument/2006/relationships/image" Target="../media/image92.png"/><Relationship Id="rId9" Type="http://schemas.microsoft.com/office/2007/relationships/hdphoto" Target="../media/hdphoto6.wdp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numiqo.com/lab/pca" TargetMode="Externa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gif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Eigenvalues_and_eigenvectors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2.png"/><Relationship Id="rId5" Type="http://schemas.openxmlformats.org/officeDocument/2006/relationships/image" Target="../media/image109.png"/><Relationship Id="rId4" Type="http://schemas.openxmlformats.org/officeDocument/2006/relationships/image" Target="../media/image10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" TargetMode="External"/><Relationship Id="rId2" Type="http://schemas.openxmlformats.org/officeDocument/2006/relationships/hyperlink" Target="https://jakevdp.github.io/PythonDataScienceHandbook/05.09-principal-component-analysi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4BC4CC-119D-4066-611C-7FF8F695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-1"/>
            <a:ext cx="7315200" cy="68341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3B55A5-AD55-D660-8099-86131A40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4571"/>
            <a:ext cx="4876801" cy="2509213"/>
          </a:xfrm>
        </p:spPr>
        <p:txBody>
          <a:bodyPr/>
          <a:lstStyle/>
          <a:p>
            <a:r>
              <a:rPr lang="ko-KR" altLang="en-US" dirty="0"/>
              <a:t>수학의 응용</a:t>
            </a:r>
            <a:br>
              <a:rPr lang="en-US" altLang="ko-KR" dirty="0"/>
            </a:br>
            <a:r>
              <a:rPr lang="en-US" altLang="ko-KR" sz="3600" dirty="0"/>
              <a:t>- </a:t>
            </a:r>
            <a:r>
              <a:rPr lang="ko-KR" altLang="en-US" sz="3600" dirty="0" err="1"/>
              <a:t>머신러닝</a:t>
            </a:r>
            <a:r>
              <a:rPr lang="en-US" altLang="ko-KR" sz="3600" dirty="0"/>
              <a:t> -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C0AE0-A72B-E734-A33B-67DEC459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99986"/>
            <a:ext cx="4876801" cy="1371599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 Spring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조상구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2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DDB5-17A6-3B86-C607-0CFC0AF11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A3EEBE5-E1C5-77F8-1CD6-4688155CE328}"/>
              </a:ext>
            </a:extLst>
          </p:cNvPr>
          <p:cNvSpPr/>
          <p:nvPr/>
        </p:nvSpPr>
        <p:spPr>
          <a:xfrm>
            <a:off x="678584" y="1504949"/>
            <a:ext cx="5198341" cy="3958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7E737-0202-3854-C868-F01FAACAADC1}"/>
              </a:ext>
            </a:extLst>
          </p:cNvPr>
          <p:cNvSpPr txBox="1"/>
          <p:nvPr/>
        </p:nvSpPr>
        <p:spPr>
          <a:xfrm>
            <a:off x="1336229" y="1428465"/>
            <a:ext cx="5512246" cy="501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Distance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Norm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K-nearest neighbor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Cosine Similarity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Regression &amp; Perceptron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regression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Machine Learning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Bias and Variance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Cross validation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ML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C34A9-4B72-FF34-06FC-E57171E6DB12}"/>
              </a:ext>
            </a:extLst>
          </p:cNvPr>
          <p:cNvSpPr txBox="1"/>
          <p:nvPr/>
        </p:nvSpPr>
        <p:spPr>
          <a:xfrm>
            <a:off x="1336229" y="709865"/>
            <a:ext cx="2604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6C5D6-B9BA-2997-9AB0-664100367C7E}"/>
              </a:ext>
            </a:extLst>
          </p:cNvPr>
          <p:cNvSpPr txBox="1"/>
          <p:nvPr/>
        </p:nvSpPr>
        <p:spPr>
          <a:xfrm>
            <a:off x="7029450" y="1428465"/>
            <a:ext cx="461962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Neural Network 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Shallow/Deep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Matrix formulation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Forward/backward propagation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FNN, CNN, RNN, Transformer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Dimension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Principal Component Analysis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Eigen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value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&amp;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vectors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SVD &amp; Topic Model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Manifold Learning</a:t>
            </a:r>
          </a:p>
        </p:txBody>
      </p:sp>
    </p:spTree>
    <p:extLst>
      <p:ext uri="{BB962C8B-B14F-4D97-AF65-F5344CB8AC3E}">
        <p14:creationId xmlns:p14="http://schemas.microsoft.com/office/powerpoint/2010/main" val="3346699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801" y="3562350"/>
                <a:ext cx="10729565" cy="2471859"/>
              </a:xfr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2000" i="1" cap="none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2000" b="0" i="1" cap="none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(L1 norm)                                               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8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800" i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8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cap="none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8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(2+3)</m:t>
                        </m:r>
                      </m:e>
                      <m:sup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ko-KR" sz="18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 </a:t>
                </a:r>
              </a:p>
              <a:p>
                <a:pPr lvl="1"/>
                <a:endParaRPr lang="en-US" altLang="ko-KR" sz="2000" i="1" cap="none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20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2000" b="0" i="1" cap="none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(L2 norm)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800" i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8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800" i="1" cap="none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18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sz="1800" i="1" cap="none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8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8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ko-KR" sz="1800" i="1" cap="none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8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8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ko-KR" sz="18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altLang="ko-KR" sz="1800" b="0" i="1" cap="none" smtClean="0">
                            <a:effectLst/>
                            <a:latin typeface="Cambria Math" panose="02040503050406030204" pitchFamily="18" charset="0"/>
                          </a:rPr>
                          <m:t> 13</m:t>
                        </m:r>
                      </m:e>
                    </m:rad>
                  </m:oMath>
                </a14:m>
                <a:endParaRPr lang="en-US" altLang="ko-KR" sz="2000" cap="none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1" y="3562350"/>
                <a:ext cx="10729565" cy="247185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F9834FF0-8FBA-1350-9F1E-D0CB8F426314}"/>
              </a:ext>
            </a:extLst>
          </p:cNvPr>
          <p:cNvGrpSpPr/>
          <p:nvPr/>
        </p:nvGrpSpPr>
        <p:grpSpPr>
          <a:xfrm>
            <a:off x="3246467" y="2558043"/>
            <a:ext cx="5202208" cy="699507"/>
            <a:chOff x="2230094" y="2605995"/>
            <a:chExt cx="7498730" cy="104403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05F55E0-B70A-ADCF-C43A-DCB0EB37C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30094" y="2605995"/>
              <a:ext cx="7498730" cy="1036410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D8DBB4C-8447-148B-1A2C-41CFBB8F8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39832" y="2605995"/>
              <a:ext cx="1988992" cy="104403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38668D-D916-87E8-408A-6B6D3F29F0CC}"/>
              </a:ext>
            </a:extLst>
          </p:cNvPr>
          <p:cNvSpPr txBox="1"/>
          <p:nvPr/>
        </p:nvSpPr>
        <p:spPr>
          <a:xfrm>
            <a:off x="666188" y="957141"/>
            <a:ext cx="10848975" cy="1426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total length of all the vectors in a space (non-negative real numbers that behaves in certain ways like 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distance from the origin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p-norm of vector x will be denoted as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7236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1-Norm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2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L1 Norm (</a:t>
                </a:r>
                <a:r>
                  <a:rPr lang="en-US" altLang="ko-KR" sz="2200" b="1" cap="none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Mahattan</a:t>
                </a:r>
                <a:r>
                  <a:rPr lang="en-US" altLang="ko-KR" sz="2200" b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Distance</a:t>
                </a:r>
                <a:r>
                  <a:rPr lang="en-US" altLang="ko-KR" sz="22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Taxicab geometry)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900" i="1" cap="none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900" b="0" i="1" cap="none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900" b="0" i="1" cap="none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9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(L1 norm)                                                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6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cap="none" smtClean="0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600" i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cap="none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 cap="none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cap="none" smtClean="0">
                            <a:effectLst/>
                            <a:latin typeface="Cambria Math" panose="02040503050406030204" pitchFamily="18" charset="0"/>
                          </a:rPr>
                          <m:t>(2+3)</m:t>
                        </m:r>
                      </m:e>
                      <m:sup>
                        <m:r>
                          <a:rPr lang="en-US" altLang="ko-KR" sz="1600" b="0" i="1" cap="none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ko-KR" sz="16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 </a:t>
                </a:r>
                <a:endParaRPr lang="en-US" altLang="ko-KR" sz="2200" cap="none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  <a:blipFill>
                <a:blip r:embed="rId2"/>
                <a:stretch>
                  <a:fillRect l="-682" t="-3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F3C4AE5B-40B1-4939-A882-6AFA8B8F9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255" y="2895600"/>
            <a:ext cx="3132091" cy="2781541"/>
          </a:xfrm>
          <a:prstGeom prst="rect">
            <a:avLst/>
          </a:prstGeom>
        </p:spPr>
      </p:pic>
      <p:sp>
        <p:nvSpPr>
          <p:cNvPr id="3" name="내용 개체 틀 8">
            <a:extLst>
              <a:ext uri="{FF2B5EF4-FFF2-40B4-BE49-F238E27FC236}">
                <a16:creationId xmlns:a16="http://schemas.microsoft.com/office/drawing/2014/main" id="{B2217166-AD4E-864D-9D87-F525F7C4BEBC}"/>
              </a:ext>
            </a:extLst>
          </p:cNvPr>
          <p:cNvSpPr txBox="1">
            <a:spLocks/>
          </p:cNvSpPr>
          <p:nvPr/>
        </p:nvSpPr>
        <p:spPr>
          <a:xfrm>
            <a:off x="7221071" y="2895599"/>
            <a:ext cx="4643718" cy="26955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([2, 3])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norm_l1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np.linalg.norm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=1)  # L1 norm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norm_11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5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x/norm_l1           # scaled by 1-norm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np.square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(x/norm_l1)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np.sum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(x/norm_l1)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73ED5F1A-8C68-4015-6D59-646B058A66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B7BC5D-BC78-3BE9-3756-43EA405E4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202" y="1239037"/>
            <a:ext cx="2372872" cy="154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0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2-Norm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ko-KR" sz="22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L2 Norm(</a:t>
                </a:r>
                <a:r>
                  <a:rPr lang="en-US" altLang="ko-KR" sz="2200" b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Euclidean Distance</a:t>
                </a:r>
                <a:r>
                  <a:rPr lang="en-US" altLang="ko-KR" sz="22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9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9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900" i="1" cap="none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9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(L2 norm)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600" i="1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cap="none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6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(4+9)</m:t>
                        </m:r>
                      </m:e>
                      <m:sup>
                        <m:f>
                          <m:fPr>
                            <m:ctrlP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i="1" cap="none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600" cap="none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altLang="ko-KR" sz="1600" i="1" cap="none">
                            <a:effectLst/>
                            <a:latin typeface="Cambria Math" panose="02040503050406030204" pitchFamily="18" charset="0"/>
                          </a:rPr>
                          <m:t> 13</m:t>
                        </m:r>
                      </m:e>
                    </m:rad>
                  </m:oMath>
                </a14:m>
                <a:endParaRPr lang="en-US" altLang="ko-KR" sz="1900" cap="none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  <a:blipFill>
                <a:blip r:embed="rId2"/>
                <a:stretch>
                  <a:fillRect l="-682" t="-3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8">
            <a:extLst>
              <a:ext uri="{FF2B5EF4-FFF2-40B4-BE49-F238E27FC236}">
                <a16:creationId xmlns:a16="http://schemas.microsoft.com/office/drawing/2014/main" id="{B2217166-AD4E-864D-9D87-F525F7C4BEBC}"/>
              </a:ext>
            </a:extLst>
          </p:cNvPr>
          <p:cNvSpPr txBox="1">
            <a:spLocks/>
          </p:cNvSpPr>
          <p:nvPr/>
        </p:nvSpPr>
        <p:spPr>
          <a:xfrm>
            <a:off x="6438900" y="2895599"/>
            <a:ext cx="5502089" cy="3724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nl-NL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norm_l2 = np.linalg.norm(x, ord=2)  # L2 norm</a:t>
            </a:r>
          </a:p>
          <a:p>
            <a:pPr marL="36900" indent="0">
              <a:buNone/>
            </a:pPr>
            <a:r>
              <a:rPr lang="nl-NL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norm_l2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3.605551275463989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x/norm_l2                       # scaled by 2-norm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np.square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(x/norm_l2)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np.square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(x/norm_l2).sum()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1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EF7459-2858-2347-75D8-C91F1F465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255" y="2974105"/>
            <a:ext cx="3047769" cy="27971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5C3998-0489-2BF2-5241-E2E505201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067" y="1092014"/>
            <a:ext cx="2171888" cy="158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8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L1,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Norms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6E248E-3EA5-CC93-F0AE-B9FFAD6F6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286" y="3191496"/>
            <a:ext cx="1695512" cy="6814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BF11DB-61B7-8934-BD93-253DBC814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627" y="5387420"/>
            <a:ext cx="2368851" cy="5516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1A02A16-B33F-125C-25F5-F9A52BA173BF}"/>
              </a:ext>
            </a:extLst>
          </p:cNvPr>
          <p:cNvSpPr txBox="1"/>
          <p:nvPr/>
        </p:nvSpPr>
        <p:spPr>
          <a:xfrm>
            <a:off x="3066445" y="2782139"/>
            <a:ext cx="127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Lasso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EB0BE7-8A5A-862B-FB19-25982BD638E5}"/>
              </a:ext>
            </a:extLst>
          </p:cNvPr>
          <p:cNvSpPr txBox="1"/>
          <p:nvPr/>
        </p:nvSpPr>
        <p:spPr>
          <a:xfrm>
            <a:off x="3066445" y="4905415"/>
            <a:ext cx="1380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Ridge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BD5D038-DCD7-8C14-A5CF-44500882B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230" y="2363039"/>
            <a:ext cx="4330872" cy="4235758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CFF3D7-B9E7-2FF5-40EB-78AC8007B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40618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 or the length of a vector is the distance between its “origin” and its “end”.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그림에서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원점으로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부터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사각형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(L1, Lasso)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원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(L2, Ridge)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비교하라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Lasso, Ridge Penalty in machine learning</a:t>
            </a:r>
            <a:endParaRPr lang="en-US" altLang="ko-KR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35A80CF-D165-5CA0-06B2-C788EE911AE2}"/>
              </a:ext>
            </a:extLst>
          </p:cNvPr>
          <p:cNvCxnSpPr/>
          <p:nvPr/>
        </p:nvCxnSpPr>
        <p:spPr>
          <a:xfrm flipV="1">
            <a:off x="6715125" y="3609975"/>
            <a:ext cx="723900" cy="733425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D18DBA7-34C7-EC06-D8C6-6F92D732CB8F}"/>
              </a:ext>
            </a:extLst>
          </p:cNvPr>
          <p:cNvCxnSpPr>
            <a:cxnSpLocks/>
          </p:cNvCxnSpPr>
          <p:nvPr/>
        </p:nvCxnSpPr>
        <p:spPr>
          <a:xfrm>
            <a:off x="6715125" y="4419600"/>
            <a:ext cx="1114425" cy="102870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701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E486-E568-1525-A997-2588C9CF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317D0-7D8A-5E88-1765-C131C824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Neighbors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65692A-AF52-86DD-7DAB-748A9F77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14396A-70AA-B337-BF63-76377B7B9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4061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(distance)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가까운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데이터를 기준으로 분류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하거나 회귀생성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및 이상치 탐지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(anomaly detection)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 알고리즘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</a:t>
            </a:r>
            <a:r>
              <a:rPr lang="en-US" altLang="ko-KR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learn_neighbors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지도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및 비지도학습 실습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100" name="Picture 4" descr="k-Nearest Neighbor classification example for k=3 and k=7">
            <a:extLst>
              <a:ext uri="{FF2B5EF4-FFF2-40B4-BE49-F238E27FC236}">
                <a16:creationId xmlns:a16="http://schemas.microsoft.com/office/drawing/2014/main" id="{6417C8F0-629A-2475-EDE4-881FFB378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6" y="2806591"/>
            <a:ext cx="5617954" cy="306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DE99B2-FC44-E12D-132F-D2FEE475A359}"/>
              </a:ext>
            </a:extLst>
          </p:cNvPr>
          <p:cNvSpPr txBox="1"/>
          <p:nvPr/>
        </p:nvSpPr>
        <p:spPr>
          <a:xfrm>
            <a:off x="2676526" y="595320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Open Sans" panose="020B0606030504020204" pitchFamily="34" charset="0"/>
              </a:rPr>
              <a:t>K-nearest neighbor classification example for k=3 and k=7</a:t>
            </a:r>
          </a:p>
          <a:p>
            <a:r>
              <a:rPr lang="en-US" altLang="ko-KR" sz="11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https://www.kdnuggets.com/2020/11/most-popular-distance-metrics-knn.html</a:t>
            </a:r>
            <a:r>
              <a:rPr lang="en-US" altLang="ko-KR" sz="1100" dirty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49952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1ED5-08C5-B763-06E6-5A1848DC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F280105-AA95-367F-B995-300A9AC71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361453F-0232-7492-E06F-018983E8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b="1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b="1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b="1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Nearest</a:t>
            </a:r>
            <a:r>
              <a:rPr lang="ko-KR" altLang="en-US" b="1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b="1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neighbors</a:t>
            </a:r>
            <a:endParaRPr lang="ko-KR" altLang="en-US" b="1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53BBD-7219-566A-677D-D7AC674D4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2384764"/>
            <a:ext cx="10353762" cy="3701711"/>
          </a:xfrm>
        </p:spPr>
        <p:txBody>
          <a:bodyPr/>
          <a:lstStyle/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learn_neighbors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지도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및 비지도학습 실습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/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1.6.1.1. Finding the Nearest Neighbors : 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평면에 시각화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/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1.6.2. Nearest Neighbors Classification</a:t>
            </a:r>
          </a:p>
          <a:p>
            <a:pPr lvl="1"/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1.6.3. Nearest Neighbors Regression	</a:t>
            </a:r>
            <a:endParaRPr lang="en-US" altLang="ko-KR" cap="none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116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DBBE0-1AFD-561E-114A-4FE8786BE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BB787-1102-92F1-7AF1-398B0C921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319BCE-F14E-2D87-4A6B-149516F8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2B8A7-D8C3-0DA3-60F9-F81F27F5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40618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자연어처리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(Natural Language Processing)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Text 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데이터에 사용되는 유사성거리</a:t>
            </a:r>
            <a:endParaRPr lang="en-US" altLang="ko-KR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벡터의 내적과 관련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(Transformer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비슷한 단어의 내적은 코사인 유사성이 크기 때문에 같은 비율로 커짐 </a:t>
            </a:r>
            <a:endParaRPr lang="en-US" altLang="ko-KR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BFBFE-1D41-A302-B665-B9FE11518771}"/>
                  </a:ext>
                </a:extLst>
              </p:cNvPr>
              <p:cNvSpPr txBox="1"/>
              <p:nvPr/>
            </p:nvSpPr>
            <p:spPr>
              <a:xfrm>
                <a:off x="815358" y="4019836"/>
                <a:ext cx="4496405" cy="11424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m:rPr>
                              <m:lit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lit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m:rPr>
                              <m:lit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ad>
                                <m:radPr>
                                  <m:degHide m:val="on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rad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BFBFE-1D41-A302-B665-B9FE11518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58" y="4019836"/>
                <a:ext cx="4496405" cy="11424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9846482-E2EF-26A6-B901-0D2E7A1FE595}"/>
              </a:ext>
            </a:extLst>
          </p:cNvPr>
          <p:cNvSpPr txBox="1">
            <a:spLocks/>
          </p:cNvSpPr>
          <p:nvPr/>
        </p:nvSpPr>
        <p:spPr>
          <a:xfrm>
            <a:off x="1075719" y="3047714"/>
            <a:ext cx="4496405" cy="762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cap="none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cosine_similarity</a:t>
            </a:r>
            <a:endParaRPr lang="en-US" altLang="ko-KR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12 | MIPS vs MCSS (Maximum Inner Product / Cosine Similarity Search)">
            <a:extLst>
              <a:ext uri="{FF2B5EF4-FFF2-40B4-BE49-F238E27FC236}">
                <a16:creationId xmlns:a16="http://schemas.microsoft.com/office/drawing/2014/main" id="{0BAAB07F-BF28-39F7-C312-880C96C77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768" y="2641292"/>
            <a:ext cx="5033513" cy="339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36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57FAE-85FB-EF39-67C2-446BABA1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Clustering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343E38-DCB2-ADE3-450F-2948A8BA4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2384764"/>
            <a:ext cx="10353762" cy="3701711"/>
          </a:xfrm>
        </p:spPr>
        <p:txBody>
          <a:bodyPr/>
          <a:lstStyle/>
          <a:p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군집분석의 핵심은 거리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밀도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distance_L1_L2_consine 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similarity.ipynb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sklearn.metrics.pairwise.cosine_similarity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http://w.elnn.kr/search/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04.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카운트 기반의 단어 표현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(Count based word Representation)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Dynamic_time_warping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거리는 주가의 패턴을 분석하는데 사용</a:t>
            </a:r>
          </a:p>
        </p:txBody>
      </p:sp>
      <p:pic>
        <p:nvPicPr>
          <p:cNvPr id="5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55EE921-5723-9E6B-1B9F-C2C03655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54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2F10-46DD-AB0A-4567-88F5C32E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13B510-268E-1741-F69E-DD20DF0966CE}"/>
              </a:ext>
            </a:extLst>
          </p:cNvPr>
          <p:cNvSpPr/>
          <p:nvPr/>
        </p:nvSpPr>
        <p:spPr>
          <a:xfrm>
            <a:off x="678584" y="3133724"/>
            <a:ext cx="5198341" cy="3958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EE11C-78DB-EF54-2187-E44776A4528C}"/>
              </a:ext>
            </a:extLst>
          </p:cNvPr>
          <p:cNvSpPr txBox="1"/>
          <p:nvPr/>
        </p:nvSpPr>
        <p:spPr>
          <a:xfrm>
            <a:off x="1336229" y="1428465"/>
            <a:ext cx="5512246" cy="501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Distance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Norm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K-nearest neighbor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Cosine Similarity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Regression &amp; Perceptron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regression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Machine Learning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Bias and Variance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Cross validation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ML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D48E5-F19F-3FBA-73FB-7898B413A5DC}"/>
              </a:ext>
            </a:extLst>
          </p:cNvPr>
          <p:cNvSpPr txBox="1"/>
          <p:nvPr/>
        </p:nvSpPr>
        <p:spPr>
          <a:xfrm>
            <a:off x="1336229" y="709865"/>
            <a:ext cx="2604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3AA07-16E6-4E56-2460-ED5468FC6BAF}"/>
              </a:ext>
            </a:extLst>
          </p:cNvPr>
          <p:cNvSpPr txBox="1"/>
          <p:nvPr/>
        </p:nvSpPr>
        <p:spPr>
          <a:xfrm>
            <a:off x="7029450" y="1428465"/>
            <a:ext cx="461962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Neural Network 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Shallow/Deep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Matrix formulation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Forward/backward propagation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FNN, CNN, RNN, Transformer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Dimension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Eigen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value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&amp;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vectors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Principal Component Analysis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SVD &amp; Topic Model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Manifold Learning</a:t>
            </a:r>
          </a:p>
        </p:txBody>
      </p:sp>
    </p:spTree>
    <p:extLst>
      <p:ext uri="{BB962C8B-B14F-4D97-AF65-F5344CB8AC3E}">
        <p14:creationId xmlns:p14="http://schemas.microsoft.com/office/powerpoint/2010/main" val="349727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3EA5-99CC-6B44-83F5-540BF3A6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B6F98-6CDB-E410-0D1F-C367364C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4210D-B484-A19F-8777-CF1AE1FF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22F308-10D7-76DC-330D-AFCF4C31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45" y="1498939"/>
            <a:ext cx="4658330" cy="376275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데이터와 선형회귀식의 예측 값과의 차이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구하고，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제곱의 모든 합이 최소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(Minimization)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되는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선형회귀식의 파라미터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(Parameter),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(coefficients)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찾는 최적화 과정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평균에 회귀하는 수식함수라 이상치에 민감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38662-2B68-DDB0-D5D4-BF2ADA739A97}"/>
              </a:ext>
            </a:extLst>
          </p:cNvPr>
          <p:cNvSpPr txBox="1"/>
          <p:nvPr/>
        </p:nvSpPr>
        <p:spPr>
          <a:xfrm>
            <a:off x="5676900" y="6093649"/>
            <a:ext cx="3629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https://analytics17.blogspot.com/2017/08/2-1.html</a:t>
            </a:r>
            <a:r>
              <a:rPr lang="ko-KR" altLang="en-US" sz="1200" dirty="0"/>
              <a:t>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A5554C-B588-F8E2-39C1-0661AA1724C3}"/>
              </a:ext>
            </a:extLst>
          </p:cNvPr>
          <p:cNvGrpSpPr/>
          <p:nvPr/>
        </p:nvGrpSpPr>
        <p:grpSpPr>
          <a:xfrm>
            <a:off x="5781673" y="1924050"/>
            <a:ext cx="5404487" cy="4112211"/>
            <a:chOff x="5781673" y="1924050"/>
            <a:chExt cx="5065245" cy="3762753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77DF77E8-48D8-1C11-E742-2FF576CE1E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1673" y="1924050"/>
              <a:ext cx="5065245" cy="3762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4B76198-7BDB-2635-FFAD-9401FE5555EA}"/>
                </a:ext>
              </a:extLst>
            </p:cNvPr>
            <p:cNvSpPr/>
            <p:nvPr/>
          </p:nvSpPr>
          <p:spPr>
            <a:xfrm>
              <a:off x="9305925" y="2638199"/>
              <a:ext cx="386715" cy="344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7AC9867-39BD-55A1-3ED2-5B9D6DA02C32}"/>
                </a:ext>
              </a:extLst>
            </p:cNvPr>
            <p:cNvSpPr/>
            <p:nvPr/>
          </p:nvSpPr>
          <p:spPr>
            <a:xfrm>
              <a:off x="8475345" y="3467390"/>
              <a:ext cx="361315" cy="35646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A6954AB-B213-A17D-3C1F-85D7A5234449}"/>
                </a:ext>
              </a:extLst>
            </p:cNvPr>
            <p:cNvSpPr/>
            <p:nvPr/>
          </p:nvSpPr>
          <p:spPr>
            <a:xfrm>
              <a:off x="7310754" y="3658405"/>
              <a:ext cx="446406" cy="42591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7B081DE-6B68-1E55-7B58-0C8FA896077E}"/>
              </a:ext>
            </a:extLst>
          </p:cNvPr>
          <p:cNvSpPr txBox="1"/>
          <p:nvPr/>
        </p:nvSpPr>
        <p:spPr>
          <a:xfrm>
            <a:off x="6474470" y="1411845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linear-regression/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CE937F-706C-6F21-F5A8-22B3129A5FE0}"/>
                  </a:ext>
                </a:extLst>
              </p:cNvPr>
              <p:cNvSpPr txBox="1"/>
              <p:nvPr/>
            </p:nvSpPr>
            <p:spPr>
              <a:xfrm>
                <a:off x="8588426" y="4902855"/>
                <a:ext cx="230817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CE937F-706C-6F21-F5A8-22B3129A5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26" y="4902855"/>
                <a:ext cx="2308174" cy="461665"/>
              </a:xfrm>
              <a:prstGeom prst="rect">
                <a:avLst/>
              </a:prstGeom>
              <a:blipFill>
                <a:blip r:embed="rId5"/>
                <a:stretch>
                  <a:fillRect t="-3947" b="-17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544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4E62-DE40-FBB4-3740-698D5544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808B9-8204-349A-86A5-63005416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MSE(Mean Squared Error)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01ACFD-5BA0-889B-23C7-3025E298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B84053F-541D-D14A-2461-2401B413B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26" y="1248301"/>
            <a:ext cx="4553722" cy="199941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1B0B8A50-B2AC-8C53-65CB-DA63F386867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167711" y="1253287"/>
            <a:ext cx="3783180" cy="195494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F8811D67-C7B0-5C9B-24C0-E86977743F6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1877" y="4329815"/>
            <a:ext cx="3200677" cy="1638442"/>
          </a:xfrm>
          <a:prstGeom prst="rect">
            <a:avLst/>
          </a:prstGeom>
        </p:spPr>
      </p:pic>
      <p:sp>
        <p:nvSpPr>
          <p:cNvPr id="37" name="오른쪽 중괄호 36">
            <a:extLst>
              <a:ext uri="{FF2B5EF4-FFF2-40B4-BE49-F238E27FC236}">
                <a16:creationId xmlns:a16="http://schemas.microsoft.com/office/drawing/2014/main" id="{3D299CA6-819A-997A-F600-531F5A6C1641}"/>
              </a:ext>
            </a:extLst>
          </p:cNvPr>
          <p:cNvSpPr/>
          <p:nvPr/>
        </p:nvSpPr>
        <p:spPr>
          <a:xfrm rot="5400000">
            <a:off x="5407959" y="1488562"/>
            <a:ext cx="404251" cy="4219575"/>
          </a:xfrm>
          <a:prstGeom prst="rightBrace">
            <a:avLst>
              <a:gd name="adj1" fmla="val 57265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E00AC0C-9A02-D235-CB95-D8E493AFBD5A}"/>
                  </a:ext>
                </a:extLst>
              </p:cNvPr>
              <p:cNvSpPr txBox="1"/>
              <p:nvPr/>
            </p:nvSpPr>
            <p:spPr>
              <a:xfrm>
                <a:off x="1332895" y="3844842"/>
                <a:ext cx="4676775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에러는 실제와 예측 값의 차이</a:t>
                </a:r>
                <a:r>
                  <a:rPr lang="en-US" altLang="ko-KR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70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𝜖</m:t>
                    </m:r>
                    <m:r>
                      <a:rPr lang="en-US" altLang="ko-KR" sz="170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70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y</m:t>
                    </m:r>
                    <m:r>
                      <a:rPr lang="en-US" altLang="ko-KR" sz="170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− </m:t>
                    </m:r>
                    <m:acc>
                      <m:accPr>
                        <m:chr m:val="̂"/>
                        <m:ctrlPr>
                          <a:rPr lang="ko-KR" altLang="en-US" sz="1700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sz="170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ko-KR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endParaRPr lang="ko-KR" altLang="en-US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E00AC0C-9A02-D235-CB95-D8E493AFB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95" y="3844842"/>
                <a:ext cx="4676775" cy="353943"/>
              </a:xfrm>
              <a:prstGeom prst="rect">
                <a:avLst/>
              </a:prstGeom>
              <a:blipFill>
                <a:blip r:embed="rId6"/>
                <a:stretch>
                  <a:fillRect l="-913" t="-6897" b="-224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414D2ACF-EDDF-1AB0-44AF-6EF356311A17}"/>
              </a:ext>
            </a:extLst>
          </p:cNvPr>
          <p:cNvSpPr txBox="1"/>
          <p:nvPr/>
        </p:nvSpPr>
        <p:spPr>
          <a:xfrm>
            <a:off x="811360" y="883955"/>
            <a:ext cx="140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Actual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1E307C-EACC-51E4-DD9F-8EE98C51964A}"/>
              </a:ext>
            </a:extLst>
          </p:cNvPr>
          <p:cNvSpPr txBox="1"/>
          <p:nvPr/>
        </p:nvSpPr>
        <p:spPr>
          <a:xfrm>
            <a:off x="7155042" y="883955"/>
            <a:ext cx="1988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Predict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endParaRPr lang="ko-KR" altLang="en-US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A5809DB-C0E9-5D79-51D1-26D791083115}"/>
              </a:ext>
            </a:extLst>
          </p:cNvPr>
          <p:cNvGrpSpPr/>
          <p:nvPr/>
        </p:nvGrpSpPr>
        <p:grpSpPr>
          <a:xfrm>
            <a:off x="7924800" y="3735068"/>
            <a:ext cx="2824480" cy="1189493"/>
            <a:chOff x="8575040" y="3851111"/>
            <a:chExt cx="2824480" cy="1189493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D19109A4-492F-5FCA-F1D4-896C84870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670483" y="4329815"/>
              <a:ext cx="2220300" cy="710789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87AC92C-032C-C967-C231-4ED2755AB069}"/>
                </a:ext>
              </a:extLst>
            </p:cNvPr>
            <p:cNvSpPr txBox="1"/>
            <p:nvPr/>
          </p:nvSpPr>
          <p:spPr>
            <a:xfrm>
              <a:off x="8575040" y="3851111"/>
              <a:ext cx="282448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모델의 성능지표</a:t>
              </a:r>
              <a:r>
                <a:rPr lang="en-US" altLang="ko-KR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(metric)</a:t>
              </a:r>
              <a:endPara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E65D59E-6B20-48D6-060D-EDE9FEB86AEE}"/>
              </a:ext>
            </a:extLst>
          </p:cNvPr>
          <p:cNvGrpSpPr/>
          <p:nvPr/>
        </p:nvGrpSpPr>
        <p:grpSpPr>
          <a:xfrm>
            <a:off x="8020243" y="5091483"/>
            <a:ext cx="2824480" cy="1001698"/>
            <a:chOff x="8650279" y="5116220"/>
            <a:chExt cx="2824480" cy="1001698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A0AC1168-EDFF-93B3-9765-389C48B54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670483" y="5470163"/>
              <a:ext cx="2575411" cy="647755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0E2E1CB-8BD0-9CBA-C134-C3EA19017FC6}"/>
                </a:ext>
              </a:extLst>
            </p:cNvPr>
            <p:cNvSpPr txBox="1"/>
            <p:nvPr/>
          </p:nvSpPr>
          <p:spPr>
            <a:xfrm>
              <a:off x="8650279" y="5116220"/>
              <a:ext cx="282448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분산</a:t>
              </a:r>
              <a:r>
                <a:rPr lang="en-US" altLang="ko-KR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, </a:t>
              </a:r>
              <a:r>
                <a:rPr lang="ko-KR" altLang="en-US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내적</a:t>
              </a:r>
              <a:r>
                <a:rPr lang="en-US" altLang="ko-KR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, </a:t>
              </a:r>
              <a:r>
                <a:rPr lang="ko-KR" altLang="en-US" sz="17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유클리드 거리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522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/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4D5C5-D1C0-2EAC-D146-0F2AC062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88C44-EEF5-724D-88A2-AA6DAE6D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Formulation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270557-E1CB-D333-5F7F-F4856E8D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1DC974-0213-762D-DA9B-996F89ADE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453514"/>
            <a:ext cx="6624926" cy="19397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A7676C-C191-A8AC-AF32-140354371AD5}"/>
              </a:ext>
            </a:extLst>
          </p:cNvPr>
          <p:cNvSpPr txBox="1"/>
          <p:nvPr/>
        </p:nvSpPr>
        <p:spPr>
          <a:xfrm>
            <a:off x="7538721" y="2291326"/>
            <a:ext cx="4348479" cy="21019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p) @ (p, 1) + (n,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p) @ (p,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1) – (n, 1) = (n,1) - (n, p) @ (p,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1) = 1/n * (1, n)@(n, 1)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9B85837-F508-0C94-9CF0-8BC26C9B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2210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선형회귀식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regression)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행렬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</a:t>
            </a:r>
            <a:r>
              <a:rPr lang="en-US" altLang="ko-KR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스칼라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수식 연산 표현</a:t>
            </a:r>
            <a:endParaRPr lang="en-US" altLang="ko-KR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810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0163-15BA-B9B1-CCC9-DE6AAB400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641706-50DB-4E7F-A770-EC62EB6E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B42B101-56A2-19C5-76E1-CE7BD021E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B04C50D8-B70B-4E30-23FF-1BB14F9A85C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Linear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455A37F-3231-1A41-AE78-15F0E8AEB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866" y="1747802"/>
            <a:ext cx="4859685" cy="31797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파이썬의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대수학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(Algebra)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모듈인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단순회귀식을 구하라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함수 형태인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(sum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squared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errors)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의미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print(d_w0, d_w1)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편미분의미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의미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A417F-8E04-9153-94A2-338997BEF6C8}"/>
              </a:ext>
            </a:extLst>
          </p:cNvPr>
          <p:cNvSpPr txBox="1"/>
          <p:nvPr/>
        </p:nvSpPr>
        <p:spPr>
          <a:xfrm>
            <a:off x="913795" y="1233766"/>
            <a:ext cx="5323840" cy="50167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as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심볼 정의</a:t>
            </a: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w0, w1, x, y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sp.symbols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('w0 w1 x y')</a:t>
            </a:r>
          </a:p>
          <a:p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잔차제곱합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(SSE)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정의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 = [(1, 1), (2, 3), (4, 3), (3, 2), (5, 5)]</a:t>
            </a:r>
          </a:p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sum((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y_i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– (w0 + w1 *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x_i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))**2 for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x_i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y_i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in data)</a:t>
            </a:r>
            <a:b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편미분을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통해 최소값 찾기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d_w0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sp.diff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w0)</a:t>
            </a: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d_w1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sp.diff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w1)</a:t>
            </a:r>
            <a:b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4.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연립방정식 풀기</a:t>
            </a: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solution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sp.solve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([d_w0, d_w1], [w0, w1])</a:t>
            </a: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최적의 가중치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{solution}")</a:t>
            </a:r>
          </a:p>
          <a:p>
            <a:pPr>
              <a:buNone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5.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의미해석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print(d_w0, d_w1)</a:t>
            </a:r>
          </a:p>
        </p:txBody>
      </p:sp>
    </p:spTree>
    <p:extLst>
      <p:ext uri="{BB962C8B-B14F-4D97-AF65-F5344CB8AC3E}">
        <p14:creationId xmlns:p14="http://schemas.microsoft.com/office/powerpoint/2010/main" val="3195649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9AB3-E6B8-28DD-5097-6AFE1CE0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51754-C061-4C8D-DF7E-CB156A83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451A519D-6530-EE2C-2EF8-DAD2B15AF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A65FD1D8-F992-7ABC-9406-5942C3F347FD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Descending Mount Everest(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Errorest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AutoShape 4" descr="Gradient Ascent">
            <a:extLst>
              <a:ext uri="{FF2B5EF4-FFF2-40B4-BE49-F238E27FC236}">
                <a16:creationId xmlns:a16="http://schemas.microsoft.com/office/drawing/2014/main" id="{A5361D08-032E-C069-60DE-3ECECBDA58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4D3919-B9A5-4428-552C-028371B4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19" y="2527576"/>
            <a:ext cx="5644596" cy="3549946"/>
          </a:xfrm>
          <a:prstGeom prst="rect">
            <a:avLst/>
          </a:prstGeom>
        </p:spPr>
      </p:pic>
      <p:pic>
        <p:nvPicPr>
          <p:cNvPr id="9" name="Picture 2" descr="What Is Gradient Descent? | Built In">
            <a:extLst>
              <a:ext uri="{FF2B5EF4-FFF2-40B4-BE49-F238E27FC236}">
                <a16:creationId xmlns:a16="http://schemas.microsoft.com/office/drawing/2014/main" id="{98328970-324B-9F2F-1BB2-C6082D5EB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464" y="2527576"/>
            <a:ext cx="5409396" cy="353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BB124D-42BE-A943-8D3C-848A6685895A}"/>
              </a:ext>
            </a:extLst>
          </p:cNvPr>
          <p:cNvSpPr txBox="1"/>
          <p:nvPr/>
        </p:nvSpPr>
        <p:spPr>
          <a:xfrm>
            <a:off x="1026160" y="1276221"/>
            <a:ext cx="8585200" cy="876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그림에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함수 형태인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(sum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squared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errors), d_w0, d_w1(</a:t>
            </a: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J(w, b)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등의 모든 용어의 의미가 무엇인지 토론하자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E7AED-8858-744A-5A7B-924A10F1C090}"/>
              </a:ext>
            </a:extLst>
          </p:cNvPr>
          <p:cNvSpPr txBox="1"/>
          <p:nvPr/>
        </p:nvSpPr>
        <p:spPr>
          <a:xfrm>
            <a:off x="701040" y="608270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출처 </a:t>
            </a:r>
            <a:r>
              <a:rPr lang="en-US" altLang="ko-KR" sz="12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12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coursera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9911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003E-BEDD-42D4-4CBF-A6356164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0F06A-63C2-DF81-DD67-8ABD6DBB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7277938-3F89-0A4B-FD6F-6C3A60E02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25963AB-9938-2FCF-579C-1601FF0C9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563412"/>
            <a:ext cx="10343112" cy="14829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LinearRegression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으로 회귀식을 구해 비교하라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 사용하여 에러를 최소화하는 함수를 만들어 회귀식을 구하여 비교하라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E29396D-00A5-B113-4D30-096C403C8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621" y="2888271"/>
            <a:ext cx="4127687" cy="333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FF7C63E-80DF-8535-A0BE-D755DEC0CD6B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Linear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603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945D-B350-3FF4-7D09-2E334EB7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8CF00E-A436-DA50-48FC-D7F90512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CAD4E53-927A-CBED-1E0D-FD4AF8B1E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002" y="1381125"/>
            <a:ext cx="5762484" cy="42672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214D33-6987-A093-F549-7C12FD8B65DF}"/>
              </a:ext>
            </a:extLst>
          </p:cNvPr>
          <p:cNvSpPr/>
          <p:nvPr/>
        </p:nvSpPr>
        <p:spPr>
          <a:xfrm>
            <a:off x="4763294" y="1784950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구부러진 연결선 11">
            <a:extLst>
              <a:ext uri="{FF2B5EF4-FFF2-40B4-BE49-F238E27FC236}">
                <a16:creationId xmlns:a16="http://schemas.microsoft.com/office/drawing/2014/main" id="{11810A7A-0B36-327E-EE3E-4B1777215DB3}"/>
              </a:ext>
            </a:extLst>
          </p:cNvPr>
          <p:cNvCxnSpPr>
            <a:cxnSpLocks/>
            <a:stCxn id="11" idx="2"/>
            <a:endCxn id="18" idx="1"/>
          </p:cNvCxnSpPr>
          <p:nvPr/>
        </p:nvCxnSpPr>
        <p:spPr>
          <a:xfrm rot="16200000" flipH="1">
            <a:off x="4768416" y="2300557"/>
            <a:ext cx="1214644" cy="64882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B06CE2-D3E3-FC6B-500C-F37662CA44B0}"/>
              </a:ext>
            </a:extLst>
          </p:cNvPr>
          <p:cNvSpPr/>
          <p:nvPr/>
        </p:nvSpPr>
        <p:spPr>
          <a:xfrm>
            <a:off x="330620" y="5742724"/>
            <a:ext cx="1701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Recursive iterations</a:t>
            </a:r>
            <a:endParaRPr lang="ko-KR" altLang="en-US" sz="1400" u="sng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90CE7C-504E-5A87-E174-EFE064F13760}"/>
              </a:ext>
            </a:extLst>
          </p:cNvPr>
          <p:cNvSpPr/>
          <p:nvPr/>
        </p:nvSpPr>
        <p:spPr>
          <a:xfrm>
            <a:off x="405355" y="1667063"/>
            <a:ext cx="15808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Initialized settings</a:t>
            </a:r>
            <a:endParaRPr lang="ko-KR" altLang="en-US" sz="1400" u="sng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34DFF6C-4FD1-14C3-B024-D1F164F3FE9E}"/>
              </a:ext>
            </a:extLst>
          </p:cNvPr>
          <p:cNvCxnSpPr>
            <a:stCxn id="16" idx="2"/>
            <a:endCxn id="15" idx="0"/>
          </p:cNvCxnSpPr>
          <p:nvPr/>
        </p:nvCxnSpPr>
        <p:spPr>
          <a:xfrm flipH="1">
            <a:off x="1181174" y="1974840"/>
            <a:ext cx="14622" cy="3767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64ECB6AE-3EA9-954F-A0B8-9DEED609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150" y="2405716"/>
            <a:ext cx="5890109" cy="165315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07D99B-F812-5A40-0726-AFA6DDA3168B}"/>
              </a:ext>
            </a:extLst>
          </p:cNvPr>
          <p:cNvSpPr/>
          <p:nvPr/>
        </p:nvSpPr>
        <p:spPr>
          <a:xfrm>
            <a:off x="5540825" y="1765388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구부러진 연결선 24">
            <a:extLst>
              <a:ext uri="{FF2B5EF4-FFF2-40B4-BE49-F238E27FC236}">
                <a16:creationId xmlns:a16="http://schemas.microsoft.com/office/drawing/2014/main" id="{BFD02EFB-B366-BACF-6FA4-5FF0D20D3125}"/>
              </a:ext>
            </a:extLst>
          </p:cNvPr>
          <p:cNvCxnSpPr>
            <a:cxnSpLocks/>
            <a:stCxn id="19" idx="2"/>
            <a:endCxn id="23" idx="1"/>
          </p:cNvCxnSpPr>
          <p:nvPr/>
        </p:nvCxnSpPr>
        <p:spPr>
          <a:xfrm rot="16200000" flipH="1">
            <a:off x="4331294" y="3495648"/>
            <a:ext cx="3137539" cy="14241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F0E2918E-5F14-91CA-4AB8-3152ED76C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269" y="4299450"/>
            <a:ext cx="5890111" cy="16723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9DF932-5A51-127A-5A01-129776C56026}"/>
              </a:ext>
            </a:extLst>
          </p:cNvPr>
          <p:cNvSpPr txBox="1"/>
          <p:nvPr/>
        </p:nvSpPr>
        <p:spPr>
          <a:xfrm>
            <a:off x="139403" y="3093969"/>
            <a:ext cx="1905599" cy="8876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Let </a:t>
            </a:r>
            <a:r>
              <a:rPr lang="el-GR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α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</a:t>
            </a:r>
            <a:r>
              <a:rPr lang="el-GR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β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=0,</a:t>
            </a: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l-GR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α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</a:t>
            </a:r>
            <a:r>
              <a:rPr lang="el-GR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β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* 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X(instance)  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 = </a:t>
            </a:r>
            <a:r>
              <a:rPr lang="en-US" altLang="ko-KR" sz="12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- y</a:t>
            </a:r>
            <a:endParaRPr lang="ko-KR" altLang="en-US" sz="12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4FF8BB3B-A077-AFB9-CE95-474DEA4B3137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Gradient Descent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_x422600552" descr="DRW00004be805ca">
            <a:extLst>
              <a:ext uri="{FF2B5EF4-FFF2-40B4-BE49-F238E27FC236}">
                <a16:creationId xmlns:a16="http://schemas.microsoft.com/office/drawing/2014/main" id="{30CB297D-E262-5E5D-CEB1-0ED3249DB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134" y="3919739"/>
            <a:ext cx="2251372" cy="52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925B0AFC-9A4F-3F16-542C-A67408332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001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E4F8-12B7-84F6-67FE-74184580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F2E29C-09FA-E082-C55F-9585B7A8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AA6105E-4140-477B-7DCF-2A2E71167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DD94376-4403-4C5C-2798-FEA60EA6400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Linear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Regression (Project)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EF1BC567-8CF8-0F01-3159-1111B5C86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3" y="1238249"/>
            <a:ext cx="10773382" cy="46386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(“diamonds")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대상으로 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LinearRegression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사용하여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변수간 상관관계를 산출하여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price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변수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(Target)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가장 상관관계가 높은 변수를 검토하고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수치형 변수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'carat', 'depth', 'table’ 3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개를 입력변수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(Input)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가격을 예측하라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범주형 변수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'cut', 'color', 'clarity’, 3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개를 추가하여 총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입력변수로 가격을 예측하라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수치형 및 범주형 변수와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price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변수와의 상관관계를 확인하는 방법을 토론하라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alone-in-the-woods-using-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theil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-s-u-for-survival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적용하라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범주형 변수를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one-hot-encoding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하거나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dummy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변수로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전처리하는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의미는 무엇인가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Symson’s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paradox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관련되어 이해하라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statsmodels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라이브러리를 사용하여 통계적 요약 보고서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(Summary)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변수의 유의성을 판단하도록 하라</a:t>
            </a:r>
          </a:p>
        </p:txBody>
      </p:sp>
    </p:spTree>
    <p:extLst>
      <p:ext uri="{BB962C8B-B14F-4D97-AF65-F5344CB8AC3E}">
        <p14:creationId xmlns:p14="http://schemas.microsoft.com/office/powerpoint/2010/main" val="964582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774A-FBC4-2837-ADCA-FEB8629C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BE44AB-C056-17FD-C251-4668DEBB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1D2E564-5A67-2191-8947-A738C145604F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7DCEA7-54A6-B15D-05C9-062775667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863" y="2818450"/>
            <a:ext cx="5805481" cy="2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70315"/>
                <a:ext cx="10706705" cy="968036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Simple Linear Regression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단일변수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 single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21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70315"/>
                <a:ext cx="10706705" cy="968036"/>
              </a:xfrm>
              <a:blipFill>
                <a:blip r:embed="rId3"/>
                <a:stretch>
                  <a:fillRect l="-456" b="-75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AC721B09-7985-FB30-C02C-CDB0F3FFC5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88379" y="3380613"/>
            <a:ext cx="1824265" cy="4356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F45D2DDE-ED31-970A-8F32-829DACE28F6E}"/>
              </a:ext>
            </a:extLst>
          </p:cNvPr>
          <p:cNvGrpSpPr/>
          <p:nvPr/>
        </p:nvGrpSpPr>
        <p:grpSpPr>
          <a:xfrm>
            <a:off x="8361749" y="2624259"/>
            <a:ext cx="2887276" cy="3294706"/>
            <a:chOff x="8914199" y="2157534"/>
            <a:chExt cx="2887276" cy="3294706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349E664-7C0D-0A6F-DA46-783EB35CA6F4}"/>
                </a:ext>
              </a:extLst>
            </p:cNvPr>
            <p:cNvGrpSpPr/>
            <p:nvPr/>
          </p:nvGrpSpPr>
          <p:grpSpPr>
            <a:xfrm>
              <a:off x="8914199" y="2637854"/>
              <a:ext cx="2887276" cy="2814386"/>
              <a:chOff x="7009199" y="3511129"/>
              <a:chExt cx="2887276" cy="2814386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82A04B-D395-1DFA-D4A5-FA95694198F3}"/>
                  </a:ext>
                </a:extLst>
              </p:cNvPr>
              <p:cNvSpPr txBox="1"/>
              <p:nvPr/>
            </p:nvSpPr>
            <p:spPr>
              <a:xfrm>
                <a:off x="7009199" y="5986961"/>
                <a:ext cx="288727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latin typeface="+mj-ea"/>
                  </a:rPr>
                  <a:t>(n, 1) = (n, 1) @ (1, 1) + (n,1)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662C1E02-B87A-DEDD-3BC5-2C00C5141498}"/>
                  </a:ext>
                </a:extLst>
              </p:cNvPr>
              <p:cNvGrpSpPr/>
              <p:nvPr/>
            </p:nvGrpSpPr>
            <p:grpSpPr>
              <a:xfrm>
                <a:off x="7009199" y="3511129"/>
                <a:ext cx="2887276" cy="2534212"/>
                <a:chOff x="7009199" y="3508852"/>
                <a:chExt cx="2462167" cy="2161087"/>
              </a:xfrm>
            </p:grpSpPr>
            <p:pic>
              <p:nvPicPr>
                <p:cNvPr id="34" name="그림 33">
                  <a:extLst>
                    <a:ext uri="{FF2B5EF4-FFF2-40B4-BE49-F238E27FC236}">
                      <a16:creationId xmlns:a16="http://schemas.microsoft.com/office/drawing/2014/main" id="{9A6BDC3D-A4CC-D6F5-EB1A-C74E4C7B2F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09199" y="4115748"/>
                  <a:ext cx="2462167" cy="1554191"/>
                </a:xfrm>
                <a:prstGeom prst="rect">
                  <a:avLst/>
                </a:prstGeom>
              </p:spPr>
            </p:pic>
            <p:pic>
              <p:nvPicPr>
                <p:cNvPr id="41" name="그림 40">
                  <a:extLst>
                    <a:ext uri="{FF2B5EF4-FFF2-40B4-BE49-F238E27FC236}">
                      <a16:creationId xmlns:a16="http://schemas.microsoft.com/office/drawing/2014/main" id="{8058C60F-E1F1-BF72-C7F4-F9EF89B928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79165" y="3508852"/>
                  <a:ext cx="1917954" cy="256124"/>
                </a:xfrm>
                <a:prstGeom prst="rect">
                  <a:avLst/>
                </a:prstGeom>
              </p:spPr>
            </p:pic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3032DFD-B8AA-1AB7-E55F-89A8F8BD220A}"/>
                </a:ext>
              </a:extLst>
            </p:cNvPr>
            <p:cNvSpPr txBox="1"/>
            <p:nvPr/>
          </p:nvSpPr>
          <p:spPr>
            <a:xfrm>
              <a:off x="9343312" y="2157534"/>
              <a:ext cx="20193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Matrix Formulation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1277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7270-A613-BE98-819E-33BAE798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3AD91-9546-54D2-90A5-EBC10903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DDADF338-872C-BF9C-68A7-5537D71ED3F3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70315"/>
                <a:ext cx="10706705" cy="968036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</a:t>
                </a:r>
                <a:r>
                  <a:rPr lang="en-US" altLang="ko-KR" sz="21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Mutiple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Linear Regression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다중변수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(multiple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21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70315"/>
                <a:ext cx="10706705" cy="968036"/>
              </a:xfrm>
              <a:blipFill>
                <a:blip r:embed="rId2"/>
                <a:stretch>
                  <a:fillRect l="-456" b="-75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052D6F70-4FDF-23ED-F1D3-92D182B79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28" y="2624259"/>
            <a:ext cx="6054374" cy="329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2954695-EC8A-4B49-2BC8-B84F0379CE77}"/>
              </a:ext>
            </a:extLst>
          </p:cNvPr>
          <p:cNvGrpSpPr/>
          <p:nvPr/>
        </p:nvGrpSpPr>
        <p:grpSpPr>
          <a:xfrm>
            <a:off x="7850179" y="2624259"/>
            <a:ext cx="4172517" cy="2805848"/>
            <a:chOff x="7850179" y="2624259"/>
            <a:chExt cx="4172517" cy="280584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B00755-4DB1-2290-0D18-9768794AE216}"/>
                </a:ext>
              </a:extLst>
            </p:cNvPr>
            <p:cNvSpPr txBox="1"/>
            <p:nvPr/>
          </p:nvSpPr>
          <p:spPr>
            <a:xfrm>
              <a:off x="8533199" y="5091553"/>
              <a:ext cx="288727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+mj-ea"/>
                </a:rPr>
                <a:t>(n, 1) = (n, 3) @ (3, 1) + (n,1)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90AF9DB-ABDC-0C64-5932-6FEDD3D030B8}"/>
                </a:ext>
              </a:extLst>
            </p:cNvPr>
            <p:cNvSpPr txBox="1"/>
            <p:nvPr/>
          </p:nvSpPr>
          <p:spPr>
            <a:xfrm>
              <a:off x="8790862" y="2624259"/>
              <a:ext cx="20193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Matrix Formulation</a:t>
              </a:r>
              <a:endParaRPr lang="ko-KR" altLang="en-US" dirty="0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45D8B4D-97A1-8C20-11EB-B9303DFAC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50179" y="3573619"/>
              <a:ext cx="4172517" cy="155513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879EF01-D57D-603E-DF74-20AFD0602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23045" y="3170262"/>
              <a:ext cx="3021634" cy="4033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73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47D6-8297-E662-1ECD-E88CEFF1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6D69ED-B91B-A858-B2E5-19E620F5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6EF0ECB-1F76-78F8-15CE-364DFA428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8FA17CC-76E0-9904-2189-F27BDFAB0391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FFFF4F0-7DB3-AABE-D6D5-2193C90BF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8000"/>
            <a:ext cx="10353762" cy="42582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24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(“diamonds")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데이터로 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구조를 사용하여 </a:t>
            </a:r>
            <a:r>
              <a:rPr lang="en-US" altLang="ko-KR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“price“</a:t>
            </a:r>
            <a:r>
              <a:rPr lang="ko-KR" altLang="en-US" sz="24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예측하라</a:t>
            </a: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입력변수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(Features)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 : 1 feature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'carat’. ‘depth', 'table’ : 3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features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'carat’. ‘depth', 'table’, 'cut', 'color', 'clarity’ : 6 feature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딥러닝 라이브러리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keras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딥 러닝을 이용한 자연어 처리 입문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참고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9254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856B-19EA-218B-C857-CE05CEAF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20ECD5B-55BC-704B-D283-E742A9F6F2A8}"/>
              </a:ext>
            </a:extLst>
          </p:cNvPr>
          <p:cNvSpPr/>
          <p:nvPr/>
        </p:nvSpPr>
        <p:spPr>
          <a:xfrm>
            <a:off x="678584" y="4819649"/>
            <a:ext cx="5198341" cy="3958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B3C17D-ADD8-C635-4143-16EF05799BAA}"/>
              </a:ext>
            </a:extLst>
          </p:cNvPr>
          <p:cNvSpPr txBox="1"/>
          <p:nvPr/>
        </p:nvSpPr>
        <p:spPr>
          <a:xfrm>
            <a:off x="1336229" y="1428465"/>
            <a:ext cx="5512246" cy="501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Distance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Norm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K-nearest neighbor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Cosine Similarity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Regression &amp; Perceptron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regression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Machine Learning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Bias and Variance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Cross validation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ML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9D152-0E4E-68A6-9C7D-B18896B7B299}"/>
              </a:ext>
            </a:extLst>
          </p:cNvPr>
          <p:cNvSpPr txBox="1"/>
          <p:nvPr/>
        </p:nvSpPr>
        <p:spPr>
          <a:xfrm>
            <a:off x="1336229" y="709865"/>
            <a:ext cx="2604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07ED4-21E1-A1D7-80A5-42FC103573AA}"/>
              </a:ext>
            </a:extLst>
          </p:cNvPr>
          <p:cNvSpPr txBox="1"/>
          <p:nvPr/>
        </p:nvSpPr>
        <p:spPr>
          <a:xfrm>
            <a:off x="7029450" y="1428465"/>
            <a:ext cx="461962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Neural Network 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Shallow/Deep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Matrix formulation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Forward/backward propagation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FNN, CNN, RNN, Transformer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Dimension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Principal Component Analysis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Eigen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value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&amp;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vectors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SVD &amp; Topic Model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Manifold Learning</a:t>
            </a:r>
          </a:p>
        </p:txBody>
      </p:sp>
    </p:spTree>
    <p:extLst>
      <p:ext uri="{BB962C8B-B14F-4D97-AF65-F5344CB8AC3E}">
        <p14:creationId xmlns:p14="http://schemas.microsoft.com/office/powerpoint/2010/main" val="3822745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4859-7B64-5D9C-880C-3DD03B237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438ABE29-6FFB-BDC6-1057-98F40DD05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600" y="1341120"/>
            <a:ext cx="7070197" cy="461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3BFEBE-4E39-F739-9487-D585CA6A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A6A1DA53-2F42-6742-3CC6-4ED525B8A191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variance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E870F4F-57D1-9757-1BD3-1F9FB2AF0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1" y="1557994"/>
            <a:ext cx="4399279" cy="439448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곡선 형태의 가상데이터의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70%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훈련데이터로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다항식으로 학습하고 나머지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 30%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예측한 결과 시각화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이러한 예측의 치명적 결함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과대적합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(High variance)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: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훈련데이터에 과대 집착하여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(too sensitive to past data)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일반화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(Generalization)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모델 생성 실패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낭비 및 편향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데이터는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회만 사용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구조의 신뢰도 저하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9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다항식 구조가 좋다는 근거가 없음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A8594-CEA0-048B-D43B-49B4028B885C}"/>
              </a:ext>
            </a:extLst>
          </p:cNvPr>
          <p:cNvSpPr txBox="1"/>
          <p:nvPr/>
        </p:nvSpPr>
        <p:spPr>
          <a:xfrm>
            <a:off x="8398949" y="4416242"/>
            <a:ext cx="2868607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 = 1000</a:t>
            </a:r>
          </a:p>
          <a:p>
            <a:r>
              <a:rPr lang="en-US" altLang="ko-KR" sz="1400" dirty="0" err="1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rng</a:t>
            </a:r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np.random.RandomState</a:t>
            </a:r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(11)</a:t>
            </a:r>
          </a:p>
          <a:p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= 10 * </a:t>
            </a:r>
            <a:r>
              <a:rPr lang="en-US" altLang="ko-KR" sz="1400" dirty="0" err="1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rng.rand</a:t>
            </a:r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(N)</a:t>
            </a:r>
          </a:p>
          <a:p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 = </a:t>
            </a:r>
            <a:r>
              <a:rPr lang="en-US" altLang="ko-KR" sz="1400" dirty="0" err="1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np.cos</a:t>
            </a:r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 + 0.55 * </a:t>
            </a:r>
            <a:r>
              <a:rPr lang="en-US" altLang="ko-KR" sz="1400" dirty="0" err="1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rng.randn</a:t>
            </a:r>
            <a:r>
              <a:rPr lang="en-US" altLang="ko-KR" sz="1400" dirty="0">
                <a:latin typeface="Aptos Narrow" panose="020B0004020202020204" pitchFamily="34" charset="0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3FEA7-014F-6E03-6706-0C4078EAF29F}"/>
              </a:ext>
            </a:extLst>
          </p:cNvPr>
          <p:cNvSpPr txBox="1"/>
          <p:nvPr/>
        </p:nvSpPr>
        <p:spPr>
          <a:xfrm>
            <a:off x="6888481" y="1011920"/>
            <a:ext cx="391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3"/>
              </a:rPr>
              <a:t>Understanding of bias-variance/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E02784-80C2-04A8-E1CF-3E0D175DA092}"/>
                  </a:ext>
                </a:extLst>
              </p:cNvPr>
              <p:cNvSpPr txBox="1"/>
              <p:nvPr/>
            </p:nvSpPr>
            <p:spPr>
              <a:xfrm>
                <a:off x="6350003" y="1816850"/>
                <a:ext cx="2412998" cy="2970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20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 cap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1200" i="1" cap="none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sub>
                        <m:sup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200" i="1" cap="none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p>
                        <m:sSupPr>
                          <m:ctrlP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i="1" cap="none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200" b="0" i="1" cap="none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E02784-80C2-04A8-E1CF-3E0D175DA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3" y="1816850"/>
                <a:ext cx="2412998" cy="2970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441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0C45-A319-75B6-3B2E-57FB4E48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9E36B7-36A4-D9F3-B7CF-5AAF24FC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B28786A6-6685-0D59-C5FC-8627B4CD029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: </a:t>
            </a:r>
            <a:r>
              <a:rPr lang="en-US" altLang="ko-KR" b="1" cap="none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ko-KR" altLang="en-US" b="1" cap="none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variance</a:t>
            </a:r>
            <a:endParaRPr lang="ko-KR" altLang="en-US" b="1" cap="none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3E9E8FBC-AA92-AE5E-A12D-A4E96864A1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8321" y="1029674"/>
                <a:ext cx="11338559" cy="1938992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차 부터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차 다항식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 모델별로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5-fold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사용하여 훈련데이터로 학습하여 검증데이터 예측결과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5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평균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MSE(Mean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Squared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Error)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Average CV MSE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가장 낮은 다항식모델은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7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차 다항식 모델로 결정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7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차 다항식모델을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Hold-out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데이터로 예측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210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100" i="1" cap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2100" i="1" cap="none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sub>
                        <m:sup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100" i="1" cap="none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p>
                        <m:sSupPr>
                          <m:ctrlP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100" i="1" cap="none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3E9E8FBC-AA92-AE5E-A12D-A4E96864A1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321" y="1029674"/>
                <a:ext cx="11338559" cy="1938992"/>
              </a:xfrm>
              <a:blipFill>
                <a:blip r:embed="rId2"/>
                <a:stretch>
                  <a:fillRect l="-3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66912183-750B-BEF1-8EC1-22CC255C4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512" y="3265569"/>
            <a:ext cx="4767031" cy="266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글 내용">
            <a:extLst>
              <a:ext uri="{FF2B5EF4-FFF2-40B4-BE49-F238E27FC236}">
                <a16:creationId xmlns:a16="http://schemas.microsoft.com/office/drawing/2014/main" id="{E23B82CF-DF36-DBB3-0484-3A0E301DF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50" y="3270032"/>
            <a:ext cx="4033520" cy="183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7C9529-92E1-ACB2-5833-8FA8A11525AF}"/>
              </a:ext>
            </a:extLst>
          </p:cNvPr>
          <p:cNvSpPr txBox="1"/>
          <p:nvPr/>
        </p:nvSpPr>
        <p:spPr>
          <a:xfrm>
            <a:off x="9605543" y="3266473"/>
            <a:ext cx="25704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Arial Narrow" panose="020B0606020202030204" pitchFamily="34" charset="0"/>
              </a:rPr>
              <a:t>Degree 0: Average CV MSE = 0.8165 Degree 1: Average CV MSE = 0.7959 Degree 2: Average CV MSE = 0.7917 Degree 3: Average CV MSE = 0.4621 Degree 4: Average CV MSE = 0.4400 Degree 5: Average CV MSE = 0.3227 Degree 6: Average CV MSE = 0.3203 Degree 7: Average CV MSE = 0.3163 Degree 8: Average CV MSE = 0.4017 Degree 9: Average CV MSE = 0.425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0A2D1-C218-05CA-8FA9-4AEC8910906B}"/>
              </a:ext>
            </a:extLst>
          </p:cNvPr>
          <p:cNvSpPr txBox="1"/>
          <p:nvPr/>
        </p:nvSpPr>
        <p:spPr>
          <a:xfrm>
            <a:off x="528321" y="2795924"/>
            <a:ext cx="403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cross-validation/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911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DB585-A11F-F79D-88AF-E05DA836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518FEFF-02A7-FB9B-6B9E-5A87738D4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001" y="4039324"/>
            <a:ext cx="8054649" cy="209804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F9E20B-0C28-71FC-9F92-D69AC6CD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5953A29-9ACC-0CC5-7F78-319CBCA77A4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out + CV </a:t>
            </a:r>
            <a:endParaRPr lang="ko-KR" altLang="en-US" b="1" cap="none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807D94E-1A8D-D390-FC8F-11C33CAE9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1" y="1029674"/>
            <a:ext cx="11338559" cy="2617766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과거데이터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(N=1000)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Test set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(Cross Validation)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나머지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800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데이터로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K-fold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학습 및 검증 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MSE,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f1-score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등을 성능지표로 모델 평가 및 선택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모델의 구조 결정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선택 모델로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800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데이터를 최종적으로  학습하여 최적모델 생성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결정</a:t>
            </a:r>
            <a:r>
              <a:rPr lang="en-US" altLang="ko-KR" sz="19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마지막으로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Hold-out(Test set)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예측하여 성능지표를 확인하고 종료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909783-0713-3820-12C1-A77FD79F7EE5}"/>
              </a:ext>
            </a:extLst>
          </p:cNvPr>
          <p:cNvSpPr txBox="1"/>
          <p:nvPr/>
        </p:nvSpPr>
        <p:spPr>
          <a:xfrm>
            <a:off x="8566281" y="5639246"/>
            <a:ext cx="1400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3-fold CV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8927D7-6AAF-8E39-7939-23C8DE5ECD57}"/>
              </a:ext>
            </a:extLst>
          </p:cNvPr>
          <p:cNvSpPr txBox="1"/>
          <p:nvPr/>
        </p:nvSpPr>
        <p:spPr>
          <a:xfrm>
            <a:off x="1999240" y="3647440"/>
            <a:ext cx="375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3"/>
              </a:rPr>
              <a:t>Understanding of train-test-validation/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562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4DAA0-D37E-C1F2-1874-431BE448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EDCE1-6AB3-E560-8604-B89EDD35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0DB93D6-D873-C9CD-5AAF-2637AEE2B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E84BEA6-DD9A-2E40-C600-CF242B16840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cross validation &amp; CV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D7CAEEE-98C8-510C-EB2A-AABB921CF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(“diamonds")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데이터에서 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“price”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변수와 가장 상관관계가 높은 수치형 변수를 선택하고 단순회귀식의 몇 차의 다항식이 가장 적합한지 모델을 선택하라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평가기준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교차검증 평균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MSE(Mean Squared Errors)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20%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5-fold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수치를 최종 제시하라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1501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F1ADF-1B70-2171-5A85-0C9081B95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730DF-214F-B904-0AC1-6D1A4C55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9764CA8-2386-587C-47F7-37D0EB38E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721959"/>
            <a:ext cx="4765039" cy="3718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단순회귀식은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직선만 학습한 데이터 패턴 미반영한 과소적합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(High Bias, Underfitting),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Polynomial Regression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훈련 데이터에 과도하게 맞춘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과적합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(Overfitting, Low Bias)</a:t>
            </a: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Ridge (L2)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계수 크기를 억제하여 부드러운 곡선으로 안정화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Lasso (L1)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더 보수적 모델로 불필요한 계수는 제거하여 단순화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53B61E22-BABE-F65A-59D6-4C883DAD80E8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  <a:endParaRPr lang="ko-KR" altLang="en-US" b="1" cap="none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9E898CD-5ED9-B86C-A42F-E29B638B3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840" y="1690270"/>
            <a:ext cx="7073553" cy="420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367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7100-FF9F-E59F-6BB5-A4AF985AE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A7134E-3C65-1D6F-88CD-2E9DDCB8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4288A2D9-A863-5884-9849-6BF257D90CC7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  <a:endParaRPr lang="ko-KR" altLang="en-US" b="1" cap="none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5E766-0CDC-143F-B4A6-B9D3B79A287B}"/>
              </a:ext>
            </a:extLst>
          </p:cNvPr>
          <p:cNvSpPr txBox="1"/>
          <p:nvPr/>
        </p:nvSpPr>
        <p:spPr>
          <a:xfrm>
            <a:off x="528320" y="1063859"/>
            <a:ext cx="5181600" cy="489903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from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sklearn.linear_model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import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LinearRegression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Ridge, Lasso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from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sklearn.preprocessing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import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PolynomialFeatures</a:t>
            </a: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from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sklearn.pipeline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import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make_pipeline</a:t>
            </a: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import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numpy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as np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import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matplotlib.pyplot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as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</a:t>
            </a: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rng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np.random.RandomState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(11)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X = 10 *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rng.rand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(100)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y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np.cos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(X) + 0.25 *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rng.randn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(100)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X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X.reshape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(-1,1)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y_predict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LinearRegression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().fit(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X,y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).predict(X)</a:t>
            </a:r>
            <a:br>
              <a:rPr lang="en-US" altLang="ko-KR" sz="1400" b="0" dirty="0">
                <a:effectLst/>
                <a:latin typeface="Arial Narrow" panose="020B0606020202030204" pitchFamily="34" charset="0"/>
              </a:rPr>
            </a:b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np.linspace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(0, 10, 100)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poly_model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make_pipeline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PolynomialFeatures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(20),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LinearRegression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())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yfit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poly_model.fit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(X, y).predict(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[:,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np.newaxis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9EAC1-2B2C-AC68-DE86-98EBCEFCE703}"/>
              </a:ext>
            </a:extLst>
          </p:cNvPr>
          <p:cNvSpPr txBox="1"/>
          <p:nvPr/>
        </p:nvSpPr>
        <p:spPr>
          <a:xfrm>
            <a:off x="5984240" y="1063859"/>
            <a:ext cx="6085840" cy="39295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lasso_model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make_pipeline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PolynomialFeatures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(20), Lasso(alpha= 1))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predict_lasso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lasso_model.fit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(X, y).predict(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[:,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np.newaxis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ridge_model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make_pipeline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PolynomialFeatures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(20), Ridge(alpha= 30))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predict_ridge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 =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ridge_model.fit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(X, y).predict(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[:,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np.newaxis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endParaRPr lang="en-US" altLang="ko-KR" sz="1400" b="0" dirty="0">
              <a:effectLst/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plt.figure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figsize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=(10, 5))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plt.scatter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(X, y)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plt.plot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(X,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y_predict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color='red',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lw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=1.5, label='Linear Regression')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plt.plot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yfit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color='green',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lw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=2.5, label='Polynomial Regression (High Degree)')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plt.plot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predict_ridge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color='blue',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lw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=2,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linestyle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='--', label='Ridge (L2)')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plt.plot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Xfit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predict_lasso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, color='black',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lw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=2,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linestyle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=':', label='Lasso (L1)')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plt.legend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(loc='upper left', </a:t>
            </a:r>
            <a:r>
              <a:rPr lang="en-US" altLang="ko-KR" sz="1400" b="0" dirty="0" err="1">
                <a:effectLst/>
                <a:latin typeface="Arial Narrow" panose="020B0606020202030204" pitchFamily="34" charset="0"/>
              </a:rPr>
              <a:t>frameon</a:t>
            </a:r>
            <a:r>
              <a:rPr lang="en-US" altLang="ko-KR" sz="1400" b="0" dirty="0">
                <a:effectLst/>
                <a:latin typeface="Arial Narrow" panose="020B0606020202030204" pitchFamily="34" charset="0"/>
              </a:rPr>
              <a:t>=True, shadow=True)</a:t>
            </a:r>
          </a:p>
        </p:txBody>
      </p:sp>
    </p:spTree>
    <p:extLst>
      <p:ext uri="{BB962C8B-B14F-4D97-AF65-F5344CB8AC3E}">
        <p14:creationId xmlns:p14="http://schemas.microsoft.com/office/powerpoint/2010/main" val="2111712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B9821-B756-B7ED-5927-A6582D795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4E4CEF-C5AB-CE38-A3AF-0240E6A2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F00297D-AE6D-4177-8CF3-653BAD0F6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158240"/>
            <a:ext cx="10239461" cy="93368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사람이 일일이 규칙을 프로그래밍하는 대신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컴퓨터가 데이터를 통해 스스로 학습하여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패턴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(pattern)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찾아내고 미래를 예측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85BE61F-8E74-DF46-4A2C-23D8AA287916}"/>
              </a:ext>
            </a:extLst>
          </p:cNvPr>
          <p:cNvGrpSpPr/>
          <p:nvPr/>
        </p:nvGrpSpPr>
        <p:grpSpPr>
          <a:xfrm>
            <a:off x="1946305" y="2531370"/>
            <a:ext cx="7235795" cy="2896113"/>
            <a:chOff x="1028095" y="3317240"/>
            <a:chExt cx="6455932" cy="237236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DF56A33-9A07-E323-4BB5-ABD1F388E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095" y="3317240"/>
              <a:ext cx="6455932" cy="237236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E066160-A3F7-2BDE-A962-B12CE5DF6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164801" y="4554242"/>
              <a:ext cx="883997" cy="251482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E05B0FF-EF30-6052-97FE-54CB919AC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100" y="2531370"/>
            <a:ext cx="2287025" cy="1731604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10A9643F-3FDC-72A3-A519-E8B62D09C1CB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algorithm(data) </a:t>
            </a:r>
            <a:endParaRPr lang="ko-KR" altLang="en-US" b="1" cap="none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934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B538-8014-D56E-3AF2-AA7E15A6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B672D-5034-9EB6-03BD-E97919B6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E6BCA8CE-1984-4263-EE4E-D68A539462B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B0E83C6-CA8D-D9FF-025D-C229BAF93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88624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작동방식을 </a:t>
            </a:r>
            <a:r>
              <a:rPr lang="en-US" altLang="ko-KR" sz="2100" cap="none" dirty="0">
                <a:solidFill>
                  <a:schemeClr val="accent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decision-tree/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이해한 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대해 생각해 보고 교차검증에서는 모델의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결정한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성능을 제시하라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6" name="Picture 2" descr="푸른 하늘 아래 녹색 잎 나무">
            <a:extLst>
              <a:ext uri="{FF2B5EF4-FFF2-40B4-BE49-F238E27FC236}">
                <a16:creationId xmlns:a16="http://schemas.microsoft.com/office/drawing/2014/main" id="{09CB8783-407C-7E25-651D-AE5EC7243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1" y="2810461"/>
            <a:ext cx="462915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603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98D7-464D-06E0-E3A9-D0F7DA7D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9FA93F-3599-813D-595A-0FA8AB19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5714B33-1291-40C0-87F0-DE9CD0764C8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Wisdom of the Crowd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009A463-9FCF-3525-1650-482A97208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41888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1785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프랑스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콩도르세의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배심원정리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Condorcet's jury theorem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따르면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근소하게 올바른 판단력을 가진 배심원이 모여서 독립적으로 판결하게 되면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결국 항상 올바른 판단을 내린다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”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것이다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배심원정리는 앙상블모델을 가장 잘 설명해주고 있다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Randomness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=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Justice,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국민재판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D322E1-9BA9-0C88-4211-96B32C7AC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066" y="2790530"/>
            <a:ext cx="5372134" cy="28387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C225B5-AEB2-7110-3011-8B048D776CAA}"/>
              </a:ext>
            </a:extLst>
          </p:cNvPr>
          <p:cNvSpPr txBox="1"/>
          <p:nvPr/>
        </p:nvSpPr>
        <p:spPr>
          <a:xfrm>
            <a:off x="1042572" y="2904829"/>
            <a:ext cx="4948653" cy="1611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53%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올바른 판단을 하는 배심원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명이 모여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1,000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재판 판결은 재판의 회수가 많아질수록 무작위로 판단하는 ’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50%‘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항상 올바른 결정을 한다는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사실을 파이썬 코드로 만들고 </a:t>
            </a:r>
            <a:r>
              <a:rPr lang="ko-KR" altLang="en-US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시각화하라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4607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26034-A6AB-F623-ECF6-CE6137265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3024C-F98C-52AE-BB92-450D683F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AE4CD56B-F88D-FDDC-C438-BEB21800474A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73D31DD-D90E-51A0-F902-D7B74951F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88624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작동방식을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/>
              </a:rPr>
              <a:t>Understanding of random-forest/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이해한 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대해 생각해 보고 교차검증에서는 모델의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결정한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성능을 제시하라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 descr="푸른 나무의 항공 사진">
            <a:extLst>
              <a:ext uri="{FF2B5EF4-FFF2-40B4-BE49-F238E27FC236}">
                <a16:creationId xmlns:a16="http://schemas.microsoft.com/office/drawing/2014/main" id="{12DF00AA-B10C-C1B8-1183-1D9FA1B80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975" y="2718166"/>
            <a:ext cx="4994808" cy="331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595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080F7-D07E-7187-40C7-EB970C62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83E2C-5105-7708-842D-6776A1F1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16522E9-7406-138D-A270-70260FD2C73F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9E6C6A-E317-6392-884C-D66A8506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442" y="1331475"/>
            <a:ext cx="7669400" cy="441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25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B199-EB4C-06C5-9EC8-F269DF89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3429F-1589-22DE-EF0F-012D9634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ACEB1B5-A2A0-F626-FF2A-B63F7225799B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0FC9930-32A4-A49A-3146-A4E647D3A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88624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작동방식을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/>
              </a:rPr>
              <a:t>Understanding of KNN/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 이해한 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대해 생각해 보고 교차검증에서는 모델의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결정한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후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Hold-out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성능을 제시하라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FC78F8-E7C2-CE49-322E-395438848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498" y="2579312"/>
            <a:ext cx="4867528" cy="36395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ED95102-DEB0-1D80-1997-F6D758920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899" y="3409102"/>
            <a:ext cx="1180047" cy="12403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B6328C-1E8B-51C2-E7A2-49461BC5D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899" y="5025366"/>
            <a:ext cx="2098607" cy="119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14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DDC7B-BD5C-3290-556E-42CA1AB18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48025C-D1D4-622A-2ACB-AAF8CC0D4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0" y="1737538"/>
            <a:ext cx="8163686" cy="484718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5EF507-0BC0-BFAE-51D4-465B7EDD5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9918A77C-3E4F-2657-B205-806650CF3373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Basic Concepts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4CB262E-C5B7-1A57-7642-965919D38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1034365" cy="18862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basic concepts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사이트에서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Data Scaling, Linear Regression, Loss and Metric, Stochastic gradient descent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자습하라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3696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72B8-7FFD-4E19-8B6C-D002E1ADD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006566A-DD82-69DA-638D-DF707BA31AA6}"/>
              </a:ext>
            </a:extLst>
          </p:cNvPr>
          <p:cNvSpPr/>
          <p:nvPr/>
        </p:nvSpPr>
        <p:spPr>
          <a:xfrm>
            <a:off x="6374534" y="1485615"/>
            <a:ext cx="5198341" cy="3958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3FB53-BC88-47B7-3491-FAAD945F3932}"/>
              </a:ext>
            </a:extLst>
          </p:cNvPr>
          <p:cNvSpPr txBox="1"/>
          <p:nvPr/>
        </p:nvSpPr>
        <p:spPr>
          <a:xfrm>
            <a:off x="1336229" y="1428465"/>
            <a:ext cx="5512246" cy="501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Distance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Norm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K-nearest neighbor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Cosine Similarity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Regression &amp; Perceptron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regression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Machine Learning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Bias and Variance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Cross validation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ML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15470-3572-70C2-F747-2A86BD210E57}"/>
              </a:ext>
            </a:extLst>
          </p:cNvPr>
          <p:cNvSpPr txBox="1"/>
          <p:nvPr/>
        </p:nvSpPr>
        <p:spPr>
          <a:xfrm>
            <a:off x="1336229" y="709865"/>
            <a:ext cx="2604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94AA1-7E73-197E-8256-AE774F51778F}"/>
              </a:ext>
            </a:extLst>
          </p:cNvPr>
          <p:cNvSpPr txBox="1"/>
          <p:nvPr/>
        </p:nvSpPr>
        <p:spPr>
          <a:xfrm>
            <a:off x="7029450" y="1428465"/>
            <a:ext cx="461962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Neural Network 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Shallow/Deep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Matrix formulation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Forward/backward propagation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FNN, CNN, RNN, Transformer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Dimension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Principal Component Analysis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Eigen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value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&amp;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vectors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SVD &amp; Topic Model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Manifold Learning</a:t>
            </a:r>
          </a:p>
        </p:txBody>
      </p:sp>
    </p:spTree>
    <p:extLst>
      <p:ext uri="{BB962C8B-B14F-4D97-AF65-F5344CB8AC3E}">
        <p14:creationId xmlns:p14="http://schemas.microsoft.com/office/powerpoint/2010/main" val="7260740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EAD3-0C6D-4A32-6FEE-8F79EC6E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FABE37-667B-DB2B-DD82-35B58E75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33CEEA0B-D51C-B098-845C-0403C7357090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Tensors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23259F9-A875-6E4B-90BF-6F1E094EB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4"/>
            <a:ext cx="10706705" cy="18862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tensors </a:t>
            </a: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visulalization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개념 익히기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 flow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tensors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익히기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playground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deep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실습하기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74351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F4DD-3183-DC87-A058-2B2E5E006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D11D27-CD88-A5DA-A2C9-B8ED92AD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0A2B623F-9C78-161A-FD9F-97B8315E33E0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0BBCD5E2-0217-2EB7-EEB3-1C30A7915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70314"/>
                <a:ext cx="10706705" cy="188624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Inputs(x)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받아 가중치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(w)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반영한 가중치 합계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(z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weighted sum)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활성화함수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1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𝑓</m:t>
                    </m:r>
                    <m:r>
                      <a:rPr lang="en-US" altLang="ko-KR" sz="21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1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  <m:r>
                      <a:rPr lang="en-US" altLang="ko-KR" sz="21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거쳐 반응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(1, 0, -1)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하는 네트워크 구조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0BBCD5E2-0217-2EB7-EEB3-1C30A7915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70314"/>
                <a:ext cx="10706705" cy="1886245"/>
              </a:xfrm>
              <a:blipFill>
                <a:blip r:embed="rId2"/>
                <a:stretch>
                  <a:fillRect l="-569" r="-3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>
            <a:extLst>
              <a:ext uri="{FF2B5EF4-FFF2-40B4-BE49-F238E27FC236}">
                <a16:creationId xmlns:a16="http://schemas.microsoft.com/office/drawing/2014/main" id="{5BB5F102-81AC-096E-A5A7-E10409134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525" y="2821385"/>
            <a:ext cx="4023780" cy="323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8091E3-1E1C-83D9-CD62-BBA14245814F}"/>
              </a:ext>
            </a:extLst>
          </p:cNvPr>
          <p:cNvSpPr txBox="1"/>
          <p:nvPr/>
        </p:nvSpPr>
        <p:spPr>
          <a:xfrm>
            <a:off x="8561243" y="2384466"/>
            <a:ext cx="229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 Activation function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F19882-95A0-C76B-E9B9-FE3D76F62273}"/>
                  </a:ext>
                </a:extLst>
              </p:cNvPr>
              <p:cNvSpPr txBox="1"/>
              <p:nvPr/>
            </p:nvSpPr>
            <p:spPr>
              <a:xfrm>
                <a:off x="8697647" y="2956559"/>
                <a:ext cx="809624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𝑓</m:t>
                      </m:r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z</m:t>
                      </m:r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F19882-95A0-C76B-E9B9-FE3D76F62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647" y="2956559"/>
                <a:ext cx="809624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20" name="Picture 4" descr="Activation function in Neural Networks">
            <a:extLst>
              <a:ext uri="{FF2B5EF4-FFF2-40B4-BE49-F238E27FC236}">
                <a16:creationId xmlns:a16="http://schemas.microsoft.com/office/drawing/2014/main" id="{F5590D0D-2E03-5203-CB79-38ED815C7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81" y="2410346"/>
            <a:ext cx="5227666" cy="392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501ADB-B43C-8A1F-363C-C76FE57C9AE7}"/>
                  </a:ext>
                </a:extLst>
              </p:cNvPr>
              <p:cNvSpPr txBox="1"/>
              <p:nvPr/>
            </p:nvSpPr>
            <p:spPr>
              <a:xfrm>
                <a:off x="11044619" y="4507575"/>
                <a:ext cx="809624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z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501ADB-B43C-8A1F-363C-C76FE57C9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4619" y="4507575"/>
                <a:ext cx="80962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1854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41F2-358C-E450-F072-DDA82D58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7EB3C-2B1D-CC66-3F2B-1B061BD0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5C55EFC-E3D3-936C-FD13-B8B4B3B36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9CA1E0D0-48F4-0136-ACB1-9BAE230E83E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45D0520-885A-0B96-6203-3F5CD2FD6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입력변수가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네트워크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Perceptron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만들고 아래에 대해 정답을 생성하는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확인하라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AND gate with Step Function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 gate with Step Function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AND gate with Sigmoid Function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 gate with Sigmoid Function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19104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3D93-7637-7C5E-BB4E-92B8DE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266840-5B84-ED6C-269F-E9A3C6DE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3A2896C1-2712-4A10-2E30-384F1B95FD8A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Neural Network Activation Functions: Cheat Sheet">
            <a:extLst>
              <a:ext uri="{FF2B5EF4-FFF2-40B4-BE49-F238E27FC236}">
                <a16:creationId xmlns:a16="http://schemas.microsoft.com/office/drawing/2014/main" id="{BD1C19EB-28D3-EE39-23C2-44D46F2811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706" y="956441"/>
            <a:ext cx="4401339" cy="57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ow Activation Function works in Neural Networks">
            <a:extLst>
              <a:ext uri="{FF2B5EF4-FFF2-40B4-BE49-F238E27FC236}">
                <a16:creationId xmlns:a16="http://schemas.microsoft.com/office/drawing/2014/main" id="{1CF8A3D6-A242-4AEA-8E25-67B6718A1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39" y="905522"/>
            <a:ext cx="4783393" cy="358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7200C4-D722-0DFB-71FB-520B5B1158AD}"/>
              </a:ext>
            </a:extLst>
          </p:cNvPr>
          <p:cNvSpPr txBox="1"/>
          <p:nvPr/>
        </p:nvSpPr>
        <p:spPr>
          <a:xfrm>
            <a:off x="748841" y="725608"/>
            <a:ext cx="2376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activation function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506692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FF96-AFFC-CB97-69B7-FCC16541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그림 46">
            <a:extLst>
              <a:ext uri="{FF2B5EF4-FFF2-40B4-BE49-F238E27FC236}">
                <a16:creationId xmlns:a16="http://schemas.microsoft.com/office/drawing/2014/main" id="{C61B7A09-B3CA-0DFD-7409-53A2ABD4F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31" y="1497393"/>
            <a:ext cx="1995078" cy="4442033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1450C-758E-5DB8-ECB4-A2C14D85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77AF110-24A1-8FC5-BE25-6FC4F14B084D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B543BC5-EFBD-D448-8727-31DEFAAE453E}"/>
              </a:ext>
            </a:extLst>
          </p:cNvPr>
          <p:cNvGrpSpPr/>
          <p:nvPr/>
        </p:nvGrpSpPr>
        <p:grpSpPr>
          <a:xfrm>
            <a:off x="1197855" y="1981201"/>
            <a:ext cx="10316619" cy="4469792"/>
            <a:chOff x="1350255" y="2204864"/>
            <a:chExt cx="9430539" cy="4158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0BA022F1-8FD0-4A5E-B71C-3CC805BC1E2A}"/>
                    </a:ext>
                  </a:extLst>
                </p:cNvPr>
                <p:cNvSpPr/>
                <p:nvPr/>
              </p:nvSpPr>
              <p:spPr>
                <a:xfrm>
                  <a:off x="1836737" y="3131669"/>
                  <a:ext cx="479279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0BA022F1-8FD0-4A5E-B71C-3CC805BC1E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3131669"/>
                  <a:ext cx="479279" cy="372238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A5557686-AD94-E110-230C-C46FFBE83A57}"/>
                    </a:ext>
                  </a:extLst>
                </p:cNvPr>
                <p:cNvSpPr/>
                <p:nvPr/>
              </p:nvSpPr>
              <p:spPr>
                <a:xfrm>
                  <a:off x="1836737" y="3451964"/>
                  <a:ext cx="484729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A5557686-AD94-E110-230C-C46FFBE83A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3451964"/>
                  <a:ext cx="484729" cy="372238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AB7E4F7F-0241-B573-E80F-D5CAAE74F6B4}"/>
                    </a:ext>
                  </a:extLst>
                </p:cNvPr>
                <p:cNvSpPr/>
                <p:nvPr/>
              </p:nvSpPr>
              <p:spPr>
                <a:xfrm>
                  <a:off x="1836737" y="5161355"/>
                  <a:ext cx="499382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AB7E4F7F-0241-B573-E80F-D5CAAE74F6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5161355"/>
                  <a:ext cx="499382" cy="37223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65127C1-AFC0-DCA5-920B-9EB79DB3402F}"/>
                    </a:ext>
                  </a:extLst>
                </p:cNvPr>
                <p:cNvSpPr/>
                <p:nvPr/>
              </p:nvSpPr>
              <p:spPr>
                <a:xfrm>
                  <a:off x="1880697" y="3769967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65127C1-AFC0-DCA5-920B-9EB79DB340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0697" y="3769967"/>
                  <a:ext cx="363693" cy="48677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A02A834B-BF33-8BF1-8B8C-FD7D9BCB2573}"/>
                    </a:ext>
                  </a:extLst>
                </p:cNvPr>
                <p:cNvSpPr/>
                <p:nvPr/>
              </p:nvSpPr>
              <p:spPr>
                <a:xfrm>
                  <a:off x="1874834" y="4109200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A02A834B-BF33-8BF1-8B8C-FD7D9BCB2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834" y="4109200"/>
                  <a:ext cx="363693" cy="4867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6CD8DFA-6CD0-F1F7-488F-544797BA94D3}"/>
                    </a:ext>
                  </a:extLst>
                </p:cNvPr>
                <p:cNvSpPr/>
                <p:nvPr/>
              </p:nvSpPr>
              <p:spPr>
                <a:xfrm>
                  <a:off x="1879359" y="4838960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6CD8DFA-6CD0-F1F7-488F-544797BA94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59" y="4838960"/>
                  <a:ext cx="363693" cy="48677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순서도: 가산 접합 9">
              <a:extLst>
                <a:ext uri="{FF2B5EF4-FFF2-40B4-BE49-F238E27FC236}">
                  <a16:creationId xmlns:a16="http://schemas.microsoft.com/office/drawing/2014/main" id="{0F64D008-769D-7306-6D0B-03CB6D1A5CF2}"/>
                </a:ext>
              </a:extLst>
            </p:cNvPr>
            <p:cNvSpPr/>
            <p:nvPr/>
          </p:nvSpPr>
          <p:spPr bwMode="auto">
            <a:xfrm>
              <a:off x="3721080" y="3196809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11" name="순서도: 가산 접합 10">
              <a:extLst>
                <a:ext uri="{FF2B5EF4-FFF2-40B4-BE49-F238E27FC236}">
                  <a16:creationId xmlns:a16="http://schemas.microsoft.com/office/drawing/2014/main" id="{00BA48F0-4BB3-0BA3-DA8E-666758CAB44F}"/>
                </a:ext>
              </a:extLst>
            </p:cNvPr>
            <p:cNvSpPr/>
            <p:nvPr/>
          </p:nvSpPr>
          <p:spPr bwMode="auto">
            <a:xfrm>
              <a:off x="3721080" y="3731768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12" name="순서도: 가산 접합 11">
              <a:extLst>
                <a:ext uri="{FF2B5EF4-FFF2-40B4-BE49-F238E27FC236}">
                  <a16:creationId xmlns:a16="http://schemas.microsoft.com/office/drawing/2014/main" id="{E3C9CA5A-281B-B879-F18C-A775762C250F}"/>
                </a:ext>
              </a:extLst>
            </p:cNvPr>
            <p:cNvSpPr/>
            <p:nvPr/>
          </p:nvSpPr>
          <p:spPr bwMode="auto">
            <a:xfrm>
              <a:off x="3721080" y="5189069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cxnSp>
          <p:nvCxnSpPr>
            <p:cNvPr id="13" name="구부러진 연결선 42">
              <a:extLst>
                <a:ext uri="{FF2B5EF4-FFF2-40B4-BE49-F238E27FC236}">
                  <a16:creationId xmlns:a16="http://schemas.microsoft.com/office/drawing/2014/main" id="{50841188-01D3-E4E6-137B-CFB73F38D28A}"/>
                </a:ext>
              </a:extLst>
            </p:cNvPr>
            <p:cNvCxnSpPr>
              <a:stCxn id="3" idx="3"/>
              <a:endCxn id="10" idx="3"/>
            </p:cNvCxnSpPr>
            <p:nvPr/>
          </p:nvCxnSpPr>
          <p:spPr bwMode="auto">
            <a:xfrm>
              <a:off x="2316016" y="3317788"/>
              <a:ext cx="1440161" cy="83585"/>
            </a:xfrm>
            <a:prstGeom prst="curvedConnector4">
              <a:avLst>
                <a:gd name="adj1" fmla="val 48781"/>
                <a:gd name="adj2" fmla="val 354444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구부러진 연결선 43">
              <a:extLst>
                <a:ext uri="{FF2B5EF4-FFF2-40B4-BE49-F238E27FC236}">
                  <a16:creationId xmlns:a16="http://schemas.microsoft.com/office/drawing/2014/main" id="{3FF70D99-D749-9F13-5511-F2A78F86D774}"/>
                </a:ext>
              </a:extLst>
            </p:cNvPr>
            <p:cNvCxnSpPr>
              <a:stCxn id="5" idx="3"/>
              <a:endCxn id="11" idx="3"/>
            </p:cNvCxnSpPr>
            <p:nvPr/>
          </p:nvCxnSpPr>
          <p:spPr bwMode="auto">
            <a:xfrm>
              <a:off x="2321465" y="3638084"/>
              <a:ext cx="1434712" cy="298247"/>
            </a:xfrm>
            <a:prstGeom prst="curvedConnector4">
              <a:avLst>
                <a:gd name="adj1" fmla="val 48777"/>
                <a:gd name="adj2" fmla="val 171308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구부러진 연결선 44">
              <a:extLst>
                <a:ext uri="{FF2B5EF4-FFF2-40B4-BE49-F238E27FC236}">
                  <a16:creationId xmlns:a16="http://schemas.microsoft.com/office/drawing/2014/main" id="{F929EBCB-93A1-CCC5-C4E9-762F65D233D6}"/>
                </a:ext>
              </a:extLst>
            </p:cNvPr>
            <p:cNvCxnSpPr>
              <a:stCxn id="6" idx="3"/>
              <a:endCxn id="12" idx="1"/>
            </p:cNvCxnSpPr>
            <p:nvPr/>
          </p:nvCxnSpPr>
          <p:spPr bwMode="auto">
            <a:xfrm flipV="1">
              <a:off x="2336119" y="5224166"/>
              <a:ext cx="1420058" cy="123307"/>
            </a:xfrm>
            <a:prstGeom prst="curvedConnector4">
              <a:avLst>
                <a:gd name="adj1" fmla="val 48764"/>
                <a:gd name="adj2" fmla="val 323416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CA988A9C-97DC-CF1F-008D-2B82CB1E30B1}"/>
                    </a:ext>
                  </a:extLst>
                </p:cNvPr>
                <p:cNvSpPr/>
                <p:nvPr/>
              </p:nvSpPr>
              <p:spPr>
                <a:xfrm>
                  <a:off x="3683433" y="4085735"/>
                  <a:ext cx="335852" cy="4295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CA988A9C-97DC-CF1F-008D-2B82CB1E30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3433" y="4085735"/>
                  <a:ext cx="335852" cy="42950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FC42BDE-F8D7-BA93-7AC7-498EA4FE4FDF}"/>
                    </a:ext>
                  </a:extLst>
                </p:cNvPr>
                <p:cNvSpPr/>
                <p:nvPr/>
              </p:nvSpPr>
              <p:spPr>
                <a:xfrm>
                  <a:off x="3687958" y="4815495"/>
                  <a:ext cx="335852" cy="4295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FC42BDE-F8D7-BA93-7AC7-498EA4FE4F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958" y="4815495"/>
                  <a:ext cx="335852" cy="42950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구부러진 연결선 48">
              <a:extLst>
                <a:ext uri="{FF2B5EF4-FFF2-40B4-BE49-F238E27FC236}">
                  <a16:creationId xmlns:a16="http://schemas.microsoft.com/office/drawing/2014/main" id="{3EE8D7C1-70B2-DCD2-5375-E1D2B0D1C102}"/>
                </a:ext>
              </a:extLst>
            </p:cNvPr>
            <p:cNvCxnSpPr>
              <a:stCxn id="10" idx="6"/>
            </p:cNvCxnSpPr>
            <p:nvPr/>
          </p:nvCxnSpPr>
          <p:spPr bwMode="auto">
            <a:xfrm>
              <a:off x="3960740" y="3316639"/>
              <a:ext cx="1106394" cy="799195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구부러진 연결선 49">
              <a:extLst>
                <a:ext uri="{FF2B5EF4-FFF2-40B4-BE49-F238E27FC236}">
                  <a16:creationId xmlns:a16="http://schemas.microsoft.com/office/drawing/2014/main" id="{FDD4B62A-0F4E-E32A-3047-FF2D47788CE3}"/>
                </a:ext>
              </a:extLst>
            </p:cNvPr>
            <p:cNvCxnSpPr/>
            <p:nvPr/>
          </p:nvCxnSpPr>
          <p:spPr bwMode="auto">
            <a:xfrm>
              <a:off x="4018232" y="3931168"/>
              <a:ext cx="1025302" cy="282602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구부러진 연결선 50">
              <a:extLst>
                <a:ext uri="{FF2B5EF4-FFF2-40B4-BE49-F238E27FC236}">
                  <a16:creationId xmlns:a16="http://schemas.microsoft.com/office/drawing/2014/main" id="{3FCB277F-BE1B-CF65-D449-699DF35B2C00}"/>
                </a:ext>
              </a:extLst>
            </p:cNvPr>
            <p:cNvCxnSpPr>
              <a:stCxn id="12" idx="6"/>
            </p:cNvCxnSpPr>
            <p:nvPr/>
          </p:nvCxnSpPr>
          <p:spPr bwMode="auto">
            <a:xfrm flipV="1">
              <a:off x="3960740" y="4515451"/>
              <a:ext cx="1100531" cy="793448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4D2B819-BF22-6A6D-06CA-3078CBC06CAF}"/>
                </a:ext>
              </a:extLst>
            </p:cNvPr>
            <p:cNvSpPr/>
            <p:nvPr/>
          </p:nvSpPr>
          <p:spPr>
            <a:xfrm>
              <a:off x="3683433" y="4517878"/>
              <a:ext cx="857507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rPr>
                <a:t>multiply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90E1639-7D7E-6712-FF30-CB83F617C535}"/>
                </a:ext>
              </a:extLst>
            </p:cNvPr>
            <p:cNvSpPr/>
            <p:nvPr/>
          </p:nvSpPr>
          <p:spPr bwMode="auto">
            <a:xfrm>
              <a:off x="5213736" y="3847869"/>
              <a:ext cx="1143001" cy="955008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A50B49F-C157-0126-A490-361220004B5D}"/>
                    </a:ext>
                  </a:extLst>
                </p:cNvPr>
                <p:cNvSpPr/>
                <p:nvPr/>
              </p:nvSpPr>
              <p:spPr>
                <a:xfrm>
                  <a:off x="4271284" y="3211201"/>
                  <a:ext cx="729965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A50B49F-C157-0126-A490-361220004B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1284" y="3211201"/>
                  <a:ext cx="729965" cy="372238"/>
                </a:xfrm>
                <a:prstGeom prst="rect">
                  <a:avLst/>
                </a:prstGeom>
                <a:blipFill>
                  <a:blip r:embed="rId11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73C766-9F9B-C9AA-47F6-429BFD243E1C}"/>
                    </a:ext>
                  </a:extLst>
                </p:cNvPr>
                <p:cNvSpPr txBox="1"/>
                <p:nvPr/>
              </p:nvSpPr>
              <p:spPr>
                <a:xfrm>
                  <a:off x="5394593" y="3977991"/>
                  <a:ext cx="781286" cy="7817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kumimoji="0" lang="pt-BR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0" lang="pt-BR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0" lang="en-US" altLang="ko-KR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73C766-9F9B-C9AA-47F6-429BFD243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593" y="3977991"/>
                  <a:ext cx="781286" cy="7817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31C287D-8A01-9D77-04EF-C7AD720660CD}"/>
                    </a:ext>
                  </a:extLst>
                </p:cNvPr>
                <p:cNvSpPr/>
                <p:nvPr/>
              </p:nvSpPr>
              <p:spPr>
                <a:xfrm>
                  <a:off x="3228015" y="2858255"/>
                  <a:ext cx="308435" cy="372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31C287D-8A01-9D77-04EF-C7AD720660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8015" y="2858255"/>
                  <a:ext cx="308435" cy="372238"/>
                </a:xfrm>
                <a:prstGeom prst="rect">
                  <a:avLst/>
                </a:prstGeom>
                <a:blipFill>
                  <a:blip r:embed="rId13"/>
                  <a:stretch>
                    <a:fillRect r="-26786"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2D8134EE-E7DF-5E0E-831A-A504730F9ECE}"/>
                    </a:ext>
                  </a:extLst>
                </p:cNvPr>
                <p:cNvSpPr/>
                <p:nvPr/>
              </p:nvSpPr>
              <p:spPr>
                <a:xfrm>
                  <a:off x="3195530" y="5439637"/>
                  <a:ext cx="339326" cy="372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2D8134EE-E7DF-5E0E-831A-A504730F9E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5530" y="5439637"/>
                  <a:ext cx="339326" cy="372238"/>
                </a:xfrm>
                <a:prstGeom prst="rect">
                  <a:avLst/>
                </a:prstGeom>
                <a:blipFill>
                  <a:blip r:embed="rId14"/>
                  <a:stretch>
                    <a:fillRect r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구부러진 연결선 57">
              <a:extLst>
                <a:ext uri="{FF2B5EF4-FFF2-40B4-BE49-F238E27FC236}">
                  <a16:creationId xmlns:a16="http://schemas.microsoft.com/office/drawing/2014/main" id="{5C4B62FE-1BB2-01D6-82B6-95D45450CA87}"/>
                </a:ext>
              </a:extLst>
            </p:cNvPr>
            <p:cNvCxnSpPr>
              <a:stCxn id="25" idx="3"/>
              <a:endCxn id="10" idx="0"/>
            </p:cNvCxnSpPr>
            <p:nvPr/>
          </p:nvCxnSpPr>
          <p:spPr bwMode="auto">
            <a:xfrm>
              <a:off x="3536450" y="3044374"/>
              <a:ext cx="304459" cy="152435"/>
            </a:xfrm>
            <a:prstGeom prst="curvedConnector2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8" name="구부러진 연결선 58">
              <a:extLst>
                <a:ext uri="{FF2B5EF4-FFF2-40B4-BE49-F238E27FC236}">
                  <a16:creationId xmlns:a16="http://schemas.microsoft.com/office/drawing/2014/main" id="{A1EF489C-9CAC-6D46-19EC-229547969917}"/>
                </a:ext>
              </a:extLst>
            </p:cNvPr>
            <p:cNvCxnSpPr>
              <a:stCxn id="26" idx="3"/>
              <a:endCxn id="12" idx="4"/>
            </p:cNvCxnSpPr>
            <p:nvPr/>
          </p:nvCxnSpPr>
          <p:spPr bwMode="auto">
            <a:xfrm flipV="1">
              <a:off x="3534856" y="5428730"/>
              <a:ext cx="306054" cy="197026"/>
            </a:xfrm>
            <a:prstGeom prst="curvedConnector2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BB956F26-98D0-99CD-A8EA-F48BE61F0415}"/>
                    </a:ext>
                  </a:extLst>
                </p:cNvPr>
                <p:cNvSpPr/>
                <p:nvPr/>
              </p:nvSpPr>
              <p:spPr>
                <a:xfrm>
                  <a:off x="4186130" y="5054889"/>
                  <a:ext cx="763081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BB956F26-98D0-99CD-A8EA-F48BE61F04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6130" y="5054889"/>
                  <a:ext cx="763081" cy="37223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09B29A9B-0AD6-641A-907A-06863BC86DE1}"/>
                </a:ext>
              </a:extLst>
            </p:cNvPr>
            <p:cNvCxnSpPr>
              <a:stCxn id="22" idx="3"/>
            </p:cNvCxnSpPr>
            <p:nvPr/>
          </p:nvCxnSpPr>
          <p:spPr bwMode="auto">
            <a:xfrm>
              <a:off x="6356737" y="4325373"/>
              <a:ext cx="418645" cy="20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9C5A4AE2-DDF5-F4BA-DFD0-CF0888919C7D}"/>
                    </a:ext>
                  </a:extLst>
                </p:cNvPr>
                <p:cNvSpPr/>
                <p:nvPr/>
              </p:nvSpPr>
              <p:spPr>
                <a:xfrm>
                  <a:off x="1476053" y="5819251"/>
                  <a:ext cx="1281815" cy="54404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~ </m:t>
                        </m:r>
                        <m:d>
                          <m:dPr>
                            <m:ctrlP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0" lang="en-US" altLang="ko-KR" sz="16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𝑠𝑡𝑎𝑛𝑑𝑎𝑟𝑑</m:t>
                        </m:r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𝑠𝑐𝑎𝑙𝑖𝑛𝑔</m:t>
                        </m:r>
                      </m:oMath>
                    </m:oMathPara>
                  </a14:m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9C5A4AE2-DDF5-F4BA-DFD0-CF0888919C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6053" y="5819251"/>
                  <a:ext cx="1281815" cy="544040"/>
                </a:xfrm>
                <a:prstGeom prst="rect">
                  <a:avLst/>
                </a:prstGeom>
                <a:blipFill>
                  <a:blip r:embed="rId16"/>
                  <a:stretch>
                    <a:fillRect r="-24783" b="-729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2EA1297B-E0B6-FD29-42F2-BB5D2AB89E92}"/>
                </a:ext>
              </a:extLst>
            </p:cNvPr>
            <p:cNvCxnSpPr/>
            <p:nvPr/>
          </p:nvCxnSpPr>
          <p:spPr bwMode="auto">
            <a:xfrm flipV="1">
              <a:off x="8219653" y="4325373"/>
              <a:ext cx="457200" cy="20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490696ED-F8C8-2749-2824-C1B42D674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956239" y="3821059"/>
              <a:ext cx="1143001" cy="898684"/>
            </a:xfrm>
            <a:prstGeom prst="rect">
              <a:avLst/>
            </a:prstGeom>
          </p:spPr>
        </p:pic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78073E4-7B4A-F8DF-321C-6BAD6A17AA43}"/>
                </a:ext>
              </a:extLst>
            </p:cNvPr>
            <p:cNvSpPr/>
            <p:nvPr/>
          </p:nvSpPr>
          <p:spPr>
            <a:xfrm>
              <a:off x="6816657" y="2204864"/>
              <a:ext cx="1631596" cy="5440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Activation </a:t>
              </a:r>
            </a:p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function</a:t>
              </a:r>
              <a:endParaRPr lang="en-US" altLang="ko-KR" sz="1600" b="1" dirty="0">
                <a:solidFill>
                  <a:prstClr val="black"/>
                </a:solidFill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4FE26FD-6DCD-33DF-8448-274AFE6ADA09}"/>
                </a:ext>
              </a:extLst>
            </p:cNvPr>
            <p:cNvSpPr/>
            <p:nvPr/>
          </p:nvSpPr>
          <p:spPr>
            <a:xfrm>
              <a:off x="1350255" y="2695573"/>
              <a:ext cx="9430539" cy="362747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NanumGothicExtraBold" pitchFamily="2" charset="-127"/>
                <a:ea typeface="NanumGothicExtraBold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69BD5D-EA24-1B59-C72E-8E7D0000D900}"/>
                    </a:ext>
                  </a:extLst>
                </p:cNvPr>
                <p:cNvSpPr txBox="1"/>
                <p:nvPr/>
              </p:nvSpPr>
              <p:spPr>
                <a:xfrm>
                  <a:off x="8789768" y="2299660"/>
                  <a:ext cx="1570357" cy="2290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1600" b="1">
                      <a:solidFill>
                        <a:prstClr val="black"/>
                      </a:solidFill>
                      <a:latin typeface="NanumGothicExtraBold" pitchFamily="2" charset="-127"/>
                      <a:ea typeface="NanumGothicExtraBold" pitchFamily="2" charset="-127"/>
                    </a:rPr>
                    <a:t>Output: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a14:m>
                  <a:endParaRPr lang="ko-KR" altLang="en-US" sz="1600" b="1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69BD5D-EA24-1B59-C72E-8E7D0000D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768" y="2299660"/>
                  <a:ext cx="1570357" cy="229069"/>
                </a:xfrm>
                <a:prstGeom prst="rect">
                  <a:avLst/>
                </a:prstGeom>
                <a:blipFill>
                  <a:blip r:embed="rId18"/>
                  <a:stretch>
                    <a:fillRect l="-7473" t="-25000" b="-5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322F38A2-BD85-521C-A046-DBF25BBD1296}"/>
                    </a:ext>
                  </a:extLst>
                </p:cNvPr>
                <p:cNvSpPr/>
                <p:nvPr/>
              </p:nvSpPr>
              <p:spPr>
                <a:xfrm>
                  <a:off x="8653437" y="4143507"/>
                  <a:ext cx="2127357" cy="3481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activation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ko-KR" altLang="en-US" dirty="0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322F38A2-BD85-521C-A046-DBF25BBD12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3437" y="4143507"/>
                  <a:ext cx="2127357" cy="348198"/>
                </a:xfrm>
                <a:prstGeom prst="rect">
                  <a:avLst/>
                </a:prstGeom>
                <a:blipFill>
                  <a:blip r:embed="rId1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F4AB18C-266A-4FE9-9B99-F92C03FDDAB3}"/>
                    </a:ext>
                  </a:extLst>
                </p:cNvPr>
                <p:cNvSpPr/>
                <p:nvPr/>
              </p:nvSpPr>
              <p:spPr>
                <a:xfrm>
                  <a:off x="4595473" y="2299660"/>
                  <a:ext cx="2307357" cy="3190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600" b="1">
                      <a:solidFill>
                        <a:prstClr val="black"/>
                      </a:solidFill>
                      <a:latin typeface="NanumGothicExtraBold" pitchFamily="2" charset="-127"/>
                      <a:ea typeface="NanumGothicExtraBold" pitchFamily="2" charset="-127"/>
                    </a:rPr>
                    <a:t>Weighted sum</a:t>
                  </a:r>
                  <a:r>
                    <a:rPr lang="en-US" altLang="ko-KR" sz="1600" b="1">
                      <a:latin typeface="NanumGothicExtraBold" pitchFamily="2" charset="-127"/>
                      <a:ea typeface="NanumGothicExtraBold" pitchFamily="2" charset="-127"/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1600" b="1" i="1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ko-KR" sz="1600" b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ko-KR" altLang="en-US" sz="1600" b="1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F4AB18C-266A-4FE9-9B99-F92C03FDDA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5473" y="2299660"/>
                  <a:ext cx="2307357" cy="319087"/>
                </a:xfrm>
                <a:prstGeom prst="rect">
                  <a:avLst/>
                </a:prstGeom>
                <a:blipFill>
                  <a:blip r:embed="rId20"/>
                  <a:stretch>
                    <a:fillRect l="-1449" t="-3571" b="-232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A4CFD56-4840-D304-AFC4-6A63FA5A86CD}"/>
                </a:ext>
              </a:extLst>
            </p:cNvPr>
            <p:cNvSpPr/>
            <p:nvPr/>
          </p:nvSpPr>
          <p:spPr>
            <a:xfrm>
              <a:off x="3095195" y="2299660"/>
              <a:ext cx="885349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Weights</a:t>
              </a:r>
              <a:endParaRPr lang="ko-KR" altLang="en-US" sz="1600" b="1"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6B89BC8-2606-8C67-C7C7-D25251028FC1}"/>
                </a:ext>
              </a:extLst>
            </p:cNvPr>
            <p:cNvSpPr/>
            <p:nvPr/>
          </p:nvSpPr>
          <p:spPr>
            <a:xfrm>
              <a:off x="1657531" y="2299660"/>
              <a:ext cx="624521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Input</a:t>
              </a:r>
              <a:endParaRPr lang="ko-KR" altLang="en-US" sz="1600" b="1">
                <a:latin typeface="NanumGothicExtraBold" pitchFamily="2" charset="-127"/>
                <a:ea typeface="NanumGothicExtraBold" pitchFamily="2" charset="-127"/>
              </a:endParaRPr>
            </a:p>
          </p:txBody>
        </p:sp>
      </p:grp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559855AA-45D0-1CBE-CF10-7BE857C50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1034365" cy="7467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단일 뉴런의 수학식은 다중회귀분석의 함수식과 동일하다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96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8076-D70D-47AD-1AED-75E19C2B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89B271-5192-2F15-5D59-382800A9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2ABE30C-8E3D-1211-EEE6-CFC56729DE3B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Artificial Neural Network Architecture">
            <a:extLst>
              <a:ext uri="{FF2B5EF4-FFF2-40B4-BE49-F238E27FC236}">
                <a16:creationId xmlns:a16="http://schemas.microsoft.com/office/drawing/2014/main" id="{0559266C-556E-C20E-726A-EF66A63868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474" y="1010883"/>
            <a:ext cx="7087994" cy="539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69EBA6B-BE2D-894D-8A52-21457E8B9BC5}"/>
              </a:ext>
            </a:extLst>
          </p:cNvPr>
          <p:cNvSpPr txBox="1">
            <a:spLocks/>
          </p:cNvSpPr>
          <p:nvPr/>
        </p:nvSpPr>
        <p:spPr>
          <a:xfrm>
            <a:off x="8425528" y="2791472"/>
            <a:ext cx="3375947" cy="23329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Regression,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Classification, dimension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reduction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모델의 </a:t>
            </a:r>
            <a:r>
              <a:rPr lang="en-US" altLang="ko-KR" sz="21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어떻게 생겼는가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고민해보고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다음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슬라이드를 실습하여 체험하라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2269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9493-D270-9E19-158F-438CCBA1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2790B-445E-7EC1-FA97-DBE87F9A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630B377-4167-3B15-6B1D-EF3F23415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97606737-1778-1890-4DC9-1B0DB71118E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83C2E72-F9E7-891D-5A0E-1AD44544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Iris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California 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houseprice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가지 경우의 입력과 출력데이터로 인공지능망을 사용하여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예측하라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각각의 경우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노드의 개수를 확인하라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Deep Learning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메뉴의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Overview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메뉴 탭에서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Intro ✓, Data for Training ✓, Activation ✓, Optimizers, Loss Functions ✓, Visual Demo ✓, Manage Model ✓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학습하라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67701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192856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4082105-B0E0-25B4-F0AA-982C2E099761}"/>
              </a:ext>
            </a:extLst>
          </p:cNvPr>
          <p:cNvSpPr/>
          <p:nvPr/>
        </p:nvSpPr>
        <p:spPr>
          <a:xfrm>
            <a:off x="4116887" y="192856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7664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네트워크 구조를 행렬식으로 표현하라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77754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24762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24762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77754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FD888255-4994-1FCA-F8EA-3F0CDC1C8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123204"/>
              </p:ext>
            </p:extLst>
          </p:nvPr>
        </p:nvGraphicFramePr>
        <p:xfrm>
          <a:off x="889000" y="5153236"/>
          <a:ext cx="8249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91">
                  <a:extLst>
                    <a:ext uri="{9D8B030D-6E8A-4147-A177-3AD203B41FA5}">
                      <a16:colId xmlns:a16="http://schemas.microsoft.com/office/drawing/2014/main" val="3159189123"/>
                    </a:ext>
                  </a:extLst>
                </a:gridCol>
                <a:gridCol w="412491">
                  <a:extLst>
                    <a:ext uri="{9D8B030D-6E8A-4147-A177-3AD203B41FA5}">
                      <a16:colId xmlns:a16="http://schemas.microsoft.com/office/drawing/2014/main" val="3158959229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5207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B68121E-F8B7-620D-EABC-307022609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48760"/>
              </p:ext>
            </p:extLst>
          </p:nvPr>
        </p:nvGraphicFramePr>
        <p:xfrm>
          <a:off x="3895419" y="5153236"/>
          <a:ext cx="1255704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939671243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2414763620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D8DC5B0A-15AE-B264-F684-117D8D903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665914"/>
              </p:ext>
            </p:extLst>
          </p:nvPr>
        </p:nvGraphicFramePr>
        <p:xfrm>
          <a:off x="10537825" y="5153236"/>
          <a:ext cx="8249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91">
                  <a:extLst>
                    <a:ext uri="{9D8B030D-6E8A-4147-A177-3AD203B41FA5}">
                      <a16:colId xmlns:a16="http://schemas.microsoft.com/office/drawing/2014/main" val="3349704126"/>
                    </a:ext>
                  </a:extLst>
                </a:gridCol>
                <a:gridCol w="412491">
                  <a:extLst>
                    <a:ext uri="{9D8B030D-6E8A-4147-A177-3AD203B41FA5}">
                      <a16:colId xmlns:a16="http://schemas.microsoft.com/office/drawing/2014/main" val="2808135352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27078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F38EAA0B-A059-9FCB-EA7B-949345116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339763"/>
              </p:ext>
            </p:extLst>
          </p:nvPr>
        </p:nvGraphicFramePr>
        <p:xfrm>
          <a:off x="6905522" y="5153236"/>
          <a:ext cx="17684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19">
                  <a:extLst>
                    <a:ext uri="{9D8B030D-6E8A-4147-A177-3AD203B41FA5}">
                      <a16:colId xmlns:a16="http://schemas.microsoft.com/office/drawing/2014/main" val="3408541164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771415720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4212758754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2389089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820539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43851069-C2D2-B638-1BE7-61FE12E73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046355"/>
              </p:ext>
            </p:extLst>
          </p:nvPr>
        </p:nvGraphicFramePr>
        <p:xfrm>
          <a:off x="2258920" y="3039032"/>
          <a:ext cx="1255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693896945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825580151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741967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66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78202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231033F0-706B-415C-BB2D-F30BAA42D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013680"/>
              </p:ext>
            </p:extLst>
          </p:nvPr>
        </p:nvGraphicFramePr>
        <p:xfrm>
          <a:off x="5258243" y="2867063"/>
          <a:ext cx="177015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539">
                  <a:extLst>
                    <a:ext uri="{9D8B030D-6E8A-4147-A177-3AD203B41FA5}">
                      <a16:colId xmlns:a16="http://schemas.microsoft.com/office/drawing/2014/main" val="3464882294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3109326110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3213285567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1911355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29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105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729911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4C14BC51-A89C-0C08-BCBF-38E35CDB7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488906"/>
              </p:ext>
            </p:extLst>
          </p:nvPr>
        </p:nvGraphicFramePr>
        <p:xfrm>
          <a:off x="9019668" y="2607239"/>
          <a:ext cx="8886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344">
                  <a:extLst>
                    <a:ext uri="{9D8B030D-6E8A-4147-A177-3AD203B41FA5}">
                      <a16:colId xmlns:a16="http://schemas.microsoft.com/office/drawing/2014/main" val="456541388"/>
                    </a:ext>
                  </a:extLst>
                </a:gridCol>
                <a:gridCol w="444344">
                  <a:extLst>
                    <a:ext uri="{9D8B030D-6E8A-4147-A177-3AD203B41FA5}">
                      <a16:colId xmlns:a16="http://schemas.microsoft.com/office/drawing/2014/main" val="1775349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0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7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1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08776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CB9E2FD1-E9A9-09A9-6394-CF8EFB867B8D}"/>
              </a:ext>
            </a:extLst>
          </p:cNvPr>
          <p:cNvSpPr txBox="1"/>
          <p:nvPr/>
        </p:nvSpPr>
        <p:spPr>
          <a:xfrm>
            <a:off x="809522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D39B9D-5C5C-9A76-9FA3-B7D5F2A9FCF4}"/>
              </a:ext>
            </a:extLst>
          </p:cNvPr>
          <p:cNvSpPr txBox="1"/>
          <p:nvPr/>
        </p:nvSpPr>
        <p:spPr>
          <a:xfrm>
            <a:off x="2427495" y="386818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(2, 3)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13415D-8214-9522-94DE-1F6323A05771}"/>
              </a:ext>
            </a:extLst>
          </p:cNvPr>
          <p:cNvSpPr txBox="1"/>
          <p:nvPr/>
        </p:nvSpPr>
        <p:spPr>
          <a:xfrm>
            <a:off x="4052649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(1, 3)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6D194A-8ED8-A222-57D7-0A72C366118F}"/>
              </a:ext>
            </a:extLst>
          </p:cNvPr>
          <p:cNvSpPr txBox="1"/>
          <p:nvPr/>
        </p:nvSpPr>
        <p:spPr>
          <a:xfrm>
            <a:off x="5691091" y="4116751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(3, 4)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6946AC-A922-C213-AF08-FE45C68B701C}"/>
              </a:ext>
            </a:extLst>
          </p:cNvPr>
          <p:cNvSpPr txBox="1"/>
          <p:nvPr/>
        </p:nvSpPr>
        <p:spPr>
          <a:xfrm>
            <a:off x="7337530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75D844-D316-B0C0-42BB-5BF05177F0D7}"/>
              </a:ext>
            </a:extLst>
          </p:cNvPr>
          <p:cNvSpPr txBox="1"/>
          <p:nvPr/>
        </p:nvSpPr>
        <p:spPr>
          <a:xfrm>
            <a:off x="9019668" y="4237520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(4,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5A9622-072E-EF32-6CFA-DA442C3FEFEA}"/>
              </a:ext>
            </a:extLst>
          </p:cNvPr>
          <p:cNvSpPr txBox="1"/>
          <p:nvPr/>
        </p:nvSpPr>
        <p:spPr>
          <a:xfrm>
            <a:off x="10559338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110BF7A-D40A-9C35-D312-56455BF7A289}"/>
              </a:ext>
            </a:extLst>
          </p:cNvPr>
          <p:cNvSpPr/>
          <p:nvPr/>
        </p:nvSpPr>
        <p:spPr>
          <a:xfrm>
            <a:off x="913794" y="1762125"/>
            <a:ext cx="10454754" cy="325912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94B855F-902F-2FDD-C505-F5F030704E5E}"/>
              </a:ext>
            </a:extLst>
          </p:cNvPr>
          <p:cNvCxnSpPr/>
          <p:nvPr/>
        </p:nvCxnSpPr>
        <p:spPr>
          <a:xfrm>
            <a:off x="1713982" y="3324225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8B3C84C-B20A-83DC-F853-78C3947A6CA1}"/>
              </a:ext>
            </a:extLst>
          </p:cNvPr>
          <p:cNvCxnSpPr/>
          <p:nvPr/>
        </p:nvCxnSpPr>
        <p:spPr>
          <a:xfrm>
            <a:off x="3694876" y="3324225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DDD5ADB-7D3B-8096-3E2E-A658A91911DE}"/>
              </a:ext>
            </a:extLst>
          </p:cNvPr>
          <p:cNvCxnSpPr/>
          <p:nvPr/>
        </p:nvCxnSpPr>
        <p:spPr>
          <a:xfrm>
            <a:off x="8511249" y="34099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FDC7CE7-DBED-ADBA-B928-DA0594621939}"/>
              </a:ext>
            </a:extLst>
          </p:cNvPr>
          <p:cNvCxnSpPr/>
          <p:nvPr/>
        </p:nvCxnSpPr>
        <p:spPr>
          <a:xfrm>
            <a:off x="10199168" y="339090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7" name="그림 9216">
            <a:extLst>
              <a:ext uri="{FF2B5EF4-FFF2-40B4-BE49-F238E27FC236}">
                <a16:creationId xmlns:a16="http://schemas.microsoft.com/office/drawing/2014/main" id="{A06CB6E9-29F6-DB9B-673B-41CB5F5F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981" y="2454826"/>
            <a:ext cx="341640" cy="297078"/>
          </a:xfrm>
          <a:prstGeom prst="rect">
            <a:avLst/>
          </a:prstGeom>
        </p:spPr>
      </p:pic>
      <p:pic>
        <p:nvPicPr>
          <p:cNvPr id="9223" name="그림 9222">
            <a:extLst>
              <a:ext uri="{FF2B5EF4-FFF2-40B4-BE49-F238E27FC236}">
                <a16:creationId xmlns:a16="http://schemas.microsoft.com/office/drawing/2014/main" id="{E005E7C0-EB6C-7392-B2B4-4CF94351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300" y="2436482"/>
            <a:ext cx="350550" cy="289585"/>
          </a:xfrm>
          <a:prstGeom prst="rect">
            <a:avLst/>
          </a:prstGeom>
        </p:spPr>
      </p:pic>
      <p:pic>
        <p:nvPicPr>
          <p:cNvPr id="9225" name="그림 9224">
            <a:extLst>
              <a:ext uri="{FF2B5EF4-FFF2-40B4-BE49-F238E27FC236}">
                <a16:creationId xmlns:a16="http://schemas.microsoft.com/office/drawing/2014/main" id="{F25A77D9-6CA8-EBB1-32C2-CE60ED807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341" y="2230741"/>
            <a:ext cx="320068" cy="320068"/>
          </a:xfrm>
          <a:prstGeom prst="rect">
            <a:avLst/>
          </a:prstGeom>
        </p:spPr>
      </p:pic>
      <p:pic>
        <p:nvPicPr>
          <p:cNvPr id="9231" name="그림 9230">
            <a:extLst>
              <a:ext uri="{FF2B5EF4-FFF2-40B4-BE49-F238E27FC236}">
                <a16:creationId xmlns:a16="http://schemas.microsoft.com/office/drawing/2014/main" id="{94B2481D-E98C-DA55-0841-B1DD31951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3154" y="2299322"/>
            <a:ext cx="1524132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445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98F57-6188-E26B-9396-E0B2A453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059C10-D295-2336-F094-4C2FF439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AC570A0-8E26-3D3A-06E6-2EB1689EF8DA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89D1AB-A7EA-A13D-A66C-047538B0B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795" y="1134301"/>
            <a:ext cx="6576630" cy="119644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92EDE67-B548-74E9-CEEB-1E466EB7A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795" y="2979371"/>
            <a:ext cx="7430144" cy="112785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C075147-3363-0723-E9A2-DBEB1EC07F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795" y="2697407"/>
            <a:ext cx="1524132" cy="2819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6B102B5-B19B-355D-6B62-8B58AE6BDB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4444" y="4583378"/>
            <a:ext cx="5342083" cy="14326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1A2A448-85FB-B47B-1612-8A4222CE38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795" y="4366194"/>
            <a:ext cx="1539373" cy="320068"/>
          </a:xfrm>
          <a:prstGeom prst="rect">
            <a:avLst/>
          </a:prstGeom>
        </p:spPr>
      </p:pic>
      <p:pic>
        <p:nvPicPr>
          <p:cNvPr id="9242" name="그림 9241">
            <a:extLst>
              <a:ext uri="{FF2B5EF4-FFF2-40B4-BE49-F238E27FC236}">
                <a16:creationId xmlns:a16="http://schemas.microsoft.com/office/drawing/2014/main" id="{389C9D37-088D-D449-A58A-7D41E06759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0426" y="1134301"/>
            <a:ext cx="4596800" cy="120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569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2381-3972-869E-B311-851346C8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2E03F-B582-8FE9-524B-E033E867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F2F0F76-653C-E126-EB6E-A7E4FC7B9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07623FCE-2234-98BA-A6C8-AB07B6BDF561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3E8ACEE-D388-F7CA-6A08-DE923D42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Iris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사용하여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개가 각각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개와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개로 구성된 인공지능망으로 품종을 예측하는 코드를 만들고 손실함수를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정의하고 예측의 성능지표를 토론하자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성능지표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정확도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recall, precision, f1-score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53640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5AA8-01DA-99FE-B9F8-FDA9346D7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3FD553-8569-F4F3-4413-AEE3F9C7BC6F}"/>
              </a:ext>
            </a:extLst>
          </p:cNvPr>
          <p:cNvSpPr/>
          <p:nvPr/>
        </p:nvSpPr>
        <p:spPr>
          <a:xfrm>
            <a:off x="6374534" y="3971640"/>
            <a:ext cx="5198341" cy="3958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63917-6747-19F3-9398-F49ECE7F4D17}"/>
              </a:ext>
            </a:extLst>
          </p:cNvPr>
          <p:cNvSpPr txBox="1"/>
          <p:nvPr/>
        </p:nvSpPr>
        <p:spPr>
          <a:xfrm>
            <a:off x="1336229" y="1428465"/>
            <a:ext cx="4619625" cy="501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Distance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Norm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K-nearest neighbor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Cosine Similarity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Regression &amp; Perceptron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regression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Machine Learning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Bias and Variance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Cross validation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ML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223A42-141C-AD21-851B-B1BFD94B8CE6}"/>
              </a:ext>
            </a:extLst>
          </p:cNvPr>
          <p:cNvSpPr txBox="1"/>
          <p:nvPr/>
        </p:nvSpPr>
        <p:spPr>
          <a:xfrm>
            <a:off x="1336229" y="709865"/>
            <a:ext cx="2604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DED9A-175C-7507-5A3D-BDE211FDB32E}"/>
              </a:ext>
            </a:extLst>
          </p:cNvPr>
          <p:cNvSpPr txBox="1"/>
          <p:nvPr/>
        </p:nvSpPr>
        <p:spPr>
          <a:xfrm>
            <a:off x="7029450" y="1428465"/>
            <a:ext cx="4619625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Neural Network 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Shallow/Deep learning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Matrix formulation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Forward/backward propagation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FNN, CNN, RNN, Transformer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Dimension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Reduction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Principal Component Analysis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Eigen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value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&amp;</a:t>
            </a:r>
            <a:r>
              <a:rPr lang="ko-KR" altLang="en-US" dirty="0">
                <a:latin typeface="MS PGothic" panose="020B0600070205080204" pitchFamily="34" charset="-128"/>
                <a:ea typeface="맑은 고딕 Semilight" panose="020B0502040204020203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vectors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SVD &amp; Topic Model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Manifold Learning</a:t>
            </a:r>
          </a:p>
        </p:txBody>
      </p:sp>
    </p:spTree>
    <p:extLst>
      <p:ext uri="{BB962C8B-B14F-4D97-AF65-F5344CB8AC3E}">
        <p14:creationId xmlns:p14="http://schemas.microsoft.com/office/powerpoint/2010/main" val="41344871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DE82-E761-815D-D827-048FE401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71A663-E6E2-41F2-752E-AF07B967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47078DC6-E5BB-C5BD-550D-2D5CFDED855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B8B203A-CA07-6F79-6C40-BA9154646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가 아무리 많아도 대부분의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무의미한 경우가 많음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아라비아 숫자의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75%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이상을 지워도 수자를 읽을 수 있음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4D1D46-BBF5-8CEB-9866-F0062776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68" y="3088968"/>
            <a:ext cx="6957663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227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BD3A-EE14-2467-AD61-91324A7F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BCDE5-4265-7787-19C6-E72CD7BBF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EC6C347-2434-8363-FDBC-4993208CB100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Undestanding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03D835E-99D8-D1C5-C9A7-2D439DD85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PCA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주성분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분석을 시각화로 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9359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B62D-C56C-8C8A-D635-BDAE2165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A8DC34F-90C7-F8C5-68DD-229C5975A18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(1/3)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1FDA13A-3F77-01E4-A0CC-B5119286E9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794" y="1070316"/>
                <a:ext cx="9820881" cy="87283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표준 기저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e</m:t>
                        </m:r>
                      </m:e>
                      <m:sub>
                        <m: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cap="none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 cap="none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e</m:t>
                        </m:r>
                      </m:e>
                      <m:sub>
                        <m: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행렬에 의해 정확히 행렬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</a:t>
                </a:r>
                <a:r>
                  <a:rPr lang="ko-KR" altLang="en-US" sz="21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열벡터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(2,3), (1,4)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선형변화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매핑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되고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 정사각형이 평행사변형으로 변환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1FDA13A-3F77-01E4-A0CC-B5119286E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94" y="1070316"/>
                <a:ext cx="9820881" cy="872839"/>
              </a:xfrm>
              <a:prstGeom prst="rect">
                <a:avLst/>
              </a:prstGeom>
              <a:blipFill>
                <a:blip r:embed="rId2"/>
                <a:stretch>
                  <a:fillRect l="-497"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2D810127-F36F-F750-36B2-F991D65C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7B2FFB-229C-9856-0910-69A35DE40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676" y="2069849"/>
            <a:ext cx="9033577" cy="44128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6F89DE-B4DF-E058-CF78-380106D89E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67225" y="3101805"/>
            <a:ext cx="2135194" cy="17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863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E58B-E027-B2B0-B8EB-75A34B70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F2E9924A-0166-2BF4-B339-E2DEBED57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098" y="2129648"/>
            <a:ext cx="8769352" cy="435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728BFC4-53E5-BC11-044B-4B5C9539EE4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(2/3)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C6696286-0EB0-4D93-69FB-A9C56117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A56CA-75FB-0E83-0E74-06E43B60B916}"/>
              </a:ext>
            </a:extLst>
          </p:cNvPr>
          <p:cNvSpPr txBox="1"/>
          <p:nvPr/>
        </p:nvSpPr>
        <p:spPr>
          <a:xfrm>
            <a:off x="1641903" y="3360567"/>
            <a:ext cx="3596848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mean = [2, 1]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cov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 = [[0.5, 0], [0, 0.2]] </a:t>
            </a:r>
            <a:endParaRPr lang="ko-KR" altLang="en-US" sz="1200" b="0" dirty="0">
              <a:effectLst/>
              <a:latin typeface="Aptos Narrow" panose="020B0004020202020204" pitchFamily="34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data = </a:t>
            </a: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np.random.multivariate_normal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(mean, </a:t>
            </a: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cov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, 300)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76CE5FD-59F3-5258-A057-D369D8685A4C}"/>
              </a:ext>
            </a:extLst>
          </p:cNvPr>
          <p:cNvSpPr txBox="1">
            <a:spLocks/>
          </p:cNvSpPr>
          <p:nvPr/>
        </p:nvSpPr>
        <p:spPr>
          <a:xfrm>
            <a:off x="913794" y="1070315"/>
            <a:ext cx="10706705" cy="83195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분포를 생성하고 행렬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((2,1), (3,4))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선형변환하면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새로운 기저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(2,3)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x1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x2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선형 합으로 데이터를 선형변환 한 것이다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E1B69E-A794-FFDD-E298-D83ED5A2D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362" y="2084612"/>
            <a:ext cx="2135194" cy="17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093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25DC-DE68-65F6-09EA-36647289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74D5D1B-942F-2499-638A-702F6C0E78B3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(3/3)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6A79D7C4-9DAF-56C8-6022-B24CFD9C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F1A5AA8-2CC4-07C0-5F12-95F244FEE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77" y="2571239"/>
            <a:ext cx="5192932" cy="331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F6B27DAA-3882-D126-BE42-5B74772B0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17" y="2123291"/>
            <a:ext cx="5192932" cy="372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71733FB-6BFB-1EB3-E879-87A8BBB4946D}"/>
              </a:ext>
            </a:extLst>
          </p:cNvPr>
          <p:cNvSpPr txBox="1">
            <a:spLocks/>
          </p:cNvSpPr>
          <p:nvPr/>
        </p:nvSpPr>
        <p:spPr>
          <a:xfrm>
            <a:off x="913794" y="1070315"/>
            <a:ext cx="10706705" cy="11966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분포를 생성하고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행렬로 선형변환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매핑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고유벡터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(Eigen vector)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주성분임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74587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5A05-AD8A-4312-2266-14EB3FF7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EC2804F-41A4-5101-2BDC-FC966F15EAE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4" y="1614619"/>
            <a:ext cx="5774697" cy="402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656C6E6-6881-C1B3-F43B-81E4D1656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4" y="1378837"/>
            <a:ext cx="4210051" cy="426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3F55857-3EC6-8FE3-FB8E-AA2D6945375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Eigenvalues_and_eigenvectors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020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4DCC-2219-0BAB-D637-2653B934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99486-55C8-1E83-C07C-51A8D03A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D8DB989-8DE9-D0DE-7F4B-F927980EA39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Combination of Eigen Faces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D7AAC7A-9724-5ED3-18A4-CC4F34D94D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70315"/>
                <a:ext cx="10706705" cy="119663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압축된 얼굴 이미지는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(</m:t>
                        </m:r>
                        <m: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𝒙</m:t>
                        </m:r>
                      </m:e>
                      <m:sub>
                        <m: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𝒊</m:t>
                        </m:r>
                      </m:sub>
                    </m:sSub>
                    <m:r>
                      <a:rPr lang="en-US" altLang="ko-KR" sz="2100" b="1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가중치 벡터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(Weight Vector)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원본 얼굴을 똑같이 재현하기 위해 어떤 주성분 얼굴들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(Eigen Faces)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각각 얼마나 필요한 지를 나타내는 계수들의 집합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(Linear Combination of Eigen Faces)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D7AAC7A-9724-5ED3-18A4-CC4F34D94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70315"/>
                <a:ext cx="10706705" cy="1196635"/>
              </a:xfrm>
              <a:blipFill>
                <a:blip r:embed="rId2"/>
                <a:stretch>
                  <a:fillRect l="-456" r="-114" b="-76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C3DF88BB-1F83-EAAD-283E-E273CA435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8496" y="2692308"/>
            <a:ext cx="901235" cy="152464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9850887-FA84-6932-78C8-28A48DF0DD23}"/>
              </a:ext>
            </a:extLst>
          </p:cNvPr>
          <p:cNvGrpSpPr/>
          <p:nvPr/>
        </p:nvGrpSpPr>
        <p:grpSpPr>
          <a:xfrm>
            <a:off x="2082717" y="2527857"/>
            <a:ext cx="7366382" cy="3873529"/>
            <a:chOff x="1606168" y="2181196"/>
            <a:chExt cx="7928357" cy="4038740"/>
          </a:xfrm>
        </p:grpSpPr>
        <p:pic>
          <p:nvPicPr>
            <p:cNvPr id="12290" name="Picture 2" descr="Linear Combination of EigenFaces">
              <a:extLst>
                <a:ext uri="{FF2B5EF4-FFF2-40B4-BE49-F238E27FC236}">
                  <a16:creationId xmlns:a16="http://schemas.microsoft.com/office/drawing/2014/main" id="{609C152E-5A52-54CC-DF19-EFAF2DC26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6168" y="2524126"/>
              <a:ext cx="7928357" cy="3695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C0D49F6-0D9F-05FF-14AF-A84B40F5D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6168" y="2181196"/>
              <a:ext cx="7928357" cy="3429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F849CC-71C0-4D63-6954-F9077A3733FD}"/>
                    </a:ext>
                  </a:extLst>
                </p:cNvPr>
                <p:cNvSpPr txBox="1"/>
                <p:nvPr/>
              </p:nvSpPr>
              <p:spPr>
                <a:xfrm>
                  <a:off x="2275321" y="2568761"/>
                  <a:ext cx="83800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F849CC-71C0-4D63-6954-F9077A373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321" y="2568761"/>
                  <a:ext cx="838008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35602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FE12-CADE-3CD4-F5EB-2CA8EA3C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D9F478-37B9-890A-4D8D-08A58DE6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BF502A4-1BEC-FF56-E8CB-9AC07C59264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137CB81-E197-E6C6-6522-135D1F52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475480-0AFE-9953-6938-DD8B251F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55" y="1925794"/>
            <a:ext cx="8307923" cy="432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244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C895-B2D4-20A7-8501-9B8F151C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0E741-02BB-2D6E-FC7F-6ED5637F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7572FB77-606D-3A2F-1455-79DD3599AE0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D2379D-B916-4C85-D178-E45DB6CB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총변동량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E4CED65-DA9B-3A17-1FD6-A7F2D2F1784C}"/>
              </a:ext>
            </a:extLst>
          </p:cNvPr>
          <p:cNvGrpSpPr/>
          <p:nvPr/>
        </p:nvGrpSpPr>
        <p:grpSpPr>
          <a:xfrm>
            <a:off x="1519921" y="1876425"/>
            <a:ext cx="7024004" cy="4703452"/>
            <a:chOff x="1519921" y="1815282"/>
            <a:chExt cx="6947803" cy="476459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F7673C0-666D-0DFD-DB28-36C8AB20A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9921" y="1815282"/>
              <a:ext cx="6947803" cy="476322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C258CFA-D46D-DD63-F476-939B24CF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3510" y="6412222"/>
              <a:ext cx="342930" cy="167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23222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354C-9E3B-A472-9C1F-80823F5C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189F65D-167B-B5EE-E8D7-C2A4BEF2742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6D2BF00-A385-9818-F1A0-AF5C00351ECA}"/>
              </a:ext>
            </a:extLst>
          </p:cNvPr>
          <p:cNvSpPr txBox="1">
            <a:spLocks/>
          </p:cNvSpPr>
          <p:nvPr/>
        </p:nvSpPr>
        <p:spPr>
          <a:xfrm>
            <a:off x="913794" y="1070316"/>
            <a:ext cx="10706705" cy="12918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 코드를 다운받아 주성분분석을 실습한다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9B13165B-37AB-7A55-4979-8CF6B4BF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24580" name="Picture 4" descr="Book Cover">
            <a:extLst>
              <a:ext uri="{FF2B5EF4-FFF2-40B4-BE49-F238E27FC236}">
                <a16:creationId xmlns:a16="http://schemas.microsoft.com/office/drawing/2014/main" id="{30F49467-6593-5363-0398-441CC38F4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2362200"/>
            <a:ext cx="2965057" cy="391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2E23B2-6EEA-CE8D-394E-D03D3C7E3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123" y="2281674"/>
            <a:ext cx="3097535" cy="375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722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900" dirty="0"/>
              <a:t>Machine Learning(2/2)</a:t>
            </a:r>
            <a:endParaRPr lang="ko-KR" altLang="en-US" sz="29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11BA0-9E12-0D58-B113-24EA975B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27464"/>
            <a:ext cx="9998046" cy="58479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altLang="ko-KR" sz="2200" dirty="0">
                <a:effectLst/>
              </a:rPr>
              <a:t>2. Singular Value Decomposition (SVD):</a:t>
            </a:r>
          </a:p>
          <a:p>
            <a:pPr marL="36900" indent="0">
              <a:buNone/>
            </a:pPr>
            <a:endParaRPr lang="en-US" altLang="ko-KR" sz="2200" dirty="0">
              <a:effectLst/>
            </a:endParaRPr>
          </a:p>
          <a:p>
            <a:pPr marL="36900" indent="0" algn="l">
              <a:buNone/>
            </a:pPr>
            <a:endParaRPr lang="fr-FR" altLang="ko-KR" sz="1300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6ED8A4-C208-67D0-B099-F24B263F0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033" y="1934201"/>
            <a:ext cx="5191182" cy="21140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F1127DD-44D7-255B-8A79-1A234EEBC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033" y="4330588"/>
            <a:ext cx="5191182" cy="18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676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Optimization(1/2)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083FF-10D2-2ABC-E511-20F9827664E0}"/>
              </a:ext>
            </a:extLst>
          </p:cNvPr>
          <p:cNvSpPr txBox="1"/>
          <p:nvPr/>
        </p:nvSpPr>
        <p:spPr>
          <a:xfrm>
            <a:off x="6949440" y="1647904"/>
            <a:ext cx="524256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from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scipy.optimize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linprog</a:t>
            </a:r>
            <a:endParaRPr lang="en-US" altLang="ko-KR" sz="13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Objective function coefficients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c = [-3, -2]  # Minimize -3x1 - 2x2 is equivalent to maximizing 3x1 + 2x2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Inequality constraints matrix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 = [[1, 1], [2, 1], [-1, 0]]  # Note the change in the third constraint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Inequality constraints vector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b = [100, 100, -40]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Bounds for variables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x0_bounds = (0, None)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x1_bounds = (0, None)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Solve linear programming problem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result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linprog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(c,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A_ub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=A,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b_ub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=b, bounds=[x0_bounds, x1_bounds], method='highs')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Display the results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Negate the result because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linprog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minimizes by default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print('Optimal value (max z):', -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result.fun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  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print('Optimal point (x1, x2):',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result.x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11BA0-9E12-0D58-B113-24EA975B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27464"/>
            <a:ext cx="8660511" cy="58479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altLang="ko-KR" sz="2200" dirty="0">
                <a:effectLst/>
              </a:rPr>
              <a:t>1. Linear Programing :</a:t>
            </a:r>
          </a:p>
          <a:p>
            <a:pPr marL="36900" indent="0" algn="l">
              <a:buNone/>
            </a:pPr>
            <a:endParaRPr lang="fr-FR" altLang="ko-KR" sz="1300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25234C1-3DF1-C42D-7E13-AF831521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01" y="2327162"/>
            <a:ext cx="3887267" cy="33679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C9AFD41-360D-DB5A-47E6-646A22156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74" y="1863603"/>
            <a:ext cx="1719806" cy="122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27589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4470</TotalTime>
  <Words>3493</Words>
  <Application>Microsoft Office PowerPoint</Application>
  <PresentationFormat>와이드스크린</PresentationFormat>
  <Paragraphs>512</Paragraphs>
  <Slides>60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77" baseType="lpstr">
      <vt:lpstr>MS PGothic</vt:lpstr>
      <vt:lpstr>NanumGothicExtraBold</vt:lpstr>
      <vt:lpstr>나눔고딕</vt:lpstr>
      <vt:lpstr>맑은 고딕</vt:lpstr>
      <vt:lpstr>맑은 고딕 Semilight</vt:lpstr>
      <vt:lpstr>Batang</vt:lpstr>
      <vt:lpstr>한컴 말랑말랑 Bold</vt:lpstr>
      <vt:lpstr>ADLaM Display</vt:lpstr>
      <vt:lpstr>Aptos Narrow</vt:lpstr>
      <vt:lpstr>Arial</vt:lpstr>
      <vt:lpstr>Arial Narrow</vt:lpstr>
      <vt:lpstr>Cambria Math</vt:lpstr>
      <vt:lpstr>Open Sans</vt:lpstr>
      <vt:lpstr>Times New Roman</vt:lpstr>
      <vt:lpstr>Tw Cen MT</vt:lpstr>
      <vt:lpstr>Wingdings</vt:lpstr>
      <vt:lpstr>물방울</vt:lpstr>
      <vt:lpstr>수학의 응용 - 머신러닝 -</vt:lpstr>
      <vt:lpstr>PowerPoint 프레젠테이션</vt:lpstr>
      <vt:lpstr>Norm</vt:lpstr>
      <vt:lpstr>1-Norm</vt:lpstr>
      <vt:lpstr>2-Norm</vt:lpstr>
      <vt:lpstr>Visualization of L1, L2 Norms</vt:lpstr>
      <vt:lpstr>Nearest Neighbors</vt:lpstr>
      <vt:lpstr>Hands-on Nearest neighbors</vt:lpstr>
      <vt:lpstr>Cosine similarity</vt:lpstr>
      <vt:lpstr>Hands-on Clustering</vt:lpstr>
      <vt:lpstr>PowerPoint 프레젠테이션</vt:lpstr>
      <vt:lpstr>Linear Regression</vt:lpstr>
      <vt:lpstr>MSE(Mean Squared Error)</vt:lpstr>
      <vt:lpstr>Matrix Formulation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Machine Learning(2/2)</vt:lpstr>
      <vt:lpstr>Optimization(1/2)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53</cp:revision>
  <dcterms:created xsi:type="dcterms:W3CDTF">2026-03-09T22:59:08Z</dcterms:created>
  <dcterms:modified xsi:type="dcterms:W3CDTF">2026-03-30T00:58:10Z</dcterms:modified>
</cp:coreProperties>
</file>