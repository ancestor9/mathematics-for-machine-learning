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60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888" r:id="rId12"/>
    <p:sldId id="847" r:id="rId13"/>
    <p:sldId id="870" r:id="rId14"/>
    <p:sldId id="871" r:id="rId15"/>
    <p:sldId id="848" r:id="rId16"/>
    <p:sldId id="873" r:id="rId17"/>
    <p:sldId id="874" r:id="rId18"/>
    <p:sldId id="845" r:id="rId19"/>
    <p:sldId id="872" r:id="rId20"/>
    <p:sldId id="851" r:id="rId21"/>
    <p:sldId id="852" r:id="rId22"/>
    <p:sldId id="846" r:id="rId23"/>
    <p:sldId id="902" r:id="rId24"/>
    <p:sldId id="854" r:id="rId25"/>
    <p:sldId id="857" r:id="rId26"/>
    <p:sldId id="858" r:id="rId27"/>
    <p:sldId id="856" r:id="rId28"/>
    <p:sldId id="859" r:id="rId29"/>
    <p:sldId id="864" r:id="rId30"/>
    <p:sldId id="862" r:id="rId31"/>
    <p:sldId id="866" r:id="rId32"/>
    <p:sldId id="867" r:id="rId33"/>
    <p:sldId id="855" r:id="rId34"/>
    <p:sldId id="868" r:id="rId35"/>
    <p:sldId id="865" r:id="rId36"/>
    <p:sldId id="878" r:id="rId37"/>
    <p:sldId id="903" r:id="rId38"/>
    <p:sldId id="876" r:id="rId39"/>
    <p:sldId id="879" r:id="rId40"/>
    <p:sldId id="880" r:id="rId41"/>
    <p:sldId id="881" r:id="rId42"/>
    <p:sldId id="883" r:id="rId43"/>
    <p:sldId id="882" r:id="rId44"/>
    <p:sldId id="884" r:id="rId45"/>
    <p:sldId id="886" r:id="rId46"/>
    <p:sldId id="887" r:id="rId47"/>
    <p:sldId id="885" r:id="rId48"/>
    <p:sldId id="904" r:id="rId49"/>
    <p:sldId id="891" r:id="rId50"/>
    <p:sldId id="899" r:id="rId51"/>
    <p:sldId id="893" r:id="rId52"/>
    <p:sldId id="898" r:id="rId53"/>
    <p:sldId id="897" r:id="rId54"/>
    <p:sldId id="267" r:id="rId55"/>
    <p:sldId id="892" r:id="rId56"/>
    <p:sldId id="900" r:id="rId57"/>
    <p:sldId id="833" r:id="rId58"/>
    <p:sldId id="830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hyperlink" Target="https://mlu-explain.github.io/linear-regression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.png"/><Relationship Id="rId5" Type="http://schemas.microsoft.com/office/2007/relationships/hdphoto" Target="../media/hdphoto1.wdp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image" Target="../media/image36.gif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bias-variance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mlu-explain.github.io/cross-validation/" TargetMode="External"/><Relationship Id="rId4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train-test-validation/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hyperlink" Target="https://mlu-explain.github.io/decision-tree/" TargetMode="Externa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en.wikipedia.org/wiki/Condorcet%27s_jury_theorem" TargetMode="Externa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hyperlink" Target="https://mlu-explain.github.io/random-forest/" TargetMode="Externa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://vision.stanford.edu/teaching/cs231n-demos/knn/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overview/basics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6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5.jpeg"/><Relationship Id="rId5" Type="http://schemas.openxmlformats.org/officeDocument/2006/relationships/image" Target="../media/image64.png"/><Relationship Id="rId4" Type="http://schemas.openxmlformats.org/officeDocument/2006/relationships/hyperlink" Target="https://en.wikipedia.org/wiki/Sign_function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101ai.net/deeplearn/activation" TargetMode="Externa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image" Target="../media/image69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19" Type="http://schemas.openxmlformats.org/officeDocument/2006/relationships/image" Target="../media/image86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98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5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97.png"/><Relationship Id="rId4" Type="http://schemas.openxmlformats.org/officeDocument/2006/relationships/image" Target="../media/image94.png"/><Relationship Id="rId9" Type="http://schemas.microsoft.com/office/2007/relationships/hdphoto" Target="../media/hdphoto6.wdp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gif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b="1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52F10-46DD-AB0A-4567-88F5C32E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113B510-268E-1741-F69E-DD20DF0966CE}"/>
              </a:ext>
            </a:extLst>
          </p:cNvPr>
          <p:cNvSpPr/>
          <p:nvPr/>
        </p:nvSpPr>
        <p:spPr>
          <a:xfrm>
            <a:off x="678584" y="3133724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DEE11C-78DB-EF54-2187-E44776A4528C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7D48E5-F19F-3FBA-73FB-7898B413A5DC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63AA07-16E6-4E56-2460-ED5468FC6BA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497278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MSE(Mean Squared Error)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248301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253287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329815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488562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883955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883955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3735068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091483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Formulation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453514"/>
            <a:ext cx="6624926" cy="19397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2210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866" y="1747802"/>
            <a:ext cx="4859685" cy="31797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2337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Descending Mount Everest(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Errorest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856B-19EA-218B-C857-CE05CEAF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20ECD5B-55BC-704B-D283-E742A9F6F2A8}"/>
              </a:ext>
            </a:extLst>
          </p:cNvPr>
          <p:cNvSpPr/>
          <p:nvPr/>
        </p:nvSpPr>
        <p:spPr>
          <a:xfrm>
            <a:off x="678584" y="48196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B3C17D-ADD8-C635-4143-16EF05799BAA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59D152-0E4E-68A6-9C7D-B18896B7B299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07ED4-21E1-A1D7-80A5-42FC103573AA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8227450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9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3FEA7-014F-6E03-6706-0C4078EAF29F}"/>
              </a:ext>
            </a:extLst>
          </p:cNvPr>
          <p:cNvSpPr txBox="1"/>
          <p:nvPr/>
        </p:nvSpPr>
        <p:spPr>
          <a:xfrm>
            <a:off x="6888481" y="101192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bias-variance/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/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200" b="0" i="1" cap="none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부터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 모델별로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5-fold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사용하여 훈련데이터로 학습하여 검증데이터 예측결과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평균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Squared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Error)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Average CV MSE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가장 낮은 다항식모델은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모델로 결정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다항식모델을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Hold-out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데이터로 예측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  <a:blipFill>
                <a:blip r:embed="rId2"/>
                <a:stretch>
                  <a:fillRect l="-3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12" y="3265569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0" y="3270032"/>
            <a:ext cx="4033520" cy="18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9605543" y="3266473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0A2D1-C218-05CA-8FA9-4AEC8910906B}"/>
              </a:ext>
            </a:extLst>
          </p:cNvPr>
          <p:cNvSpPr txBox="1"/>
          <p:nvPr/>
        </p:nvSpPr>
        <p:spPr>
          <a:xfrm>
            <a:off x="528321" y="2795924"/>
            <a:ext cx="403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cross-validation/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001" y="4039324"/>
            <a:ext cx="8054649" cy="209804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8566281" y="5639246"/>
            <a:ext cx="1400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927D7-6AAF-8E39-7939-23C8DE5ECD57}"/>
              </a:ext>
            </a:extLst>
          </p:cNvPr>
          <p:cNvSpPr txBox="1"/>
          <p:nvPr/>
        </p:nvSpPr>
        <p:spPr>
          <a:xfrm>
            <a:off x="1999240" y="3647440"/>
            <a:ext cx="375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train-test-validation/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946305" y="2531370"/>
            <a:ext cx="7235795" cy="2896113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2531370"/>
            <a:ext cx="2287025" cy="1731604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4B538-8014-D56E-3AF2-AA7E15A6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B672D-5034-9EB6-03BD-E97919B6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6BCA8CE-1984-4263-EE4E-D68A539462B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B0E83C6-CA8D-D9FF-025D-C229BAF9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solidFill>
                  <a:schemeClr val="accent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decision-tree/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 descr="푸른 하늘 아래 녹색 잎 나무">
            <a:extLst>
              <a:ext uri="{FF2B5EF4-FFF2-40B4-BE49-F238E27FC236}">
                <a16:creationId xmlns:a16="http://schemas.microsoft.com/office/drawing/2014/main" id="{09CB8783-407C-7E25-651D-AE5EC7243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1" y="2810461"/>
            <a:ext cx="46291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6039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98D7-464D-06E0-E3A9-D0F7DA7D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9FA93F-3599-813D-595A-0FA8AB19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5714B33-1291-40C0-87F0-DE9CD0764C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Wisdom of the Crowd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009A463-9FCF-3525-1650-482A97208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188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1785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프랑스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콩도르세의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배심원정리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Condorcet's jury theorem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따르면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근소하게 올바른 판단력을 가진 배심원이 모여서 독립적으로 판결하게 되면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결국 항상 올바른 판단을 내린다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것이다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배심원정리는 앙상블모델을 가장 잘 설명해주고 있다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Randomness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=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Justice,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국민재판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D322E1-9BA9-0C88-4211-96B32C7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066" y="2790530"/>
            <a:ext cx="5372134" cy="2838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C225B5-AEB2-7110-3011-8B048D776CAA}"/>
              </a:ext>
            </a:extLst>
          </p:cNvPr>
          <p:cNvSpPr txBox="1"/>
          <p:nvPr/>
        </p:nvSpPr>
        <p:spPr>
          <a:xfrm>
            <a:off x="1042572" y="2904829"/>
            <a:ext cx="4948653" cy="1611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53%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올바른 판단을 하는 배심원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명이 모여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재판 판결은 재판의 회수가 많아질수록 무작위로 판단하는 ’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50%‘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항상 올바른 결정을 한다는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사실을 파이썬 코드로 만들고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46070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random-forest/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푸른 나무의 항공 사진">
            <a:extLst>
              <a:ext uri="{FF2B5EF4-FFF2-40B4-BE49-F238E27FC236}">
                <a16:creationId xmlns:a16="http://schemas.microsoft.com/office/drawing/2014/main" id="{12DF00AA-B10C-C1B8-1183-1D9FA1B80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718166"/>
            <a:ext cx="4994808" cy="3318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080F7-D07E-7187-40C7-EB970C62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83E2C-5105-7708-842D-6776A1F1A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6522E9-7406-138D-A270-70260FD2C73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9E6C6A-E317-6392-884C-D66A8506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42" y="1331475"/>
            <a:ext cx="7669400" cy="441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25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4B199-EB4C-06C5-9EC8-F269DF89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3429F-1589-22DE-EF0F-012D9634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CEB1B5-A2A0-F626-FF2A-B63F7225799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K-nearest neighbors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0FC9930-32A4-A49A-3146-A4E647D3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KNN/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FC78F8-E7C2-CE49-322E-395438848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98" y="2579312"/>
            <a:ext cx="4867528" cy="36395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ED95102-DEB0-1D80-1997-F6D758920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899" y="3409102"/>
            <a:ext cx="1180047" cy="12403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BB6328C-1E8B-51C2-E7A2-49461BC5D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899" y="5025366"/>
            <a:ext cx="2098607" cy="119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141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DDC7B-BD5C-3290-556E-42CA1AB18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248025C-D1D4-622A-2ACB-AAF8CC0D4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200" y="1737538"/>
            <a:ext cx="8163686" cy="484718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EF507-0BC0-BFAE-51D4-465B7EDD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918A77C-3E4F-2657-B205-806650CF337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Basic Concepts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4CB262E-C5B7-1A57-7642-965919D38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103436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basic concepts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사이트에서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Data Scaling, Linear Regression, Loss and Metric, Stochastic gradient descent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자습하라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3696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F72B8-7FFD-4E19-8B6C-D002E1ADD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A006566A-DD82-69DA-638D-DF707BA31AA6}"/>
              </a:ext>
            </a:extLst>
          </p:cNvPr>
          <p:cNvSpPr/>
          <p:nvPr/>
        </p:nvSpPr>
        <p:spPr>
          <a:xfrm>
            <a:off x="6374534" y="1485615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3FB53-BC88-47B7-3491-FAAD945F3932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15470-3572-70C2-F747-2A86BD210E5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94AA1-7E73-197E-8256-AE774F51778F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7260740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2100" cap="none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2100" cap="none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2100" cap="none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2100" cap="none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4"/>
                <a:ext cx="10706705" cy="1886245"/>
              </a:xfrm>
              <a:blipFill>
                <a:blip r:embed="rId2"/>
                <a:stretch>
                  <a:fillRect l="-569" r="-3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25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8561243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3706" y="956441"/>
            <a:ext cx="4401339" cy="5762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39" y="90552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748841" y="725608"/>
            <a:ext cx="2376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C61B7A09-B3CA-0DFD-7409-53A2ABD4F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31" y="1497393"/>
            <a:ext cx="1995078" cy="444203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1034365" cy="7467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474" y="1010883"/>
            <a:ext cx="7087994" cy="53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76644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123204"/>
              </p:ext>
            </p:extLst>
          </p:nvPr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248760"/>
              </p:ext>
            </p:extLst>
          </p:nvPr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665914"/>
              </p:ext>
            </p:extLst>
          </p:nvPr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339763"/>
              </p:ext>
            </p:extLst>
          </p:nvPr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046355"/>
              </p:ext>
            </p:extLst>
          </p:nvPr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13680"/>
              </p:ext>
            </p:extLst>
          </p:nvPr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488906"/>
              </p:ext>
            </p:extLst>
          </p:nvPr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C570A0-8E26-3D3A-06E6-2EB1689EF8D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1134301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979371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697407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4444" y="4583378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4366194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0426" y="1134301"/>
            <a:ext cx="4596800" cy="120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05AA8-01DA-99FE-B9F8-FDA9346D7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E3FD553-8569-F4F3-4413-AEE3F9C7BC6F}"/>
              </a:ext>
            </a:extLst>
          </p:cNvPr>
          <p:cNvSpPr/>
          <p:nvPr/>
        </p:nvSpPr>
        <p:spPr>
          <a:xfrm>
            <a:off x="6374534" y="3971640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063917-6747-19F3-9398-F49ECE7F4D17}"/>
              </a:ext>
            </a:extLst>
          </p:cNvPr>
          <p:cNvSpPr txBox="1"/>
          <p:nvPr/>
        </p:nvSpPr>
        <p:spPr>
          <a:xfrm>
            <a:off x="1336229" y="1428465"/>
            <a:ext cx="4619625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223A42-141C-AD21-851B-B1BFD94B8CE6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6DED9A-175C-7507-5A3D-BDE211FDB32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41344871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9ED0766B-68FA-D620-3E69-E41FEAE0C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092" y="2909888"/>
            <a:ext cx="5971172" cy="204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Optimization(1/2)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27589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4458</TotalTime>
  <Words>3478</Words>
  <Application>Microsoft Office PowerPoint</Application>
  <PresentationFormat>와이드스크린</PresentationFormat>
  <Paragraphs>506</Paragraphs>
  <Slides>58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75" baseType="lpstr">
      <vt:lpstr>MS PGothic</vt:lpstr>
      <vt:lpstr>NanumGothicExtraBold</vt:lpstr>
      <vt:lpstr>나눔고딕</vt:lpstr>
      <vt:lpstr>맑은 고딕</vt:lpstr>
      <vt:lpstr>맑은 고딕 Semilight</vt:lpstr>
      <vt:lpstr>바탕</vt:lpstr>
      <vt:lpstr>한컴 말랑말랑 Bold</vt:lpstr>
      <vt:lpstr>ADLaM Display</vt:lpstr>
      <vt:lpstr>Aptos Narrow</vt:lpstr>
      <vt:lpstr>Arial</vt:lpstr>
      <vt:lpstr>Arial Narrow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PowerPoint 프레젠테이션</vt:lpstr>
      <vt:lpstr>Linear Regression</vt:lpstr>
      <vt:lpstr>MSE(Mean Squared Error)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Machine Learning(2/2)</vt:lpstr>
      <vt:lpstr>Optimization(1/2)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50</cp:revision>
  <dcterms:created xsi:type="dcterms:W3CDTF">2026-03-09T22:59:08Z</dcterms:created>
  <dcterms:modified xsi:type="dcterms:W3CDTF">2026-03-29T15:22:48Z</dcterms:modified>
</cp:coreProperties>
</file>