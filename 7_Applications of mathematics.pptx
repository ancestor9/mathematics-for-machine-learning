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1"/>
  </p:notesMasterIdLst>
  <p:sldIdLst>
    <p:sldId id="256" r:id="rId2"/>
    <p:sldId id="836" r:id="rId3"/>
    <p:sldId id="824" r:id="rId4"/>
    <p:sldId id="825" r:id="rId5"/>
    <p:sldId id="826" r:id="rId6"/>
    <p:sldId id="822" r:id="rId7"/>
    <p:sldId id="838" r:id="rId8"/>
    <p:sldId id="842" r:id="rId9"/>
    <p:sldId id="841" r:id="rId10"/>
    <p:sldId id="840" r:id="rId11"/>
    <p:sldId id="843" r:id="rId12"/>
    <p:sldId id="847" r:id="rId13"/>
    <p:sldId id="845" r:id="rId14"/>
    <p:sldId id="846" r:id="rId15"/>
    <p:sldId id="844" r:id="rId16"/>
    <p:sldId id="829" r:id="rId17"/>
    <p:sldId id="830" r:id="rId18"/>
    <p:sldId id="832" r:id="rId19"/>
    <p:sldId id="831" r:id="rId20"/>
    <p:sldId id="833" r:id="rId21"/>
    <p:sldId id="820" r:id="rId22"/>
    <p:sldId id="834" r:id="rId23"/>
    <p:sldId id="282" r:id="rId24"/>
    <p:sldId id="284" r:id="rId25"/>
    <p:sldId id="264" r:id="rId26"/>
    <p:sldId id="261" r:id="rId27"/>
    <p:sldId id="262" r:id="rId28"/>
    <p:sldId id="267" r:id="rId29"/>
    <p:sldId id="839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90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12" name="날짜 개체 틀 3">
            <a:extLst>
              <a:ext uri="{FF2B5EF4-FFF2-40B4-BE49-F238E27FC236}">
                <a16:creationId xmlns:a16="http://schemas.microsoft.com/office/drawing/2014/main" id="{E02622F7-B412-D3AE-34CC-44CC99AE3E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338113"/>
            <a:ext cx="2743200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28A3BAFB-7A40-4072-A7FD-FB0EDC55F13F}" type="datetime1">
              <a:rPr lang="ko-KR" altLang="en-US" smtClean="0"/>
              <a:t>2026-03-28</a:t>
            </a:fld>
            <a:endParaRPr lang="en-US" dirty="0"/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21086B2D-0BBF-7448-422F-0EAD7808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5" y="6338113"/>
            <a:ext cx="667286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4" name="슬라이드 번호 개체 틀 5">
            <a:extLst>
              <a:ext uri="{FF2B5EF4-FFF2-40B4-BE49-F238E27FC236}">
                <a16:creationId xmlns:a16="http://schemas.microsoft.com/office/drawing/2014/main" id="{F2F60889-8102-9290-1B7C-A4994E8FC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38113"/>
            <a:ext cx="75354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3/28/2026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scikit-learn.org/stable/modules/neighbors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dnuggets.com/2020/11/most-popular-distance-metrics-knn.htm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ighbors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cosine_similarity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cosine_similarity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sgd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6.png"/><Relationship Id="rId4" Type="http://schemas.openxmlformats.org/officeDocument/2006/relationships/hyperlink" Target="https://scikit-learn.org/stable/modules/generated/sklearn.linear_model.SGDRegressor.html#sklearn.linear_model.SGDRegressor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en.wikipedia.org/wiki/Eigenvalues_and_eigenvecto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gif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6229" y="1428465"/>
            <a:ext cx="5512246" cy="4890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 &amp; Optimization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  <a:endParaRPr lang="en-US" altLang="ko-KR" sz="1600" b="1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Naive Bayes classifier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Random Forest &amp; Bootstrap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C6C5D6-B9BA-2997-9AB0-664100367C7E}"/>
              </a:ext>
            </a:extLst>
          </p:cNvPr>
          <p:cNvSpPr txBox="1"/>
          <p:nvPr/>
        </p:nvSpPr>
        <p:spPr>
          <a:xfrm>
            <a:off x="7029450" y="1428465"/>
            <a:ext cx="4619625" cy="392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 &amp; 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sz="1600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</a:p>
              <a:p>
                <a:pPr lvl="1"/>
                <a:endParaRPr lang="en-US" altLang="ko-KR" sz="2000" i="1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8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8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f>
                          <m:f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20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그룹 20">
            <a:extLst>
              <a:ext uri="{FF2B5EF4-FFF2-40B4-BE49-F238E27FC236}">
                <a16:creationId xmlns:a16="http://schemas.microsoft.com/office/drawing/2014/main" id="{F9834FF0-8FBA-1350-9F1E-D0CB8F426314}"/>
              </a:ext>
            </a:extLst>
          </p:cNvPr>
          <p:cNvGrpSpPr/>
          <p:nvPr/>
        </p:nvGrpSpPr>
        <p:grpSpPr>
          <a:xfrm>
            <a:off x="3246467" y="2558043"/>
            <a:ext cx="5202208" cy="699507"/>
            <a:chOff x="2230094" y="2605995"/>
            <a:chExt cx="7498730" cy="104403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F05F55E0-B70A-ADCF-C43A-DCB0EB37C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0094" y="2605995"/>
              <a:ext cx="7498730" cy="1036410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BD8DBB4C-8447-148B-1A2C-41CFBB8F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9832" y="2605995"/>
              <a:ext cx="1988992" cy="104403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F38668D-D916-87E8-408A-6B6D3F29F0CC}"/>
              </a:ext>
            </a:extLst>
          </p:cNvPr>
          <p:cNvSpPr txBox="1"/>
          <p:nvPr/>
        </p:nvSpPr>
        <p:spPr>
          <a:xfrm>
            <a:off x="666188" y="957141"/>
            <a:ext cx="10848975" cy="1426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total length of all the vectors in a space (non-negative real numbers that behaves in certain ways like </a:t>
            </a:r>
            <a:r>
              <a:rPr lang="en-US" altLang="ko-K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distance from the origin</a:t>
            </a:r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ko-KR" sz="2000" dirty="0"/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p-norm of vector x will be denoted as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197236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L1 Norm (</a:t>
                </a:r>
                <a:r>
                  <a:rPr lang="en-US" altLang="ko-KR" sz="2200" b="1" cap="none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Mahattan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Taxicab geometry)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  <a:endParaRPr lang="en-US" altLang="ko-KR" sz="22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F3C4AE5B-40B1-4939-A882-6AFA8B8F9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895600"/>
            <a:ext cx="3132091" cy="2781541"/>
          </a:xfrm>
          <a:prstGeom prst="rect">
            <a:avLst/>
          </a:prstGeom>
        </p:spPr>
      </p:pic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7221071" y="2895599"/>
            <a:ext cx="4643718" cy="26955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([2, 3])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norm_l1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np.linalg.norm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=1)  # L1 norm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norm_11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x/norm_l1           # scaled by 1-norm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np.sum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73ED5F1A-8C68-4015-6D59-646B058A66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B7BC5D-BC78-3BE9-3756-43EA405E4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202" y="1239037"/>
            <a:ext cx="2372872" cy="154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0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L2 Norm(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Euclidean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+ 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(4+9)</m:t>
                        </m:r>
                      </m:e>
                      <m:sup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19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6438900" y="2895599"/>
            <a:ext cx="5502089" cy="37242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 = np.linalg.norm(x, ord=2)  # L2 norm</a:t>
            </a:r>
          </a:p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3.605551275463989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x/norm_l2                       # scaled by 2-norm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(x/norm_l2).sum()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1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F7459-2858-2347-75D8-C91F1F465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974105"/>
            <a:ext cx="3047769" cy="27971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5C3998-0489-2BF2-5241-E2E505201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67" y="1092014"/>
            <a:ext cx="2171888" cy="158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8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L1,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Norms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286" y="3191496"/>
            <a:ext cx="1695512" cy="681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27" y="5387420"/>
            <a:ext cx="2368851" cy="5516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3066445" y="2782139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Lasso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3066445" y="4905415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Ridge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BD5D038-DCD7-8C14-A5CF-44500882B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230" y="2363039"/>
            <a:ext cx="4330872" cy="4235758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CFF3D7-B9E7-2FF5-40EB-78AC8007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 or the length of a vector is the distance between its “origin” and its “end”.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아래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그림에서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원점으로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부터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사각형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(L1, Lasso)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과 원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(L2, Ridge)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의 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distance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를 구하고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비교하라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Lasso, Ridge Penalty in machine learning</a:t>
            </a:r>
            <a:endParaRPr lang="en-US" altLang="ko-KR" cap="non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35A80CF-D165-5CA0-06B2-C788EE911AE2}"/>
              </a:ext>
            </a:extLst>
          </p:cNvPr>
          <p:cNvCxnSpPr/>
          <p:nvPr/>
        </p:nvCxnSpPr>
        <p:spPr>
          <a:xfrm flipV="1">
            <a:off x="6715125" y="3609975"/>
            <a:ext cx="723900" cy="733425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D18DBA7-34C7-EC06-D8C6-6F92D732CB8F}"/>
              </a:ext>
            </a:extLst>
          </p:cNvPr>
          <p:cNvCxnSpPr>
            <a:cxnSpLocks/>
          </p:cNvCxnSpPr>
          <p:nvPr/>
        </p:nvCxnSpPr>
        <p:spPr>
          <a:xfrm>
            <a:off x="6715125" y="4419600"/>
            <a:ext cx="1114425" cy="1028700"/>
          </a:xfrm>
          <a:prstGeom prst="straightConnector1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701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E486-E568-1525-A997-2588C9CF7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17D0-7D8A-5E88-1765-C131C8247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Nearest Neighbors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5692A-AF52-86DD-7DAB-748A9F77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14396A-70AA-B337-BF63-76377B7B9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거리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(distance)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가 가까운 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개의 데이터를 기준으로 분류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(classification)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하거나 회귀생성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(regression)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및 이상치 탐지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(anomaly detection)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하는 알고리즘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함수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cap="none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지도</a:t>
            </a:r>
            <a:r>
              <a:rPr lang="en-US" altLang="ko-KR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및 비지도학습 실습</a:t>
            </a:r>
            <a:endParaRPr lang="en-US" altLang="ko-KR" cap="non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100" name="Picture 4" descr="k-Nearest Neighbor classification example for k=3 and k=7">
            <a:extLst>
              <a:ext uri="{FF2B5EF4-FFF2-40B4-BE49-F238E27FC236}">
                <a16:creationId xmlns:a16="http://schemas.microsoft.com/office/drawing/2014/main" id="{6417C8F0-629A-2475-EDE4-881FFB378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526" y="2806591"/>
            <a:ext cx="5617954" cy="306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DE99B2-FC44-E12D-132F-D2FEE475A359}"/>
              </a:ext>
            </a:extLst>
          </p:cNvPr>
          <p:cNvSpPr txBox="1"/>
          <p:nvPr/>
        </p:nvSpPr>
        <p:spPr>
          <a:xfrm>
            <a:off x="2676526" y="5953208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Open Sans" panose="020B0606030504020204" pitchFamily="34" charset="0"/>
              </a:rPr>
              <a:t>K-nearest neighbor classification example for k=3 and k=7</a:t>
            </a:r>
          </a:p>
          <a:p>
            <a:r>
              <a:rPr lang="en-US" altLang="ko-KR" sz="11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https://www.kdnuggets.com/2020/11/most-popular-distance-metrics-knn.html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49952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01ED5-08C5-B763-06E6-5A1848DC8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80105-AA95-367F-B995-300A9AC71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61453F-0232-7492-E06F-018983E8C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b="1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Nearest</a:t>
            </a:r>
            <a:r>
              <a:rPr lang="ko-KR" altLang="en-US" b="1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neighbors</a:t>
            </a:r>
            <a:endParaRPr lang="ko-KR" altLang="en-US" b="1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53BBD-7219-566A-677D-D7AC674D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1.6.1.1. Finding the Nearest Neighbors :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시각화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1.6.2. Nearest Neighbors Classification</a:t>
            </a: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1.6.3. Nearest Neighbors Regression	</a:t>
            </a:r>
            <a:endParaRPr lang="en-US" altLang="ko-KR" cap="none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116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DBBE0-1AFD-561E-114A-4FE8786BE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BB787-1102-92F1-7AF1-398B0C92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Cosine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319BCE-F14E-2D87-4A6B-149516F85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A2B8A7-D8C3-0DA3-60F9-F81F27F55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자연어처리</a:t>
            </a:r>
            <a:r>
              <a:rPr lang="en-US" altLang="ko-KR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(Natural Language Processing)</a:t>
            </a:r>
            <a:r>
              <a:rPr lang="ko-KR" altLang="en-US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의 </a:t>
            </a:r>
            <a:r>
              <a:rPr lang="en-US" altLang="ko-KR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Text </a:t>
            </a:r>
            <a:r>
              <a:rPr lang="ko-KR" altLang="en-US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데이터에 사용되는 유사성거리</a:t>
            </a:r>
            <a:endParaRPr lang="en-US" altLang="ko-KR" cap="non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행렬과 벡터의 내적과 관련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(Transformer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알고리즘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비슷한 단어의 내적은 코사인 유사성이 크기 때문에 같은 비율로 커짐 </a:t>
            </a:r>
            <a:endParaRPr lang="en-US" altLang="ko-KR" cap="non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/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  <m:rad>
                                <m:radPr>
                                  <m:degHide m:val="on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e>
                              </m:rad>
                            </m:e>
                          </m:ra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C9846482-E2EF-26A6-B901-0D2E7A1FE595}"/>
              </a:ext>
            </a:extLst>
          </p:cNvPr>
          <p:cNvSpPr txBox="1">
            <a:spLocks/>
          </p:cNvSpPr>
          <p:nvPr/>
        </p:nvSpPr>
        <p:spPr>
          <a:xfrm>
            <a:off x="1075719" y="3047714"/>
            <a:ext cx="4496405" cy="762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cosine_similarity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12 | MIPS vs MCSS (Maximum Inner Product / Cosine Similarity Search)">
            <a:extLst>
              <a:ext uri="{FF2B5EF4-FFF2-40B4-BE49-F238E27FC236}">
                <a16:creationId xmlns:a16="http://schemas.microsoft.com/office/drawing/2014/main" id="{0BAAB07F-BF28-39F7-C312-880C96C77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768" y="2641292"/>
            <a:ext cx="5033513" cy="339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36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57FAE-85FB-EF39-67C2-446BABA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43E38-DCB2-ADE3-450F-2948A8BA4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55EE921-5723-9E6B-1B9F-C2C036557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8A47E-F7FF-F7DC-0AEA-7B2CFC04C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9386C00-6D2F-09A2-9170-DF9D31ACBA44}"/>
              </a:ext>
            </a:extLst>
          </p:cNvPr>
          <p:cNvSpPr/>
          <p:nvPr/>
        </p:nvSpPr>
        <p:spPr>
          <a:xfrm>
            <a:off x="678584" y="304799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6B05C9-2B46-AB28-DC0F-F542207FA179}"/>
              </a:ext>
            </a:extLst>
          </p:cNvPr>
          <p:cNvSpPr txBox="1"/>
          <p:nvPr/>
        </p:nvSpPr>
        <p:spPr>
          <a:xfrm>
            <a:off x="1336229" y="1428465"/>
            <a:ext cx="5512246" cy="4890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  <a:endParaRPr lang="en-US" altLang="ko-KR" sz="1600" b="1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Naive Bayes classifier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Random Forest &amp; Bootstrap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E0A1EE-964A-8D29-757F-4F7BCE7AF32C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30B29D-1379-8077-7386-D09F4C623251}"/>
              </a:ext>
            </a:extLst>
          </p:cNvPr>
          <p:cNvSpPr txBox="1"/>
          <p:nvPr/>
        </p:nvSpPr>
        <p:spPr>
          <a:xfrm>
            <a:off x="7029450" y="1428465"/>
            <a:ext cx="4619625" cy="392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 &amp; 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sz="1600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3210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B6F98-6CDB-E410-0D1F-C367364C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Linera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자연어처리</a:t>
            </a:r>
            <a:r>
              <a:rPr lang="en-US" altLang="ko-KR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(Natural Language Processing)</a:t>
            </a:r>
            <a:r>
              <a:rPr lang="ko-KR" altLang="en-US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의 </a:t>
            </a:r>
            <a:r>
              <a:rPr lang="en-US" altLang="ko-KR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Text </a:t>
            </a:r>
            <a:r>
              <a:rPr lang="ko-KR" altLang="en-US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데이터에 사용되는 유사성거리</a:t>
            </a:r>
            <a:endParaRPr lang="en-US" altLang="ko-KR" cap="non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행렬과 벡터의 내적과 관련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(Transformer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알고리즘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비슷한 단어의 내적은 코사인 유사성이 크기 때문에 같은 비율로 커짐 </a:t>
            </a:r>
            <a:endParaRPr lang="en-US" altLang="ko-KR" cap="non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1B86D1-8A52-C2E1-4DFA-1AF40482C6F0}"/>
                  </a:ext>
                </a:extLst>
              </p:cNvPr>
              <p:cNvSpPr txBox="1"/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  <m:rad>
                                <m:radPr>
                                  <m:degHide m:val="on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e>
                              </m:rad>
                            </m:e>
                          </m:ra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1B86D1-8A52-C2E1-4DFA-1AF40482C6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DC123F7B-55DF-C550-D341-E3BBA955EA2C}"/>
              </a:ext>
            </a:extLst>
          </p:cNvPr>
          <p:cNvSpPr txBox="1">
            <a:spLocks/>
          </p:cNvSpPr>
          <p:nvPr/>
        </p:nvSpPr>
        <p:spPr>
          <a:xfrm>
            <a:off x="1075719" y="3047714"/>
            <a:ext cx="4496405" cy="762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cosine_similarity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2945D-B350-3FF4-7D09-2E334EB77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CF00E-A436-DA50-48FC-D7F90512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CAD4E53-927A-CBED-1E0D-FD4AF8B1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02" y="1381125"/>
            <a:ext cx="6493044" cy="480819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6214D33-6987-A093-F549-7C12FD8B65DF}"/>
              </a:ext>
            </a:extLst>
          </p:cNvPr>
          <p:cNvSpPr/>
          <p:nvPr/>
        </p:nvSpPr>
        <p:spPr>
          <a:xfrm>
            <a:off x="5125244" y="1861150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구부러진 연결선 11">
            <a:extLst>
              <a:ext uri="{FF2B5EF4-FFF2-40B4-BE49-F238E27FC236}">
                <a16:creationId xmlns:a16="http://schemas.microsoft.com/office/drawing/2014/main" id="{11810A7A-0B36-327E-EE3E-4B1777215DB3}"/>
              </a:ext>
            </a:extLst>
          </p:cNvPr>
          <p:cNvCxnSpPr>
            <a:cxnSpLocks/>
            <a:stCxn id="11" idx="2"/>
            <a:endCxn id="18" idx="1"/>
          </p:cNvCxnSpPr>
          <p:nvPr/>
        </p:nvCxnSpPr>
        <p:spPr>
          <a:xfrm rot="16200000" flipH="1">
            <a:off x="5137418" y="2369704"/>
            <a:ext cx="1333890" cy="78217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_x422600552" descr="DRW00004be805ca">
            <a:extLst>
              <a:ext uri="{FF2B5EF4-FFF2-40B4-BE49-F238E27FC236}">
                <a16:creationId xmlns:a16="http://schemas.microsoft.com/office/drawing/2014/main" id="{30CB297D-E262-5E5D-CEB1-0ED3249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403" y="4383422"/>
            <a:ext cx="2251372" cy="521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B06CE2-D3E3-FC6B-500C-F37662CA44B0}"/>
              </a:ext>
            </a:extLst>
          </p:cNvPr>
          <p:cNvSpPr/>
          <p:nvPr/>
        </p:nvSpPr>
        <p:spPr>
          <a:xfrm>
            <a:off x="330620" y="5742724"/>
            <a:ext cx="1701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Recursive iterations</a:t>
            </a:r>
            <a:endParaRPr lang="ko-KR" altLang="en-US" sz="14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F90CE7C-504E-5A87-E174-EFE064F13760}"/>
              </a:ext>
            </a:extLst>
          </p:cNvPr>
          <p:cNvSpPr/>
          <p:nvPr/>
        </p:nvSpPr>
        <p:spPr>
          <a:xfrm>
            <a:off x="405355" y="1667063"/>
            <a:ext cx="15808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Initialized settings</a:t>
            </a:r>
            <a:endParaRPr lang="ko-KR" altLang="en-US" sz="1400" u="sng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34DFF6C-4FD1-14C3-B024-D1F164F3FE9E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 flipH="1">
            <a:off x="1181174" y="1974840"/>
            <a:ext cx="14622" cy="3767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64ECB6AE-3EA9-954F-A0B8-9DEED6094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5451" y="2715585"/>
            <a:ext cx="5074740" cy="1424304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2E07D99B-F812-5A40-0726-AFA6DDA3168B}"/>
              </a:ext>
            </a:extLst>
          </p:cNvPr>
          <p:cNvSpPr/>
          <p:nvPr/>
        </p:nvSpPr>
        <p:spPr>
          <a:xfrm>
            <a:off x="5988500" y="1841588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구부러진 연결선 24">
            <a:extLst>
              <a:ext uri="{FF2B5EF4-FFF2-40B4-BE49-F238E27FC236}">
                <a16:creationId xmlns:a16="http://schemas.microsoft.com/office/drawing/2014/main" id="{BFD02EFB-B366-BACF-6FA4-5FF0D20D3125}"/>
              </a:ext>
            </a:extLst>
          </p:cNvPr>
          <p:cNvCxnSpPr>
            <a:cxnSpLocks/>
            <a:stCxn id="19" idx="2"/>
            <a:endCxn id="23" idx="1"/>
          </p:cNvCxnSpPr>
          <p:nvPr/>
        </p:nvCxnSpPr>
        <p:spPr>
          <a:xfrm rot="16200000" flipH="1">
            <a:off x="5066365" y="3284452"/>
            <a:ext cx="3261063" cy="84072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F0E2918E-5F14-91CA-4AB8-3152ED76C9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7260" y="4614926"/>
            <a:ext cx="5074740" cy="144084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9DF932-5A51-127A-5A01-129776C56026}"/>
              </a:ext>
            </a:extLst>
          </p:cNvPr>
          <p:cNvSpPr txBox="1"/>
          <p:nvPr/>
        </p:nvSpPr>
        <p:spPr>
          <a:xfrm>
            <a:off x="139403" y="3093969"/>
            <a:ext cx="2318795" cy="102021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Let </a:t>
            </a:r>
            <a:r>
              <a:rPr lang="el-G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el-G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l-G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</a:t>
            </a:r>
            <a:r>
              <a:rPr lang="el-G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CAE76-7F49-A2A6-AB1C-EF43C4CA2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4FF8BB3B-A077-AFB9-CE95-474DEA4B313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Stochastic Gradient Descent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0010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Stochastic Gradient Descent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내용 개체 틀 2">
                <a:extLst>
                  <a:ext uri="{FF2B5EF4-FFF2-40B4-BE49-F238E27FC236}">
                    <a16:creationId xmlns:a16="http://schemas.microsoft.com/office/drawing/2014/main" id="{7FFFF4F0-7DB3-AABE-D6D5-2193C90BF2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8095" y="2384764"/>
                <a:ext cx="10353762" cy="3701711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scikit-</a:t>
                </a:r>
                <a:r>
                  <a:rPr lang="en-US" altLang="ko-KR" cap="none" dirty="0" err="1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learn_Stochastic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 Gradient Descent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</a:t>
                </a:r>
                <a:r>
                  <a:rPr lang="en-US" altLang="ko-KR" cap="none" dirty="0" err="1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sklearn.linear_model.SGDRegressor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데이터는 선형식의 모델로 설명이 가능하다고 가정하고 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실제와 예측 값의 차이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(error)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제곱의 합을 최소화하는 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계수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 </a:t>
                </a:r>
                <a14:m>
                  <m:oMath xmlns:m="http://schemas.openxmlformats.org/officeDocument/2006/math">
                    <m:r>
                      <a:rPr lang="ko-KR" altLang="en-US" i="1" cap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𝛼</m:t>
                    </m:r>
                    <m:r>
                      <a:rPr lang="en-US" altLang="ko-KR" b="0" i="1" cap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  </m:t>
                    </m:r>
                    <m:r>
                      <a:rPr lang="ko-KR" altLang="en-US" i="1" cap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𝛽</m:t>
                    </m:r>
                  </m:oMath>
                </a14:m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찾는 함수를 시뮬레이션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2" name="내용 개체 틀 2">
                <a:extLst>
                  <a:ext uri="{FF2B5EF4-FFF2-40B4-BE49-F238E27FC236}">
                    <a16:creationId xmlns:a16="http://schemas.microsoft.com/office/drawing/2014/main" id="{7FFFF4F0-7DB3-AABE-D6D5-2193C90BF2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8095" y="2384764"/>
                <a:ext cx="10353762" cy="3701711"/>
              </a:xfrm>
              <a:blipFill>
                <a:blip r:embed="rId5"/>
                <a:stretch>
                  <a:fillRect l="-530" t="-1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84DA0-1D57-216E-335C-B5F7FC46A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AC7CEF35-04A9-AF29-EB92-02DB3BF77FCE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9651CF-7989-0A5D-F762-935DBBE31235}"/>
              </a:ext>
            </a:extLst>
          </p:cNvPr>
          <p:cNvSpPr txBox="1"/>
          <p:nvPr/>
        </p:nvSpPr>
        <p:spPr>
          <a:xfrm>
            <a:off x="1336229" y="1428465"/>
            <a:ext cx="5512246" cy="4890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 &amp; Optimization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  <a:endParaRPr lang="en-US" altLang="ko-KR" sz="1600" b="1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Naive Bayes classifier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Random Forest &amp; Bootstrap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E30B5D-DD9C-850B-7186-E55D502D1191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FF078F-D0B0-F698-7E97-FD95DF91FE4C}"/>
              </a:ext>
            </a:extLst>
          </p:cNvPr>
          <p:cNvSpPr txBox="1"/>
          <p:nvPr/>
        </p:nvSpPr>
        <p:spPr>
          <a:xfrm>
            <a:off x="7029450" y="1428465"/>
            <a:ext cx="4619625" cy="392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 &amp; 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sz="1600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24810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Geometry(2/2)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7772400" y="1647905"/>
            <a:ext cx="402515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sklearn.decomposition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PCA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matplotlib.pyplot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2D data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data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np.random.multivariate_normal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(mean=[0,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cov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=[[1, 0.8], [0.8, 1]], size=100)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Apply PCA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PCA()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pca.fit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Plot the original data and principal components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(data[:, 0], data[:, 1], label='Original Data')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plt.quiver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(0, 0,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_[0,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_[0, 1], scale=3, color='r', label='Principal Component 1')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plt.quiver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(0, 0,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_[1,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_[1, 1], scale=3, color='b', label='Principal Component 2')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plt.legend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plt.axis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('equal')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896446" cy="740742"/>
          </a:xfrm>
        </p:spPr>
        <p:txBody>
          <a:bodyPr>
            <a:normAutofit fontScale="92500" lnSpcReduction="20000"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2. Eigenvalues and Eigenvectors (Principal Component Analysis - PCA):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4F29429-0D78-9599-8AE2-C36D3FFD6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484" y="2008372"/>
            <a:ext cx="5014395" cy="3917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78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Optimization(1/2)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949440" y="1647904"/>
            <a:ext cx="524256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scipy.optimize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Objective function coefficients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 = [-3, -2]  # Minimize -3x1 - 2x2 is equivalent to maximizing 3x1 + 2x2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matrix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[[1, 1], [2, 1], [-1, 0]]  # Note the change in the third constraint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vector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 = [100, 100, -40]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Bounds for variables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x0_bounds = (0, None)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x1_bounds = (0, None)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Solve linear programming problem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(c,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=A,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=b, bounds=[x0_bounds, x1_bounds], method='highs')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Display the results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Negate the result because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minimizes by default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value (max z):', -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result.fun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  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point (x1, x2):',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result.x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1. Linear Programing 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25234C1-3DF1-C42D-7E13-AF831521D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01" y="2327162"/>
            <a:ext cx="3887267" cy="33679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C9AFD41-360D-DB5A-47E6-646A22156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74" y="1863603"/>
            <a:ext cx="1719806" cy="122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275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Optimization(2/2)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339840" y="2119264"/>
            <a:ext cx="585216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matplotlib.pyplot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synthetic data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np.random.seed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(42)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 = 2 *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np.random.rand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(100, 1)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y = 4 + 3 * X +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np.random.randn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(100, 1)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Perform linear regression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X_b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np.c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np.ones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((100, 1)), X]  # add x0 = 1 to each instance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theta_best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np.linalg.inv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(X_b.T.dot(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X_b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)).dot(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X_b.T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).dot(y)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Plot the data and regression line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(X, y, label='Data')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(X, X_b.dot(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theta_best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), color='red', label='Linear Regression')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plt.legend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 algn="l">
              <a:buNone/>
            </a:pPr>
            <a:r>
              <a:rPr lang="en-US" altLang="ko-KR" sz="2200" dirty="0">
                <a:effectLst/>
              </a:rPr>
              <a:t>2. Least Squares Regression: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B637D28-6F52-9C52-834F-AFBD1A4CD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968" y="2119264"/>
            <a:ext cx="4645193" cy="3489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485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900" dirty="0"/>
              <a:t>Machine Learning(1/2)</a:t>
            </a:r>
            <a:endParaRPr lang="ko-KR" altLang="en-US" sz="2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5110480" y="1647905"/>
            <a:ext cx="668707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matplotlib.pyplot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mpl_toolkits.mplot3d import Axes3D  # Import necessary module for 3D projection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sklearn.decomposition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PCA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3D data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data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np.random.multivariate_normal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(mean=[0, 0, 0], 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                                     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cov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=[[1, 0.8, 0.5], [0.8, 1, 0.3], [0.5, 0.3, 1]], 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                                     size=500)*20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Apply PCA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PCA(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n_components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=2)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pca.fit_transform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(data)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Plot the original and transformed data in 3D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fig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plt.figure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fig.add_subplot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(111, projection='3d')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(data[:, 0], data[:, 1], data[:, 2], label='Original Data', alpha = 0.3)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1],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np.zeros_like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1]), label='Transformed Data',)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ax.set_xlabel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('X’);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ax.set_ylabel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('Y’);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ax.set_zlabel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('Z')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ax.legend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Adjust the viewing angle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ax.view_init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elev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=5,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azim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=80)  # Set the elevation and azimuth angles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plt.show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1. Principal Component Analysis(PCA):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84CC400-E8E0-1EA9-09C5-E32DC2778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188" y="1793100"/>
            <a:ext cx="3947898" cy="3662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1803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998046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2. Singular Value Decomposition (SVD):</a:t>
            </a:r>
          </a:p>
          <a:p>
            <a:pPr marL="36900" indent="0">
              <a:buNone/>
            </a:pPr>
            <a:endParaRPr lang="en-US" altLang="ko-KR" sz="2200" dirty="0">
              <a:effectLst/>
            </a:endParaRP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6ED8A4-C208-67D0-B099-F24B263F0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033" y="1934201"/>
            <a:ext cx="5191182" cy="21140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F1127DD-44D7-255B-8A79-1A234EEBC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033" y="4330588"/>
            <a:ext cx="5191182" cy="186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121C909-C89C-9ED4-F930-CBE121341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520" y="1156490"/>
            <a:ext cx="10045785" cy="362675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544FA471-0605-8E6D-3555-55B598005FF1}"/>
              </a:ext>
            </a:extLst>
          </p:cNvPr>
          <p:cNvSpPr/>
          <p:nvPr/>
        </p:nvSpPr>
        <p:spPr>
          <a:xfrm>
            <a:off x="3516554" y="2918011"/>
            <a:ext cx="8130989" cy="5109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FEDD420-6C76-0647-08D3-8F4892D50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</p:spTree>
    <p:extLst>
      <p:ext uri="{BB962C8B-B14F-4D97-AF65-F5344CB8AC3E}">
        <p14:creationId xmlns:p14="http://schemas.microsoft.com/office/powerpoint/2010/main" val="3198952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FEDD420-6C76-0647-08D3-8F4892D50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87B24D-D4DE-DC67-AA26-0344FFFCEC62}"/>
              </a:ext>
            </a:extLst>
          </p:cNvPr>
          <p:cNvSpPr txBox="1"/>
          <p:nvPr/>
        </p:nvSpPr>
        <p:spPr>
          <a:xfrm>
            <a:off x="660400" y="1288762"/>
            <a:ext cx="668528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a matrix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np.random.rand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(3, 3)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Perform SVD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U, S, Vt =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np.linalg.svd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(A,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full_matrices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=False)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Reconstruct the original matrix</a:t>
            </a:r>
          </a:p>
          <a:p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U @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np.diag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(S) @ Vt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print("Original Matrix:")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print(A)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print("\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Matrix:")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2ACBECF-C3A7-A000-B7AC-908A2CE1C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912" y="1124960"/>
            <a:ext cx="6216973" cy="22378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A09A4A-AB14-5C62-A6CD-279DFDDCDA86}"/>
              </a:ext>
            </a:extLst>
          </p:cNvPr>
          <p:cNvSpPr txBox="1"/>
          <p:nvPr/>
        </p:nvSpPr>
        <p:spPr>
          <a:xfrm>
            <a:off x="5779912" y="3910499"/>
            <a:ext cx="46992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Original Matrix: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[[0.40895294 0.17329432 0.15643704]  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[0.2502429 0.54922666 0.71459592]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[0.66019738 0.2799339 0.95486528]]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Reconstructed Matrix: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[[0.40895294 0.17329432 0.15643704]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[0.2502429 0.54922666 0.71459592]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[0.66019738 0.2799339 0.95486528]]</a:t>
            </a:r>
            <a:endParaRPr lang="ko-KR" altLang="en-US" sz="16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39505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대수</a:t>
            </a:r>
            <a:r>
              <a:rPr lang="en-US" altLang="ko-KR" dirty="0"/>
              <a:t>(algebra)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Algebra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기호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(symbol)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값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(value)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관계를 다루고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Python namespace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이름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(name)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객체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(object)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매핑을 관리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Algebra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관점에서 보기</a:t>
                </a: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기호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), 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을 “참조” 즉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기호 → 값으로 매핑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blipFill>
                <a:blip r:embed="rId2"/>
                <a:stretch>
                  <a:fillRect l="-1597" b="-15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Python Namespace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구조</a:t>
                </a:r>
                <a:endParaRPr lang="en-US" altLang="ko-KR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# 3(class)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5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이걸 저장하는 공간이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namespace</a:t>
                </a: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(name) →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(object)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매핑 테이블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blipFill>
                <a:blip r:embed="rId3"/>
                <a:stretch>
                  <a:fillRect l="-14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BE0C7-8609-6D65-19A9-8E7645A55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0955959-D6AE-86A3-75EF-BA7993E3B175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F22C6-1AF1-442F-1ED8-59ADC941BCAB}"/>
              </a:ext>
            </a:extLst>
          </p:cNvPr>
          <p:cNvSpPr txBox="1"/>
          <p:nvPr/>
        </p:nvSpPr>
        <p:spPr>
          <a:xfrm>
            <a:off x="1629916" y="147612"/>
            <a:ext cx="8928992" cy="3306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31254290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B0106-250C-EDA4-CFBA-23A14D24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97C0B-D82D-3948-18EA-EA57EC29E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</a:t>
            </a:r>
            <a:r>
              <a:rPr lang="en-US" altLang="ko-KR" dirty="0"/>
              <a:t>(Principal component)</a:t>
            </a:r>
            <a:endParaRPr lang="ko-KR" altLang="en-US" dirty="0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EC556570-9556-C9E9-F483-2FA62BEA5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763" y="1647825"/>
            <a:ext cx="625792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23895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4C6D7-90E2-02DD-095D-F5CFC88C5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행렬변환에 의한 기저좌표의 변화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8661F9D4-6959-ECD9-DFE2-38BAFFAD0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476" y="2214694"/>
            <a:ext cx="558165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537BC7C1-934D-9636-2C4B-CD031F9EC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848" y="1776923"/>
            <a:ext cx="5581651" cy="4000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51106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D487E-2A47-66D1-E5D6-203622E2B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주성분분석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F8F0A64-97F6-9176-29ED-C3A737B3980D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0582" y="2366963"/>
            <a:ext cx="6869311" cy="425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3990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9996B7-68D5-154D-EEB6-A81286B77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hlinkClick r:id="rId2"/>
              </a:rPr>
              <a:t>Eigenvalues_and_eigenvectors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2214694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978912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33E37C-BEEC-4D15-38F4-646D0CD10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SVD</a:t>
            </a:r>
            <a:r>
              <a:rPr lang="ko-KR" altLang="en-US" dirty="0"/>
              <a:t>로 주성분분석 배우기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304BD9F-6B4D-86EF-FC4A-F9FD4C3992BD}"/>
              </a:ext>
            </a:extLst>
          </p:cNvPr>
          <p:cNvSpPr>
            <a:spLocks noGrp="1" noChangeArrowheads="1"/>
          </p:cNvSpPr>
          <p:nvPr>
            <p:ph sz="quarter" idx="13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1. </a:t>
            </a:r>
            <a:r>
              <a:rPr kumimoji="0" lang="ko-KR" altLang="ko-KR" sz="9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SVD를</a:t>
            </a:r>
            <a:r>
              <a:rPr kumimoji="0" lang="ko-KR" altLang="ko-KR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이용한 </a:t>
            </a:r>
            <a:r>
              <a:rPr kumimoji="0" lang="ko-KR" altLang="ko-KR" sz="9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PCA의</a:t>
            </a:r>
            <a:r>
              <a:rPr kumimoji="0" lang="ko-KR" altLang="ko-KR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수학적 단계</a:t>
            </a:r>
            <a:endParaRPr kumimoji="0" lang="ko-KR" altLang="ko-KR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PCA의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목적은 데이터의 분산을 최대한 보존하는 새로운 축(주성분)을 찾는 것입니다. 데이터 행렬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X$가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있을 때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SVD는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다음과 같이 분해됩니다.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$$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=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U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\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Sigma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V^T$$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데이터 중심화 (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Centering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각 특성(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Feature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)의 평균을 0으로 만듭니다. (매우 중요!)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SVD 수행: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중심화된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행렬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X$를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U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, \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Sigma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V^T$로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분해합니다.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주성분 추출: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V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$ 행렬의 열 벡터들이 바로 주성분 축(Principal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Axes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)이 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차원 축소 (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Projection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V$를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계산하거나,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U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\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Sigma$의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앞부분을 취하여 데이터를 저차원으로 투영합니다.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6043361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2061</TotalTime>
  <Words>2050</Words>
  <Application>Microsoft Office PowerPoint</Application>
  <PresentationFormat>와이드스크린</PresentationFormat>
  <Paragraphs>287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42" baseType="lpstr">
      <vt:lpstr>맑은 고딕</vt:lpstr>
      <vt:lpstr>맑은 고딕 Semilight</vt:lpstr>
      <vt:lpstr>바탕</vt:lpstr>
      <vt:lpstr>한컴 말랑말랑 Bold</vt:lpstr>
      <vt:lpstr>ADLaM Display</vt:lpstr>
      <vt:lpstr>Arial</vt:lpstr>
      <vt:lpstr>Calibri Light</vt:lpstr>
      <vt:lpstr>Cambria Math</vt:lpstr>
      <vt:lpstr>Open Sans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Norm</vt:lpstr>
      <vt:lpstr>1-Norm</vt:lpstr>
      <vt:lpstr>2-Norm</vt:lpstr>
      <vt:lpstr>Visualization of L1, L2 Norms</vt:lpstr>
      <vt:lpstr>Nearest Neighbors</vt:lpstr>
      <vt:lpstr>Hands-on Nearest neighbors</vt:lpstr>
      <vt:lpstr>Cosine similarity</vt:lpstr>
      <vt:lpstr>Hands-on Clustering</vt:lpstr>
      <vt:lpstr>PowerPoint 프레젠테이션</vt:lpstr>
      <vt:lpstr>Linera Regression</vt:lpstr>
      <vt:lpstr>PowerPoint 프레젠테이션</vt:lpstr>
      <vt:lpstr>PowerPoint 프레젠테이션</vt:lpstr>
      <vt:lpstr>PowerPoint 프레젠테이션</vt:lpstr>
      <vt:lpstr>Geometry(2/2)</vt:lpstr>
      <vt:lpstr>Optimization(1/2)</vt:lpstr>
      <vt:lpstr>Optimization(2/2)</vt:lpstr>
      <vt:lpstr>Machine Learning(1/2)</vt:lpstr>
      <vt:lpstr>Machine Learning(2/2)</vt:lpstr>
      <vt:lpstr>Machine Learning(2/2)</vt:lpstr>
      <vt:lpstr>Machine Learning(2/2)</vt:lpstr>
      <vt:lpstr>대수(algebra)</vt:lpstr>
      <vt:lpstr>PowerPoint 프레젠테이션</vt:lpstr>
      <vt:lpstr>주성분(Principal component)</vt:lpstr>
      <vt:lpstr>행렬변환에 의한 기저좌표의 변화</vt:lpstr>
      <vt:lpstr>주성분분석</vt:lpstr>
      <vt:lpstr>Eigenvalues_and_eigenvectors</vt:lpstr>
      <vt:lpstr>SVD로 주성분분석 배우기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29</cp:revision>
  <dcterms:created xsi:type="dcterms:W3CDTF">2026-03-09T22:59:08Z</dcterms:created>
  <dcterms:modified xsi:type="dcterms:W3CDTF">2026-03-27T23:23:18Z</dcterms:modified>
</cp:coreProperties>
</file>