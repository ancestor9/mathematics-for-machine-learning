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4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860" r:id="rId12"/>
    <p:sldId id="847" r:id="rId13"/>
    <p:sldId id="848" r:id="rId14"/>
    <p:sldId id="845" r:id="rId15"/>
    <p:sldId id="851" r:id="rId16"/>
    <p:sldId id="852" r:id="rId17"/>
    <p:sldId id="846" r:id="rId18"/>
    <p:sldId id="861" r:id="rId19"/>
    <p:sldId id="854" r:id="rId20"/>
    <p:sldId id="857" r:id="rId21"/>
    <p:sldId id="858" r:id="rId22"/>
    <p:sldId id="856" r:id="rId23"/>
    <p:sldId id="859" r:id="rId24"/>
    <p:sldId id="864" r:id="rId25"/>
    <p:sldId id="862" r:id="rId26"/>
    <p:sldId id="855" r:id="rId27"/>
    <p:sldId id="853" r:id="rId28"/>
    <p:sldId id="829" r:id="rId29"/>
    <p:sldId id="830" r:id="rId30"/>
    <p:sldId id="832" r:id="rId31"/>
    <p:sldId id="831" r:id="rId32"/>
    <p:sldId id="833" r:id="rId33"/>
    <p:sldId id="820" r:id="rId34"/>
    <p:sldId id="834" r:id="rId35"/>
    <p:sldId id="282" r:id="rId36"/>
    <p:sldId id="284" r:id="rId37"/>
    <p:sldId id="850" r:id="rId38"/>
    <p:sldId id="264" r:id="rId39"/>
    <p:sldId id="261" r:id="rId40"/>
    <p:sldId id="262" r:id="rId41"/>
    <p:sldId id="267" r:id="rId42"/>
    <p:sldId id="839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69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3/28/2026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analytics17.blogspot.com/2017/08/2-1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5.gif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pytorch.org/" TargetMode="External"/><Relationship Id="rId4" Type="http://schemas.openxmlformats.org/officeDocument/2006/relationships/hyperlink" Target="https://www.tensorflow.org/?hl=ko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gif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28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b="1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C48F-ECB6-57A2-F2AE-9050627F3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73620BF-B479-F41F-DE52-8CCD7AE0217C}"/>
              </a:ext>
            </a:extLst>
          </p:cNvPr>
          <p:cNvSpPr/>
          <p:nvPr/>
        </p:nvSpPr>
        <p:spPr>
          <a:xfrm>
            <a:off x="678584" y="317118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3C3457-A427-EFA6-F3FB-DCD0D0087F9B}"/>
              </a:ext>
            </a:extLst>
          </p:cNvPr>
          <p:cNvSpPr txBox="1"/>
          <p:nvPr/>
        </p:nvSpPr>
        <p:spPr>
          <a:xfrm>
            <a:off x="1336229" y="1428465"/>
            <a:ext cx="5512246" cy="5028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D24C2B-4319-CCE0-D527-DE9200D684EB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71260-4854-BA3D-38BC-192B27E610FF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861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DC123F7B-55DF-C550-D341-E3BBA955EA2C}"/>
              </a:ext>
            </a:extLst>
          </p:cNvPr>
          <p:cNvSpPr txBox="1">
            <a:spLocks/>
          </p:cNvSpPr>
          <p:nvPr/>
        </p:nvSpPr>
        <p:spPr>
          <a:xfrm>
            <a:off x="6090676" y="6036261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77DF77E8-48D8-1C11-E742-2FF576CE1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1673" y="1924050"/>
            <a:ext cx="5065245" cy="3762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566692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4B76198-7BDB-2635-FFAD-9401FE5555EA}"/>
              </a:ext>
            </a:extLst>
          </p:cNvPr>
          <p:cNvSpPr/>
          <p:nvPr/>
        </p:nvSpPr>
        <p:spPr>
          <a:xfrm>
            <a:off x="9305925" y="2638199"/>
            <a:ext cx="386715" cy="34497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7AC9867-39BD-55A1-3ED2-5B9D6DA02C32}"/>
              </a:ext>
            </a:extLst>
          </p:cNvPr>
          <p:cNvSpPr/>
          <p:nvPr/>
        </p:nvSpPr>
        <p:spPr>
          <a:xfrm>
            <a:off x="8475345" y="3467390"/>
            <a:ext cx="361315" cy="35646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A6954AB-B213-A17D-3C1F-85D7A5234449}"/>
              </a:ext>
            </a:extLst>
          </p:cNvPr>
          <p:cNvSpPr/>
          <p:nvPr/>
        </p:nvSpPr>
        <p:spPr>
          <a:xfrm>
            <a:off x="7310754" y="3658405"/>
            <a:ext cx="446406" cy="42591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1F7F6-89A5-0B80-EB32-B2DDFDEF3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0E1AC2E-EF53-5A39-5B3D-190AC0014543}"/>
              </a:ext>
            </a:extLst>
          </p:cNvPr>
          <p:cNvSpPr/>
          <p:nvPr/>
        </p:nvSpPr>
        <p:spPr>
          <a:xfrm>
            <a:off x="678584" y="479678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DD54FD-FD12-712F-EE7A-51DC5A142B09}"/>
              </a:ext>
            </a:extLst>
          </p:cNvPr>
          <p:cNvSpPr txBox="1"/>
          <p:nvPr/>
        </p:nvSpPr>
        <p:spPr>
          <a:xfrm>
            <a:off x="1336229" y="1428465"/>
            <a:ext cx="5512246" cy="5028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E85B9-35DA-589C-0500-0FBD615487C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F3BDBB-FA15-F1CC-EA9B-B506B15D5731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3813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15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E9E8FBC-AA92-AE5E-A12D-A4E96864A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1144130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부터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모델별로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훈련데이터로 학습하여 검증데이터 예측결과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평균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Average CV MSE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가장 낮은 다항식모델은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모델로 결정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다항식모델을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예측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9520" y="2392148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691" y="2602876"/>
            <a:ext cx="4571790" cy="208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4074160" y="4684197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5792601" y="5933886"/>
            <a:ext cx="1696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878" y="3813294"/>
            <a:ext cx="8054649" cy="2098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431955" y="2617095"/>
            <a:ext cx="7701886" cy="3082665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6029" y="2617095"/>
            <a:ext cx="2434343" cy="1843145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96803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28E10-7B97-3B0F-2445-94EA791E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795238F-9936-5C1B-E511-6E13B334F38E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FE985-FC3B-1BC1-1706-A01F9C721283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CA1835-67D5-CC2D-7EA4-C1F20AB30D2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7CC7D-E9CB-5F52-0A7D-E7213D83704F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96881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Geometry(2/2)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7772400" y="1647905"/>
            <a:ext cx="402515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2D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0.8], [0.8, 1]], size=100)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data and principal components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label='Original 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1], scale=3, color='r', label='Principal Component 1')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1], scale=3, color='b', label='Principal Component 2')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plt.axis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('equal')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896446" cy="740742"/>
          </a:xfrm>
        </p:spPr>
        <p:txBody>
          <a:bodyPr>
            <a:normAutofit fontScale="92500" lnSpcReduction="20000"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Eigenvalues and Eigenvectors (Principal Component Analysis - 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F29429-0D78-9599-8AE2-C36D3FFD6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84" y="2008372"/>
            <a:ext cx="5014395" cy="391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7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2759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339840" y="2119264"/>
            <a:ext cx="585216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synthetic data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np.random.seed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(42)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 = 2 *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(100, 1)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y = 4 + 3 * X +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(100, 1)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linear regression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np.c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np.ones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((100, 1)), X]  # add x0 = 1 to each instance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theta_best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np.linalg.inv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(X_b.T.dot(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)).dot(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X_b.T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).dot(y)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data and regression line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(X, y, label='Data')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(X, X_b.dot(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theta_best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), color='red', label='Linear Regression')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 algn="l">
              <a:buNone/>
            </a:pPr>
            <a:r>
              <a:rPr lang="en-US" altLang="ko-KR" sz="2200" dirty="0">
                <a:effectLst/>
              </a:rPr>
              <a:t>2. Least Squares Regression: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B637D28-6F52-9C52-834F-AFBD1A4CD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68" y="2119264"/>
            <a:ext cx="4645193" cy="3489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485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Learning(1/2)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5110480" y="1647905"/>
            <a:ext cx="668707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mpl_toolkits.mplot3d import Axes3D  # Import necessary module for 3D projection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3D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0, 0],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0.8, 0.5], [0.8, 1, 0.3], [0.5, 0.3, 1]],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size=500)*20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n_components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=2)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pca.fit_transform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and transformed data in 3D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plt.figure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fig.add_subplot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(111, projection='3d')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data[:, 2], label='Original Data', alpha = 0.3)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np.zeros_like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1]), label='Transformed Data',)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ax.set_xlabel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('X’);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ax.set_ylabel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('Y’);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ax.set_zlabel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('Z')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Adjust the viewing angle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ax.view_init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elev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=5,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azim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=80)  # Set the elevation and azimuth angles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plt.show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Principal Component Analysis(PCA):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84CC400-E8E0-1EA9-09C5-E32DC277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188" y="1793100"/>
            <a:ext cx="3947898" cy="366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180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21C909-C89C-9ED4-F930-CBE12134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0" y="1156490"/>
            <a:ext cx="10045785" cy="362675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44FA471-0605-8E6D-3555-55B598005FF1}"/>
              </a:ext>
            </a:extLst>
          </p:cNvPr>
          <p:cNvSpPr/>
          <p:nvPr/>
        </p:nvSpPr>
        <p:spPr>
          <a:xfrm>
            <a:off x="3516554" y="2918011"/>
            <a:ext cx="8130989" cy="510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</p:spTree>
    <p:extLst>
      <p:ext uri="{BB962C8B-B14F-4D97-AF65-F5344CB8AC3E}">
        <p14:creationId xmlns:p14="http://schemas.microsoft.com/office/powerpoint/2010/main" val="31989527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7B24D-D4DE-DC67-AA26-0344FFFCEC62}"/>
              </a:ext>
            </a:extLst>
          </p:cNvPr>
          <p:cNvSpPr txBox="1"/>
          <p:nvPr/>
        </p:nvSpPr>
        <p:spPr>
          <a:xfrm>
            <a:off x="660400" y="1288762"/>
            <a:ext cx="66852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a matrix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(3, 3)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SVD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U, S, Vt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np.linalg.svd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(A,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full_matrices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=False)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Reconstruct the original matrix</a:t>
            </a:r>
          </a:p>
          <a:p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U @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np.diag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(S) @ Vt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print("Original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print(A)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print("\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ACBECF-C3A7-A000-B7AC-908A2CE1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12" y="1124960"/>
            <a:ext cx="6216973" cy="22378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9A4A-AB14-5C62-A6CD-279DFDDCDA86}"/>
              </a:ext>
            </a:extLst>
          </p:cNvPr>
          <p:cNvSpPr txBox="1"/>
          <p:nvPr/>
        </p:nvSpPr>
        <p:spPr>
          <a:xfrm>
            <a:off x="5779912" y="3910499"/>
            <a:ext cx="46992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Original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 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[0.66019738 0.2799339 0.95486528]]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Reconstructed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[0.66019738 0.2799339 0.95486528]]</a:t>
            </a:r>
            <a:endParaRPr lang="ko-KR" altLang="en-US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3950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2A6AC-F31D-7803-9BAE-57D8037A7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6F374-757A-05DA-106C-A5174A1D6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2DF600-6320-5427-2C4F-C5B7F8FEE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41F8A1-7380-8B6A-5FC2-A66B2A041CB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8A00688-D431-6FA8-A887-7BC5C5B35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핵심 메커니즘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tf.GradientTape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TensorFlow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가장 큰 특징은 **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GradientTape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**입니다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구문 안에서 일어나는 모든 연산은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테이프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기록되며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tape.gradient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호출하는 순간 기록된 연산들을 역순으로 추적하여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미분값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계산해냅니다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이를 **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(Backpropagation)**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부릅니다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altLang="ko-KR" cap="none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46518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3E37C-BEEC-4D15-38F4-646D0CD1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SVD</a:t>
            </a:r>
            <a:r>
              <a:rPr lang="ko-KR" altLang="en-US" dirty="0"/>
              <a:t>로 주성분분석 배우기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04BD9F-6B4D-86EF-FC4A-F9FD4C3992BD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1.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SVD를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이용한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수학적 단계</a:t>
            </a:r>
            <a:endParaRPr kumimoji="0" lang="ko-KR" altLang="ko-KR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목적은 데이터의 분산을 최대한 보존하는 새로운 축(주성분)을 찾는 것입니다. 데이터 행렬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있을 때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SVD는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다음과 같이 분해됩니다.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=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V^T$$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데이터 중심화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Centering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각 특성(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Feature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)의 평균을 0으로 만듭니다. (매우 중요!)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 수행: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중심화된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행렬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V^T$로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분해합니다.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주성분 추출: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 행렬의 열 벡터들이 바로 주성분 축(Principal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Axes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)이 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차원 축소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Projection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계산하거나,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Sigma$의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앞부분을 취하여 데이터를 저차원으로 투영합니다.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043361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3061</TotalTime>
  <Words>3238</Words>
  <Application>Microsoft Office PowerPoint</Application>
  <PresentationFormat>와이드스크린</PresentationFormat>
  <Paragraphs>416</Paragraphs>
  <Slides>42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7" baseType="lpstr"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Arial Narrow</vt:lpstr>
      <vt:lpstr>Calibri Light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PowerPoint 프레젠테이션</vt:lpstr>
      <vt:lpstr>Linear Regression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Geometry(2/2)</vt:lpstr>
      <vt:lpstr>Optimization(1/2)</vt:lpstr>
      <vt:lpstr>Optimization(2/2)</vt:lpstr>
      <vt:lpstr>Machine Learning(1/2)</vt:lpstr>
      <vt:lpstr>Machine Learning(2/2)</vt:lpstr>
      <vt:lpstr>Machine Learning(2/2)</vt:lpstr>
      <vt:lpstr>Machine Learning(2/2)</vt:lpstr>
      <vt:lpstr>대수(algebra)</vt:lpstr>
      <vt:lpstr>PowerPoint 프레젠테이션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  <vt:lpstr>SVD로 주성분분석 배우기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40</cp:revision>
  <dcterms:created xsi:type="dcterms:W3CDTF">2026-03-09T22:59:08Z</dcterms:created>
  <dcterms:modified xsi:type="dcterms:W3CDTF">2026-03-28T16:04:53Z</dcterms:modified>
</cp:coreProperties>
</file>