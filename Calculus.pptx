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57" r:id="rId4"/>
    <p:sldId id="278" r:id="rId5"/>
    <p:sldId id="260" r:id="rId6"/>
    <p:sldId id="265" r:id="rId7"/>
    <p:sldId id="259" r:id="rId8"/>
    <p:sldId id="268" r:id="rId9"/>
    <p:sldId id="266" r:id="rId10"/>
    <p:sldId id="279" r:id="rId11"/>
    <p:sldId id="267" r:id="rId12"/>
    <p:sldId id="272" r:id="rId13"/>
    <p:sldId id="273" r:id="rId14"/>
    <p:sldId id="280" r:id="rId15"/>
    <p:sldId id="269" r:id="rId16"/>
    <p:sldId id="281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017EF-B0C5-4F2B-99F2-8DD7659ECF32}" type="datetimeFigureOut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33B1C-0D5F-42ED-944D-ADB4310BB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732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E07EC-FAE3-CD22-0A12-F95D0F9FD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1362075"/>
          </a:xfrm>
        </p:spPr>
        <p:txBody>
          <a:bodyPr/>
          <a:lstStyle/>
          <a:p>
            <a:r>
              <a:rPr lang="en-US" altLang="ko-KR" dirty="0"/>
              <a:t>Calculus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22A912-C269-5DE4-418A-0B0B11B2D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998290"/>
            <a:ext cx="8825658" cy="861420"/>
          </a:xfrm>
        </p:spPr>
        <p:txBody>
          <a:bodyPr>
            <a:normAutofit/>
          </a:bodyPr>
          <a:lstStyle/>
          <a:p>
            <a:r>
              <a:rPr lang="en-US" altLang="ko-KR" sz="2800" cap="none" dirty="0"/>
              <a:t>Modeling and simulation</a:t>
            </a:r>
            <a:endParaRPr lang="ko-KR" altLang="en-US" sz="2800" cap="none" dirty="0"/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4126B61E-1F39-452D-5C3B-A004CC62B8A8}"/>
              </a:ext>
            </a:extLst>
          </p:cNvPr>
          <p:cNvSpPr txBox="1">
            <a:spLocks/>
          </p:cNvSpPr>
          <p:nvPr/>
        </p:nvSpPr>
        <p:spPr>
          <a:xfrm>
            <a:off x="1183530" y="4446090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sz="2800" cap="none" dirty="0"/>
              <a:t>2026 Spring</a:t>
            </a:r>
          </a:p>
          <a:p>
            <a:r>
              <a:rPr lang="ko-KR" altLang="en-US" sz="2200" cap="none" dirty="0" err="1"/>
              <a:t>조상구교수</a:t>
            </a:r>
            <a:endParaRPr lang="ko-KR" altLang="en-US" sz="2800" cap="none" dirty="0"/>
          </a:p>
        </p:txBody>
      </p:sp>
    </p:spTree>
    <p:extLst>
      <p:ext uri="{BB962C8B-B14F-4D97-AF65-F5344CB8AC3E}">
        <p14:creationId xmlns:p14="http://schemas.microsoft.com/office/powerpoint/2010/main" val="289830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77253-55D9-C5A4-DDCA-2C64C197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729BEC0-2EC4-2A16-AF3A-F5E8C4679D53}"/>
              </a:ext>
            </a:extLst>
          </p:cNvPr>
          <p:cNvSpPr/>
          <p:nvPr/>
        </p:nvSpPr>
        <p:spPr>
          <a:xfrm>
            <a:off x="612030" y="1931490"/>
            <a:ext cx="10351245" cy="6783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C5E9264-71FE-D065-0983-B32E54057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4DBA114-17ED-5D92-F01E-E672ACB5D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931490"/>
            <a:ext cx="10760820" cy="365016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Modeling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Time &amp; Space (w0)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(w1)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Using Gradient Descent: Linear Regression (w2)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Regression &amp; Classification with Perceptron (w3)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400" cap="none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ko-KR" altLang="en-US" sz="2400" cap="none" dirty="0"/>
          </a:p>
        </p:txBody>
      </p:sp>
    </p:spTree>
    <p:extLst>
      <p:ext uri="{BB962C8B-B14F-4D97-AF65-F5344CB8AC3E}">
        <p14:creationId xmlns:p14="http://schemas.microsoft.com/office/powerpoint/2010/main" val="550686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884FF29-4B25-404E-81DC-1CCAE143C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9994572" cy="43554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복잡한 현실 세계의 현상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시스템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사물 등을 일정한 규칙이나 관점에 따라 </a:t>
            </a:r>
            <a:r>
              <a:rPr lang="ko-KR" altLang="en-US" sz="18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추상화하여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단순한 형태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모델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표현하는 과정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추상화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단순화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미래에 대한 결과를 논리적으로 추정하는 행위</a:t>
            </a:r>
            <a:endParaRPr lang="en-US" altLang="ko-KR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통계적 모델링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머신러닝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모델링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시뮬레이션 및 테스트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수학적 모델링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데이터베이스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모델링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(ERD)……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960D66E-6DAA-C869-2E3C-06CF487E3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230" y="3194913"/>
            <a:ext cx="4608512" cy="3023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6D14F0A-2182-0C24-04C8-A2858EE5C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0C3A8B-E6BF-2A69-18BA-06D331E7D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758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916D8-1754-8D83-BCD0-B7907EB2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250A169-322C-6951-97E3-CAB84AA4E66B}"/>
              </a:ext>
            </a:extLst>
          </p:cNvPr>
          <p:cNvSpPr/>
          <p:nvPr/>
        </p:nvSpPr>
        <p:spPr>
          <a:xfrm>
            <a:off x="612030" y="2626815"/>
            <a:ext cx="10351245" cy="6783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D746300-886D-96E7-2D88-2A87D5045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7910AD-20D2-DF82-AFEF-1651FABCC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931490"/>
            <a:ext cx="10760820" cy="365016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Modeling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Time &amp; Space (w0)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(w1)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Using Gradient Descent: Linear Regression (w2)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Regression &amp; Classification with Perceptron (w3)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400" cap="none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ko-KR" altLang="en-US" sz="2400" cap="none" dirty="0"/>
          </a:p>
        </p:txBody>
      </p:sp>
    </p:spTree>
    <p:extLst>
      <p:ext uri="{BB962C8B-B14F-4D97-AF65-F5344CB8AC3E}">
        <p14:creationId xmlns:p14="http://schemas.microsoft.com/office/powerpoint/2010/main" val="3494545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DDCFB-7AB3-D3D2-F2B2-E0D460FAB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2A0FD5B-2339-E38C-4A56-DE98C9747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7"/>
            <a:ext cx="9556421" cy="47840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dirty="0" err="1"/>
              <a:t>sympy</a:t>
            </a:r>
            <a:r>
              <a:rPr lang="ko-KR" altLang="en-US" dirty="0"/>
              <a:t>는 </a:t>
            </a:r>
            <a:r>
              <a:rPr lang="ko-KR" altLang="en-US" dirty="0" err="1"/>
              <a:t>파이썬에서</a:t>
            </a:r>
            <a:r>
              <a:rPr lang="ko-KR" altLang="en-US" dirty="0"/>
              <a:t> 사용 가능한 대수</a:t>
            </a:r>
            <a:r>
              <a:rPr lang="en-US" altLang="ko-KR" dirty="0"/>
              <a:t>(algebra)</a:t>
            </a:r>
            <a:r>
              <a:rPr lang="ko-KR" altLang="en-US" dirty="0"/>
              <a:t> 계산 라이브러리로</a:t>
            </a:r>
            <a:r>
              <a:rPr lang="en-US" altLang="ko-KR" dirty="0"/>
              <a:t>, </a:t>
            </a:r>
            <a:r>
              <a:rPr lang="ko-KR" altLang="en-US" dirty="0"/>
              <a:t>기호 연산과 수학적 공식 표현을 지원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기호 연산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방정식 풀기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미분과 적분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방정식 그래프 그리기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0FB6319-F468-D130-A036-538E8745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sympy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D8D5A3D-86BD-1768-B2E9-BFC0D77DA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448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6531E-AB77-8E51-290D-2773B0758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FB19550-EB7C-EB2B-ACE4-48FF2EDEB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559583"/>
            <a:ext cx="4241471" cy="1450318"/>
          </a:xfrm>
        </p:spPr>
        <p:txBody>
          <a:bodyPr>
            <a:normAutofit/>
          </a:bodyPr>
          <a:lstStyle/>
          <a:p>
            <a:r>
              <a:rPr lang="en-US" altLang="ko-KR" dirty="0"/>
              <a:t>from </a:t>
            </a:r>
            <a:r>
              <a:rPr lang="en-US" altLang="ko-KR" dirty="0" err="1"/>
              <a:t>sympy</a:t>
            </a:r>
            <a:r>
              <a:rPr lang="en-US" altLang="ko-KR" dirty="0"/>
              <a:t> import symbols</a:t>
            </a:r>
          </a:p>
          <a:p>
            <a:r>
              <a:rPr lang="en-US" altLang="ko-KR" dirty="0"/>
              <a:t>x, y = symbols('x y')</a:t>
            </a:r>
          </a:p>
          <a:p>
            <a:r>
              <a:rPr lang="en-US" altLang="ko-KR" dirty="0"/>
              <a:t>expr = x + 2*y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6ACA4DB-B8FA-FE1C-66A3-A6ACC6000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sympy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7D15890-D0EE-8C14-F2F7-700699B1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0B0035CB-472C-77A2-93FC-E6DE07F7868F}"/>
              </a:ext>
            </a:extLst>
          </p:cNvPr>
          <p:cNvSpPr txBox="1">
            <a:spLocks/>
          </p:cNvSpPr>
          <p:nvPr/>
        </p:nvSpPr>
        <p:spPr>
          <a:xfrm>
            <a:off x="978229" y="4217058"/>
            <a:ext cx="4241471" cy="1450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dirty="0"/>
              <a:t>from </a:t>
            </a:r>
            <a:r>
              <a:rPr lang="en-US" altLang="ko-KR" dirty="0" err="1"/>
              <a:t>sympy</a:t>
            </a:r>
            <a:r>
              <a:rPr lang="en-US" altLang="ko-KR" dirty="0"/>
              <a:t> import Eq, solve</a:t>
            </a:r>
          </a:p>
          <a:p>
            <a:r>
              <a:rPr lang="en-US" altLang="ko-KR" dirty="0"/>
              <a:t>eq = Eq(x**2 + 2*x + 1, 0)</a:t>
            </a:r>
          </a:p>
          <a:p>
            <a:r>
              <a:rPr lang="en-US" altLang="ko-KR" dirty="0"/>
              <a:t>sol = solve(eq, x)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561FB-B458-7456-44E7-3D6042485AB8}"/>
              </a:ext>
            </a:extLst>
          </p:cNvPr>
          <p:cNvSpPr txBox="1">
            <a:spLocks/>
          </p:cNvSpPr>
          <p:nvPr/>
        </p:nvSpPr>
        <p:spPr>
          <a:xfrm>
            <a:off x="6092264" y="1559583"/>
            <a:ext cx="4241471" cy="145031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dirty="0"/>
              <a:t>from </a:t>
            </a:r>
            <a:r>
              <a:rPr lang="en-US" altLang="ko-KR" dirty="0" err="1"/>
              <a:t>sympy</a:t>
            </a:r>
            <a:r>
              <a:rPr lang="en-US" altLang="ko-KR" dirty="0"/>
              <a:t> import diff, integrate</a:t>
            </a:r>
          </a:p>
          <a:p>
            <a:r>
              <a:rPr lang="en-US" altLang="ko-KR" dirty="0"/>
              <a:t>expr = x**2 + 3*x + 2</a:t>
            </a:r>
          </a:p>
          <a:p>
            <a:r>
              <a:rPr lang="en-US" altLang="ko-KR" dirty="0"/>
              <a:t>derivative = diff(expr, x)</a:t>
            </a:r>
          </a:p>
          <a:p>
            <a:r>
              <a:rPr lang="en-US" altLang="ko-KR" dirty="0"/>
              <a:t>integral = integrate(expr, x)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4AFFB05-5355-FE27-BD3B-B918ABE8E1E5}"/>
              </a:ext>
            </a:extLst>
          </p:cNvPr>
          <p:cNvSpPr txBox="1">
            <a:spLocks/>
          </p:cNvSpPr>
          <p:nvPr/>
        </p:nvSpPr>
        <p:spPr>
          <a:xfrm>
            <a:off x="6092263" y="4217058"/>
            <a:ext cx="4241471" cy="14503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dirty="0"/>
              <a:t>from </a:t>
            </a:r>
            <a:r>
              <a:rPr lang="en-US" altLang="ko-KR" dirty="0" err="1"/>
              <a:t>sympy.plotting</a:t>
            </a:r>
            <a:r>
              <a:rPr lang="en-US" altLang="ko-KR" dirty="0"/>
              <a:t> import plot</a:t>
            </a:r>
          </a:p>
          <a:p>
            <a:r>
              <a:rPr lang="en-US" altLang="ko-KR" dirty="0"/>
              <a:t>expr = x**2 - 3*x + 2</a:t>
            </a:r>
          </a:p>
          <a:p>
            <a:r>
              <a:rPr lang="en-US" altLang="ko-KR" dirty="0"/>
              <a:t>plot(expr, (x, -5, 5))</a:t>
            </a:r>
          </a:p>
          <a:p>
            <a:r>
              <a:rPr lang="en-US" altLang="ko-KR" dirty="0"/>
              <a:t>plot(diff(expr, x))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90416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DBF7-AB87-CB1E-4F78-323C7FAF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02B9442-5172-8A2C-4B61-7CAEF6300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43554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미분과 적분은 단순히 복잡한 수식이 아니라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움직이는 변화를 관찰하는 도구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(t)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 따른 위치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(s),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속도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(v),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가속도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(a)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 관계는 미적분을 이해하기 가장 좋은 물리적 모델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(Differentiation):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위치를 시간에 대해 미분하면 속도가 되고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속도를 미분하면 가속도가 됩니다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순간적인 변화율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(Integration):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가속도를 시간에 대해 적분하면 속도가 되고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속도를 적분하면 변화된 거리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됩니다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누적된 총량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E0AD441E-5917-450E-4906-51D94A1D0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93C5350-3870-2D8F-063A-AD4B66AB3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554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3B1AB-73E4-323F-DBA4-700600A0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690ACADF-2BFB-89EA-4CEA-83CC7F2A47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8229" y="1321457"/>
                <a:ext cx="10518446" cy="158366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위치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변화된 거리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함수가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b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ko-KR" altLang="en-US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+9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 인 어떤 물체의 움직임을 살펴보자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/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시간변화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거리변화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/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시간변화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속도 변화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/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특정시간에 위치는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? 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일 때 나의 위치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움직인 거리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는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?</a:t>
                </a:r>
              </a:p>
            </p:txBody>
          </p:sp>
        </mc:Choice>
        <mc:Fallback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690ACADF-2BFB-89EA-4CEA-83CC7F2A47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8229" y="1321457"/>
                <a:ext cx="10518446" cy="1583667"/>
              </a:xfrm>
              <a:blipFill>
                <a:blip r:embed="rId2"/>
                <a:stretch>
                  <a:fillRect l="-232" t="-4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1">
            <a:extLst>
              <a:ext uri="{FF2B5EF4-FFF2-40B4-BE49-F238E27FC236}">
                <a16:creationId xmlns:a16="http://schemas.microsoft.com/office/drawing/2014/main" id="{31C0D103-A023-ED17-E303-9AE7F145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B29F212-C4C7-C099-E8CD-444A510C0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971FBA1-8946-BE0F-CC99-FA242E0E4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489" y="3065464"/>
            <a:ext cx="9477375" cy="3112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8256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5762A-CD1D-F0CB-9A99-FC8EA8D4C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7F0CC4A2-4B44-9CAA-B20A-151E69FCFE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8229" y="1321457"/>
                <a:ext cx="10518446" cy="158366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위치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변화된 거리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함수가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ko-KR" altLang="en-US" i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b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ko-KR" altLang="en-US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+9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 인 어떤 물체의 움직임을 살펴보자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/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시간변화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거리변화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/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시간변화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속도 변화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/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특정시간에 위치는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? 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일 때 나의 위치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움직인 거리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는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?</a:t>
                </a:r>
              </a:p>
            </p:txBody>
          </p:sp>
        </mc:Choice>
        <mc:Fallback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7F0CC4A2-4B44-9CAA-B20A-151E69FCFE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8229" y="1321457"/>
                <a:ext cx="10518446" cy="1583667"/>
              </a:xfrm>
              <a:blipFill>
                <a:blip r:embed="rId2"/>
                <a:stretch>
                  <a:fillRect l="-232" t="-4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1">
            <a:extLst>
              <a:ext uri="{FF2B5EF4-FFF2-40B4-BE49-F238E27FC236}">
                <a16:creationId xmlns:a16="http://schemas.microsoft.com/office/drawing/2014/main" id="{33FA9756-4D60-95AD-C21F-D0BF91D49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5AB88AB-AF58-CDCF-02C5-0714062F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A8962F5-C54B-FA99-98A0-64D114B85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440" y="3070225"/>
            <a:ext cx="9373736" cy="3084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36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82FAE-A033-2B90-F1D5-F10070FFC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7C19B47-A83B-D082-B157-BA7FA176FC86}"/>
              </a:ext>
            </a:extLst>
          </p:cNvPr>
          <p:cNvSpPr/>
          <p:nvPr/>
        </p:nvSpPr>
        <p:spPr>
          <a:xfrm>
            <a:off x="612030" y="3303090"/>
            <a:ext cx="10351245" cy="6783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23A91E2-DBC9-A0C2-5692-5D17ABFF9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2534AD-46C0-0883-0EE5-D1F288812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931490"/>
            <a:ext cx="10760820" cy="365016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Modeling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Time &amp; Space (w0)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(w1)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Using Gradient Descent: Linear Regression (w2)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Regression &amp; Classification with Perceptron (w3)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400" cap="none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ko-KR" altLang="en-US" sz="2400" cap="none" dirty="0"/>
          </a:p>
        </p:txBody>
      </p:sp>
    </p:spTree>
    <p:extLst>
      <p:ext uri="{BB962C8B-B14F-4D97-AF65-F5344CB8AC3E}">
        <p14:creationId xmlns:p14="http://schemas.microsoft.com/office/powerpoint/2010/main" val="1978809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A7F15-CC48-EF66-DE9B-044C76CC1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B86733F-17E8-F77E-0D2D-9C8ACE002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7664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A,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B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군데 공급업체의 물품 가격 추세선을 바탕으로 최적의 주문 비율을 정하라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759CEC3-8C62-8AED-B57C-6AC41CB53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00ACED5-0EA9-66A8-294D-E39924E5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E8E5FA1-3531-E437-5ECA-5DAA4C115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58" y="2345938"/>
            <a:ext cx="10810875" cy="319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368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44E43-CB59-8F5C-4388-4811D5B1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518745B-AC4C-DDD2-8292-D26BA8532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11645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A,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B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군데 공급업체의 물품 가격의 이동평균과 이동 표준편차를 고려하라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(Hints)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가격의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변동성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분산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 큰 것은 위험한 것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C2D05B7-AC60-6082-2034-4BCDC4EF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FD1F052-3979-3A26-E065-56AF8FA9E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3E337E23-A785-0D8C-E673-31CA7D63D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50" y="2803526"/>
            <a:ext cx="10810875" cy="3557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018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77A33-2D8C-8206-106E-DD18CAAB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810804F-F0BA-ECEF-4EB9-DFFA04EB9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7664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sympy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비용함수를 만들어 최적화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미분 값이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zero)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되는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w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찾으면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0.7023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3FE925E-53B4-0BD5-7DDB-C1DBEFCDD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7E96ED0-98E2-AE92-8E7D-773680F5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436B390-E3E2-8328-29E8-1FA5AA40C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338" y="2345939"/>
            <a:ext cx="515302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757515-8BAB-A0AF-2D1F-FA9AD75392E2}"/>
              </a:ext>
            </a:extLst>
          </p:cNvPr>
          <p:cNvSpPr txBox="1"/>
          <p:nvPr/>
        </p:nvSpPr>
        <p:spPr>
          <a:xfrm>
            <a:off x="6543675" y="2310488"/>
            <a:ext cx="5153025" cy="31700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sympy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as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</a:t>
            </a:r>
            <a:endParaRPr lang="en-US" altLang="ko-KR" sz="1400" b="0" dirty="0">
              <a:solidFill>
                <a:schemeClr val="bg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solidFill>
                <a:schemeClr val="bg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1.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기호 정의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w: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배분 비율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sA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A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분산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B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분산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sAB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A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공분산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sp.symbols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('omega')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sA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sAB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sp.symbols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('sigma_A^2 sigma_B^2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sigma_AB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')</a:t>
            </a: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solidFill>
                <a:schemeClr val="bg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2.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리스크 함수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분산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정의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L(w) = Var(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*w +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*(1-w))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전개식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w^2*Var(A) + (1-w)^2*Var(B) + 2*w*(1-w)*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Cov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(A,B)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 = w**2 *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sA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+ (1-w)**2 *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+ 2*w*(1-w) *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sAB</a:t>
            </a:r>
            <a:b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</a:br>
            <a:endParaRPr lang="en-US" altLang="ko-KR" sz="1400" b="0" dirty="0">
              <a:solidFill>
                <a:schemeClr val="bg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3.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최적화를 위한 미분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(dL/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dw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0)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diff_L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sp.diff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(L, w)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optimal_w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sp.solve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diff_L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w)[0]</a:t>
            </a:r>
          </a:p>
        </p:txBody>
      </p:sp>
    </p:spTree>
    <p:extLst>
      <p:ext uri="{BB962C8B-B14F-4D97-AF65-F5344CB8AC3E}">
        <p14:creationId xmlns:p14="http://schemas.microsoft.com/office/powerpoint/2010/main" val="1930366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5097B-7427-C0AB-6F04-BE67DEC3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F0140D0-FFF2-01DF-9ED7-7C9454988C15}"/>
              </a:ext>
            </a:extLst>
          </p:cNvPr>
          <p:cNvSpPr/>
          <p:nvPr/>
        </p:nvSpPr>
        <p:spPr>
          <a:xfrm>
            <a:off x="612030" y="3960315"/>
            <a:ext cx="10351245" cy="6783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9CC678-FB7D-779E-F902-64AD251E5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8127D1-72FD-64AB-EEF3-DD5FA5E70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931490"/>
            <a:ext cx="10760820" cy="365016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Modeling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Time &amp; Space (w0)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(w1)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Using Gradient Descent: Linear Regression (w2)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Regression &amp; Classification with Perceptron (w3)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400" cap="none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ko-KR" altLang="en-US" sz="2400" cap="none" dirty="0"/>
          </a:p>
        </p:txBody>
      </p:sp>
    </p:spTree>
    <p:extLst>
      <p:ext uri="{BB962C8B-B14F-4D97-AF65-F5344CB8AC3E}">
        <p14:creationId xmlns:p14="http://schemas.microsoft.com/office/powerpoint/2010/main" val="1444619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2365C-2FC7-5245-0848-EAD4EECDB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B2126BE-317A-FC6D-1EFF-328494D87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Loss 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911645E-4FD6-1363-3E45-0A247404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131A6A-B13C-CBF5-A2D9-F3D965A1F04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92866" y="3034136"/>
            <a:ext cx="4673771" cy="102133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7FA0E69-D0BF-D5B0-8F1E-C0EF9C65DE9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92866" y="4316873"/>
            <a:ext cx="4633188" cy="112955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5B7088D-3D0B-DB8A-8968-53C063BAF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775" y="1622010"/>
            <a:ext cx="5159187" cy="1150720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1C2C48BE-9BC7-5AC2-EEEF-B0EB00AFA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5" y="1622010"/>
            <a:ext cx="535305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5B14EC5A-44EC-8A71-55DA-2308077F4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5" y="1624058"/>
            <a:ext cx="535305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3B44A2-52A5-F573-88BA-ED032686EDAA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25363" y="3544801"/>
            <a:ext cx="1045904" cy="30727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71B9045-AEBD-DD1A-465A-F80A2DB51B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0792" y="2071264"/>
            <a:ext cx="283635" cy="30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3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B1B24-3E9D-4BB5-B457-19F3B0002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08AD208-E2B2-1EF9-2609-79EB51A30B9C}"/>
              </a:ext>
            </a:extLst>
          </p:cNvPr>
          <p:cNvSpPr/>
          <p:nvPr/>
        </p:nvSpPr>
        <p:spPr>
          <a:xfrm>
            <a:off x="612030" y="4646115"/>
            <a:ext cx="10351245" cy="6783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3DA8092-1CEA-6747-7AAB-2C442F7F0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561266-4124-5A02-E743-19C4E2DB0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931490"/>
            <a:ext cx="10760820" cy="365016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Modeling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Time &amp; Space (w0)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(w1)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Using Gradient Descent: Linear Regression (w2)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Regression &amp; Classification with Perceptron (w3)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400" cap="none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ko-KR" altLang="en-US" sz="2400" cap="none" dirty="0"/>
          </a:p>
        </p:txBody>
      </p:sp>
    </p:spTree>
    <p:extLst>
      <p:ext uri="{BB962C8B-B14F-4D97-AF65-F5344CB8AC3E}">
        <p14:creationId xmlns:p14="http://schemas.microsoft.com/office/powerpoint/2010/main" val="3644402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7518D-D787-F6DA-2B04-60E6A82AC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D89E5E9-9EDB-F73D-A861-DC9CC08C9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43554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미분과 적분은 단순히 복잡한 수식이 아니라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움직이는 변화를 관찰하는 도구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(t)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 따른 위치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(s),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속도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(v),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가속도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(a)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 관계는 미적분을 이해하기 가장 좋은 물리적 모델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(Differentiation):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위치를 시간에 대해 미분하면 속도가 되고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속도를 미분하면 가속도가 됩니다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순간적인 변화율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(Integration):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가속도를 시간에 대해 적분하면 속도가 되고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속도를 적분하면 변화된 거리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됩니다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누적된 총량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E77406E6-F790-A19C-AED6-8D80DDA81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5DD2C4E-D8D0-2C93-4374-1033CD36B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162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33FAF-1A3A-4B68-C7C4-E0D3AC36B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11AF0EA-2137-8545-3207-A408B887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43554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미분과 적분은 단순히 복잡한 수식이 아니라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움직이는 변화를 관찰하는 도구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(t)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 따른 위치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(s),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속도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(v),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가속도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(a)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 관계는 미적분을 이해하기 가장 좋은 물리적 모델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(Differentiation):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위치를 시간에 대해 미분하면 속도가 되고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속도를 미분하면 가속도가 됩니다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순간적인 변화율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(Integration):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가속도를 시간에 대해 적분하면 속도가 되고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속도를 적분하면 변화된 거리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됩니다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누적된 총량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118866DB-0863-1FAB-838D-BC9154A4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96501D9-535D-C46D-7C54-BE147609A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2236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2312</TotalTime>
  <Words>957</Words>
  <Application>Microsoft Office PowerPoint</Application>
  <PresentationFormat>와이드스크린</PresentationFormat>
  <Paragraphs>122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7" baseType="lpstr">
      <vt:lpstr>맑은 고딕</vt:lpstr>
      <vt:lpstr>맑은 고딕 Semilight</vt:lpstr>
      <vt:lpstr>Arial</vt:lpstr>
      <vt:lpstr>Cambria Math</vt:lpstr>
      <vt:lpstr>Century Gothic</vt:lpstr>
      <vt:lpstr>Times New Roman</vt:lpstr>
      <vt:lpstr>Wingdings</vt:lpstr>
      <vt:lpstr>Wingdings 3</vt:lpstr>
      <vt:lpstr>이온</vt:lpstr>
      <vt:lpstr>Calculus</vt:lpstr>
      <vt:lpstr>Contents</vt:lpstr>
      <vt:lpstr>Modeling</vt:lpstr>
      <vt:lpstr>Contents</vt:lpstr>
      <vt:lpstr>python sympy</vt:lpstr>
      <vt:lpstr>python sympy</vt:lpstr>
      <vt:lpstr>Time &amp; Space</vt:lpstr>
      <vt:lpstr>Time &amp; Space</vt:lpstr>
      <vt:lpstr>Time &amp; Space</vt:lpstr>
      <vt:lpstr>Contents</vt:lpstr>
      <vt:lpstr>Optimization</vt:lpstr>
      <vt:lpstr>Optimization</vt:lpstr>
      <vt:lpstr>Optimization</vt:lpstr>
      <vt:lpstr>Contents</vt:lpstr>
      <vt:lpstr>Optimization of Loss Function</vt:lpstr>
      <vt:lpstr>Contents</vt:lpstr>
      <vt:lpstr>Time &amp; Space</vt:lpstr>
      <vt:lpstr>Time &amp; Space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4</cp:revision>
  <dcterms:created xsi:type="dcterms:W3CDTF">2026-04-11T22:24:40Z</dcterms:created>
  <dcterms:modified xsi:type="dcterms:W3CDTF">2026-04-13T12:57:06Z</dcterms:modified>
</cp:coreProperties>
</file>