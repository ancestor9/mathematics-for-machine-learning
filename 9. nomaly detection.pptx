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6"/>
  </p:notesMasterIdLst>
  <p:handoutMasterIdLst>
    <p:handoutMasterId r:id="rId37"/>
  </p:handoutMasterIdLst>
  <p:sldIdLst>
    <p:sldId id="256" r:id="rId5"/>
    <p:sldId id="324" r:id="rId6"/>
    <p:sldId id="338" r:id="rId7"/>
    <p:sldId id="302" r:id="rId8"/>
    <p:sldId id="340" r:id="rId9"/>
    <p:sldId id="341" r:id="rId10"/>
    <p:sldId id="342" r:id="rId11"/>
    <p:sldId id="347" r:id="rId12"/>
    <p:sldId id="343" r:id="rId13"/>
    <p:sldId id="345" r:id="rId14"/>
    <p:sldId id="346" r:id="rId15"/>
    <p:sldId id="344" r:id="rId16"/>
    <p:sldId id="348" r:id="rId17"/>
    <p:sldId id="350" r:id="rId18"/>
    <p:sldId id="326" r:id="rId19"/>
    <p:sldId id="329" r:id="rId20"/>
    <p:sldId id="308" r:id="rId21"/>
    <p:sldId id="330" r:id="rId22"/>
    <p:sldId id="331" r:id="rId23"/>
    <p:sldId id="335" r:id="rId24"/>
    <p:sldId id="336" r:id="rId25"/>
    <p:sldId id="327" r:id="rId26"/>
    <p:sldId id="328" r:id="rId27"/>
    <p:sldId id="332" r:id="rId28"/>
    <p:sldId id="270" r:id="rId29"/>
    <p:sldId id="334" r:id="rId30"/>
    <p:sldId id="333" r:id="rId31"/>
    <p:sldId id="337" r:id="rId32"/>
    <p:sldId id="312" r:id="rId33"/>
    <p:sldId id="314" r:id="rId34"/>
    <p:sldId id="313" r:id="rId35"/>
  </p:sldIdLst>
  <p:sldSz cx="12188825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8673" autoAdjust="0"/>
    <p:restoredTop sz="94660"/>
  </p:normalViewPr>
  <p:slideViewPr>
    <p:cSldViewPr>
      <p:cViewPr>
        <p:scale>
          <a:sx n="75" d="100"/>
          <a:sy n="75" d="100"/>
        </p:scale>
        <p:origin x="1267" y="274"/>
      </p:cViewPr>
      <p:guideLst>
        <p:guide pos="3839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90" d="100"/>
          <a:sy n="90" d="100"/>
        </p:scale>
        <p:origin x="2814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0A85425-0F1F-4C65-805F-C7280B9ECE9F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2026-03-25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8ED8CD-4E4C-49AC-BDC6-2963BA49E54F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4179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9DBE7D5-AA2D-4B26-8C69-8B60D39FD5EE}" type="datetime1">
              <a:rPr lang="ko-KR" altLang="en-US" smtClean="0"/>
              <a:pPr/>
              <a:t>2026-03-25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B91549-43BF-425A-AF25-75262019208C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392864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1145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3B65B-4D46-A4B6-4A55-CF7F725D8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EC8E50-C409-8198-1011-7B049358C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BC7159-0CFA-4FF6-3C88-1A3B88DBE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F161A9-E2C3-ED47-AF62-F9F2270176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7275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5FEA8-EC05-73F5-A0EE-A91BF9812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6C3209-2357-5ACF-2202-D54B7D71A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8642F0-A7DB-6287-60F9-78806E4AE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B3EDCE-8D13-18A3-1D4E-CF7160507F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95105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0A826-7FE2-3F7D-9283-FAF6D1305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448CFC-448A-2634-6548-6E7CE2607C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6286E9-0EA3-AB3D-2263-D8DD3F4832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A550C5-9CCC-0B92-3694-E327587CBB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0387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6209C-0183-4045-FDF0-C7DCBDA4F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3F8734-82DB-BF23-C798-DD3B47DB4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E339CF-C307-706C-BF73-EAE540CE5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850BCB-255F-06D5-FC44-87040ECD55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4359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B54B5-590A-2479-5223-33883286D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1FB4FA-2D77-F113-2E39-921529EDA7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CB6119-00F8-12BA-16DA-85CC1E3BB9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1E365D-FE81-1932-B100-D8C6516292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0895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B32FB-3EB0-AEBC-E40F-BB33BC9FB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A4E683-FE2F-BB63-1EB7-864D91D471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291276-1DA3-899E-6069-E2B42996E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AFABCD-20B6-37FA-41D5-F50DF3BD65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94556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1B0D6-A4AD-994F-1367-2754FEA37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45874B-3F3C-47C5-D0DD-0FFD71D3A6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F54D28-BFFF-A11D-50D8-0008EB149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9E205E-CDD0-1877-858F-4FD8A214CE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940857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64BAA-A917-A39A-1229-BCCAA2E1A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C090AB-C752-2E42-A6BB-40D09D7F66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A4F9E0-DE04-E22E-C490-7B3A708DBC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931026-CACC-B009-6F0E-0E370FCFBD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615352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4F873-EB0E-28FA-E976-8EF0A488E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037E07-5777-D234-DA19-41F1575DAD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8513D8-E2AB-E367-5122-73F0F8CECD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5BE07F-8370-13D0-C9F3-F9E1E23CB9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16467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2E22F-006A-C137-73D0-37043EFCE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5475C01-7D6A-3A67-C950-C71725D262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FF48C6-8DFC-F9C2-8200-5015F5A2F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BA67BF-4A4B-69F5-3BEF-F67995ACBE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88347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47F29-903A-491E-F84E-ACD475DBC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F54D30-5558-16BE-5C29-BD697440D8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B9D372-E36C-03F3-E4EF-9A11D6FC6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ADE4FF-1675-7A3B-A914-A051B340FC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65029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3F763-5BBB-8DC6-D182-705D2BEA0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889BA0-2D8E-E088-D04F-FE16D44AE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21449C-A84E-FC7A-F985-9B2733CD54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3525E9-1CE1-4591-8228-62ACBE9E75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56940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F2664-A999-DB12-55D9-A807D7EA5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3D66684-8FD3-F45B-8CCF-D17CCA7F6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87F7D0-2734-AACF-E8A7-B644123B79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A23582-4684-FFA8-8372-3EC1895FB0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43097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C8F37-DCD9-3001-E354-B3A6D1C1C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6D4E07-A396-E1F7-0919-72AF00F19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8E06E1-13C1-3C32-46CB-92506A498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1BFDC5-8668-119F-E940-FF2F60314D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75713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1F81B-CB31-7520-3EE7-553AF4679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91870D-CD75-0D49-61BE-5E9670316B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407D5D-B6CF-0255-CFC3-2D0990AEB0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A7FF11-BC9D-81CC-28FB-6E8527DCB0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12160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B1111-0F2C-72CD-1A8C-DE20D1349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D0A8F7-D3A7-3B77-DA76-D13BEAE2D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0989BA-EE78-7BC1-B768-664079BC9C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5AB258-08B6-57BF-2449-3EC2E44E86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52516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0EC47-9CD8-DDD5-55D5-6A5F0347C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401884-EDA3-A271-1C7E-4E8285FDA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D7E2C4-3994-5C5F-CABE-D9AF20D5B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3B9912-1704-9F51-F3D8-B86D2186DE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92874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6CDCA-6759-158B-FF35-AF6DE0896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3944C0-1525-8E80-31F9-84E93B491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2DCD89-100B-5F15-9D63-96D442C6EE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D52EE5-4C62-D3FF-3EEA-65CD47D0D9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56597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E1F09-E2C8-8475-47B1-046C6489A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838990-C365-4179-E346-19C666824F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D8B74B-485A-5956-8457-269AA6291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1334D6-1008-7EC8-0C59-18777F82AD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83885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278CA-85C2-18FE-41A1-D8560AD73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6BD485-86AD-19FF-DDF5-2F7852062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368EA6-9964-3275-3D30-7C589B055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8F715A-8D61-45C8-FCE5-090EAE16F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78384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F1E90-FAFD-AE47-A6A5-531D881A9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993C63-FB60-385C-14CA-73D0BB0171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E839F2-E212-8AC2-F32C-6F9172D32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134C51-FD7A-5D59-88E9-AF826AE931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87101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E1C92-92CB-6BE8-4DA6-052441C67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CDCE9D-CF12-F6D3-37E2-0B82EF8C6C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A9FEB9-C7EF-D5D2-7C18-BC3EB5695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5D5893-CE19-500D-2558-5CF1341FC5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11370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E576F-1D01-3984-7371-93D37058F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6FBFDE-1441-1A58-B6CF-124A0B8D3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C1F405-621A-0C48-99FD-416192F57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309E8A-9401-0798-4930-F922ADFBEF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55552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14182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0D87D-17A6-9E3E-F9D9-AA8ED3B44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17F3C4-094D-0782-2A84-5153DF6BCF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5B08AE-B15A-DBDA-62FA-019223FA3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56B754-A92A-CA6A-D941-D6E4E4C14C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836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F68EC-F2DC-26A8-D8E8-8A5DA29E5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F9880A-1140-0FAA-D484-DC44C6A24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CE6730-D7DF-5F69-282A-BB7C916ADA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AE3FBA-3D16-082D-CFFC-413BA1B40A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19860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FDBB8-704B-8B99-372F-1580163D1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F89D06-3D3E-AE0D-8D6A-24E77B82A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8F4474-360F-218E-C458-6B1616363F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AEB69F-4B0E-07A1-756A-77225AF22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52899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B38D4-2033-D269-92E2-472DD489A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FF330B-E197-FC28-0494-06EAABC3F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58F670-6DD6-E601-1D5C-5E78E0C02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59EA6E-ACE1-35DA-C0A0-227592EE1A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40312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A3BBD-A9D1-EAD0-4ABD-EF3EE5959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41FB98-6E70-56DE-D99C-6C67CCB160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1D7A4F-F09B-9B32-85C0-40088E9A5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9C65BD-8C7A-8503-3490-EB8170B098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9537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유리 벽으로 된 건물로 둘러싸인 파란 하늘과 구름을 아래에서 올려다본 사진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73625" y="0"/>
            <a:ext cx="7315200" cy="685800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4724399"/>
          </a:xfrm>
        </p:spPr>
        <p:txBody>
          <a:bodyPr rtlCol="0">
            <a:normAutofit/>
          </a:bodyPr>
          <a:lstStyle>
            <a:lvl1pPr>
              <a:defRPr sz="4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B229CEB-779D-4AB3-81CB-8FCEEAE03F61}" type="datetime1">
              <a:rPr lang="ko-KR" altLang="en-US" smtClean="0"/>
              <a:t>2026-03-25</a:t>
            </a:fld>
            <a:endParaRPr lang="ko-KR" altLang="en-US" dirty="0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3F31473-23EB-4724-8B59-FE6D21D89FA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4839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76306AB-75A0-421C-B431-0E4E30A5C28E}" type="datetime1">
              <a:rPr lang="ko-KR" altLang="en-US" noProof="0" smtClean="0"/>
              <a:t>2026-03-25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13786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3" y="2590800"/>
            <a:ext cx="8229599" cy="2819400"/>
          </a:xfrm>
        </p:spPr>
        <p:txBody>
          <a:bodyPr rtlCol="0" anchor="b">
            <a:normAutofit/>
          </a:bodyPr>
          <a:lstStyle>
            <a:lvl1pPr algn="l">
              <a:defRPr sz="4800" b="0" cap="none" baseline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6425" y="5410200"/>
            <a:ext cx="8231187" cy="762000"/>
          </a:xfrm>
        </p:spPr>
        <p:txBody>
          <a:bodyPr rtlCol="0" anchor="t">
            <a:normAutofit/>
          </a:bodyPr>
          <a:lstStyle>
            <a:lvl1pPr marL="0" indent="0" rtl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1D969EE-F1EB-462E-B70D-5B36B3806A4E}" type="datetime1">
              <a:rPr lang="ko-KR" altLang="en-US" noProof="0" smtClean="0"/>
              <a:t>2026-03-25</a:t>
            </a:fld>
            <a:endParaRPr lang="ko-KR" altLang="en-US" noProof="0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pPr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2251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293813" y="685800"/>
            <a:ext cx="5029200" cy="4191000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551614" y="685800"/>
            <a:ext cx="5029199" cy="4191000"/>
          </a:xfrm>
        </p:spPr>
        <p:txBody>
          <a:bodyPr rtlCol="0"/>
          <a:lstStyle>
            <a:lvl1pPr rtl="0"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CBB1B7-E0A1-46A3-B5B5-C69931095FF6}" type="datetime1">
              <a:rPr lang="ko-KR" altLang="en-US" noProof="0" smtClean="0"/>
              <a:t>2026-03-25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9701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664" y="685800"/>
            <a:ext cx="5029200" cy="9906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293664" y="1676400"/>
            <a:ext cx="5029200" cy="3200400"/>
          </a:xfrm>
        </p:spPr>
        <p:txBody>
          <a:bodyPr rtlCol="0"/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551613" y="685800"/>
            <a:ext cx="5029200" cy="9906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550025" y="1676400"/>
            <a:ext cx="5029200" cy="3200400"/>
          </a:xfrm>
        </p:spPr>
        <p:txBody>
          <a:bodyPr rtlCol="0"/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FC0E65-06AB-44D7-AAEE-8F4C7ED84A0C}" type="datetime1">
              <a:rPr lang="ko-KR" altLang="en-US" noProof="0" smtClean="0"/>
              <a:t>2026-03-25</a:t>
            </a:fld>
            <a:endParaRPr lang="ko-KR" altLang="en-US" noProof="0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513096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189E66-D439-4767-B911-EB49CB20E313}" type="datetime1">
              <a:rPr lang="ko-KR" altLang="en-US" noProof="0" smtClean="0"/>
              <a:t>2026-03-25</a:t>
            </a:fld>
            <a:endParaRPr lang="ko-KR" altLang="en-US" noProof="0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134428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E4FFC0-DB28-4291-80A0-63DBF8428320}" type="datetime1">
              <a:rPr lang="ko-KR" altLang="en-US" noProof="0" smtClean="0"/>
              <a:t>2026-03-25</a:t>
            </a:fld>
            <a:endParaRPr lang="ko-KR" altLang="en-US" noProof="0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910311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rtlCol="0" anchor="b">
            <a:noAutofit/>
          </a:bodyPr>
          <a:lstStyle>
            <a:lvl1pPr algn="l">
              <a:defRPr sz="3600" b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75212" y="685800"/>
            <a:ext cx="6704171" cy="5486400"/>
          </a:xfrm>
        </p:spPr>
        <p:txBody>
          <a:bodyPr rtlCol="0">
            <a:normAutofit/>
          </a:bodyPr>
          <a:lstStyle>
            <a:lvl1pPr rtl="0"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B5804B-C38E-4214-93DF-3E6DA00134E8}" type="datetime1">
              <a:rPr lang="ko-KR" altLang="en-US" noProof="0" smtClean="0"/>
              <a:t>2026-03-25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234726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rtlCol="0" anchor="b">
            <a:normAutofit/>
          </a:bodyPr>
          <a:lstStyle>
            <a:lvl1pPr algn="l">
              <a:defRPr sz="3600" b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그림 개체 틀 2" descr="이미지를 추가할 수 있는 빈 개체 틀입니다. 개체 틀을 클릭하고 추가할 이미지를 선택하세요."/>
          <p:cNvSpPr>
            <a:spLocks noGrp="1"/>
          </p:cNvSpPr>
          <p:nvPr>
            <p:ph type="pic" idx="1"/>
          </p:nvPr>
        </p:nvSpPr>
        <p:spPr>
          <a:xfrm>
            <a:off x="4875213" y="685800"/>
            <a:ext cx="6705600" cy="5486400"/>
          </a:xfrm>
          <a:ln w="63500">
            <a:solidFill>
              <a:schemeClr val="bg1"/>
            </a:solidFill>
            <a:miter lim="800000"/>
          </a:ln>
        </p:spPr>
        <p:txBody>
          <a:bodyPr rtlCol="0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en-US" altLang="ko-KR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ABEE384-F18F-4153-AC21-608599869F84}" type="datetime1">
              <a:rPr lang="ko-KR" altLang="en-US" noProof="0" smtClean="0"/>
              <a:t>2026-03-25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352041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None/>
              <a:tabLst/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B7A883-0BF0-4B4B-84D5-D747A0111A56}" type="datetime1">
              <a:rPr lang="ko-KR" altLang="en-US" noProof="0" smtClean="0"/>
              <a:t>2026-03-25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17629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0285412" y="685800"/>
            <a:ext cx="1295401" cy="5486400"/>
          </a:xfrm>
        </p:spPr>
        <p:txBody>
          <a:bodyPr vert="eaVert"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8012" y="685800"/>
            <a:ext cx="9474253" cy="5486400"/>
          </a:xfrm>
        </p:spPr>
        <p:txBody>
          <a:bodyPr vert="eaVert" rtlCol="0"/>
          <a:lstStyle>
            <a:lvl1pPr rtl="0"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A7EA29-F2BB-4FB1-BB4B-C55A7FA3FC5C}" type="datetime1">
              <a:rPr lang="ko-KR" altLang="en-US" noProof="0" smtClean="0"/>
              <a:t>2026-03-25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50052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441" y="5105400"/>
            <a:ext cx="10971372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813" y="685800"/>
            <a:ext cx="10287000" cy="4190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67A4C69-65FB-481C-AC2A-84D254D33675}" type="datetime1">
              <a:rPr lang="ko-KR" altLang="en-US" smtClean="0"/>
              <a:t>2026-03-25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3F31473-23EB-4724-8B59-FE6D21D89FA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92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1" hangingPunct="1">
        <a:lnSpc>
          <a:spcPct val="80000"/>
        </a:lnSpc>
        <a:spcBef>
          <a:spcPct val="0"/>
        </a:spcBef>
        <a:buNone/>
        <a:defRPr sz="3600" kern="1200">
          <a:solidFill>
            <a:schemeClr val="accent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15950" indent="-28575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Corbel" pitchFamily="34" charset="0"/>
        <a:buChar char="–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996696" indent="-228600" algn="l" defTabSz="914400" rtl="0" eaLnBrk="1" latinLnBrk="1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380744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764792" indent="-228600" algn="l" defTabSz="914400" rtl="0" eaLnBrk="1" latinLnBrk="1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148840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532888" indent="-22860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916936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300984" indent="-22860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Sunrise_problem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cikit-learn.org/stable/auto_examples/neighbors/plot_kde_1d.html" TargetMode="Externa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seaborn.pydata.org/examples/layered_bivariate_plot.html" TargetMode="External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eaborn.pydata.org/examples/regression_marginals.html" TargetMode="External"/><Relationship Id="rId5" Type="http://schemas.openxmlformats.org/officeDocument/2006/relationships/image" Target="../media/image11.png"/><Relationship Id="rId4" Type="http://schemas.openxmlformats.org/officeDocument/2006/relationships/hyperlink" Target="https://seaborn.pydata.org/examples/marginal_ticks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unsupervised_learning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cikit-learn.org/stable/unsupervised_learning.html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hyperlink" Target="https://seaborn.pydata.org/examples/joint_histogram.html" TargetMode="Externa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eaborn.pydata.org/examples/hexbin_marginals.html" TargetMode="External"/><Relationship Id="rId5" Type="http://schemas.openxmlformats.org/officeDocument/2006/relationships/image" Target="../media/image27.png"/><Relationship Id="rId4" Type="http://schemas.openxmlformats.org/officeDocument/2006/relationships/hyperlink" Target="https://seaborn.pydata.org/examples/scatterplot_matrix.html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eaborn.pydata.org/examples/hexbin_marginals.html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seaborn.pydata.org/examples/joint_kde.html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s://www.kaggle.com/code/shakedzy/alone-in-the-woods-using-theil-s-u-for-surviva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ancestor9/data/blob/main/customers.csv" TargetMode="External"/><Relationship Id="rId4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eaborn.pydata.org/examples/joint_kd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2959223"/>
          </a:xfrm>
        </p:spPr>
        <p:txBody>
          <a:bodyPr rtlCol="0">
            <a:normAutofit/>
          </a:bodyPr>
          <a:lstStyle/>
          <a:p>
            <a:pPr rtl="0"/>
            <a:r>
              <a:rPr lang="ko-KR" altLang="en-US" b="1" dirty="0"/>
              <a:t>통계와 확률</a:t>
            </a:r>
            <a:br>
              <a:rPr lang="en-US" altLang="ko-KR" b="1" dirty="0"/>
            </a:br>
            <a:br>
              <a:rPr lang="en-US" altLang="ko-KR" dirty="0"/>
            </a:br>
            <a:r>
              <a:rPr lang="en-US" altLang="ko-KR" sz="2400" b="1" dirty="0"/>
              <a:t>- </a:t>
            </a:r>
            <a:r>
              <a:rPr lang="ko-KR" altLang="en-US" sz="2400" b="1" dirty="0"/>
              <a:t>확률론에 들어가기 전 </a:t>
            </a:r>
            <a:r>
              <a:rPr lang="en-US" altLang="ko-KR" sz="2400" b="1" dirty="0"/>
              <a:t>- </a:t>
            </a:r>
            <a:br>
              <a:rPr lang="en-US" altLang="ko-KR" dirty="0"/>
            </a:br>
            <a:endParaRPr lang="ko-KR" altLang="en-US" sz="2400" dirty="0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589537" y="4293096"/>
            <a:ext cx="3962400" cy="2016224"/>
          </a:xfrm>
        </p:spPr>
        <p:txBody>
          <a:bodyPr rtlCol="0">
            <a:normAutofit/>
          </a:bodyPr>
          <a:lstStyle/>
          <a:p>
            <a:pPr>
              <a:lnSpc>
                <a:spcPct val="120000"/>
              </a:lnSpc>
            </a:pPr>
            <a:br>
              <a:rPr lang="en-US" altLang="ko-KR" dirty="0"/>
            </a:br>
            <a:r>
              <a:rPr lang="en-US" altLang="ko-KR" dirty="0"/>
              <a:t>2026_Spring</a:t>
            </a:r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 rtl="0">
              <a:lnSpc>
                <a:spcPct val="120000"/>
              </a:lnSpc>
            </a:pPr>
            <a:r>
              <a:rPr lang="ko-KR" altLang="en-US" dirty="0" err="1"/>
              <a:t>조상구</a:t>
            </a:r>
            <a:endParaRPr lang="en-US" altLang="ko-KR" dirty="0"/>
          </a:p>
        </p:txBody>
      </p:sp>
      <p:pic>
        <p:nvPicPr>
          <p:cNvPr id="1028" name="Picture 4" descr="깊은 생각에 잠긴 남자의 청동 조각상">
            <a:extLst>
              <a:ext uri="{FF2B5EF4-FFF2-40B4-BE49-F238E27FC236}">
                <a16:creationId xmlns:a16="http://schemas.microsoft.com/office/drawing/2014/main" id="{4757FD16-A7E9-1C5E-9D31-B9438F456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276" y="3014307"/>
            <a:ext cx="2566021" cy="384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08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0E2C1-BB1A-4FCC-4EBC-8B540F598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EF241B0-03F6-4174-6351-DEA7C3022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</a:t>
            </a:fld>
            <a:endParaRPr lang="en-US" altLang="ko-KR" noProof="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13BA925-346A-92DA-54AD-5E1487C17764}"/>
              </a:ext>
            </a:extLst>
          </p:cNvPr>
          <p:cNvGrpSpPr/>
          <p:nvPr/>
        </p:nvGrpSpPr>
        <p:grpSpPr>
          <a:xfrm>
            <a:off x="4027821" y="2348883"/>
            <a:ext cx="3218720" cy="3810977"/>
            <a:chOff x="5190488" y="1060752"/>
            <a:chExt cx="3148402" cy="3159825"/>
          </a:xfrm>
        </p:grpSpPr>
        <p:sp>
          <p:nvSpPr>
            <p:cNvPr id="2" name="AutoShape 2" descr="숲 한가운데에 있는 형형색색의 나무들판">
              <a:extLst>
                <a:ext uri="{FF2B5EF4-FFF2-40B4-BE49-F238E27FC236}">
                  <a16:creationId xmlns:a16="http://schemas.microsoft.com/office/drawing/2014/main" id="{92ADEB6C-595F-D022-1FA7-A6F276B90DD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42013" y="327660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418EE12F-0606-75E2-2B43-F3AFCA455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0488" y="3077522"/>
              <a:ext cx="3148402" cy="1143055"/>
            </a:xfrm>
            <a:prstGeom prst="rect">
              <a:avLst/>
            </a:prstGeom>
          </p:spPr>
        </p:pic>
        <p:pic>
          <p:nvPicPr>
            <p:cNvPr id="1032" name="Picture 8" descr="베이즈 정리(Bayes' Theorem)의 정의와 의미">
              <a:extLst>
                <a:ext uri="{FF2B5EF4-FFF2-40B4-BE49-F238E27FC236}">
                  <a16:creationId xmlns:a16="http://schemas.microsoft.com/office/drawing/2014/main" id="{B067FD7D-5954-1B2D-36F6-A25C17C1F9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90488" y="1060752"/>
              <a:ext cx="3148402" cy="20167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09C1E87A-9767-8287-7253-CF05F7BA0A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3892" y="2348883"/>
            <a:ext cx="2736304" cy="38109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84390B-04B7-B557-EA80-3E403DB78D61}"/>
              </a:ext>
            </a:extLst>
          </p:cNvPr>
          <p:cNvSpPr txBox="1"/>
          <p:nvPr/>
        </p:nvSpPr>
        <p:spPr>
          <a:xfrm>
            <a:off x="1053852" y="938799"/>
            <a:ext cx="10301549" cy="9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2000" b="1" dirty="0">
                <a:latin typeface="Cambria" panose="02040503050406030204" pitchFamily="18" charset="0"/>
                <a:ea typeface="Cambria" panose="02040503050406030204" pitchFamily="18" charset="0"/>
              </a:rPr>
              <a:t>"</a:t>
            </a:r>
            <a:r>
              <a:rPr lang="ko-KR" altLang="en-US" sz="2000" b="1" dirty="0">
                <a:latin typeface="Cambria" panose="02040503050406030204" pitchFamily="18" charset="0"/>
                <a:ea typeface="LG Smart UI Light" panose="020B0300000101010101" pitchFamily="50" charset="-127"/>
              </a:rPr>
              <a:t>사실이 바뀌면</a:t>
            </a:r>
            <a:r>
              <a:rPr lang="en-US" altLang="ko-KR" sz="2000" b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ko-KR" altLang="en-US" sz="2000" b="1" dirty="0">
                <a:latin typeface="Cambria" panose="02040503050406030204" pitchFamily="18" charset="0"/>
                <a:ea typeface="LG Smart UI Light" panose="020B0300000101010101" pitchFamily="50" charset="-127"/>
              </a:rPr>
              <a:t>나는 생각을 바꿉니다</a:t>
            </a:r>
            <a:r>
              <a:rPr lang="en-US" altLang="ko-KR" sz="2000" b="1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ko-KR" altLang="en-US" sz="2000" b="1" dirty="0">
                <a:latin typeface="Cambria" panose="02040503050406030204" pitchFamily="18" charset="0"/>
                <a:ea typeface="LG Smart UI Light" panose="020B0300000101010101" pitchFamily="50" charset="-127"/>
              </a:rPr>
              <a:t>당신은 어떻게 하십니까</a:t>
            </a:r>
            <a:r>
              <a:rPr lang="en-US" altLang="ko-KR" sz="2000" b="1" dirty="0">
                <a:latin typeface="Cambria" panose="02040503050406030204" pitchFamily="18" charset="0"/>
                <a:ea typeface="Cambria" panose="02040503050406030204" pitchFamily="18" charset="0"/>
              </a:rPr>
              <a:t>?"</a:t>
            </a:r>
            <a:endParaRPr lang="ko-KR" altLang="en-US" sz="2000" dirty="0">
              <a:latin typeface="Cambria" panose="02040503050406030204" pitchFamily="18" charset="0"/>
              <a:ea typeface="LG Smart UI Light" panose="020B0300000101010101" pitchFamily="50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sz="2000" b="1" dirty="0">
                <a:latin typeface="Cambria" panose="02040503050406030204" pitchFamily="18" charset="0"/>
                <a:ea typeface="LG Smart UI Light" panose="020B0300000101010101" pitchFamily="50" charset="-127"/>
              </a:rPr>
              <a:t>“</a:t>
            </a:r>
            <a:r>
              <a:rPr lang="en-US" altLang="ko-KR" sz="2000" b="1" dirty="0">
                <a:latin typeface="Cambria" panose="02040503050406030204" pitchFamily="18" charset="0"/>
                <a:ea typeface="Cambria" panose="02040503050406030204" pitchFamily="18" charset="0"/>
              </a:rPr>
              <a:t>When the facts change, I change my mind. What do you do, sir?”   - Keynes, Economist</a:t>
            </a:r>
            <a:endParaRPr lang="en-US" altLang="ko-K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907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C5A24-82DF-449D-2B2D-95454CE20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728C64F-9D89-54F0-37FA-27D8C00B3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</a:t>
            </a:fld>
            <a:endParaRPr lang="en-US" altLang="ko-K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630866-87BA-AFD5-382F-50D5BE9390CE}"/>
              </a:ext>
            </a:extLst>
          </p:cNvPr>
          <p:cNvSpPr txBox="1"/>
          <p:nvPr/>
        </p:nvSpPr>
        <p:spPr>
          <a:xfrm>
            <a:off x="621804" y="980728"/>
            <a:ext cx="10957580" cy="11428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+mj-ea"/>
                <a:ea typeface="+mj-ea"/>
                <a:cs typeface="맑은 고딕 Semilight" panose="020B0502040204020203" pitchFamily="50" charset="-127"/>
              </a:rPr>
              <a:t>동전</a:t>
            </a:r>
            <a:r>
              <a:rPr lang="en-US" altLang="ko-KR" sz="1600" dirty="0">
                <a:latin typeface="+mj-ea"/>
                <a:ea typeface="+mj-ea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+mj-ea"/>
                <a:ea typeface="+mj-ea"/>
                <a:cs typeface="맑은 고딕 Semilight" panose="020B0502040204020203" pitchFamily="50" charset="-127"/>
              </a:rPr>
              <a:t>던지기를</a:t>
            </a:r>
            <a:r>
              <a:rPr lang="en-US" altLang="ko-KR" sz="1600" dirty="0">
                <a:latin typeface="+mj-ea"/>
                <a:ea typeface="+mj-ea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 err="1">
                <a:latin typeface="+mj-ea"/>
                <a:ea typeface="+mj-ea"/>
                <a:cs typeface="맑은 고딕 Semilight" panose="020B0502040204020203" pitchFamily="50" charset="-127"/>
              </a:rPr>
              <a:t>모의실험하여</a:t>
            </a:r>
            <a:r>
              <a:rPr lang="ko-KR" altLang="en-US" sz="1600" dirty="0">
                <a:latin typeface="+mj-ea"/>
                <a:ea typeface="+mj-ea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+mj-ea"/>
                <a:ea typeface="+mj-ea"/>
              </a:rPr>
              <a:t>직접 실제 동전의 확률과 시행 횟수를 조절하면서 </a:t>
            </a:r>
            <a:r>
              <a:rPr lang="ko-KR" altLang="en-US" sz="1600" b="1" dirty="0">
                <a:latin typeface="+mj-ea"/>
                <a:ea typeface="+mj-ea"/>
              </a:rPr>
              <a:t>나의 믿음이 변하는</a:t>
            </a:r>
            <a:r>
              <a:rPr lang="ko-KR" altLang="en-US" sz="1600" dirty="0">
                <a:latin typeface="+mj-ea"/>
                <a:ea typeface="+mj-ea"/>
              </a:rPr>
              <a:t> 과정을 실시간으로 관찰할 수 있도록 </a:t>
            </a:r>
            <a:r>
              <a:rPr lang="en-US" altLang="ko-KR" sz="1600" dirty="0" err="1">
                <a:latin typeface="+mj-ea"/>
                <a:ea typeface="+mj-ea"/>
              </a:rPr>
              <a:t>gradio</a:t>
            </a:r>
            <a:r>
              <a:rPr lang="ko-KR" altLang="en-US" sz="1600" dirty="0">
                <a:latin typeface="+mj-ea"/>
                <a:ea typeface="+mj-ea"/>
              </a:rPr>
              <a:t> </a:t>
            </a:r>
            <a:r>
              <a:rPr lang="en-US" altLang="ko-KR" sz="1600" dirty="0">
                <a:latin typeface="+mj-ea"/>
                <a:ea typeface="+mj-ea"/>
              </a:rPr>
              <a:t>UI</a:t>
            </a:r>
            <a:r>
              <a:rPr lang="ko-KR" altLang="en-US" sz="1600" dirty="0">
                <a:latin typeface="+mj-ea"/>
                <a:ea typeface="+mj-ea"/>
              </a:rPr>
              <a:t>로 만들어 시뮬레이션하고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+mj-ea"/>
                <a:ea typeface="+mj-ea"/>
              </a:rPr>
              <a:t>이러한 실험을 바탕으로</a:t>
            </a:r>
            <a:r>
              <a:rPr lang="en-US" altLang="ko-KR" sz="1600" dirty="0">
                <a:latin typeface="+mj-ea"/>
                <a:ea typeface="+mj-ea"/>
              </a:rPr>
              <a:t> </a:t>
            </a:r>
            <a:r>
              <a:rPr lang="ko-KR" altLang="en-US" sz="1600" dirty="0">
                <a:latin typeface="+mj-ea"/>
                <a:ea typeface="+mj-ea"/>
                <a:cs typeface="맑은 고딕 Semilight" panose="020B0502040204020203" pitchFamily="50" charset="-127"/>
              </a:rPr>
              <a:t>한강에</a:t>
            </a:r>
            <a:r>
              <a:rPr lang="en-US" altLang="ko-KR" sz="1600" dirty="0">
                <a:latin typeface="+mj-ea"/>
                <a:ea typeface="+mj-ea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+mj-ea"/>
                <a:ea typeface="+mj-ea"/>
                <a:cs typeface="맑은 고딕 Semilight" panose="020B0502040204020203" pitchFamily="50" charset="-127"/>
              </a:rPr>
              <a:t>가장 큰 물고기의 크기는 몇 </a:t>
            </a:r>
            <a:r>
              <a:rPr lang="en-US" altLang="ko-KR" sz="1600" dirty="0">
                <a:latin typeface="+mj-ea"/>
                <a:ea typeface="+mj-ea"/>
                <a:cs typeface="맑은 고딕 Semilight" panose="020B0502040204020203" pitchFamily="50" charset="-127"/>
              </a:rPr>
              <a:t>cm</a:t>
            </a:r>
            <a:r>
              <a:rPr lang="ko-KR" altLang="en-US" sz="1600" dirty="0">
                <a:latin typeface="+mj-ea"/>
                <a:ea typeface="+mj-ea"/>
                <a:cs typeface="맑은 고딕 Semilight" panose="020B0502040204020203" pitchFamily="50" charset="-127"/>
              </a:rPr>
              <a:t>라고 답해야 할까</a:t>
            </a:r>
            <a:r>
              <a:rPr lang="en-US" altLang="ko-KR" sz="1600" dirty="0">
                <a:latin typeface="+mj-ea"/>
                <a:ea typeface="+mj-ea"/>
                <a:cs typeface="맑은 고딕 Semilight" panose="020B0502040204020203" pitchFamily="50" charset="-127"/>
              </a:rPr>
              <a:t>?</a:t>
            </a:r>
            <a:endParaRPr lang="ko-KR" altLang="en-US" sz="1600" dirty="0">
              <a:latin typeface="+mj-ea"/>
              <a:ea typeface="+mj-ea"/>
              <a:cs typeface="맑은 고딕 Semilight" panose="020B0502040204020203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CC62203-0371-F9F6-8F12-C596F9995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932" y="2553534"/>
            <a:ext cx="8064896" cy="38790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B4593E-7CFB-04F9-BFB4-4925595F0040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</p:spTree>
    <p:extLst>
      <p:ext uri="{BB962C8B-B14F-4D97-AF65-F5344CB8AC3E}">
        <p14:creationId xmlns:p14="http://schemas.microsoft.com/office/powerpoint/2010/main" val="3964470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30008-E652-FD55-A1CF-7261BC14A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845F44B-D853-EA00-45FD-0D2DE87EA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4E74C1-BB80-2DC1-32A9-30194E495362}"/>
              </a:ext>
            </a:extLst>
          </p:cNvPr>
          <p:cNvSpPr txBox="1"/>
          <p:nvPr/>
        </p:nvSpPr>
        <p:spPr>
          <a:xfrm>
            <a:off x="765820" y="1196752"/>
            <a:ext cx="11233248" cy="48212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+mj-ea"/>
                <a:ea typeface="+mj-ea"/>
              </a:rPr>
              <a:t>지구의 나이가 </a:t>
            </a:r>
            <a:r>
              <a:rPr lang="en-US" altLang="ko-KR" sz="2000" dirty="0">
                <a:latin typeface="+mj-ea"/>
                <a:ea typeface="+mj-ea"/>
              </a:rPr>
              <a:t>45</a:t>
            </a:r>
            <a:r>
              <a:rPr lang="ko-KR" altLang="en-US" sz="2000" dirty="0">
                <a:latin typeface="+mj-ea"/>
                <a:ea typeface="+mj-ea"/>
              </a:rPr>
              <a:t>억 </a:t>
            </a:r>
            <a:r>
              <a:rPr lang="en-US" altLang="ko-KR" sz="2000" dirty="0">
                <a:latin typeface="+mj-ea"/>
                <a:ea typeface="+mj-ea"/>
              </a:rPr>
              <a:t>4</a:t>
            </a:r>
            <a:r>
              <a:rPr lang="ko-KR" altLang="en-US" sz="2000" dirty="0">
                <a:latin typeface="+mj-ea"/>
                <a:ea typeface="+mj-ea"/>
              </a:rPr>
              <a:t>천만년이라면</a:t>
            </a:r>
            <a:r>
              <a:rPr lang="en-US" altLang="ko-KR" sz="2000" dirty="0">
                <a:latin typeface="+mj-ea"/>
                <a:ea typeface="+mj-ea"/>
              </a:rPr>
              <a:t>, </a:t>
            </a:r>
            <a:r>
              <a:rPr lang="ko-KR" altLang="en-US" sz="2000" dirty="0">
                <a:latin typeface="+mj-ea"/>
                <a:ea typeface="+mj-ea"/>
              </a:rPr>
              <a:t>내일 해가 뜰 확률은</a:t>
            </a:r>
            <a:r>
              <a:rPr lang="en-US" altLang="ko-KR" sz="2000" dirty="0">
                <a:latin typeface="+mj-ea"/>
                <a:ea typeface="+mj-ea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2D3492-9475-65D6-5F62-64413CD930A5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C170792-96F2-75E9-8112-7A784CED4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860" y="2210192"/>
            <a:ext cx="5655120" cy="3641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C548AE-6F75-4DDA-684C-2BC854639F3E}"/>
              </a:ext>
            </a:extLst>
          </p:cNvPr>
          <p:cNvSpPr txBox="1"/>
          <p:nvPr/>
        </p:nvSpPr>
        <p:spPr>
          <a:xfrm>
            <a:off x="7174532" y="2210193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Sunrise_problem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61207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3B0B1-AC43-276B-0D54-6930E9688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A7E9029-7CE6-C1E0-0D99-332796148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</a:t>
            </a:fld>
            <a:endParaRPr lang="en-US" altLang="ko-K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2307B2-E487-A983-92DA-289CC6D0FD3B}"/>
              </a:ext>
            </a:extLst>
          </p:cNvPr>
          <p:cNvSpPr txBox="1"/>
          <p:nvPr/>
        </p:nvSpPr>
        <p:spPr>
          <a:xfrm>
            <a:off x="333771" y="989460"/>
            <a:ext cx="11377265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Histogram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bins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개수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위치에 따라 이산적인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(Discrete)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데이터의 분포 모양이 달라지기 때문에 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연속적인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(Continuous)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데이터를 가정하여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KDE(Kernel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Density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Estimation)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함수를 적용하면 예측이 가능</a:t>
            </a:r>
          </a:p>
        </p:txBody>
      </p:sp>
      <p:pic>
        <p:nvPicPr>
          <p:cNvPr id="1026" name="Picture 2" descr="plot kde 1d">
            <a:extLst>
              <a:ext uri="{FF2B5EF4-FFF2-40B4-BE49-F238E27FC236}">
                <a16:creationId xmlns:a16="http://schemas.microsoft.com/office/drawing/2014/main" id="{7DD449E0-BF33-C8A4-69AA-AAAD508EC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812" y="2377109"/>
            <a:ext cx="5338959" cy="4004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lot kde 1d">
            <a:extLst>
              <a:ext uri="{FF2B5EF4-FFF2-40B4-BE49-F238E27FC236}">
                <a16:creationId xmlns:a16="http://schemas.microsoft.com/office/drawing/2014/main" id="{6B677B4F-53D9-EB2B-C7F6-8CED5714B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090" y="2377109"/>
            <a:ext cx="5338959" cy="4004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645A50-527F-186B-8338-EA016CE6D133}"/>
              </a:ext>
            </a:extLst>
          </p:cNvPr>
          <p:cNvSpPr txBox="1"/>
          <p:nvPr/>
        </p:nvSpPr>
        <p:spPr>
          <a:xfrm>
            <a:off x="691571" y="2069332"/>
            <a:ext cx="1152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Britannic Bold" panose="020B0903060703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plot_kde_1d</a:t>
            </a:r>
            <a:endParaRPr lang="ko-KR" altLang="en-US" sz="1400" dirty="0">
              <a:latin typeface="Britannic Bold" panose="020B09030607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380877-4248-8305-6897-65878F33FD87}"/>
              </a:ext>
            </a:extLst>
          </p:cNvPr>
          <p:cNvSpPr txBox="1"/>
          <p:nvPr/>
        </p:nvSpPr>
        <p:spPr>
          <a:xfrm>
            <a:off x="117748" y="260648"/>
            <a:ext cx="4824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히스토그램</a:t>
            </a:r>
            <a:r>
              <a:rPr lang="en-US" altLang="ko-KR" sz="3200" b="1" dirty="0"/>
              <a:t>, KDE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242768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D5E62-CB36-B827-1BA3-B4530182C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725E7A9-F779-E0D4-E4FF-DA785031A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6</a:t>
            </a:fld>
            <a:endParaRPr lang="en-US" altLang="ko-KR" noProof="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9B298B6-F9BF-8EE5-F13A-B2F536F59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974" y="2930054"/>
            <a:ext cx="3506431" cy="3451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C7664B-19D9-BD9B-4CC7-7D60AF9607BA}"/>
              </a:ext>
            </a:extLst>
          </p:cNvPr>
          <p:cNvSpPr txBox="1"/>
          <p:nvPr/>
        </p:nvSpPr>
        <p:spPr>
          <a:xfrm>
            <a:off x="621804" y="2617167"/>
            <a:ext cx="1641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Britannic Bold" panose="020B0903060703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Discrete Joint Plot</a:t>
            </a:r>
            <a:endParaRPr lang="ko-KR" altLang="en-US" sz="1400" dirty="0">
              <a:latin typeface="Britannic Bold" panose="020B0903060703020204" pitchFamily="34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BDE53B17-5AC6-45F6-19EE-96D6EFCB3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7557" y="2910836"/>
            <a:ext cx="3458001" cy="3451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9C23A7-9FCE-2692-4C79-DBBB60AD1278}"/>
              </a:ext>
            </a:extLst>
          </p:cNvPr>
          <p:cNvSpPr txBox="1"/>
          <p:nvPr/>
        </p:nvSpPr>
        <p:spPr>
          <a:xfrm>
            <a:off x="4510236" y="2617167"/>
            <a:ext cx="18181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latin typeface="Britannic Bold" panose="020B0903060703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Continous</a:t>
            </a:r>
            <a:r>
              <a:rPr lang="en-US" altLang="ko-KR" sz="1400" dirty="0">
                <a:latin typeface="Britannic Bold" panose="020B0903060703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Marginals</a:t>
            </a:r>
            <a:endParaRPr lang="ko-KR" altLang="en-US" sz="1400" dirty="0">
              <a:latin typeface="Britannic Bold" panose="020B0903060703020204" pitchFamily="34" charset="0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D610D1B8-7160-0BE0-C302-F6BD804B7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4917" y="2897390"/>
            <a:ext cx="3587151" cy="3451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E8D5E9-121C-8D0D-0028-9D6B92654033}"/>
              </a:ext>
            </a:extLst>
          </p:cNvPr>
          <p:cNvSpPr txBox="1"/>
          <p:nvPr/>
        </p:nvSpPr>
        <p:spPr>
          <a:xfrm>
            <a:off x="8267220" y="2578986"/>
            <a:ext cx="24160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latin typeface="Britannic Bold" panose="020B090306070302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Continous</a:t>
            </a:r>
            <a:r>
              <a:rPr lang="en-US" altLang="ko-KR" sz="1400" dirty="0">
                <a:latin typeface="Britannic Bold" panose="020B090306070302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Joint Distribution</a:t>
            </a:r>
            <a:endParaRPr lang="ko-KR" altLang="en-US" sz="1400" dirty="0">
              <a:latin typeface="Britannic Bold" panose="020B09030607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BD4D45-8A72-602D-1D37-DF2882666861}"/>
              </a:ext>
            </a:extLst>
          </p:cNvPr>
          <p:cNvSpPr txBox="1"/>
          <p:nvPr/>
        </p:nvSpPr>
        <p:spPr>
          <a:xfrm>
            <a:off x="621804" y="980728"/>
            <a:ext cx="10957580" cy="1380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+mj-ea"/>
                <a:ea typeface="+mj-ea"/>
                <a:cs typeface="맑은 고딕 Semilight" panose="020B0502040204020203" pitchFamily="50" charset="-127"/>
              </a:rPr>
              <a:t>아래</a:t>
            </a:r>
            <a:r>
              <a:rPr lang="en-US" altLang="ko-KR" sz="1600" dirty="0">
                <a:latin typeface="+mj-ea"/>
                <a:ea typeface="+mj-ea"/>
                <a:cs typeface="맑은 고딕 Semilight" panose="020B0502040204020203" pitchFamily="50" charset="-127"/>
              </a:rPr>
              <a:t> 3</a:t>
            </a:r>
            <a:r>
              <a:rPr lang="ko-KR" altLang="en-US" sz="1600" dirty="0">
                <a:latin typeface="+mj-ea"/>
                <a:ea typeface="+mj-ea"/>
                <a:cs typeface="맑은 고딕 Semilight" panose="020B0502040204020203" pitchFamily="50" charset="-127"/>
              </a:rPr>
              <a:t>개의 </a:t>
            </a:r>
            <a:r>
              <a:rPr lang="en-US" altLang="ko-KR" sz="1600" dirty="0">
                <a:latin typeface="+mj-ea"/>
                <a:ea typeface="+mj-ea"/>
                <a:cs typeface="맑은 고딕 Semilight" panose="020B0502040204020203" pitchFamily="50" charset="-127"/>
              </a:rPr>
              <a:t>Plots</a:t>
            </a:r>
            <a:r>
              <a:rPr lang="ko-KR" altLang="en-US" sz="1600" dirty="0">
                <a:latin typeface="+mj-ea"/>
                <a:ea typeface="+mj-ea"/>
                <a:cs typeface="맑은 고딕 Semilight" panose="020B0502040204020203" pitchFamily="50" charset="-127"/>
              </a:rPr>
              <a:t>을 차례대로 자세히 설명하라</a:t>
            </a:r>
            <a:endParaRPr lang="en-US" altLang="ko-KR" sz="1600" dirty="0">
              <a:latin typeface="+mj-ea"/>
              <a:ea typeface="+mj-ea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mpg 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축의 데이터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projection, 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원의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크기</a:t>
            </a:r>
            <a:endParaRPr lang="en-US" altLang="ko-KR" sz="1400" dirty="0">
              <a:latin typeface="+mj-ea"/>
              <a:ea typeface="+mj-ea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 err="1">
                <a:latin typeface="+mj-ea"/>
                <a:ea typeface="+mj-ea"/>
                <a:cs typeface="맑은 고딕 Semilight" panose="020B0502040204020203" pitchFamily="50" charset="-127"/>
              </a:rPr>
              <a:t>total_bill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의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Histogram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과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KDE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를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discrete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와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continuous data type, 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직선과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직선 주변의 폭 등의 의미</a:t>
            </a:r>
            <a:endParaRPr lang="en-US" altLang="ko-KR" sz="1600" dirty="0">
              <a:latin typeface="+mj-ea"/>
              <a:ea typeface="+mj-ea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연속결합분포의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X, y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의 각각의 평균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, 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분산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, 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공분산을 변화시키면서 등고선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,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 자료의 퍼짐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, 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방향 등에 대해 토론하라</a:t>
            </a:r>
            <a:endParaRPr lang="en-US" altLang="ko-KR" sz="1400" dirty="0">
              <a:latin typeface="+mj-ea"/>
              <a:ea typeface="+mj-ea"/>
              <a:cs typeface="맑은 고딕 Semilight" panose="020B0502040204020203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F44713-66FD-7632-BE2B-EF2921C75320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</p:spTree>
    <p:extLst>
      <p:ext uri="{BB962C8B-B14F-4D97-AF65-F5344CB8AC3E}">
        <p14:creationId xmlns:p14="http://schemas.microsoft.com/office/powerpoint/2010/main" val="3525687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7EC89-B3CB-BA5A-0662-2279988C6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40EF44-9D30-B434-EEA0-7F42F2D9C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7</a:t>
            </a:fld>
            <a:endParaRPr lang="en-US" altLang="ko-KR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E64B0F-1A6D-C338-05EF-B38E08F6E50C}"/>
              </a:ext>
            </a:extLst>
          </p:cNvPr>
          <p:cNvSpPr txBox="1"/>
          <p:nvPr/>
        </p:nvSpPr>
        <p:spPr>
          <a:xfrm>
            <a:off x="261764" y="476672"/>
            <a:ext cx="11161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06"/>
              </a:spcBef>
              <a:spcAft>
                <a:spcPts val="1742"/>
              </a:spcAft>
              <a:buNone/>
            </a:pPr>
            <a:r>
              <a:rPr lang="en-US" altLang="ko-KR" sz="2400" b="1" i="0" dirty="0"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Intuitive Understanding of clustering, </a:t>
            </a:r>
            <a:r>
              <a:rPr lang="en-US" altLang="ko-KR" sz="2400" b="1" i="0" dirty="0" err="1"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unsupervised_learning</a:t>
            </a:r>
            <a:endParaRPr lang="en-US" altLang="ko-KR" sz="2400" b="0" i="0" dirty="0"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67C1794-E33F-7E7D-AEBB-FE49A4F3BA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16" y="1445821"/>
            <a:ext cx="4032448" cy="496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954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83722-0056-6D49-E3E8-E7A415DD9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83BC0D7-6F4A-0548-7E5B-E9BA7893A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8</a:t>
            </a:fld>
            <a:endParaRPr lang="en-US" altLang="ko-KR" noProof="0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6A6C6E04-3F9D-6FAC-E732-156CC6E23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16" y="2212065"/>
            <a:ext cx="4061251" cy="4061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69C64D54-68C8-D07B-821B-BCA440A9F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2691" y="1196752"/>
            <a:ext cx="6768752" cy="5076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CDD032-1075-E1AA-7ECF-4DAF870A4F2A}"/>
              </a:ext>
            </a:extLst>
          </p:cNvPr>
          <p:cNvSpPr txBox="1"/>
          <p:nvPr/>
        </p:nvSpPr>
        <p:spPr>
          <a:xfrm>
            <a:off x="290228" y="62068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i="0" dirty="0"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1. K-Means Clustering</a:t>
            </a:r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282DA6-9D6A-6964-F358-E8A9C7F3E409}"/>
              </a:ext>
            </a:extLst>
          </p:cNvPr>
          <p:cNvSpPr txBox="1"/>
          <p:nvPr/>
        </p:nvSpPr>
        <p:spPr>
          <a:xfrm>
            <a:off x="5014292" y="11752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1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computing the distances between points and group centers</a:t>
            </a:r>
          </a:p>
        </p:txBody>
      </p:sp>
    </p:spTree>
    <p:extLst>
      <p:ext uri="{BB962C8B-B14F-4D97-AF65-F5344CB8AC3E}">
        <p14:creationId xmlns:p14="http://schemas.microsoft.com/office/powerpoint/2010/main" val="3142561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28422-F9B1-EEF7-B9AB-3B0BC70BD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E49A640-B2B0-89C6-ADB6-4D35567BA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9</a:t>
            </a:fld>
            <a:endParaRPr lang="en-US" altLang="ko-KR" noProof="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9128C5B-7B92-B3A3-C997-57B98AD12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924" y="2719164"/>
            <a:ext cx="3672408" cy="3672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7C37CC53-EDA0-5188-3E54-8BF68800A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2364" y="918964"/>
            <a:ext cx="5472608" cy="547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1AA513-E90A-DF13-30AC-27665957C759}"/>
              </a:ext>
            </a:extLst>
          </p:cNvPr>
          <p:cNvSpPr txBox="1"/>
          <p:nvPr/>
        </p:nvSpPr>
        <p:spPr>
          <a:xfrm>
            <a:off x="261764" y="4664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2. Mean-Shift Clustering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446277-F9BE-AC69-09ED-6CE7B7982E9E}"/>
              </a:ext>
            </a:extLst>
          </p:cNvPr>
          <p:cNvSpPr txBox="1"/>
          <p:nvPr/>
        </p:nvSpPr>
        <p:spPr>
          <a:xfrm>
            <a:off x="477788" y="972150"/>
            <a:ext cx="475252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1400" b="0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Mean shift clustering is a sliding-window-based algorithm that attempts </a:t>
            </a:r>
            <a:r>
              <a:rPr lang="en-US" altLang="ko-KR" sz="1400" b="1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 find dense areas of data points</a:t>
            </a:r>
            <a:r>
              <a:rPr lang="en-US" altLang="ko-KR" sz="1400" b="0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1400" b="0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It is a centroid-based algorithm meaning that the goal is to locate the center points of each group/class, which works by updating candidates for center points to be the mean of the points within the sliding-window.</a:t>
            </a:r>
          </a:p>
        </p:txBody>
      </p:sp>
    </p:spTree>
    <p:extLst>
      <p:ext uri="{BB962C8B-B14F-4D97-AF65-F5344CB8AC3E}">
        <p14:creationId xmlns:p14="http://schemas.microsoft.com/office/powerpoint/2010/main" val="382195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F44AE-4A9E-B4D2-56E2-3AF39169F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656D96B-1380-A118-6FF7-55993749A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10</a:t>
            </a:fld>
            <a:endParaRPr lang="en-US" altLang="ko-KR" noProof="0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DB4B13D-7A0A-7418-1101-6AEC7BCAD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092" y="1732261"/>
            <a:ext cx="7685467" cy="4827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182E7C-42A3-5831-4740-89C4F07C28FF}"/>
              </a:ext>
            </a:extLst>
          </p:cNvPr>
          <p:cNvSpPr txBox="1"/>
          <p:nvPr/>
        </p:nvSpPr>
        <p:spPr>
          <a:xfrm>
            <a:off x="261764" y="747109"/>
            <a:ext cx="8759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177"/>
              </a:spcBef>
              <a:spcAft>
                <a:spcPts val="1451"/>
              </a:spcAft>
              <a:buNone/>
            </a:pPr>
            <a:r>
              <a:rPr lang="en-US" altLang="ko-KR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3. Density-Based Spatial Clustering of Applications with Noise (DBSCAN)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6CE35F-99AB-B35E-C4D3-CEE20CC71DC4}"/>
              </a:ext>
            </a:extLst>
          </p:cNvPr>
          <p:cNvSpPr txBox="1"/>
          <p:nvPr/>
        </p:nvSpPr>
        <p:spPr>
          <a:xfrm>
            <a:off x="765820" y="1201326"/>
            <a:ext cx="720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0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DBSCAN is a density-based clustered algorithm similar to mean-shift.</a:t>
            </a:r>
          </a:p>
        </p:txBody>
      </p:sp>
    </p:spTree>
    <p:extLst>
      <p:ext uri="{BB962C8B-B14F-4D97-AF65-F5344CB8AC3E}">
        <p14:creationId xmlns:p14="http://schemas.microsoft.com/office/powerpoint/2010/main" val="2053871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85763-5EBB-4160-A5F7-E69FEE7AF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EE7AE96-BDFA-FFA5-CC03-FF7CC4149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11</a:t>
            </a:fld>
            <a:endParaRPr lang="en-US" altLang="ko-KR" noProof="0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8346020-B8A4-B2E7-01A0-65FE360D0B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203" y="1484784"/>
            <a:ext cx="5956389" cy="511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59D103-1E30-85FD-F45D-41F42002EEAC}"/>
              </a:ext>
            </a:extLst>
          </p:cNvPr>
          <p:cNvSpPr txBox="1"/>
          <p:nvPr/>
        </p:nvSpPr>
        <p:spPr>
          <a:xfrm>
            <a:off x="261764" y="548680"/>
            <a:ext cx="9577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177"/>
              </a:spcBef>
              <a:spcAft>
                <a:spcPts val="1451"/>
              </a:spcAft>
              <a:buNone/>
            </a:pPr>
            <a:r>
              <a:rPr lang="en-US" altLang="ko-KR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4. Expectation–Maximization(EM) Clustering using Gaussian Mixture Models (GMM)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1626C6-998E-0504-FFFE-661D0B3FBF21}"/>
              </a:ext>
            </a:extLst>
          </p:cNvPr>
          <p:cNvSpPr txBox="1"/>
          <p:nvPr/>
        </p:nvSpPr>
        <p:spPr>
          <a:xfrm>
            <a:off x="477788" y="1772816"/>
            <a:ext cx="3528392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b="0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 </a:t>
            </a:r>
            <a:r>
              <a:rPr lang="en-US" altLang="ko-KR" b="1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find the parameters of the Gaussian for each cluster</a:t>
            </a:r>
            <a:r>
              <a:rPr lang="en-US" altLang="ko-KR" b="0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(</a:t>
            </a:r>
            <a:r>
              <a:rPr lang="en-US" altLang="ko-KR" b="0" i="0" dirty="0" err="1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e.g</a:t>
            </a:r>
            <a:r>
              <a:rPr lang="en-US" altLang="ko-KR" b="0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the mean and standard deviation), we will use an optimization algorithm called Expectation–Maximization (EM)</a:t>
            </a:r>
          </a:p>
        </p:txBody>
      </p:sp>
    </p:spTree>
    <p:extLst>
      <p:ext uri="{BB962C8B-B14F-4D97-AF65-F5344CB8AC3E}">
        <p14:creationId xmlns:p14="http://schemas.microsoft.com/office/powerpoint/2010/main" val="44658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DACFD-95F0-B4D3-58CA-40388C27D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B241B89-1BFA-8DCC-D381-C76AADE38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12</a:t>
            </a:fld>
            <a:endParaRPr lang="en-US" altLang="ko-KR" noProof="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62E9AA5-F77D-895A-4B54-0735103C73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8308" y="980728"/>
            <a:ext cx="6535808" cy="5228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87BBD1-8C35-D005-A181-1EFF30A728CD}"/>
              </a:ext>
            </a:extLst>
          </p:cNvPr>
          <p:cNvSpPr txBox="1"/>
          <p:nvPr/>
        </p:nvSpPr>
        <p:spPr>
          <a:xfrm>
            <a:off x="7174532" y="560266"/>
            <a:ext cx="2592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K-Means Clustering</a:t>
            </a:r>
            <a:endParaRPr lang="ko-KR" altLang="en-US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8A81AD-0A5A-C66E-01BF-C8458B69ECE6}"/>
              </a:ext>
            </a:extLst>
          </p:cNvPr>
          <p:cNvSpPr txBox="1"/>
          <p:nvPr/>
        </p:nvSpPr>
        <p:spPr>
          <a:xfrm>
            <a:off x="333772" y="980728"/>
            <a:ext cx="3759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Britannic Bold" panose="020B0903060703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Unsupervised_learning_scikit</a:t>
            </a:r>
            <a:r>
              <a:rPr lang="en-US" altLang="ko-KR" dirty="0">
                <a:latin typeface="Britannic Bold" panose="020B0903060703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-learn</a:t>
            </a:r>
            <a:endParaRPr lang="ko-KR" altLang="en-US" dirty="0">
              <a:latin typeface="Britannic Bold" panose="020B09030607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41873C-CACD-DC71-3CD6-DAD37A341E24}"/>
              </a:ext>
            </a:extLst>
          </p:cNvPr>
          <p:cNvSpPr txBox="1"/>
          <p:nvPr/>
        </p:nvSpPr>
        <p:spPr>
          <a:xfrm>
            <a:off x="333772" y="1484784"/>
            <a:ext cx="3103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Britannic Bold" panose="020B0903060703020204" pitchFamily="34" charset="0"/>
              </a:rPr>
              <a:t>관련 코드는 </a:t>
            </a:r>
            <a:r>
              <a:rPr lang="en-US" altLang="ko-KR" dirty="0" err="1">
                <a:latin typeface="Britannic Bold" panose="020B0903060703020204" pitchFamily="34" charset="0"/>
              </a:rPr>
              <a:t>eclass</a:t>
            </a:r>
            <a:r>
              <a:rPr lang="ko-KR" altLang="en-US" dirty="0">
                <a:latin typeface="Britannic Bold" panose="020B0903060703020204" pitchFamily="34" charset="0"/>
              </a:rPr>
              <a:t>에 </a:t>
            </a:r>
            <a:r>
              <a:rPr lang="en-US" altLang="ko-KR" dirty="0">
                <a:latin typeface="Britannic Bold" panose="020B0903060703020204" pitchFamily="34" charset="0"/>
              </a:rPr>
              <a:t>upload</a:t>
            </a:r>
            <a:endParaRPr lang="ko-KR" altLang="en-US" dirty="0"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1901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925AE-CB76-65EC-56B4-5A9BB96A5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1118E16-F328-30F2-DA8A-FE9726863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13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39AE50-7DCD-D85A-44C0-B3F4453DA6F4}"/>
              </a:ext>
            </a:extLst>
          </p:cNvPr>
          <p:cNvSpPr txBox="1"/>
          <p:nvPr/>
        </p:nvSpPr>
        <p:spPr>
          <a:xfrm>
            <a:off x="549796" y="863189"/>
            <a:ext cx="3240360" cy="29504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iris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 데이터를 바탕으로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“sepal length”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과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“petal length” 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변수를 사용하여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K-Means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로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clustering(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군집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 2, 3, 4)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하고 원래 데이터와 비교하라</a:t>
            </a:r>
            <a:endParaRPr lang="en-US" altLang="ko-KR" sz="1400" dirty="0">
              <a:latin typeface="+mj-ea"/>
              <a:ea typeface="+mj-ea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+mj-ea"/>
              <a:ea typeface="+mj-ea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클러스터링은 정확한 예측이 중요한 업무에는 거의 사용하지 않는 이유는 정답을 모르기 때문 </a:t>
            </a:r>
            <a:endParaRPr lang="en-US" altLang="ko-KR" sz="1400" dirty="0">
              <a:latin typeface="+mj-ea"/>
              <a:ea typeface="+mj-ea"/>
              <a:cs typeface="맑은 고딕 Semilight" panose="020B0502040204020203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AAF21F-4947-63CB-E366-82AD9530F847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5ABC450-F7B0-8F57-E028-E4F55E7A7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0156" y="856384"/>
            <a:ext cx="7344123" cy="5833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995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6F0AE-8FC1-8B2A-F83A-EEFAD343A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664124A-5C0E-35D8-D3DD-F4C910D8C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14</a:t>
            </a:fld>
            <a:endParaRPr lang="en-US" altLang="ko-KR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AF8D8F-9F63-9B95-063B-CA39C8607993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81019E-F8E1-85B3-BB24-92D7AFFE17B9}"/>
              </a:ext>
            </a:extLst>
          </p:cNvPr>
          <p:cNvSpPr txBox="1"/>
          <p:nvPr/>
        </p:nvSpPr>
        <p:spPr>
          <a:xfrm>
            <a:off x="549796" y="863189"/>
            <a:ext cx="3240360" cy="32736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iris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 데이터를 바탕으로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“sepal length”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과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“petal length” 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변수를 사용하여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gaussian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mixture model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로 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clustering(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군집</a:t>
            </a:r>
            <a:r>
              <a:rPr lang="en-US" altLang="ko-KR" sz="1400" dirty="0">
                <a:latin typeface="+mj-ea"/>
                <a:ea typeface="+mj-ea"/>
                <a:cs typeface="맑은 고딕 Semilight" panose="020B0502040204020203" pitchFamily="50" charset="-127"/>
              </a:rPr>
              <a:t> 2, 3, 4)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하고 원래 데이터와 비교하라</a:t>
            </a:r>
            <a:endParaRPr lang="en-US" altLang="ko-KR" sz="1400" dirty="0">
              <a:latin typeface="+mj-ea"/>
              <a:ea typeface="+mj-ea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+mj-ea"/>
              <a:ea typeface="+mj-ea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클러스터링은 정확한 예측이 중요한 업무에는 거의 사용하지 않는 이유는 정답을 모르기 </a:t>
            </a:r>
            <a:r>
              <a:rPr lang="ko-KR" altLang="en-US" sz="1400" dirty="0" err="1">
                <a:latin typeface="+mj-ea"/>
                <a:ea typeface="+mj-ea"/>
                <a:cs typeface="맑은 고딕 Semilight" panose="020B0502040204020203" pitchFamily="50" charset="-127"/>
              </a:rPr>
              <a:t>떄문</a:t>
            </a:r>
            <a:r>
              <a:rPr lang="ko-KR" altLang="en-US" sz="1400" dirty="0">
                <a:latin typeface="+mj-ea"/>
                <a:ea typeface="+mj-ea"/>
                <a:cs typeface="맑은 고딕 Semilight" panose="020B0502040204020203" pitchFamily="50" charset="-127"/>
              </a:rPr>
              <a:t> </a:t>
            </a:r>
            <a:endParaRPr lang="en-US" altLang="ko-KR" sz="1400" dirty="0">
              <a:latin typeface="+mj-ea"/>
              <a:ea typeface="+mj-ea"/>
              <a:cs typeface="맑은 고딕 Semilight" panose="020B0502040204020203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8854446-D958-3A76-2C69-3D635AC6EF02}"/>
              </a:ext>
            </a:extLst>
          </p:cNvPr>
          <p:cNvGrpSpPr/>
          <p:nvPr/>
        </p:nvGrpSpPr>
        <p:grpSpPr>
          <a:xfrm>
            <a:off x="3790156" y="476672"/>
            <a:ext cx="7344816" cy="6120679"/>
            <a:chOff x="3797279" y="404664"/>
            <a:chExt cx="7257369" cy="6192688"/>
          </a:xfrm>
        </p:grpSpPr>
        <p:pic>
          <p:nvPicPr>
            <p:cNvPr id="3" name="Picture 4">
              <a:extLst>
                <a:ext uri="{FF2B5EF4-FFF2-40B4-BE49-F238E27FC236}">
                  <a16:creationId xmlns:a16="http://schemas.microsoft.com/office/drawing/2014/main" id="{CBBD6CE3-3582-4011-0765-CFFC2EF318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7279" y="404664"/>
              <a:ext cx="7223368" cy="61926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8A816957-EC56-51F8-4672-C45C12254431}"/>
                </a:ext>
              </a:extLst>
            </p:cNvPr>
            <p:cNvSpPr/>
            <p:nvPr/>
          </p:nvSpPr>
          <p:spPr>
            <a:xfrm rot="19936634">
              <a:off x="8117242" y="1045931"/>
              <a:ext cx="2924269" cy="81382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70EFA566-0522-BFED-DB7F-6686DE29FF37}"/>
                </a:ext>
              </a:extLst>
            </p:cNvPr>
            <p:cNvSpPr/>
            <p:nvPr/>
          </p:nvSpPr>
          <p:spPr>
            <a:xfrm rot="21089476">
              <a:off x="7571417" y="2574474"/>
              <a:ext cx="1767138" cy="596588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244CE771-4F65-659C-491A-001EC0840F05}"/>
                </a:ext>
              </a:extLst>
            </p:cNvPr>
            <p:cNvSpPr/>
            <p:nvPr/>
          </p:nvSpPr>
          <p:spPr>
            <a:xfrm rot="21089476">
              <a:off x="4040590" y="5726579"/>
              <a:ext cx="1767138" cy="596588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2DDFE770-2696-6A79-600F-CBCB34787C28}"/>
                </a:ext>
              </a:extLst>
            </p:cNvPr>
            <p:cNvSpPr/>
            <p:nvPr/>
          </p:nvSpPr>
          <p:spPr>
            <a:xfrm rot="20246666">
              <a:off x="4863765" y="3932889"/>
              <a:ext cx="2739594" cy="56311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F60C08AB-FACF-1783-F53F-EEEF4B90772C}"/>
                </a:ext>
              </a:extLst>
            </p:cNvPr>
            <p:cNvSpPr/>
            <p:nvPr/>
          </p:nvSpPr>
          <p:spPr>
            <a:xfrm rot="20246666">
              <a:off x="4574937" y="4552611"/>
              <a:ext cx="2216321" cy="563111"/>
            </a:xfrm>
            <a:prstGeom prst="ellipse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D02DDB85-5382-13F1-5C91-7AFEC129393C}"/>
                </a:ext>
              </a:extLst>
            </p:cNvPr>
            <p:cNvSpPr/>
            <p:nvPr/>
          </p:nvSpPr>
          <p:spPr>
            <a:xfrm rot="20246666">
              <a:off x="9585365" y="3871673"/>
              <a:ext cx="1469283" cy="452175"/>
            </a:xfrm>
            <a:prstGeom prst="ellipse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711FC77-5ACF-C25C-960C-B644BFA6E0B4}"/>
                </a:ext>
              </a:extLst>
            </p:cNvPr>
            <p:cNvSpPr/>
            <p:nvPr/>
          </p:nvSpPr>
          <p:spPr>
            <a:xfrm rot="402981">
              <a:off x="8698428" y="4301482"/>
              <a:ext cx="1458180" cy="56311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3C85FE29-EB7F-86EF-5A35-67A3D60C5D62}"/>
                </a:ext>
              </a:extLst>
            </p:cNvPr>
            <p:cNvSpPr/>
            <p:nvPr/>
          </p:nvSpPr>
          <p:spPr>
            <a:xfrm rot="21089476">
              <a:off x="7568983" y="5729298"/>
              <a:ext cx="1767138" cy="596588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923FEB0F-D6FB-71D4-D7CA-2EEC0244464C}"/>
                </a:ext>
              </a:extLst>
            </p:cNvPr>
            <p:cNvSpPr/>
            <p:nvPr/>
          </p:nvSpPr>
          <p:spPr>
            <a:xfrm rot="21089476">
              <a:off x="8037783" y="4721729"/>
              <a:ext cx="1767138" cy="525597"/>
            </a:xfrm>
            <a:prstGeom prst="ellipse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92798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99DDB-CF71-2269-C86C-A0C6B66D4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480F933-025B-964F-DC78-EB0567125B9F}"/>
              </a:ext>
            </a:extLst>
          </p:cNvPr>
          <p:cNvSpPr/>
          <p:nvPr/>
        </p:nvSpPr>
        <p:spPr>
          <a:xfrm>
            <a:off x="549796" y="1890054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B865C5A-AC22-903F-65DE-B0B66C8E4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15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442AF8-60A9-DCE2-F679-9A9DD6247034}"/>
              </a:ext>
            </a:extLst>
          </p:cNvPr>
          <p:cNvSpPr txBox="1"/>
          <p:nvPr/>
        </p:nvSpPr>
        <p:spPr>
          <a:xfrm>
            <a:off x="1629916" y="620688"/>
            <a:ext cx="8928992" cy="5131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결합확률분포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(Joint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Probability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Distribution)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조건부확률분포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(Conditional Probability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Distribution)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확률의 이해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문제풀이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>
              <a:lnSpc>
                <a:spcPct val="200000"/>
              </a:lnSpc>
            </a:pPr>
            <a:endParaRPr lang="ko-KR" altLang="en-US" sz="28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6523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D38B9-4195-271B-F272-05A2536DA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FA146E-6A35-D140-39B9-7BE9A5FE2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16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621179-F9A4-0781-E59A-8482B8B0AAB4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Joint &amp; marginal histograms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AF047A-324A-5D47-FF11-216D60B123AB}"/>
              </a:ext>
            </a:extLst>
          </p:cNvPr>
          <p:cNvSpPr txBox="1"/>
          <p:nvPr/>
        </p:nvSpPr>
        <p:spPr>
          <a:xfrm>
            <a:off x="338480" y="1005885"/>
            <a:ext cx="11588580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천문학자들이 외계 행성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(Exoplanets)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발견한 기록 데이터를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발견년도와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태양계로 부터의 거리의 시각화를 셀의 흑백농도를 중심으로 결합확률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동시확률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관점으로 해석하라   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DDB8136B-12C4-CB2C-48F8-C520F1709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320" y="2233055"/>
            <a:ext cx="4394499" cy="436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31311A97-5308-C590-3D6E-7D50680CC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338" y="2139024"/>
            <a:ext cx="2407280" cy="1898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F3AA0C-6A6D-099B-EE5F-974060402A4F}"/>
              </a:ext>
            </a:extLst>
          </p:cNvPr>
          <p:cNvSpPr txBox="1"/>
          <p:nvPr/>
        </p:nvSpPr>
        <p:spPr>
          <a:xfrm>
            <a:off x="7891557" y="1831247"/>
            <a:ext cx="23214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latin typeface="Britannic Bold" panose="020B0903060703020204" pitchFamily="34" charset="0"/>
              </a:rPr>
              <a:t>sns.histplot</a:t>
            </a:r>
            <a:r>
              <a:rPr lang="en-US" altLang="ko-KR" sz="1400" dirty="0">
                <a:latin typeface="Britannic Bold" panose="020B0903060703020204" pitchFamily="34" charset="0"/>
              </a:rPr>
              <a:t>(discrete=True)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CC4989-4E1E-D890-423E-B6FB7D38B1AB}"/>
              </a:ext>
            </a:extLst>
          </p:cNvPr>
          <p:cNvSpPr txBox="1"/>
          <p:nvPr/>
        </p:nvSpPr>
        <p:spPr>
          <a:xfrm>
            <a:off x="909836" y="1873014"/>
            <a:ext cx="1489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latin typeface="Britannic Bold" panose="020B0903060703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joint_histogram</a:t>
            </a:r>
            <a:endParaRPr lang="ko-KR" altLang="en-US" sz="1400" dirty="0">
              <a:latin typeface="Britannic Bold" panose="020B0903060703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66D913-0B01-E354-6F96-A7108311FCC1}"/>
              </a:ext>
            </a:extLst>
          </p:cNvPr>
          <p:cNvSpPr txBox="1"/>
          <p:nvPr/>
        </p:nvSpPr>
        <p:spPr>
          <a:xfrm>
            <a:off x="7888209" y="4345492"/>
            <a:ext cx="29375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 err="1">
                <a:latin typeface="Britannic Bold" panose="020B0903060703020204" pitchFamily="34" charset="0"/>
              </a:rPr>
              <a:t>g.ax_joint.set</a:t>
            </a:r>
            <a:r>
              <a:rPr lang="en-US" altLang="ko-KR" sz="1400" dirty="0">
                <a:latin typeface="Britannic Bold" panose="020B0903060703020204" pitchFamily="34" charset="0"/>
              </a:rPr>
              <a:t>(</a:t>
            </a:r>
            <a:r>
              <a:rPr lang="en-US" altLang="ko-KR" sz="1400" dirty="0" err="1">
                <a:latin typeface="Britannic Bold" panose="020B0903060703020204" pitchFamily="34" charset="0"/>
              </a:rPr>
              <a:t>yscale</a:t>
            </a:r>
            <a:r>
              <a:rPr lang="en-US" altLang="ko-KR" sz="1400" dirty="0">
                <a:latin typeface="Britannic Bold" panose="020B0903060703020204" pitchFamily="34" charset="0"/>
              </a:rPr>
              <a:t>="log")</a:t>
            </a:r>
            <a:endParaRPr lang="ko-KR" altLang="en-US" sz="1400" dirty="0">
              <a:latin typeface="Britannic Bold" panose="020B0903060703020204" pitchFamily="34" charset="0"/>
            </a:endParaRP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A634B299-49D6-52DE-08AC-3B5F6FDBB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464" y="4653136"/>
            <a:ext cx="2439718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연결선: 구부러짐 13">
            <a:extLst>
              <a:ext uri="{FF2B5EF4-FFF2-40B4-BE49-F238E27FC236}">
                <a16:creationId xmlns:a16="http://schemas.microsoft.com/office/drawing/2014/main" id="{093A3CA7-10F6-B4D7-2B88-086C54CAC0FB}"/>
              </a:ext>
            </a:extLst>
          </p:cNvPr>
          <p:cNvCxnSpPr>
            <a:cxnSpLocks/>
            <a:endCxn id="4100" idx="1"/>
          </p:cNvCxnSpPr>
          <p:nvPr/>
        </p:nvCxnSpPr>
        <p:spPr>
          <a:xfrm>
            <a:off x="4150196" y="2420888"/>
            <a:ext cx="3764142" cy="66751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C8F46F1F-8EEB-CFD0-59E5-180DB3842FE3}"/>
              </a:ext>
            </a:extLst>
          </p:cNvPr>
          <p:cNvCxnSpPr>
            <a:cxnSpLocks/>
          </p:cNvCxnSpPr>
          <p:nvPr/>
        </p:nvCxnSpPr>
        <p:spPr>
          <a:xfrm>
            <a:off x="5014292" y="4751382"/>
            <a:ext cx="2873917" cy="110073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4045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7DCE2-17C1-A611-9B45-2FD6CF81B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6F4523-1057-C68A-630F-8E420669D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17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96F71B-9CAC-A913-6B18-46452EB8146D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Pairplot</a:t>
            </a:r>
            <a:endParaRPr lang="ko-KR" altLang="en-US" sz="32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655F8382-6E2B-3DFF-600B-F2EEAAA5E5BD}"/>
              </a:ext>
            </a:extLst>
          </p:cNvPr>
          <p:cNvGrpSpPr/>
          <p:nvPr/>
        </p:nvGrpSpPr>
        <p:grpSpPr>
          <a:xfrm>
            <a:off x="981844" y="2060848"/>
            <a:ext cx="9509954" cy="4586834"/>
            <a:chOff x="400882" y="992214"/>
            <a:chExt cx="11980731" cy="5778537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252B00A0-9CCA-2DC8-5D52-7E4F521D40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0709" y="1447580"/>
              <a:ext cx="6005581" cy="53012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65E5745-C1E2-1D24-BB69-4BED482DBA8C}"/>
                </a:ext>
              </a:extLst>
            </p:cNvPr>
            <p:cNvSpPr/>
            <p:nvPr/>
          </p:nvSpPr>
          <p:spPr>
            <a:xfrm>
              <a:off x="693812" y="3861048"/>
              <a:ext cx="1534064" cy="138922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7037C7-933E-A3A7-A4E6-1C0B5AD00A6E}"/>
                </a:ext>
              </a:extLst>
            </p:cNvPr>
            <p:cNvSpPr txBox="1"/>
            <p:nvPr/>
          </p:nvSpPr>
          <p:spPr>
            <a:xfrm>
              <a:off x="400882" y="992214"/>
              <a:ext cx="3271960" cy="387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>
                  <a:latin typeface="Britannic Bold" panose="020B090306070302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sns.pairplot</a:t>
              </a:r>
              <a:r>
                <a:rPr lang="en-US" altLang="ko-KR" sz="1400" dirty="0">
                  <a:latin typeface="Britannic Bold" panose="020B090306070302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(</a:t>
              </a:r>
              <a:r>
                <a:rPr lang="en-US" altLang="ko-KR" sz="1400" dirty="0" err="1">
                  <a:latin typeface="Britannic Bold" panose="020B090306070302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df</a:t>
              </a:r>
              <a:r>
                <a:rPr lang="en-US" altLang="ko-KR" sz="1400" dirty="0">
                  <a:latin typeface="Britannic Bold" panose="020B090306070302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, hue="species")</a:t>
              </a:r>
              <a:endParaRPr lang="ko-KR" altLang="en-US" sz="1400" dirty="0">
                <a:latin typeface="Britannic Bold" panose="020B0903060703020204" pitchFamily="34" charset="0"/>
              </a:endParaRPr>
            </a:p>
          </p:txBody>
        </p:sp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B1653977-6636-3D04-4EB3-D5CE03EBD3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86714" y="3946040"/>
              <a:ext cx="2844059" cy="28247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연결선: 구부러짐 6">
              <a:extLst>
                <a:ext uri="{FF2B5EF4-FFF2-40B4-BE49-F238E27FC236}">
                  <a16:creationId xmlns:a16="http://schemas.microsoft.com/office/drawing/2014/main" id="{B7A2B3B0-A523-FF6A-4790-9BDBEAAF94BC}"/>
                </a:ext>
              </a:extLst>
            </p:cNvPr>
            <p:cNvCxnSpPr>
              <a:cxnSpLocks/>
              <a:stCxn id="4" idx="3"/>
              <a:endCxn id="3074" idx="1"/>
            </p:cNvCxnSpPr>
            <p:nvPr/>
          </p:nvCxnSpPr>
          <p:spPr>
            <a:xfrm>
              <a:off x="2227875" y="4555660"/>
              <a:ext cx="7258839" cy="802736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FD26FBB-56B4-174A-C25B-F243F7986FA7}"/>
                </a:ext>
              </a:extLst>
            </p:cNvPr>
            <p:cNvSpPr txBox="1"/>
            <p:nvPr/>
          </p:nvSpPr>
          <p:spPr>
            <a:xfrm>
              <a:off x="9377926" y="3572127"/>
              <a:ext cx="2005747" cy="387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 rtl="0">
                <a:defRPr lang="ko-kr"/>
              </a:defPPr>
              <a:lvl1pPr>
                <a:defRPr sz="1400">
                  <a:latin typeface="Britannic Bold" panose="020B0903060703020204" pitchFamily="34" charset="0"/>
                </a:defRPr>
              </a:lvl1pPr>
            </a:lstStyle>
            <a:p>
              <a:r>
                <a:rPr lang="en-US" altLang="ko-KR" dirty="0" err="1"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hexbin_marginals</a:t>
              </a:r>
              <a:endParaRPr lang="ko-KR" altLang="en-US" dirty="0"/>
            </a:p>
          </p:txBody>
        </p:sp>
        <p:pic>
          <p:nvPicPr>
            <p:cNvPr id="3078" name="Picture 6">
              <a:extLst>
                <a:ext uri="{FF2B5EF4-FFF2-40B4-BE49-F238E27FC236}">
                  <a16:creationId xmlns:a16="http://schemas.microsoft.com/office/drawing/2014/main" id="{156B5172-BB88-2485-4909-5859E68013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86714" y="1159732"/>
              <a:ext cx="2894899" cy="22872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7C2931DD-8ED4-5AEF-DBB8-05B6F017A1E1}"/>
                </a:ext>
              </a:extLst>
            </p:cNvPr>
            <p:cNvSpPr/>
            <p:nvPr/>
          </p:nvSpPr>
          <p:spPr>
            <a:xfrm>
              <a:off x="693812" y="1401540"/>
              <a:ext cx="1534063" cy="138922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cxnSp>
          <p:nvCxnSpPr>
            <p:cNvPr id="17" name="연결선: 구부러짐 16">
              <a:extLst>
                <a:ext uri="{FF2B5EF4-FFF2-40B4-BE49-F238E27FC236}">
                  <a16:creationId xmlns:a16="http://schemas.microsoft.com/office/drawing/2014/main" id="{67D18B30-DE1B-E4AC-6DF9-B05D6302466D}"/>
                </a:ext>
              </a:extLst>
            </p:cNvPr>
            <p:cNvCxnSpPr>
              <a:cxnSpLocks/>
              <a:stCxn id="16" idx="3"/>
              <a:endCxn id="3078" idx="1"/>
            </p:cNvCxnSpPr>
            <p:nvPr/>
          </p:nvCxnSpPr>
          <p:spPr>
            <a:xfrm>
              <a:off x="2227875" y="2096150"/>
              <a:ext cx="7258839" cy="207215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DAED1783-FAA9-B437-9357-5DA25F9E09DD}"/>
              </a:ext>
            </a:extLst>
          </p:cNvPr>
          <p:cNvSpPr txBox="1"/>
          <p:nvPr/>
        </p:nvSpPr>
        <p:spPr>
          <a:xfrm>
            <a:off x="338480" y="1005885"/>
            <a:ext cx="11588580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오른쪽　상단의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KDE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plot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pecies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조건으로 하는 데이터 분포이고 하단의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Hexbin_marginal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species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구분없이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전체 부리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(bill)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날개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(flipper)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대한 데이터 분포이고 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막대그래프나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KDE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곡선의 높이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 Likelihood(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우도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098E6B-8CCB-8548-00BD-D91394A409B5}"/>
              </a:ext>
            </a:extLst>
          </p:cNvPr>
          <p:cNvSpPr txBox="1"/>
          <p:nvPr/>
        </p:nvSpPr>
        <p:spPr>
          <a:xfrm>
            <a:off x="8107558" y="1912267"/>
            <a:ext cx="2523357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400" dirty="0" err="1">
                <a:latin typeface="Britannic Bold" panose="020B0903060703020204" pitchFamily="34" charset="0"/>
              </a:rPr>
              <a:t>sns.kdeplot</a:t>
            </a:r>
            <a:r>
              <a:rPr lang="en-US" altLang="ko-KR" sz="1400" dirty="0">
                <a:latin typeface="Britannic Bold" panose="020B0903060703020204" pitchFamily="34" charset="0"/>
              </a:rPr>
              <a:t>(hue="species“)</a:t>
            </a:r>
          </a:p>
        </p:txBody>
      </p:sp>
    </p:spTree>
    <p:extLst>
      <p:ext uri="{BB962C8B-B14F-4D97-AF65-F5344CB8AC3E}">
        <p14:creationId xmlns:p14="http://schemas.microsoft.com/office/powerpoint/2010/main" val="4105585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88151-C46B-CD5E-E821-A0F68F3A7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D6760EB-0648-59D8-3629-825719199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18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C8D6A8-703D-996C-3882-67E139AAAB2E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Hexbin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plot with marginal distributions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93FFA3-F7AB-2DB1-F22A-1ECB6018AABD}"/>
              </a:ext>
            </a:extLst>
          </p:cNvPr>
          <p:cNvSpPr txBox="1"/>
          <p:nvPr/>
        </p:nvSpPr>
        <p:spPr>
          <a:xfrm>
            <a:off x="6094412" y="1772816"/>
            <a:ext cx="5832648" cy="3953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중앙 육각형 격자 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(Joint Distribution)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두 변수가 동시에 나타나는 빈도이며 색이 진할수록 해당 데이터 포인트가 많이 몰려 있다는 뜻이며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결합 확률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P(X, Y)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높은 지점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상단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/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우측 막대그래프 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(Marginal Distribution)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각 변수 하나의 분포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주변 확률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P(X)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P(Y)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나타냅니다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상단 막대는 부리 길이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(X)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분포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우측 막대는 날개 길이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(Y)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분포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D1BEF79-7545-09AC-1482-F1F72B45D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04" y="1772816"/>
            <a:ext cx="4857582" cy="482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A2A39A-1188-3272-3076-8B01A836614A}"/>
              </a:ext>
            </a:extLst>
          </p:cNvPr>
          <p:cNvSpPr txBox="1"/>
          <p:nvPr/>
        </p:nvSpPr>
        <p:spPr>
          <a:xfrm>
            <a:off x="532365" y="1465039"/>
            <a:ext cx="16433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latin typeface="Britannic Bold" panose="020B0903060703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hexbin_marginals</a:t>
            </a:r>
            <a:r>
              <a:rPr lang="en-US" altLang="ko-KR" sz="1400" dirty="0">
                <a:latin typeface="Britannic Bold" panose="020B0903060703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endParaRPr lang="ko-KR" altLang="en-US" sz="1400" dirty="0"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074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8E4F1-FED3-9C83-19AF-9E59E4C9F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0488456-27E5-BF62-A9E2-DF222DCF85D5}"/>
              </a:ext>
            </a:extLst>
          </p:cNvPr>
          <p:cNvSpPr/>
          <p:nvPr/>
        </p:nvSpPr>
        <p:spPr>
          <a:xfrm>
            <a:off x="549796" y="2538126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35E3C63-50ED-8E84-C8E2-9646A70AC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19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95F424-19FC-3256-E8D0-D757E895DBDB}"/>
              </a:ext>
            </a:extLst>
          </p:cNvPr>
          <p:cNvSpPr txBox="1"/>
          <p:nvPr/>
        </p:nvSpPr>
        <p:spPr>
          <a:xfrm>
            <a:off x="1629916" y="620688"/>
            <a:ext cx="8928992" cy="5131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결합확률분포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(Joint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Probability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Distribution)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조건부확률분포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(Conditional Probability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Distribution)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확률의 이해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문제풀이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>
              <a:lnSpc>
                <a:spcPct val="200000"/>
              </a:lnSpc>
            </a:pPr>
            <a:endParaRPr lang="ko-KR" altLang="en-US" sz="28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3997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66E70-34EB-0C3F-F0E4-511E719A7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2C2CE0A-4F75-02C8-46D1-9E791D348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20</a:t>
            </a:fld>
            <a:endParaRPr lang="en-US" altLang="ko-K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198F10-51EE-9A67-5F61-2A00C33E2DBA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조건부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확률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(Conditional distributions)</a:t>
            </a:r>
            <a:endParaRPr lang="ko-KR" altLang="en-US" sz="3200" b="1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E9A46731-E4C7-5727-B150-47F02419F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6460" y="1616461"/>
            <a:ext cx="5435897" cy="4665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3148E4A-B3B0-586F-1DE8-E19CB2D4077C}"/>
              </a:ext>
            </a:extLst>
          </p:cNvPr>
          <p:cNvSpPr txBox="1"/>
          <p:nvPr/>
        </p:nvSpPr>
        <p:spPr>
          <a:xfrm>
            <a:off x="338480" y="908720"/>
            <a:ext cx="11588580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부리길이가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40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이하와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50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이상인 경우에서 날개의 길이에 대한 조건부확률을 확률밀도함수로 시각화 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060" name="Picture 12">
            <a:extLst>
              <a:ext uri="{FF2B5EF4-FFF2-40B4-BE49-F238E27FC236}">
                <a16:creationId xmlns:a16="http://schemas.microsoft.com/office/drawing/2014/main" id="{62F00511-FD76-49AB-7880-6A76D2E58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42" y="1643014"/>
            <a:ext cx="5465100" cy="4639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5945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0FAF3-4CB9-BECF-483D-600C95920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6EF1691-468D-099A-46B1-58B14A031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21</a:t>
            </a:fld>
            <a:endParaRPr lang="en-US" altLang="ko-K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A352C2-66CD-CAE7-94E4-26FF0A683EB2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조건부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확률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(Conditional distributions)</a:t>
            </a:r>
            <a:endParaRPr lang="ko-KR" altLang="en-US" sz="3200" b="1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EA1AC3BD-6565-1884-E002-03A1A38BB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063" y="1632195"/>
            <a:ext cx="5525102" cy="4690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5409503A-3995-715E-1826-7FC194EF1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54" y="1628800"/>
            <a:ext cx="5435897" cy="4654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AF28AC-A607-8077-A231-1EF39363F518}"/>
              </a:ext>
            </a:extLst>
          </p:cNvPr>
          <p:cNvSpPr txBox="1"/>
          <p:nvPr/>
        </p:nvSpPr>
        <p:spPr>
          <a:xfrm>
            <a:off x="338480" y="908720"/>
            <a:ext cx="11588580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부리길이가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40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이하와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50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이상인 경우에서 날개의 길이에 대한 조건부확률을 시각화 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700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05F1E-F796-5B86-BB6D-1DE3E96BA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6DD476-E7B1-A9F8-818B-592447BC5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22</a:t>
            </a:fld>
            <a:endParaRPr lang="en-US" altLang="ko-KR" noProof="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2A59E69-1EBF-6473-FA56-31829809B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931" y="2060848"/>
            <a:ext cx="10110835" cy="4136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0AC3C7-4124-E1BC-E58C-1975BFACDB04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조건부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확률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(Conditional distributions)</a:t>
            </a:r>
            <a:endParaRPr lang="ko-KR" altLang="en-US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4832A0-F0BF-374A-D564-5BA5865EAE85}"/>
              </a:ext>
            </a:extLst>
          </p:cNvPr>
          <p:cNvSpPr txBox="1"/>
          <p:nvPr/>
        </p:nvSpPr>
        <p:spPr>
          <a:xfrm>
            <a:off x="338480" y="1005885"/>
            <a:ext cx="11588580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부리길이가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40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이하와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50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이상인 경우에서 날개의 길이에 대한 조건부확률을 시각화 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BB3ED63-FE5D-9994-B67A-770A8624D4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0849" y="2574157"/>
            <a:ext cx="1816536" cy="139699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FB7F972-34E1-4141-72BE-842F5F835B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700" y="2564904"/>
            <a:ext cx="2054114" cy="139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24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E7798-07DC-FE7E-30AA-DA0A29AED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0B41B6C-9F4C-8B94-632A-0CD19CF4E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23</a:t>
            </a:fld>
            <a:endParaRPr lang="en-US" altLang="ko-K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9B8E04-000F-5C87-7A56-5BE6CF433C28}"/>
              </a:ext>
            </a:extLst>
          </p:cNvPr>
          <p:cNvSpPr txBox="1"/>
          <p:nvPr/>
        </p:nvSpPr>
        <p:spPr>
          <a:xfrm>
            <a:off x="1383587" y="1969095"/>
            <a:ext cx="25298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Britannic Bold" panose="020B0903060703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Joint kernel density estimate</a:t>
            </a:r>
            <a:endParaRPr lang="ko-KR" altLang="en-US" sz="1400" dirty="0">
              <a:latin typeface="Britannic Bold" panose="020B09030607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C0E21B-638F-5751-E709-85C0F8E75B6C}"/>
              </a:ext>
            </a:extLst>
          </p:cNvPr>
          <p:cNvSpPr txBox="1"/>
          <p:nvPr/>
        </p:nvSpPr>
        <p:spPr>
          <a:xfrm>
            <a:off x="6598468" y="1969095"/>
            <a:ext cx="3791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Britannic Bold" panose="020B0903060703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Joint kernel density estimate</a:t>
            </a:r>
            <a:r>
              <a:rPr lang="en-US" altLang="ko-KR" sz="1400" dirty="0">
                <a:latin typeface="Britannic Bold" panose="020B0903060703020204" pitchFamily="34" charset="0"/>
              </a:rPr>
              <a:t>(hue =“species”)</a:t>
            </a:r>
            <a:endParaRPr lang="ko-KR" altLang="en-US" sz="1400" dirty="0">
              <a:latin typeface="Britannic Bold" panose="020B09030607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BDBAD1-9294-DC49-5057-2D5162AB55EE}"/>
              </a:ext>
            </a:extLst>
          </p:cNvPr>
          <p:cNvSpPr txBox="1"/>
          <p:nvPr/>
        </p:nvSpPr>
        <p:spPr>
          <a:xfrm>
            <a:off x="490880" y="980728"/>
            <a:ext cx="11588580" cy="829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penguin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에서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Chinstrap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종을 제외하고 종의 구분 여부에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따라 전체분포와 조건부 분포를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시각화하라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종의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구분에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따라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KDE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분포가 달라지는 것을 확인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조건부 확률과 동일함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 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453F01-12DE-A1AA-9FA0-E02D648A6410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조건부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확률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(Conditional distributions)</a:t>
            </a:r>
            <a:endParaRPr lang="ko-KR" altLang="en-US" sz="32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CA2262D-A87E-8995-D384-602F9F852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8978" y="2275344"/>
            <a:ext cx="4143375" cy="417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29DC385-D588-F68C-1F46-6F38DF142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396" y="2286367"/>
            <a:ext cx="4143376" cy="4186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8493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419D0-2FDC-16D8-548C-E22332E56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690D8AA-8BC3-384F-3764-C1E73140B29F}"/>
              </a:ext>
            </a:extLst>
          </p:cNvPr>
          <p:cNvSpPr/>
          <p:nvPr/>
        </p:nvSpPr>
        <p:spPr>
          <a:xfrm>
            <a:off x="549796" y="3114190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EAB4A4B-43B1-86F2-5D53-994D5814B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24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46FC76-358A-A88D-A4DC-DEFFF8B417C9}"/>
              </a:ext>
            </a:extLst>
          </p:cNvPr>
          <p:cNvSpPr txBox="1"/>
          <p:nvPr/>
        </p:nvSpPr>
        <p:spPr>
          <a:xfrm>
            <a:off x="1629916" y="620688"/>
            <a:ext cx="8928992" cy="5131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결합확률분포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(Joint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Probability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Distribution)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조건부확률분포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(Conditional Probability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Distribution)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확률의 이해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문제풀이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>
              <a:lnSpc>
                <a:spcPct val="200000"/>
              </a:lnSpc>
            </a:pPr>
            <a:endParaRPr lang="ko-KR" altLang="en-US" sz="28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7129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25</a:t>
            </a:fld>
            <a:endParaRPr lang="en-US" altLang="ko-KR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D48443-75BE-9871-0739-0896D3DD3D33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결합확률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(joint distributions)</a:t>
            </a:r>
            <a:endParaRPr lang="ko-KR" altLang="en-US" sz="32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A033E8-7497-399B-7ED7-D83E6988BE68}"/>
              </a:ext>
            </a:extLst>
          </p:cNvPr>
          <p:cNvSpPr txBox="1"/>
          <p:nvPr/>
        </p:nvSpPr>
        <p:spPr>
          <a:xfrm>
            <a:off x="338480" y="1005885"/>
            <a:ext cx="11588580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동전과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주사위를 던졌을 때 동전 앞면과 주사위의 수자가 짝수가 나올 확률은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결합확률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)?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26D2F1C-13C2-7A5E-20F8-DEC1B703D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996" y="2204864"/>
            <a:ext cx="6264696" cy="4277786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DF05CFF5-0ACF-1D02-6742-22846750DFB2}"/>
              </a:ext>
            </a:extLst>
          </p:cNvPr>
          <p:cNvSpPr/>
          <p:nvPr/>
        </p:nvSpPr>
        <p:spPr>
          <a:xfrm>
            <a:off x="3574132" y="3212976"/>
            <a:ext cx="648072" cy="5040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0E5466E-443E-A97E-011D-A08F7A137835}"/>
              </a:ext>
            </a:extLst>
          </p:cNvPr>
          <p:cNvSpPr/>
          <p:nvPr/>
        </p:nvSpPr>
        <p:spPr>
          <a:xfrm>
            <a:off x="3574132" y="4293096"/>
            <a:ext cx="648072" cy="5040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49B786E-AE08-9372-3173-F9EFFACDEE22}"/>
              </a:ext>
            </a:extLst>
          </p:cNvPr>
          <p:cNvSpPr/>
          <p:nvPr/>
        </p:nvSpPr>
        <p:spPr>
          <a:xfrm>
            <a:off x="3574132" y="5373216"/>
            <a:ext cx="648072" cy="5040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72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73BAC-720D-87BB-EAA7-730F4625F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BD8E640-463B-7E86-FADD-2FC0076FE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26</a:t>
            </a:fld>
            <a:endParaRPr lang="en-US" altLang="ko-KR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864CA5-78A6-6583-F034-8DF3E7E2452D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결합확률</a:t>
            </a:r>
            <a:r>
              <a:rPr lang="en-US" altLang="ko-KR" sz="32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(joint distributions)</a:t>
            </a:r>
            <a:endParaRPr lang="ko-KR" altLang="en-US" sz="32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7D7DA8-EB40-CC7E-60ED-3BAE167DDC85}"/>
              </a:ext>
            </a:extLst>
          </p:cNvPr>
          <p:cNvSpPr txBox="1"/>
          <p:nvPr/>
        </p:nvSpPr>
        <p:spPr>
          <a:xfrm>
            <a:off x="338480" y="1005885"/>
            <a:ext cx="11588580" cy="415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동전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앞면과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주사위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1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나올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확률은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1/2 * 1/6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동전과 주사위가 나올 확률을 곱한다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5C700C0-8873-0ACA-48DA-B76F580B0A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988" y="1963863"/>
            <a:ext cx="8052895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610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4B49E-8DE0-447C-5C4F-CED65C391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26BA9F5B-E661-1F9C-4100-D698438A5CC1}"/>
              </a:ext>
            </a:extLst>
          </p:cNvPr>
          <p:cNvSpPr/>
          <p:nvPr/>
        </p:nvSpPr>
        <p:spPr>
          <a:xfrm>
            <a:off x="549796" y="3762262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9FA1B26-DC49-91C6-6DDB-18EF223A0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27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B17D90-540E-FE62-C6A0-B2BD4C0E315D}"/>
              </a:ext>
            </a:extLst>
          </p:cNvPr>
          <p:cNvSpPr txBox="1"/>
          <p:nvPr/>
        </p:nvSpPr>
        <p:spPr>
          <a:xfrm>
            <a:off x="1629916" y="620688"/>
            <a:ext cx="8928992" cy="5131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결합확률분포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(Joint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Probability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Distribution)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조건부확률분포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(Conditional Probability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Distribution)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확률의 이해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문제풀이</a:t>
            </a: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buAutoNum type="arabicPeriod"/>
            </a:pP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>
              <a:lnSpc>
                <a:spcPct val="200000"/>
              </a:lnSpc>
            </a:pPr>
            <a:endParaRPr lang="ko-KR" altLang="en-US" sz="28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8340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2B9FD-6CF7-E754-B109-FC446EE03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E5AD546-E2AE-DC45-4882-656344547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28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ACC3B7-FB12-6E26-92DE-A7C905718A63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  <a:r>
              <a:rPr lang="en-US" altLang="ko-KR" sz="3200" b="1" dirty="0"/>
              <a:t>(</a:t>
            </a:r>
            <a:r>
              <a:rPr lang="ko-KR" altLang="en-US" sz="3200" b="1" dirty="0"/>
              <a:t>시각화</a:t>
            </a:r>
            <a:r>
              <a:rPr lang="en-US" altLang="ko-KR" sz="3200" b="1" dirty="0"/>
              <a:t>, Data </a:t>
            </a:r>
            <a:r>
              <a:rPr lang="en-US" altLang="ko-KR" sz="3200" b="1" dirty="0" err="1"/>
              <a:t>Visulalization</a:t>
            </a:r>
            <a:r>
              <a:rPr lang="en-US" altLang="ko-KR" sz="3200" b="1" dirty="0"/>
              <a:t>)</a:t>
            </a:r>
            <a:endParaRPr lang="ko-KR" altLang="en-US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A5EE73-D32C-9EB5-7BF4-979657F5F594}"/>
              </a:ext>
            </a:extLst>
          </p:cNvPr>
          <p:cNvSpPr txBox="1"/>
          <p:nvPr/>
        </p:nvSpPr>
        <p:spPr>
          <a:xfrm>
            <a:off x="693811" y="1052736"/>
            <a:ext cx="10945216" cy="506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값이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1, 2, 3, 4, 5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 각각의 데이터는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Cluster 1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중에 어디에 속할까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 시각화 그림에 대해 토론하라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8D7AB43-DF89-3BD3-85A6-F5BC7A6A2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811" y="2132856"/>
            <a:ext cx="5174579" cy="4162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398DCFD-949D-CDDA-D1EE-BC24E69F7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8060" y="2132856"/>
            <a:ext cx="4152856" cy="4162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11DEB08-E888-0609-EDF3-3513CEC998A0}"/>
              </a:ext>
            </a:extLst>
          </p:cNvPr>
          <p:cNvSpPr txBox="1"/>
          <p:nvPr/>
        </p:nvSpPr>
        <p:spPr>
          <a:xfrm>
            <a:off x="1172929" y="2428146"/>
            <a:ext cx="268923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from </a:t>
            </a:r>
            <a:r>
              <a:rPr lang="en-US" altLang="ko-KR" sz="900" dirty="0" err="1">
                <a:solidFill>
                  <a:schemeClr val="bg1"/>
                </a:solidFill>
                <a:latin typeface="Arial Narrow" panose="020B0606020202030204" pitchFamily="34" charset="0"/>
              </a:rPr>
              <a:t>scipy.stats</a:t>
            </a:r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 import </a:t>
            </a:r>
            <a:r>
              <a:rPr lang="en-US" altLang="ko-KR" sz="9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multivariate_normal</a:t>
            </a:r>
            <a:endParaRPr lang="en-US" altLang="ko-KR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# </a:t>
            </a:r>
            <a:r>
              <a:rPr lang="ko-KR" alt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클러스터 </a:t>
            </a:r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1: </a:t>
            </a:r>
            <a:r>
              <a:rPr lang="ko-KR" alt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중심 </a:t>
            </a:r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(1, 1), </a:t>
            </a:r>
            <a:r>
              <a:rPr lang="ko-KR" alt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원형 분포 </a:t>
            </a:r>
            <a:endParaRPr lang="en-US" altLang="ko-KR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rv1 = </a:t>
            </a:r>
            <a:r>
              <a:rPr lang="en-US" altLang="ko-KR" sz="9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multivariate_normal</a:t>
            </a:r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([1, 1], [[0.5, 0], [0, 0.5]]) </a:t>
            </a:r>
          </a:p>
          <a:p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# </a:t>
            </a:r>
            <a:r>
              <a:rPr lang="ko-KR" alt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클러스터 </a:t>
            </a:r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2: </a:t>
            </a:r>
            <a:r>
              <a:rPr lang="ko-KR" alt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중심 </a:t>
            </a:r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(3, 3), </a:t>
            </a:r>
            <a:r>
              <a:rPr lang="ko-KR" alt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타원 분포 </a:t>
            </a:r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(</a:t>
            </a:r>
            <a:r>
              <a:rPr lang="ko-KR" alt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공분산 활용</a:t>
            </a:r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) </a:t>
            </a:r>
          </a:p>
          <a:p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rv2 = </a:t>
            </a:r>
            <a:r>
              <a:rPr lang="en-US" altLang="ko-KR" sz="9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multivariate_normal</a:t>
            </a:r>
            <a:r>
              <a:rPr lang="en-US" altLang="ko-KR" sz="900" dirty="0">
                <a:solidFill>
                  <a:schemeClr val="bg1"/>
                </a:solidFill>
                <a:latin typeface="Arial Narrow" panose="020B0606020202030204" pitchFamily="34" charset="0"/>
              </a:rPr>
              <a:t>([3, 3], [[1.5, 0.8], [0.8, 0.6]]) </a:t>
            </a:r>
            <a:endParaRPr lang="ko-KR" alt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13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5FE7E-2B7D-A71D-4FD2-830B605E6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880AE1D-BFBF-DF84-0F66-5CF026310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29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AF0CA0-5595-AC6D-B083-3EBAE23A9614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  <a:r>
              <a:rPr lang="en-US" altLang="ko-KR" sz="3200" b="1" dirty="0"/>
              <a:t>(</a:t>
            </a:r>
            <a:r>
              <a:rPr lang="ko-KR" altLang="en-US" sz="3200" b="1" dirty="0"/>
              <a:t>시각화</a:t>
            </a:r>
            <a:r>
              <a:rPr lang="en-US" altLang="ko-KR" sz="3200" b="1" dirty="0"/>
              <a:t>, Data </a:t>
            </a:r>
            <a:r>
              <a:rPr lang="en-US" altLang="ko-KR" sz="3200" b="1" dirty="0" err="1"/>
              <a:t>Visulalization</a:t>
            </a:r>
            <a:r>
              <a:rPr lang="en-US" altLang="ko-KR" sz="3200" b="1" dirty="0"/>
              <a:t>)</a:t>
            </a:r>
            <a:endParaRPr lang="ko-KR" altLang="en-US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CB6E98-D7DF-2326-D250-C71DB2B73F1C}"/>
              </a:ext>
            </a:extLst>
          </p:cNvPr>
          <p:cNvSpPr txBox="1"/>
          <p:nvPr/>
        </p:nvSpPr>
        <p:spPr>
          <a:xfrm>
            <a:off x="909836" y="875966"/>
            <a:ext cx="10945216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값이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1,2, 3, 4, 5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 각각의 데이터는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Cluster 1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중에 어디에 속할까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 시각화 그림에 대해 토론하라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값이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일 경우 어디에 속하는지 수자로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확률로 제시할 수 있을까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62ADCD0-BC77-3149-39F3-DCDB650915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764" y="2276872"/>
            <a:ext cx="4939310" cy="3973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0163F9-90B9-A8F1-5718-71EF8A59C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2364" y="2319014"/>
            <a:ext cx="6351438" cy="2982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F4117D-32C9-4924-938F-DAEAFD3031F0}"/>
              </a:ext>
            </a:extLst>
          </p:cNvPr>
          <p:cNvSpPr txBox="1"/>
          <p:nvPr/>
        </p:nvSpPr>
        <p:spPr>
          <a:xfrm>
            <a:off x="5662363" y="5445224"/>
            <a:ext cx="635143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400" dirty="0" err="1"/>
              <a:t>러그</a:t>
            </a:r>
            <a:r>
              <a:rPr lang="ko-KR" altLang="en-US" sz="1400" dirty="0"/>
              <a:t> 플롯</a:t>
            </a:r>
            <a:r>
              <a:rPr lang="en-US" altLang="ko-KR" sz="1400" dirty="0"/>
              <a:t>(Rug Plot) : 2</a:t>
            </a:r>
            <a:r>
              <a:rPr lang="ko-KR" altLang="en-US" sz="1400" dirty="0"/>
              <a:t>차원 공간</a:t>
            </a:r>
            <a:r>
              <a:rPr lang="en-US" altLang="ko-KR" sz="1400" dirty="0"/>
              <a:t>(X, Y)</a:t>
            </a:r>
            <a:r>
              <a:rPr lang="ko-KR" altLang="en-US" sz="1400" dirty="0"/>
              <a:t>에 흩어져 있는 점들을 </a:t>
            </a:r>
            <a:r>
              <a:rPr lang="en-US" altLang="ko-KR" sz="1400" dirty="0"/>
              <a:t>Y</a:t>
            </a:r>
            <a:r>
              <a:rPr lang="ko-KR" altLang="en-US" sz="1400" dirty="0"/>
              <a:t>축 값을 무시하고 </a:t>
            </a:r>
            <a:r>
              <a:rPr lang="en-US" altLang="ko-KR" sz="1400" dirty="0"/>
              <a:t>X</a:t>
            </a:r>
            <a:r>
              <a:rPr lang="ko-KR" altLang="en-US" sz="1400" dirty="0"/>
              <a:t>축 바닥으로 뚝 떨어뜨려</a:t>
            </a:r>
            <a:r>
              <a:rPr lang="en-US" altLang="ko-KR" sz="1400" dirty="0"/>
              <a:t>(</a:t>
            </a:r>
            <a:r>
              <a:rPr lang="ko-KR" altLang="en-US" sz="1400" dirty="0"/>
              <a:t>투영시켜</a:t>
            </a:r>
            <a:r>
              <a:rPr lang="en-US" altLang="ko-KR" sz="1400" dirty="0"/>
              <a:t>), </a:t>
            </a:r>
            <a:r>
              <a:rPr lang="ko-KR" altLang="en-US" sz="1400" dirty="0"/>
              <a:t>실제 데이터가 어느 지점에 밀집해 있는지를 직선상의 눈금으로 표시</a:t>
            </a:r>
          </a:p>
        </p:txBody>
      </p:sp>
    </p:spTree>
    <p:extLst>
      <p:ext uri="{BB962C8B-B14F-4D97-AF65-F5344CB8AC3E}">
        <p14:creationId xmlns:p14="http://schemas.microsoft.com/office/powerpoint/2010/main" val="298990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DB2DCB-C9C7-FFF3-803D-5C78FEB19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30</a:t>
            </a:fld>
            <a:endParaRPr lang="en-US" altLang="ko-K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666163-F6F1-738E-3F66-6669CD9B676E}"/>
              </a:ext>
            </a:extLst>
          </p:cNvPr>
          <p:cNvSpPr txBox="1"/>
          <p:nvPr/>
        </p:nvSpPr>
        <p:spPr>
          <a:xfrm>
            <a:off x="765820" y="1196752"/>
            <a:ext cx="11233248" cy="69705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Kaggle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alone-in-the-woods-using-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theil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-s-u-for-survival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참고하여 아래 데이터를 바탕으로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target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성별로 하고 다른 모든 변수를 입력변수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(Input)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하여 상관관계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실수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범주 모두 포함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아래와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같이 구하고 결과를 토론하라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F51B27-8096-A2B2-E88A-5F08FD136A69}"/>
              </a:ext>
            </a:extLst>
          </p:cNvPr>
          <p:cNvSpPr txBox="1"/>
          <p:nvPr/>
        </p:nvSpPr>
        <p:spPr>
          <a:xfrm>
            <a:off x="117748" y="260648"/>
            <a:ext cx="5256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  <a:r>
              <a:rPr lang="en-US" altLang="ko-KR" sz="3200" b="1" dirty="0"/>
              <a:t>(Option)</a:t>
            </a:r>
            <a:endParaRPr lang="ko-KR" altLang="en-US" sz="32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08EB97-D75C-37B9-BF3B-39DC3F52E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169" y="2760332"/>
            <a:ext cx="10114904" cy="2022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FE2F4D8-5C8D-3D53-0E7C-5E89E4BD1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646" y="5088070"/>
            <a:ext cx="10525532" cy="943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89525C-C7A0-A806-EA78-271C51F864A5}"/>
              </a:ext>
            </a:extLst>
          </p:cNvPr>
          <p:cNvSpPr txBox="1"/>
          <p:nvPr/>
        </p:nvSpPr>
        <p:spPr>
          <a:xfrm>
            <a:off x="765067" y="4762947"/>
            <a:ext cx="61139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https://github.com/ancestor9/data/blob/main/customers.csv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663936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51A57-7963-F069-6B19-C29EE8FDC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B301409-FC0B-93A1-E3C6-44BC78922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31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30D26D-A9D0-2236-36E0-A89E242D0C0C}"/>
              </a:ext>
            </a:extLst>
          </p:cNvPr>
          <p:cNvSpPr txBox="1"/>
          <p:nvPr/>
        </p:nvSpPr>
        <p:spPr>
          <a:xfrm>
            <a:off x="117748" y="260648"/>
            <a:ext cx="10729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문제 풀이</a:t>
            </a:r>
            <a:r>
              <a:rPr lang="en-US" altLang="ko-KR" sz="3200" b="1" dirty="0"/>
              <a:t>(</a:t>
            </a:r>
            <a:r>
              <a:rPr lang="ko-KR" altLang="en-US" sz="3200" b="1" dirty="0"/>
              <a:t>시각화</a:t>
            </a:r>
            <a:r>
              <a:rPr lang="en-US" altLang="ko-KR" sz="3200" b="1" dirty="0"/>
              <a:t>, Data </a:t>
            </a:r>
            <a:r>
              <a:rPr lang="en-US" altLang="ko-KR" sz="3200" b="1" dirty="0" err="1"/>
              <a:t>Visulalization</a:t>
            </a:r>
            <a:r>
              <a:rPr lang="en-US" altLang="ko-KR" sz="3200" b="1" dirty="0"/>
              <a:t>)</a:t>
            </a:r>
            <a:endParaRPr lang="ko-KR" altLang="en-US" sz="3200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9087298-9315-D2FD-7110-FBB0AC9CF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868" y="1412775"/>
            <a:ext cx="5112568" cy="5147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A7B01D-0855-07B6-72C7-06A99023DDC7}"/>
              </a:ext>
            </a:extLst>
          </p:cNvPr>
          <p:cNvSpPr txBox="1"/>
          <p:nvPr/>
        </p:nvSpPr>
        <p:spPr>
          <a:xfrm>
            <a:off x="1169518" y="1043443"/>
            <a:ext cx="5500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https://seaborn.pydata.org/examples/joint_kde.html</a:t>
            </a:r>
            <a:r>
              <a:rPr lang="en-US" altLang="ko-KR" sz="1400" dirty="0"/>
              <a:t> 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119D07-2A4F-882B-ECB2-939FE65B77D8}"/>
              </a:ext>
            </a:extLst>
          </p:cNvPr>
          <p:cNvSpPr txBox="1"/>
          <p:nvPr/>
        </p:nvSpPr>
        <p:spPr>
          <a:xfrm>
            <a:off x="6814492" y="1517966"/>
            <a:ext cx="5256584" cy="4245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변수명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“species”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범주형 값을 기준으로 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x,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축의 각각 변수의 평균과 분산을 구하라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x,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의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변수간의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공분산을 구하라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분산이나 공분산이 커지면 모양새는 어떻게 변하나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낙도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(remote island)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무엇인가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팽권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3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종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(species)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분류하기에 가장 좋은 변수는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x, y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중에서 무엇인지 결정하라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분류를 결정하는 변수의 어떤 특정 값이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종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(species)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분류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(classification)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하는데 최적인가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5708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마케팅 16x9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3666154_TF02801084.potx" id="{B893C259-098E-47F8-8877-587E0721A18C}" vid="{F842517E-B3F6-4577-896B-5E1D47976B3A}"/>
    </a:ext>
  </a:extLst>
</a:theme>
</file>

<file path=ppt/theme/theme2.xml><?xml version="1.0" encoding="utf-8"?>
<a:theme xmlns:a="http://schemas.openxmlformats.org/drawingml/2006/main" name="Office 테마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CCB2C71-1ED8-4540-B003-293B5E75C7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0AACE6D-8EB6-447A-8DFD-C2C0C52916AC}">
  <ds:schemaRefs>
    <ds:schemaRef ds:uri="http://purl.org/dc/elements/1.1/"/>
    <ds:schemaRef ds:uri="http://purl.org/dc/terms/"/>
    <ds:schemaRef ds:uri="http://schemas.microsoft.com/office/2006/metadata/properties"/>
    <ds:schemaRef ds:uri="a4f35948-e619-41b3-aa29-22878b09cfd2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40262f94-9f35-4ac3-9a90-690165a166b7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F9B8BCC-BF24-4800-92E1-9F891BBB27E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유리 건물 배경의 비즈니스 마케팅 프레젠테이션(와이드스크린)</Template>
  <TotalTime>1769</TotalTime>
  <Words>1297</Words>
  <Application>Microsoft Office PowerPoint</Application>
  <PresentationFormat>사용자 지정</PresentationFormat>
  <Paragraphs>180</Paragraphs>
  <Slides>31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44" baseType="lpstr">
      <vt:lpstr>맑은 고딕</vt:lpstr>
      <vt:lpstr>맑은 고딕 Semilight</vt:lpstr>
      <vt:lpstr>한컴 말랑말랑 Bold</vt:lpstr>
      <vt:lpstr>휴먼모음T</vt:lpstr>
      <vt:lpstr>ADLaM Display</vt:lpstr>
      <vt:lpstr>Arial</vt:lpstr>
      <vt:lpstr>Arial Narrow</vt:lpstr>
      <vt:lpstr>Britannic Bold</vt:lpstr>
      <vt:lpstr>Calibri Light</vt:lpstr>
      <vt:lpstr>Cambria</vt:lpstr>
      <vt:lpstr>Corbel</vt:lpstr>
      <vt:lpstr>Wingdings</vt:lpstr>
      <vt:lpstr>마케팅 16x9</vt:lpstr>
      <vt:lpstr>통계와 확률  - 확률론에 들어가기 전 - 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ADsP 특강   2024_Summer</dc:title>
  <dc:creator>조상구</dc:creator>
  <cp:lastModifiedBy>Sanggoo Cho</cp:lastModifiedBy>
  <cp:revision>47</cp:revision>
  <dcterms:created xsi:type="dcterms:W3CDTF">2024-06-03T06:10:16Z</dcterms:created>
  <dcterms:modified xsi:type="dcterms:W3CDTF">2026-03-25T14:32:36Z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