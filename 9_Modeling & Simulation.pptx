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8"/>
  </p:notesMasterIdLst>
  <p:sldIdLst>
    <p:sldId id="256" r:id="rId2"/>
    <p:sldId id="839" r:id="rId3"/>
    <p:sldId id="911" r:id="rId4"/>
    <p:sldId id="840" r:id="rId5"/>
    <p:sldId id="914" r:id="rId6"/>
    <p:sldId id="915" r:id="rId7"/>
    <p:sldId id="916" r:id="rId8"/>
    <p:sldId id="917" r:id="rId9"/>
    <p:sldId id="912" r:id="rId10"/>
    <p:sldId id="918" r:id="rId11"/>
    <p:sldId id="920" r:id="rId12"/>
    <p:sldId id="919" r:id="rId13"/>
    <p:sldId id="922" r:id="rId14"/>
    <p:sldId id="923" r:id="rId15"/>
    <p:sldId id="924" r:id="rId16"/>
    <p:sldId id="925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1651" autoAdjust="0"/>
    <p:restoredTop sz="94677" autoAdjust="0"/>
  </p:normalViewPr>
  <p:slideViewPr>
    <p:cSldViewPr snapToGrid="0">
      <p:cViewPr varScale="1">
        <p:scale>
          <a:sx n="80" d="100"/>
          <a:sy n="80" d="100"/>
        </p:scale>
        <p:origin x="936" y="67"/>
      </p:cViewPr>
      <p:guideLst/>
    </p:cSldViewPr>
  </p:slideViewPr>
  <p:outlineViewPr>
    <p:cViewPr>
      <p:scale>
        <a:sx n="33" d="100"/>
        <a:sy n="33" d="100"/>
      </p:scale>
      <p:origin x="0" y="-14155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6D2F86-9062-4B78-99E4-F1BEEF85F138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5F8537-0286-40EF-BEDA-D09730C549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1858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78737" y="625919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3774" y="625919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14011" y="625919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none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>
            <a:lvl1pPr>
              <a:defRPr cap="none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  <a:lvl2pPr>
              <a:defRPr cap="none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2pPr>
            <a:lvl3pPr>
              <a:defRPr cap="none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3pPr>
            <a:lvl4pPr>
              <a:defRPr cap="none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4pPr>
            <a:lvl5pPr>
              <a:defRPr cap="none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3ED9A29-9868-F004-D477-E1B0BB9330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25919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4/29/2026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77D30F9-C5FD-9521-DA84-79FBF57E5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25919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6A01DD9-3974-9718-87F6-EB78F09A5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25919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 cap="none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 cap="none" baseline="0">
                <a:solidFill>
                  <a:schemeClr val="bg1">
                    <a:lumMod val="50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3A99E11-B46A-118A-F76B-E17310DEE2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25919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4/29/2026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71614DA-D35D-4B8B-DCBD-E9A199822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25919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B27BFF4-697B-FD92-F05F-295244280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25919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>
            <a:lvl1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>
            <a:lvl1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  <a:lvl2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2pPr>
            <a:lvl3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3pPr>
            <a:lvl4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4pPr>
            <a:lvl5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>
            <a:lvl1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  <a:lvl2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2pPr>
            <a:lvl3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3pPr>
            <a:lvl4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4pPr>
            <a:lvl5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68E69C8F-0918-40E3-4741-67A5B5A91D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25919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4/29/2026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62887F7-6A57-BAD0-B669-290D07F51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25919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4F0C71D-A8E9-043B-3AA5-BF120AE9F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25919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>
            <a:lvl1pPr>
              <a:defRPr cap="none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 cap="none" baseline="0">
                <a:solidFill>
                  <a:schemeClr val="tx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>
            <a:lvl1pPr>
              <a:defRPr cap="none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  <a:lvl2pPr>
              <a:defRPr cap="none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2pPr>
            <a:lvl3pPr>
              <a:defRPr cap="none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3pPr>
            <a:lvl4pPr>
              <a:defRPr cap="none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4pPr>
            <a:lvl5pPr>
              <a:defRPr cap="none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 cap="none" baseline="0">
                <a:solidFill>
                  <a:schemeClr val="tx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>
            <a:lvl1pPr>
              <a:defRPr cap="none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  <a:lvl2pPr>
              <a:defRPr cap="none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2pPr>
            <a:lvl3pPr>
              <a:defRPr cap="none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3pPr>
            <a:lvl4pPr>
              <a:defRPr cap="none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4pPr>
            <a:lvl5pPr>
              <a:defRPr cap="none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4/29/2026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4/29/2026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4/29/2026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4/29/2026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4/29/2026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 cap="none" baseline="0">
                <a:latin typeface="Times New Roman" panose="0202060305040502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8737" y="627951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4/29/2026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3774" y="627951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14011" y="627951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 cap="none" baseline="0">
                <a:latin typeface="Times New Roman" panose="0202060305040502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8737" y="615759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4/29/2026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3774" y="615759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14011" y="615759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4/29/2026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5631107F-D1C4-F805-1498-80BECBF005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4/29/2026</a:t>
            </a:fld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4DC48662-B15E-83AA-948A-6E29EC904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6B053EF2-6074-466B-2115-88DE3F354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" name="Date Placeholder 4">
            <a:extLst>
              <a:ext uri="{FF2B5EF4-FFF2-40B4-BE49-F238E27FC236}">
                <a16:creationId xmlns:a16="http://schemas.microsoft.com/office/drawing/2014/main" id="{F09C00A1-E496-9D6D-FCA7-54CAF7D69F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4/29/2026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F1974E-196E-D3C9-4363-362788825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404446F-A494-25B8-0869-FB7B6C5BC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" name="Date Placeholder 4">
            <a:extLst>
              <a:ext uri="{FF2B5EF4-FFF2-40B4-BE49-F238E27FC236}">
                <a16:creationId xmlns:a16="http://schemas.microsoft.com/office/drawing/2014/main" id="{68E154EC-00A9-6E79-7724-9D6944B077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4/29/2026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BEC2A4-54D7-3BF6-D99A-08582FF90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4D4F25-CAAA-ECEB-957C-521F20E2D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D1B0384A-C15E-6BC3-788D-790F774B40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4/29/2026</a:t>
            </a:fld>
            <a:endParaRPr lang="en-US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7415F5C3-F00B-F7A0-2083-856E045DD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11D89B46-F084-169B-F060-9635BE8E8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7273AA5-3929-967A-5130-C11B3E3756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4/29/2026</a:t>
            </a:fld>
            <a:endParaRPr lang="en-US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88B4DE49-D32C-01EA-F5B0-AAAC2AD2C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85456818-C05D-B8E7-2227-39DE6BFCB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4/29/2026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208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11B8B1B7-A03F-2EA2-EF8B-567925A49D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78737" y="625919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4/29/2026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72B5944-8912-A1D5-050D-8632DCBF79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3774" y="625919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B2289C7-8B26-A377-4243-1486C10E0C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4011" y="625919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  <p:sldLayoutId id="2147483669" r:id="rId18"/>
  </p:sldLayoutIdLst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en.wikipedia.org/wiki/Velocity" TargetMode="External"/><Relationship Id="rId1" Type="http://schemas.openxmlformats.org/officeDocument/2006/relationships/slideLayout" Target="../slideLayouts/slideLayout18.xml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ell_division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Relationship Id="rId5" Type="http://schemas.microsoft.com/office/2007/relationships/hdphoto" Target="../media/hdphoto2.wdp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hyperlink" Target="https://en.wikipedia.org/wiki/Cell_division" TargetMode="Externa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9.jpeg"/><Relationship Id="rId7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6.png"/><Relationship Id="rId5" Type="http://schemas.microsoft.com/office/2007/relationships/hdphoto" Target="../media/hdphoto3.wdp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0.png"/><Relationship Id="rId5" Type="http://schemas.microsoft.com/office/2007/relationships/hdphoto" Target="../media/hdphoto3.wdp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3.png"/><Relationship Id="rId7" Type="http://schemas.microsoft.com/office/2007/relationships/hdphoto" Target="../media/hdphoto5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5.png"/><Relationship Id="rId11" Type="http://schemas.openxmlformats.org/officeDocument/2006/relationships/image" Target="../media/image29.png"/><Relationship Id="rId5" Type="http://schemas.microsoft.com/office/2007/relationships/hdphoto" Target="../media/hdphoto4.wdp"/><Relationship Id="rId10" Type="http://schemas.openxmlformats.org/officeDocument/2006/relationships/image" Target="../media/image28.png"/><Relationship Id="rId4" Type="http://schemas.openxmlformats.org/officeDocument/2006/relationships/image" Target="../media/image24.png"/><Relationship Id="rId9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hyperlink" Target="https://github.com/ancestor9/mathematics-for-machine-learning/blob/main/scripts/cell_contamination.ipynb" TargetMode="Externa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94BC4CC-119D-4066-611C-7FF8F6954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1" y="-1"/>
            <a:ext cx="7315200" cy="683417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53B55A5-AD55-D660-8099-86131A4036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14571"/>
            <a:ext cx="4876801" cy="2509213"/>
          </a:xfrm>
        </p:spPr>
        <p:txBody>
          <a:bodyPr/>
          <a:lstStyle/>
          <a:p>
            <a:r>
              <a:rPr lang="ko-KR" altLang="en-US" dirty="0"/>
              <a:t>수학의 응용</a:t>
            </a:r>
            <a:br>
              <a:rPr lang="en-US" altLang="ko-KR" dirty="0"/>
            </a:br>
            <a:r>
              <a:rPr lang="en-US" altLang="ko-KR" sz="3600" dirty="0"/>
              <a:t>- </a:t>
            </a:r>
            <a:r>
              <a:rPr lang="ko-KR" altLang="en-US" sz="3600" dirty="0" err="1"/>
              <a:t>머신러닝</a:t>
            </a:r>
            <a:r>
              <a:rPr lang="en-US" altLang="ko-KR" sz="3600" dirty="0"/>
              <a:t> -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9CC0AE0-A72B-E734-A33B-67DEC45955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99986"/>
            <a:ext cx="4876801" cy="1371599"/>
          </a:xfrm>
        </p:spPr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</a:rPr>
              <a:t>2026 Spring</a:t>
            </a:r>
          </a:p>
          <a:p>
            <a:r>
              <a:rPr lang="ko-KR" altLang="en-US" dirty="0" err="1">
                <a:solidFill>
                  <a:schemeClr val="tx1"/>
                </a:solidFill>
              </a:rPr>
              <a:t>조상구</a:t>
            </a:r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0924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9DDB5-17A6-3B86-C607-0CFC0AF11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9A3EEBE5-E1C5-77F8-1CD6-4688155CE328}"/>
              </a:ext>
            </a:extLst>
          </p:cNvPr>
          <p:cNvSpPr/>
          <p:nvPr/>
        </p:nvSpPr>
        <p:spPr>
          <a:xfrm>
            <a:off x="1127448" y="1505451"/>
            <a:ext cx="4749534" cy="58462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99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47E737-0202-3854-C868-F01FAACAADC1}"/>
              </a:ext>
            </a:extLst>
          </p:cNvPr>
          <p:cNvSpPr txBox="1"/>
          <p:nvPr/>
        </p:nvSpPr>
        <p:spPr>
          <a:xfrm>
            <a:off x="1337468" y="1428986"/>
            <a:ext cx="8435182" cy="3606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196" indent="-514196">
              <a:lnSpc>
                <a:spcPct val="150000"/>
              </a:lnSpc>
              <a:buAutoNum type="arabicPeriod"/>
            </a:pPr>
            <a:r>
              <a:rPr lang="en-US" altLang="ko-KR" sz="2400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Modeling</a:t>
            </a:r>
          </a:p>
          <a:p>
            <a:pPr marL="971396" lvl="1" indent="-514196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derivative function</a:t>
            </a:r>
          </a:p>
          <a:p>
            <a:pPr marL="971396" lvl="1" indent="-514196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mathematical modeling</a:t>
            </a:r>
          </a:p>
          <a:p>
            <a:pPr marL="971396" lvl="1" indent="-514196">
              <a:lnSpc>
                <a:spcPct val="150000"/>
              </a:lnSpc>
              <a:buAutoNum type="arabicPeriod"/>
            </a:pPr>
            <a:r>
              <a:rPr lang="en-US" altLang="ko-KR" sz="2000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interest compound</a:t>
            </a:r>
          </a:p>
          <a:p>
            <a:pPr marL="514196" indent="-514196">
              <a:lnSpc>
                <a:spcPct val="150000"/>
              </a:lnSpc>
              <a:buAutoNum type="arabicPeriod"/>
            </a:pPr>
            <a:r>
              <a:rPr lang="en-US" altLang="ko-KR" sz="2400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Montecarlo Simulation</a:t>
            </a:r>
          </a:p>
          <a:p>
            <a:pPr marL="514196" indent="-514196">
              <a:lnSpc>
                <a:spcPct val="150000"/>
              </a:lnSpc>
              <a:buAutoNum type="arabicPeriod"/>
            </a:pPr>
            <a:r>
              <a:rPr lang="en-US" altLang="ko-KR" sz="2400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Linear Programing</a:t>
            </a:r>
          </a:p>
          <a:p>
            <a:pPr marL="514196" indent="-514196">
              <a:lnSpc>
                <a:spcPct val="150000"/>
              </a:lnSpc>
              <a:buAutoNum type="arabicPeriod"/>
            </a:pPr>
            <a:r>
              <a:rPr lang="en-US" altLang="ko-KR" sz="2400" dirty="0">
                <a:latin typeface="MS PGothic" panose="020B0600070205080204" pitchFamily="34" charset="-128"/>
                <a:ea typeface="MS PGothic" panose="020B0600070205080204" pitchFamily="34" charset="-128"/>
                <a:cs typeface="Times New Roman" panose="02020603050405020304" pitchFamily="18" charset="0"/>
              </a:rPr>
              <a:t>Genetic algorithm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EC34A9-4B72-FF34-06FC-E57171E6DB12}"/>
              </a:ext>
            </a:extLst>
          </p:cNvPr>
          <p:cNvSpPr txBox="1"/>
          <p:nvPr/>
        </p:nvSpPr>
        <p:spPr>
          <a:xfrm>
            <a:off x="1337470" y="710574"/>
            <a:ext cx="2603977" cy="584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199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ko-KR" altLang="en-US" sz="3199" dirty="0"/>
          </a:p>
        </p:txBody>
      </p:sp>
    </p:spTree>
    <p:extLst>
      <p:ext uri="{BB962C8B-B14F-4D97-AF65-F5344CB8AC3E}">
        <p14:creationId xmlns:p14="http://schemas.microsoft.com/office/powerpoint/2010/main" val="3139017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F3DEC-5F02-17A9-3594-5B9D17DE3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A1413A-DC81-AD18-5C2D-6BF086089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2862" y="6035582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E9B157DA-C9A3-9224-8EA5-15C2E9891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BDC7E784-6620-0FB7-979E-D2BFBA8869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228" y="1321459"/>
            <a:ext cx="10158333" cy="3582822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복잡한 현실 세계의 현상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시스템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사물 등을 일정한 규칙이나 관점에 따라 </a:t>
            </a:r>
            <a:r>
              <a:rPr lang="ko-KR" altLang="en-US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추상화하여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단순한 형태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모델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 표현하는 과정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추상화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단순화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미래에 대한 결과를 논리적으로 추정하는 행위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통계적 모델링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머신러닝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모델링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시뮬레이션 및 테스트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수학적 모델링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데이터베이스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모델링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(ERD)……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BF5A445B-3694-E092-8071-FF439CABD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9230" y="3194913"/>
            <a:ext cx="4608512" cy="3023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430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>
            <a:extLst>
              <a:ext uri="{FF2B5EF4-FFF2-40B4-BE49-F238E27FC236}">
                <a16:creationId xmlns:a16="http://schemas.microsoft.com/office/drawing/2014/main" id="{81398CD2-47AC-F5C1-E48C-7BEE837D6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/>
          <a:lstStyle/>
          <a:p>
            <a:r>
              <a:rPr lang="en-US" altLang="ko-KR" cap="none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derative</a:t>
            </a:r>
            <a:r>
              <a:rPr lang="ko-KR" altLang="en-US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function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내용 개체 틀 2">
                <a:extLst>
                  <a:ext uri="{FF2B5EF4-FFF2-40B4-BE49-F238E27FC236}">
                    <a16:creationId xmlns:a16="http://schemas.microsoft.com/office/drawing/2014/main" id="{A4BF8824-1D8A-37E0-8B47-F3F99409C2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15383" y="1339880"/>
                <a:ext cx="11106756" cy="5279995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20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속도</a:t>
                </a:r>
                <a:r>
                  <a:rPr lang="en-US" altLang="ko-KR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en-US" altLang="ko-KR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hlinkClick r:id="rId2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Velocity</a:t>
                </a:r>
                <a:r>
                  <a:rPr lang="en-US" altLang="ko-KR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 미분방정식</a:t>
                </a:r>
                <a:r>
                  <a:rPr lang="en-US" altLang="ko-KR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ko-KR" altLang="en-US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미분을 포함한 방정식</a:t>
                </a:r>
                <a:r>
                  <a:rPr lang="en-US" altLang="ko-KR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의 수식으로 표현하자</a:t>
                </a:r>
                <a:endParaRPr lang="en-US" altLang="ko-KR" cap="none" dirty="0">
                  <a:solidFill>
                    <a:schemeClr val="tx1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lvl="1">
                  <a:lnSpc>
                    <a:spcPct val="16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직관적으로 속도는 거리를 시간으로 나눈 값 </a:t>
                </a:r>
                <a:r>
                  <a:rPr lang="en-US" altLang="ko-KR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ko-KR" altLang="en-US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평균속도</a:t>
                </a:r>
                <a:r>
                  <a:rPr lang="en-US" altLang="ko-KR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</a:p>
              <a:p>
                <a:pPr lvl="2">
                  <a:lnSpc>
                    <a:spcPct val="16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altLang="ko-KR" i="1" cap="none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ko-KR" i="1" cap="none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 cap="none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cap="none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altLang="ko-KR" i="1" cap="none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altLang="ko-KR" b="0" i="1" cap="none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altLang="ko-KR" i="1" cap="none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ko-KR" b="0" i="1" cap="none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ko-KR" altLang="en-US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속도</a:t>
                </a:r>
                <a:r>
                  <a:rPr lang="en-US" altLang="ko-KR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i="1" cap="none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i="1" cap="none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ko-KR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lang="ko-KR" altLang="en-US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거리</a:t>
                </a:r>
                <a:r>
                  <a:rPr lang="en-US" altLang="ko-KR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i="1" cap="none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i="1" cap="none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ko-KR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lang="ko-KR" altLang="en-US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시간</a:t>
                </a:r>
                <a:r>
                  <a:rPr lang="en-US" altLang="ko-KR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</a:p>
              <a:p>
                <a:pPr lvl="2">
                  <a:lnSpc>
                    <a:spcPct val="16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i="1" cap="non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</m:ctrlPr>
                      </m:sSubPr>
                      <m:e>
                        <m:r>
                          <a:rPr lang="ko-KR" altLang="en-US" cap="non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𝑣</m:t>
                        </m:r>
                      </m:e>
                      <m:sub>
                        <m:r>
                          <a:rPr lang="ko-KR" altLang="en-US" cap="non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𝑎𝑣</m:t>
                        </m:r>
                      </m:sub>
                    </m:sSub>
                    <m:r>
                      <a:rPr lang="en-US" altLang="ko-KR" cap="none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=</m:t>
                    </m:r>
                    <m:f>
                      <m:fPr>
                        <m:ctrlPr>
                          <a:rPr lang="ko-KR" altLang="en-US" i="1" cap="non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ko-KR" cap="non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Δ</m:t>
                        </m:r>
                        <m:r>
                          <a:rPr lang="ko-KR" altLang="en-US" cap="non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ko-KR" cap="non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Δ</m:t>
                        </m:r>
                        <m:r>
                          <a:rPr lang="ko-KR" altLang="en-US" cap="non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ko-KR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 </a:t>
                </a:r>
                <a:r>
                  <a:rPr lang="en-US" altLang="ko-KR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 </a:t>
                </a:r>
                <a:r>
                  <a:rPr lang="ko-KR" altLang="en-US" b="1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평균속도</a:t>
                </a:r>
                <a:r>
                  <a:rPr lang="ko-KR" altLang="en-US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 개념으로 </a:t>
                </a:r>
                <a:r>
                  <a:rPr lang="ko-KR" altLang="en-US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일정한 시간대 </a:t>
                </a:r>
                <a:r>
                  <a:rPr lang="en-US" altLang="ko-KR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1</a:t>
                </a:r>
                <a:r>
                  <a:rPr lang="ko-KR" altLang="en-US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시간</a:t>
                </a:r>
                <a:r>
                  <a:rPr lang="en-US" altLang="ko-KR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1</a:t>
                </a:r>
                <a:r>
                  <a:rPr lang="ko-KR" altLang="en-US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분</a:t>
                </a:r>
                <a:r>
                  <a:rPr lang="en-US" altLang="ko-KR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1</a:t>
                </a:r>
                <a:r>
                  <a:rPr lang="ko-KR" altLang="en-US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초 시간 동안에 움직인 거리</a:t>
                </a:r>
                <a:endParaRPr lang="en-US" altLang="ko-KR" cap="none" dirty="0">
                  <a:solidFill>
                    <a:schemeClr val="tx1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lvl="3">
                  <a:lnSpc>
                    <a:spcPct val="16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100km</a:t>
                </a:r>
                <a:r>
                  <a:rPr lang="ko-KR" altLang="en-US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 </a:t>
                </a:r>
                <a:r>
                  <a:rPr lang="en-US" altLang="ko-KR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2</a:t>
                </a:r>
                <a:r>
                  <a:rPr lang="ko-KR" altLang="en-US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시간 동안 달렸다면 </a:t>
                </a:r>
                <a:r>
                  <a:rPr lang="en-US" altLang="ko-KR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100/2=50km/hour</a:t>
                </a:r>
              </a:p>
              <a:p>
                <a:pPr lvl="1">
                  <a:lnSpc>
                    <a:spcPct val="20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아주 미세한 시간에 움직인 거리 </a:t>
                </a:r>
                <a:r>
                  <a:rPr lang="en-US" altLang="ko-KR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ko-KR" altLang="en-US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순간속도</a:t>
                </a:r>
                <a:r>
                  <a:rPr lang="en-US" altLang="ko-KR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endParaRPr lang="en-US" altLang="ko-KR" sz="600" cap="none" dirty="0">
                  <a:solidFill>
                    <a:schemeClr val="tx1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lvl="2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물리학에서 일반적으로 다루는 속도는 물체가 갖는 어떠한 순간의 속도</a:t>
                </a:r>
                <a:r>
                  <a:rPr lang="en-US" altLang="ko-KR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:r>
                  <a:rPr lang="ko-KR" altLang="en-US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즉 순간속도</a:t>
                </a:r>
                <a:endParaRPr lang="en-US" altLang="ko-KR" cap="none" dirty="0">
                  <a:solidFill>
                    <a:schemeClr val="tx1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lvl="2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순간속도는 평균속도를 측정하는 시간간격을 매우 짧게 하여 </a:t>
                </a:r>
                <a:r>
                  <a:rPr lang="en-US" altLang="ko-KR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0</a:t>
                </a:r>
                <a:r>
                  <a:rPr lang="ko-KR" altLang="en-US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에 접근시킨 극한값</a:t>
                </a:r>
                <a:endParaRPr lang="en-US" altLang="ko-KR" cap="none" dirty="0">
                  <a:solidFill>
                    <a:schemeClr val="tx1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lvl="2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　　　　　　　　　　　</a:t>
                </a:r>
                <a:r>
                  <a:rPr lang="ko-KR" altLang="en-US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　</a:t>
                </a:r>
                <a:r>
                  <a:rPr lang="ko-KR" altLang="en-US" b="1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순간속도</a:t>
                </a:r>
                <a:r>
                  <a:rPr lang="ko-KR" altLang="en-US" cap="none" dirty="0">
                    <a:solidFill>
                      <a:schemeClr val="tx1"/>
                    </a:solidFill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는 변위를 시간에 대하여 미분한 것</a:t>
                </a:r>
                <a:endParaRPr lang="en-US" altLang="ko-KR" cap="none" dirty="0">
                  <a:solidFill>
                    <a:schemeClr val="tx1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</p:txBody>
          </p:sp>
        </mc:Choice>
        <mc:Fallback xmlns="">
          <p:sp>
            <p:nvSpPr>
              <p:cNvPr id="10" name="내용 개체 틀 2">
                <a:extLst>
                  <a:ext uri="{FF2B5EF4-FFF2-40B4-BE49-F238E27FC236}">
                    <a16:creationId xmlns:a16="http://schemas.microsoft.com/office/drawing/2014/main" id="{A4BF8824-1D8A-37E0-8B47-F3F99409C2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5383" y="1339880"/>
                <a:ext cx="11106756" cy="5279995"/>
              </a:xfrm>
              <a:blipFill>
                <a:blip r:embed="rId3"/>
                <a:stretch>
                  <a:fillRect l="-49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AutoShape 2" descr="{\displaystyle {\boldsymbol {v}}=\lim _{{\Delta t}\to 0}{\frac {\Delta {\boldsymbol {s}}}{\Delta t}}={\frac {d{\boldsymbol {s}}}{dt}}.}">
            <a:extLst>
              <a:ext uri="{FF2B5EF4-FFF2-40B4-BE49-F238E27FC236}">
                <a16:creationId xmlns:a16="http://schemas.microsoft.com/office/drawing/2014/main" id="{090EF87D-2E28-82B5-D1C2-77DFA43A05A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1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3A02375D-6E04-E35C-A592-EDBF089A5F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08126" y="5587847"/>
            <a:ext cx="2004234" cy="609653"/>
          </a:xfrm>
          <a:prstGeom prst="rect">
            <a:avLst/>
          </a:prstGeom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F9302F10-0716-C4EB-440F-B5806EFF1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2862" y="6035582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544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B44A4-DE61-7543-956C-13764059A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>
            <a:extLst>
              <a:ext uri="{FF2B5EF4-FFF2-40B4-BE49-F238E27FC236}">
                <a16:creationId xmlns:a16="http://schemas.microsoft.com/office/drawing/2014/main" id="{D98EFE44-D11A-00B2-17EB-AFC718106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/>
          <a:lstStyle/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Hands-on </a:t>
            </a:r>
            <a:r>
              <a:rPr lang="en-US" altLang="ko-K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Velocity</a:t>
            </a:r>
            <a:endParaRPr lang="ko-KR" altLang="en-US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11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D8F75B4A-132C-EA13-4987-147857E158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9489" y="66676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AutoShape 2" descr="{\displaystyle {\boldsymbol {v}}=\lim _{{\Delta t}\to 0}{\frac {\Delta {\boldsymbol {s}}}{\Delta t}}={\frac {d{\boldsymbol {s}}}{dt}}.}">
            <a:extLst>
              <a:ext uri="{FF2B5EF4-FFF2-40B4-BE49-F238E27FC236}">
                <a16:creationId xmlns:a16="http://schemas.microsoft.com/office/drawing/2014/main" id="{AD7E4053-2951-11E0-D09E-A998382F94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1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8229F449-DE69-C46A-77C6-1D1D427B41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당신은 서울에서 강릉까지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(180 km)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여행을 가는데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처음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90 km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는 교통체증으로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90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분이 걸렸고 뒤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90 km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는 도로가 뻥 뚫려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45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분 만에 달렸다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.</a:t>
                </a: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전체 평균속도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ko-KR" altLang="en-US">
                            <a:latin typeface="Cambria Math" panose="02040503050406030204" pitchFamily="18" charset="0"/>
                          </a:rPr>
                          <m:t>𝑎𝑣</m:t>
                        </m:r>
                      </m:sub>
                    </m:sSub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km/h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단위로 계산하세요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. </a:t>
                </a: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각 구간의 속도는 각각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60 km/h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와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120 km/h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입니다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. </a:t>
                </a: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단순히 두 속도의 산술평균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(90 km/h)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과 왜 다를까요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? “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총 거리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÷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총 </a:t>
                </a:r>
                <a:r>
                  <a:rPr lang="ko-KR" altLang="en-US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시간”이라는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평균속도의 정의를 이용해 </a:t>
                </a:r>
                <a:r>
                  <a:rPr lang="ko-KR" altLang="en-US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설명하시오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8229F449-DE69-C46A-77C6-1D1D427B41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5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47704B45-70A6-DCDF-5C33-14A3ECB97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2862" y="6035582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308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1E039-6B94-C0B4-2AE8-5AFDD9E21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>
            <a:extLst>
              <a:ext uri="{FF2B5EF4-FFF2-40B4-BE49-F238E27FC236}">
                <a16:creationId xmlns:a16="http://schemas.microsoft.com/office/drawing/2014/main" id="{ED08A57D-C6EE-5C90-D0E0-3C121BB03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/>
          <a:lstStyle/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Hands-on </a:t>
            </a:r>
            <a:r>
              <a:rPr lang="en-US" altLang="ko-K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Velocity</a:t>
            </a:r>
            <a:endParaRPr lang="ko-KR" altLang="en-US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11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ABF1C25D-1FC8-18E1-9898-B71505F877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9489" y="66676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AutoShape 2" descr="{\displaystyle {\boldsymbol {v}}=\lim _{{\Delta t}\to 0}{\frac {\Delta {\boldsymbol {s}}}{\Delta t}}={\frac {d{\boldsymbol {s}}}{dt}}.}">
            <a:extLst>
              <a:ext uri="{FF2B5EF4-FFF2-40B4-BE49-F238E27FC236}">
                <a16:creationId xmlns:a16="http://schemas.microsoft.com/office/drawing/2014/main" id="{A1E4C3B0-6C08-1F83-CCCE-6BD62432255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1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1C76119E-A61F-F19B-3077-25C168FE0D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15383" y="1756114"/>
                <a:ext cx="10353762" cy="4663735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당신은 마블의 </a:t>
                </a:r>
                <a:r>
                  <a:rPr lang="ko-KR" altLang="en-US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퀵실버가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순간 이동을 합니다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.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그의 위치가 시간에 따라 아래와 같이 주어졌어요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. 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ko-KR" altLang="en-US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𝑥</m:t>
                    </m:r>
                    <m:d>
                      <m:dPr>
                        <m:ctrlPr>
                          <a:rPr lang="ko-KR" altLang="en-US" i="1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</m:ctrlPr>
                      </m:dPr>
                      <m:e>
                        <m:r>
                          <a:rPr lang="ko-KR" altLang="en-US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𝑡</m:t>
                        </m:r>
                      </m:e>
                    </m:d>
                    <m:r>
                      <a:rPr lang="en-US" altLang="ko-KR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=4</m:t>
                    </m:r>
                    <m:sSup>
                      <m:sSupPr>
                        <m:ctrlPr>
                          <a:rPr lang="ko-KR" altLang="en-US" i="1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</m:ctrlPr>
                      </m:sSupPr>
                      <m:e>
                        <m:r>
                          <a:rPr lang="ko-KR" altLang="en-US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𝑡</m:t>
                        </m:r>
                      </m:e>
                      <m:sup>
                        <m:r>
                          <a:rPr lang="en-US" altLang="ko-KR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2</m:t>
                        </m:r>
                      </m:sup>
                    </m:sSup>
                    <m:r>
                      <a:rPr lang="en-US" altLang="ko-KR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+2</m:t>
                    </m:r>
                    <m:r>
                      <a:rPr lang="ko-KR" altLang="en-US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𝑡</m:t>
                    </m:r>
                  </m:oMath>
                </a14:m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단위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: m, t: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초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ko-KR" altLang="en-US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𝑡</m:t>
                    </m:r>
                    <m:r>
                      <a:rPr lang="en-US" altLang="ko-KR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=0</m:t>
                    </m:r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초부터 </a:t>
                </a:r>
                <a14:m>
                  <m:oMath xmlns:m="http://schemas.openxmlformats.org/officeDocument/2006/math">
                    <m:r>
                      <a:rPr lang="ko-KR" altLang="en-US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𝑡</m:t>
                    </m:r>
                    <m:r>
                      <a:rPr lang="en-US" altLang="ko-KR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=5</m:t>
                    </m:r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초까지의 평균속도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i="1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</m:ctrlPr>
                      </m:sSubPr>
                      <m:e>
                        <m:r>
                          <a:rPr lang="ko-KR" altLang="en-US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𝑣</m:t>
                        </m:r>
                      </m:e>
                      <m:sub>
                        <m:r>
                          <a:rPr lang="ko-KR" altLang="en-US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𝑎𝑣</m:t>
                        </m:r>
                      </m:sub>
                    </m:sSub>
                    <m:r>
                      <a:rPr lang="en-US" altLang="ko-KR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=</m:t>
                    </m:r>
                    <m:f>
                      <m:fPr>
                        <m:ctrlPr>
                          <a:rPr lang="ko-KR" altLang="en-US" i="1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Δ</m:t>
                        </m:r>
                        <m:r>
                          <a:rPr lang="ko-KR" altLang="en-US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Δ</m:t>
                        </m:r>
                        <m:r>
                          <a:rPr lang="ko-KR" altLang="en-US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𝑡</m:t>
                        </m:r>
                      </m:den>
                    </m:f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 </a:t>
                </a:r>
                <a:r>
                  <a:rPr lang="ko-KR" altLang="en-US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구하시오</a:t>
                </a:r>
                <a:endParaRPr lang="en-US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순간속도 함수 </a:t>
                </a:r>
                <a14:m>
                  <m:oMath xmlns:m="http://schemas.openxmlformats.org/officeDocument/2006/math">
                    <m:r>
                      <a:rPr lang="ko-KR" altLang="en-US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𝑣</m:t>
                    </m:r>
                    <m:d>
                      <m:dPr>
                        <m:ctrlPr>
                          <a:rPr lang="ko-KR" altLang="en-US" i="1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</m:ctrlPr>
                      </m:dPr>
                      <m:e>
                        <m:r>
                          <a:rPr lang="ko-KR" altLang="en-US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𝑡</m:t>
                        </m:r>
                      </m:e>
                    </m:d>
                    <m:r>
                      <a:rPr lang="en-US" altLang="ko-KR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=</m:t>
                    </m:r>
                    <m:f>
                      <m:fPr>
                        <m:ctrlPr>
                          <a:rPr lang="ko-KR" altLang="en-US" i="1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</m:ctrlPr>
                      </m:fPr>
                      <m:num>
                        <m:r>
                          <a:rPr lang="ko-KR" altLang="en-US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𝑑𝑥</m:t>
                        </m:r>
                      </m:num>
                      <m:den>
                        <m:r>
                          <a:rPr lang="ko-KR" altLang="en-US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 구하고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ko-KR" altLang="en-US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𝑡</m:t>
                    </m:r>
                    <m:r>
                      <a:rPr lang="en-US" altLang="ko-KR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=3</m:t>
                    </m:r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초에서의 순간속도를 </a:t>
                </a:r>
                <a:r>
                  <a:rPr lang="ko-KR" altLang="en-US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계산하시오</a:t>
                </a:r>
                <a:endParaRPr lang="en-US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평균속도과 순간속도를 </a:t>
                </a:r>
                <a:r>
                  <a:rPr lang="ko-KR" altLang="en-US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설명하시오</a:t>
                </a:r>
                <a:endParaRPr lang="en-US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ko-KR" altLang="en-US" dirty="0"/>
              </a:p>
            </p:txBody>
          </p:sp>
        </mc:Choice>
        <mc:Fallback xmlns="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1C76119E-A61F-F19B-3077-25C168FE0D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5383" y="1756114"/>
                <a:ext cx="10353762" cy="4663735"/>
              </a:xfrm>
              <a:blipFill>
                <a:blip r:embed="rId3"/>
                <a:stretch>
                  <a:fillRect l="-530" t="-1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F3A322F4-E8CE-0B05-BFFB-38CA14838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2862" y="6035582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7204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6F428-4528-92B8-4D41-DEFE1BA09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>
            <a:extLst>
              <a:ext uri="{FF2B5EF4-FFF2-40B4-BE49-F238E27FC236}">
                <a16:creationId xmlns:a16="http://schemas.microsoft.com/office/drawing/2014/main" id="{C604E4BF-870B-BEE4-8F73-6ACC67B6E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/>
          <a:lstStyle/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Hands-on </a:t>
            </a:r>
            <a:r>
              <a:rPr lang="en-US" altLang="ko-K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Velocity</a:t>
            </a:r>
            <a:endParaRPr lang="ko-KR" altLang="en-US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11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075B460A-B19E-2BE0-435B-DE56D82A16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9489" y="66676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AutoShape 2" descr="{\displaystyle {\boldsymbol {v}}=\lim _{{\Delta t}\to 0}{\frac {\Delta {\boldsymbol {s}}}{\Delta t}}={\frac {d{\boldsymbol {s}}}{dt}}.}">
            <a:extLst>
              <a:ext uri="{FF2B5EF4-FFF2-40B4-BE49-F238E27FC236}">
                <a16:creationId xmlns:a16="http://schemas.microsoft.com/office/drawing/2014/main" id="{95757E7D-CE4C-AB53-0AC5-E159498ADF3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1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E923C22-F00C-B1DC-C756-C08430E288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당신은 자동차를 타고 배달을 하는 상황으로 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/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GPS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앱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네이버지도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은 “평균속도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48 km/h”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라고 알려줍니다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 </a:t>
            </a:r>
          </a:p>
          <a:p>
            <a:pPr lvl="1"/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계기판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속도계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은 지금 순간속도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0 km/h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신호등 때문에 멈춤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입니다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</a:t>
            </a:r>
          </a:p>
          <a:p>
            <a:pPr lvl="2"/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같은 이동인데 왜 두 값이 다를까요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 (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평균속도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= </a:t>
            </a:r>
            <a:r>
              <a:rPr lang="en-US" altLang="ko-KR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Δx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/</a:t>
            </a:r>
            <a:r>
              <a:rPr lang="en-US" altLang="ko-KR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Δt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순간속도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= dx/dt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개념으로 설명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</a:p>
          <a:p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아래 상황 중 순간속도가 더 중요한 순간과 평균속도가 더 중요한 순간을 골라 친구와 토론해 보세요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</a:t>
            </a:r>
          </a:p>
          <a:p>
            <a:pPr lvl="1"/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치타가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200 m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10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초 만에 사냥할 때</a:t>
            </a:r>
          </a:p>
          <a:p>
            <a:pPr lvl="1"/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KTX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 서울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-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부산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430 km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시간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45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분에 달릴 때</a:t>
            </a:r>
          </a:p>
          <a:p>
            <a:pPr lvl="1"/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야구 선수가 홈런을 치고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루→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루→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루→ 홈으로 돌아올 때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왕복 변위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= 0)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7E9D65-4314-C59E-822C-4CBDE69FCEB1}"/>
              </a:ext>
            </a:extLst>
          </p:cNvPr>
          <p:cNvSpPr txBox="1"/>
          <p:nvPr/>
        </p:nvSpPr>
        <p:spPr>
          <a:xfrm>
            <a:off x="1532919" y="5252456"/>
            <a:ext cx="7773005" cy="956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ko-KR" altLang="en-US" sz="2000" b="1" i="1" cap="all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순간속도는 물체가 지금 얼마나 </a:t>
            </a:r>
            <a:r>
              <a:rPr lang="ko-KR" altLang="en-US" sz="2000" b="1" i="1" cap="all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빠른지</a:t>
            </a:r>
            <a:r>
              <a:rPr lang="en-US" altLang="ko-KR" sz="2000" b="1" i="1" cap="all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2000" b="1" i="1" cap="all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평균속도는 전체 얼마나 빨리 도착했는지를 알려준다</a:t>
            </a:r>
            <a:r>
              <a:rPr lang="en-US" altLang="ko-KR" sz="2000" b="1" i="1" cap="all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!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48265F97-B4B7-0F8D-9F10-BCAC11121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2862" y="6035582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078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12C6A-34C8-5B86-F0CF-24EA42B73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>
            <a:extLst>
              <a:ext uri="{FF2B5EF4-FFF2-40B4-BE49-F238E27FC236}">
                <a16:creationId xmlns:a16="http://schemas.microsoft.com/office/drawing/2014/main" id="{10B2A55E-C052-BE91-B275-EBA68D57C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/>
          <a:lstStyle/>
          <a:p>
            <a:r>
              <a:rPr lang="en-US" altLang="ko-KR" b="1" cap="none" dirty="0"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mathematical modeling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7338A396-DBB3-C429-F909-C9B1EFDCD4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5383" y="1339880"/>
            <a:ext cx="10257442" cy="5279995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컴퓨터가 생물학적 또는 물리적 현상을 이해할 수 있도록 수학적으로 묘사하는 과정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컴퓨터는 미분과 적분 연산에 최적화되어 있어 세포분열 현상을 미분식으로 표현하면 컴퓨터는 미래를 예측할 수 있음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속도는 미분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거리는 적분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세포분열의 경우 분열 속도를 미분방정식으로 표현하고 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2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일정 시간 이후 세포는 몇 개까지 증식하는지는 적분하여 예측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2" name="AutoShape 2" descr="{\displaystyle {\boldsymbol {v}}=\lim _{{\Delta t}\to 0}{\frac {\Delta {\boldsymbol {s}}}{\Delta t}}={\frac {d{\boldsymbol {s}}}{dt}}.}">
            <a:extLst>
              <a:ext uri="{FF2B5EF4-FFF2-40B4-BE49-F238E27FC236}">
                <a16:creationId xmlns:a16="http://schemas.microsoft.com/office/drawing/2014/main" id="{BC9462C7-222E-E549-C89E-677432725EA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1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9AC13E2F-0D51-F5B8-143F-B6DCD0AAB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2862" y="6035582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16592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13E92-EBAC-11A0-A5AB-D6F564136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6F558932-1960-3D11-785F-972EB23F2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4059" y="4113840"/>
            <a:ext cx="1116966" cy="2546683"/>
          </a:xfrm>
          <a:prstGeom prst="rect">
            <a:avLst/>
          </a:prstGeom>
        </p:spPr>
      </p:pic>
      <p:sp>
        <p:nvSpPr>
          <p:cNvPr id="9" name="제목 1">
            <a:extLst>
              <a:ext uri="{FF2B5EF4-FFF2-40B4-BE49-F238E27FC236}">
                <a16:creationId xmlns:a16="http://schemas.microsoft.com/office/drawing/2014/main" id="{A5E02309-97FC-1F8F-07BF-34E2DD2F3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/>
          <a:lstStyle/>
          <a:p>
            <a:r>
              <a:rPr lang="en-US" altLang="ko-KR" b="1" dirty="0" err="1"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Cell_division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ADB0003-573E-3589-FE60-79D4624B6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5384" y="1618326"/>
            <a:ext cx="9890853" cy="337277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세포분열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en-US" altLang="ko-KR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Cell_division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아메바나 인체 세포는 일정 크기로 성장하면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개로 분열하고 정상 세포는 보통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24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시간 주기로 아래와 같이 분열한다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증식 속도 </a:t>
            </a:r>
            <a:r>
              <a:rPr lang="en-US" altLang="ko-KR" sz="20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(Rate)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속도는 “늘어난 세포의 수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/ 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걸린 </a:t>
            </a:r>
            <a:r>
              <a:rPr lang="ko-KR" altLang="en-US" sz="18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시간”으로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정의</a:t>
            </a:r>
            <a:endParaRPr lang="en-US" altLang="ko-KR" sz="18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세포가 많을수록 분열하는 개체수도 늘어나므로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증가 속도는 현재 세포 수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(X)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 비례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24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46824202-A51D-7439-12C2-2D4B0BFD5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2862" y="6035582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550BF00-34ED-E5C1-6A6D-3B169040CD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926303" y="4333492"/>
            <a:ext cx="1398297" cy="94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436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D93F9-02FF-8CCA-8FC2-6E1CDDBC2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>
            <a:extLst>
              <a:ext uri="{FF2B5EF4-FFF2-40B4-BE49-F238E27FC236}">
                <a16:creationId xmlns:a16="http://schemas.microsoft.com/office/drawing/2014/main" id="{440BC855-9DA6-5E8F-7DB2-641F54356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/>
          <a:lstStyle/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Hands-on </a:t>
            </a:r>
            <a:r>
              <a:rPr lang="en-US" altLang="ko-KR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Cell_division</a:t>
            </a:r>
            <a:endParaRPr lang="ko-KR" altLang="en-US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461866C7-2FE3-9746-62C9-962EC63835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5384" y="1618326"/>
            <a:ext cx="10350827" cy="337277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세포분열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en-US" altLang="ko-KR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Cell_division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변화율 식을 시간에 대해 적분하면 시간에 따른 세포 수를 예측할 수 있고 이 결과를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축은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시간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축은 세포 수를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차원 좌표에 표시하라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en-US" altLang="ko-KR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numpy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 </a:t>
            </a:r>
            <a:r>
              <a:rPr lang="ko-KR" altLang="en-US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오일러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방식으로 코딩하거나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en-US" altLang="ko-KR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sympy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모듈로 미분방정식을 정의하고 적분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ko-KR" altLang="en-US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24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11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20BB7A4C-DD6B-364F-EEF6-38E800F3E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9489" y="66676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80C1D700-4744-4E2C-919E-2632E193B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2862" y="6035582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5466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A75F2-CDC2-EEF9-2B70-4E618A3BC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DE93DA52-AB08-F7D6-966C-479D4C1F24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7642" y="2450726"/>
            <a:ext cx="5800722" cy="4126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제목 1">
            <a:extLst>
              <a:ext uri="{FF2B5EF4-FFF2-40B4-BE49-F238E27FC236}">
                <a16:creationId xmlns:a16="http://schemas.microsoft.com/office/drawing/2014/main" id="{2F63659A-D57E-63C1-0FE7-035CCB166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/>
          <a:lstStyle/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Hands-on </a:t>
            </a:r>
            <a:r>
              <a:rPr lang="en-US" altLang="ko-KR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Cell_division</a:t>
            </a:r>
            <a:endParaRPr lang="ko-KR" altLang="en-US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4F32A5EF-184F-F2C8-11D0-5CACC15875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5384" y="1154097"/>
            <a:ext cx="10876566" cy="1424329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24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시간 이후에는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배가 아니라 자연상수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오일러상수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인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2.718….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배가 됨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세포 수가 늘어남에 따라 증가 속도가 실시간으로 가속되어 기하급수적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(Exponential)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으로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증가함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ko-KR" altLang="en-US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24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11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BB627874-F793-8274-A2A9-220E08A11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9489" y="66676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5EBA1C0E-6273-DA11-86A2-F006E5654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2862" y="6035582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1995DC5-690D-D0F1-BA72-462E351F67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09896" y="2602882"/>
            <a:ext cx="1981007" cy="59334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F6CC582-1965-6929-2DFA-632F8DD737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4346" y="5316568"/>
            <a:ext cx="1646063" cy="32768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C899244F-A620-A933-F4EC-7C77ADA782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54346" y="5648310"/>
            <a:ext cx="1874682" cy="34293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9D2F2542-A4A3-BEDF-5D4E-9187C7530E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86021" y="5459634"/>
            <a:ext cx="1082134" cy="274344"/>
          </a:xfrm>
          <a:prstGeom prst="rect">
            <a:avLst/>
          </a:prstGeom>
        </p:spPr>
      </p:pic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16302C16-A1B2-FF6D-EC33-2E56B3BAA571}"/>
              </a:ext>
            </a:extLst>
          </p:cNvPr>
          <p:cNvCxnSpPr>
            <a:cxnSpLocks/>
          </p:cNvCxnSpPr>
          <p:nvPr/>
        </p:nvCxnSpPr>
        <p:spPr>
          <a:xfrm flipH="1">
            <a:off x="3876675" y="5895975"/>
            <a:ext cx="1219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8D20AC05-699D-0720-969C-1CDCB35033F5}"/>
              </a:ext>
            </a:extLst>
          </p:cNvPr>
          <p:cNvCxnSpPr>
            <a:cxnSpLocks/>
          </p:cNvCxnSpPr>
          <p:nvPr/>
        </p:nvCxnSpPr>
        <p:spPr>
          <a:xfrm>
            <a:off x="3876675" y="5895975"/>
            <a:ext cx="12192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13852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20385-A589-8B8A-9C4A-6ADA1EDDF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BDF0F539-388D-4228-0ED4-0110B00862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242" y="2707024"/>
            <a:ext cx="5760544" cy="376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제목 1">
            <a:extLst>
              <a:ext uri="{FF2B5EF4-FFF2-40B4-BE49-F238E27FC236}">
                <a16:creationId xmlns:a16="http://schemas.microsoft.com/office/drawing/2014/main" id="{86E50604-6662-009F-F0F6-A0F85A8DD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/>
          <a:lstStyle/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Hands-on </a:t>
            </a:r>
            <a:r>
              <a:rPr lang="en-US" altLang="ko-KR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Cell_division</a:t>
            </a:r>
            <a:endParaRPr lang="ko-KR" altLang="en-US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0C7D6C32-5F57-630B-78B6-7C52C3A5A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5384" y="1154097"/>
            <a:ext cx="10876566" cy="1329209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변분법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(calculus of variations)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사고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미분방정식이 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t=80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에서는 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＂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너 지금 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1.17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속도로 올라가야 해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!＂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라는 명령어</a:t>
            </a:r>
            <a:endParaRPr lang="en-US" altLang="ko-KR" sz="17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접선의 식은 그 명령어를 받아서 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"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그럼 일단 이 방향으로 </a:t>
            </a:r>
            <a:r>
              <a:rPr lang="ko-KR" altLang="en-US" sz="17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가볼게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"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라고 그려본 가상의 직선 경로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11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550307AE-07C2-1BA0-B183-3CC0E96604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9489" y="66676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A16943DF-40B9-E7AE-6F82-027FCEE7C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2862" y="6035582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F554A70-0CDC-9EDE-F24D-187F11FF0E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57366" y="3429000"/>
            <a:ext cx="1214409" cy="363736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4569A176-09E6-03E6-12FE-276BBECB63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4367" y="4156241"/>
            <a:ext cx="971058" cy="653719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D1155595-99F4-06FB-D1D4-EC441F0AB851}"/>
              </a:ext>
            </a:extLst>
          </p:cNvPr>
          <p:cNvSpPr txBox="1"/>
          <p:nvPr/>
        </p:nvSpPr>
        <p:spPr>
          <a:xfrm>
            <a:off x="6894055" y="2719003"/>
            <a:ext cx="4135896" cy="821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 접선을 </a:t>
            </a:r>
            <a:r>
              <a:rPr lang="en-US" altLang="ko-KR" sz="1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t=80 </a:t>
            </a:r>
            <a:r>
              <a:rPr lang="ko-KR" altLang="en-US" sz="1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근처에서 아주 짧게 그리면 실제 세포 수 곡선과 거의 일치하게 되며 이 원리를 이용해서 컴퓨터는 복잡한 미분 방정식을 한 단계씩 직선으로 연결하며 풀어나감</a:t>
            </a: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A55574BE-B93E-E3E5-FF8C-04E8E82821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69654" y="3886200"/>
            <a:ext cx="3068557" cy="258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1066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D9FE4-288C-F5BD-2161-64A2E1332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>
            <a:extLst>
              <a:ext uri="{FF2B5EF4-FFF2-40B4-BE49-F238E27FC236}">
                <a16:creationId xmlns:a16="http://schemas.microsoft.com/office/drawing/2014/main" id="{7036A181-2AFA-ED0A-1ECD-79AA566E4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/>
          <a:lstStyle/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Hands-on </a:t>
            </a:r>
            <a:r>
              <a:rPr lang="en-US" altLang="ko-KR" cap="none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Cell_Contamination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FEEDA485-9332-147E-02ED-42BCF2A849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5384" y="1113457"/>
            <a:ext cx="10876566" cy="1665303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정상세포 수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감염세포 수로 가정하고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X, Y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다음과 같이 상호작용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24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시간안에 세포분열 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(X 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 X + X)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Y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는 정상세포 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X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를 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24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시간안에 감염시킴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(X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 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+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 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Y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 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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 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Y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 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+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 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Y)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X,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 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Y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에 대한 미분방정식을 만들어라</a:t>
            </a:r>
            <a:endParaRPr lang="en-US" altLang="ko-KR" sz="19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9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50F6400E-EB26-F2F7-700F-707D8DD07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2862" y="6035582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7C7C616-F2D2-0A02-BE33-C1F885F3790E}"/>
                  </a:ext>
                </a:extLst>
              </p:cNvPr>
              <p:cNvSpPr txBox="1"/>
              <p:nvPr/>
            </p:nvSpPr>
            <p:spPr>
              <a:xfrm>
                <a:off x="5695950" y="3137303"/>
                <a:ext cx="6096000" cy="1107804"/>
              </a:xfrm>
              <a:prstGeom prst="rect">
                <a:avLst/>
              </a:prstGeom>
              <a:noFill/>
              <a:ln>
                <a:solidFill>
                  <a:schemeClr val="bg1">
                    <a:lumMod val="50000"/>
                  </a:schemeClr>
                </a:solidFill>
                <a:prstDash val="sysDot"/>
              </a:ln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ko-KR" altLang="en-US" sz="17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1700" dirty="0" err="1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ko-KR" altLang="en-US" sz="1700" i="1" dirty="0" err="1"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r>
                          <a:rPr lang="ko-KR" altLang="en-US" sz="1700" i="0" dirty="0" err="1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ko-KR" altLang="en-US" sz="1700" i="1" dirty="0" err="1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ko-KR" altLang="en-US" sz="1700" i="0" dirty="0" err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ko-KR" altLang="en-US" sz="1700" i="1" dirty="0" err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1700" i="1" dirty="0" err="1"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r>
                          <a:rPr lang="ko-KR" altLang="en-US" sz="1700" i="0" dirty="0" err="1"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a:rPr lang="ko-KR" altLang="en-US" sz="1700" i="0" dirty="0" err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ko-KR" altLang="en-US" sz="1700" i="1" dirty="0" err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ko-KR" altLang="en-US" sz="1700" i="1" dirty="0" err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ko-KR" altLang="en-US" sz="17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: 　</a:t>
                </a:r>
                <a14:m>
                  <m:oMath xmlns:m="http://schemas.openxmlformats.org/officeDocument/2006/math"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ko-KR" altLang="en-US" sz="1700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의</a:t>
                </a:r>
                <a:r>
                  <a:rPr lang="ko-KR" altLang="en-US" sz="17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양이 시간에 따라 어떻게 변하는지.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＋</m:t>
                    </m:r>
                    <m:f>
                      <m:fPr>
                        <m:ctrlPr>
                          <a:rPr lang="ko-KR" altLang="en-US" sz="17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1700" i="1" dirty="0" err="1"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r>
                          <a:rPr lang="ko-KR" altLang="en-US" sz="1700" dirty="0" err="1"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lang="ko-KR" altLang="en-US" sz="17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ko-KR" altLang="en-US" sz="17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가 스스로 복제되는 증가 항.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－</m:t>
                    </m:r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𝑘𝑋𝑌</m:t>
                    </m:r>
                  </m:oMath>
                </a14:m>
                <a:r>
                  <a:rPr lang="ko-KR" altLang="en-US" sz="17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ko-KR" altLang="en-US" sz="17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와 </a:t>
                </a:r>
                <a14:m>
                  <m:oMath xmlns:m="http://schemas.openxmlformats.org/officeDocument/2006/math"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ko-KR" altLang="en-US" sz="17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가 만나 </a:t>
                </a:r>
                <a14:m>
                  <m:oMath xmlns:m="http://schemas.openxmlformats.org/officeDocument/2006/math"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ko-KR" altLang="en-US" sz="17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가 소모되는 감소 항.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7C7C616-F2D2-0A02-BE33-C1F885F379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5950" y="3137303"/>
                <a:ext cx="6096000" cy="1107804"/>
              </a:xfrm>
              <a:prstGeom prst="rect">
                <a:avLst/>
              </a:prstGeom>
              <a:blipFill>
                <a:blip r:embed="rId2"/>
                <a:stretch>
                  <a:fillRect l="-399" b="-6011"/>
                </a:stretch>
              </a:blipFill>
              <a:ln>
                <a:solidFill>
                  <a:schemeClr val="bg1">
                    <a:lumMod val="50000"/>
                  </a:schemeClr>
                </a:solidFill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8D8A8A1-516F-54F6-9655-20752B9380BD}"/>
                  </a:ext>
                </a:extLst>
              </p:cNvPr>
              <p:cNvSpPr txBox="1"/>
              <p:nvPr/>
            </p:nvSpPr>
            <p:spPr>
              <a:xfrm>
                <a:off x="5695950" y="4573068"/>
                <a:ext cx="6096000" cy="999313"/>
              </a:xfrm>
              <a:prstGeom prst="rect">
                <a:avLst/>
              </a:prstGeom>
              <a:noFill/>
              <a:ln>
                <a:solidFill>
                  <a:schemeClr val="bg1">
                    <a:lumMod val="50000"/>
                  </a:schemeClr>
                </a:solidFill>
                <a:prstDash val="sysDot"/>
              </a:ln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ko-KR" altLang="en-US" sz="17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1700" smtClean="0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ko-KR" altLang="en-US" sz="1700" i="1" smtClean="0"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ko-KR" altLang="en-US" sz="1700" i="0" smtClean="0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ko-KR" altLang="en-US" sz="17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ko-KR" altLang="en-US" sz="170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𝑘𝑋</m:t>
                    </m:r>
                    <m:r>
                      <a:rPr lang="ko-KR" altLang="en-US" sz="1700" i="1" dirty="0" err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ko-KR" altLang="en-US" sz="1700" i="0" smtClean="0">
                        <a:latin typeface="Cambria Math" panose="02040503050406030204" pitchFamily="18" charset="0"/>
                      </a:rPr>
                      <m:t>−ⅆ</m:t>
                    </m:r>
                    <m:r>
                      <a:rPr lang="ko-KR" altLang="en-US" sz="170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ko-KR" altLang="en-US" sz="17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: 　</a:t>
                </a:r>
                <a14:m>
                  <m:oMath xmlns:m="http://schemas.openxmlformats.org/officeDocument/2006/math"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ko-KR" altLang="en-US" sz="17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의 양이 시간에 따라 어떻게 변하는지.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sz="1700" i="1" dirty="0" smtClean="0">
                        <a:latin typeface="Cambria Math" panose="02040503050406030204" pitchFamily="18" charset="0"/>
                      </a:rPr>
                      <m:t>＋</m:t>
                    </m:r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𝑘𝑋</m:t>
                    </m:r>
                    <m:r>
                      <a:rPr lang="ko-KR" altLang="en-US" sz="1700" i="1" dirty="0" err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ko-KR" altLang="en-US" sz="17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ko-KR" altLang="en-US" sz="17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와 </a:t>
                </a:r>
                <a14:m>
                  <m:oMath xmlns:m="http://schemas.openxmlformats.org/officeDocument/2006/math"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ko-KR" altLang="en-US" sz="17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가 만나 </a:t>
                </a:r>
                <a14:m>
                  <m:oMath xmlns:m="http://schemas.openxmlformats.org/officeDocument/2006/math"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ko-KR" altLang="en-US" sz="17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가 증가하는 증가 항.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－</m:t>
                    </m:r>
                    <m:r>
                      <a:rPr lang="ko-KR" altLang="en-US" sz="1700">
                        <a:latin typeface="Cambria Math" panose="02040503050406030204" pitchFamily="18" charset="0"/>
                      </a:rPr>
                      <m:t>ⅆ</m:t>
                    </m:r>
                    <m:r>
                      <a:rPr lang="ko-KR" altLang="en-US" sz="1700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ko-KR" altLang="en-US" sz="17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ko-KR" altLang="en-US" sz="17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가 소멸되는 감소 항.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8D8A8A1-516F-54F6-9655-20752B9380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5950" y="4573068"/>
                <a:ext cx="6096000" cy="999313"/>
              </a:xfrm>
              <a:prstGeom prst="rect">
                <a:avLst/>
              </a:prstGeom>
              <a:blipFill>
                <a:blip r:embed="rId3"/>
                <a:stretch>
                  <a:fillRect l="-399" b="-6627"/>
                </a:stretch>
              </a:blipFill>
              <a:ln>
                <a:solidFill>
                  <a:schemeClr val="bg1">
                    <a:lumMod val="50000"/>
                  </a:schemeClr>
                </a:solidFill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그림 13">
            <a:extLst>
              <a:ext uri="{FF2B5EF4-FFF2-40B4-BE49-F238E27FC236}">
                <a16:creationId xmlns:a16="http://schemas.microsoft.com/office/drawing/2014/main" id="{BE301EE7-54E8-63B0-4B0A-E5CCC2F2B3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37864" y="3130233"/>
            <a:ext cx="1737511" cy="66299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98DE9E9B-CAAF-3988-0804-665724D8296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37864" y="4574855"/>
            <a:ext cx="1722269" cy="67061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1330426-513E-B9EF-B18B-E6F3A2F793C5}"/>
                  </a:ext>
                </a:extLst>
              </p:cNvPr>
              <p:cNvSpPr txBox="1"/>
              <p:nvPr/>
            </p:nvSpPr>
            <p:spPr>
              <a:xfrm>
                <a:off x="454511" y="3305270"/>
                <a:ext cx="6529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800" i="1" dirty="0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1330426-513E-B9EF-B18B-E6F3A2F793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511" y="3305270"/>
                <a:ext cx="652929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E5A8857-5D0D-A73F-C354-C4EE21264C90}"/>
                  </a:ext>
                </a:extLst>
              </p:cNvPr>
              <p:cNvSpPr txBox="1"/>
              <p:nvPr/>
            </p:nvSpPr>
            <p:spPr>
              <a:xfrm>
                <a:off x="454511" y="4645975"/>
                <a:ext cx="97551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ko-KR" altLang="en-US" sz="18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ko-KR" sz="18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 dirty="0">
                        <a:latin typeface="Cambria Math" panose="02040503050406030204" pitchFamily="18" charset="0"/>
                      </a:rPr>
                      <m:t>＋</m:t>
                    </m:r>
                  </m:oMath>
                </a14:m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E5A8857-5D0D-A73F-C354-C4EE21264C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511" y="4645975"/>
                <a:ext cx="97551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813EA2A-E35D-F644-3075-D1BFEF7FE4D5}"/>
                  </a:ext>
                </a:extLst>
              </p:cNvPr>
              <p:cNvSpPr txBox="1"/>
              <p:nvPr/>
            </p:nvSpPr>
            <p:spPr>
              <a:xfrm>
                <a:off x="2741780" y="4645975"/>
                <a:ext cx="97551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ko-KR" sz="18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 dirty="0">
                        <a:latin typeface="Cambria Math" panose="02040503050406030204" pitchFamily="18" charset="0"/>
                      </a:rPr>
                      <m:t>＋</m:t>
                    </m:r>
                  </m:oMath>
                </a14:m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813EA2A-E35D-F644-3075-D1BFEF7FE4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1780" y="4645975"/>
                <a:ext cx="975510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545E9EA-1D34-7AD0-417E-8B5A2566A115}"/>
                  </a:ext>
                </a:extLst>
              </p:cNvPr>
              <p:cNvSpPr txBox="1"/>
              <p:nvPr/>
            </p:nvSpPr>
            <p:spPr>
              <a:xfrm>
                <a:off x="2741780" y="3305270"/>
                <a:ext cx="97551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ko-KR" altLang="en-US" sz="18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ko-KR" sz="18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 dirty="0">
                        <a:latin typeface="Cambria Math" panose="02040503050406030204" pitchFamily="18" charset="0"/>
                      </a:rPr>
                      <m:t>＋</m:t>
                    </m:r>
                  </m:oMath>
                </a14:m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r>
                      <a:rPr lang="ko-KR" altLang="en-US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545E9EA-1D34-7AD0-417E-8B5A2566A1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1780" y="3305270"/>
                <a:ext cx="97551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D92EC5CA-626F-0391-72C6-242D61885FCE}"/>
              </a:ext>
            </a:extLst>
          </p:cNvPr>
          <p:cNvCxnSpPr>
            <a:cxnSpLocks/>
            <a:stCxn id="18" idx="3"/>
            <a:endCxn id="21" idx="1"/>
          </p:cNvCxnSpPr>
          <p:nvPr/>
        </p:nvCxnSpPr>
        <p:spPr>
          <a:xfrm>
            <a:off x="1107440" y="3489936"/>
            <a:ext cx="16343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4F4EA3D-A2F4-FFE0-24D7-456237537186}"/>
              </a:ext>
            </a:extLst>
          </p:cNvPr>
          <p:cNvSpPr txBox="1"/>
          <p:nvPr/>
        </p:nvSpPr>
        <p:spPr>
          <a:xfrm>
            <a:off x="1538530" y="3060066"/>
            <a:ext cx="772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1/24</a:t>
            </a:r>
            <a:endParaRPr lang="ko-KR" altLang="en-US" sz="1400" dirty="0"/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A92939AF-077C-3CF2-4F7D-E42086626B37}"/>
              </a:ext>
            </a:extLst>
          </p:cNvPr>
          <p:cNvCxnSpPr>
            <a:cxnSpLocks/>
            <a:stCxn id="19" idx="3"/>
            <a:endCxn id="20" idx="1"/>
          </p:cNvCxnSpPr>
          <p:nvPr/>
        </p:nvCxnSpPr>
        <p:spPr>
          <a:xfrm>
            <a:off x="1430021" y="4830641"/>
            <a:ext cx="13117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E81CC7AF-2E46-40DC-831F-245A87300FE7}"/>
              </a:ext>
            </a:extLst>
          </p:cNvPr>
          <p:cNvSpPr txBox="1"/>
          <p:nvPr/>
        </p:nvSpPr>
        <p:spPr>
          <a:xfrm>
            <a:off x="1619810" y="4355200"/>
            <a:ext cx="772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1/24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177710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  <p:bldP spid="18" grpId="0"/>
      <p:bldP spid="19" grpId="0"/>
      <p:bldP spid="20" grpId="0"/>
      <p:bldP spid="21" grpId="0"/>
      <p:bldP spid="34" grpId="0"/>
      <p:bldP spid="3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8BE07-4C0A-8797-2286-3FE88213C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>
            <a:extLst>
              <a:ext uri="{FF2B5EF4-FFF2-40B4-BE49-F238E27FC236}">
                <a16:creationId xmlns:a16="http://schemas.microsoft.com/office/drawing/2014/main" id="{1B11B676-BA9C-AE41-6A19-35642B42C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/>
          <a:lstStyle/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Hands-on </a:t>
            </a:r>
            <a:r>
              <a:rPr lang="en-US" altLang="ko-KR" cap="none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Cell_Contamination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E4EA9A02-0F5D-0344-7925-B18A338D7A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5384" y="1113457"/>
            <a:ext cx="10876566" cy="125528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X,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 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Y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에 대한 미분방정식을 만들고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시간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(t)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에 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X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와 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Y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의 그래프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(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snippet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)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 제시하라</a:t>
            </a:r>
            <a:endParaRPr lang="en-US" altLang="ko-KR" sz="19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초기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 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정상세포와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 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감염세포의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 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수를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 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변경하면서 확인하라</a:t>
            </a:r>
            <a:endParaRPr lang="en-US" altLang="ko-KR" sz="17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감염률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(k)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과 감염세포의 </a:t>
            </a:r>
            <a:r>
              <a:rPr lang="ko-KR" altLang="en-US" sz="17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소멸율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(d)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가 변화하면 어떤 그래프 모양인지 확인하라</a:t>
            </a:r>
            <a:endParaRPr lang="en-US" altLang="ko-KR" sz="17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9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11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2BD6B249-C94F-B481-724B-E776A7D7B3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9489" y="66676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28FBE910-AE82-78FA-D7F7-4C7121FA8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2862" y="6035582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7DEAD89-AC7C-1985-FB62-8A93DC934D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2583" y="2663589"/>
            <a:ext cx="6897657" cy="3737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5750E1-4B7D-E575-25C5-16F19044E9E2}"/>
              </a:ext>
            </a:extLst>
          </p:cNvPr>
          <p:cNvSpPr txBox="1"/>
          <p:nvPr/>
        </p:nvSpPr>
        <p:spPr>
          <a:xfrm>
            <a:off x="8435659" y="3986561"/>
            <a:ext cx="3756341" cy="502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k = 0.1      # Reaction rate for X + Y → Y + Y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 = 0.05   # Decay rate of Y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781612BF-779D-BAE2-67D8-6BC818792B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9184" y="2839836"/>
            <a:ext cx="870945" cy="957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9592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FD6DB-40BA-C81C-2913-DB4400E9B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>
            <a:extLst>
              <a:ext uri="{FF2B5EF4-FFF2-40B4-BE49-F238E27FC236}">
                <a16:creationId xmlns:a16="http://schemas.microsoft.com/office/drawing/2014/main" id="{7F59FA67-9B7C-E328-4BBE-BF8E9F840C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3616" y="2851047"/>
            <a:ext cx="4913104" cy="3665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제목 1">
            <a:extLst>
              <a:ext uri="{FF2B5EF4-FFF2-40B4-BE49-F238E27FC236}">
                <a16:creationId xmlns:a16="http://schemas.microsoft.com/office/drawing/2014/main" id="{429EBAD6-CB9F-5E56-1030-984978808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/>
          <a:lstStyle/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Hands-on </a:t>
            </a:r>
            <a:r>
              <a:rPr lang="en-US" altLang="ko-KR" cap="none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Cell_Contamination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내용 개체 틀 2">
                <a:extLst>
                  <a:ext uri="{FF2B5EF4-FFF2-40B4-BE49-F238E27FC236}">
                    <a16:creationId xmlns:a16="http://schemas.microsoft.com/office/drawing/2014/main" id="{15437735-9BD9-63FE-6B55-D6C42E30E1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15384" y="1113456"/>
                <a:ext cx="10876566" cy="2683463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17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S</a:t>
                </a:r>
                <a:r>
                  <a:rPr lang="ko-KR" altLang="en-US" sz="17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자 곡선</a:t>
                </a:r>
                <a:r>
                  <a:rPr lang="en-US" altLang="ko-KR" sz="17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(S-shape)' </a:t>
                </a:r>
                <a:r>
                  <a:rPr lang="ko-KR" altLang="en-US" sz="17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형태의 전염병 확산 모델</a:t>
                </a:r>
                <a:endParaRPr lang="en-US" altLang="ko-KR" sz="1700" cap="none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  <a:sym typeface="Wingdings" panose="05000000000000000000" pitchFamily="2" charset="2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z="15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전염병 모델링에서 가장 대표적인 </a:t>
                </a:r>
                <a:r>
                  <a:rPr lang="en-US" altLang="ko-KR" sz="15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'S-</a:t>
                </a:r>
                <a:r>
                  <a:rPr lang="ko-KR" altLang="en-US" sz="15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자</a:t>
                </a:r>
                <a:r>
                  <a:rPr lang="en-US" altLang="ko-KR" sz="15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' </a:t>
                </a:r>
                <a:r>
                  <a:rPr lang="ko-KR" altLang="en-US" sz="15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곡선은 로지스틱 성장 모델</a:t>
                </a:r>
                <a:r>
                  <a:rPr lang="en-US" altLang="ko-KR" sz="15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(Logistic Growth Model)</a:t>
                </a:r>
                <a:r>
                  <a:rPr lang="ko-KR" altLang="en-US" sz="15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에서 나옵니다</a:t>
                </a:r>
                <a:r>
                  <a:rPr lang="en-US" altLang="ko-KR" sz="15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.</a:t>
                </a: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z="15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이 모델은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ko-KR" altLang="en-US" sz="15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1500" dirty="0" err="1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ko-KR" altLang="en-US" sz="1500" i="1" dirty="0" err="1"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r>
                          <a:rPr lang="ko-KR" altLang="en-US" sz="1500" dirty="0" err="1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ko-KR" altLang="en-US" sz="1500" i="1" dirty="0" err="1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ko-KR" altLang="en-US" sz="1500" dirty="0" err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ko-KR" altLang="en-US" sz="1500" i="1" dirty="0" err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1500" i="1" dirty="0" err="1"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r>
                          <a:rPr lang="ko-KR" altLang="en-US" sz="1500" dirty="0" err="1"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lang="ko-KR" altLang="en-US" sz="15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와 같은 단순한 미분방정식으로 표현되지 않으며</a:t>
                </a:r>
                <a:r>
                  <a:rPr lang="en-US" altLang="ko-KR" sz="15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, </a:t>
                </a:r>
                <a:r>
                  <a:rPr lang="ko-KR" altLang="en-US" sz="15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인구 수에 비례하여 확산 속도가 달라지는 형태</a:t>
                </a:r>
                <a:endParaRPr lang="en-US" altLang="ko-KR" sz="1500" cap="none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  <a:sym typeface="Wingdings" panose="05000000000000000000" pitchFamily="2" charset="2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ko-KR" sz="1900" cap="none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</p:txBody>
          </p:sp>
        </mc:Choice>
        <mc:Fallback xmlns="">
          <p:sp>
            <p:nvSpPr>
              <p:cNvPr id="10" name="내용 개체 틀 2">
                <a:extLst>
                  <a:ext uri="{FF2B5EF4-FFF2-40B4-BE49-F238E27FC236}">
                    <a16:creationId xmlns:a16="http://schemas.microsoft.com/office/drawing/2014/main" id="{15437735-9BD9-63FE-6B55-D6C42E30E1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5384" y="1113456"/>
                <a:ext cx="10876566" cy="2683463"/>
              </a:xfrm>
              <a:blipFill>
                <a:blip r:embed="rId3"/>
                <a:stretch>
                  <a:fillRect l="-22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B069CB5C-AFD4-C9E8-3208-0CA0E18B5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2862" y="6035582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7F46BBCD-6367-D4CA-6B92-EE57EAED30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0850" y="3000258"/>
            <a:ext cx="562345" cy="61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1379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8DED2-665E-9E8D-94B8-E3038FDE2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>
            <a:extLst>
              <a:ext uri="{FF2B5EF4-FFF2-40B4-BE49-F238E27FC236}">
                <a16:creationId xmlns:a16="http://schemas.microsoft.com/office/drawing/2014/main" id="{FA7C4F98-6EBF-D4D8-6D3C-64B73AA35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/>
          <a:lstStyle/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Hands-on </a:t>
            </a:r>
            <a:r>
              <a:rPr lang="en-US" altLang="ko-KR" cap="none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Cell_Contamination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3BB2038B-55AD-37FB-0E9B-889C9E5FA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5384" y="1113456"/>
            <a:ext cx="10876566" cy="26834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S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자 곡선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(S-shape)' 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형태의 전염병 확산 모델</a:t>
            </a:r>
            <a:endParaRPr lang="en-US" altLang="ko-KR" sz="15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9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EF3551DD-F7B7-931B-A50C-EF8BF1AA9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2862" y="6035582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4101" name="Picture 5">
            <a:extLst>
              <a:ext uri="{FF2B5EF4-FFF2-40B4-BE49-F238E27FC236}">
                <a16:creationId xmlns:a16="http://schemas.microsoft.com/office/drawing/2014/main" id="{F4F76BE5-9A70-0DBF-CCBF-B270E21F56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385" y="1970212"/>
            <a:ext cx="5292048" cy="343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F0D50413-51F5-9836-A641-D0CA0A4F0A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5296" y="1970212"/>
            <a:ext cx="4941496" cy="343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1168639"/>
      </p:ext>
    </p:extLst>
  </p:cSld>
  <p:clrMapOvr>
    <a:masterClrMapping/>
  </p:clrMapOvr>
</p:sld>
</file>

<file path=ppt/theme/theme1.xml><?xml version="1.0" encoding="utf-8"?>
<a:theme xmlns:a="http://schemas.openxmlformats.org/drawingml/2006/main" name="물방울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{1CC570B9-0437-4096-963A-AEC0F46B8FA6}TF62d0d592-7ac2-4846-a919-75806e8bead4bfbc838d-5dafd7656617</Template>
  <TotalTime>4928</TotalTime>
  <Words>1011</Words>
  <Application>Microsoft Office PowerPoint</Application>
  <PresentationFormat>와이드스크린</PresentationFormat>
  <Paragraphs>117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8" baseType="lpstr">
      <vt:lpstr>MS PGothic</vt:lpstr>
      <vt:lpstr>맑은 고딕</vt:lpstr>
      <vt:lpstr>맑은 고딕 Semilight</vt:lpstr>
      <vt:lpstr>Batang</vt:lpstr>
      <vt:lpstr>한컴 말랑말랑 Bold</vt:lpstr>
      <vt:lpstr>ADLaM Display</vt:lpstr>
      <vt:lpstr>Arial</vt:lpstr>
      <vt:lpstr>Cambria Math</vt:lpstr>
      <vt:lpstr>Times New Roman</vt:lpstr>
      <vt:lpstr>Tw Cen MT</vt:lpstr>
      <vt:lpstr>Wingdings</vt:lpstr>
      <vt:lpstr>물방울</vt:lpstr>
      <vt:lpstr>수학의 응용 - 머신러닝 -</vt:lpstr>
      <vt:lpstr>PowerPoint 프레젠테이션</vt:lpstr>
      <vt:lpstr>Modeling</vt:lpstr>
      <vt:lpstr>derative function</vt:lpstr>
      <vt:lpstr>Hands-on Velocity</vt:lpstr>
      <vt:lpstr>Hands-on Velocity</vt:lpstr>
      <vt:lpstr>Hands-on Velocity</vt:lpstr>
      <vt:lpstr>mathematical modeling</vt:lpstr>
      <vt:lpstr>Cell_division</vt:lpstr>
      <vt:lpstr>Hands-on Cell_division</vt:lpstr>
      <vt:lpstr>Hands-on Cell_division</vt:lpstr>
      <vt:lpstr>Hands-on Cell_division</vt:lpstr>
      <vt:lpstr>Hands-on Cell_Contamination</vt:lpstr>
      <vt:lpstr>Hands-on Cell_Contamination</vt:lpstr>
      <vt:lpstr>Hands-on Cell_Contamination</vt:lpstr>
      <vt:lpstr>Hands-on Cell_Contamination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Sanggoo Cho</dc:creator>
  <cp:lastModifiedBy>Sanggoo Cho</cp:lastModifiedBy>
  <cp:revision>66</cp:revision>
  <dcterms:created xsi:type="dcterms:W3CDTF">2026-03-09T22:59:08Z</dcterms:created>
  <dcterms:modified xsi:type="dcterms:W3CDTF">2026-04-29T12:12:48Z</dcterms:modified>
</cp:coreProperties>
</file>