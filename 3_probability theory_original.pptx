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1"/>
  </p:notesMasterIdLst>
  <p:handoutMasterIdLst>
    <p:handoutMasterId r:id="rId72"/>
  </p:handoutMasterIdLst>
  <p:sldIdLst>
    <p:sldId id="256" r:id="rId5"/>
    <p:sldId id="314" r:id="rId6"/>
    <p:sldId id="361" r:id="rId7"/>
    <p:sldId id="371" r:id="rId8"/>
    <p:sldId id="313" r:id="rId9"/>
    <p:sldId id="369" r:id="rId10"/>
    <p:sldId id="370" r:id="rId11"/>
    <p:sldId id="270" r:id="rId12"/>
    <p:sldId id="379" r:id="rId13"/>
    <p:sldId id="380" r:id="rId14"/>
    <p:sldId id="362" r:id="rId15"/>
    <p:sldId id="272" r:id="rId16"/>
    <p:sldId id="387" r:id="rId17"/>
    <p:sldId id="276" r:id="rId18"/>
    <p:sldId id="307" r:id="rId19"/>
    <p:sldId id="308" r:id="rId20"/>
    <p:sldId id="363" r:id="rId21"/>
    <p:sldId id="277" r:id="rId22"/>
    <p:sldId id="278" r:id="rId23"/>
    <p:sldId id="340" r:id="rId24"/>
    <p:sldId id="364" r:id="rId25"/>
    <p:sldId id="279" r:id="rId26"/>
    <p:sldId id="280" r:id="rId27"/>
    <p:sldId id="281" r:id="rId28"/>
    <p:sldId id="382" r:id="rId29"/>
    <p:sldId id="283" r:id="rId30"/>
    <p:sldId id="284" r:id="rId31"/>
    <p:sldId id="377" r:id="rId32"/>
    <p:sldId id="383" r:id="rId33"/>
    <p:sldId id="290" r:id="rId34"/>
    <p:sldId id="288" r:id="rId35"/>
    <p:sldId id="286" r:id="rId36"/>
    <p:sldId id="287" r:id="rId37"/>
    <p:sldId id="285" r:id="rId38"/>
    <p:sldId id="384" r:id="rId39"/>
    <p:sldId id="289" r:id="rId40"/>
    <p:sldId id="305" r:id="rId41"/>
    <p:sldId id="304" r:id="rId42"/>
    <p:sldId id="291" r:id="rId43"/>
    <p:sldId id="375" r:id="rId44"/>
    <p:sldId id="374" r:id="rId45"/>
    <p:sldId id="360" r:id="rId46"/>
    <p:sldId id="292" r:id="rId47"/>
    <p:sldId id="365" r:id="rId48"/>
    <p:sldId id="293" r:id="rId49"/>
    <p:sldId id="373" r:id="rId50"/>
    <p:sldId id="324" r:id="rId51"/>
    <p:sldId id="338" r:id="rId52"/>
    <p:sldId id="302" r:id="rId53"/>
    <p:sldId id="372" r:id="rId54"/>
    <p:sldId id="330" r:id="rId55"/>
    <p:sldId id="327" r:id="rId56"/>
    <p:sldId id="300" r:id="rId57"/>
    <p:sldId id="367" r:id="rId58"/>
    <p:sldId id="317" r:id="rId59"/>
    <p:sldId id="301" r:id="rId60"/>
    <p:sldId id="378" r:id="rId61"/>
    <p:sldId id="385" r:id="rId62"/>
    <p:sldId id="381" r:id="rId63"/>
    <p:sldId id="306" r:id="rId64"/>
    <p:sldId id="303" r:id="rId65"/>
    <p:sldId id="309" r:id="rId66"/>
    <p:sldId id="310" r:id="rId67"/>
    <p:sldId id="311" r:id="rId68"/>
    <p:sldId id="312" r:id="rId69"/>
    <p:sldId id="316" r:id="rId70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4027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2A46-096E-01F3-4F5A-B103B0E1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E9A7F-3EAA-AE59-A376-AA828E7C9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318BF-8FC5-BDB6-D473-12D760F04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CC461-529A-3A44-C6E7-DF119867C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40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64F1-E5C4-6358-593C-A9CA284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1DBD8-0BBF-5360-FF60-654782767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D4DA56-C4FA-DEDD-AC32-D35ACFC99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1D40D-3E45-9FEE-32E1-052BF2B76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478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38BF-5238-8DEC-113F-F8CF98C9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D7386D-E89C-B77A-3543-D4E6998EB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18C3-1948-D230-233A-234193B99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1789C-50D5-F748-0E68-73492ACAB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0883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0AAC-DC71-22FD-567E-F9417987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70311-34B3-38EB-1F92-F1F620954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4AC722-197F-E460-53F8-8EAA601A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38FAA-B235-47FF-C58A-EBB0424113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94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8B2E-CE9B-332C-ECAC-6E96C9B6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FEE594-EB81-B9B3-43E1-8B5400E27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93C604-D67D-E9F0-3B80-8B31937C5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68C89-F771-0225-D12F-1F032598B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0028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9C03-7ED9-E18F-2704-FAAEAED1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A04D1D-D6EF-0A87-11EC-F8B7A52CC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4788F-B000-9A16-1526-CBDD7B483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B442F-FF04-49E8-21D8-AED1C028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135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172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AD08-7835-CADF-5460-8361621F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694997-EB59-9254-FAEE-BA6F8DAE4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77949-6F43-2A0A-9390-AEF193365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34CF9-D16D-0DDF-82DE-C615D3E56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793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992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8D5A-D51F-1C5A-6E1C-7E7CFFD9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FDDC52-2D6D-9F68-47BD-A3A6FA72F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3978E6-2168-14AF-C3F5-302A5E4C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A7C7C-47A3-65B7-64BF-164C1F10F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073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121C-7738-75D6-0814-6A4E7CB0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A3E81-B9FA-E91D-7C38-C8ED94736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01535F-59A7-36A0-5D62-31F70F035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2A0D9-A0EE-C08B-64CD-FA00E4A03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3969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2669-78C2-F717-9704-0E894CBD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B16FEF-5E87-D8CE-BD8E-41E60A986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FBE45-66DE-47AF-1B30-E4AD74745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ED67A-0522-075F-7C24-93992D1BF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2897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80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991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209C-0183-4045-FDF0-C7DCBDA4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3F8734-82DB-BF23-C798-DD3B47DB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E339CF-C307-706C-BF73-EAE540C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50BCB-255F-06D5-FC44-87040ECD5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930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0713-FD03-D49C-FBF0-0EF02047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B0937-21B6-B13F-3650-F4F6DF3C2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D0767-8F2A-2DCC-2223-41675819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E6568-4A54-77FA-F9F1-1AE7B4089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004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854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324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1592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8D17-F7C6-2CCC-3C7C-0EF7F37A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F20E2F-FA8D-1384-A711-C71590008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509E81-4322-1CFB-1958-7F9309183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190D1-BF97-284F-1EA8-FBB823275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130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566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3698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47D4D-C235-703F-B078-1CFBCF55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4D27E7-9F66-FECF-2412-630CACD27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D08BD3-9AE2-4B4F-7258-FA9C83A86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FB8F5-6BC3-3E55-9486-A39D975BF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342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C747-327C-CFAB-069C-0CF056E1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538D64-15DC-C38D-8311-7A4D71359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74F02-157E-2E5D-678A-B6AFF21AD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898E22-6367-5850-D245-DDC5F8EFA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28537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080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910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1751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5807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9216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870D-84E1-38AA-3C68-EDE43CC9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8751D2-1936-E56B-B71F-EA26AC446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E6D515-7AAD-CE0C-499A-154A1BB6C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B6B92-1997-8498-85E8-838E6970D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580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352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F7BB-F0AD-4DAF-9FC7-AB22B819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F8231D-BFAF-ED2F-4D76-6AAA07BFA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5D4824-F3C3-47FE-8282-3E9B08602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669B45-2404-4D36-0865-E80A334F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665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798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5533-850A-7869-CA12-753FB705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1ED54A-5032-D0F7-63F4-AB6240734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A5B978-9327-65B4-CE69-6245BA609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B1688-95B3-3BA5-7585-18FE836ED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8376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D2C4-EE41-28EE-C5C1-A243913D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966DF-079E-F20B-596D-7A0B51C66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DA50D-E5B3-5033-2DBD-3561111B7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BC94A-BCEB-D884-4437-5D9E2C1DA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2738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2910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5D09-9630-A0FD-FC35-81F7718C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B0427-9D47-D5BB-6BC3-909D9935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112FA0-4D0B-3533-41B3-61991C397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D6190-EF8A-6106-9D3E-ABF957FE3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7351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5359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31F2-4782-718A-5FB7-5A4FFB61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DA506-7A48-AE3A-BD16-D68B5C02E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FADF75-C648-A546-56DE-41CE7ED0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76BB5-3086-D451-E3A1-8ADF2F0F6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22299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FEA8-EC05-73F5-A0EE-A91BF981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6C3209-2357-5ACF-2202-D54B7D71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642F0-A7DB-6287-60F9-78806E4A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3EDCE-8D13-18A3-1D4E-CF7160507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5105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A826-7FE2-3F7D-9283-FAF6D13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48CFC-448A-2634-6548-6E7CE2607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6286E9-0EA3-AB3D-2263-D8DD3F483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550C5-9CCC-0B92-3694-E327587CB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3873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6513-788E-9B6B-E3D0-925981512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A7103B-96E7-F3D6-F7EC-588847105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3D7AF-CB32-CC58-4B77-591465AF1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81571-C7DA-CBDE-F06D-01C763EFA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4784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1E90-FAFD-AE47-A6A5-531D881A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993C63-FB60-385C-14CA-73D0BB01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839F2-E212-8AC2-F32C-6F9172D3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4C51-FD7A-5D59-88E9-AF826AE93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7101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1AD0-4C3D-624F-60D5-D6B10979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E39F4-6A0C-4A9C-8B5C-ABADDEE5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EE43D-9CFD-3468-D78B-FF731CBFE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231CF-5B5C-C65B-77E3-2B290203E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1350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C352-D5B7-6775-5989-ACEF0EEF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FD1DF0-4C8F-0BAE-18E6-3DCD0864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B2904B-32C4-1767-279B-6CA68D62E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FAC79-AB10-F320-DF1E-C29C6C2BD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579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3883-22E2-74B0-638B-F1F6D640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B8F7A6-7066-B0AB-DAD0-5C5710C6F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CBF5FB-FB93-E0CF-F82D-81443BA94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8B9AF-15EA-3736-58A8-36CA7A6D5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9933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BA54-3E23-8531-EFF8-D7921108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0DF9E-AD58-C646-0B5D-B623B9AF2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7059EA-816D-B7E8-820C-C5FE0264B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E07F8-E011-1C30-D9D5-B76C650B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9134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4FC8-DF45-68DE-E07C-905279D1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343B87-5DA0-7977-540C-B51C62739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605AAF-2704-E04C-5E2A-F989E8517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8E6FE-91CA-C690-5404-0CC1B7EBD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52678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BBD-A9D1-EAD0-4ABD-EF3EE59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41FB98-6E70-56DE-D99C-6C67CCB16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D7A4F-F09B-9B32-85C0-40088E9A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65BD-8C7A-8503-3490-EB8170B09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5374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697A-FF9B-E7BC-432D-9AAB56A9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08D4B3-30BE-FE0D-EC3E-720D76AA0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1C5791-DFA9-2C27-E262-93CAB88B4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668DF-0CB7-198A-FCB6-875DD2997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96735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B7FC-E2D0-DB9D-3756-8AB32711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A1CA5-2D7A-A065-73C6-014CA1AD1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8B974-8872-EACB-53AD-8FBAF245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8BAC-3FEA-A5AB-83B2-0849471A2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6117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0CF6-5920-0CA6-3F8E-4850E12E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7576B-A27F-3199-150D-042D26DF7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642E0-0FB1-797D-CF35-4685A4F2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CA476-B9CA-43B9-2413-0B0B9C902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4919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5E63-A183-1C57-974D-F76ABC5A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FF3AA1-E3EE-970D-F440-E030D26D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E2F409-9F5B-7A50-BA35-321510B4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7FAF3B-8B17-5685-DF3B-DA15093D2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2428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56F7-E313-A6F3-9D3A-ACD09FE9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9F812C-E674-BA17-5EB0-B3A76C44E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25E0EB-8D28-8EFD-B525-E8A6E815E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979DA1-EA29-36B5-34E9-5FEB8C390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6851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0413-F5A8-585F-2275-1E7A943E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BADD07-D324-3C0E-E1C5-F02F19BDE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34B8-39C6-4267-3F2A-22734AB77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805EAA-3A32-3084-63A2-F512E0B53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852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45E9-E1F5-B9BE-691C-57348341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18331-D45B-5866-6D13-7712ABE15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03AE31-B135-DF83-161D-65DA11877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EBEE0-D778-0150-3509-210174990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192168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2411-9270-E6DB-FEBE-D46F8926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56ED2C-BF78-CEC5-FBBC-5DC4A6079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7732F5-3792-F895-162D-C2AD0B405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5A7E7-5426-4348-9A86-EB4EE2581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99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2026-03-26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6qxA9JDLSpw?feature=shar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dgu3MNjB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0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learn/nlp-course/chapter1/4?fw=pt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unrise_problem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hyperlink" Target="https://seaborn.pydata.org/examples/hexbin_marginals.html" TargetMode="External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ive_Bayes_classifier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확률론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5014292" y="1772816"/>
            <a:ext cx="6840760" cy="1111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32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신은 주사위를 던진다</a:t>
            </a:r>
            <a:r>
              <a:rPr lang="en-US" altLang="ko-KR" sz="32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90AE170-3683-EFA7-B712-EC521F940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586522"/>
            <a:ext cx="3960440" cy="594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0914-4B59-AAA1-1AF8-32746A9E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822C6E-52B8-6527-1731-B766251B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93B876-0513-600B-A5D5-5AB86C28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87" y="1124744"/>
            <a:ext cx="7719453" cy="496855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E5940DF-C3FB-B03A-72C1-A809344A711F}"/>
              </a:ext>
            </a:extLst>
          </p:cNvPr>
          <p:cNvSpPr/>
          <p:nvPr/>
        </p:nvSpPr>
        <p:spPr>
          <a:xfrm>
            <a:off x="189756" y="338469"/>
            <a:ext cx="4742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(Random variable)</a:t>
            </a:r>
          </a:p>
        </p:txBody>
      </p:sp>
    </p:spTree>
    <p:extLst>
      <p:ext uri="{BB962C8B-B14F-4D97-AF65-F5344CB8AC3E}">
        <p14:creationId xmlns:p14="http://schemas.microsoft.com/office/powerpoint/2010/main" val="55614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E74E-A16C-1718-57CD-D7D3F76F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6EAA2F-CBE2-932B-4F5D-1CF91899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563F3-94EF-9491-D44B-803618076A71}"/>
              </a:ext>
            </a:extLst>
          </p:cNvPr>
          <p:cNvSpPr txBox="1"/>
          <p:nvPr/>
        </p:nvSpPr>
        <p:spPr>
          <a:xfrm>
            <a:off x="261764" y="1268760"/>
            <a:ext cx="11161240" cy="167937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던져서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나올 확률은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던져서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이하가 될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주사기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주사위의 합이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569A8-2444-3755-61EB-DBEDF50AFA7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50749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B18E-31A8-3601-E7A2-1949493A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014C26-A6A8-6228-9BB1-92D3E708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04074-B23E-0A42-B4B0-593C8F030385}"/>
              </a:ext>
            </a:extLst>
          </p:cNvPr>
          <p:cNvSpPr txBox="1"/>
          <p:nvPr/>
        </p:nvSpPr>
        <p:spPr>
          <a:xfrm>
            <a:off x="333772" y="1124744"/>
            <a:ext cx="11161240" cy="342093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억의 상금이 걸린 게임이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A, B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사람이 라운드마다 각각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확률로 승패 결과가 있는 경우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누구나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번을 이기면 게임이 끝나게 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현재까지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번의 라운드에서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 이겼다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상금을 각각 공평하게 나누려면 얼마씩 배분하여야 하는가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A,B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각각 이길 확률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5FE29-FE08-A648-1595-0410244C467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E4739-A87B-0562-0D6E-42C8155E0247}"/>
              </a:ext>
            </a:extLst>
          </p:cNvPr>
          <p:cNvSpPr txBox="1"/>
          <p:nvPr/>
        </p:nvSpPr>
        <p:spPr>
          <a:xfrm>
            <a:off x="464586" y="5615034"/>
            <a:ext cx="6113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2060"/>
                </a:solidFill>
                <a:latin typeface="+mj-ea"/>
                <a:ea typeface="+mj-ea"/>
              </a:rPr>
              <a:t>결합확률</a:t>
            </a:r>
            <a:r>
              <a:rPr lang="en-US" altLang="ko-KR" dirty="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rgbClr val="002060"/>
                </a:solidFill>
                <a:latin typeface="+mj-ea"/>
                <a:ea typeface="+mj-ea"/>
              </a:rPr>
              <a:t>동시확률을 이해하기 위한 문제</a:t>
            </a:r>
            <a:endParaRPr lang="ko-KR" altLang="en-US" dirty="0">
              <a:solidFill>
                <a:srgbClr val="002060"/>
              </a:solidFill>
            </a:endParaRPr>
          </a:p>
        </p:txBody>
      </p:sp>
      <p:pic>
        <p:nvPicPr>
          <p:cNvPr id="11" name="그래픽 10" descr="연필">
            <a:extLst>
              <a:ext uri="{FF2B5EF4-FFF2-40B4-BE49-F238E27FC236}">
                <a16:creationId xmlns:a16="http://schemas.microsoft.com/office/drawing/2014/main" id="{8550D6BA-66AF-CB61-0B13-5C584A2A1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492" y="4818856"/>
            <a:ext cx="707668" cy="70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2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F62E-E81B-9926-EE39-212E26B1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C83D71-A537-5230-595B-3FB17D20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C3755-3917-B5AD-AC51-02A04E516082}"/>
              </a:ext>
            </a:extLst>
          </p:cNvPr>
          <p:cNvSpPr txBox="1"/>
          <p:nvPr/>
        </p:nvSpPr>
        <p:spPr>
          <a:xfrm>
            <a:off x="333772" y="1124744"/>
            <a:ext cx="5544616" cy="46439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Pascal(1623~1662)</a:t>
            </a:r>
          </a:p>
          <a:p>
            <a:pPr marL="742950" lvl="1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½ + ½*½ + ½*½*½ </a:t>
            </a:r>
          </a:p>
          <a:p>
            <a:pPr marL="742950" lvl="1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½*½*½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Ferma(1607~1665)</a:t>
            </a:r>
          </a:p>
          <a:p>
            <a:pPr marL="742950" lvl="1" indent="-285750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AAA,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AAB, ABA, ABB, BAA, BAB, BBA, BBB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6BB00-60F3-FF70-19B2-65D76BA29A3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F23058-6F96-959E-2647-25B488635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459" y="1132710"/>
            <a:ext cx="5475517" cy="47445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E35038-E87C-73A9-D28B-6C2AF2FC9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0956" y="1196752"/>
            <a:ext cx="96655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58578B27-4E49-C70D-D8A8-F65A4BE5E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8E3EC-D771-756F-093A-AB7D963427E9}"/>
              </a:ext>
            </a:extLst>
          </p:cNvPr>
          <p:cNvSpPr txBox="1"/>
          <p:nvPr/>
        </p:nvSpPr>
        <p:spPr>
          <a:xfrm>
            <a:off x="6526459" y="5958610"/>
            <a:ext cx="5155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Pascal Decision Tree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8895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확률론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theory)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은 사건의 빈도를 분석</a:t>
            </a:r>
            <a:endParaRPr lang="ko-KR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16A5B1-8581-2EBB-623F-214389405908}"/>
                  </a:ext>
                </a:extLst>
              </p:cNvPr>
              <p:cNvSpPr txBox="1"/>
              <p:nvPr/>
            </p:nvSpPr>
            <p:spPr>
              <a:xfrm>
                <a:off x="1413892" y="1772816"/>
                <a:ext cx="8208912" cy="387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dirty="0">
                    <a:latin typeface="+mj-ea"/>
                    <a:ea typeface="+mj-ea"/>
                  </a:rPr>
                  <a:t>✔ 실험</a:t>
                </a: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j-ea"/>
                    <a:ea typeface="+mj-ea"/>
                  </a:rPr>
                  <a:t>동전을 </a:t>
                </a:r>
                <a:r>
                  <a:rPr lang="en-US" altLang="ko-KR" dirty="0">
                    <a:latin typeface="+mj-ea"/>
                    <a:ea typeface="+mj-ea"/>
                  </a:rPr>
                  <a:t>2</a:t>
                </a:r>
                <a:r>
                  <a:rPr lang="ko-KR" altLang="en-US" dirty="0">
                    <a:latin typeface="+mj-ea"/>
                    <a:ea typeface="+mj-ea"/>
                  </a:rPr>
                  <a:t>번 던짐</a:t>
                </a:r>
                <a:r>
                  <a:rPr lang="en-US" altLang="ko-KR" dirty="0">
                    <a:latin typeface="+mj-ea"/>
                    <a:ea typeface="+mj-ea"/>
                  </a:rPr>
                  <a:t>(</a:t>
                </a:r>
                <a:r>
                  <a:rPr lang="ko-KR" altLang="en-US" dirty="0">
                    <a:latin typeface="+mj-ea"/>
                    <a:ea typeface="+mj-ea"/>
                  </a:rPr>
                  <a:t>혹은 </a:t>
                </a:r>
                <a:r>
                  <a:rPr lang="en-US" altLang="ko-KR" dirty="0">
                    <a:latin typeface="+mj-ea"/>
                    <a:ea typeface="+mj-ea"/>
                  </a:rPr>
                  <a:t>2</a:t>
                </a:r>
                <a:r>
                  <a:rPr lang="ko-KR" altLang="en-US" dirty="0">
                    <a:latin typeface="+mj-ea"/>
                    <a:ea typeface="+mj-ea"/>
                  </a:rPr>
                  <a:t>개를 동시에 던짐</a:t>
                </a:r>
                <a:r>
                  <a:rPr lang="en-US" altLang="ko-KR" dirty="0">
                    <a:latin typeface="+mj-ea"/>
                    <a:ea typeface="+mj-ea"/>
                  </a:rPr>
                  <a:t>)</a:t>
                </a:r>
                <a:endParaRPr lang="ko-KR" altLang="en-US" dirty="0">
                  <a:latin typeface="+mj-ea"/>
                  <a:ea typeface="+mj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>
                    <a:latin typeface="+mj-ea"/>
                    <a:ea typeface="+mj-ea"/>
                  </a:rPr>
                  <a:t>✔ 표본공간 </a:t>
                </a:r>
                <a:r>
                  <a:rPr lang="en-US" altLang="ko-KR" dirty="0">
                    <a:latin typeface="+mj-ea"/>
                    <a:ea typeface="+mj-ea"/>
                  </a:rPr>
                  <a:t>(Sample Space)</a:t>
                </a: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  <a:ea typeface="+mj-ea"/>
                      </a:rPr>
                      <m:t>𝑆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={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HH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HT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TH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TT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}</m:t>
                    </m:r>
                  </m:oMath>
                </a14:m>
                <a:endParaRPr lang="ko-KR" altLang="en-US" dirty="0">
                  <a:latin typeface="+mj-ea"/>
                  <a:ea typeface="+mj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>
                    <a:latin typeface="+mj-ea"/>
                    <a:ea typeface="+mj-ea"/>
                  </a:rPr>
                  <a:t>✔ 확률변수 정의</a:t>
                </a:r>
                <a:endParaRPr lang="en-US" altLang="ko-KR" dirty="0">
                  <a:latin typeface="+mj-ea"/>
                  <a:ea typeface="+mj-ea"/>
                </a:endParaRP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+mj-ea"/>
                    <a:ea typeface="+mj-ea"/>
                  </a:rPr>
                  <a:t>확률변수는 </a:t>
                </a:r>
                <a:r>
                  <a:rPr lang="ko-KR" altLang="en-US" b="1" dirty="0">
                    <a:latin typeface="+mj-ea"/>
                    <a:ea typeface="+mj-ea"/>
                  </a:rPr>
                  <a:t>사건 → 숫자 값으로 매핑하는 함수</a:t>
                </a:r>
              </a:p>
              <a:p>
                <a:pPr marL="742950" lvl="1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+mj-ea"/>
                    <a:ea typeface="+mj-ea"/>
                  </a:rPr>
                  <a:t>100</a:t>
                </a:r>
                <a:r>
                  <a:rPr lang="ko-KR" altLang="en-US" dirty="0">
                    <a:latin typeface="+mj-ea"/>
                    <a:ea typeface="+mj-ea"/>
                  </a:rPr>
                  <a:t>번 실험에서 나온 빈도를 확률변수로 설정</a:t>
                </a:r>
                <a:endParaRPr lang="en-US" altLang="ko-KR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16A5B1-8581-2EBB-623F-214389405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92" y="1772816"/>
                <a:ext cx="8208912" cy="3871060"/>
              </a:xfrm>
              <a:prstGeom prst="rect">
                <a:avLst/>
              </a:prstGeom>
              <a:blipFill>
                <a:blip r:embed="rId3"/>
                <a:stretch>
                  <a:fillRect l="-668" b="-1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1AA2-7665-89C3-A8AC-74C2F1B4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AD45C6-4544-A375-0C8B-F71C226E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AC118F-BF0C-2737-5E5C-6AA784F48F3F}"/>
              </a:ext>
            </a:extLst>
          </p:cNvPr>
          <p:cNvSpPr/>
          <p:nvPr/>
        </p:nvSpPr>
        <p:spPr>
          <a:xfrm>
            <a:off x="765820" y="764704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확률론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theory)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은 사건의 빈도를 분석</a:t>
            </a:r>
            <a:endParaRPr lang="ko-KR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834C025-9C4C-1B40-6FCA-44C2E88F7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924970"/>
                  </p:ext>
                </p:extLst>
              </p:nvPr>
            </p:nvGraphicFramePr>
            <p:xfrm>
              <a:off x="981844" y="2276872"/>
              <a:ext cx="10441161" cy="324035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31131">
                      <a:extLst>
                        <a:ext uri="{9D8B030D-6E8A-4147-A177-3AD203B41FA5}">
                          <a16:colId xmlns:a16="http://schemas.microsoft.com/office/drawing/2014/main" val="287144223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460948932"/>
                        </a:ext>
                      </a:extLst>
                    </a:gridCol>
                    <a:gridCol w="2173244">
                      <a:extLst>
                        <a:ext uri="{9D8B030D-6E8A-4147-A177-3AD203B41FA5}">
                          <a16:colId xmlns:a16="http://schemas.microsoft.com/office/drawing/2014/main" val="2817877067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5349110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2594679281"/>
                        </a:ext>
                      </a:extLst>
                    </a:gridCol>
                  </a:tblGrid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표본</a:t>
                          </a:r>
                          <a:r>
                            <a:rPr lang="en-US" altLang="ko-KR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ko-KR" altLang="en-US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공간</a:t>
                          </a:r>
                          <a:endParaRPr lang="en-US" altLang="ko-KR" sz="2000" b="1" baseline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(Sample Space)</a:t>
                          </a:r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HH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HT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TH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TT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732645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관측빈도</a:t>
                          </a:r>
                          <a:endParaRPr lang="en-US" altLang="ko-KR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(Frequency)</a:t>
                          </a:r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  <a:r>
                            <a:rPr lang="ko-KR" altLang="en-US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27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857031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확률변수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altLang="ko-KR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빈도</a:t>
                          </a:r>
                          <a:r>
                            <a:rPr lang="en-US" altLang="ko-KR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=24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=21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=28</m:t>
                              </m:r>
                            </m:oMath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=27</m:t>
                                </m:r>
                              </m:oMath>
                            </m:oMathPara>
                          </a14:m>
                          <a:endParaRPr lang="en-US" altLang="ko-KR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5869906"/>
                      </a:ext>
                    </a:extLst>
                  </a:tr>
                  <a:tr h="96395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kern="12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확률 </a:t>
                          </a:r>
                          <a:endParaRPr lang="en-US" altLang="ko-KR" sz="2000" b="1" kern="12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2000" b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2000" b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ko-KR" sz="2000" b="1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n-US" altLang="ko-KR" sz="20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20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altLang="ko-KR" sz="2000" b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=24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=21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=28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=27</m:t>
                                    </m:r>
                                  </m:e>
                                </m:d>
                                <m:r>
                                  <a:rPr lang="en-US" altLang="ko-KR" sz="1800" b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US" altLang="ko-KR" sz="1800" b="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800" b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8694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D834C025-9C4C-1B40-6FCA-44C2E88F7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924970"/>
                  </p:ext>
                </p:extLst>
              </p:nvPr>
            </p:nvGraphicFramePr>
            <p:xfrm>
              <a:off x="981844" y="2276872"/>
              <a:ext cx="10441161" cy="324035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31131">
                      <a:extLst>
                        <a:ext uri="{9D8B030D-6E8A-4147-A177-3AD203B41FA5}">
                          <a16:colId xmlns:a16="http://schemas.microsoft.com/office/drawing/2014/main" val="287144223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460948932"/>
                        </a:ext>
                      </a:extLst>
                    </a:gridCol>
                    <a:gridCol w="2173244">
                      <a:extLst>
                        <a:ext uri="{9D8B030D-6E8A-4147-A177-3AD203B41FA5}">
                          <a16:colId xmlns:a16="http://schemas.microsoft.com/office/drawing/2014/main" val="2817877067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153491109"/>
                        </a:ext>
                      </a:extLst>
                    </a:gridCol>
                    <a:gridCol w="2012262">
                      <a:extLst>
                        <a:ext uri="{9D8B030D-6E8A-4147-A177-3AD203B41FA5}">
                          <a16:colId xmlns:a16="http://schemas.microsoft.com/office/drawing/2014/main" val="2594679281"/>
                        </a:ext>
                      </a:extLst>
                    </a:gridCol>
                  </a:tblGrid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표본</a:t>
                          </a:r>
                          <a:r>
                            <a:rPr lang="en-US" altLang="ko-KR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ko-KR" altLang="en-US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공간</a:t>
                          </a:r>
                          <a:endParaRPr lang="en-US" altLang="ko-KR" sz="2000" b="1" baseline="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2000" b="1" baseline="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(Sample Space)</a:t>
                          </a:r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HH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HT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TH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TT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4732645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관측빈도</a:t>
                          </a:r>
                          <a:endParaRPr lang="en-US" altLang="ko-KR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2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(Frequency)</a:t>
                          </a:r>
                          <a:endParaRPr lang="ko-KR" altLang="en-US" sz="2000" b="1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  <a:r>
                            <a:rPr lang="ko-KR" altLang="en-US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2800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27</a:t>
                          </a:r>
                          <a:endParaRPr lang="ko-KR" altLang="en-US" sz="280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8857031"/>
                      </a:ext>
                    </a:extLst>
                  </a:tr>
                  <a:tr h="75880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09677" r="-369399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1212" t="-209677" r="-309697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95238" t="-209677" r="-186275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9394" t="-209677" r="-101515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19394" t="-209677" r="-1515" b="-129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5869906"/>
                      </a:ext>
                    </a:extLst>
                  </a:tr>
                  <a:tr h="9639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41509" r="-369399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1212" t="-241509" r="-309697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95238" t="-241509" r="-186275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9394" t="-241509" r="-101515" b="-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19394" t="-241509" r="-1515" b="-1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6941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02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A1F99-A4EC-7F3F-934E-66005ED4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9D4F466-55C4-B16A-4029-996A9BC5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5CCBDF-6705-3634-936B-9CB9066C4DBC}"/>
                  </a:ext>
                </a:extLst>
              </p:cNvPr>
              <p:cNvSpPr txBox="1"/>
              <p:nvPr/>
            </p:nvSpPr>
            <p:spPr>
              <a:xfrm>
                <a:off x="1917948" y="1453009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   =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5CCBDF-6705-3634-936B-9CB9066C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948" y="1453009"/>
                <a:ext cx="439248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0838-E578-53A7-A2BC-EBA1A3F1DD08}"/>
                  </a:ext>
                </a:extLst>
              </p:cNvPr>
              <p:cNvSpPr txBox="1"/>
              <p:nvPr/>
            </p:nvSpPr>
            <p:spPr>
              <a:xfrm>
                <a:off x="6094412" y="1196752"/>
                <a:ext cx="2398340" cy="1220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4800" b="0" i="1" smtClean="0">
                            <a:latin typeface="Cambria Math" panose="02040503050406030204" pitchFamily="18" charset="0"/>
                          </a:rPr>
                          <m:t>𝑆𝑢𝑝𝑟𝑖𝑠𝑒</m:t>
                        </m:r>
                      </m:den>
                    </m:f>
                  </m:oMath>
                </a14:m>
                <a:r>
                  <a:rPr lang="en-US" altLang="ko-KR" sz="4800" dirty="0"/>
                  <a:t>   </a:t>
                </a:r>
                <a:endParaRPr lang="ko-KR" altLang="en-US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0838-E578-53A7-A2BC-EBA1A3F1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2" y="1196752"/>
                <a:ext cx="2398340" cy="12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얼굴이 그려진 공 무리">
            <a:extLst>
              <a:ext uri="{FF2B5EF4-FFF2-40B4-BE49-F238E27FC236}">
                <a16:creationId xmlns:a16="http://schemas.microsoft.com/office/drawing/2014/main" id="{6D98B705-2128-E698-C0F3-EF068395D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419" y="2852936"/>
            <a:ext cx="4392488" cy="292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26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737-4D84-A348-6FE1-9D35471C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BF54B44-AEF4-5A91-28A0-B7F04F80476A}"/>
              </a:ext>
            </a:extLst>
          </p:cNvPr>
          <p:cNvSpPr/>
          <p:nvPr/>
        </p:nvSpPr>
        <p:spPr>
          <a:xfrm>
            <a:off x="598421" y="220486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19A402-6026-8725-BF04-5D3962A6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A1178-92B0-2653-5C2D-55676F0F0DEC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28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이산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vs 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(Discrete vs Continuous Variables)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 변수</a:t>
            </a:r>
            <a:endParaRPr lang="en-US" altLang="ko-KR" sz="28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5820" y="1480069"/>
            <a:ext cx="1081356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동전의 앞과 뒤면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주사위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카드의 종류 등은 수자가 양의 </a:t>
            </a:r>
            <a:r>
              <a:rPr lang="ko-KR" altLang="en-US" b="1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정수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셀 수 있으면 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이산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(Discrete)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몸무게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나이 등은 </a:t>
            </a:r>
            <a:r>
              <a:rPr lang="ko-KR" altLang="en-US" b="1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실수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형으로 연속되어 관측하지 못하면 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	       </a:t>
            </a:r>
            <a:r>
              <a:rPr lang="ko-KR" altLang="en-US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연속</a:t>
            </a:r>
            <a:r>
              <a:rPr lang="en-US" altLang="ko-KR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(Continuous)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423B1F-95FC-3C82-A06C-8B557E5F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11" y="3068960"/>
            <a:ext cx="6108314" cy="31414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40DC3E-0689-87B9-2317-7799DFC49C94}"/>
              </a:ext>
            </a:extLst>
          </p:cNvPr>
          <p:cNvSpPr txBox="1"/>
          <p:nvPr/>
        </p:nvSpPr>
        <p:spPr>
          <a:xfrm>
            <a:off x="8747167" y="4797152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X = 1.0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05CD0-B828-A721-138C-847AA8FFB2BC}"/>
              </a:ext>
            </a:extLst>
          </p:cNvPr>
          <p:cNvSpPr txBox="1"/>
          <p:nvPr/>
        </p:nvSpPr>
        <p:spPr>
          <a:xfrm>
            <a:off x="1800522" y="4797152"/>
            <a:ext cx="780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X = 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078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A1BE-5319-9B17-AC27-C21C5490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B05A11E-C51B-54E0-6AE8-D2470373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757F0F-DCD9-2DCB-6113-CB0A8074D20D}"/>
              </a:ext>
            </a:extLst>
          </p:cNvPr>
          <p:cNvSpPr/>
          <p:nvPr/>
        </p:nvSpPr>
        <p:spPr>
          <a:xfrm>
            <a:off x="765820" y="764704"/>
            <a:ext cx="10153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</a:t>
            </a:r>
            <a:r>
              <a:rPr lang="en-US" altLang="ko-KR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(Continuous Variables)</a:t>
            </a:r>
            <a:r>
              <a:rPr lang="ko-KR" altLang="en-US" sz="28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 변수</a:t>
            </a:r>
            <a:endParaRPr lang="en-US" altLang="ko-KR" sz="28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C16F32-1436-4987-9DBA-9A41EB3CF136}"/>
              </a:ext>
            </a:extLst>
          </p:cNvPr>
          <p:cNvSpPr/>
          <p:nvPr/>
        </p:nvSpPr>
        <p:spPr>
          <a:xfrm>
            <a:off x="765820" y="1480069"/>
            <a:ext cx="10813564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당신의 정확한 키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몸무게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나이 등 실수형 변수는 알 수가 없다</a:t>
            </a:r>
            <a:r>
              <a:rPr lang="en-US" altLang="ko-KR" sz="24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CC9085-109A-009A-A979-332B07FAB49A}"/>
              </a:ext>
            </a:extLst>
          </p:cNvPr>
          <p:cNvSpPr txBox="1"/>
          <p:nvPr/>
        </p:nvSpPr>
        <p:spPr>
          <a:xfrm>
            <a:off x="1845940" y="2492896"/>
            <a:ext cx="1238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X = 0.1</a:t>
            </a:r>
          </a:p>
          <a:p>
            <a:r>
              <a:rPr lang="en-US" altLang="ko-KR" sz="2400" dirty="0"/>
              <a:t>y = 0.2</a:t>
            </a:r>
          </a:p>
          <a:p>
            <a:r>
              <a:rPr lang="en-US" altLang="ko-KR" sz="2400" dirty="0"/>
              <a:t>Z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X</a:t>
            </a:r>
            <a:r>
              <a:rPr lang="ko-KR" altLang="en-US" sz="2400" dirty="0"/>
              <a:t> </a:t>
            </a:r>
            <a:r>
              <a:rPr lang="en-US" altLang="ko-KR" sz="2400" dirty="0"/>
              <a:t>+</a:t>
            </a:r>
            <a:r>
              <a:rPr lang="ko-KR" altLang="en-US" sz="2400" dirty="0"/>
              <a:t> </a:t>
            </a:r>
            <a:r>
              <a:rPr lang="en-US" altLang="ko-KR" sz="2400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57E4D-8854-5028-D6CD-1F0257DFA71A}"/>
              </a:ext>
            </a:extLst>
          </p:cNvPr>
          <p:cNvSpPr txBox="1"/>
          <p:nvPr/>
        </p:nvSpPr>
        <p:spPr>
          <a:xfrm>
            <a:off x="4822948" y="2564904"/>
            <a:ext cx="6096000" cy="73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2400" dirty="0"/>
              <a:t>print(0.1+0.2)</a:t>
            </a:r>
          </a:p>
          <a:p>
            <a:pPr>
              <a:lnSpc>
                <a:spcPts val="1575"/>
              </a:lnSpc>
              <a:buNone/>
            </a:pPr>
            <a:endParaRPr lang="en-US" altLang="ko-KR" sz="2400" dirty="0"/>
          </a:p>
          <a:p>
            <a:pPr>
              <a:lnSpc>
                <a:spcPts val="1575"/>
              </a:lnSpc>
              <a:buNone/>
            </a:pPr>
            <a:r>
              <a:rPr lang="en-US" altLang="ko-KR" sz="2400" dirty="0"/>
              <a:t># 0.30000000000000004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8AD78-BD84-025B-68E3-977E3020D467}"/>
              </a:ext>
            </a:extLst>
          </p:cNvPr>
          <p:cNvSpPr txBox="1"/>
          <p:nvPr/>
        </p:nvSpPr>
        <p:spPr>
          <a:xfrm>
            <a:off x="5492575" y="3410072"/>
            <a:ext cx="6096000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소수점 아래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번째 자리에서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튀어나온 것을 볼 수 있습니다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자리 근처에서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비트가 표현할 수 있는 한계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도달했음을 의미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10진수 0.3을 2진수로 변환하면 0.01001100110011...</a:t>
            </a:r>
            <a:r>
              <a:rPr lang="ko-KR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처럼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무한 순환 소수가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되어서</a:t>
            </a:r>
            <a:endParaRPr lang="ko-KR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395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이산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vs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연속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(Discrete vs Continuous Variables)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2996952"/>
            <a:ext cx="4128993" cy="30243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275" y="2980913"/>
            <a:ext cx="4438836" cy="30243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64" y="1988840"/>
            <a:ext cx="817247" cy="864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1752" y="1846455"/>
            <a:ext cx="6048672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시간과 나이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(age)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존재하고 관측할 수 있는가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분에 버스를 탈 확률은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57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7604-2327-5558-3C23-5FD763C9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902671-99DC-0704-3E05-870C0172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6FA2E-CCA4-9C6D-219C-3A10969775BC}"/>
              </a:ext>
            </a:extLst>
          </p:cNvPr>
          <p:cNvSpPr txBox="1"/>
          <p:nvPr/>
        </p:nvSpPr>
        <p:spPr>
          <a:xfrm>
            <a:off x="117747" y="260648"/>
            <a:ext cx="8617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이산 확률변수</a:t>
            </a:r>
            <a:r>
              <a:rPr lang="en-US" altLang="ko-KR" sz="3200" b="1" dirty="0"/>
              <a:t>(Discrete Random Variable)</a:t>
            </a:r>
            <a:endParaRPr lang="ko-KR" altLang="en-US" sz="3200" b="1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A0AA3B4A-A17D-3D7E-5AE2-8EDF1FCF3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" y="2498610"/>
            <a:ext cx="5395189" cy="404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CEAFFF4A-8D79-A378-369A-56B6E02C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499" y="2498610"/>
            <a:ext cx="5303537" cy="403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518F2-F2C5-B7F4-7D14-1EFF0BC5E3B6}"/>
              </a:ext>
            </a:extLst>
          </p:cNvPr>
          <p:cNvSpPr txBox="1"/>
          <p:nvPr/>
        </p:nvSpPr>
        <p:spPr>
          <a:xfrm>
            <a:off x="545028" y="1244332"/>
            <a:ext cx="11166008" cy="8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주사위의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합을 확률변수로 가정하여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확률질량함수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(Probability Mass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누적분포함수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(Cumulative Distribution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만들고 토론하자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68FED-814B-0837-726E-1CD03044A571}"/>
              </a:ext>
            </a:extLst>
          </p:cNvPr>
          <p:cNvSpPr txBox="1"/>
          <p:nvPr/>
        </p:nvSpPr>
        <p:spPr>
          <a:xfrm>
            <a:off x="1269876" y="2780928"/>
            <a:ext cx="151216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P(X=2) = 0.028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P(X=3) = 0.056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P(X=4) = 0.083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P(X=5) = 0.111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P(X=6) = 0.139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P(X=7) = 0.167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P(X=8) = 0.139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P(X=9) = 0.111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P(X=10) = 0.083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P(X=11) = 0.056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1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P(X=12) = 0.028</a:t>
            </a:r>
            <a:endParaRPr lang="ko-KR" altLang="en-US" sz="1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6035C-B9F4-DC4A-2764-D3E3D8BBA76B}"/>
              </a:ext>
            </a:extLst>
          </p:cNvPr>
          <p:cNvSpPr txBox="1"/>
          <p:nvPr/>
        </p:nvSpPr>
        <p:spPr>
          <a:xfrm>
            <a:off x="10157354" y="3854360"/>
            <a:ext cx="14171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2) = 0.028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3) = 0.083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4) = 0.167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5) = 0.278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6) = 0.417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7) = 0.583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8) = 0.722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9) = 0.833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10) = 0.917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11) = 0.972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ko-KR" sz="1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ko-KR" altLang="ko-KR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≤ 12) = 1.000</a:t>
            </a:r>
          </a:p>
        </p:txBody>
      </p:sp>
    </p:spTree>
    <p:extLst>
      <p:ext uri="{BB962C8B-B14F-4D97-AF65-F5344CB8AC3E}">
        <p14:creationId xmlns:p14="http://schemas.microsoft.com/office/powerpoint/2010/main" val="202053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B1FC-FA00-8A5B-93A2-45FA9014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44AA534-5EFE-9429-2F64-20D093C87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22" y="2420888"/>
            <a:ext cx="10824714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7D0911-F317-C20F-9ED7-4D63DC3E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6A8E8-F46D-B882-CD19-F702C4184415}"/>
              </a:ext>
            </a:extLst>
          </p:cNvPr>
          <p:cNvSpPr txBox="1"/>
          <p:nvPr/>
        </p:nvSpPr>
        <p:spPr>
          <a:xfrm>
            <a:off x="117748" y="260648"/>
            <a:ext cx="993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연속형 확률변수</a:t>
            </a:r>
            <a:r>
              <a:rPr lang="en-US" altLang="ko-KR" sz="3200" b="1" dirty="0"/>
              <a:t>(Continuous Random Variable)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684D3-3797-6450-5C1A-643E2674B164}"/>
              </a:ext>
            </a:extLst>
          </p:cNvPr>
          <p:cNvSpPr txBox="1"/>
          <p:nvPr/>
        </p:nvSpPr>
        <p:spPr>
          <a:xfrm>
            <a:off x="545028" y="1244332"/>
            <a:ext cx="1116600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sns.load_dataset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(“titanic“)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age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변수로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histogram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KDE=True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를 사용하여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확률밀도함수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(Probability density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누적분포함수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(Cumulative Distribution Function)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만들고 토론하자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639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E592-91C4-33F7-AABF-0D38957D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002C89-B43D-5CD1-AC62-40F09F0C9282}"/>
              </a:ext>
            </a:extLst>
          </p:cNvPr>
          <p:cNvSpPr/>
          <p:nvPr/>
        </p:nvSpPr>
        <p:spPr>
          <a:xfrm>
            <a:off x="598421" y="347423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B1ABEE2-B3AC-0D1F-5C46-5A166B81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CB671-6FA8-153A-D9F5-AFBE4E30AF40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340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이산형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</a:t>
            </a:r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기대값과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00168"/>
              </p:ext>
            </p:extLst>
          </p:nvPr>
        </p:nvGraphicFramePr>
        <p:xfrm>
          <a:off x="1557908" y="1916832"/>
          <a:ext cx="10153126" cy="1800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352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450447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461923300"/>
                    </a:ext>
                  </a:extLst>
                </a:gridCol>
                <a:gridCol w="1369863">
                  <a:extLst>
                    <a:ext uri="{9D8B030D-6E8A-4147-A177-3AD203B41FA5}">
                      <a16:colId xmlns:a16="http://schemas.microsoft.com/office/drawing/2014/main" val="744697576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1322659708"/>
                    </a:ext>
                  </a:extLst>
                </a:gridCol>
                <a:gridCol w="1369866">
                  <a:extLst>
                    <a:ext uri="{9D8B030D-6E8A-4147-A177-3AD203B41FA5}">
                      <a16:colId xmlns:a16="http://schemas.microsoft.com/office/drawing/2014/main" val="2261868981"/>
                    </a:ext>
                  </a:extLst>
                </a:gridCol>
              </a:tblGrid>
              <a:tr h="519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주사위 수자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24275"/>
                  </a:ext>
                </a:extLst>
              </a:tr>
              <a:tr h="4696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확률변수 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=1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=2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=3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=4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</a:t>
                      </a:r>
                      <a:r>
                        <a:rPr lang="en-US" altLang="ko-KR" sz="16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= 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0152"/>
                  </a:ext>
                </a:extLst>
              </a:tr>
              <a:tr h="811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(Probability)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=1)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=2)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P(X =3) =1/6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=4)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=5)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P(X =6)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39572"/>
                  </a:ext>
                </a:extLst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339" y="4091514"/>
            <a:ext cx="3067478" cy="237205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68" y="4091514"/>
            <a:ext cx="707806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연속형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평균과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34" y="2135306"/>
            <a:ext cx="2562583" cy="7716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406" y="3028888"/>
            <a:ext cx="5020376" cy="70494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255BAE0-71B0-460B-6D36-535DEC231007}"/>
              </a:ext>
            </a:extLst>
          </p:cNvPr>
          <p:cNvGrpSpPr/>
          <p:nvPr/>
        </p:nvGrpSpPr>
        <p:grpSpPr>
          <a:xfrm>
            <a:off x="827586" y="1212123"/>
            <a:ext cx="5744136" cy="5144228"/>
            <a:chOff x="795052" y="1916832"/>
            <a:chExt cx="4438836" cy="381642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052" y="2204864"/>
              <a:ext cx="4438836" cy="3024336"/>
            </a:xfrm>
            <a:prstGeom prst="rect">
              <a:avLst/>
            </a:prstGeom>
          </p:spPr>
        </p:pic>
        <p:cxnSp>
          <p:nvCxnSpPr>
            <p:cNvPr id="12" name="직선 연결선 11"/>
            <p:cNvCxnSpPr/>
            <p:nvPr/>
          </p:nvCxnSpPr>
          <p:spPr>
            <a:xfrm>
              <a:off x="2710428" y="1916832"/>
              <a:ext cx="0" cy="3816424"/>
            </a:xfrm>
            <a:prstGeom prst="line">
              <a:avLst/>
            </a:prstGeom>
            <a:ln w="127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3790156" y="1916832"/>
              <a:ext cx="0" cy="3816424"/>
            </a:xfrm>
            <a:prstGeom prst="line">
              <a:avLst/>
            </a:prstGeom>
            <a:ln w="12700">
              <a:solidFill>
                <a:srgbClr val="00206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2735595" y="5517232"/>
              <a:ext cx="100811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837828" y="5939988"/>
            <a:ext cx="587212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 latinLnBrk="1">
              <a:defRPr/>
            </a:pP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P(X &lt;= 185)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P(X &lt;= 135) = 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키가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135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</a:t>
            </a:r>
            <a:r>
              <a:rPr lang="en-US" altLang="ko-KR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185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이하인 확률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DB406-4AFF-BE7F-8019-A998F12969B0}"/>
              </a:ext>
            </a:extLst>
          </p:cNvPr>
          <p:cNvSpPr txBox="1"/>
          <p:nvPr/>
        </p:nvSpPr>
        <p:spPr>
          <a:xfrm>
            <a:off x="7081460" y="4288739"/>
            <a:ext cx="5094313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축의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Density(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확률밀도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확률의 의미인가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확률과 밀도는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다른가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밀도를 다 더하면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46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B0B1-AC43-276B-0D54-6930E968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7E9029-7CE6-C1E0-0D99-3327961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307B2-E487-A983-92DA-289CC6D0FD3B}"/>
              </a:ext>
            </a:extLst>
          </p:cNvPr>
          <p:cNvSpPr txBox="1"/>
          <p:nvPr/>
        </p:nvSpPr>
        <p:spPr>
          <a:xfrm>
            <a:off x="333771" y="989460"/>
            <a:ext cx="1137726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Histogram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bins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따라 이산적인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데이터의 분포 모양이 달라짐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연속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(Continuous)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데이터로 가정하여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Gaussian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KDE(Kernel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Density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적용하여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 무한한 실수에 대해 확률밀도를 예측함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0877-4248-8305-6897-65878F33FD87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히스토그램과</a:t>
            </a:r>
            <a:r>
              <a:rPr lang="en-US" altLang="ko-KR" sz="3200" b="1" dirty="0"/>
              <a:t> KDE</a:t>
            </a:r>
            <a:endParaRPr lang="ko-KR" altLang="en-US" sz="3200" b="1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D2C2A6F-AA51-181B-2EE7-B31827536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2" y="2286185"/>
            <a:ext cx="11321047" cy="37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9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4A9B-1D9E-9BEC-0C9D-41CFEB45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1BF237D-153C-A49F-C3D0-25C7655BE83A}"/>
              </a:ext>
            </a:extLst>
          </p:cNvPr>
          <p:cNvSpPr/>
          <p:nvPr/>
        </p:nvSpPr>
        <p:spPr>
          <a:xfrm>
            <a:off x="598421" y="412230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D1503E-938B-93E6-F7E1-D009295A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0C209-B81A-81D0-EC40-74FBAB65EE81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98991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sp>
        <p:nvSpPr>
          <p:cNvPr id="15" name="직사각형 14"/>
          <p:cNvSpPr/>
          <p:nvPr/>
        </p:nvSpPr>
        <p:spPr>
          <a:xfrm>
            <a:off x="765820" y="764704"/>
            <a:ext cx="1595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확률분포</a:t>
            </a:r>
            <a:endParaRPr lang="ko-KR" altLang="en-US" sz="28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4642D99-FBF5-AEFC-193D-20CA3131F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88832"/>
              </p:ext>
            </p:extLst>
          </p:nvPr>
        </p:nvGraphicFramePr>
        <p:xfrm>
          <a:off x="1794470" y="3212976"/>
          <a:ext cx="8599884" cy="274366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263180">
                  <a:extLst>
                    <a:ext uri="{9D8B030D-6E8A-4147-A177-3AD203B41FA5}">
                      <a16:colId xmlns:a16="http://schemas.microsoft.com/office/drawing/2014/main" val="2796709864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2134139185"/>
                    </a:ext>
                  </a:extLst>
                </a:gridCol>
              </a:tblGrid>
              <a:tr h="2586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확률분포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573821"/>
                  </a:ext>
                </a:extLst>
              </a:tr>
              <a:tr h="11668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이산 </a:t>
                      </a:r>
                      <a:r>
                        <a:rPr lang="en-US" altLang="ko-KR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Discrete)</a:t>
                      </a:r>
                      <a:endParaRPr 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베르누이분포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이항분포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기하분포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음이항분포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초기하분포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Poisson(</a:t>
                      </a:r>
                      <a:r>
                        <a:rPr lang="ko-KR" altLang="en-US" sz="1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포아송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617388"/>
                  </a:ext>
                </a:extLst>
              </a:tr>
              <a:tr h="11668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연속 </a:t>
                      </a:r>
                      <a:r>
                        <a:rPr lang="en-US" altLang="ko-KR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Continuous)</a:t>
                      </a:r>
                      <a:endParaRPr 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균일분포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카이제곱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t-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F-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분포 포함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지수분포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베타분포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감마분포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1823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60F45A2-DF52-7961-5A68-876CC4DB03F7}"/>
              </a:ext>
            </a:extLst>
          </p:cNvPr>
          <p:cNvSpPr/>
          <p:nvPr/>
        </p:nvSpPr>
        <p:spPr>
          <a:xfrm>
            <a:off x="765819" y="1345637"/>
            <a:ext cx="10945217" cy="157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표본의 확률분포를 안다는 것은 표본 그 자체를 넘어 표본을 통해 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이해하는 열쇠</a:t>
            </a:r>
            <a:endParaRPr lang="en-US" altLang="ko-KR" sz="17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표본의 데이터가 어떤 </a:t>
            </a:r>
            <a:r>
              <a:rPr lang="ko-KR" altLang="en-US" sz="1700" dirty="0" err="1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모수</a:t>
            </a:r>
            <a:r>
              <a:rPr lang="en-US" altLang="ko-KR" sz="17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(Parameter), </a:t>
            </a:r>
            <a:r>
              <a:rPr lang="ko-KR" altLang="en-US" sz="1700" dirty="0">
                <a:solidFill>
                  <a:srgbClr val="31313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예를 들어 정규분포라면 평균과 표준편차에 의해 정확히 식별 가능</a:t>
            </a:r>
            <a:endParaRPr lang="en-US" altLang="ko-KR" sz="1700" dirty="0">
              <a:solidFill>
                <a:srgbClr val="3131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확률분포를 알면 그 데이터를 통해 미래를 예측하거나 의사결정이 가능</a:t>
            </a:r>
            <a:endParaRPr lang="en-US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12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887028"/>
            <a:ext cx="8922255" cy="54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8" y="2685197"/>
            <a:ext cx="4969093" cy="31100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041" y="2685197"/>
            <a:ext cx="5112568" cy="320968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57053" y="1683061"/>
            <a:ext cx="60140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</a:t>
            </a:r>
            <a:r>
              <a:rPr lang="ko-KR" altLang="en-US" sz="1600" dirty="0">
                <a:latin typeface="Arial Narrow" panose="020B0606020202030204" pitchFamily="34" charset="0"/>
              </a:rPr>
              <a:t>번을 앞 면이 나올 회수는 </a:t>
            </a:r>
            <a:r>
              <a:rPr lang="en-US" altLang="ko-KR" sz="1600" dirty="0">
                <a:latin typeface="Arial Narrow" panose="020B0606020202030204" pitchFamily="34" charset="0"/>
              </a:rPr>
              <a:t>? 55, 45, 50 </a:t>
            </a:r>
            <a:r>
              <a:rPr lang="ko-KR" altLang="en-US" sz="1600" dirty="0">
                <a:latin typeface="Arial Narrow" panose="020B0606020202030204" pitchFamily="34" charset="0"/>
              </a:rPr>
              <a:t>등 글쎄 </a:t>
            </a:r>
            <a:r>
              <a:rPr lang="ko-KR" altLang="en-US" sz="1600" dirty="0" err="1">
                <a:latin typeface="Arial Narrow" panose="020B0606020202030204" pitchFamily="34" charset="0"/>
              </a:rPr>
              <a:t>케박</a:t>
            </a:r>
            <a:endParaRPr lang="en-US" altLang="ko-KR" sz="1600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</a:t>
            </a:r>
            <a:r>
              <a:rPr lang="ko-KR" altLang="en-US" sz="1600" dirty="0">
                <a:latin typeface="Arial Narrow" panose="020B0606020202030204" pitchFamily="34" charset="0"/>
              </a:rPr>
              <a:t>번을 던져서 앞면</a:t>
            </a:r>
            <a:r>
              <a:rPr lang="en-US" altLang="ko-KR" sz="1600" dirty="0">
                <a:latin typeface="Arial Narrow" panose="020B0606020202030204" pitchFamily="34" charset="0"/>
              </a:rPr>
              <a:t>(</a:t>
            </a:r>
            <a:r>
              <a:rPr lang="ko-KR" altLang="en-US" sz="1600" dirty="0">
                <a:latin typeface="Arial Narrow" panose="020B0606020202030204" pitchFamily="34" charset="0"/>
              </a:rPr>
              <a:t>성공확률</a:t>
            </a:r>
            <a:r>
              <a:rPr lang="en-US" altLang="ko-KR" sz="1600" dirty="0">
                <a:latin typeface="Arial Narrow" panose="020B0606020202030204" pitchFamily="34" charset="0"/>
              </a:rPr>
              <a:t>(0.5))</a:t>
            </a:r>
            <a:r>
              <a:rPr lang="ko-KR" altLang="en-US" sz="1600" dirty="0">
                <a:latin typeface="Arial Narrow" panose="020B0606020202030204" pitchFamily="34" charset="0"/>
              </a:rPr>
              <a:t>이 나올 횟수</a:t>
            </a:r>
            <a:r>
              <a:rPr lang="en-US" altLang="ko-KR" sz="1600" dirty="0">
                <a:latin typeface="Arial Narrow" panose="020B0606020202030204" pitchFamily="34" charset="0"/>
              </a:rPr>
              <a:t>, </a:t>
            </a:r>
            <a:r>
              <a:rPr lang="ko-KR" altLang="en-US" sz="1600" dirty="0">
                <a:latin typeface="Arial Narrow" panose="020B0606020202030204" pitchFamily="34" charset="0"/>
              </a:rPr>
              <a:t>이 시행을 </a:t>
            </a:r>
            <a:r>
              <a:rPr lang="en-US" altLang="ko-KR" sz="1600" dirty="0">
                <a:latin typeface="Arial Narrow" panose="020B0606020202030204" pitchFamily="34" charset="0"/>
              </a:rPr>
              <a:t>10000</a:t>
            </a:r>
            <a:r>
              <a:rPr lang="ko-KR" altLang="en-US" sz="1600" dirty="0">
                <a:latin typeface="Arial Narrow" panose="020B0606020202030204" pitchFamily="34" charset="0"/>
              </a:rPr>
              <a:t>번 수행 해서 빈도를 보면 되겠네</a:t>
            </a:r>
            <a:r>
              <a:rPr lang="en-US" altLang="ko-KR" sz="1600" dirty="0">
                <a:latin typeface="Arial Narrow" panose="020B0606020202030204" pitchFamily="34" charset="0"/>
              </a:rPr>
              <a:t>.</a:t>
            </a:r>
            <a:endParaRPr lang="ko-KR" altLang="en-US" sz="1600" b="0" dirty="0">
              <a:effectLst/>
              <a:latin typeface="Arial Narrow" panose="020B060602020203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1764" y="1760006"/>
            <a:ext cx="49743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1000</a:t>
            </a:r>
            <a:r>
              <a:rPr lang="ko-KR" altLang="en-US" sz="1600" dirty="0">
                <a:latin typeface="Arial Narrow" panose="020B0606020202030204" pitchFamily="34" charset="0"/>
              </a:rPr>
              <a:t>번 던져 앞면과 뒷면이 나온 회수</a:t>
            </a:r>
            <a:r>
              <a:rPr lang="en-US" altLang="ko-KR" sz="1600" dirty="0">
                <a:latin typeface="Arial Narrow" panose="020B0606020202030204" pitchFamily="34" charset="0"/>
              </a:rPr>
              <a:t>(</a:t>
            </a:r>
            <a:r>
              <a:rPr lang="ko-KR" altLang="en-US" sz="1600" dirty="0">
                <a:latin typeface="Arial Narrow" panose="020B0606020202030204" pitchFamily="34" charset="0"/>
              </a:rPr>
              <a:t>도수</a:t>
            </a:r>
            <a:r>
              <a:rPr lang="en-US" altLang="ko-KR" sz="1600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57053" y="692317"/>
            <a:ext cx="2576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이항 분포</a:t>
            </a:r>
            <a:endParaRPr lang="en-US" altLang="ko-KR" sz="2000" b="1" dirty="0">
              <a:solidFill>
                <a:srgbClr val="212121"/>
              </a:solidFill>
              <a:latin typeface="Roboto"/>
            </a:endParaRPr>
          </a:p>
          <a:p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Binomial distribution</a:t>
            </a:r>
            <a:endParaRPr lang="en-US" altLang="ko-KR" sz="2000" b="1" i="0" dirty="0">
              <a:solidFill>
                <a:srgbClr val="212121"/>
              </a:solidFill>
              <a:effectLst/>
              <a:latin typeface="Roboto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5780" y="692696"/>
            <a:ext cx="25859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베르누이</a:t>
            </a:r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 </a:t>
            </a:r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시행</a:t>
            </a:r>
            <a:endParaRPr lang="en-US" altLang="ko-KR" sz="2000" b="1" dirty="0">
              <a:solidFill>
                <a:srgbClr val="212121"/>
              </a:solidFill>
              <a:latin typeface="Roboto"/>
            </a:endParaRPr>
          </a:p>
          <a:p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Bernoulli distribution</a:t>
            </a:r>
            <a:endParaRPr lang="en-US" altLang="ko-KR" sz="2000" b="1" i="0" dirty="0">
              <a:solidFill>
                <a:srgbClr val="212121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075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2AAA-395D-04DF-EB0A-F9B81D0F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92229D-EE16-1E5B-90DF-46FC56A0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CDE1B-C06C-0D19-2BBA-24EDD1B3F8FA}"/>
              </a:ext>
            </a:extLst>
          </p:cNvPr>
          <p:cNvSpPr txBox="1"/>
          <p:nvPr/>
        </p:nvSpPr>
        <p:spPr>
          <a:xfrm>
            <a:off x="765820" y="1196752"/>
            <a:ext cx="11233248" cy="151220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동전을 던져서 베르누이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시행과 이항분포</a:t>
            </a:r>
            <a:r>
              <a:rPr lang="en-US" altLang="ko-KR" sz="1600" dirty="0">
                <a:latin typeface="+mj-ea"/>
                <a:ea typeface="+mj-ea"/>
              </a:rPr>
              <a:t>(N=10</a:t>
            </a:r>
            <a:r>
              <a:rPr lang="ko-KR" altLang="en-US" sz="1600" dirty="0">
                <a:latin typeface="+mj-ea"/>
                <a:ea typeface="+mj-ea"/>
              </a:rPr>
              <a:t>화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를 파이썬 코드로 만들고 시각화하자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이항분포의 횟수를 </a:t>
            </a:r>
            <a:r>
              <a:rPr lang="en-US" altLang="ko-KR" sz="1600" dirty="0">
                <a:latin typeface="+mj-ea"/>
                <a:ea typeface="+mj-ea"/>
              </a:rPr>
              <a:t>100</a:t>
            </a:r>
            <a:r>
              <a:rPr lang="ko-KR" altLang="en-US" sz="1600" dirty="0">
                <a:latin typeface="+mj-ea"/>
                <a:ea typeface="+mj-ea"/>
              </a:rPr>
              <a:t>번 실험하면 어떤 그래프 모양이 되는지 토론하라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</a:rPr>
              <a:t>from </a:t>
            </a:r>
            <a:r>
              <a:rPr lang="en-US" altLang="ko-KR" sz="1400" dirty="0" err="1">
                <a:latin typeface="+mj-ea"/>
                <a:ea typeface="+mj-ea"/>
              </a:rPr>
              <a:t>scipy.stats</a:t>
            </a:r>
            <a:r>
              <a:rPr lang="en-US" altLang="ko-KR" sz="1400" dirty="0">
                <a:latin typeface="+mj-ea"/>
                <a:ea typeface="+mj-ea"/>
              </a:rPr>
              <a:t> import </a:t>
            </a:r>
            <a:r>
              <a:rPr lang="en-US" altLang="ko-KR" sz="1400" dirty="0" err="1">
                <a:latin typeface="+mj-ea"/>
                <a:ea typeface="+mj-ea"/>
              </a:rPr>
              <a:t>binom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bernoulli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모듈을 사용하여 코딩과 시각화를 하라</a:t>
            </a: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동전의 찌그러져 있다면 앞면이 나올 확률이 </a:t>
            </a:r>
            <a:r>
              <a:rPr lang="en-US" altLang="ko-KR" sz="1600" dirty="0">
                <a:latin typeface="+mj-ea"/>
                <a:ea typeface="+mj-ea"/>
              </a:rPr>
              <a:t>0.7</a:t>
            </a:r>
            <a:r>
              <a:rPr lang="ko-KR" altLang="en-US" sz="1600" dirty="0">
                <a:latin typeface="+mj-ea"/>
                <a:ea typeface="+mj-ea"/>
              </a:rPr>
              <a:t>이고 뒷면은 </a:t>
            </a:r>
            <a:r>
              <a:rPr lang="en-US" altLang="ko-KR" sz="1600" dirty="0">
                <a:latin typeface="+mj-ea"/>
                <a:ea typeface="+mj-ea"/>
              </a:rPr>
              <a:t>0.3</a:t>
            </a:r>
            <a:r>
              <a:rPr lang="ko-KR" altLang="en-US" sz="1600" dirty="0" err="1">
                <a:latin typeface="+mj-ea"/>
                <a:ea typeface="+mj-ea"/>
              </a:rPr>
              <a:t>인경우</a:t>
            </a:r>
            <a:r>
              <a:rPr lang="ko-KR" altLang="en-US" sz="1600" dirty="0">
                <a:latin typeface="+mj-ea"/>
                <a:ea typeface="+mj-ea"/>
              </a:rPr>
              <a:t> 베르누이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이항분포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정규분포를 만들라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F8CBB-401C-02EA-2D8A-3655A2CB4CF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611C94A-5849-A344-CF5A-DADF35BD6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20" y="3140968"/>
            <a:ext cx="11233248" cy="30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360235"/>
            <a:ext cx="8660268" cy="59961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4200" y="357204"/>
            <a:ext cx="1287365" cy="1602133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133972" y="3096683"/>
            <a:ext cx="25939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Gaussian distribution(</a:t>
            </a:r>
            <a:r>
              <a:rPr lang="ko-KR" altLang="en-US" sz="1100" b="1" i="1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가우시안</a:t>
            </a:r>
            <a:r>
              <a:rPr lang="ko-KR" altLang="en-US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분포</a:t>
            </a:r>
            <a:r>
              <a:rPr lang="en-US" altLang="ko-KR" sz="1100" b="1" i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61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102524" y="959587"/>
            <a:ext cx="2736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/>
              <a:t> </a:t>
            </a:r>
            <a:r>
              <a:rPr lang="en-US" altLang="ko-KR" sz="2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GALTON BOARD</a:t>
            </a:r>
            <a:r>
              <a:rPr lang="ko-KR" altLang="en-US" sz="2000" b="1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296" y="1480432"/>
            <a:ext cx="3820058" cy="50584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6DBC183-847F-AA14-7A37-BEF6DF137A1F}"/>
              </a:ext>
            </a:extLst>
          </p:cNvPr>
          <p:cNvSpPr/>
          <p:nvPr/>
        </p:nvSpPr>
        <p:spPr>
          <a:xfrm>
            <a:off x="261764" y="1760006"/>
            <a:ext cx="5832648" cy="1490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Arial Narrow" panose="020B0606020202030204" pitchFamily="34" charset="0"/>
              </a:rPr>
              <a:t>동영상에서 떨어지는 구슬</a:t>
            </a:r>
            <a:r>
              <a:rPr lang="en-US" altLang="ko-KR" sz="1600" b="1" dirty="0">
                <a:latin typeface="Arial Narrow" panose="020B0606020202030204" pitchFamily="34" charset="0"/>
              </a:rPr>
              <a:t>,</a:t>
            </a:r>
            <a:r>
              <a:rPr lang="ko-KR" altLang="en-US" sz="1600" b="1" dirty="0">
                <a:latin typeface="Arial Narrow" panose="020B0606020202030204" pitchFamily="34" charset="0"/>
              </a:rPr>
              <a:t> 고정된 구슬과 각 </a:t>
            </a:r>
            <a:r>
              <a:rPr lang="en-US" altLang="ko-KR" sz="1600" b="1" dirty="0">
                <a:latin typeface="Arial Narrow" panose="020B0606020202030204" pitchFamily="34" charset="0"/>
              </a:rPr>
              <a:t>Layer</a:t>
            </a:r>
            <a:r>
              <a:rPr lang="ko-KR" altLang="en-US" sz="1600" b="1" dirty="0">
                <a:latin typeface="Arial Narrow" panose="020B0606020202030204" pitchFamily="34" charset="0"/>
              </a:rPr>
              <a:t>의 의미를 설명하라</a:t>
            </a:r>
            <a:endParaRPr lang="en-US" altLang="ko-KR" sz="1600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Arial Narrow" panose="020B0606020202030204" pitchFamily="34" charset="0"/>
              </a:rPr>
              <a:t>베르누이</a:t>
            </a:r>
            <a:r>
              <a:rPr lang="en-US" altLang="ko-KR" sz="1600" b="1" dirty="0">
                <a:latin typeface="Arial Narrow" panose="020B0606020202030204" pitchFamily="34" charset="0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</a:rPr>
              <a:t>이항분포</a:t>
            </a:r>
            <a:r>
              <a:rPr lang="en-US" altLang="ko-KR" sz="1600" b="1" dirty="0">
                <a:latin typeface="Arial Narrow" panose="020B0606020202030204" pitchFamily="34" charset="0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</a:rPr>
              <a:t>정규분포를 그림에서 설명하라</a:t>
            </a:r>
            <a:endParaRPr lang="en-US" altLang="ko-KR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5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277C-B59B-CF94-9FF4-C63DC4AE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0668DA3-DFBF-0862-F6CE-A061D146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5BCF6-C520-CBBD-FA85-6EBD5619CAE6}"/>
              </a:ext>
            </a:extLst>
          </p:cNvPr>
          <p:cNvSpPr txBox="1"/>
          <p:nvPr/>
        </p:nvSpPr>
        <p:spPr>
          <a:xfrm>
            <a:off x="485793" y="2065088"/>
            <a:ext cx="2876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geogebra_Galton</a:t>
            </a:r>
            <a:r>
              <a:rPr lang="en-US" altLang="ko-KR" sz="16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Board</a:t>
            </a:r>
            <a:endParaRPr lang="ko-KR" altLang="en-US" sz="16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B8CA67-0689-B3B2-BC44-161899058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96" y="2492896"/>
            <a:ext cx="4248472" cy="37195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0172FC-9D4E-FA46-6142-945B3B8D4296}"/>
              </a:ext>
            </a:extLst>
          </p:cNvPr>
          <p:cNvSpPr txBox="1"/>
          <p:nvPr/>
        </p:nvSpPr>
        <p:spPr>
          <a:xfrm>
            <a:off x="483969" y="990607"/>
            <a:ext cx="11508916" cy="78335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동전던지기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실험으로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설명하고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 던지기 실험을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1490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수행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시각화하는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코드를 제시하라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동전을 한꺼번에 던지기 실험을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149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수행하고 그 합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(H:1, T:-1)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차감하는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실험과 동일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4E198F2-1890-5CC6-BFDE-0DB08DC4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340" y="2492896"/>
            <a:ext cx="5413592" cy="366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6801BA-2725-9BA4-409C-426A6AF9CCEC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2367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544D-6B52-407A-3C50-AA730AD3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071C10-5F52-BBAE-A6FC-685EA26F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9FF561-0C8D-72AB-7311-E059B5B9E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672064"/>
            <a:ext cx="8150502" cy="570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6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2" y="1196752"/>
            <a:ext cx="9939333" cy="39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9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2105444"/>
            <a:ext cx="10081120" cy="42509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91227" y="1537628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latin typeface="+mj-ea"/>
                <a:ea typeface="+mj-ea"/>
              </a:rPr>
              <a:t>원자료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en-US" altLang="ko-KR" sz="1400" dirty="0" err="1">
                <a:latin typeface="+mj-ea"/>
                <a:ea typeface="+mj-ea"/>
              </a:rPr>
              <a:t>Orignal</a:t>
            </a:r>
            <a:r>
              <a:rPr lang="en-US" altLang="ko-KR" sz="1400" dirty="0">
                <a:latin typeface="+mj-ea"/>
                <a:ea typeface="+mj-ea"/>
              </a:rPr>
              <a:t> Data)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9603" y="1537628"/>
            <a:ext cx="1715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평균중심화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(Mean Centering)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23014" y="1537628"/>
            <a:ext cx="1686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표준화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(Standardization)</a:t>
            </a:r>
            <a:endParaRPr lang="ko-KR" altLang="en-US" sz="1400" dirty="0">
              <a:latin typeface="+mj-ea"/>
              <a:ea typeface="+mj-ea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006180" y="1870488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7678588" y="1860793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80EF7-C7C9-069B-B8B2-92D4E34B8356}"/>
                  </a:ext>
                </a:extLst>
              </p:cNvPr>
              <p:cNvSpPr txBox="1"/>
              <p:nvPr/>
            </p:nvSpPr>
            <p:spPr>
              <a:xfrm>
                <a:off x="8728619" y="3454025"/>
                <a:ext cx="2244612" cy="10143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b="1" i="1" smtClean="0"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𝒁</m:t>
                      </m:r>
                      <m:r>
                        <a:rPr lang="en-US" altLang="ko-KR" sz="3200" b="1" i="1" smtClean="0"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32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32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𝑿</m:t>
                          </m:r>
                          <m:r>
                            <a:rPr lang="en-US" altLang="ko-KR" sz="32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 </m:t>
                          </m:r>
                          <m:r>
                            <a:rPr lang="ko-KR" altLang="en-US" sz="32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𝝁</m:t>
                          </m:r>
                        </m:num>
                        <m:den>
                          <m:r>
                            <a:rPr lang="ko-KR" altLang="en-US" sz="3200" b="1" i="1" smtClean="0"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ko-KR" altLang="en-US" sz="3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80EF7-C7C9-069B-B8B2-92D4E34B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619" y="3454025"/>
                <a:ext cx="2244612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9B7F199-243F-FB77-27CA-BD6E566F6563}"/>
              </a:ext>
            </a:extLst>
          </p:cNvPr>
          <p:cNvSpPr txBox="1"/>
          <p:nvPr/>
        </p:nvSpPr>
        <p:spPr>
          <a:xfrm>
            <a:off x="693812" y="1050968"/>
            <a:ext cx="11233248" cy="41402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원자료를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Z-scores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변경하는 이유와 그 의미는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통계학적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토론하자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ED210D-26A6-52A0-9E74-18213BC7D1F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28155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32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60" y="1340768"/>
            <a:ext cx="10224283" cy="43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6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916832"/>
            <a:ext cx="4777171" cy="32755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476" y="1916832"/>
            <a:ext cx="4799254" cy="3312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9996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정규분포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8559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표준정규분포</a:t>
            </a:r>
          </a:p>
        </p:txBody>
      </p:sp>
    </p:spTree>
    <p:extLst>
      <p:ext uri="{BB962C8B-B14F-4D97-AF65-F5344CB8AC3E}">
        <p14:creationId xmlns:p14="http://schemas.microsoft.com/office/powerpoint/2010/main" val="72694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34</a:t>
            </a:fld>
            <a:endParaRPr lang="en-US" altLang="ko-KR" noProof="0" dirty="0"/>
          </a:p>
        </p:txBody>
      </p:sp>
      <p:sp>
        <p:nvSpPr>
          <p:cNvPr id="2" name="AutoShape 2" descr="namu 정규분포 그래프">
            <a:extLst>
              <a:ext uri="{FF2B5EF4-FFF2-40B4-BE49-F238E27FC236}">
                <a16:creationId xmlns:a16="http://schemas.microsoft.com/office/drawing/2014/main" id="{8100E4F9-58BE-FCDF-9643-B898BB4E30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174" name="Picture 6" descr="Standard Normal Distribution">
            <a:extLst>
              <a:ext uri="{FF2B5EF4-FFF2-40B4-BE49-F238E27FC236}">
                <a16:creationId xmlns:a16="http://schemas.microsoft.com/office/drawing/2014/main" id="{82401BFB-7A59-70FB-BD39-42358B1AC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78" y="2890345"/>
            <a:ext cx="4854782" cy="323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C1574A-2083-149D-1617-DD49A96F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679" y="484060"/>
            <a:ext cx="5327146" cy="63739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CB29F6-7ACB-719E-0596-580275F16440}"/>
              </a:ext>
            </a:extLst>
          </p:cNvPr>
          <p:cNvSpPr txBox="1"/>
          <p:nvPr/>
        </p:nvSpPr>
        <p:spPr>
          <a:xfrm>
            <a:off x="6477252" y="1774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 err="1"/>
              <a:t>standard</a:t>
            </a:r>
            <a:r>
              <a:rPr lang="ko-KR" altLang="en-US" b="1" dirty="0"/>
              <a:t> </a:t>
            </a:r>
            <a:r>
              <a:rPr lang="ko-KR" altLang="en-US" b="1" dirty="0" err="1"/>
              <a:t>normal</a:t>
            </a:r>
            <a:r>
              <a:rPr lang="ko-KR" altLang="en-US" b="1" dirty="0"/>
              <a:t> </a:t>
            </a:r>
            <a:r>
              <a:rPr lang="ko-KR" altLang="en-US" b="1" dirty="0" err="1"/>
              <a:t>distribution</a:t>
            </a:r>
            <a:r>
              <a:rPr lang="ko-KR" altLang="en-US" b="1" dirty="0"/>
              <a:t> </a:t>
            </a:r>
            <a:r>
              <a:rPr lang="ko-KR" altLang="en-US" b="1" dirty="0" err="1"/>
              <a:t>table</a:t>
            </a:r>
            <a:endParaRPr lang="ko-KR" altLang="en-US" b="1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FACC713-7FA0-ABC7-F8CA-F0B2DB15739A}"/>
              </a:ext>
            </a:extLst>
          </p:cNvPr>
          <p:cNvSpPr/>
          <p:nvPr/>
        </p:nvSpPr>
        <p:spPr>
          <a:xfrm>
            <a:off x="10126860" y="3720770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A1B3D4-D3D4-6B5C-4612-B770DE9C11DE}"/>
                  </a:ext>
                </a:extLst>
              </p:cNvPr>
              <p:cNvSpPr txBox="1"/>
              <p:nvPr/>
            </p:nvSpPr>
            <p:spPr>
              <a:xfrm>
                <a:off x="9142707" y="4185441"/>
                <a:ext cx="25922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≤1.96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1.96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A1B3D4-D3D4-6B5C-4612-B770DE9C1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07" y="4185441"/>
                <a:ext cx="259228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FC89BCD-6C21-5ECB-89E6-59709A64FC25}"/>
              </a:ext>
            </a:extLst>
          </p:cNvPr>
          <p:cNvCxnSpPr/>
          <p:nvPr/>
        </p:nvCxnSpPr>
        <p:spPr>
          <a:xfrm flipH="1">
            <a:off x="7246540" y="3933056"/>
            <a:ext cx="2736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04C4712-AA68-E9EE-D006-FC3D93D2993D}"/>
              </a:ext>
            </a:extLst>
          </p:cNvPr>
          <p:cNvCxnSpPr>
            <a:cxnSpLocks/>
          </p:cNvCxnSpPr>
          <p:nvPr/>
        </p:nvCxnSpPr>
        <p:spPr>
          <a:xfrm flipV="1">
            <a:off x="10367271" y="692696"/>
            <a:ext cx="39237" cy="29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B02AE6-46A6-5020-40D1-1E60870D98C0}"/>
                  </a:ext>
                </a:extLst>
              </p:cNvPr>
              <p:cNvSpPr txBox="1"/>
              <p:nvPr/>
            </p:nvSpPr>
            <p:spPr>
              <a:xfrm>
                <a:off x="483968" y="990607"/>
                <a:ext cx="6258515" cy="949042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어떤 데이터의 표준화된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𝑍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휴먼모음T" panose="0203050400010101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𝑋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− </m:t>
                        </m:r>
                        <m:r>
                          <a:rPr lang="ko-KR" altLang="en-US" sz="1600" b="0" i="1" smtClean="0"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𝜇</m:t>
                        </m:r>
                      </m:num>
                      <m:den>
                        <m:r>
                          <a:rPr lang="ko-KR" altLang="en-US" sz="1600" i="1" smtClean="0"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값이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이면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−1&lt;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=0.68</m:t>
                    </m:r>
                  </m:oMath>
                </a14:m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인 산술식을 이해하고 설명하라  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B02AE6-46A6-5020-40D1-1E60870D9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68" y="990607"/>
                <a:ext cx="6258515" cy="949042"/>
              </a:xfrm>
              <a:prstGeom prst="rect">
                <a:avLst/>
              </a:prstGeom>
              <a:blipFill>
                <a:blip r:embed="rId6"/>
                <a:stretch>
                  <a:fillRect l="-389" b="-6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2C4836A-363B-11F9-5002-2DA2D7F3C95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597CAF6-839B-7F4C-3067-42DA45AD904F}"/>
              </a:ext>
            </a:extLst>
          </p:cNvPr>
          <p:cNvSpPr/>
          <p:nvPr/>
        </p:nvSpPr>
        <p:spPr>
          <a:xfrm>
            <a:off x="7102524" y="2276872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9B15FF4-9AE2-8A1A-3F82-DF0E73243719}"/>
              </a:ext>
            </a:extLst>
          </p:cNvPr>
          <p:cNvSpPr/>
          <p:nvPr/>
        </p:nvSpPr>
        <p:spPr>
          <a:xfrm>
            <a:off x="7102524" y="3933056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EA42150-85FC-C96F-AAC1-8B2E16B5C0BF}"/>
              </a:ext>
            </a:extLst>
          </p:cNvPr>
          <p:cNvSpPr/>
          <p:nvPr/>
        </p:nvSpPr>
        <p:spPr>
          <a:xfrm>
            <a:off x="7102524" y="5589240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76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BB66-69EF-A0B0-CBB9-B8822DC6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B03CD8A-A2C1-2814-4DDD-57270813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35</a:t>
            </a:fld>
            <a:endParaRPr lang="en-US" altLang="ko-KR" noProof="0" dirty="0"/>
          </a:p>
        </p:txBody>
      </p:sp>
      <p:sp>
        <p:nvSpPr>
          <p:cNvPr id="2" name="AutoShape 2" descr="namu 정규분포 그래프">
            <a:extLst>
              <a:ext uri="{FF2B5EF4-FFF2-40B4-BE49-F238E27FC236}">
                <a16:creationId xmlns:a16="http://schemas.microsoft.com/office/drawing/2014/main" id="{E2BBECC8-1644-5C11-38E1-11E3B85264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70824B-4E91-6CD9-FE15-635BDB48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79" y="484060"/>
            <a:ext cx="5327146" cy="63739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1D2276-B0DE-1FEA-9BAD-667D0986E51C}"/>
              </a:ext>
            </a:extLst>
          </p:cNvPr>
          <p:cNvSpPr txBox="1"/>
          <p:nvPr/>
        </p:nvSpPr>
        <p:spPr>
          <a:xfrm>
            <a:off x="6477252" y="1774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 err="1"/>
              <a:t>standard</a:t>
            </a:r>
            <a:r>
              <a:rPr lang="ko-KR" altLang="en-US" b="1" dirty="0"/>
              <a:t> </a:t>
            </a:r>
            <a:r>
              <a:rPr lang="ko-KR" altLang="en-US" b="1" dirty="0" err="1"/>
              <a:t>normal</a:t>
            </a:r>
            <a:r>
              <a:rPr lang="ko-KR" altLang="en-US" b="1" dirty="0"/>
              <a:t> </a:t>
            </a:r>
            <a:r>
              <a:rPr lang="ko-KR" altLang="en-US" b="1" dirty="0" err="1"/>
              <a:t>distribution</a:t>
            </a:r>
            <a:r>
              <a:rPr lang="ko-KR" altLang="en-US" b="1" dirty="0"/>
              <a:t> </a:t>
            </a:r>
            <a:r>
              <a:rPr lang="ko-KR" altLang="en-US" b="1" dirty="0" err="1"/>
              <a:t>table</a:t>
            </a:r>
            <a:endParaRPr lang="ko-KR" altLang="en-US" b="1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48B7CC-F5C2-AD32-7DDC-440B77951C50}"/>
              </a:ext>
            </a:extLst>
          </p:cNvPr>
          <p:cNvSpPr/>
          <p:nvPr/>
        </p:nvSpPr>
        <p:spPr>
          <a:xfrm>
            <a:off x="10126860" y="3720770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601C4D-4150-EB00-AE52-61411ACE9B72}"/>
                  </a:ext>
                </a:extLst>
              </p:cNvPr>
              <p:cNvSpPr txBox="1"/>
              <p:nvPr/>
            </p:nvSpPr>
            <p:spPr>
              <a:xfrm>
                <a:off x="9142707" y="4185441"/>
                <a:ext cx="259228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≤1.96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1.96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601C4D-4150-EB00-AE52-61411ACE9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07" y="4185441"/>
                <a:ext cx="259228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05E99C9-D22D-2547-249E-3016BA342003}"/>
              </a:ext>
            </a:extLst>
          </p:cNvPr>
          <p:cNvCxnSpPr/>
          <p:nvPr/>
        </p:nvCxnSpPr>
        <p:spPr>
          <a:xfrm flipH="1">
            <a:off x="7246540" y="3933056"/>
            <a:ext cx="2736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B12B65B-0ACE-52B9-B78C-5AFCDFF01D22}"/>
              </a:ext>
            </a:extLst>
          </p:cNvPr>
          <p:cNvCxnSpPr>
            <a:cxnSpLocks/>
          </p:cNvCxnSpPr>
          <p:nvPr/>
        </p:nvCxnSpPr>
        <p:spPr>
          <a:xfrm flipV="1">
            <a:off x="10367271" y="692696"/>
            <a:ext cx="39237" cy="29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2FD785-6796-661F-D46F-BCC1B453FD18}"/>
                  </a:ext>
                </a:extLst>
              </p:cNvPr>
              <p:cNvSpPr txBox="1"/>
              <p:nvPr/>
            </p:nvSpPr>
            <p:spPr>
              <a:xfrm>
                <a:off x="493922" y="1553588"/>
                <a:ext cx="5796645" cy="424668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−1.96&lt;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≤1.96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인 산술식을 이해하고 설명하라  </a:t>
                </a:r>
                <a:endPara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2FD785-6796-661F-D46F-BCC1B453F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22" y="1553588"/>
                <a:ext cx="5796645" cy="424668"/>
              </a:xfrm>
              <a:prstGeom prst="rect">
                <a:avLst/>
              </a:prstGeom>
              <a:blipFill>
                <a:blip r:embed="rId5"/>
                <a:stretch>
                  <a:fillRect l="-421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AAB855E-575E-D648-5CC0-2E0387CC21B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6B003E2-1A6B-4E35-2F3B-5C9315D77702}"/>
              </a:ext>
            </a:extLst>
          </p:cNvPr>
          <p:cNvSpPr/>
          <p:nvPr/>
        </p:nvSpPr>
        <p:spPr>
          <a:xfrm>
            <a:off x="7102524" y="2276872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3658AF1-E681-8C43-D20D-C398BB55CAEA}"/>
              </a:ext>
            </a:extLst>
          </p:cNvPr>
          <p:cNvSpPr/>
          <p:nvPr/>
        </p:nvSpPr>
        <p:spPr>
          <a:xfrm>
            <a:off x="7102524" y="3933056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D58422C-3A6E-F979-ED32-E899B09E0636}"/>
              </a:ext>
            </a:extLst>
          </p:cNvPr>
          <p:cNvSpPr/>
          <p:nvPr/>
        </p:nvSpPr>
        <p:spPr>
          <a:xfrm>
            <a:off x="7102524" y="5589240"/>
            <a:ext cx="576064" cy="330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18" name="Picture 2" descr="N(0,1) 95% cutoff values">
            <a:extLst>
              <a:ext uri="{FF2B5EF4-FFF2-40B4-BE49-F238E27FC236}">
                <a16:creationId xmlns:a16="http://schemas.microsoft.com/office/drawing/2014/main" id="{06CE734A-97FB-EA9D-812F-1548FAB0A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68" y="2555025"/>
            <a:ext cx="579664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55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36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404664"/>
            <a:ext cx="8611871" cy="60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FE3-9249-75D6-3038-AC8C61D6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FA40D8-ACB6-10D4-2522-32F773F1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1E131-6EC6-9AF6-8EE4-8FA35B3A69F2}"/>
              </a:ext>
            </a:extLst>
          </p:cNvPr>
          <p:cNvSpPr txBox="1"/>
          <p:nvPr/>
        </p:nvSpPr>
        <p:spPr>
          <a:xfrm>
            <a:off x="261764" y="1268760"/>
            <a:ext cx="6048672" cy="426123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초나라 양춘백설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陽春白雪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Distribution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주변의 실제 상황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유튜브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 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예를 들어라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아래 내용을 파이썬 코드로 모의실험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(simulation)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하여 설명하라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1️⃣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유튜브 조회수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시뮬레이션</a:t>
            </a:r>
            <a:b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2️⃣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부의 불평등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(Pareto 80/20)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 실험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(Pareto distribution)</a:t>
            </a:r>
            <a:b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3️⃣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성장 모델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Barabási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–Albert)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Long-Tail Distribution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머신러닝의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불균형 데이터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(Imbalanced data)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인한 학습의 어려움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9E8B3-FDAF-488B-031D-4CE2820ED70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6" name="Picture 2" descr="A graph of a sharply sloped power-law distribution curve. The x-axis is items and the y-axis is popularity.">
            <a:extLst>
              <a:ext uri="{FF2B5EF4-FFF2-40B4-BE49-F238E27FC236}">
                <a16:creationId xmlns:a16="http://schemas.microsoft.com/office/drawing/2014/main" id="{04C8A289-FF78-8BE3-9F6C-09D9D649A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713" y="1268760"/>
            <a:ext cx="5268949" cy="473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42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8E1E5-D16B-943F-24E2-0CF293C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38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34D2AA-A27B-7A54-4084-BC43A781A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1916832"/>
            <a:ext cx="5759331" cy="388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AE3E526-6D30-8BC9-EB0F-07796576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911" y="1916832"/>
            <a:ext cx="5976664" cy="388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09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39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832125"/>
            <a:ext cx="8856984" cy="51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0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F7E9-1FE7-2EBC-35C8-B2B2C621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C678DC-E0FA-3ABC-B06D-0B4F099A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2" y="2843639"/>
            <a:ext cx="12083779" cy="351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F40D37-F604-11F7-60C6-6208E65A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40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21057-03B1-184F-DD09-1DD99A12995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D5899-55B7-98D1-1DCB-BAF688C29F1D}"/>
              </a:ext>
            </a:extLst>
          </p:cNvPr>
          <p:cNvSpPr txBox="1"/>
          <p:nvPr/>
        </p:nvSpPr>
        <p:spPr>
          <a:xfrm>
            <a:off x="10486900" y="3296617"/>
            <a:ext cx="1512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Outliers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 튀어나옴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A4235-19EA-715C-7139-7101D316FA54}"/>
              </a:ext>
            </a:extLst>
          </p:cNvPr>
          <p:cNvSpPr txBox="1"/>
          <p:nvPr/>
        </p:nvSpPr>
        <p:spPr>
          <a:xfrm>
            <a:off x="2449692" y="2442374"/>
            <a:ext cx="75774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모집단의 분포는 제 각각이지만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표본의 평균은 같은 언어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따른다”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C735DF-E00B-8759-15BA-EA8CC9109A32}"/>
              </a:ext>
            </a:extLst>
          </p:cNvPr>
          <p:cNvSpPr txBox="1"/>
          <p:nvPr/>
        </p:nvSpPr>
        <p:spPr>
          <a:xfrm>
            <a:off x="693812" y="3714057"/>
            <a:ext cx="2016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Uniform →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평평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9BE78-8871-9D8E-A657-65BCF1973E2D}"/>
              </a:ext>
            </a:extLst>
          </p:cNvPr>
          <p:cNvSpPr txBox="1"/>
          <p:nvPr/>
        </p:nvSpPr>
        <p:spPr>
          <a:xfrm>
            <a:off x="3646140" y="3274699"/>
            <a:ext cx="2592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Skewed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한쪽으로 치우침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7E706-DAE6-5266-8D86-3CF44CCF8B23}"/>
              </a:ext>
            </a:extLst>
          </p:cNvPr>
          <p:cNvSpPr txBox="1"/>
          <p:nvPr/>
        </p:nvSpPr>
        <p:spPr>
          <a:xfrm>
            <a:off x="7102524" y="3460581"/>
            <a:ext cx="2136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Heavy Tail →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긴 꼬리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4DD40-BF9D-37F2-2E9B-FBAA331C9BD3}"/>
              </a:ext>
            </a:extLst>
          </p:cNvPr>
          <p:cNvSpPr txBox="1"/>
          <p:nvPr/>
        </p:nvSpPr>
        <p:spPr>
          <a:xfrm>
            <a:off x="483969" y="990607"/>
            <a:ext cx="11508916" cy="116448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왜 서로 다른 분포인데 결과는 같아지는가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이상치가 있어도 평균은 왜 안정적인가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딥러닝과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무슨 관계인가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이게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A/B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데스트와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무슨 관계인가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아래 경우를 바탕으로 다양한 예를 들어 중심극한정리를 적용하여 시각화하고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머신러닝과의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접목점도 시각화 하고 설명하는 보고서를 제출하라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11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A21B-0B46-FCE1-79D8-2485820A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AAFB6A-2F92-0D94-43A3-5F5C7806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41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E5AA0-92F8-F123-B4E8-D4FA1D20838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77B24-B972-3430-22FD-5B037A7CFCE0}"/>
              </a:ext>
            </a:extLst>
          </p:cNvPr>
          <p:cNvSpPr txBox="1"/>
          <p:nvPr/>
        </p:nvSpPr>
        <p:spPr>
          <a:xfrm>
            <a:off x="333772" y="1772816"/>
            <a:ext cx="5112569" cy="33689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Problem 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현실 데이터는 왜 어려운가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>
              <a:lnSpc>
                <a:spcPct val="150000"/>
              </a:lnSpc>
              <a:buNone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분포를 모른다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(uniform,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exponential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(abnormality, outliers)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존재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 아님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(skewed, heavy tail)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질문</a:t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“이런 데이터로 어떻게 분석과 학습을 할까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1EE9F-6901-C6DC-5EB0-FF4F18BEB070}"/>
              </a:ext>
            </a:extLst>
          </p:cNvPr>
          <p:cNvSpPr txBox="1"/>
          <p:nvPr/>
        </p:nvSpPr>
        <p:spPr>
          <a:xfrm>
            <a:off x="6382444" y="1772816"/>
            <a:ext cx="5090965" cy="33689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Solution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평균이 문제를 해결한다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데이터 → 불규칙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→ 안정적 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핵심 메시지</a:t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“평균을 보면 질서가 보인다”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06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746B46-6FD0-13D0-FF25-E75F1625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42</a:t>
            </a:fld>
            <a:endParaRPr lang="en-US" altLang="ko-KR" noProof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7794CA-12A4-DEAA-75BE-6CB405CE5401}"/>
              </a:ext>
            </a:extLst>
          </p:cNvPr>
          <p:cNvSpPr/>
          <p:nvPr/>
        </p:nvSpPr>
        <p:spPr>
          <a:xfrm>
            <a:off x="189756" y="338469"/>
            <a:ext cx="43380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표본의 모든 값은 확률변수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0BC407D-91E4-2891-A0B3-2A3233E7F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61" y="2492895"/>
            <a:ext cx="10057417" cy="402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05895F-567B-D608-321D-5DAF5B5B6D20}"/>
              </a:ext>
            </a:extLst>
          </p:cNvPr>
          <p:cNvSpPr txBox="1"/>
          <p:nvPr/>
        </p:nvSpPr>
        <p:spPr>
          <a:xfrm>
            <a:off x="333772" y="1235759"/>
            <a:ext cx="11017224" cy="795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("diamonds")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price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변수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총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53,940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50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개씩 표본을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비복원추출하여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각 표본의 평균을 구하고 표본평균의 산술식의 의미를 생각하고 확률변수의 의미를 토론하라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64B235-9241-66EE-D823-F543DF70D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624" y="2204864"/>
            <a:ext cx="3806372" cy="18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1515892"/>
            <a:ext cx="8568952" cy="444877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33772" y="548680"/>
            <a:ext cx="11089232" cy="875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주사위를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번을 던진 후 전체 주사위 합의 분포를 주사위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10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50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시뮬레이션하라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2908E4-FB61-3909-CC29-E472642A4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838" y="5949280"/>
            <a:ext cx="8725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분포에서 표본을 여러 번 뽑아 더하거나 평균을 내면, 표본의 개수(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)가 늘어남에 따라(2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3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..., 50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원래의 균등분포와는 전혀 다른 정규분포(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Normal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Distribution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)의 모양이 나타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28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CC26-4A6F-3EA6-8212-862648D1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1C6FDF6-4C1F-E672-780E-582262BBC0EF}"/>
              </a:ext>
            </a:extLst>
          </p:cNvPr>
          <p:cNvSpPr/>
          <p:nvPr/>
        </p:nvSpPr>
        <p:spPr>
          <a:xfrm>
            <a:off x="598421" y="544522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2CCE3C-C8AB-36C2-563E-166AEFF8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B3A6C-81F2-1538-0FA3-857F7B49C526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79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45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692696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/>
              <a:t>AI</a:t>
            </a:r>
            <a:r>
              <a:rPr lang="ko-KR" altLang="en-US" sz="2000" dirty="0"/>
              <a:t>는 스스로 어떻게 학습하고 답변하는가</a:t>
            </a:r>
            <a:r>
              <a:rPr lang="en-US" altLang="ko-KR" sz="2000" dirty="0"/>
              <a:t>? </a:t>
            </a:r>
            <a:r>
              <a:rPr lang="ko-KR" altLang="en-US" sz="2000" dirty="0"/>
              <a:t>당신은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43DF403-EEB4-C91B-32EE-23EFD899536D}"/>
              </a:ext>
            </a:extLst>
          </p:cNvPr>
          <p:cNvSpPr txBox="1">
            <a:spLocks/>
          </p:cNvSpPr>
          <p:nvPr/>
        </p:nvSpPr>
        <p:spPr>
          <a:xfrm>
            <a:off x="2159350" y="2540901"/>
            <a:ext cx="4861565" cy="5748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68580" tIns="34290" rIns="68580" bIns="3429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</a:t>
            </a:r>
            <a:r>
              <a:rPr lang="en-US" altLang="ko-KR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    ?     )</a:t>
            </a:r>
            <a:endParaRPr lang="ko-KR" altLang="en-US" sz="21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74DF30-B848-CCCB-2DB9-DD0CA5B281F0}"/>
              </a:ext>
            </a:extLst>
          </p:cNvPr>
          <p:cNvGrpSpPr/>
          <p:nvPr/>
        </p:nvGrpSpPr>
        <p:grpSpPr>
          <a:xfrm>
            <a:off x="3317348" y="2164000"/>
            <a:ext cx="4861565" cy="2288032"/>
            <a:chOff x="2849632" y="1003319"/>
            <a:chExt cx="6482087" cy="3050709"/>
          </a:xfrm>
        </p:grpSpPr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C626DF26-B724-97BC-A10D-E431B47870AF}"/>
                </a:ext>
              </a:extLst>
            </p:cNvPr>
            <p:cNvSpPr txBox="1">
              <a:spLocks/>
            </p:cNvSpPr>
            <p:nvPr/>
          </p:nvSpPr>
          <p:spPr>
            <a:xfrm>
              <a:off x="2849632" y="2427345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0E1A835-2913-35D9-5D81-DBC9A029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6815" y="1003319"/>
              <a:ext cx="2245415" cy="3050709"/>
            </a:xfrm>
            <a:prstGeom prst="rect">
              <a:avLst/>
            </a:prstGeom>
          </p:spPr>
        </p:pic>
      </p:grpSp>
      <p:sp>
        <p:nvSpPr>
          <p:cNvPr id="12" name="화살표: 위로 구부러짐 11">
            <a:extLst>
              <a:ext uri="{FF2B5EF4-FFF2-40B4-BE49-F238E27FC236}">
                <a16:creationId xmlns:a16="http://schemas.microsoft.com/office/drawing/2014/main" id="{9F817D84-17B2-D951-EB88-B0662D0F17C3}"/>
              </a:ext>
            </a:extLst>
          </p:cNvPr>
          <p:cNvSpPr/>
          <p:nvPr/>
        </p:nvSpPr>
        <p:spPr>
          <a:xfrm>
            <a:off x="2559345" y="3068811"/>
            <a:ext cx="758003" cy="300253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C74A294-C947-F052-218E-F469143481B8}"/>
              </a:ext>
            </a:extLst>
          </p:cNvPr>
          <p:cNvGrpSpPr/>
          <p:nvPr/>
        </p:nvGrpSpPr>
        <p:grpSpPr>
          <a:xfrm>
            <a:off x="3319460" y="3751877"/>
            <a:ext cx="4861565" cy="1389875"/>
            <a:chOff x="2863098" y="3031378"/>
            <a:chExt cx="6482087" cy="1853167"/>
          </a:xfrm>
        </p:grpSpPr>
        <p:sp>
          <p:nvSpPr>
            <p:cNvPr id="14" name="제목 1">
              <a:extLst>
                <a:ext uri="{FF2B5EF4-FFF2-40B4-BE49-F238E27FC236}">
                  <a16:creationId xmlns:a16="http://schemas.microsoft.com/office/drawing/2014/main" id="{0D8D4BD9-11FB-7468-47D3-DFF0B2105F20}"/>
                </a:ext>
              </a:extLst>
            </p:cNvPr>
            <p:cNvSpPr txBox="1">
              <a:spLocks/>
            </p:cNvSpPr>
            <p:nvPr/>
          </p:nvSpPr>
          <p:spPr>
            <a:xfrm>
              <a:off x="2863098" y="3386409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커피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83A527B-1B23-7081-228C-351D5B790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2000" y="3031378"/>
              <a:ext cx="1906530" cy="1853167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CB8FEAC-2DAC-73AA-796B-494D17313748}"/>
              </a:ext>
            </a:extLst>
          </p:cNvPr>
          <p:cNvGrpSpPr/>
          <p:nvPr/>
        </p:nvGrpSpPr>
        <p:grpSpPr>
          <a:xfrm>
            <a:off x="3309358" y="4735839"/>
            <a:ext cx="5873234" cy="1573481"/>
            <a:chOff x="2849630" y="4343328"/>
            <a:chExt cx="7830978" cy="2097974"/>
          </a:xfrm>
        </p:grpSpPr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C9808973-FFA6-DF6A-0193-D1B8A5EC9FB0}"/>
                </a:ext>
              </a:extLst>
            </p:cNvPr>
            <p:cNvSpPr txBox="1">
              <a:spLocks/>
            </p:cNvSpPr>
            <p:nvPr/>
          </p:nvSpPr>
          <p:spPr>
            <a:xfrm>
              <a:off x="2849630" y="4343328"/>
              <a:ext cx="648208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68580" tIns="34290" rIns="68580" bIns="3429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블랙 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(   </a:t>
              </a:r>
              <a:r>
                <a:rPr lang="ko-KR" altLang="en-US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1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  )</a:t>
              </a:r>
              <a:endParaRPr lang="ko-KR" altLang="en-US" sz="21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2ED243F-70AE-496C-682F-A2C3A7B75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5265" y="4454168"/>
              <a:ext cx="3885343" cy="19871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697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4F6B-F1E1-1CD6-2C34-31932F74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2E3B062-4F28-E4A2-1F59-68A245BF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46</a:t>
            </a:fld>
            <a:endParaRPr lang="en-US" altLang="ko-KR" noProof="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2E4621-F3BF-0DAE-7299-4F20CA6BA4AD}"/>
              </a:ext>
            </a:extLst>
          </p:cNvPr>
          <p:cNvSpPr/>
          <p:nvPr/>
        </p:nvSpPr>
        <p:spPr>
          <a:xfrm>
            <a:off x="333772" y="692696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/>
              <a:t>AI</a:t>
            </a:r>
            <a:r>
              <a:rPr lang="ko-KR" altLang="en-US" sz="2000" dirty="0"/>
              <a:t>는 스스로 어떻게 학습하고 답변하는가</a:t>
            </a:r>
            <a:r>
              <a:rPr lang="en-US" altLang="ko-KR" sz="2000" dirty="0"/>
              <a:t>? </a:t>
            </a:r>
            <a:r>
              <a:rPr lang="ko-KR" altLang="en-US" sz="2000" dirty="0"/>
              <a:t>당신은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19FC72-1027-1503-BEC9-C916F75BB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21" y="1628800"/>
            <a:ext cx="8846887" cy="3769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007C2B-BA24-599C-99F0-96BD269B9A30}"/>
              </a:ext>
            </a:extLst>
          </p:cNvPr>
          <p:cNvSpPr txBox="1"/>
          <p:nvPr/>
        </p:nvSpPr>
        <p:spPr>
          <a:xfrm>
            <a:off x="1821512" y="5589240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5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47</a:t>
            </a:fld>
            <a:endParaRPr lang="en-US" altLang="ko-KR" noProof="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3BA925-346A-92DA-54AD-5E1487C17764}"/>
              </a:ext>
            </a:extLst>
          </p:cNvPr>
          <p:cNvGrpSpPr/>
          <p:nvPr/>
        </p:nvGrpSpPr>
        <p:grpSpPr>
          <a:xfrm>
            <a:off x="4027821" y="2348883"/>
            <a:ext cx="3218720" cy="3810977"/>
            <a:chOff x="5190488" y="1060752"/>
            <a:chExt cx="3148402" cy="3159825"/>
          </a:xfrm>
        </p:grpSpPr>
        <p:sp>
          <p:nvSpPr>
            <p:cNvPr id="2" name="AutoShape 2" descr="숲 한가운데에 있는 형형색색의 나무들판">
              <a:extLst>
                <a:ext uri="{FF2B5EF4-FFF2-40B4-BE49-F238E27FC236}">
                  <a16:creationId xmlns:a16="http://schemas.microsoft.com/office/drawing/2014/main" id="{92ADEB6C-595F-D022-1FA7-A6F276B90D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2013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8EE12F-0606-75E2-2B43-F3AFCA455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0488" y="3077522"/>
              <a:ext cx="3148402" cy="1143055"/>
            </a:xfrm>
            <a:prstGeom prst="rect">
              <a:avLst/>
            </a:prstGeom>
          </p:spPr>
        </p:pic>
        <p:pic>
          <p:nvPicPr>
            <p:cNvPr id="1032" name="Picture 8" descr="베이즈 정리(Bayes' Theorem)의 정의와 의미">
              <a:extLst>
                <a:ext uri="{FF2B5EF4-FFF2-40B4-BE49-F238E27FC236}">
                  <a16:creationId xmlns:a16="http://schemas.microsoft.com/office/drawing/2014/main" id="{B067FD7D-5954-1B2D-36F6-A25C17C1F9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488" y="1060752"/>
              <a:ext cx="3148402" cy="2016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9C1E87A-9767-8287-7253-CF05F7BA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92" y="2348883"/>
            <a:ext cx="2736304" cy="3810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4390B-04B7-B557-EA80-3E403DB78D61}"/>
              </a:ext>
            </a:extLst>
          </p:cNvPr>
          <p:cNvSpPr txBox="1"/>
          <p:nvPr/>
        </p:nvSpPr>
        <p:spPr>
          <a:xfrm>
            <a:off x="1053852" y="938799"/>
            <a:ext cx="10301549" cy="9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사실이 바뀌면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나는 생각을 바꿉니다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당신은 어떻게 하십니까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?"</a:t>
            </a:r>
            <a:endParaRPr lang="ko-KR" altLang="en-US" sz="2000" dirty="0">
              <a:latin typeface="Cambria" panose="02040503050406030204" pitchFamily="18" charset="0"/>
              <a:ea typeface="LG Smart UI Light" panose="020B0300000101010101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“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When the facts change, I change my mind. What do you do, sir?”   - Keynes, Economist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6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A24-82DF-449D-2B2D-95454C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8C64F-9D89-54F0-37FA-27D8C00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48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30866-87BA-AFD5-382F-50D5BE9390CE}"/>
              </a:ext>
            </a:extLst>
          </p:cNvPr>
          <p:cNvSpPr txBox="1"/>
          <p:nvPr/>
        </p:nvSpPr>
        <p:spPr>
          <a:xfrm>
            <a:off x="621804" y="980728"/>
            <a:ext cx="10957580" cy="1142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던지기를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+mj-ea"/>
                <a:ea typeface="+mj-ea"/>
                <a:cs typeface="맑은 고딕 Semilight" panose="020B0502040204020203" pitchFamily="50" charset="-127"/>
              </a:rPr>
              <a:t>모의실험하여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직접 실제 동전의 확률과 시행 횟수를 조절하면서 </a:t>
            </a:r>
            <a:r>
              <a:rPr lang="ko-KR" altLang="en-US" sz="1600" b="1" dirty="0">
                <a:latin typeface="+mj-ea"/>
                <a:ea typeface="+mj-ea"/>
              </a:rPr>
              <a:t>나의 믿음이 변하는</a:t>
            </a:r>
            <a:r>
              <a:rPr lang="ko-KR" altLang="en-US" sz="1600" dirty="0">
                <a:latin typeface="+mj-ea"/>
                <a:ea typeface="+mj-ea"/>
              </a:rPr>
              <a:t> 과정을 실시간으로 관찰할 수 있도록 </a:t>
            </a:r>
            <a:r>
              <a:rPr lang="en-US" altLang="ko-KR" sz="1600" dirty="0" err="1">
                <a:latin typeface="+mj-ea"/>
                <a:ea typeface="+mj-ea"/>
              </a:rPr>
              <a:t>gradio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UI</a:t>
            </a:r>
            <a:r>
              <a:rPr lang="ko-KR" altLang="en-US" sz="1600" dirty="0">
                <a:latin typeface="+mj-ea"/>
                <a:ea typeface="+mj-ea"/>
              </a:rPr>
              <a:t>로 만들어 시뮬레이션하고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이러한 실험을 바탕으로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한강에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가장 큰 물고기의 크기는 몇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cm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라고 답해야 할까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C62203-0371-F9F6-8F12-C596F999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2553534"/>
            <a:ext cx="8064896" cy="3879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B4593E-7CFB-04F9-BFB4-4925595F004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96447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0008-E652-FD55-A1CF-7261BC1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45F44B-D853-EA00-45FD-0D2DE87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74C1-BB80-2DC1-32A9-30194E495362}"/>
              </a:ext>
            </a:extLst>
          </p:cNvPr>
          <p:cNvSpPr txBox="1"/>
          <p:nvPr/>
        </p:nvSpPr>
        <p:spPr>
          <a:xfrm>
            <a:off x="765820" y="1196752"/>
            <a:ext cx="11233248" cy="48212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+mj-ea"/>
                <a:ea typeface="+mj-ea"/>
              </a:rPr>
              <a:t>지구의 나이가 </a:t>
            </a:r>
            <a:r>
              <a:rPr lang="en-US" altLang="ko-KR" sz="2000" dirty="0">
                <a:latin typeface="+mj-ea"/>
                <a:ea typeface="+mj-ea"/>
              </a:rPr>
              <a:t>45</a:t>
            </a:r>
            <a:r>
              <a:rPr lang="ko-KR" altLang="en-US" sz="2000" dirty="0">
                <a:latin typeface="+mj-ea"/>
                <a:ea typeface="+mj-ea"/>
              </a:rPr>
              <a:t>억 </a:t>
            </a:r>
            <a:r>
              <a:rPr lang="en-US" altLang="ko-KR" sz="2000" dirty="0">
                <a:latin typeface="+mj-ea"/>
                <a:ea typeface="+mj-ea"/>
              </a:rPr>
              <a:t>4</a:t>
            </a:r>
            <a:r>
              <a:rPr lang="ko-KR" altLang="en-US" sz="2000" dirty="0">
                <a:latin typeface="+mj-ea"/>
                <a:ea typeface="+mj-ea"/>
              </a:rPr>
              <a:t>천만년이라면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내일 해가 뜰 확률은</a:t>
            </a:r>
            <a:r>
              <a:rPr lang="en-US" altLang="ko-KR" sz="2000" dirty="0">
                <a:latin typeface="+mj-ea"/>
                <a:ea typeface="+mj-ea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D3492-9475-65D6-5F62-64413CD930A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170792-96F2-75E9-8112-7A784CED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0" y="2210192"/>
            <a:ext cx="5655120" cy="36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548AE-6F75-4DDA-684C-2BC854639F3E}"/>
              </a:ext>
            </a:extLst>
          </p:cNvPr>
          <p:cNvSpPr txBox="1"/>
          <p:nvPr/>
        </p:nvSpPr>
        <p:spPr>
          <a:xfrm>
            <a:off x="7174532" y="2210193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Sunrise_problem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1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81D7-008B-5BB7-2B99-3CE16B6B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9934BEB-B65A-0C3E-6F5F-A71AC467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50</a:t>
            </a:fld>
            <a:endParaRPr lang="en-US" altLang="ko-KR" noProof="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065660-C3F0-0188-AF88-3B6D94519984}"/>
              </a:ext>
            </a:extLst>
          </p:cNvPr>
          <p:cNvSpPr/>
          <p:nvPr/>
        </p:nvSpPr>
        <p:spPr>
          <a:xfrm>
            <a:off x="333772" y="692696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조건부 확률</a:t>
            </a:r>
            <a:r>
              <a:rPr lang="en-US" altLang="ko-KR" sz="2000" dirty="0">
                <a:solidFill>
                  <a:srgbClr val="202124"/>
                </a:solidFill>
                <a:latin typeface="Arial" panose="020B0604020202020204" pitchFamily="34" charset="0"/>
              </a:rPr>
              <a:t>(Conditional probability)</a:t>
            </a:r>
            <a:r>
              <a:rPr lang="ko-KR" alt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이란 </a:t>
            </a:r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어떤 사건이 일어났다는 전제하에 다른 사건이 일어날 확률</a:t>
            </a: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DB8B31E-DF4F-669C-CE91-BD80234C0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1844824"/>
            <a:ext cx="5613632" cy="42484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F3F7C1-F005-CAA5-0FEB-A2D1D5E77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716" y="1844824"/>
            <a:ext cx="2319519" cy="134087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5B41141-90BA-EFEF-7DEC-3B8612D04043}"/>
              </a:ext>
            </a:extLst>
          </p:cNvPr>
          <p:cNvSpPr/>
          <p:nvPr/>
        </p:nvSpPr>
        <p:spPr>
          <a:xfrm>
            <a:off x="8797075" y="3284984"/>
            <a:ext cx="16081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독립인</a:t>
            </a:r>
            <a:r>
              <a:rPr lang="en-US" altLang="ko-KR" sz="2000" dirty="0">
                <a:solidFill>
                  <a:srgbClr val="040C28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경우</a:t>
            </a:r>
            <a:r>
              <a:rPr lang="en-US" altLang="ko-KR" sz="2000" dirty="0">
                <a:solidFill>
                  <a:srgbClr val="040C28"/>
                </a:solidFill>
                <a:latin typeface="Arial" panose="020B0604020202020204" pitchFamily="34" charset="0"/>
              </a:rPr>
              <a:t> </a:t>
            </a:r>
            <a:endParaRPr lang="ko-KR" altLang="en-US" sz="20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4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51</a:t>
            </a:fld>
            <a:endParaRPr lang="en-US" altLang="ko-KR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93FFA3-F7AB-2DB1-F22A-1ECB6018AABD}"/>
                  </a:ext>
                </a:extLst>
              </p:cNvPr>
              <p:cNvSpPr txBox="1"/>
              <p:nvPr/>
            </p:nvSpPr>
            <p:spPr>
              <a:xfrm>
                <a:off x="5969877" y="1772816"/>
                <a:ext cx="5832648" cy="4002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중앙 육각형 격자 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(Joint Distribution)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변수가 동시에 나타나는 빈도이며 색이 진할수록 해당 데이터 포인트가 많이 몰려 있다는 뜻이며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결합 확률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,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높은 지점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상단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/</a:t>
                </a:r>
                <a:r>
                  <a:rPr lang="ko-KR" altLang="en-US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우측 막대그래프 </a:t>
                </a:r>
                <a:r>
                  <a:rPr lang="en-US" altLang="ko-KR" sz="1600" b="1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(Marginal Distribution)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변수 하나의 분포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주변 확률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와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𝑷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  <m:r>
                      <a:rPr lang="ko-KR" altLang="en-US" sz="1600" b="1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를</m:t>
                    </m:r>
                  </m:oMath>
                </a14:m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나타냅니다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상단 막대는 부리 길이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𝑿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분포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우측 막대는 날개 길이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𝒀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분포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93FFA3-F7AB-2DB1-F22A-1ECB6018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877" y="1772816"/>
                <a:ext cx="5832648" cy="4002314"/>
              </a:xfrm>
              <a:prstGeom prst="rect">
                <a:avLst/>
              </a:prstGeom>
              <a:blipFill>
                <a:blip r:embed="rId3"/>
                <a:stretch>
                  <a:fillRect l="-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2914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hexbin_with</a:t>
            </a:r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marginal distribution.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5E9CAD-E07C-3779-E540-0EBB161CB89F}"/>
                  </a:ext>
                </a:extLst>
              </p:cNvPr>
              <p:cNvSpPr txBox="1"/>
              <p:nvPr/>
            </p:nvSpPr>
            <p:spPr>
              <a:xfrm>
                <a:off x="2782044" y="5229200"/>
                <a:ext cx="1459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,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5E9CAD-E07C-3779-E540-0EBB161CB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044" y="5229200"/>
                <a:ext cx="145964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6B1C5-A810-ADFB-3987-64C5E3225901}"/>
                  </a:ext>
                </a:extLst>
              </p:cNvPr>
              <p:cNvSpPr txBox="1"/>
              <p:nvPr/>
            </p:nvSpPr>
            <p:spPr>
              <a:xfrm>
                <a:off x="4510236" y="2564904"/>
                <a:ext cx="1459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𝒀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6B1C5-A810-ADFB-3987-64C5E322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36" y="2564904"/>
                <a:ext cx="145964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395A-7CDF-DA9D-FE70-9353060EBF3D}"/>
                  </a:ext>
                </a:extLst>
              </p:cNvPr>
              <p:cNvSpPr txBox="1"/>
              <p:nvPr/>
            </p:nvSpPr>
            <p:spPr>
              <a:xfrm>
                <a:off x="532365" y="1895927"/>
                <a:ext cx="14596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𝑷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𝑿</m:t>
                      </m:r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395A-7CDF-DA9D-FE70-9353060EB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65" y="1895927"/>
                <a:ext cx="145964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DCA833E-B55B-A6F6-4B65-00A54D9DAF32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 1/2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5F1E-F796-5B86-BB6D-1DE3E96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6DD476-E7B1-A9F8-818B-592447B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52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A59E69-1EBF-6473-FA56-3182980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1" y="2060848"/>
            <a:ext cx="10110835" cy="41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AC3C7-4124-E1BC-E58C-1975BFACDB0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 2/2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32A0-F0BF-374A-D564-5BA5865EAE85}"/>
              </a:ext>
            </a:extLst>
          </p:cNvPr>
          <p:cNvSpPr txBox="1"/>
          <p:nvPr/>
        </p:nvSpPr>
        <p:spPr>
          <a:xfrm>
            <a:off x="338480" y="1005885"/>
            <a:ext cx="115885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7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BFDF-043C-D416-8A82-CFA167E4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44CB5B-45F9-105B-6990-2F9C08E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21184-37EF-AC7E-BD87-A4D8546D0FD6}"/>
              </a:ext>
            </a:extLst>
          </p:cNvPr>
          <p:cNvSpPr txBox="1"/>
          <p:nvPr/>
        </p:nvSpPr>
        <p:spPr>
          <a:xfrm>
            <a:off x="765820" y="1196752"/>
            <a:ext cx="11233248" cy="234115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경찰이 살인 사건 현장에서 희귀한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격자무늬 지문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발견했는데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지문은 전체 인구의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0.1%/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만이 가지고 있음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경찰은 유력한 용의자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'A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씨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체포했고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검사 결과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씨 또한 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격자무늬 지문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가지고 있음이 밝혀졌다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사람이 범인일 확률은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152FC-1579-E1AE-98F9-EEC881A49A2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9E7DC3-F439-12EB-B4E1-5C079270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34" y="4149080"/>
            <a:ext cx="7460482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1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6959-3FDA-7BAB-FE1C-37C38430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2CCF16-E4C8-B281-2560-EF8AC6BA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1CD95-6DF8-C777-DD11-8433525A9632}"/>
              </a:ext>
            </a:extLst>
          </p:cNvPr>
          <p:cNvSpPr txBox="1"/>
          <p:nvPr/>
        </p:nvSpPr>
        <p:spPr>
          <a:xfrm>
            <a:off x="765820" y="1196752"/>
            <a:ext cx="11233248" cy="280281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사전지식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도시의 택시 중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85%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녹색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15%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청색입니다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밤에 뺑소니 사고가 났고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목격자가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청색 택시였다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라고 증언했는데 목격자의 판별 정확도는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80%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사고를 낸 택시가 청색일 확률은 얼마일까요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AF396-AAAE-5BAE-BFB3-B38F66CABDB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64898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D8A3-0388-8113-D2CF-A0414DB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2F37FC-577D-E28A-0EF4-69CA6EF2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34FB6-54F8-A43B-EAFC-A8A9D54A3F02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Monty Hall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A6D30-646E-36BC-7791-0F150C5DE16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64143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D9F4-C5F3-CD85-C853-83775420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45B113-8CB5-040D-DE1A-2D4127E6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D9FC8-F9C2-78CD-B7EA-3FBF014A1E3A}"/>
              </a:ext>
            </a:extLst>
          </p:cNvPr>
          <p:cNvSpPr txBox="1"/>
          <p:nvPr/>
        </p:nvSpPr>
        <p:spPr>
          <a:xfrm>
            <a:off x="765820" y="1196752"/>
            <a:ext cx="11233248" cy="92916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동체가 손상되었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는데도 귀환할 확률은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(Missing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from survivor ship)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식당에서 식중독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48E73-6700-E57D-39E0-0BB7C83E0458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8B99A4-028F-D2F5-27B8-D8DFC915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19" y="2481834"/>
            <a:ext cx="4494805" cy="42396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EABA99-C9AC-6EFA-A206-7B58BDD2A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52" y="2477246"/>
            <a:ext cx="4735865" cy="174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1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6D6D-FE7D-D1E6-6174-4578705A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10DAF3-C1C3-864E-A7BD-B00D0D20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57</a:t>
            </a:fld>
            <a:endParaRPr lang="en-US" altLang="ko-KR" noProof="0" dirty="0"/>
          </a:p>
        </p:txBody>
      </p:sp>
      <p:sp>
        <p:nvSpPr>
          <p:cNvPr id="5" name="AutoShape 4" descr="data:image/png;base64,iVBORw0KGgoAAAANSUhEUgAAAh8AAAGdCAYAAACyzRGfAAAAOXRFWHRTb2Z0d2FyZQBNYXRwbG90bGliIHZlcnNpb24zLjcuMSwgaHR0cHM6Ly9tYXRwbG90bGliLm9yZy/bCgiHAAAACXBIWXMAAA9hAAAPYQGoP6dpAAAjy0lEQVR4nO3df1BVdf7H8dcFBUEBQ0VgBUUzrESyXyxb61oyKDmV6bSlbmk/rAwrsx9GW6bWhGljTjOmO03+aPu1NZtaWpa/0G1FS4tR240RBjIV1DS4igkon+8fjfe7V5Afcu/nci/Px8yZ4Z7z4Xzenz5yz6tzzz3HYYwxAgAAsCTI1wUAAID2hfABAACsInwAAACrCB8AAMAqwgcAALCK8AEAAKwifAAAAKsIHwAAwKoOvi7gXHV1dTp48KAiIiLkcDh8XQ4AAGgGY4yOHz+u+Ph4BQU1fm6jzYWPgwcPKiEhwddlAACAC/DTTz+pV69ejbZpc+EjIiJC0m/FR0ZG+rgaAADQHE6nUwkJCa7jeGPaXPg4+1FLZGQk4QMAAD/TnEsmuOAUAABYRfgAAABWET4AAIBVbe6aDwAA/JUxRqdPn9aZM2d8XYpXdOzYUcHBwa3eD+EDAAAPqKmpUVlZmU6ePOnrUrzG4XCoV69e6tKlS6v2Q/gAAKCV6urqVFJSouDgYMXHxyskJCTgbpRpjNGRI0e0f/9+9e/fv1VnQAgfAAC0Uk1Njerq6pSQkKDw8HBfl+M1PXr0UGlpqWpra1sVPrjgFAAAD2nqtuL+zlNncwL7vxIAAGhzCB8AAMCqFl3zkZubq48//lg//PCDwsLC9Ic//EGvvPKKkpOTXW2GDh2qzZs3u/3egw8+qMWLF3umYgAA/EifZ9ZY66t0zkhrfbVGi858bN68WdnZ2dq2bZvWrVun2tpaZWZmqqqqyq3dpEmTVFZW5lrmzp3r0aIBAID/atGZj7Vr17q9XrZsmWJiYrRz504NGTLEtT48PFyxsbGeqRAAAASUVl3zUVlZKUmKjo52W//uu++qe/fuGjhwoHJychq94Up1dbWcTqfbAgAAvO/IkSOKjY3Vyy+/7Fq3detWhYSEaMOGDV7r94Lv81FXV6epU6fquuuu08CBA13rx40bp969eys+Pl67du3S9OnTVVhYqI8//rjB/eTm5mrWrFkXWkZAau7ng/7y2R4AoG3q0aOHlixZolGjRikzM1PJycm66667NGXKFA0bNsxr/V5w+MjOztaePXv01Vdfua1/4IEHXD+npKQoLi5Ow4YNU3Fxsfr161dvPzk5OZo2bZrrtdPpVEJCwoWWBQAAWuCmm27SpEmTNH78eF199dXq3LmzcnNzvdrnBYWPKVOmaPXq1dqyZYt69erVaNu0tDRJUlFRUYPhIzQ0VKGhoRdSBgAA8IBXX31VAwcO1EcffaSdO3d6/bjcoms+jDGaMmWKVqxYoY0bNyopKanJ3ykoKJAkxcXFXVCBAADAu4qLi3Xw4EHV1dWptLTU6/216MxHdna23nvvPa1atUoREREqLy+XJEVFRSksLEzFxcV67733dNNNN6lbt27atWuXHn/8cQ0ZMkSDBg3yygAAAMCFq6mp0V/+8hfdcccdSk5O1v3336/du3crJibGa322KHwsWrRI0m83EvtfS5cu1cSJExUSEqL169drwYIFqqqqUkJCgsaMGaPnnnvOYwUDAADP+etf/6rKykq9/vrr6tKliz777DPde++9Wr16tdf6bFH4MMY0uj0hIaHe3U0BAGjP2vI3E/Py8rRgwQJt2rRJkZGRkqS///3vSk1N1aJFizR58mSv9HvB33YBAAD+bejQoaqtrXVb16dPH9d9vLyFB8sBAACrCB8AAMAqwgcAALCK8AEAAKwifAAAAKsIHwAAwCrCBwAAsIrwAQAArCJ8AAAAq7jDKQAA3jQzymJf3r0zqadw5gMAAFhF+AAAoJ16++231a1bN1VXV7utHzVqlO666y6v9Uv4AACgnbr99tt15swZffLJJ651hw8f1po1a3Tvvfd6rV/CBwAA7VRYWJjGjRunpUuXuta98847SkxM1NChQ73WL+EDAIB2bNKkSfryyy914MABSdKyZcs0ceJEORwOr/XJt10AAGjHBg8erNTUVL399tvKzMzU999/rzVr1ni1T8IHAADt3P33368FCxbowIEDysjIUEJCglf742MXAADauXHjxmn//v168803vXqh6VmEDwAA2rmoqCiNGTNGXbp00ahRo7zeHx+7AADgTX5y19EDBw5o/PjxCg0N9XpfhA8AANqxX375RXl5ecrLy9Mbb7xhpU/CBwAA7djgwYP1yy+/6JVXXlFycrKVPgkfAAC0Y6Wlpdb75IJTAABgFeEDAABYRfgAAABWET4AAIBVhA8AAGAV4QMAAFhF+AAAAFZxnw8AALwoZXmKtb52T9htra/W4MwHAACwivABAEA7VVpaKofDUW8ZOnSoV/vlYxcAANqphIQElZWVuV6Xl5crIyNDQ4YM8Wq/hA8AANqp4OBgxcbGSpJOnTqlUaNGKT09XTNnzvRqv4QPoK2aGeXFfVd6b9+tYPPCvHP5y4V6gLfce++9On78uNatW6egIO9elUH4AACgnXvppZf0xRdf6Ouvv1ZERITX+yN8AADQjv3zn//U7Nmz9fnnn6tfv35W+iR8AADQTu3Zs0d33323pk+frssvv1zl5eWSpJCQEEVHR3utX75qCwBAO7Vjxw6dPHlSL730kuLi4lzL6NGjvdovZz4AAPCitnwx88SJEzVx4kTr/XLmAwAAWEX4AAAAVhE+AACAVYQPAABgFeEDAABYRfgAAMBDjDG+LsGrPDU+wgcAAK3UsWNHSdLJkyd9XIl31dTUSPrtgXStwX0+AABopeDgYHXt2lWHDx+WJIWHh8vhcPi4Ks+qq6vTkSNHFB4erg4dWhcfCB8AAHjA2UfTnw0ggSgoKEiJiYmtDlaEDwAAPMDhcCguLk4xMTGqra31dTleERISoqCg1l+xQfgAAMCDgoODW31NRKDjglMAAGAV4QMAAFhF+AAAAFYRPgAAgFWEDwAAYBXhAwAAWNWi8JGbm6trrrlGERERiomJ0ahRo1RYWOjW5tSpU8rOzla3bt3UpUsXjRkzRocOHfJo0QAAwH+1KHxs3rxZ2dnZ2rZtm9atW6fa2lplZmaqqqrK1ebxxx/Xp59+qo8++kibN2/WwYMHNXr0aI8XDgAA/FOLbjK2du1at9fLli1TTEyMdu7cqSFDhqiyslJvvfWW3nvvPd14442SpKVLl+rSSy/Vtm3b9Pvf/95zlQMAAL/Uqms+KisrJUnR0dGSpJ07d6q2tlYZGRmuNgMGDFBiYqLy8/Nb0xUAAAgQF3x79bq6Ok2dOlXXXXedBg4cKEkqLy9XSEiIunbt6ta2Z8+eKi8vb3A/1dXVqq6udr12Op0XWhIAAPADFxw+srOztWfPHn311VetKiA3N1ezZs1q1T4AeE7K8hRflwAgwF3Qxy5TpkzR6tWrtWnTJvXq1cu1PjY2VjU1NaqoqHBrf+jQIdejhs+Vk5OjyspK1/LTTz9dSEkAAMBPtCh8GGM0ZcoUrVixQhs3blRSUpLb9quuukodO3bUhg0bXOsKCwu1b98+paenN7jP0NBQRUZGui0AACBwtehjl+zsbL333ntatWqVIiIiXNdxREVFKSwsTFFRUbrvvvs0bdo0RUdHKzIyUo888ojS09P5pgsAAJDUwvCxaNEiSdLQoUPd1i9dulQTJ06UJL322msKCgrSmDFjVF1dreHDh+uNN97wSLEAAMD/tSh8GGOabNOpUyctXLhQCxcuvOCiAABA4OLZLgAAwCrCBwAAsIrwAQAArCJ8AAAAqwgfAADAKsIHAACwivABAACsInwAAACrLviptgAAz/Hl04R3T9jts77RPnHmAwAAWEX4AAAAVhE+AACAVYQPAABgFeEDAABYRfgAAABWET4AAIBVhA8AAGAV4QMAAFhF+AAAAFYRPgAAgFWEDwAAYBXhAwAAWEX4AAAAVhE+AACAVYQPAABgFeEDAABYRfgAAABWET4AAIBVhA8AAGAV4QMAAFhF+AAAAFYRPgAAgFWEDwAAYBXhAwAAWEX4AAAAVhE+AACAVR18XQAuXJ9n1jSrXemckV6upI2bGeXFfVd6b98AEKA48wEAAKwifAAAAKsIHwAAwCrCBwAAsIrwAQAArCJ8AAAAqwgfAADAKsIHAACwivABAACsInwAAACrCB8AAMAqwgcAALCK8AEAAKwifAAAAKsIHwAAwCrCBwAAsIrwAQAArCJ8AAAAqwgfAADAKsIHAACwivABAACsInwAAACrCB8AAMCqFoePLVu26Oabb1Z8fLwcDodWrlzptn3ixIlyOBxuy4gRIzxVLwAA8HMtDh9VVVVKTU3VwoULz9tmxIgRKisrcy3vv/9+q4oEAACBo0NLfyErK0tZWVmNtgkNDVVsbOwFFwUAAAKXV675yMvLU0xMjJKTkzV58mQdPXr0vG2rq6vldDrdFgAAELhafOajKSNGjNDo0aOVlJSk4uJiPfvss8rKylJ+fr6Cg4Prtc/NzdWsWbM8XQYAtEjK8hRflwC0Gx4PH3feeafr55SUFA0aNEj9+vVTXl6ehg0bVq99Tk6Opk2b5nrtdDqVkJDg6bIAAEAb4fWv2vbt21fdu3dXUVFRg9tDQ0MVGRnptgAAgMDl9fCxf/9+HT16VHFxcd7uCgAA+IEWf+xy4sQJt7MYJSUlKigoUHR0tKKjozVr1iyNGTNGsbGxKi4u1tNPP62LL75Yw4cP92jhAADAP7U4fOzYsUM33HCD6/XZ6zUmTJigRYsWadeuXVq+fLkqKioUHx+vzMxMvfjiiwoNDfVc1QAAwG+1OHwMHTpUxpjzbv/iiy9aVRAAAAhsPNsFAABYRfgAAABWET4AAIBVhA8AAGAV4QMAAFhF+AAAAFYRPgAAgFUef7Ac0K7MjPJ1BQDgdzjzAQAArCJ8AAAAqwgfAADAKsIHAACwivABAACsInwAAACrCB8AAMAqwgcAALCK8AEAAKwifAAAAKsIHwAAwCrCBwAAsIrwAQAArOKpthb1eWaNr0sAAMDnOPMBAACsInwAAACrCB8AAMAqwgcAALCK8AEAAKwifAAAAKsIHwAAwCrCBwAAsIrwAQAArCJ8AAAAqwgfAADAKsIHAACwivABAACsInwAAACrCB8AAMAqwgcAALCK8AEAAKwifAAAAKsIHwAAwCrCBwAAsIrwAQAArCJ8AAAAqwgfAADAKsIHAACwivABAACsInwAAACrCB8AAMCqDr4uAN7X55k1zW5bOmekFytpxMwo3/TbXjX23zsp0V4dANolznwAAACrCB8AAMAqwgcAALCK8AEAAKwifAAAAKsIHwAAwCrCBwAAsIrwAQAArCJ8AAAAq1ocPrZs2aKbb75Z8fHxcjgcWrlypdt2Y4xmzJihuLg4hYWFKSMjQ3v37vVUvQAAwM+1OHxUVVUpNTVVCxcubHD73Llz9frrr2vx4sXavn27OnfurOHDh+vUqVOtLhYAAPi/Fj/bJSsrS1lZWQ1uM8ZowYIFeu6553TrrbdKkt5++2317NlTK1eu1J133tm6agEAgN/z6DUfJSUlKi8vV0ZGhmtdVFSU0tLSlJ+f3+DvVFdXy+l0ui0AACBweTR8lJeXS5J69uzptr5nz56ubefKzc1VVFSUa0lISPBkSQAAoI3x+bddcnJyVFlZ6Vp++uknX5cEAAC8yKPhIzY2VpJ06NAht/WHDh1ybTtXaGioIiMj3RYAABC4PBo+kpKSFBsbqw0bNrjWOZ1Obd++Xenp6Z7sCgAA+KkWf9vlxIkTKioqcr0uKSlRQUGBoqOjlZiYqKlTp+qll15S//79lZSUpOeff17x8fEaNWqUJ+sGAAB+qsXhY8eOHbrhhhtcr6dNmyZJmjBhgpYtW6ann35aVVVVeuCBB1RRUaHrr79ea9euVadOnTxXNQAA8FstDh9Dhw6VMea82x0Oh2bPnq3Zs2e3qjAAABCYfP5tFwAA0L4QPgAAgFWEDwAAYBXhAwAAWEX4AAAAVhE+AACAVYQPAABgFeEDAABY1eKbjCGw9XlmzXm3lXYaZ7ESAECg4swHAACwivABAACsInwAAACrCB8AAMAqwgcAALCK8AEAAKwifAAAAKsIHwAAwCrCBwAAsIrwAQAArCJ8AAAAqwgfAADAKsIHAACwiqfankdjT3cFAHhGyvIUn/W9e8Jun/Xd3nHmAwAAWEX4AAAAVhE+AACAVYQPAABgFeEDAABYRfgAAABWET4AAIBVhA8AAGAV4QMAAFhF+AAAAFYRPgAAgFWEDwAAYBXhAwAAWEX4AAAAVhE+AACAVYQPAABgFeEDAABYRfgAAABWET4AAIBVhA8AAGAV4QMAAFhF+AAAAFYRPgAAgFWEDwAAYBXhAwAAWEX4AAAAVhE+AACAVR18XQCA+lKSEn1dAgB4DWc+AACAVYQPAABgFeEDAABYRfgAAABWET4AAIBVhA8AAGAV4QMAAFhF+AAAAFYRPgAAgFUeDx8zZ86Uw+FwWwYMGODpbgAAgJ/yyu3VL7/8cq1fv/7/O+nAXdwBAMBvvJIKOnTooNjYWG/sGgAA+DmvXPOxd+9excfHq2/fvho/frz27dt33rbV1dVyOp1uCwAACFweP/ORlpamZcuWKTk5WWVlZZo1a5b++Mc/as+ePYqIiKjXPjc3V7NmzfJ0GQCAZkpZnuLrEtDOOIwxxpsdVFRUqHfv3po/f77uu+++eturq6tVXV3teu10OpWQkKDKykpFRkZ6s7RG9Xlmjc/6bqtKO43zdQntRkpSoq9LAALe7gm7fV1CQHE6nYqKimrW8dvrV4J27dpVl1xyiYqKihrcHhoaqtDQUG+XAQAA2giv3+fjxIkTKi4uVlxcnLe7AgAAfsDj4ePJJ5/U5s2bVVpaqq1bt+q2225TcHCwxo4d6+muAACAH/L4xy779+/X2LFjdfToUfXo0UPXX3+9tm3bph49eni6KwAA4Ic8Hj4++OADT+8SAAAEEJ7tAgAArCJ8AAAAqwgfAADAKsIHAACwivABAACsInwAAACrCB8AAMAqrz/bBXbx8DcAQFvHmQ8AAGAV4QMAAFhF+AAAAFYRPgAAgFWEDwAAYBXhAwAAWEX4AAAAVhE+AACAVYQPAABgFeEDAABYRfgAAABWET4AAIBVhA8AAGBVu3uqbZ9n1vi6BPiBlKREX5cAAAGLMx8AAMAqwgcAALCK8AEAAKwifAAAAKsIHwAAwCrCBwAAsIrwAQAArCJ8AAAAqwgfAADAKsIHAACwivABAACsInwAAACrCB8AAMCqdvdUWwAA2oKU5Sk+63v3hN0+61vizAcAALCM8AEAAKwifAAAAKsIHwAAwCrCBwAAsIrwAQAArCJ8AAAAqwgfAADAKsIHAACwivABAACsInwAAACrCB8AAMAqwgcAALCKp9r6QGmncb4uAQAAn+HMBwAAsIrwAQAArCJ8AAAAqwgfAADAKsIHAACwivABAACsInwAAACrCB8AAMAqwgcAALDKa+Fj4cKF6tOnjzp16qS0tDR9/fXX3uoKAAD4Ea+Ej3/84x+aNm2aXnjhBX377bdKTU3V8OHDdfjwYW90BwAA/IhXwsf8+fM1adIk3XPPPbrsssu0ePFihYeHa8mSJd7oDgAA+BGPP1iupqZGO3fuVE5OjmtdUFCQMjIylJ+fX699dXW1qqurXa8rKyslSU6n09OlSZLqqk96Zb8t4XQYX5eAJpz59YyvSwDgZd46zjSXL99nvDH2s/s0puljnMfDx88//6wzZ86oZ8+ebut79uypH374oV773NxczZo1q976hIQET5fWZkT5ugA0w399XQAAL4ua3H7fjb059uPHjysqqvH9ezx8tFROTo6mTZvmel1XV6djx46pW7ducjgcTf6+0+lUQkKCfvrpJ0VGRnqzVJ8I9PFJgT/GQB+fFPhjDPTxSYwxEPh6fMYYHT9+XPHx8U229Xj46N69u4KDg3Xo0CG39YcOHVJsbGy99qGhoQoNDXVb17Vr1xb3GxkZGZD/mM4K9PFJgT/GQB+fFPhjDPTxSYwxEPhyfE2d8TjL4xechoSE6KqrrtKGDRtc6+rq6rRhwwalp6d7ujsAAOBnvPKxy7Rp0zRhwgRdffXVuvbaa7VgwQJVVVXpnnvu8UZ3AADAj3glfNxxxx06cuSIZsyYofLycl1xxRVau3ZtvYtQPSE0NFQvvPBCvY9uAkWgj08K/DEG+vikwB9joI9PYoyBwJ/G5zDN+U4MAACAh/BsFwAAYBXhAwAAWEX4AAAAVhE+AACAVX4RPnJzc3XNNdcoIiJCMTExGjVqlAoLC93aDB06VA6Hw2156KGHfFRxy8ycObNe7QMGDHBtP3XqlLKzs9WtWzd16dJFY8aMqXcTt7auT58+9cbocDiUnZ0tyT/nb8uWLbr55psVHx8vh8OhlStXum03xmjGjBmKi4tTWFiYMjIytHfvXrc2x44d0/jx4xUZGamuXbvqvvvu04kTJyyO4vwaG19tba2mT5+ulJQUde7cWfHx8br77rt18OBBt300NO9z5syxPJLza2oOJ06cWK/+ESNGuLXx1zmU1ODfpMPh0Lx581xt2vIcNufY0Jz3z3379mnkyJEKDw9XTEyMnnrqKZ0+fdrmUM6rqTEeO3ZMjzzyiJKTkxUWFqbExEQ9+uijruekndXQPH/wwQe2h+PiF+Fj8+bNys7O1rZt27Ru3TrV1tYqMzNTVVVVbu0mTZqksrIy1zJ37lwfVdxyl19+uVvtX331lWvb448/rk8//VQfffSRNm/erIMHD2r06NE+rLblvvnmG7fxrVu3TpJ0++23u9r42/xVVVUpNTVVCxcubHD73Llz9frrr2vx4sXavn27OnfurOHDh+vUqVOuNuPHj9f333+vdevWafXq1dqyZYseeOABW0NoVGPjO3nypL799ls9//zz+vbbb/Xxxx+rsLBQt9xyS722s2fPdpvXRx55xEb5zdLUHErSiBEj3Op///333bb76xxKchtXWVmZlixZIofDoTFjxri1a6tz2JxjQ1Pvn2fOnNHIkSNVU1OjrVu3avny5Vq2bJlmzJjhiyHV09QYDx48qIMHD+rVV1/Vnj17tGzZMq1du1b33XdfvX0tXbrUbR5HjRpleTT/w/ihw4cPG0lm8+bNrnV/+tOfzGOPPea7olrhhRdeMKmpqQ1uq6ioMB07djQfffSRa91///tfI8nk5+dbqtDzHnvsMdOvXz9TV1dnjPHv+TPGGElmxYoVrtd1dXUmNjbWzJs3z7WuoqLChIaGmvfff98YY8x//vMfI8l88803rjaff/65cTgc5sCBA9Zqb45zx9eQr7/+2kgyP/74o2td7969zWuvvebd4jykoTFOmDDB3Hrrref9nUCbw1tvvdXceOONbuv8aQ7PPTY05/3zs88+M0FBQaa8vNzVZtGiRSYyMtJUV1fbHUAzNHT8O9eHH35oQkJCTG1trWtdc+bfJr8483Gus6eToqOj3da/++676t69uwYOHKicnBydPHnSF+VdkL179yo+Pl59+/bV+PHjtW/fPknSzp07VVtbq4yMDFfbAQMGKDExUfn5+b4qt1Vqamr0zjvv6N5773V7eKA/z9+5SkpKVF5e7jZvUVFRSktLc81bfn6+unbtqquvvtrVJiMjQ0FBQdq+fbv1mlursrJSDoej3rOZ5syZo27dumnw4MGaN29emzmd3Vx5eXmKiYlRcnKyJk+erKNHj7q2BdIcHjp0SGvWrGnw/5j9ZQ7PPTY05/0zPz9fKSkpbjfBHD58uJxOp77//nuL1TfP+Y5/57aJjIxUhw7u9xHNzs5W9+7dde2112rJkiUyPrzNl8+fattSdXV1mjp1qq677joNHDjQtX7cuHHq3bu34uPjtWvXLk2fPl2FhYX6+OOPfVht86SlpWnZsmVKTk5WWVmZZs2apT/+8Y/as2ePysvLFRISUu8NvWfPniovL/dNwa20cuVKVVRUaOLEia51/jx/DTk7N+fe1fd/5628vFwxMTFu2zt06KDo6Gi/m9tTp05p+vTpGjt2rNsDrR599FFdeeWVio6O1tatW5WTk6OysjLNnz/fh9U234gRIzR69GglJSWpuLhYzz77rLKyspSfn6/g4OCAmsPly5crIiKi3ke6/jKHDR0bmvP+WV5e3uDf6dltbcn5jn//6+eff9aLL75Y76O/2bNn68Ybb1R4eLi+/PJLPfzwwzpx4oQeffRRG6XX43fhIzs7W3v27HG7JkKS23/olJQUxcXFadiwYSouLla/fv1sl9kiWVlZrp8HDRqktLQ09e7dWx9++KHCwsJ8WJl3vPXWW8rKynJ77LI/z197V1tbqz//+c8yxmjRokVu26ZNm+b6edCgQQoJCdGDDz6o3Nxcv7gF9J133un6OSUlRYMGDVK/fv2Ul5enYcOG+bAyz1uyZInGjx+vTp06ua33lzk837EhkDQ1RqfTqZEjR+qyyy7TzJkz3bY9//zzrp8HDx6sqqoqzZs3z2fhw68+dpkyZYpWr16tTZs2qVevXo22TUtLkyQVFRXZKM2junbtqksuuURFRUWKjY1VTU2NKioq3NocOnRIsbGxvimwFX788UetX79e999/f6Pt/Hn+JLnm5tyr6v933mJjY3X48GG37adPn9axY8f8Zm7PBo8ff/xR69ata/Ix3mlpaTp9+rRKS0vtFOhhffv2Vffu3V3/LgNhDiXpX//6lwoLC5v8u5Ta5hye79jQnPfP2NjYBv9Oz25rK5o6/h0/flwjRoxQRESEVqxYoY4dOza6v7S0NO3fv1/V1dXeKrlRfhE+jDGaMmWKVqxYoY0bNyopKanJ3ykoKJAkxcXFebk6zztx4oSKi4sVFxenq666Sh07dtSGDRtc2wsLC7Vv3z6lp6f7sMoLs3TpUsXExGjkyJGNtvPn+ZOkpKQkxcbGus2b0+nU9u3bXfOWnp6uiooK7dy509Vm48aNqqurc4Wvtuxs8Ni7d6/Wr1+vbt26Nfk7BQUFCgoKqvdRhb/Yv3+/jh496vp36e9zeNZbb72lq666SqmpqU22bUtz2NSxoTnvn+np6dq9e7dbiDwbpC+77DI7A2lEc45/TqdTmZmZCgkJ0SeffFLv7FVDCgoKdNFFF/nu7JVPL3dtpsmTJ5uoqCiTl5dnysrKXMvJkyeNMcYUFRWZ2bNnmx07dpiSkhKzatUq07dvXzNkyBAfV948TzzxhMnLyzMlJSXm3//+t8nIyDDdu3c3hw8fNsYY89BDD5nExESzceNGs2PHDpOenm7S09N9XHXLnTlzxiQmJprp06e7rffX+Tt+/Lj57rvvzHfffWckmfnz55vvvvvO9W2POXPmmK5du5pVq1aZXbt2mVtvvdUkJSWZX3/91bWPESNGmMGDB5vt27ebr776yvTv39+MHTvWV0Ny09j4ampqzC233GJ69eplCgoK3P4uz35DYOvWrea1114zBQUFpri42LzzzjumR48e5u677/bxyP5fY2M8fvy4efLJJ01+fr4pKSkx69evN1deeaXp37+/OXXqlGsf/jqHZ1VWVprw8HCzaNGier/f1uewqWODMU2/f54+fdoMHDjQZGZmmoKCArN27VrTo0cPk5OT44sh1dPUGCsrK01aWppJSUkxRUVFbm1Onz5tjDHmk08+MW+++abZvXu32bt3r3njjTdMeHi4mTFjhs/G5RfhQ1KDy9KlS40xxuzbt88MGTLEREdHm9DQUHPxxRebp556ylRWVvq28Ga64447TFxcnAkJCTG/+93vzB133GGKiopc23/99Vfz8MMPm4suusiEh4eb2267zZSVlfmw4gvzxRdfGEmmsLDQbb2/zt+mTZsa/Hc5YcIEY8xvX7d9/vnnTc+ePU1oaKgZNmxYvbEfPXrUjB071nTp0sVERkaae+65xxw/ftwHo6mvsfGVlJSc9+9y06ZNxhhjdu7cadLS0kxUVJTp1KmTufTSS83LL7/sduD2tcbGePLkSZOZmWl69OhhOnbsaHr37m0mTZrk9pVMY/x3Ds/629/+ZsLCwkxFRUW932/rc9jUscGY5r1/lpaWmqysLBMWFma6d+9unnjiCbevqfpSU2M83xxLMiUlJcaY377+fcUVV5guXbqYzp07m9TUVLN48WJz5swZn43LYYwPv2sDAADaHb+45gMAAAQOwgcAALCK8AEAAKwifAAAAKsIHwAAwCrCBwAAsIrwAQAArCJ8AAAAqwgfAADAKsIHAACwivABAACsInwAAACr/g845e00T7s4mQAAAABJRU5ErkJggg==">
            <a:extLst>
              <a:ext uri="{FF2B5EF4-FFF2-40B4-BE49-F238E27FC236}">
                <a16:creationId xmlns:a16="http://schemas.microsoft.com/office/drawing/2014/main" id="{0BC462CA-A817-CE20-4192-21E595BF0B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95372-37BA-D0E6-CAB2-0D0CE5002089}"/>
              </a:ext>
            </a:extLst>
          </p:cNvPr>
          <p:cNvSpPr txBox="1"/>
          <p:nvPr/>
        </p:nvSpPr>
        <p:spPr>
          <a:xfrm>
            <a:off x="539248" y="817140"/>
            <a:ext cx="11233248" cy="198099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+mj-ea"/>
                <a:ea typeface="+mj-ea"/>
                <a:cs typeface="Microsoft Sans Serif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Naive_Bayes_classifier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의 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10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명의 남녀 데이터를 참고하여 성별을 분류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(classification)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하라</a:t>
            </a:r>
            <a:endParaRPr lang="en-US" altLang="ko-KR" sz="1400" dirty="0">
              <a:latin typeface="+mj-ea"/>
              <a:ea typeface="+mj-ea"/>
              <a:cs typeface="Microsoft Sans Serif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height,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weight,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foot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size 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등의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feature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가 없다면 남녀 분류의 사전확률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(Prior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probability)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은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남성과 여성인 경우의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height,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weight,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foot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size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의 확률분포는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? 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조건부 확률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(Conditional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probability)</a:t>
            </a:r>
            <a:r>
              <a:rPr lang="ko-KR" altLang="en-US" sz="1400" dirty="0">
                <a:latin typeface="+mj-ea"/>
                <a:cs typeface="Microsoft Sans Serif" panose="020B0604020202020204" pitchFamily="34" charset="0"/>
              </a:rPr>
              <a:t>이다</a:t>
            </a:r>
            <a:r>
              <a:rPr lang="en-US" altLang="ko-KR" sz="1400" dirty="0">
                <a:latin typeface="+mj-ea"/>
                <a:cs typeface="Microsoft Sans Serif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그렇다면 이러한 데이터를 관측하게 되면 남녀 분류의 사후확률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(Posterior probability)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을 구할 수 있게 된다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height(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키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)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가 ６인 경우는 성별은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height,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weight,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foot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size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가 각각 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6, 130, 8</a:t>
            </a:r>
            <a:r>
              <a:rPr lang="ko-KR" altLang="en-US" sz="1400" dirty="0">
                <a:latin typeface="+mj-ea"/>
                <a:ea typeface="+mj-ea"/>
                <a:cs typeface="Microsoft Sans Serif" panose="020B0604020202020204" pitchFamily="34" charset="0"/>
              </a:rPr>
              <a:t>인 경우는 성별은</a:t>
            </a:r>
            <a:r>
              <a:rPr lang="en-US" altLang="ko-KR" sz="1400" dirty="0">
                <a:latin typeface="+mj-ea"/>
                <a:ea typeface="+mj-ea"/>
                <a:cs typeface="Microsoft Sans Serif" panose="020B0604020202020204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54037-EF5F-6676-2845-DFE41CC609D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7BD4E4-D7A5-39FE-94C9-979CCE55C965}"/>
              </a:ext>
            </a:extLst>
          </p:cNvPr>
          <p:cNvGrpSpPr/>
          <p:nvPr/>
        </p:nvGrpSpPr>
        <p:grpSpPr>
          <a:xfrm>
            <a:off x="1053852" y="2959184"/>
            <a:ext cx="4320480" cy="3762292"/>
            <a:chOff x="1341884" y="2717025"/>
            <a:chExt cx="4703341" cy="401511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A17A6C8-B135-8113-EE80-9F2B4DFBDDF6}"/>
                </a:ext>
              </a:extLst>
            </p:cNvPr>
            <p:cNvGrpSpPr/>
            <p:nvPr/>
          </p:nvGrpSpPr>
          <p:grpSpPr>
            <a:xfrm>
              <a:off x="1341884" y="2717025"/>
              <a:ext cx="4703341" cy="4015112"/>
              <a:chOff x="526975" y="2706363"/>
              <a:chExt cx="5495430" cy="4078675"/>
            </a:xfrm>
          </p:grpSpPr>
          <p:pic>
            <p:nvPicPr>
              <p:cNvPr id="22" name="Picture 4">
                <a:extLst>
                  <a:ext uri="{FF2B5EF4-FFF2-40B4-BE49-F238E27FC236}">
                    <a16:creationId xmlns:a16="http://schemas.microsoft.com/office/drawing/2014/main" id="{1AE2F6F5-FB5A-28B2-B7A7-93D12D6FF1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6975" y="5416891"/>
                <a:ext cx="5490318" cy="13681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6">
                <a:extLst>
                  <a:ext uri="{FF2B5EF4-FFF2-40B4-BE49-F238E27FC236}">
                    <a16:creationId xmlns:a16="http://schemas.microsoft.com/office/drawing/2014/main" id="{9A113EA8-C2DF-E174-4482-C0C5EDD435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6975" y="2706363"/>
                <a:ext cx="5495430" cy="13681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8">
                <a:extLst>
                  <a:ext uri="{FF2B5EF4-FFF2-40B4-BE49-F238E27FC236}">
                    <a16:creationId xmlns:a16="http://schemas.microsoft.com/office/drawing/2014/main" id="{C59FAC5E-D27B-D756-EDA2-328D311C37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6975" y="4074510"/>
                <a:ext cx="5490318" cy="13681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순서도: 추출 13">
              <a:extLst>
                <a:ext uri="{FF2B5EF4-FFF2-40B4-BE49-F238E27FC236}">
                  <a16:creationId xmlns:a16="http://schemas.microsoft.com/office/drawing/2014/main" id="{94C1BE0B-CB82-8942-CF80-1F034704CFB6}"/>
                </a:ext>
              </a:extLst>
            </p:cNvPr>
            <p:cNvSpPr/>
            <p:nvPr/>
          </p:nvSpPr>
          <p:spPr>
            <a:xfrm>
              <a:off x="3529285" y="3614502"/>
              <a:ext cx="162082" cy="207630"/>
            </a:xfrm>
            <a:prstGeom prst="flowChartExtra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순서도: 추출 14">
              <a:extLst>
                <a:ext uri="{FF2B5EF4-FFF2-40B4-BE49-F238E27FC236}">
                  <a16:creationId xmlns:a16="http://schemas.microsoft.com/office/drawing/2014/main" id="{4BED69E3-5F45-38A1-E8E0-A35A7FBC62D5}"/>
                </a:ext>
              </a:extLst>
            </p:cNvPr>
            <p:cNvSpPr/>
            <p:nvPr/>
          </p:nvSpPr>
          <p:spPr>
            <a:xfrm>
              <a:off x="4294212" y="5013176"/>
              <a:ext cx="162082" cy="207630"/>
            </a:xfrm>
            <a:prstGeom prst="flowChartExtra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순서도: 추출 15">
              <a:extLst>
                <a:ext uri="{FF2B5EF4-FFF2-40B4-BE49-F238E27FC236}">
                  <a16:creationId xmlns:a16="http://schemas.microsoft.com/office/drawing/2014/main" id="{2E20C516-282D-0365-5E24-FA0F495AB4F4}"/>
                </a:ext>
              </a:extLst>
            </p:cNvPr>
            <p:cNvSpPr/>
            <p:nvPr/>
          </p:nvSpPr>
          <p:spPr>
            <a:xfrm>
              <a:off x="3862164" y="6252536"/>
              <a:ext cx="162082" cy="207630"/>
            </a:xfrm>
            <a:prstGeom prst="flowChartExtra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9F64CCA-BA9F-9CE6-8D96-97143F06F3B5}"/>
              </a:ext>
            </a:extLst>
          </p:cNvPr>
          <p:cNvSpPr txBox="1"/>
          <p:nvPr/>
        </p:nvSpPr>
        <p:spPr>
          <a:xfrm>
            <a:off x="7379655" y="3939278"/>
            <a:ext cx="3539293" cy="886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키가 </a:t>
            </a: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5.65, 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몸무게가 </a:t>
            </a: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160.45 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발의 크기가 </a:t>
            </a: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7.88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인 사람의 성별 예측 값과 그 확률은</a:t>
            </a: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?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B3F1669-C37A-CFE4-9971-B8B87999A802}"/>
              </a:ext>
            </a:extLst>
          </p:cNvPr>
          <p:cNvCxnSpPr/>
          <p:nvPr/>
        </p:nvCxnSpPr>
        <p:spPr>
          <a:xfrm>
            <a:off x="5806380" y="4437112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6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A57-7963-F069-6B19-C29EE8FD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01409-FC0B-93A1-E3C6-44BC7892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0D26D-A9D0-2236-36E0-A89E242D0C0C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(Advanced)</a:t>
            </a:r>
            <a:endParaRPr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9D07-2A4F-882B-ECB2-939FE65B77D8}"/>
              </a:ext>
            </a:extLst>
          </p:cNvPr>
          <p:cNvSpPr txBox="1"/>
          <p:nvPr/>
        </p:nvSpPr>
        <p:spPr>
          <a:xfrm>
            <a:off x="6814492" y="1517966"/>
            <a:ext cx="5256584" cy="410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사전확률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사후확률 등의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Bayes' Theorem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사용하여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“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bill_length_mm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", "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각각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190mm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로 관측된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펭권이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어떤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속할지 예측 확률을 각각 구하라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scikit-learn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naïve bayes classifier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위의 예측 확률과 비교하라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결과값이 다른 지 설명하라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djEjs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가정사하잉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틀렸는지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FF7CC0-8215-188D-0BC3-C5C2CF955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28" y="1517966"/>
            <a:ext cx="4790471" cy="475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7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A2005-BDA4-DC77-95AD-6E564FDA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70A408-2D72-D3B6-B575-50216A55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59</a:t>
            </a:fld>
            <a:endParaRPr lang="en-US" altLang="ko-KR" noProof="0" dirty="0"/>
          </a:p>
        </p:txBody>
      </p:sp>
      <p:sp>
        <p:nvSpPr>
          <p:cNvPr id="5" name="AutoShape 4" descr="data:image/png;base64,iVBORw0KGgoAAAANSUhEUgAAAh8AAAGdCAYAAACyzRGfAAAAOXRFWHRTb2Z0d2FyZQBNYXRwbG90bGliIHZlcnNpb24zLjcuMSwgaHR0cHM6Ly9tYXRwbG90bGliLm9yZy/bCgiHAAAACXBIWXMAAA9hAAAPYQGoP6dpAAAjy0lEQVR4nO3df1BVdf7H8dcFBUEBQ0VgBUUzrESyXyxb61oyKDmV6bSlbmk/rAwrsx9GW6bWhGljTjOmO03+aPu1NZtaWpa/0G1FS4tR240RBjIV1DS4igkon+8fjfe7V5Afcu/nci/Px8yZ4Z7z4Xzenz5yz6tzzz3HYYwxAgAAsCTI1wUAAID2hfABAACsInwAAACrCB8AAMAqwgcAALCK8AEAAKwifAAAAKsIHwAAwKoOvi7gXHV1dTp48KAiIiLkcDh8XQ4AAGgGY4yOHz+u+Ph4BQU1fm6jzYWPgwcPKiEhwddlAACAC/DTTz+pV69ejbZpc+EjIiJC0m/FR0ZG+rgaAADQHE6nUwkJCa7jeGPaXPg4+1FLZGQk4QMAAD/TnEsmuOAUAABYRfgAAABWET4AAIBVbe6aDwAA/JUxRqdPn9aZM2d8XYpXdOzYUcHBwa3eD+EDAAAPqKmpUVlZmU6ePOnrUrzG4XCoV69e6tKlS6v2Q/gAAKCV6urqVFJSouDgYMXHxyskJCTgbpRpjNGRI0e0f/9+9e/fv1VnQAgfAAC0Uk1Njerq6pSQkKDw8HBfl+M1PXr0UGlpqWpra1sVPrjgFAAAD2nqtuL+zlNncwL7vxIAAGhzCB8AAMCqFl3zkZubq48//lg//PCDwsLC9Ic//EGvvPKKkpOTXW2GDh2qzZs3u/3egw8+qMWLF3umYgAA/EifZ9ZY66t0zkhrfbVGi858bN68WdnZ2dq2bZvWrVun2tpaZWZmqqqqyq3dpEmTVFZW5lrmzp3r0aIBAID/atGZj7Vr17q9XrZsmWJiYrRz504NGTLEtT48PFyxsbGeqRAAAASUVl3zUVlZKUmKjo52W//uu++qe/fuGjhwoHJychq94Up1dbWcTqfbAgAAvO/IkSOKjY3Vyy+/7Fq3detWhYSEaMOGDV7r94Lv81FXV6epU6fquuuu08CBA13rx40bp969eys+Pl67du3S9OnTVVhYqI8//rjB/eTm5mrWrFkXWkZAau7ng/7y2R4AoG3q0aOHlixZolGjRikzM1PJycm66667NGXKFA0bNsxr/V5w+MjOztaePXv01Vdfua1/4IEHXD+npKQoLi5Ow4YNU3Fxsfr161dvPzk5OZo2bZrrtdPpVEJCwoWWBQAAWuCmm27SpEmTNH78eF199dXq3LmzcnNzvdrnBYWPKVOmaPXq1dqyZYt69erVaNu0tDRJUlFRUYPhIzQ0VKGhoRdSBgAA8IBXX31VAwcO1EcffaSdO3d6/bjcoms+jDGaMmWKVqxYoY0bNyopKanJ3ykoKJAkxcXFXVCBAADAu4qLi3Xw4EHV1dWptLTU6/216MxHdna23nvvPa1atUoREREqLy+XJEVFRSksLEzFxcV67733dNNNN6lbt27atWuXHn/8cQ0ZMkSDBg3yygAAAMCFq6mp0V/+8hfdcccdSk5O1v3336/du3crJibGa322KHwsWrRI0m83EvtfS5cu1cSJExUSEqL169drwYIFqqqqUkJCgsaMGaPnnnvOYwUDAADP+etf/6rKykq9/vrr6tKliz777DPde++9Wr16tdf6bFH4MMY0uj0hIaHe3U0BAGjP2vI3E/Py8rRgwQJt2rRJkZGRkqS///3vSk1N1aJFizR58mSv9HvB33YBAAD+bejQoaqtrXVb16dPH9d9vLyFB8sBAACrCB8AAMAqwgcAALCK8AEAAKwifAAAAKsIHwAAwCrCBwAAsIrwAQAArCJ8AAAAq7jDKQAA3jQzymJf3r0zqadw5gMAAFhF+AAAoJ16++231a1bN1VXV7utHzVqlO666y6v9Uv4AACgnbr99tt15swZffLJJ651hw8f1po1a3Tvvfd6rV/CBwAA7VRYWJjGjRunpUuXuta98847SkxM1NChQ73WL+EDAIB2bNKkSfryyy914MABSdKyZcs0ceJEORwOr/XJt10AAGjHBg8erNTUVL399tvKzMzU999/rzVr1ni1T8IHAADt3P33368FCxbowIEDysjIUEJCglf742MXAADauXHjxmn//v168803vXqh6VmEDwAA2rmoqCiNGTNGXbp00ahRo7zeHx+7AADgTX5y19EDBw5o/PjxCg0N9XpfhA8AANqxX375RXl5ecrLy9Mbb7xhpU/CBwAA7djgwYP1yy+/6JVXXlFycrKVPgkfAAC0Y6Wlpdb75IJTAABgFeEDAABYRfgAAABWET4AAIBVhA8AAGAV4QMAAFhF+AAAAFZxnw8AALwoZXmKtb52T9htra/W4MwHAACwivABAEA7VVpaKofDUW8ZOnSoV/vlYxcAANqphIQElZWVuV6Xl5crIyNDQ4YM8Wq/hA8AANqp4OBgxcbGSpJOnTqlUaNGKT09XTNnzvRqv4QPoK2aGeXFfVd6b9+tYPPCvHP5y4V6gLfce++9On78uNatW6egIO9elUH4AACgnXvppZf0xRdf6Ouvv1ZERITX+yN8AADQjv3zn//U7Nmz9fnnn6tfv35W+iR8AADQTu3Zs0d33323pk+frssvv1zl5eWSpJCQEEVHR3utX75qCwBAO7Vjxw6dPHlSL730kuLi4lzL6NGjvdovZz4AAPCitnwx88SJEzVx4kTr/XLmAwAAWEX4AAAAVhE+AACAVYQPAABgFeEDAABYRfgAAMBDjDG+LsGrPDU+wgcAAK3UsWNHSdLJkyd9XIl31dTUSPrtgXStwX0+AABopeDgYHXt2lWHDx+WJIWHh8vhcPi4Ks+qq6vTkSNHFB4erg4dWhcfCB8AAHjA2UfTnw0ggSgoKEiJiYmtDlaEDwAAPMDhcCguLk4xMTGqra31dTleERISoqCg1l+xQfgAAMCDgoODW31NRKDjglMAAGAV4QMAAFhF+AAAAFYRPgAAgFWEDwAAYBXhAwAAWNWi8JGbm6trrrlGERERiomJ0ahRo1RYWOjW5tSpU8rOzla3bt3UpUsXjRkzRocOHfJo0QAAwH+1KHxs3rxZ2dnZ2rZtm9atW6fa2lplZmaqqqrK1ebxxx/Xp59+qo8++kibN2/WwYMHNXr0aI8XDgAA/FOLbjK2du1at9fLli1TTEyMdu7cqSFDhqiyslJvvfWW3nvvPd14442SpKVLl+rSSy/Vtm3b9Pvf/95zlQMAAL/Uqms+KisrJUnR0dGSpJ07d6q2tlYZGRmuNgMGDFBiYqLy8/Nb0xUAAAgQF3x79bq6Ok2dOlXXXXedBg4cKEkqLy9XSEiIunbt6ta2Z8+eKi8vb3A/1dXVqq6udr12Op0XWhIAAPADFxw+srOztWfPHn311VetKiA3N1ezZs1q1T4AeE7K8hRflwAgwF3Qxy5TpkzR6tWrtWnTJvXq1cu1PjY2VjU1NaqoqHBrf+jQIdejhs+Vk5OjyspK1/LTTz9dSEkAAMBPtCh8GGM0ZcoUrVixQhs3blRSUpLb9quuukodO3bUhg0bXOsKCwu1b98+paenN7jP0NBQRUZGui0AACBwtehjl+zsbL333ntatWqVIiIiXNdxREVFKSwsTFFRUbrvvvs0bdo0RUdHKzIyUo888ojS09P5pgsAAJDUwvCxaNEiSdLQoUPd1i9dulQTJ06UJL322msKCgrSmDFjVF1dreHDh+uNN97wSLEAAMD/tSh8GGOabNOpUyctXLhQCxcuvOCiAABA4OLZLgAAwCrCBwAAsIrwAQAArCJ8AAAAqwgfAADAKsIHAACwivABAACsInwAAACrLviptgAAz/Hl04R3T9jts77RPnHmAwAAWEX4AAAAVhE+AACAVYQPAABgFeEDAABYRfgAAABWET4AAIBVhA8AAGAV4QMAAFhF+AAAAFYRPgAAgFWEDwAAYBXhAwAAWEX4AAAAVhE+AACAVYQPAABgFeEDAABYRfgAAABWET4AAIBVhA8AAGAV4QMAAFhF+AAAAFYRPgAAgFWEDwAAYBXhAwAAWEX4AAAAVhE+AACAVR18XQAuXJ9n1jSrXemckV6upI2bGeXFfVd6b98AEKA48wEAAKwifAAAAKsIHwAAwCrCBwAAsIrwAQAArCJ8AAAAqwgfAADAKsIHAACwivABAACsInwAAACrCB8AAMAqwgcAALCK8AEAAKwifAAAAKsIHwAAwCrCBwAAsIrwAQAArCJ8AAAAqwgfAADAKsIHAACwivABAACsInwAAACrCB8AAMCqFoePLVu26Oabb1Z8fLwcDodWrlzptn3ixIlyOBxuy4gRIzxVLwAA8HMtDh9VVVVKTU3VwoULz9tmxIgRKisrcy3vv/9+q4oEAACBo0NLfyErK0tZWVmNtgkNDVVsbOwFFwUAAAKXV675yMvLU0xMjJKTkzV58mQdPXr0vG2rq6vldDrdFgAAELhafOajKSNGjNDo0aOVlJSk4uJiPfvss8rKylJ+fr6Cg4Prtc/NzdWsWbM8XQYAtEjK8hRflwC0Gx4PH3feeafr55SUFA0aNEj9+vVTXl6ehg0bVq99Tk6Opk2b5nrtdDqVkJDg6bIAAEAb4fWv2vbt21fdu3dXUVFRg9tDQ0MVGRnptgAAgMDl9fCxf/9+HT16VHFxcd7uCgAA+IEWf+xy4sQJt7MYJSUlKigoUHR0tKKjozVr1iyNGTNGsbGxKi4u1tNPP62LL75Yw4cP92jhAADAP7U4fOzYsUM33HCD6/XZ6zUmTJigRYsWadeuXVq+fLkqKioUHx+vzMxMvfjiiwoNDfVc1QAAwG+1OHwMHTpUxpjzbv/iiy9aVRAAAAhsPNsFAABYRfgAAABWET4AAIBVhA8AAGAV4QMAAFhF+AAAAFYRPgAAgFUef7Ac0K7MjPJ1BQDgdzjzAQAArCJ8AAAAqwgfAADAKsIHAACwivABAACsInwAAACrCB8AAMAqwgcAALCK8AEAAKwifAAAAKsIHwAAwCrCBwAAsIrwAQAArOKpthb1eWaNr0sAAMDnOPMBAACsInwAAACrCB8AAMAqwgcAALCK8AEAAKwifAAAAKsIHwAAwCrCBwAAsIrwAQAArCJ8AAAAqwgfAADAKsIHAACwivABAACsInwAAACrCB8AAMAqwgcAALCK8AEAAKwifAAAAKsIHwAAwCrCBwAAsIrwAQAArCJ8AAAAqwgfAADAKsIHAACwivABAACsInwAAACrCB8AAMCqDr4uAN7X55k1zW5bOmekFytpxMwo3/TbXjX23zsp0V4dANolznwAAACrCB8AAMAqwgcAALCK8AEAAKwifAAAAKsIHwAAwCrCBwAAsIrwAQAArCJ8AAAAq1ocPrZs2aKbb75Z8fHxcjgcWrlypdt2Y4xmzJihuLg4hYWFKSMjQ3v37vVUvQAAwM+1OHxUVVUpNTVVCxcubHD73Llz9frrr2vx4sXavn27OnfurOHDh+vUqVOtLhYAAPi/Fj/bJSsrS1lZWQ1uM8ZowYIFeu6553TrrbdKkt5++2317NlTK1eu1J133tm6agEAgN/z6DUfJSUlKi8vV0ZGhmtdVFSU0tLSlJ+f3+DvVFdXy+l0ui0AACBweTR8lJeXS5J69uzptr5nz56ubefKzc1VVFSUa0lISPBkSQAAoI3x+bddcnJyVFlZ6Vp++uknX5cEAAC8yKPhIzY2VpJ06NAht/WHDh1ybTtXaGioIiMj3RYAABC4PBo+kpKSFBsbqw0bNrjWOZ1Obd++Xenp6Z7sCgAA+KkWf9vlxIkTKioqcr0uKSlRQUGBoqOjlZiYqKlTp+qll15S//79lZSUpOeff17x8fEaNWqUJ+sGAAB+qsXhY8eOHbrhhhtcr6dNmyZJmjBhgpYtW6ann35aVVVVeuCBB1RRUaHrr79ea9euVadOnTxXNQAA8FstDh9Dhw6VMea82x0Oh2bPnq3Zs2e3qjAAABCYfP5tFwAA0L4QPgAAgFWEDwAAYBXhAwAAWEX4AAAAVhE+AACAVYQPAABgFeEDAABY1eKbjCGw9XlmzXm3lXYaZ7ESAECg4swHAACwivABAACsInwAAACrCB8AAMAqwgcAALCK8AEAAKwifAAAAKsIHwAAwCrCBwAAsIrwAQAArCJ8AAAAqwgfAADAKsIHAACwiqfankdjT3cFAHhGyvIUn/W9e8Jun/Xd3nHmAwAAWEX4AAAAVhE+AACAVYQPAABgFeEDAABYRfgAAABWET4AAIBVhA8AAGAV4QMAAFhF+AAAAFYRPgAAgFWEDwAAYBXhAwAAWEX4AAAAVhE+AACAVYQPAABgFeEDAABYRfgAAABWET4AAIBVhA8AAGAV4QMAAFhF+AAAAFYRPgAAgFWEDwAAYBXhAwAAWEX4AAAAVhE+AACAVR18XQCA+lKSEn1dAgB4DWc+AACAVYQPAABgFeEDAABYRfgAAABWET4AAIBVhA8AAGAV4QMAAFhF+AAAAFYRPgAAgFUeDx8zZ86Uw+FwWwYMGODpbgAAgJ/yyu3VL7/8cq1fv/7/O+nAXdwBAMBvvJIKOnTooNjYWG/sGgAA+DmvXPOxd+9excfHq2/fvho/frz27dt33rbV1dVyOp1uCwAACFweP/ORlpamZcuWKTk5WWVlZZo1a5b++Mc/as+ePYqIiKjXPjc3V7NmzfJ0GQCAZkpZnuLrEtDOOIwxxpsdVFRUqHfv3po/f77uu+++eturq6tVXV3teu10OpWQkKDKykpFRkZ6s7RG9Xlmjc/6bqtKO43zdQntRkpSoq9LAALe7gm7fV1CQHE6nYqKimrW8dvrV4J27dpVl1xyiYqKihrcHhoaqtDQUG+XAQAA2giv3+fjxIkTKi4uVlxcnLe7AgAAfsDj4ePJJ5/U5s2bVVpaqq1bt+q2225TcHCwxo4d6+muAACAH/L4xy779+/X2LFjdfToUfXo0UPXX3+9tm3bph49eni6KwAA4Ic8Hj4++OADT+8SAAAEEJ7tAgAArCJ8AAAAqwgfAADAKsIHAACwivABAACsInwAAACrCB8AAMAqrz/bBXbx8DcAQFvHmQ8AAGAV4QMAAFhF+AAAAFYRPgAAgFWEDwAAYBXhAwAAWEX4AAAAVhE+AACAVYQPAABgFeEDAABYRfgAAABWET4AAIBVhA8AAGBVu3uqbZ9n1vi6BPiBlKREX5cAAAGLMx8AAMAqwgcAALCK8AEAAKwifAAAAKsIHwAAwCrCBwAAsIrwAQAArCJ8AAAAqwgfAADAKsIHAACwivABAACsInwAAACrCB8AAMCqdvdUWwAA2oKU5Sk+63v3hN0+61vizAcAALCM8AEAAKwifAAAAKsIHwAAwCrCBwAAsIrwAQAArCJ8AAAAqwgfAADAKsIHAACwivABAACsInwAAACrCB8AAMAqwgcAALCKp9r6QGmncb4uAQAAn+HMBwAAsIrwAQAArCJ8AAAAqwgfAADAKsIHAACwivABAACsInwAAACrCB8AAMAqwgcAALDKa+Fj4cKF6tOnjzp16qS0tDR9/fXX3uoKAAD4Ea+Ej3/84x+aNm2aXnjhBX377bdKTU3V8OHDdfjwYW90BwAA/IhXwsf8+fM1adIk3XPPPbrsssu0ePFihYeHa8mSJd7oDgAA+BGPP1iupqZGO3fuVE5OjmtdUFCQMjIylJ+fX699dXW1qqurXa8rKyslSU6n09OlSZLqqk96Zb8t4XQYX5eAJpz59YyvSwDgZd46zjSXL99nvDH2s/s0puljnMfDx88//6wzZ86oZ8+ebut79uypH374oV773NxczZo1q976hIQET5fWZkT5ugA0w399XQAAL4ua3H7fjb059uPHjysqqvH9ezx8tFROTo6mTZvmel1XV6djx46pW7ducjgcTf6+0+lUQkKCfvrpJ0VGRnqzVJ8I9PFJgT/GQB+fFPhjDPTxSYwxEPh6fMYYHT9+XPHx8U229Xj46N69u4KDg3Xo0CG39YcOHVJsbGy99qGhoQoNDXVb17Vr1xb3GxkZGZD/mM4K9PFJgT/GQB+fFPhjDPTxSYwxEPhyfE2d8TjL4xechoSE6KqrrtKGDRtc6+rq6rRhwwalp6d7ujsAAOBnvPKxy7Rp0zRhwgRdffXVuvbaa7VgwQJVVVXpnnvu8UZ3AADAj3glfNxxxx06cuSIZsyYofLycl1xxRVau3ZtvYtQPSE0NFQvvPBCvY9uAkWgj08K/DEG+vikwB9joI9PYoyBwJ/G5zDN+U4MAACAh/BsFwAAYBXhAwAAWEX4AAAAVhE+AACAVX4RPnJzc3XNNdcoIiJCMTExGjVqlAoLC93aDB06VA6Hw2156KGHfFRxy8ycObNe7QMGDHBtP3XqlLKzs9WtWzd16dJFY8aMqXcTt7auT58+9cbocDiUnZ0tyT/nb8uWLbr55psVHx8vh8OhlStXum03xmjGjBmKi4tTWFiYMjIytHfvXrc2x44d0/jx4xUZGamuXbvqvvvu04kTJyyO4vwaG19tba2mT5+ulJQUde7cWfHx8br77rt18OBBt300NO9z5syxPJLza2oOJ06cWK/+ESNGuLXx1zmU1ODfpMPh0Lx581xt2vIcNufY0Jz3z3379mnkyJEKDw9XTEyMnnrqKZ0+fdrmUM6rqTEeO3ZMjzzyiJKTkxUWFqbExEQ9+uijruekndXQPH/wwQe2h+PiF+Fj8+bNys7O1rZt27Ru3TrV1tYqMzNTVVVVbu0mTZqksrIy1zJ37lwfVdxyl19+uVvtX331lWvb448/rk8//VQfffSRNm/erIMHD2r06NE+rLblvvnmG7fxrVu3TpJ0++23u9r42/xVVVUpNTVVCxcubHD73Llz9frrr2vx4sXavn27OnfurOHDh+vUqVOuNuPHj9f333+vdevWafXq1dqyZYseeOABW0NoVGPjO3nypL799ls9//zz+vbbb/Xxxx+rsLBQt9xyS722s2fPdpvXRx55xEb5zdLUHErSiBEj3Op///333bb76xxKchtXWVmZlixZIofDoTFjxri1a6tz2JxjQ1Pvn2fOnNHIkSNVU1OjrVu3avny5Vq2bJlmzJjhiyHV09QYDx48qIMHD+rVV1/Vnj17tGzZMq1du1b33XdfvX0tXbrUbR5HjRpleTT/w/ihw4cPG0lm8+bNrnV/+tOfzGOPPea7olrhhRdeMKmpqQ1uq6ioMB07djQfffSRa91///tfI8nk5+dbqtDzHnvsMdOvXz9TV1dnjPHv+TPGGElmxYoVrtd1dXUmNjbWzJs3z7WuoqLChIaGmvfff98YY8x//vMfI8l88803rjaff/65cTgc5sCBA9Zqb45zx9eQr7/+2kgyP/74o2td7969zWuvvebd4jykoTFOmDDB3Hrrref9nUCbw1tvvdXceOONbuv8aQ7PPTY05/3zs88+M0FBQaa8vNzVZtGiRSYyMtJUV1fbHUAzNHT8O9eHH35oQkJCTG1trWtdc+bfJr8483Gus6eToqOj3da/++676t69uwYOHKicnBydPHnSF+VdkL179yo+Pl59+/bV+PHjtW/fPknSzp07VVtbq4yMDFfbAQMGKDExUfn5+b4qt1Vqamr0zjvv6N5773V7eKA/z9+5SkpKVF5e7jZvUVFRSktLc81bfn6+unbtqquvvtrVJiMjQ0FBQdq+fbv1mlursrJSDoej3rOZ5syZo27dumnw4MGaN29emzmd3Vx5eXmKiYlRcnKyJk+erKNHj7q2BdIcHjp0SGvWrGnw/5j9ZQ7PPTY05/0zPz9fKSkpbjfBHD58uJxOp77//nuL1TfP+Y5/57aJjIxUhw7u9xHNzs5W9+7dde2112rJkiUyPrzNl8+fattSdXV1mjp1qq677joNHDjQtX7cuHHq3bu34uPjtWvXLk2fPl2FhYX6+OOPfVht86SlpWnZsmVKTk5WWVmZZs2apT/+8Y/as2ePysvLFRISUu8NvWfPniovL/dNwa20cuVKVVRUaOLEia51/jx/DTk7N+fe1fd/5628vFwxMTFu2zt06KDo6Gi/m9tTp05p+vTpGjt2rNsDrR599FFdeeWVio6O1tatW5WTk6OysjLNnz/fh9U234gRIzR69GglJSWpuLhYzz77rLKyspSfn6/g4OCAmsPly5crIiKi3ke6/jKHDR0bmvP+WV5e3uDf6dltbcn5jn//6+eff9aLL75Y76O/2bNn68Ybb1R4eLi+/PJLPfzwwzpx4oQeffRRG6XX43fhIzs7W3v27HG7JkKS23/olJQUxcXFadiwYSouLla/fv1sl9kiWVlZrp8HDRqktLQ09e7dWx9++KHCwsJ8WJl3vPXWW8rKynJ77LI/z197V1tbqz//+c8yxmjRokVu26ZNm+b6edCgQQoJCdGDDz6o3Nxcv7gF9J133un6OSUlRYMGDVK/fv2Ul5enYcOG+bAyz1uyZInGjx+vTp06ua33lzk837EhkDQ1RqfTqZEjR+qyyy7TzJkz3bY9//zzrp8HDx6sqqoqzZs3z2fhw68+dpkyZYpWr16tTZs2qVevXo22TUtLkyQVFRXZKM2junbtqksuuURFRUWKjY1VTU2NKioq3NocOnRIsbGxvimwFX788UetX79e999/f6Pt/Hn+JLnm5tyr6v933mJjY3X48GG37adPn9axY8f8Zm7PBo8ff/xR69ata/Ix3mlpaTp9+rRKS0vtFOhhffv2Vffu3V3/LgNhDiXpX//6lwoLC5v8u5Ta5hye79jQnPfP2NjYBv9Oz25rK5o6/h0/flwjRoxQRESEVqxYoY4dOza6v7S0NO3fv1/V1dXeKrlRfhE+jDGaMmWKVqxYoY0bNyopKanJ3ykoKJAkxcXFebk6zztx4oSKi4sVFxenq666Sh07dtSGDRtc2wsLC7Vv3z6lp6f7sMoLs3TpUsXExGjkyJGNtvPn+ZOkpKQkxcbGus2b0+nU9u3bXfOWnp6uiooK7dy509Vm48aNqqurc4Wvtuxs8Ni7d6/Wr1+vbt26Nfk7BQUFCgoKqvdRhb/Yv3+/jh496vp36e9zeNZbb72lq666SqmpqU22bUtz2NSxoTnvn+np6dq9e7dbiDwbpC+77DI7A2lEc45/TqdTmZmZCgkJ0SeffFLv7FVDCgoKdNFFF/nu7JVPL3dtpsmTJ5uoqCiTl5dnysrKXMvJkyeNMcYUFRWZ2bNnmx07dpiSkhKzatUq07dvXzNkyBAfV948TzzxhMnLyzMlJSXm3//+t8nIyDDdu3c3hw8fNsYY89BDD5nExESzceNGs2PHDpOenm7S09N9XHXLnTlzxiQmJprp06e7rffX+Tt+/Lj57rvvzHfffWckmfnz55vvvvvO9W2POXPmmK5du5pVq1aZXbt2mVtvvdUkJSWZX3/91bWPESNGmMGDB5vt27ebr776yvTv39+MHTvWV0Ny09j4ampqzC233GJ69eplCgoK3P4uz35DYOvWrea1114zBQUFpri42LzzzjumR48e5u677/bxyP5fY2M8fvy4efLJJ01+fr4pKSkx69evN1deeaXp37+/OXXqlGsf/jqHZ1VWVprw8HCzaNGier/f1uewqWODMU2/f54+fdoMHDjQZGZmmoKCArN27VrTo0cPk5OT44sh1dPUGCsrK01aWppJSUkxRUVFbm1Onz5tjDHmk08+MW+++abZvXu32bt3r3njjTdMeHi4mTFjhs/G5RfhQ1KDy9KlS40xxuzbt88MGTLEREdHm9DQUHPxxRebp556ylRWVvq28Ga64447TFxcnAkJCTG/+93vzB133GGKiopc23/99Vfz8MMPm4suusiEh4eb2267zZSVlfmw4gvzxRdfGEmmsLDQbb2/zt+mTZsa/Hc5YcIEY8xvX7d9/vnnTc+ePU1oaKgZNmxYvbEfPXrUjB071nTp0sVERkaae+65xxw/ftwHo6mvsfGVlJSc9+9y06ZNxhhjdu7cadLS0kxUVJTp1KmTufTSS83LL7/sduD2tcbGePLkSZOZmWl69OhhOnbsaHr37m0mTZrk9pVMY/x3Ds/629/+ZsLCwkxFRUW932/rc9jUscGY5r1/lpaWmqysLBMWFma6d+9unnjiCbevqfpSU2M83xxLMiUlJcaY377+fcUVV5guXbqYzp07m9TUVLN48WJz5swZn43LYYwPv2sDAADaHb+45gMAAAQOwgcAALCK8AEAAKwifAAAAKsIHwAAwCrCBwAAsIrwAQAArCJ8AAAAqwgfAADAKsIHAACwivABAACsInwAAACr/g845e00T7s4mQAAAABJRU5ErkJggg==">
            <a:extLst>
              <a:ext uri="{FF2B5EF4-FFF2-40B4-BE49-F238E27FC236}">
                <a16:creationId xmlns:a16="http://schemas.microsoft.com/office/drawing/2014/main" id="{01160EE1-4311-92FB-0B78-A50DA2151A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9F1FA-6E01-5156-39C8-DFAE884C495C}"/>
              </a:ext>
            </a:extLst>
          </p:cNvPr>
          <p:cNvSpPr txBox="1"/>
          <p:nvPr/>
        </p:nvSpPr>
        <p:spPr>
          <a:xfrm>
            <a:off x="693812" y="1268760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Appendix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5986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D918-8BCD-4EBB-F52D-33E99BB3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14A3B-E05C-E16C-694A-3329F7D3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DB3DE-4AE5-6516-34E6-E1AE5629E858}"/>
              </a:ext>
            </a:extLst>
          </p:cNvPr>
          <p:cNvSpPr txBox="1"/>
          <p:nvPr/>
        </p:nvSpPr>
        <p:spPr>
          <a:xfrm>
            <a:off x="261764" y="1268760"/>
            <a:ext cx="11161240" cy="167937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이하가 될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주사기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주사위의 합이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10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이상일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34609-F5D1-B602-90AB-5C18E527F48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26232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BBAE-FFE3-2677-8A21-7FF742C9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E3B10F-0B9A-C967-A286-C4EE0011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61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AA3EE-1640-1C9A-ED1B-40A28CF70D13}"/>
              </a:ext>
            </a:extLst>
          </p:cNvPr>
          <p:cNvSpPr txBox="1"/>
          <p:nvPr/>
        </p:nvSpPr>
        <p:spPr>
          <a:xfrm>
            <a:off x="261764" y="1268760"/>
            <a:ext cx="11161240" cy="112537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확률변수를 키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(Height)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 가정하고 당신의 키의 확률을 구하라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밀도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(density)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잴 수 있는가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DD9AE-E24D-E2F0-6A63-F8A55D75E0B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986AD7-3E7B-5919-60EE-F74CB411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4" y="2924944"/>
            <a:ext cx="4937358" cy="28083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3746ED-F49D-BDFF-E16A-9CEA0E945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356" y="2924944"/>
            <a:ext cx="480159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6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6E5B-1A28-3E3C-99D5-65BF6F82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783AFE-83D0-3344-C4F2-E7B4020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62</a:t>
            </a:fld>
            <a:endParaRPr lang="en-US" altLang="ko-K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A55D5-EC0F-8BFA-9085-308AA4EAE59E}"/>
                  </a:ext>
                </a:extLst>
              </p:cNvPr>
              <p:cNvSpPr txBox="1"/>
              <p:nvPr/>
            </p:nvSpPr>
            <p:spPr>
              <a:xfrm>
                <a:off x="418144" y="845423"/>
                <a:ext cx="11161240" cy="1980927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히스토그램과 확률밀도함수 관계를 설명하라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(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상식적으로 이해하지 마라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확률밀도는 직접 측정되는 값이 아니라 확률을 이용해 계산되는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”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비율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” 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개념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(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미분 값으로 존재하지 않는 값이다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)</a:t>
                </a:r>
                <a:endPara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6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fName>
                            <m:e/>
                          </m:func>
                        </m:e>
                        <m:lim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ko-KR" altLang="en-US" sz="16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ko-KR" sz="1600"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f>
                        <m:f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ko-KR" altLang="en-US" sz="16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ko-KR" altLang="en-US" sz="16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확률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=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면적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,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밀도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= 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높이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A55D5-EC0F-8BFA-9085-308AA4EAE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4" y="845423"/>
                <a:ext cx="11161240" cy="1980927"/>
              </a:xfrm>
              <a:prstGeom prst="rect">
                <a:avLst/>
              </a:prstGeom>
              <a:blipFill>
                <a:blip r:embed="rId3"/>
                <a:stretch>
                  <a:fillRect l="-218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4B46042-8D95-9C25-0AB5-B8CC2ED30D73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A6584D-678B-00D4-793F-7C3C72BCA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89" y="2996952"/>
            <a:ext cx="4811395" cy="35302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E6A1CD-1241-5345-77CB-DDF545F41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242" y="2980767"/>
            <a:ext cx="4355615" cy="35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4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786C-8452-461E-DB54-7B13E230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0BF5E10-4D5D-0E3D-AAD9-533E3BC3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63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C001F-94A0-9406-88DB-65BB35B0FFDB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AFA978D-4556-7909-45B1-FF0CCC1DC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88" y="3109192"/>
            <a:ext cx="10414892" cy="255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7951D-D81F-F753-1AB0-EC313649BA77}"/>
              </a:ext>
            </a:extLst>
          </p:cNvPr>
          <p:cNvSpPr txBox="1"/>
          <p:nvPr/>
        </p:nvSpPr>
        <p:spPr>
          <a:xfrm>
            <a:off x="418144" y="845423"/>
            <a:ext cx="11508916" cy="101059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데이터에서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“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total_bill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”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변수를 기준으로 </a:t>
            </a:r>
            <a:r>
              <a:rPr lang="de-DE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bandwidths = [1, 2, 4, 8, 12]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인</a:t>
            </a:r>
            <a:r>
              <a:rPr lang="de-DE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경우 히스토그램을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시각화하라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변수도 다양한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바탕으로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시각화하라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724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F8B4-D898-4FE3-C256-2D663CCE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20291-B8E6-441E-E52B-A382EE57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C7B0E-D0AF-23E6-20B5-63656A6721A8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96D0-9A5A-8596-29E5-AD843E2F5D09}"/>
              </a:ext>
            </a:extLst>
          </p:cNvPr>
          <p:cNvSpPr txBox="1"/>
          <p:nvPr/>
        </p:nvSpPr>
        <p:spPr>
          <a:xfrm>
            <a:off x="418144" y="845423"/>
            <a:ext cx="11508916" cy="225004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어떤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모집단을 가장 잘 보여주고 있는가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토론하고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solution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제시하라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아래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방법을 참고하라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수식 기반 규칙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(Freedman–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Diaconis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Scott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등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Cross-Validation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Bootstrap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Monte Carlo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 시뮬레이션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E64D0E2-0FF0-7906-8CC6-F3EC0DCC9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470" y="3667118"/>
            <a:ext cx="3876068" cy="257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3FE636D-D3F6-E7E3-E6AF-0D5FC550E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437" y="3667118"/>
            <a:ext cx="3876068" cy="260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D0028F-DA36-E744-8355-A4846CDE9604}"/>
              </a:ext>
            </a:extLst>
          </p:cNvPr>
          <p:cNvSpPr txBox="1"/>
          <p:nvPr/>
        </p:nvSpPr>
        <p:spPr>
          <a:xfrm>
            <a:off x="921355" y="3148823"/>
            <a:ext cx="3577362" cy="46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Cross-Validation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5ADB6-5579-DB33-7D74-E88D42FCE7DB}"/>
              </a:ext>
            </a:extLst>
          </p:cNvPr>
          <p:cNvSpPr txBox="1"/>
          <p:nvPr/>
        </p:nvSpPr>
        <p:spPr>
          <a:xfrm>
            <a:off x="5878388" y="3082306"/>
            <a:ext cx="3357458" cy="46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Bootstrap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55391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EC05-258B-CBA8-ABB9-5342CFFB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2CB4BE-311D-239F-DDBF-C0F05B43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A6E16-2EC6-295A-B539-93B34BEAE9C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4215A-8A70-CB54-9D21-BDC8122C59E5}"/>
              </a:ext>
            </a:extLst>
          </p:cNvPr>
          <p:cNvSpPr txBox="1"/>
          <p:nvPr/>
        </p:nvSpPr>
        <p:spPr>
          <a:xfrm>
            <a:off x="418144" y="845423"/>
            <a:ext cx="5100204" cy="563558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Histogram(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오른쪽 그림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은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에서 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 곡선의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데이터의 특성을 기반으로 자동으로 계산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기본적으로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Scott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규칙이나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Silverman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규칙과 같은 방법을 사용하여 최적의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추정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따라서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코드에서 특정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값이 명시적으로 설정된 것이 아니라 데이터에 따라 동적으로 결정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유효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2.9590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=10,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다양한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시각화해 보아라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! (50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개로 하면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9874A61-F8FF-3079-13C6-EA0B1C784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92" y="812885"/>
            <a:ext cx="4329516" cy="350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47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2611-A7A1-851B-91E1-7E4CA8E8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8F7825-2356-BD5A-6BF7-BE241161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1E4E40-9920-95E4-3C23-5F78B603D3F1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96B66-0F0F-AD72-6FA0-ED4F393E91B5}"/>
              </a:ext>
            </a:extLst>
          </p:cNvPr>
          <p:cNvSpPr txBox="1"/>
          <p:nvPr/>
        </p:nvSpPr>
        <p:spPr>
          <a:xfrm>
            <a:off x="375958" y="980728"/>
            <a:ext cx="11436908" cy="101059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데이터의 총 매출액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en-US" altLang="ko-KR" sz="1600" dirty="0" err="1"/>
              <a:t>total_bill</a:t>
            </a:r>
            <a:r>
              <a:rPr lang="en-US" altLang="ko-KR" sz="1600" dirty="0"/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으로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=?,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분산과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편향을 토론하고 발표하라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높으면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or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낮으면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분산과 편향은 각각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어떤가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(Hyperparameter Tuning)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3A8957B-8DE1-416B-BAB3-7711697A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742" y="2395911"/>
            <a:ext cx="9976464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0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1353</TotalTime>
  <Words>2854</Words>
  <Application>Microsoft Office PowerPoint</Application>
  <PresentationFormat>사용자 지정</PresentationFormat>
  <Paragraphs>480</Paragraphs>
  <Slides>66</Slides>
  <Notes>63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82" baseType="lpstr">
      <vt:lpstr>맑은 고딕</vt:lpstr>
      <vt:lpstr>맑은 고딕 Semilight</vt:lpstr>
      <vt:lpstr>한컴 말랑말랑 Bold</vt:lpstr>
      <vt:lpstr>휴먼모음T</vt:lpstr>
      <vt:lpstr>Arial</vt:lpstr>
      <vt:lpstr>Arial Narrow</vt:lpstr>
      <vt:lpstr>Britannic Bold</vt:lpstr>
      <vt:lpstr>Cambria</vt:lpstr>
      <vt:lpstr>Cambria Math</vt:lpstr>
      <vt:lpstr>Corbel</vt:lpstr>
      <vt:lpstr>Microsoft Sans Serif</vt:lpstr>
      <vt:lpstr>PT Sans</vt:lpstr>
      <vt:lpstr>Roboto</vt:lpstr>
      <vt:lpstr>Times New Roman</vt:lpstr>
      <vt:lpstr>Wingdings</vt:lpstr>
      <vt:lpstr>마케팅 16x9</vt:lpstr>
      <vt:lpstr>확률론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71</cp:revision>
  <dcterms:created xsi:type="dcterms:W3CDTF">2024-06-03T06:10:16Z</dcterms:created>
  <dcterms:modified xsi:type="dcterms:W3CDTF">2026-03-26T11:23:40Z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