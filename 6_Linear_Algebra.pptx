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0"/>
  </p:notesMasterIdLst>
  <p:sldIdLst>
    <p:sldId id="256" r:id="rId2"/>
    <p:sldId id="266" r:id="rId3"/>
    <p:sldId id="282" r:id="rId4"/>
    <p:sldId id="910" r:id="rId5"/>
    <p:sldId id="911" r:id="rId6"/>
    <p:sldId id="923" r:id="rId7"/>
    <p:sldId id="917" r:id="rId8"/>
    <p:sldId id="919" r:id="rId9"/>
    <p:sldId id="924" r:id="rId10"/>
    <p:sldId id="922" r:id="rId11"/>
    <p:sldId id="930" r:id="rId12"/>
    <p:sldId id="932" r:id="rId13"/>
    <p:sldId id="931" r:id="rId14"/>
    <p:sldId id="933" r:id="rId15"/>
    <p:sldId id="285" r:id="rId16"/>
    <p:sldId id="925" r:id="rId17"/>
    <p:sldId id="265" r:id="rId18"/>
    <p:sldId id="271" r:id="rId19"/>
    <p:sldId id="819" r:id="rId20"/>
    <p:sldId id="820" r:id="rId21"/>
    <p:sldId id="275" r:id="rId22"/>
    <p:sldId id="276" r:id="rId23"/>
    <p:sldId id="272" r:id="rId24"/>
    <p:sldId id="279" r:id="rId25"/>
    <p:sldId id="270" r:id="rId26"/>
    <p:sldId id="259" r:id="rId27"/>
    <p:sldId id="912" r:id="rId28"/>
    <p:sldId id="288" r:id="rId29"/>
    <p:sldId id="913" r:id="rId30"/>
    <p:sldId id="268" r:id="rId31"/>
    <p:sldId id="269" r:id="rId32"/>
    <p:sldId id="260" r:id="rId33"/>
    <p:sldId id="818" r:id="rId34"/>
    <p:sldId id="263" r:id="rId35"/>
    <p:sldId id="815" r:id="rId36"/>
    <p:sldId id="816" r:id="rId37"/>
    <p:sldId id="817" r:id="rId38"/>
    <p:sldId id="821" r:id="rId39"/>
    <p:sldId id="926" r:id="rId40"/>
    <p:sldId id="927" r:id="rId41"/>
    <p:sldId id="928" r:id="rId42"/>
    <p:sldId id="290" r:id="rId43"/>
    <p:sldId id="929" r:id="rId44"/>
    <p:sldId id="291" r:id="rId45"/>
    <p:sldId id="292" r:id="rId46"/>
    <p:sldId id="811" r:id="rId47"/>
    <p:sldId id="812" r:id="rId48"/>
    <p:sldId id="909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3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2026-04-05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9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1/lab/C1_W1_Lab_2_solving_linear_systems_2_variables.ipynb" TargetMode="External"/><Relationship Id="rId7" Type="http://schemas.openxmlformats.org/officeDocument/2006/relationships/hyperlink" Target="https://github.com/ancestor9/Mathematics-for-Big-Data-Science/tree/main" TargetMode="External"/><Relationship Id="rId2" Type="http://schemas.openxmlformats.org/officeDocument/2006/relationships/hyperlink" Target="https://github.com/ancestor9/Mathematics-for-Big-Data-Science/blob/main/C1/w1/lab/C1_W1_Lab_1_introduction_to_numpy_arrays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cestor9/Mathematics-for-Big-Data-Science/blob/main/C1/w3/lab/C1_W3_Lab_2_matrix_multiplication.ipynb" TargetMode="External"/><Relationship Id="rId5" Type="http://schemas.openxmlformats.org/officeDocument/2006/relationships/hyperlink" Target="https://github.com/ancestor9/Mathematics-for-Big-Data-Science/blob/main/C1/w3/lab/C1_W3_Lab_1_vector_operations.ipynb" TargetMode="External"/><Relationship Id="rId4" Type="http://schemas.openxmlformats.org/officeDocument/2006/relationships/hyperlink" Target="https://github.com/ancestor9/Mathematics-for-Big-Data-Science/blob/main/C1/w2/C1w2_ungraded_lab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microsoft.com/office/2007/relationships/hdphoto" Target="../media/hdphoto3.wdp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microsoft.com/office/2007/relationships/hdphoto" Target="../media/hdphoto5.wdp"/><Relationship Id="rId7" Type="http://schemas.microsoft.com/office/2007/relationships/hdphoto" Target="../media/hdphoto7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microsoft.com/office/2007/relationships/hdphoto" Target="../media/hdphoto6.wdp"/><Relationship Id="rId4" Type="http://schemas.openxmlformats.org/officeDocument/2006/relationships/image" Target="../media/image34.png"/><Relationship Id="rId9" Type="http://schemas.microsoft.com/office/2007/relationships/hdphoto" Target="../media/hdphoto8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human_data.csv" TargetMode="External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jakevdp.github.io/PythonDataScienceHandbook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270.png"/><Relationship Id="rId7" Type="http://schemas.openxmlformats.org/officeDocument/2006/relationships/image" Target="../media/image5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9.wdp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2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>
            <a:normAutofit/>
          </a:bodyPr>
          <a:lstStyle/>
          <a:p>
            <a:r>
              <a:rPr lang="ko-KR" altLang="en-US" sz="5400" dirty="0"/>
              <a:t>선형대수</a:t>
            </a:r>
            <a:br>
              <a:rPr lang="en-US" altLang="ko-KR" sz="5400" dirty="0"/>
            </a:br>
            <a:r>
              <a:rPr lang="en-US" altLang="ko-KR" sz="3200" dirty="0"/>
              <a:t>-</a:t>
            </a:r>
            <a:r>
              <a:rPr lang="ko-KR" altLang="en-US" sz="3200" dirty="0"/>
              <a:t>행렬과 벡터</a:t>
            </a:r>
            <a:r>
              <a:rPr lang="en-US" altLang="ko-KR" sz="3200" dirty="0"/>
              <a:t>-</a:t>
            </a:r>
            <a:endParaRPr lang="ko-KR" altLang="en-US" sz="5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712721" y="190500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대수</a:t>
            </a:r>
            <a:r>
              <a:rPr lang="en-US" altLang="ko-KR" cap="none" dirty="0"/>
              <a:t>(Algebra)</a:t>
            </a:r>
            <a:endParaRPr lang="ko-KR" altLang="en-US" cap="none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Algebra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(symbol)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(value)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관계를 다루고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namespace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(name)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객체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(object)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Algebra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), 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“참조” 즉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blipFill>
                <a:blip r:embed="rId2"/>
                <a:stretch>
                  <a:fillRect l="-1597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Python Namespace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# 3(class)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 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이걸 저장하는 공간이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namespace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(name) →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(object)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blipFill>
                <a:blip r:embed="rId3"/>
                <a:stretch>
                  <a:fillRect l="-1471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B4F9C7F-8274-24E6-8EA8-8A57004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304F-FC2F-A538-0931-D7B1771D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A8CB-E405-4FEF-CDED-A37652BB1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선형함수</a:t>
            </a:r>
            <a:r>
              <a:rPr lang="en-US" altLang="ko-KR" cap="none" dirty="0"/>
              <a:t>(Linear Function)</a:t>
            </a:r>
            <a:endParaRPr lang="ko-KR" altLang="en-US" cap="none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629EE5B-BFD1-8809-A749-306ED8DFBF0A}"/>
              </a:ext>
            </a:extLst>
          </p:cNvPr>
          <p:cNvGrpSpPr/>
          <p:nvPr/>
        </p:nvGrpSpPr>
        <p:grpSpPr>
          <a:xfrm>
            <a:off x="2178017" y="1931722"/>
            <a:ext cx="7061233" cy="3283085"/>
            <a:chOff x="2054192" y="2331772"/>
            <a:chExt cx="5270533" cy="3567045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971382-875A-BF7A-1785-11393B840C39}"/>
                </a:ext>
              </a:extLst>
            </p:cNvPr>
            <p:cNvSpPr txBox="1"/>
            <p:nvPr/>
          </p:nvSpPr>
          <p:spPr>
            <a:xfrm>
              <a:off x="2054192" y="2724745"/>
              <a:ext cx="5270533" cy="2837893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2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ko-KR" altLang="en-US" dirty="0">
                <a:latin typeface="Cambria Math" panose="02040503050406030204" pitchFamily="18" charset="0"/>
              </a:endParaRPr>
            </a:p>
          </p:txBody>
        </p:sp>
        <p:sp>
          <p:nvSpPr>
            <p:cNvPr id="6" name="순서도: 병합 5">
              <a:extLst>
                <a:ext uri="{FF2B5EF4-FFF2-40B4-BE49-F238E27FC236}">
                  <a16:creationId xmlns:a16="http://schemas.microsoft.com/office/drawing/2014/main" id="{1E1541FB-0C6A-321E-7ADC-5BC63BC6B524}"/>
                </a:ext>
              </a:extLst>
            </p:cNvPr>
            <p:cNvSpPr/>
            <p:nvPr/>
          </p:nvSpPr>
          <p:spPr>
            <a:xfrm>
              <a:off x="2146877" y="2331772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순서도: 병합 6">
              <a:extLst>
                <a:ext uri="{FF2B5EF4-FFF2-40B4-BE49-F238E27FC236}">
                  <a16:creationId xmlns:a16="http://schemas.microsoft.com/office/drawing/2014/main" id="{60294CFB-26C5-82B6-DCC8-9F27A3CD1C1B}"/>
                </a:ext>
              </a:extLst>
            </p:cNvPr>
            <p:cNvSpPr/>
            <p:nvPr/>
          </p:nvSpPr>
          <p:spPr>
            <a:xfrm rot="10800000">
              <a:off x="6238876" y="5112874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/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/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 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비틀림 없이 ‘비례적으로’ 변하는 직선구조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blipFill>
                <a:blip r:embed="rId3"/>
                <a:stretch>
                  <a:fillRect l="-476" b="-43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/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blipFill>
                <a:blip r:embed="rId4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0CD98FFA-12FD-5A9E-DFC9-8989FC423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7272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657C-F326-66CF-F9AE-DF09B5F23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132A9-54DB-5517-163B-69B926395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Linear or</a:t>
            </a:r>
            <a:r>
              <a:rPr lang="ko-KR" altLang="en-US" cap="none" dirty="0"/>
              <a:t> </a:t>
            </a:r>
            <a:r>
              <a:rPr lang="en-US" altLang="ko-KR" cap="none" dirty="0"/>
              <a:t>Non</a:t>
            </a:r>
            <a:r>
              <a:rPr lang="ko-KR" altLang="en-US" cap="none" dirty="0"/>
              <a:t> </a:t>
            </a:r>
            <a:r>
              <a:rPr lang="en-US" altLang="ko-KR" cap="none" dirty="0"/>
              <a:t>Linear</a:t>
            </a:r>
            <a:endParaRPr lang="ko-KR" altLang="en-US" cap="non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70156FA-95F7-B6E9-AB18-0E882F029FB2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0350" y="1000125"/>
            <a:ext cx="8826260" cy="518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/>
              <p:nvPr/>
            </p:nvSpPr>
            <p:spPr>
              <a:xfrm>
                <a:off x="14287" y="1870591"/>
                <a:ext cx="28670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en-US" dirty="0">
                    <a:solidFill>
                      <a:schemeClr val="tx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" y="1870591"/>
                <a:ext cx="2867025" cy="646331"/>
              </a:xfrm>
              <a:prstGeom prst="rect">
                <a:avLst/>
              </a:prstGeom>
              <a:blipFill>
                <a:blip r:embed="rId3"/>
                <a:stretch>
                  <a:fillRect b="-66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E7DB5585-9534-1A21-C090-FC9C1204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040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A493E-8D46-98E3-D750-4F9728748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072AFC8-2EFD-4D64-4991-E43E31F71508}"/>
              </a:ext>
            </a:extLst>
          </p:cNvPr>
          <p:cNvSpPr/>
          <p:nvPr/>
        </p:nvSpPr>
        <p:spPr>
          <a:xfrm>
            <a:off x="712721" y="255270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AB2ED9-C4A4-2333-3427-E407C2B17733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174582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DF1D5-A05D-AEED-E98C-0554BDE9B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6DE98D62-C4CA-D083-42E1-7177B6991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67647D6-E586-4953-AC23-D502780608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CCCE8E2-148B-F3D0-98EB-9A973DD2A5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555B3B8-885E-712C-52AB-4FCF7DF05CE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825F1F7-D7B1-B08D-29F3-0FD4E2185785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336A03-1E2E-2809-4249-9EFC05E6C4E5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67F56509-EA45-5AA7-1053-C90C622B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System of Linear Equations </a:t>
            </a: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658483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6924" y="2004685"/>
            <a:ext cx="8001000" cy="4119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1168736" y="971581"/>
            <a:ext cx="5784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398762" y="1543020"/>
                <a:ext cx="1207750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762" y="1543020"/>
                <a:ext cx="1207750" cy="461665"/>
              </a:xfrm>
              <a:prstGeom prst="rect">
                <a:avLst/>
              </a:prstGeom>
              <a:blipFill>
                <a:blip r:embed="rId3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325964" y="1543020"/>
                <a:ext cx="1284511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964" y="1543020"/>
                <a:ext cx="128451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307119" y="1543020"/>
                <a:ext cx="904875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119" y="1543020"/>
                <a:ext cx="90487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081716" y="1543020"/>
                <a:ext cx="1284511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1716" y="1543020"/>
                <a:ext cx="1284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D4AA-CF5F-4EFB-2604-B1E4314CC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FE92BF9F-AED6-6BBA-DF89-DD03B721F532}"/>
              </a:ext>
            </a:extLst>
          </p:cNvPr>
          <p:cNvSpPr/>
          <p:nvPr/>
        </p:nvSpPr>
        <p:spPr>
          <a:xfrm>
            <a:off x="712721" y="31813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D72458-EB29-DC49-19CA-B99C351CE2AD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2974209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BAE2-088E-398A-A555-BB8494B1A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962BDD78-DA65-389B-029C-A6795F47D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55C34F-9E02-4309-86EC-1C160E9F0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48B2B-FDED-8D25-FA5B-147EF38E5AEE}"/>
              </a:ext>
            </a:extLst>
          </p:cNvPr>
          <p:cNvSpPr txBox="1"/>
          <p:nvPr/>
        </p:nvSpPr>
        <p:spPr>
          <a:xfrm>
            <a:off x="3686175" y="2876864"/>
            <a:ext cx="57531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Introduction To 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Arrays</a:t>
            </a:r>
            <a:endParaRPr lang="en-US" altLang="ko-KR" dirty="0"/>
          </a:p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Solving Linear Systems : 2 Variables</a:t>
            </a:r>
            <a:endParaRPr lang="en-US" altLang="ko-KR" dirty="0"/>
          </a:p>
          <a:p>
            <a:endParaRPr lang="en-US" altLang="ko-KR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Solving Linear Systems : 3 Variables</a:t>
            </a:r>
            <a:endParaRPr lang="en-US" altLang="ko-KR" dirty="0"/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Vector Operations</a:t>
            </a:r>
            <a:endParaRPr lang="en-US" altLang="ko-KR" dirty="0"/>
          </a:p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Matrix Multiplication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15850-FC9A-41D5-A164-32A60D0DBA7E}"/>
              </a:ext>
            </a:extLst>
          </p:cNvPr>
          <p:cNvSpPr txBox="1"/>
          <p:nvPr/>
        </p:nvSpPr>
        <p:spPr>
          <a:xfrm>
            <a:off x="2457450" y="1673618"/>
            <a:ext cx="436600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Mathematics-for-Big-Data-Science</a:t>
            </a:r>
            <a:endParaRPr lang="en-US" altLang="ko-KR" sz="2400" dirty="0"/>
          </a:p>
          <a:p>
            <a:endParaRPr lang="en-US" altLang="ko-KR" dirty="0"/>
          </a:p>
          <a:p>
            <a:r>
              <a:rPr lang="en-US" altLang="ko-KR" dirty="0"/>
              <a:t>C1 </a:t>
            </a:r>
          </a:p>
          <a:p>
            <a:endParaRPr lang="en-US" altLang="ko-KR" dirty="0"/>
          </a:p>
          <a:p>
            <a:r>
              <a:rPr lang="en-US" altLang="ko-KR" dirty="0"/>
              <a:t>	w1</a:t>
            </a:r>
          </a:p>
          <a:p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	w2</a:t>
            </a:r>
          </a:p>
          <a:p>
            <a:endParaRPr lang="en-US" altLang="ko-KR" dirty="0"/>
          </a:p>
          <a:p>
            <a:r>
              <a:rPr lang="en-US" altLang="ko-KR" dirty="0"/>
              <a:t>	</a:t>
            </a:r>
          </a:p>
          <a:p>
            <a:endParaRPr lang="en-US" altLang="ko-KR" dirty="0"/>
          </a:p>
          <a:p>
            <a:r>
              <a:rPr lang="en-US" altLang="ko-KR" dirty="0"/>
              <a:t>	w3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9659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3CF63-9FB1-E1C2-0664-FAEFB8B14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CE5C447-24AA-9032-6029-B679A2900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F011B8-1EC7-E3D6-0915-4F268DAA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B4BCBE8-032C-6AA3-4A13-F2968A0010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14697" y="1487218"/>
            <a:ext cx="3578484" cy="10620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AED55F4-5183-ED3B-AB2D-858B6DC216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7048" y="3468974"/>
            <a:ext cx="4559683" cy="115435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242B8AD-DE21-C14A-C0D8-07E53F75F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77033" y="3457430"/>
            <a:ext cx="3174463" cy="116589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D517EA1-9024-3A60-F1AF-F315FE771E97}"/>
              </a:ext>
            </a:extLst>
          </p:cNvPr>
          <p:cNvSpPr txBox="1"/>
          <p:nvPr/>
        </p:nvSpPr>
        <p:spPr>
          <a:xfrm>
            <a:off x="4696557" y="2728171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 x 2 </a:t>
            </a:r>
            <a:r>
              <a:rPr lang="ko-KR" altLang="en-US" dirty="0"/>
              <a:t>행렬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4E7529-D1E4-BC4E-7345-99EC69B168F3}"/>
              </a:ext>
            </a:extLst>
          </p:cNvPr>
          <p:cNvSpPr txBox="1"/>
          <p:nvPr/>
        </p:nvSpPr>
        <p:spPr>
          <a:xfrm>
            <a:off x="6873342" y="2728171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 x 1 </a:t>
            </a:r>
            <a:r>
              <a:rPr lang="ko-KR" altLang="en-US" dirty="0"/>
              <a:t>벡터</a:t>
            </a:r>
          </a:p>
        </p:txBody>
      </p:sp>
    </p:spTree>
    <p:extLst>
      <p:ext uri="{BB962C8B-B14F-4D97-AF65-F5344CB8AC3E}">
        <p14:creationId xmlns:p14="http://schemas.microsoft.com/office/powerpoint/2010/main" val="4115293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39A0-66FA-CD4F-D4E1-32BA35D0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654849C9-29FF-F40D-CD73-EE50785B2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EBB228-B7E9-F283-345E-B5BAACFF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50E7C2-8B21-809C-7531-57EE312CA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09" y="4341883"/>
            <a:ext cx="2796782" cy="1737511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B57C1C42-814B-C5EA-6952-5C18701C9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7663" y="829387"/>
            <a:ext cx="5767387" cy="5817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81E2EE42-F7CC-8EFA-BEEF-C4A70A119C93}"/>
              </a:ext>
            </a:extLst>
          </p:cNvPr>
          <p:cNvGrpSpPr/>
          <p:nvPr/>
        </p:nvGrpSpPr>
        <p:grpSpPr>
          <a:xfrm>
            <a:off x="1030484" y="1752496"/>
            <a:ext cx="2194750" cy="723963"/>
            <a:chOff x="1030484" y="1752496"/>
            <a:chExt cx="2194750" cy="723963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D1FBEEE6-BD5E-1007-7749-B818070C8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0484" y="1752496"/>
              <a:ext cx="2194750" cy="72396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A2C58EDB-3F9F-2119-AF63-2AFEB4C60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8105" y="1766157"/>
              <a:ext cx="1089754" cy="624894"/>
            </a:xfrm>
            <a:prstGeom prst="rect">
              <a:avLst/>
            </a:prstGeom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0AD9695E-7597-3C21-5CFB-AEC9ABE25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8862" y="5437216"/>
            <a:ext cx="746825" cy="2819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6BE22F2-BE4F-49DC-3CF5-38E1C20A0A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0194" y="1956673"/>
            <a:ext cx="952583" cy="24386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926C2A-23B6-55B8-11C5-570CD83B0E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998" y="1752496"/>
            <a:ext cx="967824" cy="266723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C0E395D-964D-8CCC-94C3-1EDD870409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484" y="2830884"/>
            <a:ext cx="2095682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901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A7E90-8365-D46C-2B02-7BDDA0E48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B140D831-8A2F-E09A-9AEE-AD151792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469E7C-9CF5-8A29-11AB-5D7787046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B74FAC4-95F0-C3FA-50AA-98CF70A2AB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4793" y="1358233"/>
            <a:ext cx="3447474" cy="9820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4C917E1-F2D9-AEE9-59E2-5511B46C39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8043" y="3427730"/>
            <a:ext cx="2997355" cy="10025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B2B4855-7CFA-1278-AB2F-73BC29A861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39622" y="3427730"/>
            <a:ext cx="3017817" cy="9411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5E5B446-0F96-7776-002D-FBF361141D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85616" y="3402155"/>
            <a:ext cx="3652070" cy="99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32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493AD-1D97-BD8A-11D1-F088717D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95623242-E813-AD03-1C79-9F00687C9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852721A-D519-D285-7386-4872F435E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9EE15145-BCEF-E882-99CB-7964B4200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7D8084-2B35-7745-BB58-51DB56F0A881}"/>
              </a:ext>
            </a:extLst>
          </p:cNvPr>
          <p:cNvSpPr txBox="1"/>
          <p:nvPr/>
        </p:nvSpPr>
        <p:spPr>
          <a:xfrm>
            <a:off x="1140618" y="906230"/>
            <a:ext cx="8536781" cy="1614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human_data.csv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키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 크기를 산술평균 값을 관측치별로 구하고 어떤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index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사람이 가장 값이 큰가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 크기 등의 값 등은 자료 스케일링을 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array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연산으로 구하라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3667CC0-C8EC-BF6E-A42E-AA92B3DE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668" y="2660374"/>
            <a:ext cx="3318230" cy="3749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51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 err="1"/>
              <a:t>Numpy</a:t>
            </a:r>
            <a:r>
              <a:rPr lang="en-US" altLang="ko-KR" cap="none" dirty="0"/>
              <a:t> </a:t>
            </a:r>
            <a:r>
              <a:rPr lang="ko-KR" altLang="en-US" cap="none" dirty="0"/>
              <a:t>배우기</a:t>
            </a:r>
            <a:r>
              <a:rPr lang="en-US" altLang="ko-KR" cap="none" dirty="0"/>
              <a:t>(Option)</a:t>
            </a:r>
            <a:endParaRPr lang="ko-KR" altLang="en-US" cap="non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036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4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026" name="Picture 2" descr="Book Cover">
            <a:extLst>
              <a:ext uri="{FF2B5EF4-FFF2-40B4-BE49-F238E27FC236}">
                <a16:creationId xmlns:a16="http://schemas.microsoft.com/office/drawing/2014/main" id="{60892FA3-13A3-1621-652A-7A89672067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900" y="2448369"/>
            <a:ext cx="1929990" cy="254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A3FA131-6112-9A87-0CD9-C1A63FEEC93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82096" y="2363131"/>
            <a:ext cx="3876230" cy="261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133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712721" y="37814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19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27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29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A18B-FAA7-A506-D0B5-C7938B68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CA6B15B-3BEA-CA85-1730-791BB6E9CB82}"/>
              </a:ext>
            </a:extLst>
          </p:cNvPr>
          <p:cNvSpPr/>
          <p:nvPr/>
        </p:nvSpPr>
        <p:spPr>
          <a:xfrm>
            <a:off x="712721" y="444817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9C9790-71DE-406F-C8F5-99AE5A86103D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3860172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40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D1045F-CEE6-AEFF-D9D0-816CDFA04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Regression</a:t>
            </a:r>
            <a:r>
              <a:rPr lang="ko-KR" altLang="en-US" cap="none" dirty="0"/>
              <a:t> </a:t>
            </a:r>
            <a:r>
              <a:rPr lang="en-US" altLang="ko-KR" cap="none" dirty="0"/>
              <a:t>&amp;</a:t>
            </a:r>
            <a:r>
              <a:rPr lang="ko-KR" altLang="en-US" cap="none" dirty="0"/>
              <a:t> </a:t>
            </a:r>
            <a:r>
              <a:rPr lang="en-US" altLang="ko-KR" cap="none" dirty="0"/>
              <a:t>Perceptron</a:t>
            </a:r>
            <a:endParaRPr lang="ko-KR" altLang="en-US" cap="none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02749"/>
            <a:chOff x="2457450" y="1673618"/>
            <a:chExt cx="7934325" cy="330274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3754026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8024902-853C-5F4A-97DD-F81CF8529D00}"/>
                </a:ext>
              </a:extLst>
            </p:cNvPr>
            <p:cNvSpPr/>
            <p:nvPr/>
          </p:nvSpPr>
          <p:spPr>
            <a:xfrm>
              <a:off x="2457450" y="3581400"/>
              <a:ext cx="7464089" cy="13949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798352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41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B6E8D4-96DA-F930-897D-F1AEB1A48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Regression</a:t>
            </a:r>
            <a:r>
              <a:rPr lang="ko-KR" altLang="en-US" cap="none" dirty="0"/>
              <a:t> </a:t>
            </a:r>
            <a:r>
              <a:rPr lang="en-US" altLang="ko-KR" cap="none" dirty="0"/>
              <a:t>&amp;</a:t>
            </a:r>
            <a:r>
              <a:rPr lang="ko-KR" altLang="en-US" cap="none" dirty="0"/>
              <a:t> </a:t>
            </a:r>
            <a:r>
              <a:rPr lang="en-US" altLang="ko-KR" cap="none" dirty="0"/>
              <a:t>Perceptron</a:t>
            </a:r>
            <a:endParaRPr lang="ko-KR" altLang="en-US" cap="none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0362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64146" y="2555171"/>
            <a:ext cx="9359342" cy="40462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3066209" y="1780998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209" y="1780998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704" t="-21569" r="-3704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1064146" y="931082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46" y="931082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549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334" y="1545699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33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C0FFB-B417-9558-006F-9ED5DA9E8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BA7CBA0-C74A-FDCD-C73F-A4882EE3B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43</a:t>
            </a:fld>
            <a:endParaRPr lang="en-US" sz="2000" dirty="0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0194681C-3BD1-E94B-9059-492F08DEC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8327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155041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2090</TotalTime>
  <Words>2205</Words>
  <Application>Microsoft Office PowerPoint</Application>
  <PresentationFormat>와이드스크린</PresentationFormat>
  <Paragraphs>354</Paragraphs>
  <Slides>48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64" baseType="lpstr">
      <vt:lpstr>Nanum Gothic</vt:lpstr>
      <vt:lpstr>맑은 고딕</vt:lpstr>
      <vt:lpstr>맑은 고딕 Semilight</vt:lpstr>
      <vt:lpstr>Batang</vt:lpstr>
      <vt:lpstr>한컴 말랑말랑 Bold</vt:lpstr>
      <vt:lpstr>ADLaM Display</vt:lpstr>
      <vt:lpstr>Arial</vt:lpstr>
      <vt:lpstr>Arial Narrow</vt:lpstr>
      <vt:lpstr>Calibri</vt:lpstr>
      <vt:lpstr>Calibri Light</vt:lpstr>
      <vt:lpstr>Cambria Math</vt:lpstr>
      <vt:lpstr>Times New Roman</vt:lpstr>
      <vt:lpstr>Tw Cen MT</vt:lpstr>
      <vt:lpstr>Wingdings</vt:lpstr>
      <vt:lpstr>Wingdings 2</vt:lpstr>
      <vt:lpstr>물방울</vt:lpstr>
      <vt:lpstr>선형대수 -행렬과 벡터-</vt:lpstr>
      <vt:lpstr>PowerPoint 프레젠테이션</vt:lpstr>
      <vt:lpstr>대수(Algebra)</vt:lpstr>
      <vt:lpstr>선형함수(Linear Function)</vt:lpstr>
      <vt:lpstr>Linear or Non Linear</vt:lpstr>
      <vt:lpstr>PowerPoint 프레젠테이션</vt:lpstr>
      <vt:lpstr>System of Linear Equations </vt:lpstr>
      <vt:lpstr>Deep learning </vt:lpstr>
      <vt:lpstr>PowerPoint 프레젠테이션</vt:lpstr>
      <vt:lpstr>행렬과 벡터</vt:lpstr>
      <vt:lpstr>행렬과 벡터의 연산</vt:lpstr>
      <vt:lpstr>행렬과 벡터의 연산</vt:lpstr>
      <vt:lpstr>행렬과 벡터의 연산</vt:lpstr>
      <vt:lpstr>Hands-on</vt:lpstr>
      <vt:lpstr>Numpy 배우기(Option)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PowerPoint 프레젠테이션</vt:lpstr>
      <vt:lpstr>Regression &amp; Perceptron</vt:lpstr>
      <vt:lpstr>Regression &amp; Perceptron</vt:lpstr>
      <vt:lpstr>선형대수(linear algebra)</vt:lpstr>
      <vt:lpstr>Appendix</vt:lpstr>
      <vt:lpstr>선형대수(linear algebra)</vt:lpstr>
      <vt:lpstr>실습하기</vt:lpstr>
      <vt:lpstr>Digress : Shear Bradpit Image</vt:lpstr>
      <vt:lpstr>Digress : Kernel Transformation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33</cp:revision>
  <dcterms:created xsi:type="dcterms:W3CDTF">2026-03-09T22:59:08Z</dcterms:created>
  <dcterms:modified xsi:type="dcterms:W3CDTF">2026-04-05T14:08:17Z</dcterms:modified>
</cp:coreProperties>
</file>