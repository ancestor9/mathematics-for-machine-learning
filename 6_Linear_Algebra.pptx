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9"/>
  </p:notesMasterIdLst>
  <p:sldIdLst>
    <p:sldId id="256" r:id="rId2"/>
    <p:sldId id="266" r:id="rId3"/>
    <p:sldId id="282" r:id="rId4"/>
    <p:sldId id="910" r:id="rId5"/>
    <p:sldId id="911" r:id="rId6"/>
    <p:sldId id="923" r:id="rId7"/>
    <p:sldId id="917" r:id="rId8"/>
    <p:sldId id="919" r:id="rId9"/>
    <p:sldId id="924" r:id="rId10"/>
    <p:sldId id="922" r:id="rId11"/>
    <p:sldId id="930" r:id="rId12"/>
    <p:sldId id="932" r:id="rId13"/>
    <p:sldId id="931" r:id="rId14"/>
    <p:sldId id="285" r:id="rId15"/>
    <p:sldId id="925" r:id="rId16"/>
    <p:sldId id="265" r:id="rId17"/>
    <p:sldId id="271" r:id="rId18"/>
    <p:sldId id="819" r:id="rId19"/>
    <p:sldId id="820" r:id="rId20"/>
    <p:sldId id="275" r:id="rId21"/>
    <p:sldId id="276" r:id="rId22"/>
    <p:sldId id="272" r:id="rId23"/>
    <p:sldId id="279" r:id="rId24"/>
    <p:sldId id="270" r:id="rId25"/>
    <p:sldId id="259" r:id="rId26"/>
    <p:sldId id="912" r:id="rId27"/>
    <p:sldId id="288" r:id="rId28"/>
    <p:sldId id="913" r:id="rId29"/>
    <p:sldId id="268" r:id="rId30"/>
    <p:sldId id="269" r:id="rId31"/>
    <p:sldId id="260" r:id="rId32"/>
    <p:sldId id="818" r:id="rId33"/>
    <p:sldId id="263" r:id="rId34"/>
    <p:sldId id="815" r:id="rId35"/>
    <p:sldId id="816" r:id="rId36"/>
    <p:sldId id="817" r:id="rId37"/>
    <p:sldId id="821" r:id="rId38"/>
    <p:sldId id="926" r:id="rId39"/>
    <p:sldId id="927" r:id="rId40"/>
    <p:sldId id="928" r:id="rId41"/>
    <p:sldId id="290" r:id="rId42"/>
    <p:sldId id="929" r:id="rId43"/>
    <p:sldId id="291" r:id="rId44"/>
    <p:sldId id="292" r:id="rId45"/>
    <p:sldId id="811" r:id="rId46"/>
    <p:sldId id="812" r:id="rId47"/>
    <p:sldId id="909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39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2026-04-05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9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4/5/2026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1/lab/C1_W1_Lab_2_solving_linear_systems_2_variables.ipynb" TargetMode="External"/><Relationship Id="rId7" Type="http://schemas.openxmlformats.org/officeDocument/2006/relationships/hyperlink" Target="https://github.com/ancestor9/Mathematics-for-Big-Data-Science/tree/main" TargetMode="External"/><Relationship Id="rId2" Type="http://schemas.openxmlformats.org/officeDocument/2006/relationships/hyperlink" Target="https://github.com/ancestor9/Mathematics-for-Big-Data-Science/blob/main/C1/w1/lab/C1_W1_Lab_1_introduction_to_numpy_arrays.ipynb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ncestor9/Mathematics-for-Big-Data-Science/blob/main/C1/w3/lab/C1_W3_Lab_2_matrix_multiplication.ipynb" TargetMode="External"/><Relationship Id="rId5" Type="http://schemas.openxmlformats.org/officeDocument/2006/relationships/hyperlink" Target="https://github.com/ancestor9/Mathematics-for-Big-Data-Science/blob/main/C1/w3/lab/C1_W3_Lab_1_vector_operations.ipynb" TargetMode="External"/><Relationship Id="rId4" Type="http://schemas.openxmlformats.org/officeDocument/2006/relationships/hyperlink" Target="https://github.com/ancestor9/Mathematics-for-Big-Data-Science/blob/main/C1/w2/C1w2_ungraded_lab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microsoft.com/office/2007/relationships/hdphoto" Target="../media/hdphoto3.wdp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microsoft.com/office/2007/relationships/hdphoto" Target="../media/hdphoto5.wdp"/><Relationship Id="rId7" Type="http://schemas.microsoft.com/office/2007/relationships/hdphoto" Target="../media/hdphoto7.wdp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microsoft.com/office/2007/relationships/hdphoto" Target="../media/hdphoto6.wdp"/><Relationship Id="rId4" Type="http://schemas.openxmlformats.org/officeDocument/2006/relationships/image" Target="../media/image34.png"/><Relationship Id="rId9" Type="http://schemas.microsoft.com/office/2007/relationships/hdphoto" Target="../media/hdphoto8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jakevdp.github.io/PythonDataScienceHandbook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30.png"/><Relationship Id="rId7" Type="http://schemas.openxmlformats.org/officeDocument/2006/relationships/image" Target="../media/image27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5" Type="http://schemas.openxmlformats.org/officeDocument/2006/relationships/image" Target="../media/image250.png"/><Relationship Id="rId10" Type="http://schemas.openxmlformats.org/officeDocument/2006/relationships/image" Target="../media/image302.png"/><Relationship Id="rId4" Type="http://schemas.openxmlformats.org/officeDocument/2006/relationships/image" Target="../media/image240.png"/><Relationship Id="rId9" Type="http://schemas.openxmlformats.org/officeDocument/2006/relationships/image" Target="../media/image29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1.png"/><Relationship Id="rId7" Type="http://schemas.openxmlformats.org/officeDocument/2006/relationships/image" Target="../media/image34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10" Type="http://schemas.openxmlformats.org/officeDocument/2006/relationships/image" Target="../media/image371.png"/><Relationship Id="rId4" Type="http://schemas.openxmlformats.org/officeDocument/2006/relationships/image" Target="../media/image311.png"/><Relationship Id="rId9" Type="http://schemas.openxmlformats.org/officeDocument/2006/relationships/image" Target="../media/image36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svg"/><Relationship Id="rId3" Type="http://schemas.openxmlformats.org/officeDocument/2006/relationships/image" Target="../media/image270.png"/><Relationship Id="rId7" Type="http://schemas.openxmlformats.org/officeDocument/2006/relationships/image" Target="../media/image49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eg"/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0.png"/><Relationship Id="rId4" Type="http://schemas.openxmlformats.org/officeDocument/2006/relationships/image" Target="../media/image51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microsoft.com/office/2007/relationships/hdphoto" Target="../media/hdphoto9.wdp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72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>
            <a:normAutofit/>
          </a:bodyPr>
          <a:lstStyle/>
          <a:p>
            <a:r>
              <a:rPr lang="ko-KR" altLang="en-US" sz="5400" dirty="0"/>
              <a:t>선형대수</a:t>
            </a:r>
            <a:br>
              <a:rPr lang="en-US" altLang="ko-KR" sz="5400" dirty="0"/>
            </a:br>
            <a:r>
              <a:rPr lang="en-US" altLang="ko-KR" sz="3200" dirty="0"/>
              <a:t>-</a:t>
            </a:r>
            <a:r>
              <a:rPr lang="ko-KR" altLang="en-US" sz="3200" dirty="0"/>
              <a:t>행렬과 벡터</a:t>
            </a:r>
            <a:r>
              <a:rPr lang="en-US" altLang="ko-KR" sz="3200" dirty="0"/>
              <a:t>-</a:t>
            </a:r>
            <a:endParaRPr lang="ko-KR" altLang="en-US" sz="5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BC7E252-AF9C-7707-B610-3002F1588D0E}"/>
              </a:ext>
            </a:extLst>
          </p:cNvPr>
          <p:cNvSpPr/>
          <p:nvPr/>
        </p:nvSpPr>
        <p:spPr>
          <a:xfrm>
            <a:off x="712721" y="190500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629916" y="147612"/>
            <a:ext cx="8928992" cy="4826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벡터와 행렬 연산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(Regression)</a:t>
            </a: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퍼셉트론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(Perceptron)</a:t>
            </a: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대수</a:t>
            </a:r>
            <a:r>
              <a:rPr lang="en-US" altLang="ko-KR" cap="none" dirty="0"/>
              <a:t>(Algebra)</a:t>
            </a:r>
            <a:endParaRPr lang="ko-KR" altLang="en-US" cap="none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Algebra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기호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(symbol) 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(value)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관계를 다루고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namespace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이름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(name) ↔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객체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(object)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54744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Algebra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관점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이름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기호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), 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“참조” 즉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547446"/>
              </a:xfrm>
              <a:prstGeom prst="rect">
                <a:avLst/>
              </a:prstGeom>
              <a:blipFill>
                <a:blip r:embed="rId2"/>
                <a:stretch>
                  <a:fillRect l="-1597" b="-17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54744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Python Namespace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관점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2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  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# 3(class)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→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객체를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 y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→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이걸 저장하는 공간이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namespace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(name) →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객체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(object)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547446"/>
              </a:xfrm>
              <a:prstGeom prst="rect">
                <a:avLst/>
              </a:prstGeom>
              <a:blipFill>
                <a:blip r:embed="rId3"/>
                <a:stretch>
                  <a:fillRect l="-1471" b="-17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B4F9C7F-8274-24E6-8EA8-8A570044F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5304F-FC2F-A538-0931-D7B1771D0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A8CB-E405-4FEF-CDED-A37652BB1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선형함수</a:t>
            </a:r>
            <a:r>
              <a:rPr lang="en-US" altLang="ko-KR" cap="none" dirty="0"/>
              <a:t>(Linear Function)</a:t>
            </a:r>
            <a:endParaRPr lang="ko-KR" altLang="en-US" cap="none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629EE5B-BFD1-8809-A749-306ED8DFBF0A}"/>
              </a:ext>
            </a:extLst>
          </p:cNvPr>
          <p:cNvGrpSpPr/>
          <p:nvPr/>
        </p:nvGrpSpPr>
        <p:grpSpPr>
          <a:xfrm>
            <a:off x="2178017" y="1931722"/>
            <a:ext cx="7061233" cy="3283085"/>
            <a:chOff x="2054192" y="2331772"/>
            <a:chExt cx="5270533" cy="3567045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971382-875A-BF7A-1785-11393B840C39}"/>
                </a:ext>
              </a:extLst>
            </p:cNvPr>
            <p:cNvSpPr txBox="1"/>
            <p:nvPr/>
          </p:nvSpPr>
          <p:spPr>
            <a:xfrm>
              <a:off x="2054192" y="2724745"/>
              <a:ext cx="5270533" cy="2837893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  <a:p>
              <a:pPr>
                <a:lnSpc>
                  <a:spcPct val="200000"/>
                </a:lnSpc>
              </a:pPr>
              <a:endParaRPr lang="en-US" altLang="ko-KR" sz="2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  <a:p>
              <a:pPr marL="342900" indent="-342900">
                <a:lnSpc>
                  <a:spcPct val="200000"/>
                </a:lnSpc>
                <a:buFont typeface="Wingdings" panose="05000000000000000000" pitchFamily="2" charset="2"/>
                <a:buChar char="§"/>
              </a:pPr>
              <a:endParaRPr lang="en-US" altLang="ko-KR" dirty="0">
                <a:latin typeface="Cambria Math" panose="02040503050406030204" pitchFamily="18" charset="0"/>
              </a:endParaRPr>
            </a:p>
            <a:p>
              <a:pPr marL="342900" indent="-342900">
                <a:lnSpc>
                  <a:spcPct val="200000"/>
                </a:lnSpc>
                <a:buFont typeface="Wingdings" panose="05000000000000000000" pitchFamily="2" charset="2"/>
                <a:buChar char="§"/>
              </a:pPr>
              <a:endParaRPr lang="en-US" altLang="ko-KR" dirty="0">
                <a:latin typeface="Cambria Math" panose="02040503050406030204" pitchFamily="18" charset="0"/>
              </a:endParaRPr>
            </a:p>
            <a:p>
              <a:pPr marL="342900" indent="-342900">
                <a:lnSpc>
                  <a:spcPct val="200000"/>
                </a:lnSpc>
                <a:buFont typeface="Wingdings" panose="05000000000000000000" pitchFamily="2" charset="2"/>
                <a:buChar char="§"/>
              </a:pPr>
              <a:endParaRPr lang="ko-KR" altLang="en-US" dirty="0">
                <a:latin typeface="Cambria Math" panose="02040503050406030204" pitchFamily="18" charset="0"/>
              </a:endParaRPr>
            </a:p>
          </p:txBody>
        </p:sp>
        <p:sp>
          <p:nvSpPr>
            <p:cNvPr id="6" name="순서도: 병합 5">
              <a:extLst>
                <a:ext uri="{FF2B5EF4-FFF2-40B4-BE49-F238E27FC236}">
                  <a16:creationId xmlns:a16="http://schemas.microsoft.com/office/drawing/2014/main" id="{1E1541FB-0C6A-321E-7ADC-5BC63BC6B524}"/>
                </a:ext>
              </a:extLst>
            </p:cNvPr>
            <p:cNvSpPr/>
            <p:nvPr/>
          </p:nvSpPr>
          <p:spPr>
            <a:xfrm>
              <a:off x="2146877" y="2331772"/>
              <a:ext cx="971550" cy="785943"/>
            </a:xfrm>
            <a:prstGeom prst="flowChartMerg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순서도: 병합 6">
              <a:extLst>
                <a:ext uri="{FF2B5EF4-FFF2-40B4-BE49-F238E27FC236}">
                  <a16:creationId xmlns:a16="http://schemas.microsoft.com/office/drawing/2014/main" id="{60294CFB-26C5-82B6-DCC8-9F27A3CD1C1B}"/>
                </a:ext>
              </a:extLst>
            </p:cNvPr>
            <p:cNvSpPr/>
            <p:nvPr/>
          </p:nvSpPr>
          <p:spPr>
            <a:xfrm rot="10800000">
              <a:off x="6238876" y="5112874"/>
              <a:ext cx="971550" cy="785943"/>
            </a:xfrm>
            <a:prstGeom prst="flowChartMerg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DD7DE41-32EE-EE34-C3E1-308A5088B793}"/>
                  </a:ext>
                </a:extLst>
              </p:cNvPr>
              <p:cNvSpPr txBox="1"/>
              <p:nvPr/>
            </p:nvSpPr>
            <p:spPr>
              <a:xfrm rot="20064678">
                <a:off x="2018053" y="1306677"/>
                <a:ext cx="12192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DD7DE41-32EE-EE34-C3E1-308A5088B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064678">
                <a:off x="2018053" y="1306677"/>
                <a:ext cx="1219200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634146-BAD5-EADA-76D9-AF1012DD4199}"/>
                  </a:ext>
                </a:extLst>
              </p:cNvPr>
              <p:cNvSpPr txBox="1"/>
              <p:nvPr/>
            </p:nvSpPr>
            <p:spPr>
              <a:xfrm>
                <a:off x="2243959" y="3018534"/>
                <a:ext cx="7685703" cy="1673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Cambria Math" panose="02040503050406030204" pitchFamily="18" charset="0"/>
                  </a:rPr>
                  <a:t>입력을 더하면 → 출력도 더해진다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 :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+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ko-KR" altLang="en-US" dirty="0">
                  <a:latin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Cambria Math" panose="02040503050406030204" pitchFamily="18" charset="0"/>
                  </a:rPr>
                  <a:t>입력을 </a:t>
                </a:r>
                <a:r>
                  <a:rPr lang="ko-KR" altLang="en-US" dirty="0" err="1">
                    <a:latin typeface="Cambria Math" panose="02040503050406030204" pitchFamily="18" charset="0"/>
                  </a:rPr>
                  <a:t>스케일하면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→ 출력도 같이 </a:t>
                </a:r>
                <a:r>
                  <a:rPr lang="ko-KR" altLang="en-US" dirty="0" err="1">
                    <a:latin typeface="Cambria Math" panose="02040503050406030204" pitchFamily="18" charset="0"/>
                  </a:rPr>
                  <a:t>스케일된다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dirty="0">
                    <a:latin typeface="Cambria Math" panose="02040503050406030204" pitchFamily="18" charset="0"/>
                  </a:rPr>
                  <a:t>:</a:t>
                </a:r>
                <a:r>
                  <a:rPr lang="ko-KR" altLang="en-US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ko-KR" altLang="en-US" dirty="0">
                  <a:latin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Cambria Math" panose="02040503050406030204" pitchFamily="18" charset="0"/>
                  </a:rPr>
                  <a:t>비틀림 없이 ‘비례적으로’ 변하는 직선구조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634146-BAD5-EADA-76D9-AF1012DD4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3959" y="3018534"/>
                <a:ext cx="7685703" cy="1673215"/>
              </a:xfrm>
              <a:prstGeom prst="rect">
                <a:avLst/>
              </a:prstGeom>
              <a:blipFill>
                <a:blip r:embed="rId3"/>
                <a:stretch>
                  <a:fillRect l="-476" b="-43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5EB480-4A35-C4F4-BE57-3C06B2219C9B}"/>
                  </a:ext>
                </a:extLst>
              </p:cNvPr>
              <p:cNvSpPr txBox="1"/>
              <p:nvPr/>
            </p:nvSpPr>
            <p:spPr>
              <a:xfrm>
                <a:off x="8626416" y="5416871"/>
                <a:ext cx="14537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5EB480-4A35-C4F4-BE57-3C06B2219C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6416" y="5416871"/>
                <a:ext cx="1453796" cy="461665"/>
              </a:xfrm>
              <a:prstGeom prst="rect">
                <a:avLst/>
              </a:prstGeom>
              <a:blipFill>
                <a:blip r:embed="rId4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0CD98FFA-12FD-5A9E-DFC9-8989FC423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72727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3657C-F326-66CF-F9AE-DF09B5F23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3132A9-54DB-5517-163B-69B926395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/>
              <a:t>Linear or</a:t>
            </a:r>
            <a:r>
              <a:rPr lang="ko-KR" altLang="en-US" cap="none" dirty="0"/>
              <a:t> </a:t>
            </a:r>
            <a:r>
              <a:rPr lang="en-US" altLang="ko-KR" cap="none" dirty="0"/>
              <a:t>Non</a:t>
            </a:r>
            <a:r>
              <a:rPr lang="ko-KR" altLang="en-US" cap="none" dirty="0"/>
              <a:t> </a:t>
            </a:r>
            <a:r>
              <a:rPr lang="en-US" altLang="ko-KR" cap="none" dirty="0"/>
              <a:t>Linear</a:t>
            </a:r>
            <a:endParaRPr lang="ko-KR" altLang="en-US" cap="non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70156FA-95F7-B6E9-AB18-0E882F029FB2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0350" y="1000125"/>
            <a:ext cx="8826260" cy="518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47DEB5-DB96-83A6-DAE5-4D8FF0E3C3F9}"/>
                  </a:ext>
                </a:extLst>
              </p:cNvPr>
              <p:cNvSpPr txBox="1"/>
              <p:nvPr/>
            </p:nvSpPr>
            <p:spPr>
              <a:xfrm>
                <a:off x="14287" y="1870591"/>
                <a:ext cx="286702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+</m:t>
                      </m:r>
                      <m:r>
                        <a:rPr lang="en-US" altLang="ko-K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r>
                        <a:rPr lang="en-US" altLang="ko-K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altLang="ko-KR" dirty="0">
                  <a:solidFill>
                    <a:schemeClr val="tx1"/>
                  </a:solidFill>
                </a:endParaRPr>
              </a:p>
              <a:p>
                <a:r>
                  <a:rPr lang="ko-KR" altLang="en-US" dirty="0">
                    <a:solidFill>
                      <a:schemeClr val="tx1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47DEB5-DB96-83A6-DAE5-4D8FF0E3C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" y="1870591"/>
                <a:ext cx="2867025" cy="646331"/>
              </a:xfrm>
              <a:prstGeom prst="rect">
                <a:avLst/>
              </a:prstGeom>
              <a:blipFill>
                <a:blip r:embed="rId3"/>
                <a:stretch>
                  <a:fillRect b="-66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슬라이드 번호 개체 틀 3">
            <a:extLst>
              <a:ext uri="{FF2B5EF4-FFF2-40B4-BE49-F238E27FC236}">
                <a16:creationId xmlns:a16="http://schemas.microsoft.com/office/drawing/2014/main" id="{E7DB5585-9534-1A21-C090-FC9C12041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60401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A493E-8D46-98E3-D750-4F9728748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0072AFC8-2EFD-4D64-4991-E43E31F71508}"/>
              </a:ext>
            </a:extLst>
          </p:cNvPr>
          <p:cNvSpPr/>
          <p:nvPr/>
        </p:nvSpPr>
        <p:spPr>
          <a:xfrm>
            <a:off x="712721" y="255270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AB2ED9-C4A4-2333-3427-E407C2B17733}"/>
              </a:ext>
            </a:extLst>
          </p:cNvPr>
          <p:cNvSpPr txBox="1"/>
          <p:nvPr/>
        </p:nvSpPr>
        <p:spPr>
          <a:xfrm>
            <a:off x="1629916" y="147612"/>
            <a:ext cx="8928992" cy="4826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벡터와 행렬 연산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(Regression)</a:t>
            </a: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퍼셉트론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(Perceptron)</a:t>
            </a:r>
          </a:p>
        </p:txBody>
      </p:sp>
    </p:spTree>
    <p:extLst>
      <p:ext uri="{BB962C8B-B14F-4D97-AF65-F5344CB8AC3E}">
        <p14:creationId xmlns:p14="http://schemas.microsoft.com/office/powerpoint/2010/main" val="1745821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DF1D5-A05D-AEED-E98C-0554BDE9B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6DE98D62-C4CA-D083-42E1-7177B6991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7</a:t>
            </a:fld>
            <a:endParaRPr lang="en-US" sz="2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367647D6-E586-4953-AC23-D502780608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4850" y="2193800"/>
            <a:ext cx="4501673" cy="217822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CCCE8E2-148B-F3D0-98EB-9A973DD2A5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2253348"/>
            <a:ext cx="4963722" cy="19406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555B3B8-885E-712C-52AB-4FCF7DF05CE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4503381"/>
            <a:ext cx="3813060" cy="106874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825F1F7-D7B1-B08D-29F3-0FD4E2185785}"/>
              </a:ext>
            </a:extLst>
          </p:cNvPr>
          <p:cNvSpPr txBox="1"/>
          <p:nvPr/>
        </p:nvSpPr>
        <p:spPr>
          <a:xfrm>
            <a:off x="581025" y="1723384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연립선형방정식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(System of Linear Equations)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336A03-1E2E-2809-4249-9EFC05E6C4E5}"/>
              </a:ext>
            </a:extLst>
          </p:cNvPr>
          <p:cNvSpPr txBox="1"/>
          <p:nvPr/>
        </p:nvSpPr>
        <p:spPr>
          <a:xfrm>
            <a:off x="6372225" y="1759253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1AAC71A-5047-7A37-F9D5-0326B3C078B1}"/>
                  </a:ext>
                </a:extLst>
              </p:cNvPr>
              <p:cNvSpPr txBox="1"/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1AAC71A-5047-7A37-F9D5-0326B3C07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67F56509-EA45-5AA7-1053-C90C622BE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/>
              <a:t>System of Linear Equations </a:t>
            </a:r>
            <a:endParaRPr lang="ko-KR" altLang="en-US" cap="none" dirty="0"/>
          </a:p>
        </p:txBody>
      </p:sp>
    </p:spTree>
    <p:extLst>
      <p:ext uri="{BB962C8B-B14F-4D97-AF65-F5344CB8AC3E}">
        <p14:creationId xmlns:p14="http://schemas.microsoft.com/office/powerpoint/2010/main" val="658483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6924" y="2004685"/>
            <a:ext cx="8001000" cy="4119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8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1168736" y="971581"/>
            <a:ext cx="5784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398762" y="1543020"/>
                <a:ext cx="1207750" cy="461665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762" y="1543020"/>
                <a:ext cx="1207750" cy="461665"/>
              </a:xfrm>
              <a:prstGeom prst="rect">
                <a:avLst/>
              </a:prstGeom>
              <a:blipFill>
                <a:blip r:embed="rId3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325964" y="1543020"/>
                <a:ext cx="1284511" cy="461665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5964" y="1543020"/>
                <a:ext cx="1284511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307119" y="1543020"/>
                <a:ext cx="904875" cy="461665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119" y="1543020"/>
                <a:ext cx="90487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081716" y="1543020"/>
                <a:ext cx="1284511" cy="461665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1716" y="1543020"/>
                <a:ext cx="1284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D4AA-CF5F-4EFB-2604-B1E4314CC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FE92BF9F-AED6-6BBA-DF89-DD03B721F532}"/>
              </a:ext>
            </a:extLst>
          </p:cNvPr>
          <p:cNvSpPr/>
          <p:nvPr/>
        </p:nvSpPr>
        <p:spPr>
          <a:xfrm>
            <a:off x="712721" y="318135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D72458-EB29-DC49-19CA-B99C351CE2AD}"/>
              </a:ext>
            </a:extLst>
          </p:cNvPr>
          <p:cNvSpPr txBox="1"/>
          <p:nvPr/>
        </p:nvSpPr>
        <p:spPr>
          <a:xfrm>
            <a:off x="1629916" y="147612"/>
            <a:ext cx="8928992" cy="4826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벡터와 행렬 연산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(Regression)</a:t>
            </a: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퍼셉트론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(Perceptron)</a:t>
            </a:r>
          </a:p>
        </p:txBody>
      </p:sp>
    </p:spTree>
    <p:extLst>
      <p:ext uri="{BB962C8B-B14F-4D97-AF65-F5344CB8AC3E}">
        <p14:creationId xmlns:p14="http://schemas.microsoft.com/office/powerpoint/2010/main" val="2974209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FBAE2-088E-398A-A555-BB8494B1A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962BDD78-DA65-389B-029C-A6795F47D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10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55C34F-9E02-4309-86EC-1C160E9F0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행렬과 벡터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E48B2B-FDED-8D25-FA5B-147EF38E5AEE}"/>
              </a:ext>
            </a:extLst>
          </p:cNvPr>
          <p:cNvSpPr txBox="1"/>
          <p:nvPr/>
        </p:nvSpPr>
        <p:spPr>
          <a:xfrm>
            <a:off x="3686175" y="2876864"/>
            <a:ext cx="57531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Ungraded Lab - Introduction To </a:t>
            </a:r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Arrays</a:t>
            </a:r>
            <a:endParaRPr lang="en-US" altLang="ko-KR" dirty="0"/>
          </a:p>
          <a:p>
            <a:r>
              <a:rPr lang="en-US" altLang="ko-KR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Ungraded Lab - Solving Linear Systems : 2 Variables</a:t>
            </a:r>
            <a:endParaRPr lang="en-US" altLang="ko-KR" dirty="0"/>
          </a:p>
          <a:p>
            <a:endParaRPr lang="en-US" altLang="ko-KR" dirty="0"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altLang="ko-KR" dirty="0"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Ungraded Lab - Solving Linear Systems : 3 Variables</a:t>
            </a:r>
            <a:endParaRPr lang="en-US" altLang="ko-KR" dirty="0"/>
          </a:p>
          <a:p>
            <a:endParaRPr lang="en-US" altLang="ko-KR" dirty="0"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altLang="ko-KR" dirty="0"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altLang="ko-KR" dirty="0"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altLang="ko-KR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Ungraded Lab - Vector Operations</a:t>
            </a:r>
            <a:endParaRPr lang="en-US" altLang="ko-KR" dirty="0"/>
          </a:p>
          <a:p>
            <a:r>
              <a:rPr lang="en-US" altLang="ko-KR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Ungraded Lab - Matrix Multiplication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15850-FC9A-41D5-A164-32A60D0DBA7E}"/>
              </a:ext>
            </a:extLst>
          </p:cNvPr>
          <p:cNvSpPr txBox="1"/>
          <p:nvPr/>
        </p:nvSpPr>
        <p:spPr>
          <a:xfrm>
            <a:off x="2457450" y="1673618"/>
            <a:ext cx="436600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Mathematics-for-Big-Data-Science</a:t>
            </a:r>
            <a:endParaRPr lang="en-US" altLang="ko-KR" sz="2400" dirty="0"/>
          </a:p>
          <a:p>
            <a:endParaRPr lang="en-US" altLang="ko-KR" dirty="0"/>
          </a:p>
          <a:p>
            <a:r>
              <a:rPr lang="en-US" altLang="ko-KR" dirty="0"/>
              <a:t>C1 </a:t>
            </a:r>
          </a:p>
          <a:p>
            <a:endParaRPr lang="en-US" altLang="ko-KR" dirty="0"/>
          </a:p>
          <a:p>
            <a:r>
              <a:rPr lang="en-US" altLang="ko-KR" dirty="0"/>
              <a:t>	w1</a:t>
            </a:r>
          </a:p>
          <a:p>
            <a:endParaRPr lang="en-US" altLang="ko-KR" dirty="0"/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	w2</a:t>
            </a:r>
          </a:p>
          <a:p>
            <a:endParaRPr lang="en-US" altLang="ko-KR" dirty="0"/>
          </a:p>
          <a:p>
            <a:r>
              <a:rPr lang="en-US" altLang="ko-KR" dirty="0"/>
              <a:t>	</a:t>
            </a:r>
          </a:p>
          <a:p>
            <a:endParaRPr lang="en-US" altLang="ko-KR" dirty="0"/>
          </a:p>
          <a:p>
            <a:r>
              <a:rPr lang="en-US" altLang="ko-KR" dirty="0"/>
              <a:t>	w3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96599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3CF63-9FB1-E1C2-0664-FAEFB8B14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CE5C447-24AA-9032-6029-B679A2900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11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F011B8-1EC7-E3D6-0915-4F268DAA9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행렬과 벡터의 연산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B4BCBE8-032C-6AA3-4A13-F2968A0010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14697" y="1487218"/>
            <a:ext cx="3578484" cy="106200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AED55F4-5183-ED3B-AB2D-858B6DC216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7048" y="3468974"/>
            <a:ext cx="4559683" cy="115435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242B8AD-DE21-C14A-C0D8-07E53F75F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77033" y="3457430"/>
            <a:ext cx="3174463" cy="116589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D517EA1-9024-3A60-F1AF-F315FE771E97}"/>
              </a:ext>
            </a:extLst>
          </p:cNvPr>
          <p:cNvSpPr txBox="1"/>
          <p:nvPr/>
        </p:nvSpPr>
        <p:spPr>
          <a:xfrm>
            <a:off x="4696557" y="2728171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2 x 2 </a:t>
            </a:r>
            <a:r>
              <a:rPr lang="ko-KR" altLang="en-US" dirty="0"/>
              <a:t>행렬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4E7529-D1E4-BC4E-7345-99EC69B168F3}"/>
              </a:ext>
            </a:extLst>
          </p:cNvPr>
          <p:cNvSpPr txBox="1"/>
          <p:nvPr/>
        </p:nvSpPr>
        <p:spPr>
          <a:xfrm>
            <a:off x="6873342" y="2728171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 x 1 </a:t>
            </a:r>
            <a:r>
              <a:rPr lang="ko-KR" altLang="en-US" dirty="0"/>
              <a:t>벡터</a:t>
            </a:r>
          </a:p>
        </p:txBody>
      </p:sp>
    </p:spTree>
    <p:extLst>
      <p:ext uri="{BB962C8B-B14F-4D97-AF65-F5344CB8AC3E}">
        <p14:creationId xmlns:p14="http://schemas.microsoft.com/office/powerpoint/2010/main" val="4115293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39A0-66FA-CD4F-D4E1-32BA35D0B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654849C9-29FF-F40D-CD73-EE50785B2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12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EBB228-B7E9-F283-345E-B5BAACFFF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행렬과 벡터의 연산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50E7C2-8B21-809C-7531-57EE312CA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09" y="4341883"/>
            <a:ext cx="2796782" cy="1737511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B57C1C42-814B-C5EA-6952-5C18701C9B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7663" y="829387"/>
            <a:ext cx="5767387" cy="5817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81E2EE42-F7CC-8EFA-BEEF-C4A70A119C93}"/>
              </a:ext>
            </a:extLst>
          </p:cNvPr>
          <p:cNvGrpSpPr/>
          <p:nvPr/>
        </p:nvGrpSpPr>
        <p:grpSpPr>
          <a:xfrm>
            <a:off x="1030484" y="1752496"/>
            <a:ext cx="2194750" cy="723963"/>
            <a:chOff x="1030484" y="1752496"/>
            <a:chExt cx="2194750" cy="723963"/>
          </a:xfrm>
        </p:grpSpPr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D1FBEEE6-BD5E-1007-7749-B818070C8E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0484" y="1752496"/>
              <a:ext cx="2194750" cy="72396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A2C58EDB-3F9F-2119-AF63-2AFEB4C60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8105" y="1766157"/>
              <a:ext cx="1089754" cy="624894"/>
            </a:xfrm>
            <a:prstGeom prst="rect">
              <a:avLst/>
            </a:prstGeom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0AD9695E-7597-3C21-5CFB-AEC9ABE258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8862" y="5437216"/>
            <a:ext cx="746825" cy="28196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6BE22F2-BE4F-49DC-3CF5-38E1C20A0A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0194" y="1956673"/>
            <a:ext cx="952583" cy="24386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E926C2A-23B6-55B8-11C5-570CD83B0E6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9998" y="1752496"/>
            <a:ext cx="967824" cy="266723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C0E395D-964D-8CCC-94C3-1EDD870409F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484" y="2830884"/>
            <a:ext cx="2095682" cy="65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901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A7E90-8365-D46C-2B02-7BDDA0E48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B140D831-8A2F-E09A-9AEE-AD151792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13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469E7C-9CF5-8A29-11AB-5D7787046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행렬과 벡터의 연산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B74FAC4-95F0-C3FA-50AA-98CF70A2AB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024793" y="1358233"/>
            <a:ext cx="3447474" cy="98206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4C917E1-F2D9-AEE9-59E2-5511B46C39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8043" y="3427730"/>
            <a:ext cx="2997355" cy="100252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B2B4855-7CFA-1278-AB2F-73BC29A861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39622" y="3427730"/>
            <a:ext cx="3017817" cy="9411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5E5B446-0F96-7776-002D-FBF361141D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85616" y="3402155"/>
            <a:ext cx="3652070" cy="992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328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871F-6794-7500-6128-87B66287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634C58-AE6C-176B-F945-6D8030D9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 err="1"/>
              <a:t>Numpy</a:t>
            </a:r>
            <a:r>
              <a:rPr lang="en-US" altLang="ko-KR" cap="none" dirty="0"/>
              <a:t> </a:t>
            </a:r>
            <a:r>
              <a:rPr lang="ko-KR" altLang="en-US" cap="none" dirty="0"/>
              <a:t>배우기</a:t>
            </a:r>
            <a:r>
              <a:rPr lang="en-US" altLang="ko-KR" cap="none" dirty="0"/>
              <a:t>(Option)</a:t>
            </a:r>
            <a:endParaRPr lang="ko-KR" altLang="en-US" cap="non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AEBB09-87BF-A3B4-9FCE-50B0C858CD85}"/>
              </a:ext>
            </a:extLst>
          </p:cNvPr>
          <p:cNvSpPr txBox="1"/>
          <p:nvPr/>
        </p:nvSpPr>
        <p:spPr>
          <a:xfrm>
            <a:off x="1009650" y="1400175"/>
            <a:ext cx="40366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4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pic>
        <p:nvPicPr>
          <p:cNvPr id="1026" name="Picture 2" descr="Book Cover">
            <a:extLst>
              <a:ext uri="{FF2B5EF4-FFF2-40B4-BE49-F238E27FC236}">
                <a16:creationId xmlns:a16="http://schemas.microsoft.com/office/drawing/2014/main" id="{60892FA3-13A3-1621-652A-7A89672067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900" y="2448369"/>
            <a:ext cx="1929990" cy="2547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A3FA131-6112-9A87-0CD9-C1A63FEEC93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82096" y="2363131"/>
            <a:ext cx="3876230" cy="2611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133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34FC-E499-F18D-86F6-87717BA53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F12D521-939C-02F3-30BA-6F660253FE91}"/>
              </a:ext>
            </a:extLst>
          </p:cNvPr>
          <p:cNvSpPr/>
          <p:nvPr/>
        </p:nvSpPr>
        <p:spPr>
          <a:xfrm>
            <a:off x="712721" y="378142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0960E-8C55-FC63-C8CD-F10F1DFFA9A0}"/>
              </a:ext>
            </a:extLst>
          </p:cNvPr>
          <p:cNvSpPr txBox="1"/>
          <p:nvPr/>
        </p:nvSpPr>
        <p:spPr>
          <a:xfrm>
            <a:off x="1629916" y="147612"/>
            <a:ext cx="8928992" cy="4826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벡터와 행렬 연산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(Regression)</a:t>
            </a: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퍼셉트론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(Perceptron)</a:t>
            </a:r>
          </a:p>
        </p:txBody>
      </p:sp>
    </p:spTree>
    <p:extLst>
      <p:ext uri="{BB962C8B-B14F-4D97-AF65-F5344CB8AC3E}">
        <p14:creationId xmlns:p14="http://schemas.microsoft.com/office/powerpoint/2010/main" val="33400200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A27F945-2837-878D-1E14-9A8919FB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blipFill>
                <a:blip r:embed="rId9"/>
                <a:stretch>
                  <a:fillRect t="-8197" r="-3030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blipFill>
                <a:blip r:embed="rId10"/>
                <a:stretch>
                  <a:fillRect t="-8197" r="-3463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6709EDC-A34A-45F5-7DEA-B64FDB647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59570-57A6-4A56-6583-6F15679B8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19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25EF52E-72EE-3C3E-9A88-70B9DC9F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20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26A2FD-DA73-FEBD-A534-047C269A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21</a:t>
            </a:fld>
            <a:endParaRPr lang="en-US" sz="2000" dirty="0"/>
          </a:p>
        </p:txBody>
      </p:sp>
      <p:pic>
        <p:nvPicPr>
          <p:cNvPr id="8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E244AAB-51AC-B107-48A5-3CF643F4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05136CFE-E7F8-CC96-5386-1047EDE84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713" y="0"/>
            <a:ext cx="61261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75E9DE-B0B6-C8D5-A524-BAACE5A8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7E8495C-891C-0D45-AD9C-65537885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57BCDF-6F41-7650-72C3-22B4E2230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A5E0A35-FE29-17FD-803F-F2999E5C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E36D-A1FE-2B89-FE3D-9D9496F81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8B66B-CC98-38AF-CD8F-4481BD3C8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선형대수</a:t>
            </a:r>
            <a:r>
              <a:rPr lang="en-US" altLang="ko-KR" cap="none" dirty="0"/>
              <a:t>(Linear Algebra)</a:t>
            </a:r>
            <a:endParaRPr lang="ko-KR" altLang="en-US" cap="none" dirty="0"/>
          </a:p>
        </p:txBody>
      </p:sp>
      <p:sp>
        <p:nvSpPr>
          <p:cNvPr id="17" name="슬라이드 번호 개체 틀 3">
            <a:extLst>
              <a:ext uri="{FF2B5EF4-FFF2-40B4-BE49-F238E27FC236}">
                <a16:creationId xmlns:a16="http://schemas.microsoft.com/office/drawing/2014/main" id="{3FD9B8B1-9B96-0622-DDFB-0F4F31A12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26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“벡터와 행렬을 이용해 ‘선형 관계</a:t>
                </a:r>
                <a:r>
                  <a:rPr lang="en-US" altLang="ko-KR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relationship)’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‘공간의 </a:t>
                </a:r>
                <a:r>
                  <a:rPr lang="ko-KR" altLang="en-US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변환’을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다루는 학문”</a:t>
                </a:r>
                <a:endParaRPr lang="en-US" altLang="ko-KR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공간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연립 선형 방정식 등을 연구하는 수학의 한 분야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데이터를 공간으로 보고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모델을 ‘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변환’으로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이해하는 언어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선형변환식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기하학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공간을 어떻게 움직이고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확대/축소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기울이기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지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관측치는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ko-KR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  <a:blipFill>
                <a:blip r:embed="rId2"/>
                <a:stretch>
                  <a:fillRect l="-529" t="-2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59871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6294A1E-74B1-2647-D02F-0AFC5B92A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27</a:t>
            </a:fld>
            <a:endParaRPr lang="en-US" sz="2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AA135C1-5E58-DE61-BCE2-F4353E58502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4850" y="2193800"/>
            <a:ext cx="4501673" cy="217822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E1D530D-01A2-F7EA-0FF5-EB0FA91ED68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2253348"/>
            <a:ext cx="4963722" cy="19406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572FC41-B531-852F-1649-5E8F5EBE594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4503381"/>
            <a:ext cx="3813060" cy="106874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A72315-8774-4D80-E39B-8177669F955B}"/>
              </a:ext>
            </a:extLst>
          </p:cNvPr>
          <p:cNvSpPr txBox="1"/>
          <p:nvPr/>
        </p:nvSpPr>
        <p:spPr>
          <a:xfrm>
            <a:off x="581025" y="1723384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연립선형방정식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(System of Linear Equations)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900D0B-A8C8-F9A7-91B3-310F01FD50E4}"/>
              </a:ext>
            </a:extLst>
          </p:cNvPr>
          <p:cNvSpPr txBox="1"/>
          <p:nvPr/>
        </p:nvSpPr>
        <p:spPr>
          <a:xfrm>
            <a:off x="6372225" y="1759253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/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77766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E559-9E4F-069B-91D6-E604FED2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7B1727C-5907-1409-048E-992C18E5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28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/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20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의미를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열벡터들의 선형 결합으로 기하학적 해석을 하면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열벡터들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우리가 움직일 수 있는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방향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’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들이고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성분들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그 방향으로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얼마나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갈 것인가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최종 도착지  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blipFill>
                <a:blip r:embed="rId2"/>
                <a:stretch>
                  <a:fillRect l="-744" b="-1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12D68391-FF3C-2777-472E-9EDC54C5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996" y="1466676"/>
            <a:ext cx="2576183" cy="109235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1DDF7A5-028A-2163-E3F4-A553257F0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4595" y="1262802"/>
            <a:ext cx="1149180" cy="14964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736873-AD7E-F993-D94C-4865EBA2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692" y="4272114"/>
            <a:ext cx="3422283" cy="200159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0D2E58B-7FE1-13B5-097D-2D7EF28730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996" y="2856923"/>
            <a:ext cx="4427219" cy="1304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2384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E0299473-7BDA-1153-07AF-73989810D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29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CB9CBD-CF82-DC51-07A4-4A3380036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31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BEEE75E-D3A2-AE31-D1DA-03C6E905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AC4825-AF5F-1A39-53C0-CEDF6DA19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１차원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Ｔ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ｘ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blipFill>
                <a:blip r:embed="rId4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E3BB6-8F16-AA39-2CFF-F4C6724D4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10" name="제목 1">
            <a:extLst>
              <a:ext uri="{FF2B5EF4-FFF2-40B4-BE49-F238E27FC236}">
                <a16:creationId xmlns:a16="http://schemas.microsoft.com/office/drawing/2014/main" id="{0ED52B74-ED06-C1FF-8DE4-EEA6F4190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회전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C44384E2-C2A9-42A8-C52E-3B425FDA3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</a:t>
            </a:r>
            <a:r>
              <a:rPr lang="ko-KR" altLang="en-US" dirty="0"/>
              <a:t>　선형변환</a:t>
            </a:r>
          </a:p>
        </p:txBody>
      </p:sp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8855-F1C1-DC38-247C-6FC7ADE1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018E2FB2-74BF-0856-D02B-74FB68ED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 &amp; rotate</a:t>
            </a:r>
            <a:r>
              <a:rPr lang="ko-KR" altLang="en-US" dirty="0"/>
              <a:t>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F3AE20F-6629-40E2-8C70-D8FA74A4887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11233" y="1898531"/>
            <a:ext cx="4493709" cy="12781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AD208C2-B568-7964-BFF4-748D44B67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233" y="3176706"/>
            <a:ext cx="9118287" cy="27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6884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8A18B-FAA7-A506-D0B5-C7938B68E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CA6B15B-3BEA-CA85-1730-791BB6E9CB82}"/>
              </a:ext>
            </a:extLst>
          </p:cNvPr>
          <p:cNvSpPr/>
          <p:nvPr/>
        </p:nvSpPr>
        <p:spPr>
          <a:xfrm>
            <a:off x="712721" y="444817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9C9790-71DE-406F-C8F5-99AE5A86103D}"/>
              </a:ext>
            </a:extLst>
          </p:cNvPr>
          <p:cNvSpPr txBox="1"/>
          <p:nvPr/>
        </p:nvSpPr>
        <p:spPr>
          <a:xfrm>
            <a:off x="1629916" y="147612"/>
            <a:ext cx="8928992" cy="4826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선형대수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응웅분야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벡터와 행렬 연산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(Regression)</a:t>
            </a: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퍼셉트론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(Perceptron)</a:t>
            </a:r>
          </a:p>
        </p:txBody>
      </p:sp>
    </p:spTree>
    <p:extLst>
      <p:ext uri="{BB962C8B-B14F-4D97-AF65-F5344CB8AC3E}">
        <p14:creationId xmlns:p14="http://schemas.microsoft.com/office/powerpoint/2010/main" val="38601728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39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D1045F-CEE6-AEFF-D9D0-816CDFA04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/>
              <a:t>Regression</a:t>
            </a:r>
            <a:r>
              <a:rPr lang="ko-KR" altLang="en-US" cap="none" dirty="0"/>
              <a:t> </a:t>
            </a:r>
            <a:r>
              <a:rPr lang="en-US" altLang="ko-KR" cap="none" dirty="0"/>
              <a:t>&amp;</a:t>
            </a:r>
            <a:r>
              <a:rPr lang="ko-KR" altLang="en-US" cap="none" dirty="0"/>
              <a:t> </a:t>
            </a:r>
            <a:r>
              <a:rPr lang="en-US" altLang="ko-KR" cap="none" dirty="0"/>
              <a:t>Perceptron</a:t>
            </a:r>
            <a:endParaRPr lang="ko-KR" altLang="en-US" cap="none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02749"/>
            <a:chOff x="2457450" y="1673618"/>
            <a:chExt cx="7934325" cy="330274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3754026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38024902-853C-5F4A-97DD-F81CF8529D00}"/>
                </a:ext>
              </a:extLst>
            </p:cNvPr>
            <p:cNvSpPr/>
            <p:nvPr/>
          </p:nvSpPr>
          <p:spPr>
            <a:xfrm>
              <a:off x="2457450" y="3581400"/>
              <a:ext cx="7464089" cy="13949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798352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40</a:t>
            </a:fld>
            <a:endParaRPr lang="en-US" sz="2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B6E8D4-96DA-F930-897D-F1AEB1A48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cap="none" dirty="0"/>
              <a:t>Regression</a:t>
            </a:r>
            <a:r>
              <a:rPr lang="ko-KR" altLang="en-US" cap="none" dirty="0"/>
              <a:t> </a:t>
            </a:r>
            <a:r>
              <a:rPr lang="en-US" altLang="ko-KR" cap="none" dirty="0"/>
              <a:t>&amp;</a:t>
            </a:r>
            <a:r>
              <a:rPr lang="ko-KR" altLang="en-US" cap="none" dirty="0"/>
              <a:t> </a:t>
            </a:r>
            <a:r>
              <a:rPr lang="en-US" altLang="ko-KR" cap="none" dirty="0"/>
              <a:t>Perceptron</a:t>
            </a:r>
            <a:endParaRPr lang="ko-KR" altLang="en-US" cap="none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10362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64146" y="2555171"/>
            <a:ext cx="9359342" cy="40462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5D6E60C-805C-F4F3-0780-443D722A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3066209" y="1780998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209" y="1780998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704" t="-21569" r="-3704" b="-23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1064146" y="931082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46" y="931082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549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334" y="1545699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3305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C0FFB-B417-9558-006F-9ED5DA9E8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BA7CBA0-C74A-FDCD-C73F-A4882EE3B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42</a:t>
            </a:fld>
            <a:endParaRPr lang="en-US" sz="2000" dirty="0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0194681C-3BD1-E94B-9059-492F08DEC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8327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“벡터와 행렬을 이용해 ‘선형 관계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relationship)’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‘공간의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변환’을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다루는 학문”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동영상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C538A5-1423-86C7-259F-7E5AF284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155041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8FC264-10B3-B34E-8BD5-928FD74E945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451914" y="3178843"/>
            <a:ext cx="9288171" cy="18004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4663D5-FA49-ABC8-25CC-683BC9FD1FE8}"/>
              </a:ext>
            </a:extLst>
          </p:cNvPr>
          <p:cNvSpPr txBox="1"/>
          <p:nvPr/>
        </p:nvSpPr>
        <p:spPr>
          <a:xfrm>
            <a:off x="1451914" y="2399424"/>
            <a:ext cx="7154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/>
              <a:t>아래 코드를 직접 실행해보고 이미지에 대한 </a:t>
            </a:r>
            <a:r>
              <a:rPr lang="ko-KR" altLang="en-US"/>
              <a:t>선형변환을 이해하자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3F6728-0768-4865-89D4-71B77938C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10487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134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980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3756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85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62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2063</TotalTime>
  <Words>2162</Words>
  <Application>Microsoft Office PowerPoint</Application>
  <PresentationFormat>와이드스크린</PresentationFormat>
  <Paragraphs>349</Paragraphs>
  <Slides>47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63" baseType="lpstr">
      <vt:lpstr>Nanum Gothic</vt:lpstr>
      <vt:lpstr>맑은 고딕</vt:lpstr>
      <vt:lpstr>맑은 고딕 Semilight</vt:lpstr>
      <vt:lpstr>바탕</vt:lpstr>
      <vt:lpstr>한컴 말랑말랑 Bold</vt:lpstr>
      <vt:lpstr>ADLaM Display</vt:lpstr>
      <vt:lpstr>Arial</vt:lpstr>
      <vt:lpstr>Arial Narrow</vt:lpstr>
      <vt:lpstr>Calibri</vt:lpstr>
      <vt:lpstr>Calibri Light</vt:lpstr>
      <vt:lpstr>Cambria Math</vt:lpstr>
      <vt:lpstr>Times New Roman</vt:lpstr>
      <vt:lpstr>Tw Cen MT</vt:lpstr>
      <vt:lpstr>Wingdings</vt:lpstr>
      <vt:lpstr>Wingdings 2</vt:lpstr>
      <vt:lpstr>물방울</vt:lpstr>
      <vt:lpstr>선형대수 -행렬과 벡터-</vt:lpstr>
      <vt:lpstr>PowerPoint 프레젠테이션</vt:lpstr>
      <vt:lpstr>대수(Algebra)</vt:lpstr>
      <vt:lpstr>선형함수(Linear Function)</vt:lpstr>
      <vt:lpstr>Linear or Non Linear</vt:lpstr>
      <vt:lpstr>PowerPoint 프레젠테이션</vt:lpstr>
      <vt:lpstr>System of Linear Equations </vt:lpstr>
      <vt:lpstr>Deep learning </vt:lpstr>
      <vt:lpstr>PowerPoint 프레젠테이션</vt:lpstr>
      <vt:lpstr>행렬과 벡터</vt:lpstr>
      <vt:lpstr>행렬과 벡터의 연산</vt:lpstr>
      <vt:lpstr>행렬과 벡터의 연산</vt:lpstr>
      <vt:lpstr>행렬과 벡터의 연산</vt:lpstr>
      <vt:lpstr>Numpy 배우기(Option)</vt:lpstr>
      <vt:lpstr>PowerPoint 프레젠테이션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Hands-on</vt:lpstr>
      <vt:lpstr>PowerPoint 프레젠테이션</vt:lpstr>
      <vt:lpstr>PowerPoint 프레젠테이션</vt:lpstr>
      <vt:lpstr>선형변환</vt:lpstr>
      <vt:lpstr>기하학적 이해</vt:lpstr>
      <vt:lpstr>선형대수(Linear Algebra)</vt:lpstr>
      <vt:lpstr>PowerPoint 프레젠테이션</vt:lpstr>
      <vt:lpstr>PowerPoint 프레젠테이션</vt:lpstr>
      <vt:lpstr>투영</vt:lpstr>
      <vt:lpstr>Kernel Transformation</vt:lpstr>
      <vt:lpstr>행렬과 내적은 선형변환</vt:lpstr>
      <vt:lpstr>선형변환</vt:lpstr>
      <vt:lpstr>선형변환</vt:lpstr>
      <vt:lpstr>１차원　선형변환</vt:lpstr>
      <vt:lpstr>２차원　회전 선형변환</vt:lpstr>
      <vt:lpstr>２차원　sheer　선형변환</vt:lpstr>
      <vt:lpstr>２차원　sheer &amp; rotate　선형변환</vt:lpstr>
      <vt:lpstr>PowerPoint 프레젠테이션</vt:lpstr>
      <vt:lpstr>Regression &amp; Perceptron</vt:lpstr>
      <vt:lpstr>Regression &amp; Perceptron</vt:lpstr>
      <vt:lpstr>선형대수(linear algebra)</vt:lpstr>
      <vt:lpstr>Appendix</vt:lpstr>
      <vt:lpstr>선형대수(linear algebra)</vt:lpstr>
      <vt:lpstr>실습하기</vt:lpstr>
      <vt:lpstr>Digress : Shear Bradpit Image</vt:lpstr>
      <vt:lpstr>Digress : Kernel Transformation</vt:lpstr>
      <vt:lpstr>Digress : Kernel Transformation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32</cp:revision>
  <dcterms:created xsi:type="dcterms:W3CDTF">2026-03-09T22:59:08Z</dcterms:created>
  <dcterms:modified xsi:type="dcterms:W3CDTF">2026-04-05T13:38:19Z</dcterms:modified>
</cp:coreProperties>
</file>