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6"/>
  </p:notesMasterIdLst>
  <p:sldIdLst>
    <p:sldId id="256" r:id="rId2"/>
    <p:sldId id="266" r:id="rId3"/>
    <p:sldId id="282" r:id="rId4"/>
    <p:sldId id="910" r:id="rId5"/>
    <p:sldId id="911" r:id="rId6"/>
    <p:sldId id="923" r:id="rId7"/>
    <p:sldId id="917" r:id="rId8"/>
    <p:sldId id="919" r:id="rId9"/>
    <p:sldId id="924" r:id="rId10"/>
    <p:sldId id="922" r:id="rId11"/>
    <p:sldId id="285" r:id="rId12"/>
    <p:sldId id="925" r:id="rId13"/>
    <p:sldId id="265" r:id="rId14"/>
    <p:sldId id="271" r:id="rId15"/>
    <p:sldId id="819" r:id="rId16"/>
    <p:sldId id="820" r:id="rId17"/>
    <p:sldId id="275" r:id="rId18"/>
    <p:sldId id="276" r:id="rId19"/>
    <p:sldId id="272" r:id="rId20"/>
    <p:sldId id="279" r:id="rId21"/>
    <p:sldId id="270" r:id="rId22"/>
    <p:sldId id="259" r:id="rId23"/>
    <p:sldId id="912" r:id="rId24"/>
    <p:sldId id="288" r:id="rId25"/>
    <p:sldId id="913" r:id="rId26"/>
    <p:sldId id="268" r:id="rId27"/>
    <p:sldId id="269" r:id="rId28"/>
    <p:sldId id="260" r:id="rId29"/>
    <p:sldId id="818" r:id="rId30"/>
    <p:sldId id="263" r:id="rId31"/>
    <p:sldId id="815" r:id="rId32"/>
    <p:sldId id="816" r:id="rId33"/>
    <p:sldId id="817" r:id="rId34"/>
    <p:sldId id="821" r:id="rId35"/>
    <p:sldId id="926" r:id="rId36"/>
    <p:sldId id="927" r:id="rId37"/>
    <p:sldId id="928" r:id="rId38"/>
    <p:sldId id="290" r:id="rId39"/>
    <p:sldId id="929" r:id="rId40"/>
    <p:sldId id="291" r:id="rId41"/>
    <p:sldId id="292" r:id="rId42"/>
    <p:sldId id="811" r:id="rId43"/>
    <p:sldId id="812" r:id="rId44"/>
    <p:sldId id="909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651" autoAdjust="0"/>
    <p:restoredTop sz="94660"/>
  </p:normalViewPr>
  <p:slideViewPr>
    <p:cSldViewPr snapToGrid="0">
      <p:cViewPr varScale="1">
        <p:scale>
          <a:sx n="80" d="100"/>
          <a:sy n="80" d="100"/>
        </p:scale>
        <p:origin x="936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D2F86-9062-4B78-99E4-F1BEEF85F138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F8537-0286-40EF-BEDA-D09730C549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5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12" name="날짜 개체 틀 3">
            <a:extLst>
              <a:ext uri="{FF2B5EF4-FFF2-40B4-BE49-F238E27FC236}">
                <a16:creationId xmlns:a16="http://schemas.microsoft.com/office/drawing/2014/main" id="{E02622F7-B412-D3AE-34CC-44CC99AE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338113"/>
            <a:ext cx="2743200" cy="36512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fld id="{28A3BAFB-7A40-4072-A7FD-FB0EDC55F13F}" type="datetime1">
              <a:rPr lang="ko-KR" altLang="en-US" smtClean="0"/>
              <a:t>2026-04-05</a:t>
            </a:fld>
            <a:endParaRPr lang="en-US" dirty="0"/>
          </a:p>
        </p:txBody>
      </p:sp>
      <p:sp>
        <p:nvSpPr>
          <p:cNvPr id="13" name="바닥글 개체 틀 4">
            <a:extLst>
              <a:ext uri="{FF2B5EF4-FFF2-40B4-BE49-F238E27FC236}">
                <a16:creationId xmlns:a16="http://schemas.microsoft.com/office/drawing/2014/main" id="{21086B2D-0BBF-7448-422F-0EAD78082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5" y="6338113"/>
            <a:ext cx="6672865" cy="36512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4" name="슬라이드 번호 개체 틀 5">
            <a:extLst>
              <a:ext uri="{FF2B5EF4-FFF2-40B4-BE49-F238E27FC236}">
                <a16:creationId xmlns:a16="http://schemas.microsoft.com/office/drawing/2014/main" id="{F2F60889-8102-9290-1B7C-A4994E8F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38113"/>
            <a:ext cx="753545" cy="36512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Big-Data-Science/blob/main/C1/w1/lab/C1_W1_Lab_2_solving_linear_systems_2_variables.ipynb" TargetMode="External"/><Relationship Id="rId7" Type="http://schemas.openxmlformats.org/officeDocument/2006/relationships/hyperlink" Target="https://github.com/ancestor9/Mathematics-for-Big-Data-Science/tree/main" TargetMode="External"/><Relationship Id="rId2" Type="http://schemas.openxmlformats.org/officeDocument/2006/relationships/hyperlink" Target="https://github.com/ancestor9/Mathematics-for-Big-Data-Science/blob/main/C1/w1/lab/C1_W1_Lab_1_introduction_to_numpy_arrays.ipynb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ncestor9/Mathematics-for-Big-Data-Science/blob/main/C1/w3/lab/C1_W3_Lab_2_matrix_multiplication.ipynb" TargetMode="External"/><Relationship Id="rId5" Type="http://schemas.openxmlformats.org/officeDocument/2006/relationships/hyperlink" Target="https://github.com/ancestor9/Mathematics-for-Big-Data-Science/blob/main/C1/w3/lab/C1_W3_Lab_1_vector_operations.ipynb" TargetMode="External"/><Relationship Id="rId4" Type="http://schemas.openxmlformats.org/officeDocument/2006/relationships/hyperlink" Target="https://github.com/ancestor9/Mathematics-for-Big-Data-Science/blob/main/C1/w2/C1w2_ungraded_lab.ipynb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jakevdp.github.io/PythonDataScienceHandbook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0.png"/><Relationship Id="rId7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0.png"/><Relationship Id="rId10" Type="http://schemas.openxmlformats.org/officeDocument/2006/relationships/image" Target="../media/image30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1.png"/><Relationship Id="rId7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1.png"/><Relationship Id="rId9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270.png"/><Relationship Id="rId7" Type="http://schemas.openxmlformats.org/officeDocument/2006/relationships/image" Target="../media/image45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10" Type="http://schemas.openxmlformats.org/officeDocument/2006/relationships/image" Target="../media/image370.png"/><Relationship Id="rId4" Type="http://schemas.openxmlformats.org/officeDocument/2006/relationships/image" Target="../media/image310.png"/><Relationship Id="rId9" Type="http://schemas.openxmlformats.org/officeDocument/2006/relationships/image" Target="../media/image3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cipesds.tistory.com/entry/%EC%B4%88%EA%B0%84%EB%8B%A8-%EC%84%A0%ED%98%95%EB%8C%80%EC%88%98-%ED%96%89%EB%A0%AC%EC%9D%98-%EA%B8%B0%ED%95%98%ED%95%99%EC%A0%81%EC%9D%B8-%EC%9D%98%EB%AF%B8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0.png"/><Relationship Id="rId4" Type="http://schemas.openxmlformats.org/officeDocument/2006/relationships/image" Target="../media/image5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15462.courses.cs.cmu.edu/fall2019/lecture/transformations/slide_028" TargetMode="Externa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Big-Data-Science/blob/main/C1/w3/C1w3_graded_lab/C1_W3_Assignment_Perceptron.ipynb" TargetMode="External"/><Relationship Id="rId2" Type="http://schemas.openxmlformats.org/officeDocument/2006/relationships/hyperlink" Target="https://github.com/ancestor9/Mathematics-for-Big-Data-Science/blob/main/C1/w3/C1w3_graded_lab/C1_W3_Assignment.ipynb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ncestor9/Mathematics-for-Big-Data-Science/tree/main/C1/w3/C1w3_graded_lab" TargetMode="External"/><Relationship Id="rId5" Type="http://schemas.openxmlformats.org/officeDocument/2006/relationships/hyperlink" Target="https://github.com/ancestor9/Mathematics-for-Big-Data-Science/tree/main" TargetMode="External"/><Relationship Id="rId4" Type="http://schemas.openxmlformats.org/officeDocument/2006/relationships/hyperlink" Target="https://github.com/ancestor9/Mathematics-for-Big-Data-Science/blob/main/C1/w3/C1w3_graded_lab/C1_W3_Assignment_Perceptron_MSE.ipynb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7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hyperlink" Target="https://www.youtube.com/watch?v=fNk_zzaMoSs&amp;list=PLZHQObOWTQDPD3MizzM2xVFitgF8hE_a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94BC4CC-119D-4066-611C-7FF8F6954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1" y="-1"/>
            <a:ext cx="7315200" cy="68341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53B55A5-AD55-D660-8099-86131A403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14571"/>
            <a:ext cx="4876801" cy="2509213"/>
          </a:xfrm>
        </p:spPr>
        <p:txBody>
          <a:bodyPr>
            <a:normAutofit/>
          </a:bodyPr>
          <a:lstStyle/>
          <a:p>
            <a:r>
              <a:rPr lang="ko-KR" altLang="en-US" sz="5400" dirty="0"/>
              <a:t>선형대수</a:t>
            </a:r>
            <a:br>
              <a:rPr lang="en-US" altLang="ko-KR" sz="5400" dirty="0"/>
            </a:br>
            <a:r>
              <a:rPr lang="en-US" altLang="ko-KR" sz="3200" dirty="0"/>
              <a:t>-</a:t>
            </a:r>
            <a:r>
              <a:rPr lang="ko-KR" altLang="en-US" sz="3200" dirty="0"/>
              <a:t>행렬과 벡터</a:t>
            </a:r>
            <a:r>
              <a:rPr lang="en-US" altLang="ko-KR" sz="3200" dirty="0"/>
              <a:t>-</a:t>
            </a:r>
            <a:endParaRPr lang="ko-KR" altLang="en-US" sz="5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CC0AE0-A72B-E734-A33B-67DEC4595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99986"/>
            <a:ext cx="4876801" cy="1371599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2026 Spring</a:t>
            </a:r>
          </a:p>
          <a:p>
            <a:r>
              <a:rPr lang="ko-KR" altLang="en-US" dirty="0" err="1">
                <a:solidFill>
                  <a:schemeClr val="tx1"/>
                </a:solidFill>
              </a:rPr>
              <a:t>조상구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92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BC7E252-AF9C-7707-B610-3002F1588D0E}"/>
              </a:ext>
            </a:extLst>
          </p:cNvPr>
          <p:cNvSpPr/>
          <p:nvPr/>
        </p:nvSpPr>
        <p:spPr>
          <a:xfrm>
            <a:off x="712721" y="1905000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0992DD-2A1A-471D-D61E-522358216252}"/>
              </a:ext>
            </a:extLst>
          </p:cNvPr>
          <p:cNvSpPr txBox="1"/>
          <p:nvPr/>
        </p:nvSpPr>
        <p:spPr>
          <a:xfrm>
            <a:off x="1629916" y="147612"/>
            <a:ext cx="8928992" cy="4826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벡터와 행렬 연산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(Regression)</a:t>
            </a: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퍼셉트론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(Perceptron)</a:t>
            </a:r>
          </a:p>
        </p:txBody>
      </p:sp>
    </p:spTree>
    <p:extLst>
      <p:ext uri="{BB962C8B-B14F-4D97-AF65-F5344CB8AC3E}">
        <p14:creationId xmlns:p14="http://schemas.microsoft.com/office/powerpoint/2010/main" val="282017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C9B65-F8EA-6AA1-1DA5-2D80DF7BE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cap="none" dirty="0"/>
              <a:t>대수</a:t>
            </a:r>
            <a:r>
              <a:rPr lang="en-US" altLang="ko-KR" cap="none" dirty="0"/>
              <a:t>(Algebra)</a:t>
            </a:r>
            <a:endParaRPr lang="ko-KR" altLang="en-US" cap="none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8F94065A-3B86-1519-6348-51928857D0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43143"/>
            <a:ext cx="10363826" cy="1061908"/>
          </a:xfrm>
        </p:spPr>
        <p:txBody>
          <a:bodyPr/>
          <a:lstStyle/>
          <a:p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Algebra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기호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(symbol) 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(value)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관계를 다루고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</a:p>
          <a:p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Python namespace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이름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(name) 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객체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(object)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매핑을 관리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DB9E3E-3577-1260-128B-9898F7CF9E9C}"/>
                  </a:ext>
                </a:extLst>
              </p:cNvPr>
              <p:cNvSpPr txBox="1"/>
              <p:nvPr/>
            </p:nvSpPr>
            <p:spPr>
              <a:xfrm>
                <a:off x="1114424" y="2588389"/>
                <a:ext cx="4200525" cy="35474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Algebra 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관점</a:t>
                </a:r>
                <a:endParaRPr lang="en-US" altLang="ko-KR" sz="20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4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x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이름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기호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), 3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 값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x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3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“참조” 즉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기호 → 값으로 매핑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DB9E3E-3577-1260-128B-9898F7CF9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24" y="2588389"/>
                <a:ext cx="4200525" cy="3547446"/>
              </a:xfrm>
              <a:prstGeom prst="rect">
                <a:avLst/>
              </a:prstGeom>
              <a:blipFill>
                <a:blip r:embed="rId2"/>
                <a:stretch>
                  <a:fillRect l="-1597" b="-17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B6EF32-8427-BBBA-0DE1-7EADCB0C34DF}"/>
                  </a:ext>
                </a:extLst>
              </p:cNvPr>
              <p:cNvSpPr txBox="1"/>
              <p:nvPr/>
            </p:nvSpPr>
            <p:spPr>
              <a:xfrm>
                <a:off x="6095687" y="2588389"/>
                <a:ext cx="4562788" cy="35474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Python Namespace 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관점</a:t>
                </a:r>
                <a:endParaRPr lang="en-US" altLang="ko-KR" sz="20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</a:pPr>
                <a:endParaRPr lang="ko-KR" altLang="en-US" sz="24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  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# 3(class)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객체화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x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→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3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객체를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 y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→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5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객체를 가리킴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이걸 저장하는 공간이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namespace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(name) →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객체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(object)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매핑 테이블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B6EF32-8427-BBBA-0DE1-7EADCB0C3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687" y="2588389"/>
                <a:ext cx="4562788" cy="3547446"/>
              </a:xfrm>
              <a:prstGeom prst="rect">
                <a:avLst/>
              </a:prstGeom>
              <a:blipFill>
                <a:blip r:embed="rId3"/>
                <a:stretch>
                  <a:fillRect l="-1471" b="-17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B4F9C7F-8274-24E6-8EA8-8A570044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3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397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5304F-FC2F-A538-0931-D7B1771D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A8CB-E405-4FEF-CDED-A37652BB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cap="none" dirty="0"/>
              <a:t>선형함수</a:t>
            </a:r>
            <a:r>
              <a:rPr lang="en-US" altLang="ko-KR" cap="none" dirty="0"/>
              <a:t>(Linear Function)</a:t>
            </a:r>
            <a:endParaRPr lang="ko-KR" altLang="en-US" cap="none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629EE5B-BFD1-8809-A749-306ED8DFBF0A}"/>
              </a:ext>
            </a:extLst>
          </p:cNvPr>
          <p:cNvGrpSpPr/>
          <p:nvPr/>
        </p:nvGrpSpPr>
        <p:grpSpPr>
          <a:xfrm>
            <a:off x="2178017" y="1931722"/>
            <a:ext cx="7061233" cy="3283085"/>
            <a:chOff x="2054192" y="2331772"/>
            <a:chExt cx="5270533" cy="3567045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971382-875A-BF7A-1785-11393B840C39}"/>
                </a:ext>
              </a:extLst>
            </p:cNvPr>
            <p:cNvSpPr txBox="1"/>
            <p:nvPr/>
          </p:nvSpPr>
          <p:spPr>
            <a:xfrm>
              <a:off x="2054192" y="2724745"/>
              <a:ext cx="5270533" cy="283789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pPr>
                <a:lnSpc>
                  <a:spcPct val="200000"/>
                </a:lnSpc>
              </a:pPr>
              <a:endPara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endParaRPr lang="en-US" altLang="ko-KR" dirty="0">
                <a:latin typeface="Cambria Math" panose="02040503050406030204" pitchFamily="18" charset="0"/>
              </a:endParaRP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endParaRPr lang="en-US" altLang="ko-KR" dirty="0">
                <a:latin typeface="Cambria Math" panose="02040503050406030204" pitchFamily="18" charset="0"/>
              </a:endParaRP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endParaRPr lang="ko-KR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6" name="순서도: 병합 5">
              <a:extLst>
                <a:ext uri="{FF2B5EF4-FFF2-40B4-BE49-F238E27FC236}">
                  <a16:creationId xmlns:a16="http://schemas.microsoft.com/office/drawing/2014/main" id="{1E1541FB-0C6A-321E-7ADC-5BC63BC6B524}"/>
                </a:ext>
              </a:extLst>
            </p:cNvPr>
            <p:cNvSpPr/>
            <p:nvPr/>
          </p:nvSpPr>
          <p:spPr>
            <a:xfrm>
              <a:off x="2146877" y="2331772"/>
              <a:ext cx="971550" cy="785943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순서도: 병합 6">
              <a:extLst>
                <a:ext uri="{FF2B5EF4-FFF2-40B4-BE49-F238E27FC236}">
                  <a16:creationId xmlns:a16="http://schemas.microsoft.com/office/drawing/2014/main" id="{60294CFB-26C5-82B6-DCC8-9F27A3CD1C1B}"/>
                </a:ext>
              </a:extLst>
            </p:cNvPr>
            <p:cNvSpPr/>
            <p:nvPr/>
          </p:nvSpPr>
          <p:spPr>
            <a:xfrm rot="10800000">
              <a:off x="6238876" y="5112874"/>
              <a:ext cx="971550" cy="785943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D7DE41-32EE-EE34-C3E1-308A5088B793}"/>
                  </a:ext>
                </a:extLst>
              </p:cNvPr>
              <p:cNvSpPr txBox="1"/>
              <p:nvPr/>
            </p:nvSpPr>
            <p:spPr>
              <a:xfrm rot="20064678">
                <a:off x="2018053" y="1306677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D7DE41-32EE-EE34-C3E1-308A5088B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64678">
                <a:off x="2018053" y="1306677"/>
                <a:ext cx="1219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634146-BAD5-EADA-76D9-AF1012DD4199}"/>
                  </a:ext>
                </a:extLst>
              </p:cNvPr>
              <p:cNvSpPr txBox="1"/>
              <p:nvPr/>
            </p:nvSpPr>
            <p:spPr>
              <a:xfrm>
                <a:off x="2243959" y="3018534"/>
                <a:ext cx="7685703" cy="1673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Cambria Math" panose="02040503050406030204" pitchFamily="18" charset="0"/>
                  </a:rPr>
                  <a:t>입력을 더하면 → 출력도 더해진다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 :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ko-KR" altLang="en-US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Cambria Math" panose="02040503050406030204" pitchFamily="18" charset="0"/>
                  </a:rPr>
                  <a:t>입력을 </a:t>
                </a:r>
                <a:r>
                  <a:rPr lang="ko-KR" altLang="en-US" dirty="0" err="1">
                    <a:latin typeface="Cambria Math" panose="02040503050406030204" pitchFamily="18" charset="0"/>
                  </a:rPr>
                  <a:t>스케일하면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→ 출력도 같이 </a:t>
                </a:r>
                <a:r>
                  <a:rPr lang="ko-KR" altLang="en-US" dirty="0" err="1">
                    <a:latin typeface="Cambria Math" panose="02040503050406030204" pitchFamily="18" charset="0"/>
                  </a:rPr>
                  <a:t>스케일된다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.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: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ko-KR" altLang="en-US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Cambria Math" panose="02040503050406030204" pitchFamily="18" charset="0"/>
                  </a:rPr>
                  <a:t>비틀림 없이 ‘비례적으로’ 변하는 직선구조</a:t>
                </a:r>
                <a:endParaRPr lang="ko-KR" alt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634146-BAD5-EADA-76D9-AF1012DD4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959" y="3018534"/>
                <a:ext cx="7685703" cy="1673215"/>
              </a:xfrm>
              <a:prstGeom prst="rect">
                <a:avLst/>
              </a:prstGeom>
              <a:blipFill>
                <a:blip r:embed="rId3"/>
                <a:stretch>
                  <a:fillRect l="-476" b="-43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5EB480-4A35-C4F4-BE57-3C06B2219C9B}"/>
                  </a:ext>
                </a:extLst>
              </p:cNvPr>
              <p:cNvSpPr txBox="1"/>
              <p:nvPr/>
            </p:nvSpPr>
            <p:spPr>
              <a:xfrm>
                <a:off x="8626416" y="5416871"/>
                <a:ext cx="14537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5EB480-4A35-C4F4-BE57-3C06B221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6416" y="5416871"/>
                <a:ext cx="1453796" cy="461665"/>
              </a:xfrm>
              <a:prstGeom prst="rect">
                <a:avLst/>
              </a:prstGeom>
              <a:blipFill>
                <a:blip r:embed="rId4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슬라이드 번호 개체 틀 3">
            <a:extLst>
              <a:ext uri="{FF2B5EF4-FFF2-40B4-BE49-F238E27FC236}">
                <a16:creationId xmlns:a16="http://schemas.microsoft.com/office/drawing/2014/main" id="{0CD98FFA-12FD-5A9E-DFC9-8989FC42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4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72727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657C-F326-66CF-F9AE-DF09B5F23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132A9-54DB-5517-163B-69B92639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en-US" altLang="ko-KR" cap="none" dirty="0"/>
              <a:t>Linear or</a:t>
            </a:r>
            <a:r>
              <a:rPr lang="ko-KR" altLang="en-US" cap="none" dirty="0"/>
              <a:t> </a:t>
            </a:r>
            <a:r>
              <a:rPr lang="en-US" altLang="ko-KR" cap="none" dirty="0"/>
              <a:t>Non</a:t>
            </a:r>
            <a:r>
              <a:rPr lang="ko-KR" altLang="en-US" cap="none" dirty="0"/>
              <a:t> </a:t>
            </a:r>
            <a:r>
              <a:rPr lang="en-US" altLang="ko-KR" cap="none" dirty="0"/>
              <a:t>Linear</a:t>
            </a:r>
            <a:endParaRPr lang="ko-KR" altLang="en-US" cap="non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0156FA-95F7-B6E9-AB18-0E882F029FB2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50" y="1000125"/>
            <a:ext cx="8826260" cy="518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47DEB5-DB96-83A6-DAE5-4D8FF0E3C3F9}"/>
                  </a:ext>
                </a:extLst>
              </p:cNvPr>
              <p:cNvSpPr txBox="1"/>
              <p:nvPr/>
            </p:nvSpPr>
            <p:spPr>
              <a:xfrm>
                <a:off x="14287" y="1870591"/>
                <a:ext cx="28670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r>
                        <a:rPr lang="en-US" altLang="ko-K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altLang="ko-K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pPr/>
                <a:r>
                  <a:rPr lang="ko-KR" altLang="en-US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ko-KR" alt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47DEB5-DB96-83A6-DAE5-4D8FF0E3C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" y="1870591"/>
                <a:ext cx="2867025" cy="646331"/>
              </a:xfrm>
              <a:prstGeom prst="rect">
                <a:avLst/>
              </a:prstGeom>
              <a:blipFill>
                <a:blip r:embed="rId3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슬라이드 번호 개체 틀 3">
            <a:extLst>
              <a:ext uri="{FF2B5EF4-FFF2-40B4-BE49-F238E27FC236}">
                <a16:creationId xmlns:a16="http://schemas.microsoft.com/office/drawing/2014/main" id="{E7DB5585-9534-1A21-C090-FC9C1204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5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0401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A493E-8D46-98E3-D750-4F972874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072AFC8-2EFD-4D64-4991-E43E31F71508}"/>
              </a:ext>
            </a:extLst>
          </p:cNvPr>
          <p:cNvSpPr/>
          <p:nvPr/>
        </p:nvSpPr>
        <p:spPr>
          <a:xfrm>
            <a:off x="712721" y="2552700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AB2ED9-C4A4-2333-3427-E407C2B17733}"/>
              </a:ext>
            </a:extLst>
          </p:cNvPr>
          <p:cNvSpPr txBox="1"/>
          <p:nvPr/>
        </p:nvSpPr>
        <p:spPr>
          <a:xfrm>
            <a:off x="1629916" y="147612"/>
            <a:ext cx="8928992" cy="4826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벡터와 행렬 연산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(Regression)</a:t>
            </a: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퍼셉트론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(Perceptron)</a:t>
            </a:r>
          </a:p>
        </p:txBody>
      </p:sp>
    </p:spTree>
    <p:extLst>
      <p:ext uri="{BB962C8B-B14F-4D97-AF65-F5344CB8AC3E}">
        <p14:creationId xmlns:p14="http://schemas.microsoft.com/office/powerpoint/2010/main" val="174582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F1D5-A05D-AEED-E98C-0554BDE9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6DE98D62-C4CA-D083-42E1-7177B699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7</a:t>
            </a:fld>
            <a:endParaRPr lang="en-US" sz="20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67647D6-E586-4953-AC23-D502780608A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4850" y="2193800"/>
            <a:ext cx="4501673" cy="217822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CCCE8E2-148B-F3D0-98EB-9A973DD2A5A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2101" y="2253348"/>
            <a:ext cx="4963722" cy="194060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555B3B8-885E-712C-52AB-4FCF7DF05CE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2101" y="4503381"/>
            <a:ext cx="3813060" cy="106874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25F1F7-D7B1-B08D-29F3-0FD4E2185785}"/>
              </a:ext>
            </a:extLst>
          </p:cNvPr>
          <p:cNvSpPr txBox="1"/>
          <p:nvPr/>
        </p:nvSpPr>
        <p:spPr>
          <a:xfrm>
            <a:off x="581025" y="1723384"/>
            <a:ext cx="472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연립선형방정식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(System of Linear Equations)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336A03-1E2E-2809-4249-9EFC05E6C4E5}"/>
              </a:ext>
            </a:extLst>
          </p:cNvPr>
          <p:cNvSpPr txBox="1"/>
          <p:nvPr/>
        </p:nvSpPr>
        <p:spPr>
          <a:xfrm>
            <a:off x="6372225" y="1759253"/>
            <a:ext cx="472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형태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(Matrix Form)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AAC71A-5047-7A37-F9D5-0326B3C078B1}"/>
                  </a:ext>
                </a:extLst>
              </p:cNvPr>
              <p:cNvSpPr txBox="1"/>
              <p:nvPr/>
            </p:nvSpPr>
            <p:spPr>
              <a:xfrm>
                <a:off x="8725814" y="1723384"/>
                <a:ext cx="215852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𝐴𝑥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AAC71A-5047-7A37-F9D5-0326B3C07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814" y="1723384"/>
                <a:ext cx="2158523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67F56509-EA45-5AA7-1053-C90C622BE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en-US" altLang="ko-KR" cap="none" dirty="0"/>
              <a:t>System of Linear Equations </a:t>
            </a:r>
            <a:endParaRPr lang="ko-KR" altLang="en-US" cap="none" dirty="0"/>
          </a:p>
        </p:txBody>
      </p:sp>
    </p:spTree>
    <p:extLst>
      <p:ext uri="{BB962C8B-B14F-4D97-AF65-F5344CB8AC3E}">
        <p14:creationId xmlns:p14="http://schemas.microsoft.com/office/powerpoint/2010/main" val="658483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6E815-8EE0-6D4F-49BA-C6278346B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Machine learning diagram">
            <a:extLst>
              <a:ext uri="{FF2B5EF4-FFF2-40B4-BE49-F238E27FC236}">
                <a16:creationId xmlns:a16="http://schemas.microsoft.com/office/drawing/2014/main" id="{31270F37-CD94-038F-97E6-AE82E6BD2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4" y="2004685"/>
            <a:ext cx="8001000" cy="4119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4DB45C27-D83E-EE3E-E745-CF19291C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8</a:t>
            </a:fld>
            <a:endParaRPr lang="en-US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F2B967-4D3A-6B9F-38C9-F2A6A2228496}"/>
              </a:ext>
            </a:extLst>
          </p:cNvPr>
          <p:cNvSpPr txBox="1"/>
          <p:nvPr/>
        </p:nvSpPr>
        <p:spPr>
          <a:xfrm>
            <a:off x="1168736" y="971581"/>
            <a:ext cx="5784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재변환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형태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(Representation of Matrix Form)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57AEF1-25C0-B3CE-02E0-5D8B8A57783D}"/>
                  </a:ext>
                </a:extLst>
              </p:cNvPr>
              <p:cNvSpPr txBox="1"/>
              <p:nvPr/>
            </p:nvSpPr>
            <p:spPr>
              <a:xfrm>
                <a:off x="8398762" y="1543020"/>
                <a:ext cx="1207750" cy="46166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𝐴𝑘</m:t>
                      </m:r>
                    </m:oMath>
                  </m:oMathPara>
                </a14:m>
                <a:endParaRPr lang="ko-KR" altLang="en-US" sz="2400" i="1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57AEF1-25C0-B3CE-02E0-5D8B8A577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762" y="1543020"/>
                <a:ext cx="1207750" cy="461665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01B753E0-A9F7-C1CD-878C-99AD89CDA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en-US" altLang="ko-KR" cap="none" dirty="0"/>
              <a:t>Deep learning </a:t>
            </a:r>
            <a:endParaRPr lang="ko-KR" altLang="en-US" cap="non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74F41C-ACA8-BC68-D537-75F1A153ECFB}"/>
                  </a:ext>
                </a:extLst>
              </p:cNvPr>
              <p:cNvSpPr txBox="1"/>
              <p:nvPr/>
            </p:nvSpPr>
            <p:spPr>
              <a:xfrm>
                <a:off x="6325964" y="1543020"/>
                <a:ext cx="1284511" cy="46166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𝐵𝑧</m:t>
                      </m:r>
                    </m:oMath>
                  </m:oMathPara>
                </a14:m>
                <a:endParaRPr lang="ko-KR" altLang="en-US" sz="2400" i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74F41C-ACA8-BC68-D537-75F1A153E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964" y="1543020"/>
                <a:ext cx="128451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60FEA2-D7E8-7C24-AE89-3CF0ED6080C8}"/>
                  </a:ext>
                </a:extLst>
              </p:cNvPr>
              <p:cNvSpPr txBox="1"/>
              <p:nvPr/>
            </p:nvSpPr>
            <p:spPr>
              <a:xfrm>
                <a:off x="2307119" y="1543020"/>
                <a:ext cx="904875" cy="46166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60FEA2-D7E8-7C24-AE89-3CF0ED608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119" y="1543020"/>
                <a:ext cx="9048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E7DBA2-42ED-882B-39DC-76331AFEBB83}"/>
                  </a:ext>
                </a:extLst>
              </p:cNvPr>
              <p:cNvSpPr txBox="1"/>
              <p:nvPr/>
            </p:nvSpPr>
            <p:spPr>
              <a:xfrm>
                <a:off x="4081716" y="1543020"/>
                <a:ext cx="1284511" cy="46166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2400" i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E7DBA2-42ED-882B-39DC-76331AFEB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716" y="1543020"/>
                <a:ext cx="1284511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90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D4AA-CF5F-4EFB-2604-B1E4314CC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E92BF9F-AED6-6BBA-DF89-DD03B721F532}"/>
              </a:ext>
            </a:extLst>
          </p:cNvPr>
          <p:cNvSpPr/>
          <p:nvPr/>
        </p:nvSpPr>
        <p:spPr>
          <a:xfrm>
            <a:off x="712721" y="3181350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D72458-EB29-DC49-19CA-B99C351CE2AD}"/>
              </a:ext>
            </a:extLst>
          </p:cNvPr>
          <p:cNvSpPr txBox="1"/>
          <p:nvPr/>
        </p:nvSpPr>
        <p:spPr>
          <a:xfrm>
            <a:off x="1629916" y="147612"/>
            <a:ext cx="8928992" cy="4826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벡터와 행렬 연산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(Regression)</a:t>
            </a: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퍼셉트론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(Perceptron)</a:t>
            </a:r>
          </a:p>
        </p:txBody>
      </p:sp>
    </p:spTree>
    <p:extLst>
      <p:ext uri="{BB962C8B-B14F-4D97-AF65-F5344CB8AC3E}">
        <p14:creationId xmlns:p14="http://schemas.microsoft.com/office/powerpoint/2010/main" val="2974209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FBAE2-088E-398A-A555-BB8494B1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962BDD78-DA65-389B-029C-A6795F47D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10</a:t>
            </a:fld>
            <a:endParaRPr lang="en-US" sz="20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55C34F-9E02-4309-86EC-1C160E9F0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cap="none" dirty="0"/>
              <a:t>행렬과 벡터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48B2B-FDED-8D25-FA5B-147EF38E5AEE}"/>
              </a:ext>
            </a:extLst>
          </p:cNvPr>
          <p:cNvSpPr txBox="1"/>
          <p:nvPr/>
        </p:nvSpPr>
        <p:spPr>
          <a:xfrm>
            <a:off x="3686175" y="2876864"/>
            <a:ext cx="57531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Ungraded Lab - Introduction To </a:t>
            </a:r>
            <a:r>
              <a:rPr lang="en-US" altLang="ko-KR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Numpy</a:t>
            </a:r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Arrays</a:t>
            </a:r>
            <a:endParaRPr lang="en-US" altLang="ko-KR" dirty="0"/>
          </a:p>
          <a:p>
            <a:r>
              <a:rPr lang="en-US" altLang="ko-KR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Ungraded Lab - Solving Linear Systems : 2 Variables</a:t>
            </a:r>
            <a:endParaRPr lang="en-US" altLang="ko-KR" dirty="0"/>
          </a:p>
          <a:p>
            <a:endParaRPr lang="en-US" altLang="ko-KR" dirty="0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altLang="ko-KR" dirty="0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ko-K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Ungraded Lab - Solving Linear Systems : 3 Variables</a:t>
            </a:r>
            <a:endParaRPr lang="en-US" altLang="ko-KR" dirty="0"/>
          </a:p>
          <a:p>
            <a:endParaRPr lang="en-US" altLang="ko-KR" dirty="0"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altLang="ko-KR" dirty="0"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altLang="ko-KR" dirty="0"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ko-KR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Ungraded Lab - Vector Operations</a:t>
            </a:r>
            <a:endParaRPr lang="en-US" altLang="ko-KR" dirty="0"/>
          </a:p>
          <a:p>
            <a:r>
              <a:rPr lang="en-US" altLang="ko-KR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Ungraded Lab - Matrix Multiplication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15850-FC9A-41D5-A164-32A60D0DBA7E}"/>
              </a:ext>
            </a:extLst>
          </p:cNvPr>
          <p:cNvSpPr txBox="1"/>
          <p:nvPr/>
        </p:nvSpPr>
        <p:spPr>
          <a:xfrm>
            <a:off x="2457450" y="1673618"/>
            <a:ext cx="436600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Mathematics-for-Big-Data-Science</a:t>
            </a:r>
            <a:endParaRPr lang="en-US" altLang="ko-KR" sz="2400" dirty="0"/>
          </a:p>
          <a:p>
            <a:endParaRPr lang="en-US" altLang="ko-KR" dirty="0"/>
          </a:p>
          <a:p>
            <a:r>
              <a:rPr lang="en-US" altLang="ko-KR" dirty="0"/>
              <a:t>C1 </a:t>
            </a:r>
          </a:p>
          <a:p>
            <a:endParaRPr lang="en-US" altLang="ko-KR" dirty="0"/>
          </a:p>
          <a:p>
            <a:r>
              <a:rPr lang="en-US" altLang="ko-KR" dirty="0"/>
              <a:t>	w1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w2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</a:p>
          <a:p>
            <a:endParaRPr lang="en-US" altLang="ko-KR" dirty="0"/>
          </a:p>
          <a:p>
            <a:r>
              <a:rPr lang="en-US" altLang="ko-KR" dirty="0"/>
              <a:t>	w3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9659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5871F-6794-7500-6128-87B66287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634C58-AE6C-176B-F945-6D8030D9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en-US" altLang="ko-KR" cap="none" dirty="0" err="1"/>
              <a:t>Numpy</a:t>
            </a:r>
            <a:r>
              <a:rPr lang="en-US" altLang="ko-KR" cap="none" dirty="0"/>
              <a:t> </a:t>
            </a:r>
            <a:r>
              <a:rPr lang="ko-KR" altLang="en-US" cap="none" dirty="0"/>
              <a:t>배우기</a:t>
            </a:r>
            <a:r>
              <a:rPr lang="en-US" altLang="ko-KR" cap="none" dirty="0"/>
              <a:t>(Option)</a:t>
            </a:r>
            <a:endParaRPr lang="ko-KR" altLang="en-US" cap="non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AEBB09-87BF-A3B4-9FCE-50B0C858CD85}"/>
              </a:ext>
            </a:extLst>
          </p:cNvPr>
          <p:cNvSpPr txBox="1"/>
          <p:nvPr/>
        </p:nvSpPr>
        <p:spPr>
          <a:xfrm>
            <a:off x="1009650" y="1400175"/>
            <a:ext cx="4036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</a:t>
            </a:r>
            <a:r>
              <a:rPr lang="en-US" altLang="ko-KR" sz="24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DataScience</a:t>
            </a:r>
            <a:r>
              <a:rPr lang="en-US" altLang="ko-KR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Handbook</a:t>
            </a:r>
            <a:r>
              <a:rPr lang="en-US" altLang="ko-KR" sz="2400" dirty="0"/>
              <a:t> </a:t>
            </a:r>
            <a:endParaRPr lang="ko-KR" altLang="en-US" sz="2400" dirty="0"/>
          </a:p>
        </p:txBody>
      </p:sp>
      <p:pic>
        <p:nvPicPr>
          <p:cNvPr id="1026" name="Picture 2" descr="Book Cover">
            <a:extLst>
              <a:ext uri="{FF2B5EF4-FFF2-40B4-BE49-F238E27FC236}">
                <a16:creationId xmlns:a16="http://schemas.microsoft.com/office/drawing/2014/main" id="{60892FA3-13A3-1621-652A-7A89672067C6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900" y="2448369"/>
            <a:ext cx="1929990" cy="2547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A3FA131-6112-9A87-0CD9-C1A63FEEC93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82096" y="2363131"/>
            <a:ext cx="3876230" cy="261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133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934FC-E499-F18D-86F6-87717BA53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F12D521-939C-02F3-30BA-6F660253FE91}"/>
              </a:ext>
            </a:extLst>
          </p:cNvPr>
          <p:cNvSpPr/>
          <p:nvPr/>
        </p:nvSpPr>
        <p:spPr>
          <a:xfrm>
            <a:off x="712721" y="3781425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0960E-8C55-FC63-C8CD-F10F1DFFA9A0}"/>
              </a:ext>
            </a:extLst>
          </p:cNvPr>
          <p:cNvSpPr txBox="1"/>
          <p:nvPr/>
        </p:nvSpPr>
        <p:spPr>
          <a:xfrm>
            <a:off x="1629916" y="147612"/>
            <a:ext cx="8928992" cy="4826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벡터와 행렬 연산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(Regression)</a:t>
            </a: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퍼셉트론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(Perceptron)</a:t>
            </a:r>
          </a:p>
        </p:txBody>
      </p:sp>
    </p:spTree>
    <p:extLst>
      <p:ext uri="{BB962C8B-B14F-4D97-AF65-F5344CB8AC3E}">
        <p14:creationId xmlns:p14="http://schemas.microsoft.com/office/powerpoint/2010/main" val="3340020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293B-460C-9230-F381-B0364AA3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0AE2C-28FF-1039-9A16-E84B181F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직선에서의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D4C64AF-EF0E-EBD8-8093-7DE3D6BBB899}"/>
              </a:ext>
            </a:extLst>
          </p:cNvPr>
          <p:cNvCxnSpPr>
            <a:cxnSpLocks/>
          </p:cNvCxnSpPr>
          <p:nvPr/>
        </p:nvCxnSpPr>
        <p:spPr>
          <a:xfrm>
            <a:off x="361325" y="3629309"/>
            <a:ext cx="50869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8D289A-2471-E2AE-B6E6-B49E2097CF5D}"/>
              </a:ext>
            </a:extLst>
          </p:cNvPr>
          <p:cNvSpPr txBox="1"/>
          <p:nvPr/>
        </p:nvSpPr>
        <p:spPr>
          <a:xfrm>
            <a:off x="228600" y="370550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A44CD66-B49C-B14B-F5CB-619727F202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67086" y="2591736"/>
            <a:ext cx="5668613" cy="325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6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A1CC-8648-9F67-9936-401B49A3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2634D-69DE-B1FA-0C1A-E45A7D84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직선에서의 선형변환에 대해 생각하기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52E407F-6FCE-2AF3-B4C9-590554943A06}"/>
              </a:ext>
            </a:extLst>
          </p:cNvPr>
          <p:cNvGrpSpPr/>
          <p:nvPr/>
        </p:nvGrpSpPr>
        <p:grpSpPr>
          <a:xfrm>
            <a:off x="2286315" y="2000250"/>
            <a:ext cx="5219700" cy="4730560"/>
            <a:chOff x="2286315" y="2000250"/>
            <a:chExt cx="5219700" cy="4730560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F7EF1AA-F153-6183-97D0-69F9B4F583E3}"/>
                </a:ext>
              </a:extLst>
            </p:cNvPr>
            <p:cNvCxnSpPr>
              <a:cxnSpLocks/>
            </p:cNvCxnSpPr>
            <p:nvPr/>
          </p:nvCxnSpPr>
          <p:spPr>
            <a:xfrm>
              <a:off x="2419040" y="4197775"/>
              <a:ext cx="5086975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202B12-A258-8108-186D-F5C99EE6F804}"/>
                </a:ext>
              </a:extLst>
            </p:cNvPr>
            <p:cNvSpPr txBox="1"/>
            <p:nvPr/>
          </p:nvSpPr>
          <p:spPr>
            <a:xfrm>
              <a:off x="2286315" y="4273975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0	1	2	3</a:t>
              </a:r>
              <a:endParaRPr lang="ko-KR" altLang="en-US" dirty="0"/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CFDE16B-292D-CEE7-D26B-874B0FDAC374}"/>
                </a:ext>
              </a:extLst>
            </p:cNvPr>
            <p:cNvCxnSpPr>
              <a:cxnSpLocks/>
            </p:cNvCxnSpPr>
            <p:nvPr/>
          </p:nvCxnSpPr>
          <p:spPr>
            <a:xfrm>
              <a:off x="4772028" y="2025460"/>
              <a:ext cx="0" cy="448011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889A9A-9BF1-DC08-AE34-A7451EE113CD}"/>
                </a:ext>
              </a:extLst>
            </p:cNvPr>
            <p:cNvSpPr txBox="1"/>
            <p:nvPr/>
          </p:nvSpPr>
          <p:spPr>
            <a:xfrm rot="16200000">
              <a:off x="2111177" y="4193469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	1	2	3</a:t>
              </a:r>
              <a:endParaRPr lang="ko-KR" altLang="en-US" dirty="0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62EAC99-6513-A21E-6BBF-96E1779712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3" y="2000250"/>
              <a:ext cx="2419350" cy="430590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C578CA-2FF6-CF4B-98EE-2B1A44B150DD}"/>
              </a:ext>
            </a:extLst>
          </p:cNvPr>
          <p:cNvSpPr/>
          <p:nvPr/>
        </p:nvSpPr>
        <p:spPr>
          <a:xfrm>
            <a:off x="5036255" y="3333500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내용 개체 틀 3">
            <a:extLst>
              <a:ext uri="{FF2B5EF4-FFF2-40B4-BE49-F238E27FC236}">
                <a16:creationId xmlns:a16="http://schemas.microsoft.com/office/drawing/2014/main" id="{13052355-1119-0517-A20A-A305BD682AA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915466" y="1932871"/>
            <a:ext cx="2036761" cy="13025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90A477-981F-6DCC-8358-09701A1FA9ED}"/>
                  </a:ext>
                </a:extLst>
              </p:cNvPr>
              <p:cNvSpPr txBox="1"/>
              <p:nvPr/>
            </p:nvSpPr>
            <p:spPr>
              <a:xfrm>
                <a:off x="5269364" y="3575707"/>
                <a:ext cx="121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=(1, 2)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90A477-981F-6DCC-8358-09701A1FA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64" y="3575707"/>
                <a:ext cx="121732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7A27F945-2837-878D-1E14-9A8919FB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14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2700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6DF6-FB18-4294-55E9-C6DBA31A5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내용 개체 틀 3">
            <a:extLst>
              <a:ext uri="{FF2B5EF4-FFF2-40B4-BE49-F238E27FC236}">
                <a16:creationId xmlns:a16="http://schemas.microsoft.com/office/drawing/2014/main" id="{129CA579-ACE9-8864-C8FC-DB2CB0CF675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622754" y="2219501"/>
            <a:ext cx="2036761" cy="13025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9A9540-1A43-29C2-FDDD-0FC6C798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선형변환에 대해 생각하기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41751FB-CCED-D8B7-A89F-2C9659857CB8}"/>
              </a:ext>
            </a:extLst>
          </p:cNvPr>
          <p:cNvGrpSpPr/>
          <p:nvPr/>
        </p:nvGrpSpPr>
        <p:grpSpPr>
          <a:xfrm>
            <a:off x="228915" y="2013945"/>
            <a:ext cx="5219700" cy="4730560"/>
            <a:chOff x="2286315" y="2000250"/>
            <a:chExt cx="5219700" cy="473056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F931236-F7E9-00A7-B658-C585F7F5A16B}"/>
                </a:ext>
              </a:extLst>
            </p:cNvPr>
            <p:cNvCxnSpPr>
              <a:cxnSpLocks/>
            </p:cNvCxnSpPr>
            <p:nvPr/>
          </p:nvCxnSpPr>
          <p:spPr>
            <a:xfrm>
              <a:off x="2419040" y="4197775"/>
              <a:ext cx="5086975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237D04F-3639-48C8-2FB6-4B4C978881E0}"/>
                </a:ext>
              </a:extLst>
            </p:cNvPr>
            <p:cNvSpPr txBox="1"/>
            <p:nvPr/>
          </p:nvSpPr>
          <p:spPr>
            <a:xfrm>
              <a:off x="2286315" y="4273975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0	1	2	3</a:t>
              </a:r>
              <a:endParaRPr lang="ko-KR" altLang="en-US" dirty="0"/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3C1372A1-72AD-FF90-5EDE-A96753286084}"/>
                </a:ext>
              </a:extLst>
            </p:cNvPr>
            <p:cNvCxnSpPr>
              <a:cxnSpLocks/>
            </p:cNvCxnSpPr>
            <p:nvPr/>
          </p:nvCxnSpPr>
          <p:spPr>
            <a:xfrm>
              <a:off x="4772028" y="2025460"/>
              <a:ext cx="0" cy="448011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40E2898-EE5A-3D43-1F94-A94D6D1B5225}"/>
                </a:ext>
              </a:extLst>
            </p:cNvPr>
            <p:cNvSpPr txBox="1"/>
            <p:nvPr/>
          </p:nvSpPr>
          <p:spPr>
            <a:xfrm rot="16200000">
              <a:off x="2111177" y="4193469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	1	2	3</a:t>
              </a:r>
              <a:endParaRPr lang="ko-KR" altLang="en-US" dirty="0"/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B198DBB6-2805-CBDB-BED2-D6F2E99DDD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3" y="2000250"/>
              <a:ext cx="2419350" cy="430590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6A4DB8-F24A-7254-51A8-F5FB6291CB29}"/>
              </a:ext>
            </a:extLst>
          </p:cNvPr>
          <p:cNvSpPr/>
          <p:nvPr/>
        </p:nvSpPr>
        <p:spPr>
          <a:xfrm>
            <a:off x="2978855" y="3347195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925995-92EB-FB7E-18EF-BC9246C5F6C5}"/>
                  </a:ext>
                </a:extLst>
              </p:cNvPr>
              <p:cNvSpPr txBox="1"/>
              <p:nvPr/>
            </p:nvSpPr>
            <p:spPr>
              <a:xfrm>
                <a:off x="3131468" y="3617062"/>
                <a:ext cx="121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=(1, 2)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925995-92EB-FB7E-18EF-BC9246C5F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468" y="3617062"/>
                <a:ext cx="121732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5D1148-3EC2-45F2-8167-304E4F958865}"/>
                  </a:ext>
                </a:extLst>
              </p:cNvPr>
              <p:cNvSpPr txBox="1"/>
              <p:nvPr/>
            </p:nvSpPr>
            <p:spPr>
              <a:xfrm>
                <a:off x="6792116" y="2214694"/>
                <a:ext cx="3352456" cy="1339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4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48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4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4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4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ko-KR" sz="4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4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ko-KR" sz="4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4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5D1148-3EC2-45F2-8167-304E4F958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116" y="2214694"/>
                <a:ext cx="3352456" cy="13390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EFD04D4-819A-C00F-10C8-261AD33427C2}"/>
                  </a:ext>
                </a:extLst>
              </p:cNvPr>
              <p:cNvSpPr txBox="1"/>
              <p:nvPr/>
            </p:nvSpPr>
            <p:spPr>
              <a:xfrm>
                <a:off x="5448615" y="3986394"/>
                <a:ext cx="4443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EFD04D4-819A-C00F-10C8-261AD3342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615" y="3986394"/>
                <a:ext cx="44435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ACEB56C-02C3-FD2C-5368-4215BA208029}"/>
                  </a:ext>
                </a:extLst>
              </p:cNvPr>
              <p:cNvSpPr txBox="1"/>
              <p:nvPr/>
            </p:nvSpPr>
            <p:spPr>
              <a:xfrm>
                <a:off x="2745191" y="1723062"/>
                <a:ext cx="4507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ACEB56C-02C3-FD2C-5368-4215BA208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191" y="1723062"/>
                <a:ext cx="450764" cy="461665"/>
              </a:xfrm>
              <a:prstGeom prst="rect">
                <a:avLst/>
              </a:prstGeom>
              <a:blipFill>
                <a:blip r:embed="rId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타원 35">
            <a:extLst>
              <a:ext uri="{FF2B5EF4-FFF2-40B4-BE49-F238E27FC236}">
                <a16:creationId xmlns:a16="http://schemas.microsoft.com/office/drawing/2014/main" id="{A198A072-9A80-F113-3D6E-1A73198F53F6}"/>
              </a:ext>
            </a:extLst>
          </p:cNvPr>
          <p:cNvSpPr/>
          <p:nvPr/>
        </p:nvSpPr>
        <p:spPr>
          <a:xfrm>
            <a:off x="8346847" y="2041167"/>
            <a:ext cx="687578" cy="170080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F8F0BE2-B48C-FF81-58BB-7A85CE8092B1}"/>
              </a:ext>
            </a:extLst>
          </p:cNvPr>
          <p:cNvSpPr/>
          <p:nvPr/>
        </p:nvSpPr>
        <p:spPr>
          <a:xfrm>
            <a:off x="9148418" y="2020388"/>
            <a:ext cx="687578" cy="17008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0503F3-2539-0EF1-6127-3493EAEAC935}"/>
                  </a:ext>
                </a:extLst>
              </p:cNvPr>
              <p:cNvSpPr txBox="1"/>
              <p:nvPr/>
            </p:nvSpPr>
            <p:spPr>
              <a:xfrm>
                <a:off x="6792116" y="4586427"/>
                <a:ext cx="20310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solidFill>
                      <a:srgbClr val="00B050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ko-KR" altLang="en-US" sz="2400" b="1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ko-KR" sz="2400" b="1" dirty="0">
                    <a:solidFill>
                      <a:srgbClr val="00B050"/>
                    </a:solidFill>
                  </a:rPr>
                  <a:t>lands</a:t>
                </a:r>
                <a:endParaRPr lang="ko-KR" alt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0503F3-2539-0EF1-6127-3493EAEAC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116" y="4586427"/>
                <a:ext cx="2031069" cy="461665"/>
              </a:xfrm>
              <a:prstGeom prst="rect">
                <a:avLst/>
              </a:prstGeom>
              <a:blipFill>
                <a:blip r:embed="rId7"/>
                <a:stretch>
                  <a:fillRect l="-4505" t="-10526" r="-3904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6F1C319-40F3-3B00-3F8D-7B759528AD3E}"/>
                  </a:ext>
                </a:extLst>
              </p:cNvPr>
              <p:cNvSpPr txBox="1"/>
              <p:nvPr/>
            </p:nvSpPr>
            <p:spPr>
              <a:xfrm>
                <a:off x="9174517" y="4577707"/>
                <a:ext cx="20374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solidFill>
                      <a:srgbClr val="FF0000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ko-KR" alt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2400" b="1" dirty="0">
                    <a:solidFill>
                      <a:srgbClr val="FF0000"/>
                    </a:solidFill>
                  </a:rPr>
                  <a:t>lands</a:t>
                </a:r>
                <a:endParaRPr lang="ko-KR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6F1C319-40F3-3B00-3F8D-7B759528A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517" y="4577707"/>
                <a:ext cx="2037481" cy="461665"/>
              </a:xfrm>
              <a:prstGeom prst="rect">
                <a:avLst/>
              </a:prstGeom>
              <a:blipFill>
                <a:blip r:embed="rId8"/>
                <a:stretch>
                  <a:fillRect l="-4491" t="-10526" r="-3892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D458F58-935A-1653-73BC-4F5FF3AFBF2A}"/>
              </a:ext>
            </a:extLst>
          </p:cNvPr>
          <p:cNvCxnSpPr>
            <a:cxnSpLocks/>
          </p:cNvCxnSpPr>
          <p:nvPr/>
        </p:nvCxnSpPr>
        <p:spPr>
          <a:xfrm flipV="1">
            <a:off x="8056207" y="3726137"/>
            <a:ext cx="570365" cy="898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1E6DBA1-4305-2ABF-E831-B71B539AECE9}"/>
              </a:ext>
            </a:extLst>
          </p:cNvPr>
          <p:cNvCxnSpPr>
            <a:cxnSpLocks/>
          </p:cNvCxnSpPr>
          <p:nvPr/>
        </p:nvCxnSpPr>
        <p:spPr>
          <a:xfrm flipH="1" flipV="1">
            <a:off x="9491715" y="3725751"/>
            <a:ext cx="688561" cy="8822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2FA667-22C4-F733-94C5-5665AFC1CBEA}"/>
                  </a:ext>
                </a:extLst>
              </p:cNvPr>
              <p:cNvSpPr txBox="1"/>
              <p:nvPr/>
            </p:nvSpPr>
            <p:spPr>
              <a:xfrm>
                <a:off x="7139056" y="5164622"/>
                <a:ext cx="1404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</m:oMath>
                </a14:m>
                <a:r>
                  <a:rPr lang="ko-KR" altLang="en-US" dirty="0">
                    <a:solidFill>
                      <a:srgbClr val="00B050"/>
                    </a:solidFill>
                    <a:latin typeface="+mj-ea"/>
                    <a:ea typeface="+mj-ea"/>
                  </a:rPr>
                  <a:t> 축에 투영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2FA667-22C4-F733-94C5-5665AFC1C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056" y="5164622"/>
                <a:ext cx="1404552" cy="369332"/>
              </a:xfrm>
              <a:prstGeom prst="rect">
                <a:avLst/>
              </a:prstGeom>
              <a:blipFill>
                <a:blip r:embed="rId9"/>
                <a:stretch>
                  <a:fillRect t="-8197" r="-3030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E9DDAA-096C-A1BE-1D87-A2DAACF6D2A9}"/>
                  </a:ext>
                </a:extLst>
              </p:cNvPr>
              <p:cNvSpPr txBox="1"/>
              <p:nvPr/>
            </p:nvSpPr>
            <p:spPr>
              <a:xfrm>
                <a:off x="9516927" y="5164622"/>
                <a:ext cx="14093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𝑦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  <a:latin typeface="+mj-ea"/>
                    <a:ea typeface="+mj-ea"/>
                  </a:rPr>
                  <a:t> 축에</a:t>
                </a:r>
                <a:r>
                  <a:rPr lang="en-US" altLang="ko-KR" dirty="0">
                    <a:solidFill>
                      <a:srgbClr val="FF0000"/>
                    </a:solidFill>
                    <a:latin typeface="+mj-ea"/>
                    <a:ea typeface="+mj-ea"/>
                  </a:rPr>
                  <a:t> </a:t>
                </a:r>
                <a:r>
                  <a:rPr lang="ko-KR" altLang="en-US" dirty="0">
                    <a:solidFill>
                      <a:srgbClr val="FF0000"/>
                    </a:solidFill>
                    <a:latin typeface="+mj-ea"/>
                    <a:ea typeface="+mj-ea"/>
                  </a:rPr>
                  <a:t>투영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E9DDAA-096C-A1BE-1D87-A2DAACF6D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927" y="5164622"/>
                <a:ext cx="1409360" cy="369332"/>
              </a:xfrm>
              <a:prstGeom prst="rect">
                <a:avLst/>
              </a:prstGeom>
              <a:blipFill>
                <a:blip r:embed="rId10"/>
                <a:stretch>
                  <a:fillRect t="-8197" r="-3463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6709EDC-A34A-45F5-7DEA-B64FDB64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15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33153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6047-1098-D4A9-F3E4-BF4B5CC04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6DE6C-07CA-F0F1-E6D9-13C50AF8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선형변환에 대해 생각하기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4BB8FF3-4604-4774-4B17-379BC3468D0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92116" y="4017793"/>
            <a:ext cx="4805524" cy="1389766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5B7846-3221-540A-BE0D-265F91EC9DCF}"/>
              </a:ext>
            </a:extLst>
          </p:cNvPr>
          <p:cNvGrpSpPr/>
          <p:nvPr/>
        </p:nvGrpSpPr>
        <p:grpSpPr>
          <a:xfrm>
            <a:off x="171140" y="2021434"/>
            <a:ext cx="5086975" cy="4480115"/>
            <a:chOff x="2228540" y="2007739"/>
            <a:chExt cx="5086975" cy="4480115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E4A685D7-7142-7FF7-0385-F3B28E3CA7AF}"/>
                </a:ext>
              </a:extLst>
            </p:cNvPr>
            <p:cNvCxnSpPr>
              <a:cxnSpLocks/>
            </p:cNvCxnSpPr>
            <p:nvPr/>
          </p:nvCxnSpPr>
          <p:spPr>
            <a:xfrm>
              <a:off x="2228540" y="5455075"/>
              <a:ext cx="508697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60C97EA0-D6BC-35AD-7E07-12F4B4482B87}"/>
                </a:ext>
              </a:extLst>
            </p:cNvPr>
            <p:cNvCxnSpPr>
              <a:cxnSpLocks/>
            </p:cNvCxnSpPr>
            <p:nvPr/>
          </p:nvCxnSpPr>
          <p:spPr>
            <a:xfrm>
              <a:off x="3914778" y="2007739"/>
              <a:ext cx="0" cy="44801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3CC60D-3812-9308-967F-3D2A15B26A06}"/>
              </a:ext>
            </a:extLst>
          </p:cNvPr>
          <p:cNvSpPr/>
          <p:nvPr/>
        </p:nvSpPr>
        <p:spPr>
          <a:xfrm>
            <a:off x="2038347" y="5074071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8CD4E4-49CE-2EAB-9D85-2629433EE084}"/>
                  </a:ext>
                </a:extLst>
              </p:cNvPr>
              <p:cNvSpPr txBox="1"/>
              <p:nvPr/>
            </p:nvSpPr>
            <p:spPr>
              <a:xfrm>
                <a:off x="2306830" y="4965183"/>
                <a:ext cx="20610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=(1, 2)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8CD4E4-49CE-2EAB-9D85-2629433EE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830" y="4965183"/>
                <a:ext cx="2061077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DC9516-0E91-36D6-EFBE-1172B878D31E}"/>
                  </a:ext>
                </a:extLst>
              </p:cNvPr>
              <p:cNvSpPr txBox="1"/>
              <p:nvPr/>
            </p:nvSpPr>
            <p:spPr>
              <a:xfrm>
                <a:off x="4929940" y="5103010"/>
                <a:ext cx="3577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DC9516-0E91-36D6-EFBE-1172B878D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940" y="5103010"/>
                <a:ext cx="35779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FC8B89-70B4-4236-487F-DBA100E12752}"/>
                  </a:ext>
                </a:extLst>
              </p:cNvPr>
              <p:cNvSpPr txBox="1"/>
              <p:nvPr/>
            </p:nvSpPr>
            <p:spPr>
              <a:xfrm>
                <a:off x="1307329" y="1854736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FC8B89-70B4-4236-487F-DBA100E12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329" y="1854736"/>
                <a:ext cx="38343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F42118F-F82A-7332-0FAC-BA17BA95771E}"/>
              </a:ext>
            </a:extLst>
          </p:cNvPr>
          <p:cNvCxnSpPr>
            <a:cxnSpLocks/>
          </p:cNvCxnSpPr>
          <p:nvPr/>
        </p:nvCxnSpPr>
        <p:spPr>
          <a:xfrm flipH="1">
            <a:off x="1660986" y="1662825"/>
            <a:ext cx="938932" cy="47099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9513CA9-1FF2-667A-7575-59ED74DD0EDD}"/>
              </a:ext>
            </a:extLst>
          </p:cNvPr>
          <p:cNvGrpSpPr/>
          <p:nvPr/>
        </p:nvGrpSpPr>
        <p:grpSpPr>
          <a:xfrm>
            <a:off x="363921" y="4476615"/>
            <a:ext cx="1354218" cy="787525"/>
            <a:chOff x="6655650" y="2150299"/>
            <a:chExt cx="1692562" cy="11038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5C524DD-E032-1640-29BE-2A1F082FE246}"/>
                    </a:ext>
                  </a:extLst>
                </p:cNvPr>
                <p:cNvSpPr txBox="1"/>
                <p:nvPr/>
              </p:nvSpPr>
              <p:spPr>
                <a:xfrm>
                  <a:off x="6655650" y="2296979"/>
                  <a:ext cx="1692562" cy="7768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sz="3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5C524DD-E032-1640-29BE-2A1F082FE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5650" y="2296979"/>
                  <a:ext cx="1692562" cy="7768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FF91148E-CDA5-C323-15C9-30E0A0313DA4}"/>
                </a:ext>
              </a:extLst>
            </p:cNvPr>
            <p:cNvSpPr/>
            <p:nvPr/>
          </p:nvSpPr>
          <p:spPr>
            <a:xfrm>
              <a:off x="7834763" y="2150299"/>
              <a:ext cx="420323" cy="110381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DE10634-30DE-1535-F053-C155E2687217}"/>
                </a:ext>
              </a:extLst>
            </p:cNvPr>
            <p:cNvSpPr/>
            <p:nvPr/>
          </p:nvSpPr>
          <p:spPr>
            <a:xfrm>
              <a:off x="7364141" y="2150299"/>
              <a:ext cx="443256" cy="1103812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32D8F7B-60F2-055B-F150-41CD16A22885}"/>
              </a:ext>
            </a:extLst>
          </p:cNvPr>
          <p:cNvCxnSpPr>
            <a:cxnSpLocks/>
          </p:cNvCxnSpPr>
          <p:nvPr/>
        </p:nvCxnSpPr>
        <p:spPr>
          <a:xfrm flipH="1">
            <a:off x="1261516" y="2304898"/>
            <a:ext cx="2830430" cy="4025469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D8F592-7651-492B-60D3-0C5EC13405ED}"/>
                  </a:ext>
                </a:extLst>
              </p:cNvPr>
              <p:cNvSpPr txBox="1"/>
              <p:nvPr/>
            </p:nvSpPr>
            <p:spPr>
              <a:xfrm>
                <a:off x="3995368" y="2367847"/>
                <a:ext cx="1687578" cy="377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̀"/>
                          <m:ctrlP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𝑁𝑒𝑤</m:t>
                          </m:r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=(2,3)</m:t>
                      </m:r>
                    </m:oMath>
                  </m:oMathPara>
                </a14:m>
                <a:endParaRPr lang="ko-KR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D8F592-7651-492B-60D3-0C5EC1340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368" y="2367847"/>
                <a:ext cx="1687578" cy="377219"/>
              </a:xfrm>
              <a:prstGeom prst="rect">
                <a:avLst/>
              </a:prstGeom>
              <a:blipFill>
                <a:blip r:embed="rId7"/>
                <a:stretch>
                  <a:fillRect t="-8065" b="-145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F14792-8828-FE52-2167-82B3C6402E93}"/>
                  </a:ext>
                </a:extLst>
              </p:cNvPr>
              <p:cNvSpPr txBox="1"/>
              <p:nvPr/>
            </p:nvSpPr>
            <p:spPr>
              <a:xfrm>
                <a:off x="1954485" y="1879697"/>
                <a:ext cx="1690976" cy="377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̀"/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𝑁𝑒𝑤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=(1,4)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F14792-8828-FE52-2167-82B3C6402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485" y="1879697"/>
                <a:ext cx="1690976" cy="377219"/>
              </a:xfrm>
              <a:prstGeom prst="rect">
                <a:avLst/>
              </a:prstGeom>
              <a:blipFill>
                <a:blip r:embed="rId8"/>
                <a:stretch>
                  <a:fillRect t="-8065" b="-145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6B9350-ECBC-D96D-85CF-14BC15D81B2E}"/>
              </a:ext>
            </a:extLst>
          </p:cNvPr>
          <p:cNvSpPr/>
          <p:nvPr/>
        </p:nvSpPr>
        <p:spPr>
          <a:xfrm>
            <a:off x="2599918" y="3337474"/>
            <a:ext cx="260349" cy="24220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9A590E-AAB4-B3C4-09F3-593D1CF85793}"/>
                  </a:ext>
                </a:extLst>
              </p:cNvPr>
              <p:cNvSpPr txBox="1"/>
              <p:nvPr/>
            </p:nvSpPr>
            <p:spPr>
              <a:xfrm>
                <a:off x="2860267" y="3254111"/>
                <a:ext cx="18203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=(4, 11)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9A590E-AAB4-B3C4-09F3-593D1CF85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267" y="3254111"/>
                <a:ext cx="1820370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FEB578A-2D81-A6E7-36E3-01CEA339EF66}"/>
                  </a:ext>
                </a:extLst>
              </p:cNvPr>
              <p:cNvSpPr txBox="1"/>
              <p:nvPr/>
            </p:nvSpPr>
            <p:spPr>
              <a:xfrm>
                <a:off x="6792116" y="2214694"/>
                <a:ext cx="4107535" cy="921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sz="3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∗1+</m:t>
                                </m:r>
                              </m:e>
                              <m:e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2∗1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3∗1+</m:t>
                                </m:r>
                              </m:e>
                              <m:e>
                                <m:r>
                                  <a:rPr lang="en-US" altLang="ko-KR" sz="3200" b="0" i="1" smtClean="0">
                                    <a:latin typeface="Cambria Math" panose="02040503050406030204" pitchFamily="18" charset="0"/>
                                  </a:rPr>
                                  <m:t>4∗2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48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FEB578A-2D81-A6E7-36E3-01CEA339E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116" y="2214694"/>
                <a:ext cx="4107535" cy="92172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159570-57A6-4A56-6583-6F15679B8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16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72065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4E690-F2AD-18B4-D988-8AEE6085F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F44F4-1686-2B4C-B786-2BBD121CB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432D000-AAD7-424D-68F9-3340C35A3C36}"/>
              </a:ext>
            </a:extLst>
          </p:cNvPr>
          <p:cNvCxnSpPr>
            <a:cxnSpLocks/>
          </p:cNvCxnSpPr>
          <p:nvPr/>
        </p:nvCxnSpPr>
        <p:spPr>
          <a:xfrm>
            <a:off x="456890" y="4197775"/>
            <a:ext cx="508697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CBFC49-A98C-36D0-1878-7FFFEFF36A68}"/>
              </a:ext>
            </a:extLst>
          </p:cNvPr>
          <p:cNvSpPr txBox="1"/>
          <p:nvPr/>
        </p:nvSpPr>
        <p:spPr>
          <a:xfrm>
            <a:off x="32416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C8C6DF1-B97D-F199-5033-64331BCC3A7E}"/>
              </a:ext>
            </a:extLst>
          </p:cNvPr>
          <p:cNvCxnSpPr>
            <a:cxnSpLocks/>
          </p:cNvCxnSpPr>
          <p:nvPr/>
        </p:nvCxnSpPr>
        <p:spPr>
          <a:xfrm>
            <a:off x="280987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8EE0933-37D0-5B7A-EF49-7D3E7E68A636}"/>
              </a:ext>
            </a:extLst>
          </p:cNvPr>
          <p:cNvSpPr txBox="1"/>
          <p:nvPr/>
        </p:nvSpPr>
        <p:spPr>
          <a:xfrm rot="16200000">
            <a:off x="267015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9770E7-D05C-D9DA-D98D-1366B9D2D15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850" y="2377217"/>
            <a:ext cx="1503361" cy="9810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D98E98A-995F-336E-D8D6-82E48810C92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02223" y="3358239"/>
            <a:ext cx="1280266" cy="52582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5689E68-6A28-53EE-75F3-C2D0E09D822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850" y="3691819"/>
            <a:ext cx="1280271" cy="5486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B06CAE5-178C-DC5D-E74B-8EF5E3F67EA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67120" y="3697535"/>
            <a:ext cx="1597887" cy="54297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11805A-4319-468A-B660-5363D357BFFB}"/>
              </a:ext>
            </a:extLst>
          </p:cNvPr>
          <p:cNvSpPr/>
          <p:nvPr/>
        </p:nvSpPr>
        <p:spPr>
          <a:xfrm>
            <a:off x="3073399" y="3358224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826B98-1D71-4910-55B7-EE49E4BBF56A}"/>
              </a:ext>
            </a:extLst>
          </p:cNvPr>
          <p:cNvSpPr/>
          <p:nvPr/>
        </p:nvSpPr>
        <p:spPr>
          <a:xfrm>
            <a:off x="4474513" y="2335507"/>
            <a:ext cx="260349" cy="24220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21DE4A-D272-D340-D9A6-538BC397CD81}"/>
              </a:ext>
            </a:extLst>
          </p:cNvPr>
          <p:cNvSpPr txBox="1"/>
          <p:nvPr/>
        </p:nvSpPr>
        <p:spPr>
          <a:xfrm>
            <a:off x="9385999" y="2345081"/>
            <a:ext cx="2714628" cy="170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벡터</a:t>
            </a:r>
            <a:r>
              <a:rPr lang="en-US" altLang="ko-KR" dirty="0"/>
              <a:t> v</a:t>
            </a:r>
            <a:r>
              <a:rPr lang="ko-KR" altLang="en-US" dirty="0"/>
              <a:t>가 행렬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ko-KR" altLang="en-US" dirty="0" err="1"/>
              <a:t>내적하는</a:t>
            </a:r>
            <a:r>
              <a:rPr lang="ko-KR" altLang="en-US" dirty="0"/>
              <a:t> 선형변환을 하면 </a:t>
            </a:r>
            <a:r>
              <a:rPr lang="en-US" altLang="ko-KR" dirty="0"/>
              <a:t>Av = (5,5) </a:t>
            </a:r>
            <a:r>
              <a:rPr lang="ko-KR" altLang="en-US" dirty="0"/>
              <a:t>로 위치 이동하게 됨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F1D4E1-1C00-2913-FD43-03EE8C0C200D}"/>
              </a:ext>
            </a:extLst>
          </p:cNvPr>
          <p:cNvSpPr txBox="1"/>
          <p:nvPr/>
        </p:nvSpPr>
        <p:spPr>
          <a:xfrm>
            <a:off x="6139367" y="1975749"/>
            <a:ext cx="1575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행렬 </a:t>
            </a:r>
            <a:r>
              <a:rPr lang="en-US" altLang="ko-KR" dirty="0"/>
              <a:t>= </a:t>
            </a:r>
            <a:r>
              <a:rPr lang="ko-KR" altLang="en-US" dirty="0"/>
              <a:t>함수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25EF52E-72EE-3C3E-9A88-70B9DC9F9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17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78087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CC0271E0-83DB-4699-2D1D-D4EC4FBB269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801144" y="2411707"/>
            <a:ext cx="2036761" cy="1302580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23EC9D9-E1E5-486D-524D-A0C034D9B291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33EA56-E119-9E2E-EBFA-3E843E65458E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B792C78-4F30-BAD6-12FC-138766A35512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E44BCE-2E3C-9E9E-D923-0EEE18AB9631}"/>
              </a:ext>
            </a:extLst>
          </p:cNvPr>
          <p:cNvSpPr/>
          <p:nvPr/>
        </p:nvSpPr>
        <p:spPr>
          <a:xfrm>
            <a:off x="2359026" y="3429000"/>
            <a:ext cx="841374" cy="7687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E801FD-463E-32A8-962F-C2F5391655F2}"/>
              </a:ext>
            </a:extLst>
          </p:cNvPr>
          <p:cNvSpPr txBox="1"/>
          <p:nvPr/>
        </p:nvSpPr>
        <p:spPr>
          <a:xfrm>
            <a:off x="5182225" y="2105546"/>
            <a:ext cx="6619250" cy="336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/>
              <a:t>행렬 </a:t>
            </a:r>
            <a:r>
              <a:rPr lang="en-US" altLang="ko-KR" dirty="0"/>
              <a:t>A = [(2,1), (3,4)] </a:t>
            </a:r>
            <a:r>
              <a:rPr lang="ko-KR" altLang="en-US" dirty="0"/>
              <a:t>의 행렬인 경우 </a:t>
            </a:r>
            <a:r>
              <a:rPr lang="en-US" altLang="ko-KR" dirty="0"/>
              <a:t>v=(1,2)</a:t>
            </a:r>
            <a:r>
              <a:rPr lang="ko-KR" altLang="en-US" dirty="0"/>
              <a:t>는 어떻게 </a:t>
            </a:r>
            <a:r>
              <a:rPr lang="ko-KR" altLang="en-US" b="1" dirty="0"/>
              <a:t>변환</a:t>
            </a:r>
            <a:r>
              <a:rPr lang="ko-KR" altLang="en-US" dirty="0"/>
              <a:t>되는가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 </a:t>
            </a:r>
            <a:r>
              <a:rPr lang="ko-KR" altLang="en-US" dirty="0"/>
              <a:t>아래와 같은 정방형의 모든 실수는 </a:t>
            </a:r>
            <a:r>
              <a:rPr lang="en-US" altLang="ko-KR" dirty="0"/>
              <a:t>A</a:t>
            </a:r>
            <a:r>
              <a:rPr lang="ko-KR" altLang="en-US" dirty="0"/>
              <a:t>행렬과 </a:t>
            </a:r>
            <a:r>
              <a:rPr lang="ko-KR" altLang="en-US" dirty="0" err="1"/>
              <a:t>내적하면</a:t>
            </a:r>
            <a:r>
              <a:rPr lang="ko-KR" altLang="en-US" dirty="0"/>
              <a:t> 어떻게 </a:t>
            </a:r>
            <a:r>
              <a:rPr lang="ko-KR" altLang="en-US" b="1" dirty="0"/>
              <a:t>변환</a:t>
            </a:r>
            <a:r>
              <a:rPr lang="ko-KR" altLang="en-US" dirty="0"/>
              <a:t>되는지 파이썬 코드로 작성하고 시각화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/>
              <a:t>선형변환</a:t>
            </a:r>
            <a:r>
              <a:rPr lang="en-US" altLang="ko-KR" b="1" dirty="0"/>
              <a:t>(Linear Transformation)</a:t>
            </a:r>
            <a:r>
              <a:rPr lang="ko-KR" altLang="en-US" dirty="0"/>
              <a:t>의 결과를 기하학적 의미를 </a:t>
            </a:r>
            <a:r>
              <a:rPr lang="ko-KR" altLang="en-US" b="1" dirty="0"/>
              <a:t>투영</a:t>
            </a:r>
            <a:r>
              <a:rPr lang="en-US" altLang="ko-KR" b="1" dirty="0"/>
              <a:t>(Projection)</a:t>
            </a:r>
            <a:r>
              <a:rPr lang="ko-KR" altLang="en-US" dirty="0"/>
              <a:t>의 관점에서 설명하라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FFB67B-47AD-E2B1-F02D-7438ED6D3A02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E26A2FD-DA73-FEBD-A534-047C269A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18</a:t>
            </a:fld>
            <a:endParaRPr lang="en-US" sz="2000" dirty="0"/>
          </a:p>
        </p:txBody>
      </p:sp>
      <p:pic>
        <p:nvPicPr>
          <p:cNvPr id="8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E244AAB-51AC-B107-48A5-3CF643F4F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05136CFE-E7F8-CC96-5386-1047EDE84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713" y="0"/>
            <a:ext cx="61261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649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AED26979-3036-435B-0822-871DA230CA78}"/>
              </a:ext>
            </a:extLst>
          </p:cNvPr>
          <p:cNvSpPr txBox="1"/>
          <p:nvPr/>
        </p:nvSpPr>
        <p:spPr>
          <a:xfrm>
            <a:off x="2178843" y="58466"/>
            <a:ext cx="8536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/>
              <a:t>2</a:t>
            </a:r>
            <a:r>
              <a:rPr lang="ko-KR" altLang="en-US" sz="3200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AD771A1-25B1-665A-99F0-AD771F07CDA4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7F301B5-9970-FCB6-2C79-A057D8D23F0E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CF34E6-3C08-D401-489F-98201AD4E32F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7B46C8-7DA9-65B3-928C-F55479A8125E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F676E9-B701-E8CF-EBBF-76EAC4ADB1F9}"/>
                  </a:ext>
                </a:extLst>
              </p:cNvPr>
              <p:cNvSpPr txBox="1"/>
              <p:nvPr/>
            </p:nvSpPr>
            <p:spPr>
              <a:xfrm>
                <a:off x="4290293" y="1947442"/>
                <a:ext cx="1662832" cy="511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400" dirty="0"/>
                  <a:t>  A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F676E9-B701-E8CF-EBBF-76EAC4ADB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293" y="1947442"/>
                <a:ext cx="1662832" cy="511166"/>
              </a:xfrm>
              <a:prstGeom prst="rect">
                <a:avLst/>
              </a:prstGeom>
              <a:blipFill>
                <a:blip r:embed="rId2"/>
                <a:stretch>
                  <a:fillRect l="-1099" t="-7143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BF6A67-AFE4-6834-2F28-3587CEBB3C3B}"/>
                  </a:ext>
                </a:extLst>
              </p:cNvPr>
              <p:cNvSpPr txBox="1"/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BF6A67-AFE4-6834-2F28-3587CEBB3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blipFill>
                <a:blip r:embed="rId3"/>
                <a:stretch>
                  <a:fillRect l="-9160" t="-6667" r="-9924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D26D5B-87E7-1180-DE23-2F832DA99054}"/>
                  </a:ext>
                </a:extLst>
              </p:cNvPr>
              <p:cNvSpPr txBox="1"/>
              <p:nvPr/>
            </p:nvSpPr>
            <p:spPr>
              <a:xfrm>
                <a:off x="7465166" y="1984554"/>
                <a:ext cx="1805708" cy="5744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D26D5B-87E7-1180-DE23-2F832DA9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166" y="1984554"/>
                <a:ext cx="1805708" cy="5744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4BEC3A-5D88-9BA3-FED6-597EC41DE58A}"/>
                  </a:ext>
                </a:extLst>
              </p:cNvPr>
              <p:cNvSpPr txBox="1"/>
              <p:nvPr/>
            </p:nvSpPr>
            <p:spPr>
              <a:xfrm>
                <a:off x="8980755" y="2133280"/>
                <a:ext cx="21090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4BEC3A-5D88-9BA3-FED6-597EC41DE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0755" y="2133280"/>
                <a:ext cx="2109039" cy="276999"/>
              </a:xfrm>
              <a:prstGeom prst="rect">
                <a:avLst/>
              </a:prstGeom>
              <a:blipFill>
                <a:blip r:embed="rId5"/>
                <a:stretch>
                  <a:fillRect l="-289" t="-6667" r="-3179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059CE4A2-11E8-3782-9C37-54E0B00FD94F}"/>
              </a:ext>
            </a:extLst>
          </p:cNvPr>
          <p:cNvSpPr txBox="1"/>
          <p:nvPr/>
        </p:nvSpPr>
        <p:spPr>
          <a:xfrm>
            <a:off x="5784127" y="3165498"/>
            <a:ext cx="3915029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두 행이 완전히 동일하며 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모든 벡터</a:t>
            </a:r>
            <a:r>
              <a:rPr lang="en-US" altLang="ko-K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(x, y)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를 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(x+2y,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ko-KR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x+2y)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벡터로 선형변환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임의의 모든 점을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(1,2)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투영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(projection)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하고 대각선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(y=x)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배치 </a:t>
            </a: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80E0E523-FCA2-AA24-9EA5-9380D86B3195}"/>
              </a:ext>
            </a:extLst>
          </p:cNvPr>
          <p:cNvCxnSpPr>
            <a:cxnSpLocks/>
            <a:stCxn id="19" idx="0"/>
            <a:endCxn id="17" idx="1"/>
          </p:cNvCxnSpPr>
          <p:nvPr/>
        </p:nvCxnSpPr>
        <p:spPr>
          <a:xfrm rot="5400000" flipH="1" flipV="1">
            <a:off x="3381818" y="1907079"/>
            <a:ext cx="612529" cy="120442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DAF44130-B832-9483-C9DF-EFD357270E48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5953125" y="2203025"/>
            <a:ext cx="1512041" cy="6875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675E9DE-B0B6-C8D5-A524-BAACE5A8D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19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86040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E48C2-D67B-5ADB-18B1-80FE0EBB4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F82DA0A-412B-C75A-C675-E78A772EB5B4}"/>
              </a:ext>
            </a:extLst>
          </p:cNvPr>
          <p:cNvSpPr txBox="1"/>
          <p:nvPr/>
        </p:nvSpPr>
        <p:spPr>
          <a:xfrm>
            <a:off x="2178843" y="58466"/>
            <a:ext cx="8536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/>
              <a:t>2</a:t>
            </a:r>
            <a:r>
              <a:rPr lang="ko-KR" altLang="en-US" sz="3200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6E36533-3E78-9C9E-2D7B-3CD87C1D7E1E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0C11FE9-3D39-67F5-9B81-39ABA9F3C151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23A923B-0F3D-C793-CBDF-EB2CBE8E86F4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8F449C-DC59-EB8D-209F-4B2964F89FCF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E75DD5-EF33-CACC-F286-91C83CCC184D}"/>
                  </a:ext>
                </a:extLst>
              </p:cNvPr>
              <p:cNvSpPr txBox="1"/>
              <p:nvPr/>
            </p:nvSpPr>
            <p:spPr>
              <a:xfrm>
                <a:off x="4591365" y="1592022"/>
                <a:ext cx="1662832" cy="511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400" dirty="0"/>
                  <a:t>  A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E75DD5-EF33-CACC-F286-91C83CCC1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365" y="1592022"/>
                <a:ext cx="1662832" cy="511166"/>
              </a:xfrm>
              <a:prstGeom prst="rect">
                <a:avLst/>
              </a:prstGeom>
              <a:blipFill>
                <a:blip r:embed="rId2"/>
                <a:stretch>
                  <a:fillRect l="-733" t="-7143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FDEB4F-C9AC-B18B-C2C9-02BFB61C891E}"/>
                  </a:ext>
                </a:extLst>
              </p:cNvPr>
              <p:cNvSpPr txBox="1"/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FDEB4F-C9AC-B18B-C2C9-02BFB61C8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blipFill>
                <a:blip r:embed="rId3"/>
                <a:stretch>
                  <a:fillRect l="-9160" t="-6667" r="-9924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43725C-55F0-7EBB-D964-7A4BC336DB67}"/>
                  </a:ext>
                </a:extLst>
              </p:cNvPr>
              <p:cNvSpPr txBox="1"/>
              <p:nvPr/>
            </p:nvSpPr>
            <p:spPr>
              <a:xfrm>
                <a:off x="7770413" y="2640004"/>
                <a:ext cx="18717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43725C-55F0-7EBB-D964-7A4BC336D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413" y="2640004"/>
                <a:ext cx="1871794" cy="276999"/>
              </a:xfrm>
              <a:prstGeom prst="rect">
                <a:avLst/>
              </a:prstGeom>
              <a:blipFill>
                <a:blip r:embed="rId4"/>
                <a:stretch>
                  <a:fillRect l="-3583" t="-6522" r="-3909" b="-28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F417510F-FA8E-6162-4468-EC4812C7C296}"/>
              </a:ext>
            </a:extLst>
          </p:cNvPr>
          <p:cNvSpPr txBox="1"/>
          <p:nvPr/>
        </p:nvSpPr>
        <p:spPr>
          <a:xfrm>
            <a:off x="3979335" y="3290089"/>
            <a:ext cx="3915029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임의의 모든 점을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(1,2)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</a:t>
            </a:r>
            <a:r>
              <a:rPr lang="ko-KR" alt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내적하여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투영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(projection)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하고 대각선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(y=x)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투영하여 배치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차원으로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차원으로 붕괴시키는 행렬변환 </a:t>
            </a: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07E2D664-2BE6-2DF1-837C-3787AEF194CA}"/>
              </a:ext>
            </a:extLst>
          </p:cNvPr>
          <p:cNvCxnSpPr>
            <a:cxnSpLocks/>
            <a:stCxn id="19" idx="0"/>
            <a:endCxn id="17" idx="1"/>
          </p:cNvCxnSpPr>
          <p:nvPr/>
        </p:nvCxnSpPr>
        <p:spPr>
          <a:xfrm rot="5400000" flipH="1" flipV="1">
            <a:off x="3354644" y="1578833"/>
            <a:ext cx="967949" cy="15054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4903B8ED-A4E2-90BE-7A88-0777CA4B0F30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>
          <a:xfrm>
            <a:off x="6254197" y="1847605"/>
            <a:ext cx="1516216" cy="93089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9EBD0C9-2937-E546-104C-A70FBE6A99F3}"/>
              </a:ext>
            </a:extLst>
          </p:cNvPr>
          <p:cNvCxnSpPr>
            <a:cxnSpLocks/>
          </p:cNvCxnSpPr>
          <p:nvPr/>
        </p:nvCxnSpPr>
        <p:spPr>
          <a:xfrm flipV="1">
            <a:off x="7615956" y="4163027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A6B7B48-EFB1-1809-928C-471F9BC07E28}"/>
              </a:ext>
            </a:extLst>
          </p:cNvPr>
          <p:cNvCxnSpPr>
            <a:cxnSpLocks/>
          </p:cNvCxnSpPr>
          <p:nvPr/>
        </p:nvCxnSpPr>
        <p:spPr>
          <a:xfrm>
            <a:off x="9968944" y="1990714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3B2C7D-9653-5102-80B2-FEFBC0BFFAEF}"/>
              </a:ext>
            </a:extLst>
          </p:cNvPr>
          <p:cNvSpPr txBox="1"/>
          <p:nvPr/>
        </p:nvSpPr>
        <p:spPr>
          <a:xfrm rot="16200000">
            <a:off x="7412550" y="4158723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EDD22D-5F31-7D85-4E49-D7CCEC85C019}"/>
              </a:ext>
            </a:extLst>
          </p:cNvPr>
          <p:cNvSpPr txBox="1"/>
          <p:nvPr/>
        </p:nvSpPr>
        <p:spPr>
          <a:xfrm>
            <a:off x="7486650" y="4197773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pic>
        <p:nvPicPr>
          <p:cNvPr id="28" name="그래픽 27" descr="별">
            <a:extLst>
              <a:ext uri="{FF2B5EF4-FFF2-40B4-BE49-F238E27FC236}">
                <a16:creationId xmlns:a16="http://schemas.microsoft.com/office/drawing/2014/main" id="{B1997F87-A73F-E620-983C-A239734A30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15239" y="3159667"/>
            <a:ext cx="485496" cy="485496"/>
          </a:xfrm>
          <a:prstGeom prst="rect">
            <a:avLst/>
          </a:prstGeom>
        </p:spPr>
      </p:pic>
      <p:pic>
        <p:nvPicPr>
          <p:cNvPr id="31" name="그래픽 30" descr="별">
            <a:extLst>
              <a:ext uri="{FF2B5EF4-FFF2-40B4-BE49-F238E27FC236}">
                <a16:creationId xmlns:a16="http://schemas.microsoft.com/office/drawing/2014/main" id="{1C6B1354-D5CB-5B29-DCCA-3AAA1F5158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53327" y="2704498"/>
            <a:ext cx="485496" cy="4854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8074A7-356F-2C14-2D6D-24E36C4B79D4}"/>
                  </a:ext>
                </a:extLst>
              </p:cNvPr>
              <p:cNvSpPr txBox="1"/>
              <p:nvPr/>
            </p:nvSpPr>
            <p:spPr>
              <a:xfrm>
                <a:off x="631178" y="3151590"/>
                <a:ext cx="9650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8074A7-356F-2C14-2D6D-24E36C4B7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78" y="3151590"/>
                <a:ext cx="965008" cy="276999"/>
              </a:xfrm>
              <a:prstGeom prst="rect">
                <a:avLst/>
              </a:prstGeom>
              <a:blipFill>
                <a:blip r:embed="rId9"/>
                <a:stretch>
                  <a:fillRect l="-7595" t="-6667" r="-8228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CEBCEB-0B03-527A-2949-05A459F0F937}"/>
                  </a:ext>
                </a:extLst>
              </p:cNvPr>
              <p:cNvSpPr txBox="1"/>
              <p:nvPr/>
            </p:nvSpPr>
            <p:spPr>
              <a:xfrm>
                <a:off x="11130986" y="2417974"/>
                <a:ext cx="7918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CEBCEB-0B03-527A-2949-05A459F0F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0986" y="2417974"/>
                <a:ext cx="791883" cy="276999"/>
              </a:xfrm>
              <a:prstGeom prst="rect">
                <a:avLst/>
              </a:prstGeom>
              <a:blipFill>
                <a:blip r:embed="rId10"/>
                <a:stretch>
                  <a:fillRect l="-9231" t="-8889" r="-10000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FF4B92F-31B4-3C2F-14FE-6DE1FFDEBE8D}"/>
              </a:ext>
            </a:extLst>
          </p:cNvPr>
          <p:cNvCxnSpPr>
            <a:cxnSpLocks/>
          </p:cNvCxnSpPr>
          <p:nvPr/>
        </p:nvCxnSpPr>
        <p:spPr>
          <a:xfrm flipV="1">
            <a:off x="8485488" y="2556473"/>
            <a:ext cx="3128002" cy="31626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7E8495C-891C-0D45-AD9C-65537885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20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2885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3566-E0E2-3682-76F4-6A2B0A52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5D4C1-4B4A-A66E-82C3-386E6AB7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선형변환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CEC279A-BA05-1914-9046-3B18C4C7FD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94924" y="4277515"/>
            <a:ext cx="7402300" cy="11517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D933761-F6C1-E88D-6DC1-6D5645B5AE2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94924" y="2300419"/>
            <a:ext cx="7330316" cy="11037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3B0C35-8920-5211-45F2-08E4D70B1F95}"/>
              </a:ext>
            </a:extLst>
          </p:cNvPr>
          <p:cNvSpPr txBox="1"/>
          <p:nvPr/>
        </p:nvSpPr>
        <p:spPr>
          <a:xfrm>
            <a:off x="466725" y="18453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2</a:t>
            </a:r>
            <a:r>
              <a:rPr lang="ko-KR" altLang="en-US" sz="1800" dirty="0"/>
              <a:t>개 벡터</a:t>
            </a:r>
            <a:r>
              <a:rPr lang="en-US" altLang="ko-KR" sz="1800" dirty="0"/>
              <a:t>(points), (1,2), (2,1)</a:t>
            </a:r>
            <a:r>
              <a:rPr lang="ko-KR" altLang="en-US" sz="1800" dirty="0"/>
              <a:t>에 행렬</a:t>
            </a:r>
            <a:r>
              <a:rPr lang="en-US" altLang="ko-KR" dirty="0"/>
              <a:t>[(2,1), (1,4)] </a:t>
            </a:r>
            <a:r>
              <a:rPr lang="ko-KR" altLang="en-US" dirty="0"/>
              <a:t>와의</a:t>
            </a:r>
            <a:r>
              <a:rPr lang="en-US" altLang="ko-KR" dirty="0"/>
              <a:t> </a:t>
            </a:r>
            <a:r>
              <a:rPr lang="ko-KR" altLang="en-US" sz="1800" dirty="0"/>
              <a:t>내적</a:t>
            </a:r>
            <a:endParaRPr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CF57BCDF-6F41-7650-72C3-22B4E223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21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30224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CF355-C241-D22E-F97C-7287CE73D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기하학적 이해</a:t>
            </a:r>
          </a:p>
        </p:txBody>
      </p:sp>
      <p:sp>
        <p:nvSpPr>
          <p:cNvPr id="4" name="AutoShape 2" descr=", AI generated">
            <a:extLst>
              <a:ext uri="{FF2B5EF4-FFF2-40B4-BE49-F238E27FC236}">
                <a16:creationId xmlns:a16="http://schemas.microsoft.com/office/drawing/2014/main" id="{A12FC27B-0BD4-A5AB-B0E5-D080A53513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011C37-30DB-6272-D93F-F9473458E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5" y="2014537"/>
            <a:ext cx="7286625" cy="3977757"/>
          </a:xfrm>
          <a:prstGeom prst="rect">
            <a:avLst/>
          </a:prstGeom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A5E0A35-FE29-17FD-803F-F2999E5C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22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94048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5E36D-A1FE-2B89-FE3D-9D9496F81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E8B66B-CC98-38AF-CD8F-4481BD3C8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cap="none" dirty="0"/>
              <a:t>선형대수</a:t>
            </a:r>
            <a:r>
              <a:rPr lang="en-US" altLang="ko-KR" cap="none" dirty="0"/>
              <a:t>(Linear Algebra)</a:t>
            </a:r>
            <a:endParaRPr lang="ko-KR" altLang="en-US" cap="none" dirty="0"/>
          </a:p>
        </p:txBody>
      </p:sp>
      <p:sp>
        <p:nvSpPr>
          <p:cNvPr id="17" name="슬라이드 번호 개체 틀 3">
            <a:extLst>
              <a:ext uri="{FF2B5EF4-FFF2-40B4-BE49-F238E27FC236}">
                <a16:creationId xmlns:a16="http://schemas.microsoft.com/office/drawing/2014/main" id="{3FD9B8B1-9B96-0622-DDFB-0F4F31A12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23</a:t>
            </a:fld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내용 개체 틀 11">
                <a:extLst>
                  <a:ext uri="{FF2B5EF4-FFF2-40B4-BE49-F238E27FC236}">
                    <a16:creationId xmlns:a16="http://schemas.microsoft.com/office/drawing/2014/main" id="{5EFD9993-AB58-C007-9AEC-3E30F10655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774" y="1243142"/>
                <a:ext cx="10363826" cy="46052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8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ko-KR" altLang="en-US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“벡터와 행렬을 이용해 ‘선형 관계</a:t>
                </a:r>
                <a:r>
                  <a:rPr lang="en-US" altLang="ko-KR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(linear relationship)’</a:t>
                </a:r>
                <a:r>
                  <a:rPr lang="ko-KR" altLang="en-US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‘공간의 </a:t>
                </a:r>
                <a:r>
                  <a:rPr lang="ko-KR" altLang="en-US" cap="none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변환’을</a:t>
                </a:r>
                <a:r>
                  <a:rPr lang="ko-KR" altLang="en-US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다루는 학문”</a:t>
                </a:r>
                <a:endParaRPr lang="en-US" altLang="ko-KR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벡터 공간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벡터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선형 변환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행렬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연립 선형 방정식 등을 연구하는 수학의 한 분야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데이터를 공간으로 보고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머신러닝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모델을 ‘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변환’으로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이해하는 언어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선형변환식 </a:t>
                </a:r>
                <a14:m>
                  <m:oMath xmlns:m="http://schemas.openxmlformats.org/officeDocument/2006/math">
                    <m:r>
                      <a:rPr lang="en-US" altLang="ko-KR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기하학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공간을 어떻게 움직이고 변환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회전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확대/축소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기울이기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투영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하는 지 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머신러닝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관측치는 벡터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모델은 </a:t>
                </a:r>
                <a14:m>
                  <m:oMath xmlns:m="http://schemas.openxmlformats.org/officeDocument/2006/math">
                    <m:r>
                      <a:rPr lang="en-US" altLang="ko-KR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ko-KR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>
          <p:sp>
            <p:nvSpPr>
              <p:cNvPr id="4" name="내용 개체 틀 11">
                <a:extLst>
                  <a:ext uri="{FF2B5EF4-FFF2-40B4-BE49-F238E27FC236}">
                    <a16:creationId xmlns:a16="http://schemas.microsoft.com/office/drawing/2014/main" id="{5EFD9993-AB58-C007-9AEC-3E30F1065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74" y="1243142"/>
                <a:ext cx="10363826" cy="4605207"/>
              </a:xfrm>
              <a:prstGeom prst="rect">
                <a:avLst/>
              </a:prstGeom>
              <a:blipFill>
                <a:blip r:embed="rId2"/>
                <a:stretch>
                  <a:fillRect l="-529" t="-2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987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9566F-70DB-C9B6-52A4-104A38E78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16294A1E-74B1-2647-D02F-0AFC5B92A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24</a:t>
            </a:fld>
            <a:endParaRPr lang="en-US" sz="20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AA135C1-5E58-DE61-BCE2-F4353E58502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4850" y="2193800"/>
            <a:ext cx="4501673" cy="217822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E1D530D-01A2-F7EA-0FF5-EB0FA91ED68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2101" y="2253348"/>
            <a:ext cx="4963722" cy="194060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572FC41-B531-852F-1649-5E8F5EBE594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2101" y="4503381"/>
            <a:ext cx="3813060" cy="106874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1A72315-8774-4D80-E39B-8177669F955B}"/>
              </a:ext>
            </a:extLst>
          </p:cNvPr>
          <p:cNvSpPr txBox="1"/>
          <p:nvPr/>
        </p:nvSpPr>
        <p:spPr>
          <a:xfrm>
            <a:off x="581025" y="1723384"/>
            <a:ext cx="472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연립선형방정식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(System of Linear Equations)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900D0B-A8C8-F9A7-91B3-310F01FD50E4}"/>
              </a:ext>
            </a:extLst>
          </p:cNvPr>
          <p:cNvSpPr txBox="1"/>
          <p:nvPr/>
        </p:nvSpPr>
        <p:spPr>
          <a:xfrm>
            <a:off x="6372225" y="1759253"/>
            <a:ext cx="472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형태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(Matrix Form)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F76A69-7661-C8AE-AE9E-3E2C0DFAADC8}"/>
                  </a:ext>
                </a:extLst>
              </p:cNvPr>
              <p:cNvSpPr txBox="1"/>
              <p:nvPr/>
            </p:nvSpPr>
            <p:spPr>
              <a:xfrm>
                <a:off x="8725814" y="1723384"/>
                <a:ext cx="215852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𝐴𝑥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F76A69-7661-C8AE-AE9E-3E2C0DFAA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814" y="1723384"/>
                <a:ext cx="2158523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776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DE559-9E4F-069B-91D6-E604FED2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17B1727C-5907-1409-048E-992C18E5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25</a:t>
            </a:fld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201F750-2BE1-DE02-C234-81213451B1E8}"/>
                  </a:ext>
                </a:extLst>
              </p:cNvPr>
              <p:cNvSpPr txBox="1"/>
              <p:nvPr/>
            </p:nvSpPr>
            <p:spPr>
              <a:xfrm>
                <a:off x="1195244" y="811930"/>
                <a:ext cx="7375444" cy="3825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sz="20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의미를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열벡터들의 선형 결합으로 기하학적 해석을 하면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열벡터들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우리가 움직일 수 있는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‘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방향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’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들이고 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성분들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그 방향으로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'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얼마나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'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갈 것인가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? 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최종 도착지  </a:t>
                </a:r>
                <a:endParaRPr lang="en-US" altLang="ko-KR" sz="20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201F750-2BE1-DE02-C234-81213451B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244" y="811930"/>
                <a:ext cx="7375444" cy="3825214"/>
              </a:xfrm>
              <a:prstGeom prst="rect">
                <a:avLst/>
              </a:prstGeom>
              <a:blipFill>
                <a:blip r:embed="rId2"/>
                <a:stretch>
                  <a:fillRect l="-744" b="-14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12D68391-FF3C-2777-472E-9EDC54C5E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996" y="1466676"/>
            <a:ext cx="2576183" cy="109235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1DDF7A5-028A-2163-E3F4-A553257F0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4595" y="1262802"/>
            <a:ext cx="1149180" cy="149646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F736873-AD7E-F993-D94C-4865EBA23B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692" y="4272114"/>
            <a:ext cx="3422283" cy="200159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0D2E58B-7FE1-13B5-097D-2D7EF28730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996" y="2856923"/>
            <a:ext cx="4427219" cy="130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38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D2289-F2DD-C99C-21A0-D359B3CC0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투영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AC9B519-750B-3AD9-C9B3-C647051B7BB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 bwMode="auto">
          <a:xfrm>
            <a:off x="570875" y="2015277"/>
            <a:ext cx="7738080" cy="422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35C1BC-D100-A1E8-B66D-30FE5BBBCD42}"/>
              </a:ext>
            </a:extLst>
          </p:cNvPr>
          <p:cNvSpPr txBox="1"/>
          <p:nvPr/>
        </p:nvSpPr>
        <p:spPr>
          <a:xfrm>
            <a:off x="8394680" y="2029696"/>
            <a:ext cx="36544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첫 번째 행렬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모든 데이터를 직선 하나에 강제로 정렬시키는 투영 </a:t>
            </a:r>
            <a:r>
              <a:rPr lang="en-US" altLang="ko-KR" dirty="0">
                <a:latin typeface="+mj-ea"/>
                <a:ea typeface="+mj-ea"/>
              </a:rPr>
              <a:t>(Singular Matrix).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두 번째 행렬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데이터를 새로운 좌표축으로 재배치하되 평면을 유지하는 투영 </a:t>
            </a:r>
            <a:r>
              <a:rPr lang="en-US" altLang="ko-KR" dirty="0">
                <a:latin typeface="+mj-ea"/>
                <a:ea typeface="+mj-ea"/>
              </a:rPr>
              <a:t>(Non-singular Matrix).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이 투영 개념은 데이터 분석에서 중요한 주성분 분석</a:t>
            </a:r>
            <a:r>
              <a:rPr lang="en-US" altLang="ko-KR" dirty="0">
                <a:latin typeface="+mj-ea"/>
                <a:ea typeface="+mj-ea"/>
              </a:rPr>
              <a:t>(PCA)</a:t>
            </a:r>
            <a:r>
              <a:rPr lang="ko-KR" altLang="en-US" dirty="0">
                <a:latin typeface="+mj-ea"/>
                <a:ea typeface="+mj-ea"/>
              </a:rPr>
              <a:t>의 기초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E0299473-7BDA-1153-07AF-73989810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26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141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3F07D-BFD3-3D69-893B-986373095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Transformation</a:t>
            </a:r>
            <a:endParaRPr lang="ko-KR" altLang="en-US" dirty="0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5E212C3C-7C78-67D1-9717-69125629532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 bwMode="auto">
          <a:xfrm>
            <a:off x="913774" y="1957388"/>
            <a:ext cx="8418804" cy="4595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4376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3DBC6-35B0-DF34-8BB2-2CFA82E8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행렬과 내적은 선형변환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67A665-D8BD-3BDD-A95C-EA8AF2CDD90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75" y="2014539"/>
            <a:ext cx="5182225" cy="332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9EFB63E-667B-21BC-A172-32BE45A43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374" y="2014539"/>
            <a:ext cx="5390677" cy="332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0D1C23-1819-2AC4-B5F5-C6A7D08A2267}"/>
              </a:ext>
            </a:extLst>
          </p:cNvPr>
          <p:cNvSpPr txBox="1"/>
          <p:nvPr/>
        </p:nvSpPr>
        <p:spPr>
          <a:xfrm>
            <a:off x="838200" y="5734658"/>
            <a:ext cx="3344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자료원</a:t>
            </a:r>
            <a:r>
              <a:rPr lang="ko-KR" altLang="en-US" sz="14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400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행렬의 기하학적인 의미와 해석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ECB9CBD-CF82-DC51-07A4-4A338003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28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935531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F990D-7C65-6C21-31D3-EC7CB3751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20CEC-BF00-1556-F0BA-6AF560EF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선형변환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491CE45-07B6-3F10-9D80-86C15F831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3120178"/>
            <a:ext cx="4373450" cy="274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B99FAD7-67C0-95AC-D700-A35DDC7C501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048" y="2522484"/>
            <a:ext cx="5056802" cy="342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1B9A48-9B38-5029-B7E7-030E2344A517}"/>
              </a:ext>
            </a:extLst>
          </p:cNvPr>
          <p:cNvSpPr txBox="1"/>
          <p:nvPr/>
        </p:nvSpPr>
        <p:spPr>
          <a:xfrm>
            <a:off x="504825" y="2244389"/>
            <a:ext cx="4248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anum Gothic"/>
              </a:rPr>
              <a:t>Gaussian Random Noise Data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anum Gothic"/>
              </a:rPr>
              <a:t>를 생성하고 행렬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anum Gothic"/>
              </a:rPr>
              <a:t>A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anum Gothic"/>
              </a:rPr>
              <a:t>로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anum Gothic"/>
              </a:rPr>
              <a:t>선형변환하면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3D3EB99-B1E1-2A0D-C54E-009CFE595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503" y="3143249"/>
            <a:ext cx="2345545" cy="150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42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4DAF-730F-8F6D-B29D-5CFC43465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56195-CEFF-90F0-4BC3-62D73132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06278D-E073-9F29-1EA2-BDDE3586BF80}"/>
                  </a:ext>
                </a:extLst>
              </p:cNvPr>
              <p:cNvSpPr txBox="1"/>
              <p:nvPr/>
            </p:nvSpPr>
            <p:spPr>
              <a:xfrm>
                <a:off x="3112654" y="2905780"/>
                <a:ext cx="1880515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𝐴𝑥</m:t>
                      </m:r>
                    </m:oMath>
                  </m:oMathPara>
                </a14:m>
                <a:endParaRPr lang="en-US" altLang="ko-KR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06278D-E073-9F29-1EA2-BDDE3586B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654" y="2905780"/>
                <a:ext cx="188051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2AB01C-CBB7-D2A8-A798-338C0C6D7307}"/>
                  </a:ext>
                </a:extLst>
              </p:cNvPr>
              <p:cNvSpPr txBox="1"/>
              <p:nvPr/>
            </p:nvSpPr>
            <p:spPr>
              <a:xfrm>
                <a:off x="3177309" y="5401452"/>
                <a:ext cx="1885068" cy="5232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altLang="ko-KR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2AB01C-CBB7-D2A8-A798-338C0C6D7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309" y="5401452"/>
                <a:ext cx="188506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82EF28-FB02-E5F8-0720-4B25D59C9AD6}"/>
                  </a:ext>
                </a:extLst>
              </p:cNvPr>
              <p:cNvSpPr txBox="1"/>
              <p:nvPr/>
            </p:nvSpPr>
            <p:spPr>
              <a:xfrm>
                <a:off x="913775" y="2214694"/>
                <a:ext cx="8974701" cy="5092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2000" dirty="0"/>
                  <a:t>선형대수학에서 선형변환</a:t>
                </a:r>
                <a:r>
                  <a:rPr lang="en-US" altLang="ko-KR" sz="2000" dirty="0"/>
                  <a:t>(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2000" dirty="0"/>
                  <a:t>)</a:t>
                </a:r>
                <a:r>
                  <a:rPr lang="ko-KR" altLang="en-US" sz="2000" dirty="0"/>
                  <a:t>은 </a:t>
                </a:r>
                <a:r>
                  <a:rPr lang="en-US" altLang="ko-KR" sz="2000" dirty="0"/>
                  <a:t>Vector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sz="2000" dirty="0"/>
                  <a:t> matrix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2000" dirty="0"/>
                  <a:t> 가</a:t>
                </a:r>
                <a:r>
                  <a:rPr lang="en-US" altLang="ko-KR" sz="2000" dirty="0"/>
                  <a:t> </a:t>
                </a:r>
                <a:r>
                  <a:rPr lang="ko-KR" altLang="en-US" sz="2000" dirty="0" err="1"/>
                  <a:t>내적하는</a:t>
                </a:r>
                <a:r>
                  <a:rPr lang="ko-KR" altLang="en-US" sz="2000" dirty="0"/>
                  <a:t> 것으로 표현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82EF28-FB02-E5F8-0720-4B25D59C9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75" y="2214694"/>
                <a:ext cx="8974701" cy="509242"/>
              </a:xfrm>
              <a:prstGeom prst="rect">
                <a:avLst/>
              </a:prstGeom>
              <a:blipFill>
                <a:blip r:embed="rId4"/>
                <a:stretch>
                  <a:fillRect l="-611" b="-202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7E321C-F4AB-9353-29F2-F163826A3600}"/>
                  </a:ext>
                </a:extLst>
              </p:cNvPr>
              <p:cNvSpPr txBox="1"/>
              <p:nvPr/>
            </p:nvSpPr>
            <p:spPr>
              <a:xfrm>
                <a:off x="983048" y="4557283"/>
                <a:ext cx="9771947" cy="964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2000" dirty="0"/>
                  <a:t>일반적을 </a:t>
                </a:r>
                <a:r>
                  <a:rPr lang="en-US" altLang="ko-KR" sz="2000" dirty="0"/>
                  <a:t>Vector </a:t>
                </a:r>
                <a:r>
                  <a:rPr lang="ko-KR" altLang="en-US" sz="2000" dirty="0"/>
                  <a:t>공간</a:t>
                </a:r>
                <a:r>
                  <a:rPr lang="en-US" altLang="ko-KR" sz="2000" dirty="0"/>
                  <a:t>(</a:t>
                </a:r>
                <a:r>
                  <a:rPr lang="ko-KR" altLang="en-US" sz="2000" dirty="0"/>
                  <a:t>차원</a:t>
                </a:r>
                <a:r>
                  <a:rPr lang="en-US" altLang="ko-KR" sz="2000" dirty="0"/>
                  <a:t>)</a:t>
                </a:r>
                <a:r>
                  <a:rPr lang="ko-KR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ko-KR" altLang="en-US" sz="2000" dirty="0"/>
                  <a:t>에서 </a:t>
                </a:r>
                <a:r>
                  <a:rPr lang="en-US" altLang="ko-KR" sz="2000" dirty="0"/>
                  <a:t> matrix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2000" dirty="0"/>
                  <a:t> 를 통해 </a:t>
                </a:r>
                <a:r>
                  <a:rPr lang="en-US" altLang="ko-KR" sz="2000" dirty="0"/>
                  <a:t>Vector </a:t>
                </a:r>
                <a:r>
                  <a:rPr lang="ko-KR" altLang="en-US" sz="2000" dirty="0"/>
                  <a:t>공간</a:t>
                </a:r>
                <a:r>
                  <a:rPr lang="en-US" altLang="ko-KR" sz="2000" dirty="0"/>
                  <a:t>(</a:t>
                </a:r>
                <a:r>
                  <a:rPr lang="ko-KR" altLang="en-US" sz="2000" dirty="0"/>
                  <a:t>차원</a:t>
                </a:r>
                <a:r>
                  <a:rPr lang="en-US" altLang="ko-KR" sz="2000" dirty="0"/>
                  <a:t>)</a:t>
                </a:r>
                <a:r>
                  <a:rPr lang="ko-KR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ko-KR" altLang="en-US" sz="2000" dirty="0"/>
                  <a:t> 것이 선형변환</a:t>
                </a:r>
                <a:r>
                  <a:rPr lang="en-US" altLang="ko-KR" sz="2000" dirty="0"/>
                  <a:t> (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2000" dirty="0"/>
                  <a:t>)</a:t>
                </a:r>
                <a:r>
                  <a:rPr lang="ko-KR" altLang="en-US" sz="20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7E321C-F4AB-9353-29F2-F163826A3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048" y="4557283"/>
                <a:ext cx="9771947" cy="964046"/>
              </a:xfrm>
              <a:prstGeom prst="rect">
                <a:avLst/>
              </a:prstGeom>
              <a:blipFill>
                <a:blip r:embed="rId5"/>
                <a:stretch>
                  <a:fillRect l="-561" b="-107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3BEEE75E-D3A2-AE31-D1DA-03C6E905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30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60621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4FEB6-E777-CB4C-BA75-09716C4F4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AC4825-AF5F-1A39-53C0-CEDF6DA19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099447"/>
          </a:xfrm>
        </p:spPr>
        <p:txBody>
          <a:bodyPr/>
          <a:lstStyle/>
          <a:p>
            <a:r>
              <a:rPr lang="ko-KR" altLang="en-US" dirty="0"/>
              <a:t>１차원　선형변환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080CCC-DD48-569D-991D-9E45D1F32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1958286"/>
            <a:ext cx="6264183" cy="12345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F3D18DD-855A-74E2-813C-86047CEE4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8" y="4245597"/>
            <a:ext cx="6187976" cy="1188823"/>
          </a:xfrm>
          <a:prstGeom prst="rect">
            <a:avLst/>
          </a:prstGeom>
        </p:spPr>
      </p:pic>
      <p:sp>
        <p:nvSpPr>
          <p:cNvPr id="8" name="내용 개체 틀 8">
            <a:extLst>
              <a:ext uri="{FF2B5EF4-FFF2-40B4-BE49-F238E27FC236}">
                <a16:creationId xmlns:a16="http://schemas.microsoft.com/office/drawing/2014/main" id="{B87DB3C8-EE0D-2495-E58F-EE4D67482D9C}"/>
              </a:ext>
            </a:extLst>
          </p:cNvPr>
          <p:cNvSpPr txBox="1">
            <a:spLocks/>
          </p:cNvSpPr>
          <p:nvPr/>
        </p:nvSpPr>
        <p:spPr>
          <a:xfrm>
            <a:off x="8103121" y="2271955"/>
            <a:ext cx="3848734" cy="29558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python code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 = 3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x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(3)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T*x</a:t>
            </a: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 = -0.5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T*x</a:t>
            </a: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 2" charset="2"/>
              <a:buNone/>
            </a:pPr>
            <a:endParaRPr lang="ko-KR" altLang="ko-KR" sz="24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577BEC-31EC-196E-11D3-6E1377BCEF1D}"/>
                  </a:ext>
                </a:extLst>
              </p:cNvPr>
              <p:cNvSpPr txBox="1"/>
              <p:nvPr/>
            </p:nvSpPr>
            <p:spPr>
              <a:xfrm>
                <a:off x="8331200" y="1265382"/>
                <a:ext cx="2541721" cy="404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Ｔ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ｘ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）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＝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　</m:t>
                      </m:r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577BEC-31EC-196E-11D3-6E1377BCE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200" y="1265382"/>
                <a:ext cx="2541721" cy="404085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2E3BB6-8F16-AA39-2CFF-F4C6724D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31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344593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84C24-8D98-35C3-69D8-8E695978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8">
            <a:extLst>
              <a:ext uri="{FF2B5EF4-FFF2-40B4-BE49-F238E27FC236}">
                <a16:creationId xmlns:a16="http://schemas.microsoft.com/office/drawing/2014/main" id="{8CBA0E20-FB95-AEDD-401A-C2F8641D0A74}"/>
              </a:ext>
            </a:extLst>
          </p:cNvPr>
          <p:cNvSpPr txBox="1">
            <a:spLocks/>
          </p:cNvSpPr>
          <p:nvPr/>
        </p:nvSpPr>
        <p:spPr>
          <a:xfrm>
            <a:off x="7906386" y="2098797"/>
            <a:ext cx="3848734" cy="404479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python code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([[-2,0], [0,-2])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([[-2,0], [0,-2]])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x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([1,1])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T.shape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x.shape</a:t>
            </a: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((2, 2), (2,))</a:t>
            </a: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Linear Transformation</a:t>
            </a: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T@x</a:t>
            </a: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ko-KR" altLang="ko-KR" sz="24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8FC8EE8-50BC-C172-F21E-C04538729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2098797"/>
            <a:ext cx="5090601" cy="3718882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0ED52B74-ED06-C1FF-8DE4-EEA6F4190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099447"/>
          </a:xfrm>
        </p:spPr>
        <p:txBody>
          <a:bodyPr/>
          <a:lstStyle/>
          <a:p>
            <a:r>
              <a:rPr lang="ko-KR" altLang="en-US" dirty="0"/>
              <a:t>２차원　회전 선형변환</a:t>
            </a:r>
          </a:p>
        </p:txBody>
      </p:sp>
    </p:spTree>
    <p:extLst>
      <p:ext uri="{BB962C8B-B14F-4D97-AF65-F5344CB8AC3E}">
        <p14:creationId xmlns:p14="http://schemas.microsoft.com/office/powerpoint/2010/main" val="2082468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1318A-96C6-CD64-4AF5-DF9BF5580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C44384E2-C2A9-42A8-C52E-3B425FDA3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099447"/>
          </a:xfrm>
        </p:spPr>
        <p:txBody>
          <a:bodyPr/>
          <a:lstStyle/>
          <a:p>
            <a:r>
              <a:rPr lang="ko-KR" altLang="en-US" dirty="0"/>
              <a:t>２차원　</a:t>
            </a:r>
            <a:r>
              <a:rPr lang="en-US" altLang="ko-KR" dirty="0"/>
              <a:t>sheer</a:t>
            </a:r>
            <a:r>
              <a:rPr lang="ko-KR" altLang="en-US" dirty="0"/>
              <a:t>　선형변환</a:t>
            </a:r>
          </a:p>
        </p:txBody>
      </p:sp>
      <p:sp>
        <p:nvSpPr>
          <p:cNvPr id="2" name="내용 개체 틀 8">
            <a:extLst>
              <a:ext uri="{FF2B5EF4-FFF2-40B4-BE49-F238E27FC236}">
                <a16:creationId xmlns:a16="http://schemas.microsoft.com/office/drawing/2014/main" id="{55F52ACB-3533-2C1E-F706-FC72D1315578}"/>
              </a:ext>
            </a:extLst>
          </p:cNvPr>
          <p:cNvSpPr txBox="1">
            <a:spLocks/>
          </p:cNvSpPr>
          <p:nvPr/>
        </p:nvSpPr>
        <p:spPr>
          <a:xfrm>
            <a:off x="7406640" y="1877127"/>
            <a:ext cx="4348480" cy="440452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python code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Shear in x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([[1,10], [0,1]])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x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([1,1])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sheer_matrix@x</a:t>
            </a: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Shear in y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([[1,0], [10,1]])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sheer_matrix@x</a:t>
            </a: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Arbitrary shear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([[1,5], [10,1]])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sheer_matrix@x</a:t>
            </a: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ko-KR" altLang="ko-KR" sz="24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96A5AD-95CE-83EA-7800-4AF55653A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00" y="1877127"/>
            <a:ext cx="5735026" cy="39644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0E9EF1-73DB-B38D-3CC4-3E0D01A85599}"/>
              </a:ext>
            </a:extLst>
          </p:cNvPr>
          <p:cNvSpPr txBox="1"/>
          <p:nvPr/>
        </p:nvSpPr>
        <p:spPr>
          <a:xfrm>
            <a:off x="600635" y="595118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http://15462.courses.cs.cmu.edu/fall2019/lecture/transformations/slide_028</a:t>
            </a:r>
            <a:r>
              <a:rPr lang="ko-KR" altLang="en-US" sz="1100" dirty="0"/>
              <a:t>　</a:t>
            </a:r>
          </a:p>
        </p:txBody>
      </p:sp>
    </p:spTree>
    <p:extLst>
      <p:ext uri="{BB962C8B-B14F-4D97-AF65-F5344CB8AC3E}">
        <p14:creationId xmlns:p14="http://schemas.microsoft.com/office/powerpoint/2010/main" val="2623955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8855-F1C1-DC38-247C-6FC7ADE1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018E2FB2-74BF-0856-D02B-74FB68ED7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099447"/>
          </a:xfrm>
        </p:spPr>
        <p:txBody>
          <a:bodyPr/>
          <a:lstStyle/>
          <a:p>
            <a:r>
              <a:rPr lang="ko-KR" altLang="en-US" dirty="0"/>
              <a:t>２차원　</a:t>
            </a:r>
            <a:r>
              <a:rPr lang="en-US" altLang="ko-KR" dirty="0"/>
              <a:t>sheer &amp; rotate</a:t>
            </a:r>
            <a:r>
              <a:rPr lang="ko-KR" altLang="en-US" dirty="0"/>
              <a:t>　선형변환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F3AE20F-6629-40E2-8C70-D8FA74A4887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1233" y="1898531"/>
            <a:ext cx="4493709" cy="127817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AD208C2-B568-7964-BFF4-748D44B67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33" y="3176706"/>
            <a:ext cx="9118287" cy="274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688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8A18B-FAA7-A506-D0B5-C7938B68E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CA6B15B-3BEA-CA85-1730-791BB6E9CB82}"/>
              </a:ext>
            </a:extLst>
          </p:cNvPr>
          <p:cNvSpPr/>
          <p:nvPr/>
        </p:nvSpPr>
        <p:spPr>
          <a:xfrm>
            <a:off x="712721" y="4448175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9C9790-71DE-406F-C8F5-99AE5A86103D}"/>
              </a:ext>
            </a:extLst>
          </p:cNvPr>
          <p:cNvSpPr txBox="1"/>
          <p:nvPr/>
        </p:nvSpPr>
        <p:spPr>
          <a:xfrm>
            <a:off x="1629916" y="147612"/>
            <a:ext cx="8928992" cy="4826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벡터와 행렬 연산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(Regression)</a:t>
            </a: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와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퍼셉트론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(Perceptron)</a:t>
            </a:r>
          </a:p>
        </p:txBody>
      </p:sp>
    </p:spTree>
    <p:extLst>
      <p:ext uri="{BB962C8B-B14F-4D97-AF65-F5344CB8AC3E}">
        <p14:creationId xmlns:p14="http://schemas.microsoft.com/office/powerpoint/2010/main" val="3860172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2AD09-0992-FC39-4F80-31C5E711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2642CE7F-AED1-D598-8D78-62E5A6A1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36</a:t>
            </a:fld>
            <a:endParaRPr lang="en-US" sz="20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D1045F-CEE6-AEFF-D9D0-816CDFA04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en-US" altLang="ko-KR" cap="none" dirty="0"/>
              <a:t>Regression</a:t>
            </a:r>
            <a:r>
              <a:rPr lang="ko-KR" altLang="en-US" cap="none" dirty="0"/>
              <a:t> </a:t>
            </a:r>
            <a:r>
              <a:rPr lang="en-US" altLang="ko-KR" cap="none" dirty="0"/>
              <a:t>&amp;</a:t>
            </a:r>
            <a:r>
              <a:rPr lang="ko-KR" altLang="en-US" cap="none" dirty="0"/>
              <a:t> </a:t>
            </a:r>
            <a:r>
              <a:rPr lang="en-US" altLang="ko-KR" cap="none" dirty="0"/>
              <a:t>Perceptron</a:t>
            </a:r>
            <a:endParaRPr lang="ko-KR" altLang="en-US" cap="none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58BC8A7-7BBD-54EA-B0BF-9A8146648D9A}"/>
              </a:ext>
            </a:extLst>
          </p:cNvPr>
          <p:cNvGrpSpPr/>
          <p:nvPr/>
        </p:nvGrpSpPr>
        <p:grpSpPr>
          <a:xfrm>
            <a:off x="2128837" y="2317001"/>
            <a:ext cx="7934325" cy="3302749"/>
            <a:chOff x="2457450" y="1673618"/>
            <a:chExt cx="7934325" cy="330274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2FC99F-4F29-FE0D-34B5-9AC7CDA4BCC8}"/>
                </a:ext>
              </a:extLst>
            </p:cNvPr>
            <p:cNvSpPr txBox="1"/>
            <p:nvPr/>
          </p:nvSpPr>
          <p:spPr>
            <a:xfrm>
              <a:off x="5555536" y="3754026"/>
              <a:ext cx="483623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hlinkClick r:id="rId2" tooltip="C1_W3_Assignment.ipynb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C1_W3_Assignment.ipynb</a:t>
              </a:r>
              <a:endParaRPr lang="en-US" altLang="ko-KR" dirty="0"/>
            </a:p>
            <a:p>
              <a:r>
                <a:rPr lang="fr-FR" altLang="ko-KR" dirty="0">
                  <a:hlinkClick r:id="rId3" tooltip="C1_W3_Assignment_Perceptron.ipynb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C1_W3_Assignment_Perceptron.ipynb</a:t>
              </a:r>
              <a:endParaRPr lang="fr-FR" altLang="ko-KR" dirty="0"/>
            </a:p>
            <a:p>
              <a:r>
                <a:rPr lang="fr-FR" altLang="ko-KR" dirty="0">
                  <a:hlinkClick r:id="rId4" tooltip="C1_W3_Assignment_Perceptron_MSE.ipynb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C1_W3_Assignment_Perceptron_MSE.ipynb</a:t>
              </a:r>
              <a:endParaRPr lang="fr-FR" altLang="ko-KR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851D627-41E9-D33A-A72C-D38EF5B9F8AF}"/>
                </a:ext>
              </a:extLst>
            </p:cNvPr>
            <p:cNvSpPr txBox="1"/>
            <p:nvPr/>
          </p:nvSpPr>
          <p:spPr>
            <a:xfrm>
              <a:off x="2457450" y="1673618"/>
              <a:ext cx="4366003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Mathematics-for-Big-Data-Science</a:t>
              </a:r>
              <a:endParaRPr lang="en-US" altLang="ko-KR" sz="2400" dirty="0"/>
            </a:p>
            <a:p>
              <a:endParaRPr lang="en-US" altLang="ko-KR" dirty="0"/>
            </a:p>
            <a:p>
              <a:r>
                <a:rPr lang="en-US" altLang="ko-KR" dirty="0"/>
                <a:t>C1 </a:t>
              </a:r>
            </a:p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	w1</a:t>
              </a:r>
            </a:p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	w2</a:t>
              </a:r>
            </a:p>
            <a:p>
              <a:r>
                <a:rPr lang="en-US" altLang="ko-KR" dirty="0"/>
                <a:t>	w3 </a:t>
              </a:r>
            </a:p>
            <a:p>
              <a:r>
                <a:rPr lang="en-US" altLang="ko-KR" dirty="0"/>
                <a:t>				</a:t>
              </a:r>
            </a:p>
            <a:p>
              <a:r>
                <a:rPr lang="en-US" altLang="ko-KR" dirty="0"/>
                <a:t>		</a:t>
              </a:r>
              <a:r>
                <a:rPr lang="en-US" altLang="ko-KR" dirty="0"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C1w3_graded_lab</a:t>
              </a:r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8024902-853C-5F4A-97DD-F81CF8529D00}"/>
                </a:ext>
              </a:extLst>
            </p:cNvPr>
            <p:cNvSpPr/>
            <p:nvPr/>
          </p:nvSpPr>
          <p:spPr>
            <a:xfrm>
              <a:off x="2457450" y="3581400"/>
              <a:ext cx="7464089" cy="13949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19C6CB4-31F7-6803-5396-4484BB83E572}"/>
              </a:ext>
            </a:extLst>
          </p:cNvPr>
          <p:cNvSpPr txBox="1"/>
          <p:nvPr/>
        </p:nvSpPr>
        <p:spPr>
          <a:xfrm>
            <a:off x="1114425" y="1238250"/>
            <a:ext cx="6551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회귀식과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동질성을 이해하고 실습한다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9835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DF67-D844-9263-578F-AEA0DDF40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751DE29D-F9D5-F4CB-637D-335343E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37</a:t>
            </a:fld>
            <a:endParaRPr lang="en-US" sz="20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B6E8D4-96DA-F930-897D-F1AEB1A4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en-US" altLang="ko-KR" cap="none" dirty="0"/>
              <a:t>Regression</a:t>
            </a:r>
            <a:r>
              <a:rPr lang="ko-KR" altLang="en-US" cap="none" dirty="0"/>
              <a:t> </a:t>
            </a:r>
            <a:r>
              <a:rPr lang="en-US" altLang="ko-KR" cap="none" dirty="0"/>
              <a:t>&amp;</a:t>
            </a:r>
            <a:r>
              <a:rPr lang="ko-KR" altLang="en-US" cap="none" dirty="0"/>
              <a:t> </a:t>
            </a:r>
            <a:r>
              <a:rPr lang="en-US" altLang="ko-KR" cap="none" dirty="0"/>
              <a:t>Perceptron</a:t>
            </a:r>
            <a:endParaRPr lang="ko-KR" altLang="en-US" cap="none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37153B1E-FE77-9A3F-9534-09E1085ED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881" y="2542047"/>
            <a:ext cx="4017820" cy="177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E35F42B8-7ECF-02CE-A7E8-685DE5B26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52613"/>
            <a:ext cx="5536049" cy="3012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0362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E7B0-7803-9D29-32C0-9698CF449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내용 개체 틀 23">
            <a:extLst>
              <a:ext uri="{FF2B5EF4-FFF2-40B4-BE49-F238E27FC236}">
                <a16:creationId xmlns:a16="http://schemas.microsoft.com/office/drawing/2014/main" id="{1E2CC3F1-BCA1-50B2-98C7-41CFEACD45E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4146" y="2555171"/>
            <a:ext cx="9359342" cy="40462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5D6E60C-805C-F4F3-0780-443D722A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선형대수</a:t>
            </a:r>
            <a:r>
              <a:rPr lang="en-US" altLang="ko-KR" dirty="0"/>
              <a:t>(linear</a:t>
            </a:r>
            <a:r>
              <a:rPr lang="ko-KR" altLang="en-US" dirty="0"/>
              <a:t> </a:t>
            </a:r>
            <a:r>
              <a:rPr lang="en-US" altLang="ko-KR" dirty="0"/>
              <a:t>algebra)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FEB521-F0C2-BD86-F32E-B3E47E9AFAC3}"/>
                  </a:ext>
                </a:extLst>
              </p:cNvPr>
              <p:cNvSpPr txBox="1"/>
              <p:nvPr/>
            </p:nvSpPr>
            <p:spPr>
              <a:xfrm>
                <a:off x="3066209" y="1780998"/>
                <a:ext cx="13179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𝑎𝑋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FEB521-F0C2-BD86-F32E-B3E47E9AF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209" y="1780998"/>
                <a:ext cx="1317925" cy="307777"/>
              </a:xfrm>
              <a:prstGeom prst="rect">
                <a:avLst/>
              </a:prstGeom>
              <a:blipFill>
                <a:blip r:embed="rId3"/>
                <a:stretch>
                  <a:fillRect l="-3704" t="-21569" r="-3704" b="-235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28C044-B491-582D-396E-6945C1162491}"/>
                  </a:ext>
                </a:extLst>
              </p:cNvPr>
              <p:cNvSpPr txBox="1"/>
              <p:nvPr/>
            </p:nvSpPr>
            <p:spPr>
              <a:xfrm>
                <a:off x="1064146" y="931082"/>
                <a:ext cx="9990035" cy="45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회귀생성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(Regression)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 데이터 벡터 </a:t>
                </a:r>
                <a14:m>
                  <m:oMath xmlns:m="http://schemas.openxmlformats.org/officeDocument/2006/math">
                    <m:r>
                      <a:rPr lang="ko-KR" altLang="en-US" b="1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행렬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만드는 선형공간에 가장 가깝게 투영하는 문제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28C044-B491-582D-396E-6945C1162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146" y="931082"/>
                <a:ext cx="9990035" cy="455061"/>
              </a:xfrm>
              <a:prstGeom prst="rect">
                <a:avLst/>
              </a:prstGeom>
              <a:blipFill>
                <a:blip r:embed="rId4"/>
                <a:stretch>
                  <a:fillRect l="-549" r="-122" b="-216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E0A39D8-D271-9144-FCDC-875386FFF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334" y="1545699"/>
            <a:ext cx="3254916" cy="1437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30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C0FFB-B417-9558-006F-9ED5DA9E8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4BA7CBA0-C74A-FDCD-C73F-A4882EE3B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39</a:t>
            </a:fld>
            <a:endParaRPr lang="en-US" sz="2000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0194681C-3BD1-E94B-9059-492F08DE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8327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DA01-A99B-61BF-C97A-C1A5B76EE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98281-CD11-B99F-2C6A-35C343FE5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선형대수</a:t>
            </a:r>
            <a:r>
              <a:rPr lang="en-US" altLang="ko-KR" dirty="0"/>
              <a:t>(linear</a:t>
            </a:r>
            <a:r>
              <a:rPr lang="ko-KR" altLang="en-US" dirty="0"/>
              <a:t> </a:t>
            </a:r>
            <a:r>
              <a:rPr lang="en-US" altLang="ko-KR" dirty="0"/>
              <a:t>algebra)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8A373E53-19CA-74B5-49AE-464E7176A6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43143"/>
            <a:ext cx="10363826" cy="1061908"/>
          </a:xfrm>
        </p:spPr>
        <p:txBody>
          <a:bodyPr/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“벡터와 행렬을 이용해 ‘선형 관계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relationship)’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‘공간의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변환’을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다루는 학문”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동영상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장까지 사전학습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90304-2C81-BE6E-89E5-F6D9190D9914}"/>
              </a:ext>
            </a:extLst>
          </p:cNvPr>
          <p:cNvSpPr txBox="1"/>
          <p:nvPr/>
        </p:nvSpPr>
        <p:spPr>
          <a:xfrm>
            <a:off x="1409700" y="2515058"/>
            <a:ext cx="3813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Essence of linear algebra</a:t>
            </a:r>
            <a:endParaRPr lang="ko-KR" altLang="en-US" sz="2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A8879A5-87AD-8D96-775A-B094426E6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325" y="3116426"/>
            <a:ext cx="3038775" cy="295137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841D3EF-810D-D94A-03B8-586E28C1B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3116426"/>
            <a:ext cx="4487741" cy="294615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538A5-1423-86C7-259F-7E5AF284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40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155041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9CCB3-4DE8-F539-1DF0-784A9D34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219E6-6789-6F03-2329-ED0ACBF3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실습하기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8FC264-10B3-B34E-8BD5-928FD74E945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451914" y="3178843"/>
            <a:ext cx="9288171" cy="18004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4663D5-FA49-ABC8-25CC-683BC9FD1FE8}"/>
              </a:ext>
            </a:extLst>
          </p:cNvPr>
          <p:cNvSpPr txBox="1"/>
          <p:nvPr/>
        </p:nvSpPr>
        <p:spPr>
          <a:xfrm>
            <a:off x="1451914" y="2399424"/>
            <a:ext cx="7154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/>
              <a:t>아래 코드를 직접 실행해보고 이미지에 대한 </a:t>
            </a:r>
            <a:r>
              <a:rPr lang="ko-KR" altLang="en-US"/>
              <a:t>선형변환을 이해하자</a:t>
            </a:r>
          </a:p>
        </p:txBody>
      </p:sp>
      <p:pic>
        <p:nvPicPr>
          <p:cNvPr id="4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23F6728-0768-4865-89D4-71B77938C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0487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Digress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Shear 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Bradpit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11" name="내용 개체 틀 8">
            <a:extLst>
              <a:ext uri="{FF2B5EF4-FFF2-40B4-BE49-F238E27FC236}">
                <a16:creationId xmlns:a16="http://schemas.microsoft.com/office/drawing/2014/main" id="{9BEA41EB-734E-F0B7-AAFC-ED8EC32908F3}"/>
              </a:ext>
            </a:extLst>
          </p:cNvPr>
          <p:cNvSpPr txBox="1">
            <a:spLocks/>
          </p:cNvSpPr>
          <p:nvPr/>
        </p:nvSpPr>
        <p:spPr>
          <a:xfrm>
            <a:off x="548640" y="1226739"/>
            <a:ext cx="11297920" cy="532646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python code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PIL import Image,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ImageOps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ImageFilter</a:t>
            </a: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Load the image (Brad Pit)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image_url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"https://people.com/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thmb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/h67yba4NaGbpnv9DZVZm894kSjo=/1500x0/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filters:no_upscale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max_bytes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(150000):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strip_icc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():focal(979x292:981x294)/Brad-Pitt_1-2000-e8a294b80b034e659785ad813d3f02f2.jpg"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requests.get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image_url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Image.open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BytesIO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response.content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Define the shear factor (adjust as needed)</a:t>
            </a:r>
          </a:p>
          <a:p>
            <a:pPr marL="36900" indent="0">
              <a:buNone/>
            </a:pPr>
            <a:r>
              <a:rPr lang="en-US" altLang="ko-KR" sz="1600" b="1" dirty="0" err="1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shear_factor</a:t>
            </a:r>
            <a:r>
              <a:rPr lang="en-US" altLang="ko-KR" sz="16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1.2</a:t>
            </a: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Create a shear matrix for horizontal shear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shear_matrix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(1,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shear_factor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0, 0, 1, 0)</a:t>
            </a: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Apply the shear transformation to the image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sheared_image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image.transform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image.size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Image.AFFINE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shear_matrix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Image.BICUBIC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ko-KR" altLang="ko-KR" sz="240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6E02702-71BB-FB7E-187D-40E8D16B9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110" y="3029994"/>
            <a:ext cx="2014485" cy="337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2134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Digress : Kernel Transformation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11" name="내용 개체 틀 8">
            <a:extLst>
              <a:ext uri="{FF2B5EF4-FFF2-40B4-BE49-F238E27FC236}">
                <a16:creationId xmlns:a16="http://schemas.microsoft.com/office/drawing/2014/main" id="{9BEA41EB-734E-F0B7-AAFC-ED8EC32908F3}"/>
              </a:ext>
            </a:extLst>
          </p:cNvPr>
          <p:cNvSpPr txBox="1">
            <a:spLocks/>
          </p:cNvSpPr>
          <p:nvPr/>
        </p:nvSpPr>
        <p:spPr>
          <a:xfrm>
            <a:off x="548640" y="1226740"/>
            <a:ext cx="11414760" cy="49930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random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seed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(0)</a:t>
            </a:r>
          </a:p>
          <a:p>
            <a:pPr marL="36900" indent="0">
              <a:buNone/>
            </a:pPr>
            <a:r>
              <a:rPr lang="en-US" altLang="ko-KR" sz="1400" dirty="0">
                <a:effectLst/>
                <a:latin typeface="Arial Narrow" panose="020B0606020202030204" pitchFamily="34" charset="0"/>
              </a:rPr>
              <a:t>X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random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randn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(500); tr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1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X[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logical_and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&lt;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tr, 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&gt;-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tr)];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X[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logical_or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&gt;=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tr, 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&lt;=-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tr)]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0,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'r',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'o',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1',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0,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'b',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'd',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0',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legend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('x1',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ylabel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('x2',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'16'); 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title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('Problem',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'18');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show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()</a:t>
            </a:r>
          </a:p>
          <a:p>
            <a:pPr marL="36900" indent="0">
              <a:buNone/>
            </a:pPr>
            <a:endParaRPr lang="en-US" altLang="ko-KR" sz="1400" dirty="0">
              <a:effectLst/>
              <a:latin typeface="Arial Narrow" panose="020B0606020202030204" pitchFamily="34" charset="0"/>
            </a:endParaRP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2,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'r',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'o',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1',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2,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'b',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'd',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0',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legend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(r'$\phi_1$',fontsize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ylabel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(r'$\phi_2$',fontsize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title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('Problem solving in Transformed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higer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Space',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'18')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axhline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tr, color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'g',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linestyle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'-')</a:t>
            </a:r>
          </a:p>
          <a:p>
            <a:pPr marL="36900" indent="0">
              <a:lnSpc>
                <a:spcPct val="100000"/>
              </a:lnSpc>
              <a:buNone/>
            </a:pPr>
            <a:endParaRPr lang="en-US" altLang="ko-KR" sz="7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D472010-BAB6-CD25-7F2C-8B7FB6C8D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036" y="980954"/>
            <a:ext cx="3595975" cy="253961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7402423-C18E-BCB8-EB00-3647C7011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928" y="3756341"/>
            <a:ext cx="3507083" cy="2539612"/>
          </a:xfrm>
          <a:prstGeom prst="rect">
            <a:avLst/>
          </a:prstGeom>
        </p:spPr>
      </p:pic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AF92B326-14DF-461C-1D5D-1809FAB4CE5B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816436" y="2244593"/>
            <a:ext cx="1070264" cy="1936881"/>
          </a:xfrm>
          <a:prstGeom prst="curvedConnector4">
            <a:avLst>
              <a:gd name="adj1" fmla="val -21359"/>
              <a:gd name="adj2" fmla="val 8230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6EEEFA36-8D7F-734A-EF6C-5B6BBB0D0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675" y="3230863"/>
            <a:ext cx="1272650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E33A-EAD9-0E64-1001-0C1A3E23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9882A-1D3D-A251-8607-459BD3A54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Digress : Kernel Transformation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66BB72-ABD2-1253-59B1-C7A5F3588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11" name="내용 개체 틀 8">
            <a:extLst>
              <a:ext uri="{FF2B5EF4-FFF2-40B4-BE49-F238E27FC236}">
                <a16:creationId xmlns:a16="http://schemas.microsoft.com/office/drawing/2014/main" id="{615999D5-3A04-9FF7-FF4A-A3C06F0CBCF3}"/>
              </a:ext>
            </a:extLst>
          </p:cNvPr>
          <p:cNvSpPr txBox="1">
            <a:spLocks/>
          </p:cNvSpPr>
          <p:nvPr/>
        </p:nvSpPr>
        <p:spPr>
          <a:xfrm>
            <a:off x="548640" y="1226740"/>
            <a:ext cx="11544748" cy="487822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python code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sklearn.datasets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import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make_circles</a:t>
            </a:r>
            <a:endParaRPr lang="en-US" altLang="ko-KR" sz="16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 y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make_circles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n_samples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=500,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random_state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=11, noise=0.1)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plt.scatter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(X[:, 0], X[:, 1], c=y, s=20,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cmap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='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coolwarm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’);</a:t>
            </a:r>
          </a:p>
          <a:p>
            <a:pPr marL="36900" indent="0">
              <a:lnSpc>
                <a:spcPct val="100000"/>
              </a:lnSpc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lnSpc>
                <a:spcPct val="100000"/>
              </a:lnSpc>
              <a:buNone/>
            </a:pPr>
            <a:r>
              <a:rPr lang="pt-BR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=np.exp(-(X ** 2).sum(1))</a:t>
            </a:r>
          </a:p>
          <a:p>
            <a:pPr marL="36900" indent="0">
              <a:lnSpc>
                <a:spcPct val="100000"/>
              </a:lnSpc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mpl_toolkits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import mplot3d</a:t>
            </a:r>
            <a:b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plt.figure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figsize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=(8,6))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plt.axes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(projection='3d')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ax.scatter3D(X[:, 0], X[:, 1], r, c=y,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cmap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='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coolwarm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#ax.view_init(10, 250)</a:t>
            </a:r>
          </a:p>
          <a:p>
            <a:pPr>
              <a:lnSpc>
                <a:spcPct val="100000"/>
              </a:lnSpc>
            </a:pPr>
            <a:endParaRPr lang="en-US" altLang="ko-KR" sz="12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21169E-B090-C7DD-2500-1A35C5CD2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436" y="993074"/>
            <a:ext cx="3294767" cy="25030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D7C9931-639E-A2F5-5F58-B82DE55F5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036" y="3798534"/>
            <a:ext cx="3294767" cy="2540098"/>
          </a:xfrm>
          <a:prstGeom prst="rect">
            <a:avLst/>
          </a:prstGeom>
        </p:spPr>
      </p:pic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AA3AF10D-2122-08B5-815F-B739E44E16D1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H="1" flipV="1">
            <a:off x="6816436" y="2244593"/>
            <a:ext cx="1070264" cy="1936881"/>
          </a:xfrm>
          <a:prstGeom prst="curvedConnector4">
            <a:avLst>
              <a:gd name="adj1" fmla="val -21359"/>
              <a:gd name="adj2" fmla="val 8230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442230BC-BB3D-82B6-5A26-4B1E81054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778" y="3265156"/>
            <a:ext cx="1196444" cy="3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62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물방울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{1CC570B9-0437-4096-963A-AEC0F46B8FA6}TF62d0d592-7ac2-4846-a919-75806e8bead4bfbc838d-5dafd7656617</Template>
  <TotalTime>2019</TotalTime>
  <Words>2142</Words>
  <Application>Microsoft Office PowerPoint</Application>
  <PresentationFormat>와이드스크린</PresentationFormat>
  <Paragraphs>341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60" baseType="lpstr">
      <vt:lpstr>Nanum Gothic</vt:lpstr>
      <vt:lpstr>맑은 고딕</vt:lpstr>
      <vt:lpstr>맑은 고딕 Semilight</vt:lpstr>
      <vt:lpstr>바탕</vt:lpstr>
      <vt:lpstr>한컴 말랑말랑 Bold</vt:lpstr>
      <vt:lpstr>ADLaM Display</vt:lpstr>
      <vt:lpstr>Arial</vt:lpstr>
      <vt:lpstr>Arial Narrow</vt:lpstr>
      <vt:lpstr>Calibri</vt:lpstr>
      <vt:lpstr>Calibri Light</vt:lpstr>
      <vt:lpstr>Cambria Math</vt:lpstr>
      <vt:lpstr>Times New Roman</vt:lpstr>
      <vt:lpstr>Tw Cen MT</vt:lpstr>
      <vt:lpstr>Wingdings</vt:lpstr>
      <vt:lpstr>Wingdings 2</vt:lpstr>
      <vt:lpstr>물방울</vt:lpstr>
      <vt:lpstr>선형대수 -행렬과 벡터-</vt:lpstr>
      <vt:lpstr>PowerPoint 프레젠테이션</vt:lpstr>
      <vt:lpstr>대수(Algebra)</vt:lpstr>
      <vt:lpstr>선형함수(Linear Function)</vt:lpstr>
      <vt:lpstr>Linear or Non Linear</vt:lpstr>
      <vt:lpstr>PowerPoint 프레젠테이션</vt:lpstr>
      <vt:lpstr>System of Linear Equations </vt:lpstr>
      <vt:lpstr>Deep learning </vt:lpstr>
      <vt:lpstr>PowerPoint 프레젠테이션</vt:lpstr>
      <vt:lpstr>행렬과 벡터</vt:lpstr>
      <vt:lpstr>Numpy 배우기(Option)</vt:lpstr>
      <vt:lpstr>PowerPoint 프레젠테이션</vt:lpstr>
      <vt:lpstr>1차원 직선에서의 선형변환에 대해 생각하기</vt:lpstr>
      <vt:lpstr>1차원 직선에서의 선형변환에 대해 생각하기</vt:lpstr>
      <vt:lpstr>2차원 평면에서의 선형변환에 대해 생각하기</vt:lpstr>
      <vt:lpstr>2차원 평면에서의 선형변환에 대해 생각하기</vt:lpstr>
      <vt:lpstr>2차원 평면에서의 선형변환에 대해 생각하기</vt:lpstr>
      <vt:lpstr>Hands-on</vt:lpstr>
      <vt:lpstr>PowerPoint 프레젠테이션</vt:lpstr>
      <vt:lpstr>PowerPoint 프레젠테이션</vt:lpstr>
      <vt:lpstr>선형변환</vt:lpstr>
      <vt:lpstr>기하학적 이해</vt:lpstr>
      <vt:lpstr>선형대수(Linear Algebra)</vt:lpstr>
      <vt:lpstr>PowerPoint 프레젠테이션</vt:lpstr>
      <vt:lpstr>PowerPoint 프레젠테이션</vt:lpstr>
      <vt:lpstr>투영</vt:lpstr>
      <vt:lpstr>Kernel Transformation</vt:lpstr>
      <vt:lpstr>행렬과 내적은 선형변환</vt:lpstr>
      <vt:lpstr>선형변환</vt:lpstr>
      <vt:lpstr>선형변환</vt:lpstr>
      <vt:lpstr>１차원　선형변환</vt:lpstr>
      <vt:lpstr>２차원　회전 선형변환</vt:lpstr>
      <vt:lpstr>２차원　sheer　선형변환</vt:lpstr>
      <vt:lpstr>２차원　sheer &amp; rotate　선형변환</vt:lpstr>
      <vt:lpstr>PowerPoint 프레젠테이션</vt:lpstr>
      <vt:lpstr>Regression &amp; Perceptron</vt:lpstr>
      <vt:lpstr>Regression &amp; Perceptron</vt:lpstr>
      <vt:lpstr>선형대수(linear algebra)</vt:lpstr>
      <vt:lpstr>Appendix</vt:lpstr>
      <vt:lpstr>선형대수(linear algebra)</vt:lpstr>
      <vt:lpstr>실습하기</vt:lpstr>
      <vt:lpstr>Digress : Shear Bradpit Image</vt:lpstr>
      <vt:lpstr>Digress : Kernel Transformation</vt:lpstr>
      <vt:lpstr>Digress : Kernel Transformation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31</cp:revision>
  <dcterms:created xsi:type="dcterms:W3CDTF">2026-03-09T22:59:08Z</dcterms:created>
  <dcterms:modified xsi:type="dcterms:W3CDTF">2026-04-05T01:36:38Z</dcterms:modified>
</cp:coreProperties>
</file>