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0" r:id="rId6"/>
    <p:sldId id="272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14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2026-03-02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534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191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904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987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408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349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5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940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9459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516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2026-03-02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2026-03-02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2" y="685801"/>
            <a:ext cx="4334271" cy="2959223"/>
          </a:xfrm>
        </p:spPr>
        <p:txBody>
          <a:bodyPr rtlCol="0">
            <a:normAutofit/>
          </a:bodyPr>
          <a:lstStyle/>
          <a:p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검정</a:t>
            </a:r>
            <a:r>
              <a:rPr lang="en-US" altLang="ko-KR" sz="2400" b="1" dirty="0"/>
              <a:t>(Hypothesis Testing) 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714861"/>
            <a:ext cx="4569229" cy="41195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952" y="1714861"/>
            <a:ext cx="4257040" cy="4068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0305" y="1071617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천동설 </a:t>
            </a:r>
            <a:r>
              <a:rPr lang="en-US" altLang="ko-KR" sz="2400" b="1" dirty="0"/>
              <a:t>: </a:t>
            </a:r>
            <a:r>
              <a:rPr lang="ko-KR" altLang="en-US" sz="2400" b="1" dirty="0" err="1"/>
              <a:t>귀무가설</a:t>
            </a:r>
            <a:endParaRPr lang="ko-KR" alt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244056" y="1071616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지동설 </a:t>
            </a:r>
            <a:r>
              <a:rPr lang="en-US" altLang="ko-KR" sz="2400" b="1" dirty="0"/>
              <a:t>: </a:t>
            </a:r>
            <a:r>
              <a:rPr lang="ko-KR" altLang="en-US" sz="2400" b="1" dirty="0" err="1"/>
              <a:t>대립가설</a:t>
            </a:r>
            <a:endParaRPr lang="ko-KR" altLang="en-US" sz="2400" b="1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5518348" y="3645024"/>
            <a:ext cx="136815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04664"/>
            <a:ext cx="8760663" cy="60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2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260648"/>
            <a:ext cx="8925044" cy="61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0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465038"/>
            <a:ext cx="8632810" cy="607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7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909836" y="1412776"/>
            <a:ext cx="108012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 Narrow" panose="020B0606020202030204" pitchFamily="34" charset="0"/>
              </a:rPr>
              <a:t>1</a:t>
            </a:r>
            <a:r>
              <a:rPr lang="ko-KR" altLang="en-US" b="1" dirty="0">
                <a:latin typeface="Arial Narrow" panose="020B0606020202030204" pitchFamily="34" charset="0"/>
              </a:rPr>
              <a:t>단계</a:t>
            </a:r>
            <a:r>
              <a:rPr lang="en-US" altLang="ko-KR" b="1" dirty="0">
                <a:latin typeface="Arial Narrow" panose="020B0606020202030204" pitchFamily="34" charset="0"/>
              </a:rPr>
              <a:t>: </a:t>
            </a:r>
            <a:r>
              <a:rPr lang="ko-KR" altLang="en-US" b="1" dirty="0">
                <a:latin typeface="Arial Narrow" panose="020B0606020202030204" pitchFamily="34" charset="0"/>
              </a:rPr>
              <a:t>데이터 생성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Arial Narrow" panose="020B0606020202030204" pitchFamily="34" charset="0"/>
              </a:rPr>
              <a:t>신약 투여 전과 투여 후의 데이터를 각각 </a:t>
            </a:r>
            <a:r>
              <a:rPr lang="en-US" altLang="ko-KR" dirty="0">
                <a:latin typeface="Arial Narrow" panose="020B0606020202030204" pitchFamily="34" charset="0"/>
              </a:rPr>
              <a:t>100</a:t>
            </a:r>
            <a:r>
              <a:rPr lang="ko-KR" altLang="en-US" dirty="0">
                <a:latin typeface="Arial Narrow" panose="020B0606020202030204" pitchFamily="34" charset="0"/>
              </a:rPr>
              <a:t>명 분량으로 생성합니다</a:t>
            </a:r>
            <a:r>
              <a:rPr lang="en-US" altLang="ko-KR" dirty="0">
                <a:latin typeface="Arial Narrow" panose="020B0606020202030204" pitchFamily="34" charset="0"/>
              </a:rPr>
              <a:t>. </a:t>
            </a:r>
            <a:r>
              <a:rPr lang="ko-KR" altLang="en-US" dirty="0">
                <a:latin typeface="Arial Narrow" panose="020B0606020202030204" pitchFamily="34" charset="0"/>
              </a:rPr>
              <a:t>이 예에서는 투여 전 데이터를 정규 분포 </a:t>
            </a:r>
            <a:r>
              <a:rPr lang="en-US" altLang="ko-KR" dirty="0">
                <a:latin typeface="Arial Narrow" panose="020B0606020202030204" pitchFamily="34" charset="0"/>
              </a:rPr>
              <a:t>N(0, 1)</a:t>
            </a:r>
            <a:r>
              <a:rPr lang="ko-KR" altLang="en-US" dirty="0">
                <a:latin typeface="Arial Narrow" panose="020B0606020202030204" pitchFamily="34" charset="0"/>
              </a:rPr>
              <a:t>을 따르게 하고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  <a:r>
              <a:rPr lang="ko-KR" altLang="en-US" dirty="0">
                <a:latin typeface="Arial Narrow" panose="020B0606020202030204" pitchFamily="34" charset="0"/>
              </a:rPr>
              <a:t>투여 후 데이터는 투여의 효과를 모사하기 위해 평균이 약간 증가한 정규 분포 </a:t>
            </a:r>
            <a:r>
              <a:rPr lang="en-US" altLang="ko-KR" dirty="0">
                <a:latin typeface="Arial Narrow" panose="020B0606020202030204" pitchFamily="34" charset="0"/>
              </a:rPr>
              <a:t>N(0.3, 2)</a:t>
            </a:r>
            <a:r>
              <a:rPr lang="ko-KR" altLang="en-US" dirty="0">
                <a:latin typeface="Arial Narrow" panose="020B0606020202030204" pitchFamily="34" charset="0"/>
              </a:rPr>
              <a:t>를 사용합니다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 Narrow" panose="020B0606020202030204" pitchFamily="34" charset="0"/>
              </a:rPr>
              <a:t>2</a:t>
            </a:r>
            <a:r>
              <a:rPr lang="ko-KR" altLang="en-US" b="1" dirty="0">
                <a:latin typeface="Arial Narrow" panose="020B0606020202030204" pitchFamily="34" charset="0"/>
              </a:rPr>
              <a:t>단계</a:t>
            </a:r>
            <a:r>
              <a:rPr lang="en-US" altLang="ko-KR" b="1" dirty="0">
                <a:latin typeface="Arial Narrow" panose="020B0606020202030204" pitchFamily="34" charset="0"/>
              </a:rPr>
              <a:t>: t-test </a:t>
            </a:r>
            <a:r>
              <a:rPr lang="ko-KR" altLang="en-US" b="1" dirty="0">
                <a:latin typeface="Arial Narrow" panose="020B0606020202030204" pitchFamily="34" charset="0"/>
              </a:rPr>
              <a:t>수행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Arial Narrow" panose="020B0606020202030204" pitchFamily="34" charset="0"/>
              </a:rPr>
              <a:t>생성된 데이터에 대해 독립 표본 </a:t>
            </a:r>
            <a:r>
              <a:rPr lang="en-US" altLang="ko-KR" dirty="0">
                <a:latin typeface="Arial Narrow" panose="020B0606020202030204" pitchFamily="34" charset="0"/>
              </a:rPr>
              <a:t>t-test</a:t>
            </a:r>
            <a:r>
              <a:rPr lang="ko-KR" altLang="en-US" dirty="0">
                <a:latin typeface="Arial Narrow" panose="020B0606020202030204" pitchFamily="34" charset="0"/>
              </a:rPr>
              <a:t>를 수행하여 투여 전과 투여 후의 평균 차이가 통계적으로 </a:t>
            </a:r>
            <a:r>
              <a:rPr lang="ko-KR" altLang="en-US" dirty="0" err="1">
                <a:latin typeface="Arial Narrow" panose="020B0606020202030204" pitchFamily="34" charset="0"/>
              </a:rPr>
              <a:t>유의미한지</a:t>
            </a:r>
            <a:r>
              <a:rPr lang="ko-KR" altLang="en-US" dirty="0">
                <a:latin typeface="Arial Narrow" panose="020B0606020202030204" pitchFamily="34" charset="0"/>
              </a:rPr>
              <a:t> 검정합니다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33772" y="370028"/>
            <a:ext cx="72298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/>
              <a:t>새로운 신약의 효과 검정을 위한 통계분석</a:t>
            </a:r>
            <a:r>
              <a:rPr lang="en-US" altLang="ko-KR" sz="2800" b="1" dirty="0"/>
              <a:t>(1/3)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8830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370028"/>
            <a:ext cx="723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/>
              <a:t>새로운 신약의 효과 검정을 위한 통계분석</a:t>
            </a:r>
            <a:r>
              <a:rPr lang="en-US" altLang="ko-KR" sz="2800" b="1" dirty="0"/>
              <a:t>(2/3)</a:t>
            </a:r>
            <a:endParaRPr lang="ko-KR" altLang="en-US" sz="28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45" y="1168519"/>
            <a:ext cx="6796724" cy="8192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945" y="2263038"/>
            <a:ext cx="9652701" cy="3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5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370028"/>
            <a:ext cx="723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/>
              <a:t>새로운 신약의 효과 검정을 위한 통계분석</a:t>
            </a:r>
            <a:r>
              <a:rPr lang="en-US" altLang="ko-KR" sz="2800" b="1" dirty="0"/>
              <a:t>(3/3)</a:t>
            </a:r>
            <a:endParaRPr lang="ko-KR" altLang="en-US" sz="28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8" y="1628800"/>
            <a:ext cx="5313788" cy="432048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308231" y="3356992"/>
            <a:ext cx="5757427" cy="23544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차이가 없다는 가정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귀무가설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이 옳다면 실험자료상으로 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귀무가설을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 기각할 확률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(p-value = 8.21%)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인데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  <a:cs typeface="함초롬돋움" panose="020B0604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8.21%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는 극단적인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case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인가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?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너무 크지 않은가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일반적으로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5%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2%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미만은 되어야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‘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귀무가설이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 틀리지 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않고서여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 어찌 이런 데이터가 나온단 말인가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?’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라고 믿고 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귀무가설을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 기각하고 신약의 효과가 있다라고 결정할 수 있을 텐데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  <a:cs typeface="함초롬돋움" panose="020B0604000101010101" pitchFamily="50" charset="-127"/>
              </a:rPr>
              <a:t>……..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  <a:cs typeface="함초롬돋움" panose="020B0604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231" y="1628800"/>
            <a:ext cx="5757427" cy="125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5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437621"/>
            <a:ext cx="8600939" cy="59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7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412055"/>
            <a:ext cx="8685765" cy="609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7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332656"/>
            <a:ext cx="8756864" cy="60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6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7" y="332656"/>
            <a:ext cx="8588028" cy="602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9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AACE6D-8EB6-447A-8DFD-C2C0C52916AC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40262f94-9f35-4ac3-9a90-690165a166b7"/>
    <ds:schemaRef ds:uri="a4f35948-e619-41b3-aa29-22878b09cfd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457</TotalTime>
  <Words>210</Words>
  <Application>Microsoft Office PowerPoint</Application>
  <PresentationFormat>사용자 지정</PresentationFormat>
  <Paragraphs>42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휴먼모음T</vt:lpstr>
      <vt:lpstr>Arial</vt:lpstr>
      <vt:lpstr>Arial Narrow</vt:lpstr>
      <vt:lpstr>Corbel</vt:lpstr>
      <vt:lpstr>Wingdings</vt:lpstr>
      <vt:lpstr>마케팅 16x9</vt:lpstr>
      <vt:lpstr>통계학  - 검정(Hypothesis Testing)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46</cp:revision>
  <dcterms:created xsi:type="dcterms:W3CDTF">2024-06-03T06:10:16Z</dcterms:created>
  <dcterms:modified xsi:type="dcterms:W3CDTF">2026-03-02T12:27:45Z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