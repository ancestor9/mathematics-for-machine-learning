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19"/>
  </p:notesMasterIdLst>
  <p:handoutMasterIdLst>
    <p:handoutMasterId r:id="rId20"/>
  </p:handoutMasterIdLst>
  <p:sldIdLst>
    <p:sldId id="256" r:id="rId5"/>
    <p:sldId id="270" r:id="rId6"/>
    <p:sldId id="272" r:id="rId7"/>
    <p:sldId id="271" r:id="rId8"/>
    <p:sldId id="281" r:id="rId9"/>
    <p:sldId id="273" r:id="rId10"/>
    <p:sldId id="274" r:id="rId11"/>
    <p:sldId id="275" r:id="rId12"/>
    <p:sldId id="276" r:id="rId13"/>
    <p:sldId id="363" r:id="rId14"/>
    <p:sldId id="277" r:id="rId15"/>
    <p:sldId id="278" r:id="rId16"/>
    <p:sldId id="279" r:id="rId17"/>
    <p:sldId id="280" r:id="rId18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73" autoAdjust="0"/>
    <p:restoredTop sz="94660"/>
  </p:normalViewPr>
  <p:slideViewPr>
    <p:cSldViewPr>
      <p:cViewPr varScale="1">
        <p:scale>
          <a:sx n="110" d="100"/>
          <a:sy n="110" d="100"/>
        </p:scale>
        <p:origin x="996" y="114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2026-03-16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2026-03-16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65341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11911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7E5C1-8BE4-75C2-5973-DE2C88BC0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3385EE-D887-4872-22C9-0EE66769EF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20B6FF-D6E8-262B-0A7C-529E9A002F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E2F0FB-50CC-7B15-66BC-3D0CE1482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164114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889045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09873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484084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143490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AA8D9-600A-F975-AF39-7C4A71BDC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B17B488-9014-47F4-B025-68110CD113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74C337A-0E33-780B-F888-436B2DCF50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D3F98F-1801-D05E-7B68-8901BBFD81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521423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56546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794002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994592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951641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2026-03-16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2026-03-16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2" y="685801"/>
            <a:ext cx="4334271" cy="2959223"/>
          </a:xfrm>
        </p:spPr>
        <p:txBody>
          <a:bodyPr rtlCol="0">
            <a:normAutofit/>
          </a:bodyPr>
          <a:lstStyle/>
          <a:p>
            <a:r>
              <a:rPr lang="ko-KR" altLang="en-US" b="1" dirty="0"/>
              <a:t>통계학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/>
              <a:t>검정</a:t>
            </a:r>
            <a:r>
              <a:rPr lang="en-US" altLang="ko-KR" sz="2400" b="1" dirty="0"/>
              <a:t>(Hypothesis Testing) -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4" y="1714861"/>
            <a:ext cx="4569229" cy="4119579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7952" y="1714861"/>
            <a:ext cx="4257040" cy="40682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50305" y="1071617"/>
            <a:ext cx="25122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/>
              <a:t>천동설 </a:t>
            </a:r>
            <a:r>
              <a:rPr lang="en-US" altLang="ko-KR" sz="2400" b="1" dirty="0"/>
              <a:t>: </a:t>
            </a:r>
            <a:r>
              <a:rPr lang="ko-KR" altLang="en-US" sz="2400" b="1" dirty="0" err="1"/>
              <a:t>귀무가설</a:t>
            </a:r>
            <a:endParaRPr lang="ko-KR" altLang="en-US" sz="2400" b="1" dirty="0"/>
          </a:p>
        </p:txBody>
      </p:sp>
      <p:sp>
        <p:nvSpPr>
          <p:cNvPr id="12" name="TextBox 11"/>
          <p:cNvSpPr txBox="1"/>
          <p:nvPr/>
        </p:nvSpPr>
        <p:spPr>
          <a:xfrm>
            <a:off x="8244056" y="1071616"/>
            <a:ext cx="25122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/>
              <a:t>지동설 </a:t>
            </a:r>
            <a:r>
              <a:rPr lang="en-US" altLang="ko-KR" sz="2400" b="1" dirty="0"/>
              <a:t>: </a:t>
            </a:r>
            <a:r>
              <a:rPr lang="ko-KR" altLang="en-US" sz="2400" b="1" dirty="0" err="1"/>
              <a:t>대립가설</a:t>
            </a:r>
            <a:endParaRPr lang="ko-KR" altLang="en-US" sz="2400" b="1" dirty="0"/>
          </a:p>
        </p:txBody>
      </p:sp>
      <p:cxnSp>
        <p:nvCxnSpPr>
          <p:cNvPr id="9" name="직선 화살표 연결선 8"/>
          <p:cNvCxnSpPr/>
          <p:nvPr/>
        </p:nvCxnSpPr>
        <p:spPr>
          <a:xfrm>
            <a:off x="5518348" y="3645024"/>
            <a:ext cx="1368152" cy="0"/>
          </a:xfrm>
          <a:prstGeom prst="straightConnector1">
            <a:avLst/>
          </a:prstGeom>
          <a:ln w="571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404664"/>
            <a:ext cx="8760663" cy="6040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421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260648"/>
            <a:ext cx="8925044" cy="6178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0304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7A63E-4CF5-6FDF-8908-4CACFBE0E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10F0487-E9F5-4741-E920-0C82A69F9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E6632DC-89A1-F573-CFA6-11F64F1EA8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260648"/>
            <a:ext cx="8925044" cy="6178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6470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465038"/>
            <a:ext cx="8632810" cy="607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9974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909836" y="1412776"/>
            <a:ext cx="10801200" cy="38318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Arial Narrow" panose="020B0606020202030204" pitchFamily="34" charset="0"/>
              </a:rPr>
              <a:t>1</a:t>
            </a:r>
            <a:r>
              <a:rPr lang="ko-KR" altLang="en-US" b="1" dirty="0">
                <a:latin typeface="Arial Narrow" panose="020B0606020202030204" pitchFamily="34" charset="0"/>
              </a:rPr>
              <a:t>단계</a:t>
            </a:r>
            <a:r>
              <a:rPr lang="en-US" altLang="ko-KR" b="1" dirty="0">
                <a:latin typeface="Arial Narrow" panose="020B0606020202030204" pitchFamily="34" charset="0"/>
              </a:rPr>
              <a:t>: </a:t>
            </a:r>
            <a:r>
              <a:rPr lang="ko-KR" altLang="en-US" b="1" dirty="0">
                <a:latin typeface="Arial Narrow" panose="020B0606020202030204" pitchFamily="34" charset="0"/>
              </a:rPr>
              <a:t>데이터 생성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Arial Narrow" panose="020B0606020202030204" pitchFamily="34" charset="0"/>
              </a:rPr>
              <a:t>신약 투여 전과 투여 후의 데이터를 각각 </a:t>
            </a:r>
            <a:r>
              <a:rPr lang="en-US" altLang="ko-KR" dirty="0">
                <a:latin typeface="Arial Narrow" panose="020B0606020202030204" pitchFamily="34" charset="0"/>
              </a:rPr>
              <a:t>100</a:t>
            </a:r>
            <a:r>
              <a:rPr lang="ko-KR" altLang="en-US" dirty="0">
                <a:latin typeface="Arial Narrow" panose="020B0606020202030204" pitchFamily="34" charset="0"/>
              </a:rPr>
              <a:t>명 분량으로 생성합니다</a:t>
            </a:r>
            <a:r>
              <a:rPr lang="en-US" altLang="ko-KR" dirty="0">
                <a:latin typeface="Arial Narrow" panose="020B0606020202030204" pitchFamily="34" charset="0"/>
              </a:rPr>
              <a:t>. </a:t>
            </a:r>
            <a:r>
              <a:rPr lang="ko-KR" altLang="en-US" dirty="0">
                <a:latin typeface="Arial Narrow" panose="020B0606020202030204" pitchFamily="34" charset="0"/>
              </a:rPr>
              <a:t>이 예에서는 투여 전 데이터를 정규 분포 </a:t>
            </a:r>
            <a:r>
              <a:rPr lang="en-US" altLang="ko-KR" dirty="0">
                <a:latin typeface="Arial Narrow" panose="020B0606020202030204" pitchFamily="34" charset="0"/>
              </a:rPr>
              <a:t>N(0, 1)</a:t>
            </a:r>
            <a:r>
              <a:rPr lang="ko-KR" altLang="en-US" dirty="0">
                <a:latin typeface="Arial Narrow" panose="020B0606020202030204" pitchFamily="34" charset="0"/>
              </a:rPr>
              <a:t>을 따르게 하고</a:t>
            </a:r>
            <a:r>
              <a:rPr lang="en-US" altLang="ko-KR" dirty="0">
                <a:latin typeface="Arial Narrow" panose="020B0606020202030204" pitchFamily="34" charset="0"/>
              </a:rPr>
              <a:t>, </a:t>
            </a:r>
            <a:r>
              <a:rPr lang="ko-KR" altLang="en-US" dirty="0">
                <a:latin typeface="Arial Narrow" panose="020B0606020202030204" pitchFamily="34" charset="0"/>
              </a:rPr>
              <a:t>투여 후 데이터는 투여의 효과를 모사하기 위해 평균이 약간 증가한 정규 분포 </a:t>
            </a:r>
            <a:r>
              <a:rPr lang="en-US" altLang="ko-KR" dirty="0">
                <a:latin typeface="Arial Narrow" panose="020B0606020202030204" pitchFamily="34" charset="0"/>
              </a:rPr>
              <a:t>N(0.3, 2)</a:t>
            </a:r>
            <a:r>
              <a:rPr lang="ko-KR" altLang="en-US" dirty="0">
                <a:latin typeface="Arial Narrow" panose="020B0606020202030204" pitchFamily="34" charset="0"/>
              </a:rPr>
              <a:t>를 사용합니다</a:t>
            </a:r>
            <a:r>
              <a:rPr lang="en-US" altLang="ko-KR" dirty="0">
                <a:latin typeface="Arial Narrow" panose="020B0606020202030204" pitchFamily="34" charset="0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b="1" dirty="0">
              <a:latin typeface="Arial Narrow" panose="020B0606020202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b="1" dirty="0">
              <a:latin typeface="Arial Narrow" panose="020B0606020202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Arial Narrow" panose="020B0606020202030204" pitchFamily="34" charset="0"/>
              </a:rPr>
              <a:t>2</a:t>
            </a:r>
            <a:r>
              <a:rPr lang="ko-KR" altLang="en-US" b="1" dirty="0">
                <a:latin typeface="Arial Narrow" panose="020B0606020202030204" pitchFamily="34" charset="0"/>
              </a:rPr>
              <a:t>단계</a:t>
            </a:r>
            <a:r>
              <a:rPr lang="en-US" altLang="ko-KR" b="1" dirty="0">
                <a:latin typeface="Arial Narrow" panose="020B0606020202030204" pitchFamily="34" charset="0"/>
              </a:rPr>
              <a:t>: t-test </a:t>
            </a:r>
            <a:r>
              <a:rPr lang="ko-KR" altLang="en-US" b="1" dirty="0">
                <a:latin typeface="Arial Narrow" panose="020B0606020202030204" pitchFamily="34" charset="0"/>
              </a:rPr>
              <a:t>수행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Arial Narrow" panose="020B0606020202030204" pitchFamily="34" charset="0"/>
              </a:rPr>
              <a:t>생성된 데이터에 대해 독립 표본 </a:t>
            </a:r>
            <a:r>
              <a:rPr lang="en-US" altLang="ko-KR" dirty="0">
                <a:latin typeface="Arial Narrow" panose="020B0606020202030204" pitchFamily="34" charset="0"/>
              </a:rPr>
              <a:t>t-test</a:t>
            </a:r>
            <a:r>
              <a:rPr lang="ko-KR" altLang="en-US" dirty="0">
                <a:latin typeface="Arial Narrow" panose="020B0606020202030204" pitchFamily="34" charset="0"/>
              </a:rPr>
              <a:t>를 수행하여 투여 전과 투여 후의 평균 차이가 통계적으로 </a:t>
            </a:r>
            <a:r>
              <a:rPr lang="ko-KR" altLang="en-US" dirty="0" err="1">
                <a:latin typeface="Arial Narrow" panose="020B0606020202030204" pitchFamily="34" charset="0"/>
              </a:rPr>
              <a:t>유의미한지</a:t>
            </a:r>
            <a:r>
              <a:rPr lang="ko-KR" altLang="en-US" dirty="0">
                <a:latin typeface="Arial Narrow" panose="020B0606020202030204" pitchFamily="34" charset="0"/>
              </a:rPr>
              <a:t> 검정합니다</a:t>
            </a:r>
            <a:r>
              <a:rPr lang="en-US" altLang="ko-KR" dirty="0">
                <a:latin typeface="Arial Narrow" panose="020B0606020202030204" pitchFamily="34" charset="0"/>
              </a:rPr>
              <a:t>.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333772" y="370028"/>
            <a:ext cx="722986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/>
              <a:t>새로운 신약의 효과 검정을 위한 통계분석</a:t>
            </a:r>
            <a:r>
              <a:rPr lang="en-US" altLang="ko-KR" sz="2800" b="1" dirty="0"/>
              <a:t>(1/3)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588309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370028"/>
            <a:ext cx="72314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/>
              <a:t>새로운 신약의 효과 검정을 위한 통계분석</a:t>
            </a:r>
            <a:r>
              <a:rPr lang="en-US" altLang="ko-KR" sz="2800" b="1" dirty="0"/>
              <a:t>(2/3)</a:t>
            </a:r>
            <a:endParaRPr lang="ko-KR" altLang="en-US" sz="2800" b="1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1945" y="1168519"/>
            <a:ext cx="6796724" cy="819248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1945" y="2263038"/>
            <a:ext cx="9652701" cy="395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61572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370028"/>
            <a:ext cx="72314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/>
              <a:t>새로운 신약의 효과 검정을 위한 통계분석</a:t>
            </a:r>
            <a:r>
              <a:rPr lang="en-US" altLang="ko-KR" sz="2800" b="1" dirty="0"/>
              <a:t>(3/3)</a:t>
            </a:r>
            <a:endParaRPr lang="ko-KR" altLang="en-US" sz="2800" b="1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828" y="1628800"/>
            <a:ext cx="5313788" cy="4320480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6308231" y="3356992"/>
            <a:ext cx="5757427" cy="235449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차이가 없다는 가정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(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귀무가설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이 옳다면 실험자료상으로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귀무가설을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 기각할 확률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(p-value = 8.21%)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인데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함초롬돋움" panose="020B0604000101010101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8.21%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는 극단적인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case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인가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?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너무 크지 않은가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일반적으로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5%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2%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미만은 되어야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‘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귀무가설이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 틀리지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않고서여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 어찌 이런 데이터가 나온단 말인가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?’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라고 믿고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귀무가설을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 기각하고 신약의 효과가 있다라고 결정할 수 있을 텐데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……..</a:t>
            </a: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  <a:cs typeface="함초롬돋움" panose="020B0604000101010101" pitchFamily="50" charset="-127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231" y="1628800"/>
            <a:ext cx="5757427" cy="1251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4855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C8D64-2465-85C7-D991-C725B4D0D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66F2910-2209-1475-49C6-6EC7DDC33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C73BBB-662E-79D0-E653-928BFAC00570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282D776-FD3C-1EF1-CE8F-5B2BF3CA27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568" y="836712"/>
            <a:ext cx="11610468" cy="212949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　레스토랑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데이터에서 목요일(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Thursday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)과 금요일(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Friday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)의 평균 팁(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tip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 금액이 통계적으로 유의미하게 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다른가?를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확인하려고 합니다.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귀무가설($H_0$): 목요일과 금요일의 평균 팁 금액은 차이가 없다.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대립가설($H_1$): 목요일과 금요일의 평균 팁 금액은 차이가 있다.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유의수준(</a:t>
            </a:r>
            <a:r>
              <a:rPr lang="ko-KR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alpha</a:t>
            </a:r>
            <a:r>
              <a:rPr lang="ko-KR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): 0.05 (5%)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어느　요일끼리　차이가　있는지？</a:t>
            </a:r>
            <a:endParaRPr lang="ko-KR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1027" name="Picture 3">
            <a:extLst>
              <a:ext uri="{FF2B5EF4-FFF2-40B4-BE49-F238E27FC236}">
                <a16:creationId xmlns:a16="http://schemas.microsoft.com/office/drawing/2014/main" id="{7B0E0AB1-523F-04CD-EFF6-4A656EBCC0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6" y="3307187"/>
            <a:ext cx="5584105" cy="3585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BCDAE03-EB36-5EC9-3118-6FA9E0344A77}"/>
              </a:ext>
            </a:extLst>
          </p:cNvPr>
          <p:cNvSpPr txBox="1"/>
          <p:nvPr/>
        </p:nvSpPr>
        <p:spPr>
          <a:xfrm>
            <a:off x="6359061" y="4399668"/>
            <a:ext cx="475252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p-value: 0.0240 </a:t>
            </a:r>
            <a:r>
              <a:rPr lang="ko-KR" altLang="en-US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결과</a:t>
            </a:r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: p-value</a:t>
            </a:r>
            <a:r>
              <a:rPr lang="ko-KR" altLang="en-US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가 </a:t>
            </a:r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0.05</a:t>
            </a:r>
            <a:r>
              <a:rPr lang="ko-KR" altLang="en-US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보다 작으므로 귀무가설을 기각합니다</a:t>
            </a:r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. (</a:t>
            </a:r>
            <a:r>
              <a:rPr lang="ko-KR" altLang="en-US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통계적으로 유의미한 차이 있음</a:t>
            </a:r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DB661435-009F-7875-6DC9-30E05C372326}"/>
              </a:ext>
            </a:extLst>
          </p:cNvPr>
          <p:cNvCxnSpPr/>
          <p:nvPr/>
        </p:nvCxnSpPr>
        <p:spPr>
          <a:xfrm>
            <a:off x="4366220" y="3429000"/>
            <a:ext cx="1944216" cy="1232278"/>
          </a:xfrm>
          <a:prstGeom prst="bentConnector3">
            <a:avLst>
              <a:gd name="adj1" fmla="val 208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3394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0569" y="1026141"/>
            <a:ext cx="6961393" cy="4805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074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622490"/>
            <a:ext cx="7992888" cy="5613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876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332656"/>
            <a:ext cx="8756864" cy="6081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660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7" y="332656"/>
            <a:ext cx="8588028" cy="6023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0920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0AACE6D-8EB6-447A-8DFD-C2C0C52916AC}">
  <ds:schemaRefs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http://schemas.microsoft.com/office/2006/metadata/properties"/>
    <ds:schemaRef ds:uri="http://purl.org/dc/elements/1.1/"/>
    <ds:schemaRef ds:uri="http://www.w3.org/XML/1998/namespace"/>
    <ds:schemaRef ds:uri="40262f94-9f35-4ac3-9a90-690165a166b7"/>
    <ds:schemaRef ds:uri="a4f35948-e619-41b3-aa29-22878b09cfd2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479</TotalTime>
  <Words>303</Words>
  <Application>Microsoft Office PowerPoint</Application>
  <PresentationFormat>사용자 지정</PresentationFormat>
  <Paragraphs>53</Paragraphs>
  <Slides>14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1" baseType="lpstr">
      <vt:lpstr>맑은 고딕</vt:lpstr>
      <vt:lpstr>휴먼모음T</vt:lpstr>
      <vt:lpstr>Arial</vt:lpstr>
      <vt:lpstr>Arial Narrow</vt:lpstr>
      <vt:lpstr>Corbel</vt:lpstr>
      <vt:lpstr>Wingdings</vt:lpstr>
      <vt:lpstr>마케팅 16x9</vt:lpstr>
      <vt:lpstr>통계학  - 검정(Hypothesis Testing)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조상구</cp:lastModifiedBy>
  <cp:revision>48</cp:revision>
  <dcterms:created xsi:type="dcterms:W3CDTF">2024-06-03T06:10:16Z</dcterms:created>
  <dcterms:modified xsi:type="dcterms:W3CDTF">2026-03-16T07:00:06Z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