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256" r:id="rId5"/>
    <p:sldId id="270" r:id="rId6"/>
    <p:sldId id="364" r:id="rId7"/>
    <p:sldId id="272" r:id="rId8"/>
    <p:sldId id="271" r:id="rId9"/>
    <p:sldId id="281" r:id="rId10"/>
    <p:sldId id="273" r:id="rId11"/>
    <p:sldId id="274" r:id="rId12"/>
    <p:sldId id="275" r:id="rId13"/>
    <p:sldId id="276" r:id="rId14"/>
    <p:sldId id="363" r:id="rId15"/>
    <p:sldId id="277" r:id="rId16"/>
    <p:sldId id="278" r:id="rId17"/>
    <p:sldId id="279" r:id="rId18"/>
    <p:sldId id="280" r:id="rId19"/>
    <p:sldId id="365" r:id="rId20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925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2026-03-17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2026-03-17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24254-F259-0186-8184-8C24ABFAD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05D676-5C57-0C2C-6C7C-38E61051C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D176DB-4586-0E80-7679-11F9B7FDC3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72E2A2-B4A2-BCB6-696A-196E3F1827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514334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65341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1911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7E5C1-8BE4-75C2-5973-DE2C88BC0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3385EE-D887-4872-22C9-0EE66769EF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20B6FF-D6E8-262B-0A7C-529E9A002F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E2F0FB-50CC-7B15-66BC-3D0CE148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64114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889045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9873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84084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3490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AA8D9-600A-F975-AF39-7C4A71BD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17B488-9014-47F4-B025-68110CD113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4C337A-0E33-780B-F888-436B2DCF5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3F98F-1801-D05E-7B68-8901BBFD81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21423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654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9400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94592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51641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758FD-2C12-1255-2213-930ACA980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91F035-FBFF-018B-062F-FF5CF7C2D2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38ECAE-F9D4-7DB5-E691-AFFDA64BF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2181B1-B00E-C719-0EF9-5FEAA0355B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49972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2026-03-17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khF6Abdrrg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2" y="685801"/>
            <a:ext cx="4334271" cy="2959223"/>
          </a:xfrm>
        </p:spPr>
        <p:txBody>
          <a:bodyPr rtlCol="0">
            <a:normAutofit/>
          </a:bodyPr>
          <a:lstStyle/>
          <a:p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/>
              <a:t>검정</a:t>
            </a:r>
            <a:r>
              <a:rPr lang="en-US" altLang="ko-KR" sz="2400" b="1" dirty="0"/>
              <a:t>(Hypothesis Testing) 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5" y="2738266"/>
            <a:ext cx="3721230" cy="335503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7952" y="2738265"/>
            <a:ext cx="3466980" cy="33132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50305" y="2095022"/>
            <a:ext cx="2045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천동설 </a:t>
            </a:r>
            <a:r>
              <a:rPr lang="en-US" altLang="ko-KR" b="1" dirty="0"/>
              <a:t>: </a:t>
            </a:r>
            <a:r>
              <a:rPr lang="ko-KR" altLang="en-US" b="1" dirty="0"/>
              <a:t>귀무가설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4056" y="2095021"/>
            <a:ext cx="2045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지동설 </a:t>
            </a:r>
            <a:r>
              <a:rPr lang="en-US" altLang="ko-KR" b="1" dirty="0"/>
              <a:t>: </a:t>
            </a:r>
            <a:r>
              <a:rPr lang="ko-KR" altLang="en-US" b="1" dirty="0" err="1"/>
              <a:t>대립가설</a:t>
            </a:r>
            <a:endParaRPr lang="ko-KR" altLang="en-US" b="1" dirty="0"/>
          </a:p>
        </p:txBody>
      </p:sp>
      <p:cxnSp>
        <p:nvCxnSpPr>
          <p:cNvPr id="9" name="직선 화살표 연결선 8"/>
          <p:cNvCxnSpPr>
            <a:cxnSpLocks/>
          </p:cNvCxnSpPr>
          <p:nvPr/>
        </p:nvCxnSpPr>
        <p:spPr>
          <a:xfrm>
            <a:off x="5302324" y="4509120"/>
            <a:ext cx="1114238" cy="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1D92C58-8C4D-6C08-A392-EF301B1BC5A4}"/>
              </a:ext>
            </a:extLst>
          </p:cNvPr>
          <p:cNvSpPr txBox="1"/>
          <p:nvPr/>
        </p:nvSpPr>
        <p:spPr>
          <a:xfrm>
            <a:off x="591294" y="423483"/>
            <a:ext cx="11191750" cy="873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천동설의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확률분포를 가정하고 표본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(Sample)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으로부터 얻은 정보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를 바탕으로 얼마나 천동설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귀무가설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다른 지를 검증하는 것이 목적</a:t>
            </a:r>
            <a:endParaRPr lang="en-US" altLang="ko-KR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86455-0349-1D80-A8E2-0A318591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26B6010-4F6A-4546-75BF-00EA87DC6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212207-AC1E-EB08-543E-0AF3681D85E7}"/>
              </a:ext>
            </a:extLst>
          </p:cNvPr>
          <p:cNvSpPr txBox="1"/>
          <p:nvPr/>
        </p:nvSpPr>
        <p:spPr>
          <a:xfrm>
            <a:off x="591294" y="423483"/>
            <a:ext cx="11191750" cy="873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천동설의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확률분포를 가정하고 표본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(Sample)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으로부터 얻은 정보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통계량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를 바탕으로 얼마나 천동설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귀무가설</a:t>
            </a:r>
            <a:r>
              <a:rPr lang="en-US" altLang="ko-KR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)</a:t>
            </a:r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다른 지를 검증하는 것이 목적</a:t>
            </a:r>
            <a:endParaRPr lang="en-US" altLang="ko-KR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61C719-90D1-FA3E-A678-6363C4D23B70}"/>
              </a:ext>
            </a:extLst>
          </p:cNvPr>
          <p:cNvSpPr txBox="1"/>
          <p:nvPr/>
        </p:nvSpPr>
        <p:spPr>
          <a:xfrm>
            <a:off x="798325" y="5446006"/>
            <a:ext cx="10597540" cy="786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0" i="1" dirty="0">
                <a:solidFill>
                  <a:srgbClr val="0070C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직관적 이해 </a:t>
            </a:r>
            <a:r>
              <a:rPr lang="en-US" altLang="ko-KR" sz="1600" b="0" i="1" dirty="0">
                <a:solidFill>
                  <a:srgbClr val="0070C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: </a:t>
            </a:r>
            <a:r>
              <a:rPr lang="ko-KR" altLang="en-US" sz="1600" b="1" i="1" dirty="0">
                <a:solidFill>
                  <a:srgbClr val="FF000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귀무가설이 </a:t>
            </a:r>
            <a:r>
              <a:rPr lang="en-US" altLang="ko-KR" sz="1600" b="1" i="1" dirty="0">
                <a:solidFill>
                  <a:srgbClr val="FF000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Adelie </a:t>
            </a:r>
            <a:r>
              <a:rPr lang="ko-KR" altLang="en-US" sz="1600" b="1" i="1" dirty="0">
                <a:solidFill>
                  <a:srgbClr val="FF000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라고 가정하고 </a:t>
            </a:r>
            <a:r>
              <a:rPr lang="ko-KR" altLang="en-US" sz="1600" b="0" i="1" dirty="0" err="1">
                <a:solidFill>
                  <a:srgbClr val="0070C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표본를</a:t>
            </a:r>
            <a:r>
              <a:rPr lang="ko-KR" altLang="en-US" sz="1600" b="0" i="1" dirty="0">
                <a:solidFill>
                  <a:srgbClr val="0070C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추출하였더니 </a:t>
            </a:r>
            <a:r>
              <a:rPr lang="en-US" altLang="ko-KR" sz="1600" b="0" i="1" dirty="0">
                <a:solidFill>
                  <a:srgbClr val="0070C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47, 48, 50, 55</a:t>
            </a:r>
            <a:r>
              <a:rPr lang="ko-KR" altLang="en-US" sz="1600" b="0" i="1" dirty="0">
                <a:solidFill>
                  <a:srgbClr val="0070C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가 나오면 이 데이터가 </a:t>
            </a:r>
            <a:r>
              <a:rPr lang="en-US" altLang="ko-KR" sz="1600" i="1" dirty="0">
                <a:solidFill>
                  <a:srgbClr val="0070C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Adelie</a:t>
            </a:r>
            <a:r>
              <a:rPr lang="ko-KR" altLang="en-US" sz="1600" i="1" dirty="0">
                <a:solidFill>
                  <a:srgbClr val="0070C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에서 나온 데이터라고 믿어야 되나</a:t>
            </a:r>
            <a:r>
              <a:rPr lang="en-US" altLang="ko-KR" sz="1600" i="1" dirty="0">
                <a:solidFill>
                  <a:srgbClr val="0070C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? P-value</a:t>
            </a:r>
            <a:r>
              <a:rPr lang="ko-KR" altLang="en-US" sz="1600" i="1" dirty="0">
                <a:solidFill>
                  <a:srgbClr val="0070C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로 설명하라</a:t>
            </a:r>
            <a:r>
              <a:rPr lang="ko-KR" altLang="en-US" sz="1600" b="0" i="1" dirty="0">
                <a:solidFill>
                  <a:srgbClr val="0070C0"/>
                </a:solidFill>
                <a:effectLst/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1600" b="0" i="1" dirty="0">
              <a:solidFill>
                <a:srgbClr val="0070C0"/>
              </a:solidFill>
              <a:effectLst/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25C247D6-DCC6-0F90-E8AE-249C2D69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3631" y="2034554"/>
            <a:ext cx="11041662" cy="3287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1A4700C-D226-398D-17E9-AEBB25F298C6}"/>
              </a:ext>
            </a:extLst>
          </p:cNvPr>
          <p:cNvSpPr txBox="1"/>
          <p:nvPr/>
        </p:nvSpPr>
        <p:spPr>
          <a:xfrm>
            <a:off x="773631" y="1548843"/>
            <a:ext cx="6096000" cy="4857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penguins = 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sns.load_dataset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("penguins")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sns.displot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(data=penguins, x="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bill_length_mm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", col="species", bins=20, hue="species", </a:t>
            </a:r>
            <a:r>
              <a:rPr lang="en-US" altLang="ko-KR" sz="1200" b="0" dirty="0" err="1">
                <a:effectLst/>
                <a:latin typeface="Arial Narrow" panose="020B0606020202030204" pitchFamily="34" charset="0"/>
              </a:rPr>
              <a:t>kde</a:t>
            </a:r>
            <a:r>
              <a:rPr lang="en-US" altLang="ko-KR" sz="1200" b="0" dirty="0">
                <a:effectLst/>
                <a:latin typeface="Arial Narrow" panose="020B0606020202030204" pitchFamily="34" charset="0"/>
              </a:rPr>
              <a:t>=True)</a:t>
            </a:r>
          </a:p>
        </p:txBody>
      </p:sp>
    </p:spTree>
    <p:extLst>
      <p:ext uri="{BB962C8B-B14F-4D97-AF65-F5344CB8AC3E}">
        <p14:creationId xmlns:p14="http://schemas.microsoft.com/office/powerpoint/2010/main" val="2532231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04664"/>
            <a:ext cx="8760663" cy="604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421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60648"/>
            <a:ext cx="8925044" cy="61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304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7A63E-4CF5-6FDF-8908-4CACFBE0E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10F0487-E9F5-4741-E920-0C82A69F9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E6632DC-89A1-F573-CFA6-11F64F1EA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60648"/>
            <a:ext cx="8925044" cy="617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6470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465038"/>
            <a:ext cx="8632810" cy="607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974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909836" y="1412776"/>
            <a:ext cx="10801200" cy="38318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Arial Narrow" panose="020B0606020202030204" pitchFamily="34" charset="0"/>
              </a:rPr>
              <a:t>1</a:t>
            </a:r>
            <a:r>
              <a:rPr lang="ko-KR" altLang="en-US" b="1" dirty="0">
                <a:latin typeface="Arial Narrow" panose="020B0606020202030204" pitchFamily="34" charset="0"/>
              </a:rPr>
              <a:t>단계</a:t>
            </a:r>
            <a:r>
              <a:rPr lang="en-US" altLang="ko-KR" b="1" dirty="0">
                <a:latin typeface="Arial Narrow" panose="020B0606020202030204" pitchFamily="34" charset="0"/>
              </a:rPr>
              <a:t>: </a:t>
            </a:r>
            <a:r>
              <a:rPr lang="ko-KR" altLang="en-US" b="1" dirty="0">
                <a:latin typeface="Arial Narrow" panose="020B0606020202030204" pitchFamily="34" charset="0"/>
              </a:rPr>
              <a:t>데이터 생성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Arial Narrow" panose="020B0606020202030204" pitchFamily="34" charset="0"/>
              </a:rPr>
              <a:t>신약 투여 전과 투여 후의 데이터를 각각 </a:t>
            </a:r>
            <a:r>
              <a:rPr lang="en-US" altLang="ko-KR" dirty="0">
                <a:latin typeface="Arial Narrow" panose="020B0606020202030204" pitchFamily="34" charset="0"/>
              </a:rPr>
              <a:t>100</a:t>
            </a:r>
            <a:r>
              <a:rPr lang="ko-KR" altLang="en-US" dirty="0">
                <a:latin typeface="Arial Narrow" panose="020B0606020202030204" pitchFamily="34" charset="0"/>
              </a:rPr>
              <a:t>명 분량으로 생성합니다</a:t>
            </a:r>
            <a:r>
              <a:rPr lang="en-US" altLang="ko-KR" dirty="0">
                <a:latin typeface="Arial Narrow" panose="020B0606020202030204" pitchFamily="34" charset="0"/>
              </a:rPr>
              <a:t>. </a:t>
            </a:r>
            <a:r>
              <a:rPr lang="ko-KR" altLang="en-US" dirty="0">
                <a:latin typeface="Arial Narrow" panose="020B0606020202030204" pitchFamily="34" charset="0"/>
              </a:rPr>
              <a:t>이 예에서는 투여 전 데이터를 정규 분포 </a:t>
            </a:r>
            <a:r>
              <a:rPr lang="en-US" altLang="ko-KR" dirty="0">
                <a:latin typeface="Arial Narrow" panose="020B0606020202030204" pitchFamily="34" charset="0"/>
              </a:rPr>
              <a:t>N(0, 1)</a:t>
            </a:r>
            <a:r>
              <a:rPr lang="ko-KR" altLang="en-US" dirty="0">
                <a:latin typeface="Arial Narrow" panose="020B0606020202030204" pitchFamily="34" charset="0"/>
              </a:rPr>
              <a:t>을 따르게 하고</a:t>
            </a:r>
            <a:r>
              <a:rPr lang="en-US" altLang="ko-KR" dirty="0">
                <a:latin typeface="Arial Narrow" panose="020B0606020202030204" pitchFamily="34" charset="0"/>
              </a:rPr>
              <a:t>, </a:t>
            </a:r>
            <a:r>
              <a:rPr lang="ko-KR" altLang="en-US" dirty="0">
                <a:latin typeface="Arial Narrow" panose="020B0606020202030204" pitchFamily="34" charset="0"/>
              </a:rPr>
              <a:t>투여 후 데이터는 투여의 효과를 모사하기 위해 평균이 약간 증가한 정규 분포 </a:t>
            </a:r>
            <a:r>
              <a:rPr lang="en-US" altLang="ko-KR" dirty="0">
                <a:latin typeface="Arial Narrow" panose="020B0606020202030204" pitchFamily="34" charset="0"/>
              </a:rPr>
              <a:t>N(0.3, 2)</a:t>
            </a:r>
            <a:r>
              <a:rPr lang="ko-KR" altLang="en-US" dirty="0">
                <a:latin typeface="Arial Narrow" panose="020B0606020202030204" pitchFamily="34" charset="0"/>
              </a:rPr>
              <a:t>를 사용합니다</a:t>
            </a:r>
            <a:r>
              <a:rPr lang="en-US" altLang="ko-KR" dirty="0">
                <a:latin typeface="Arial Narrow" panose="020B0606020202030204" pitchFamily="34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Arial Narrow" panose="020B0606020202030204" pitchFamily="34" charset="0"/>
              </a:rPr>
              <a:t>2</a:t>
            </a:r>
            <a:r>
              <a:rPr lang="ko-KR" altLang="en-US" b="1" dirty="0">
                <a:latin typeface="Arial Narrow" panose="020B0606020202030204" pitchFamily="34" charset="0"/>
              </a:rPr>
              <a:t>단계</a:t>
            </a:r>
            <a:r>
              <a:rPr lang="en-US" altLang="ko-KR" b="1" dirty="0">
                <a:latin typeface="Arial Narrow" panose="020B0606020202030204" pitchFamily="34" charset="0"/>
              </a:rPr>
              <a:t>: t-test </a:t>
            </a:r>
            <a:r>
              <a:rPr lang="ko-KR" altLang="en-US" b="1" dirty="0">
                <a:latin typeface="Arial Narrow" panose="020B0606020202030204" pitchFamily="34" charset="0"/>
              </a:rPr>
              <a:t>수행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Arial Narrow" panose="020B0606020202030204" pitchFamily="34" charset="0"/>
              </a:rPr>
              <a:t>생성된 데이터에 대해 독립 표본 </a:t>
            </a:r>
            <a:r>
              <a:rPr lang="en-US" altLang="ko-KR" dirty="0">
                <a:latin typeface="Arial Narrow" panose="020B0606020202030204" pitchFamily="34" charset="0"/>
              </a:rPr>
              <a:t>t-test</a:t>
            </a:r>
            <a:r>
              <a:rPr lang="ko-KR" altLang="en-US" dirty="0">
                <a:latin typeface="Arial Narrow" panose="020B0606020202030204" pitchFamily="34" charset="0"/>
              </a:rPr>
              <a:t>를 수행하여 투여 전과 투여 후의 평균 차이가 통계적으로 </a:t>
            </a:r>
            <a:r>
              <a:rPr lang="ko-KR" altLang="en-US" dirty="0" err="1">
                <a:latin typeface="Arial Narrow" panose="020B0606020202030204" pitchFamily="34" charset="0"/>
              </a:rPr>
              <a:t>유의미한지</a:t>
            </a:r>
            <a:r>
              <a:rPr lang="ko-KR" altLang="en-US" dirty="0">
                <a:latin typeface="Arial Narrow" panose="020B0606020202030204" pitchFamily="34" charset="0"/>
              </a:rPr>
              <a:t> 검정합니다</a:t>
            </a:r>
            <a:r>
              <a:rPr lang="en-US" altLang="ko-KR" dirty="0">
                <a:latin typeface="Arial Narrow" panose="020B0606020202030204" pitchFamily="34" charset="0"/>
              </a:rPr>
              <a:t>.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22986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(1/3)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588309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2314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(2/3)</a:t>
            </a:r>
            <a:endParaRPr lang="ko-KR" altLang="en-US" sz="2800" b="1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1945" y="1168519"/>
            <a:ext cx="6796724" cy="81924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1945" y="2263038"/>
            <a:ext cx="9652701" cy="395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157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370028"/>
            <a:ext cx="72314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/>
              <a:t>새로운 신약의 효과 검정을 위한 통계분석</a:t>
            </a:r>
            <a:r>
              <a:rPr lang="en-US" altLang="ko-KR" sz="2800" b="1" dirty="0"/>
              <a:t>(3/3)</a:t>
            </a:r>
            <a:endParaRPr lang="ko-KR" altLang="en-US" sz="2800" b="1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628800"/>
            <a:ext cx="5313788" cy="4320480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6308231" y="3356992"/>
            <a:ext cx="5757427" cy="235449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차이가 없다는 가정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(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귀무가설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이 옳다면 실험자료상으로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귀무가설을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 기각할 확률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(p-value = 8.21%)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인데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  <a:cs typeface="함초롬돋움" panose="020B0604000101010101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8.21%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는 극단적인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case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인가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?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너무 크지 않은가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일반적으로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5%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나 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2%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미만은 되어야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‘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귀무가설이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 틀리지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않고서여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 어찌 이런 데이터가 나온단 말인가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?’ 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라고 믿고 </a:t>
            </a:r>
            <a:r>
              <a:rPr lang="ko-KR" altLang="en-US" sz="1400" dirty="0" err="1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귀무가설을</a:t>
            </a:r>
            <a:r>
              <a:rPr lang="ko-KR" altLang="en-US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 기각하고 신약의 효과가 있다라고 결정할 수 있을 텐데</a:t>
            </a:r>
            <a:r>
              <a:rPr lang="en-US" altLang="ko-KR" sz="1400" dirty="0">
                <a:latin typeface="휴먼모음T" panose="02030504000101010101" pitchFamily="18" charset="-127"/>
                <a:ea typeface="휴먼모음T" panose="02030504000101010101" pitchFamily="18" charset="-127"/>
                <a:cs typeface="함초롬돋움" panose="020B0604000101010101" pitchFamily="50" charset="-127"/>
              </a:rPr>
              <a:t>……..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  <a:cs typeface="함초롬돋움" panose="020B0604000101010101" pitchFamily="50" charset="-127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231" y="1628800"/>
            <a:ext cx="5757427" cy="1251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855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C8D64-2465-85C7-D991-C725B4D0D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66F2910-2209-1475-49C6-6EC7DDC3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C73BBB-662E-79D0-E653-928BFAC00570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82D776-FD3C-1EF1-CE8F-5B2BF3CA27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0568" y="836712"/>
            <a:ext cx="11610468" cy="212949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　레스토랑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데이터에서 목요일(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Thursday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)과 금요일(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Friday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)의 평균 팁(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tip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 금액이 통계적으로 유의미하게 </a:t>
            </a:r>
            <a:r>
              <a:rPr lang="ko-KR" altLang="ko-KR" sz="16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다른가?를</a:t>
            </a:r>
            <a:r>
              <a:rPr lang="ko-KR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확인하려고 합니다.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귀무가설(H0): 목요일과 금요일의 평균 팁 금액은 차이가 없다.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대립가설(H1): 목요일과 금요일의 평균 팁 금액은 차이가 있다.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유의수준(</a:t>
            </a:r>
            <a:r>
              <a:rPr lang="ko-KR" altLang="ko-KR" sz="14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alpha</a:t>
            </a:r>
            <a:r>
              <a:rPr lang="ko-KR" altLang="ko-KR" sz="1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): 0.05 (5%)</a:t>
            </a:r>
            <a:endParaRPr lang="en-US" altLang="ko-KR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어느　요일끼리　차이가　있는지？</a:t>
            </a:r>
            <a:endParaRPr lang="ko-KR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7B0E0AB1-523F-04CD-EFF6-4A656EBCC0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3307187"/>
            <a:ext cx="5584105" cy="3585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CDAE03-EB36-5EC9-3118-6FA9E0344A77}"/>
              </a:ext>
            </a:extLst>
          </p:cNvPr>
          <p:cNvSpPr txBox="1"/>
          <p:nvPr/>
        </p:nvSpPr>
        <p:spPr>
          <a:xfrm>
            <a:off x="6359061" y="4399668"/>
            <a:ext cx="47525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p-value: 0.0240 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결과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: p-value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가 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0.05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보다 작으므로 귀무가설을 기각합니다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. (</a:t>
            </a:r>
            <a:r>
              <a:rPr lang="ko-KR" altLang="en-US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통계적으로 유의미한 차이 있음</a:t>
            </a:r>
            <a:r>
              <a:rPr lang="en-US" altLang="ko-KR" sz="1400" b="0" i="0" dirty="0">
                <a:effectLst/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endParaRPr lang="ko-KR" altLang="en-US" sz="14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DB661435-009F-7875-6DC9-30E05C372326}"/>
              </a:ext>
            </a:extLst>
          </p:cNvPr>
          <p:cNvCxnSpPr/>
          <p:nvPr/>
        </p:nvCxnSpPr>
        <p:spPr>
          <a:xfrm>
            <a:off x="4366220" y="3429000"/>
            <a:ext cx="1944216" cy="1232278"/>
          </a:xfrm>
          <a:prstGeom prst="bentConnector3">
            <a:avLst>
              <a:gd name="adj1" fmla="val 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3394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0569" y="1026141"/>
            <a:ext cx="6961393" cy="4805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074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622490"/>
            <a:ext cx="7992888" cy="5613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876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332656"/>
            <a:ext cx="8756864" cy="608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660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7" y="332656"/>
            <a:ext cx="8588028" cy="6023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092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BF4-C854-8B0C-402B-64EA26703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F9FE9E7-8E5C-1FC2-1EE6-F20BF189E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FF4407-06FD-C08E-3FB8-E256F08DB85E}"/>
              </a:ext>
            </a:extLst>
          </p:cNvPr>
          <p:cNvSpPr txBox="1"/>
          <p:nvPr/>
        </p:nvSpPr>
        <p:spPr>
          <a:xfrm>
            <a:off x="246509" y="198588"/>
            <a:ext cx="11191750" cy="660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Summary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EBF83CB-FCBF-055A-5E05-21C631832BD5}"/>
              </a:ext>
            </a:extLst>
          </p:cNvPr>
          <p:cNvSpPr/>
          <p:nvPr/>
        </p:nvSpPr>
        <p:spPr>
          <a:xfrm>
            <a:off x="4870276" y="83671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통계학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79824AE-C6FC-79CD-A30A-40E889349193}"/>
              </a:ext>
            </a:extLst>
          </p:cNvPr>
          <p:cNvSpPr/>
          <p:nvPr/>
        </p:nvSpPr>
        <p:spPr>
          <a:xfrm>
            <a:off x="1413892" y="2420888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기술통계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C41D334-29FF-4873-077B-1CA764FC20AA}"/>
              </a:ext>
            </a:extLst>
          </p:cNvPr>
          <p:cNvSpPr/>
          <p:nvPr/>
        </p:nvSpPr>
        <p:spPr>
          <a:xfrm>
            <a:off x="8398668" y="2420888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추론통계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9628176-F633-25A0-F7CB-B44223ECE667}"/>
              </a:ext>
            </a:extLst>
          </p:cNvPr>
          <p:cNvSpPr/>
          <p:nvPr/>
        </p:nvSpPr>
        <p:spPr>
          <a:xfrm>
            <a:off x="9856113" y="4049950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가설검정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B4138A7-8A11-225A-36D5-14E270727BAE}"/>
              </a:ext>
            </a:extLst>
          </p:cNvPr>
          <p:cNvSpPr/>
          <p:nvPr/>
        </p:nvSpPr>
        <p:spPr>
          <a:xfrm>
            <a:off x="6526460" y="4049950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추정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DC9EE40-F079-ED83-22D5-957CBE13B387}"/>
              </a:ext>
            </a:extLst>
          </p:cNvPr>
          <p:cNvSpPr/>
          <p:nvPr/>
        </p:nvSpPr>
        <p:spPr>
          <a:xfrm>
            <a:off x="5215061" y="551723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점 추정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97FCA7F-CA07-F0BA-17EE-A0120E977AEE}"/>
              </a:ext>
            </a:extLst>
          </p:cNvPr>
          <p:cNvSpPr/>
          <p:nvPr/>
        </p:nvSpPr>
        <p:spPr>
          <a:xfrm>
            <a:off x="7678588" y="5517232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구간 추정</a:t>
            </a:r>
            <a:endParaRPr lang="ko-KR" altLang="en-US" sz="24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79974693-FA6C-1B23-6CAE-B0D257ECD77F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3574132" y="152636"/>
            <a:ext cx="1080120" cy="3456384"/>
          </a:xfrm>
          <a:prstGeom prst="bentConnector3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8C593572-D7B4-2E80-44D4-089E8626D8F4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16200000" flipH="1">
            <a:off x="7066520" y="116632"/>
            <a:ext cx="1080120" cy="3528392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4895DAF6-3C2C-DE41-F201-F449A30C8BC2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 rot="5400000">
            <a:off x="7872169" y="2551343"/>
            <a:ext cx="1125006" cy="1872208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연결선: 꺾임 20">
            <a:extLst>
              <a:ext uri="{FF2B5EF4-FFF2-40B4-BE49-F238E27FC236}">
                <a16:creationId xmlns:a16="http://schemas.microsoft.com/office/drawing/2014/main" id="{80DFB1D7-9D5F-44C8-960C-163848C3219C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rot="16200000" flipH="1">
            <a:off x="9536995" y="2758724"/>
            <a:ext cx="1125006" cy="1457445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770B1B04-1989-43E7-958B-11AB127AA072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5400000">
            <a:off x="6361256" y="4379920"/>
            <a:ext cx="963226" cy="1311399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36C17717-5923-BF72-668E-9BBB810AE42C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rot="16200000" flipH="1">
            <a:off x="7593019" y="4459555"/>
            <a:ext cx="963226" cy="1152128"/>
          </a:xfrm>
          <a:prstGeom prst="bentConnector3">
            <a:avLst>
              <a:gd name="adj1" fmla="val 50000"/>
            </a:avLst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F455240-824F-1FFC-FDF1-FF857BFE6523}"/>
              </a:ext>
            </a:extLst>
          </p:cNvPr>
          <p:cNvSpPr txBox="1"/>
          <p:nvPr/>
        </p:nvSpPr>
        <p:spPr>
          <a:xfrm>
            <a:off x="1256042" y="3362479"/>
            <a:ext cx="207620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모집단과</a:t>
            </a:r>
            <a:r>
              <a:rPr lang="en-US" altLang="ko-KR" sz="1400" dirty="0"/>
              <a:t> </a:t>
            </a:r>
            <a:r>
              <a:rPr lang="ko-KR" altLang="en-US" sz="1400" dirty="0"/>
              <a:t>표본</a:t>
            </a:r>
            <a:r>
              <a:rPr lang="en-US" altLang="ko-KR" sz="1400" dirty="0"/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평균</a:t>
            </a:r>
            <a:r>
              <a:rPr lang="en-US" altLang="ko-KR" sz="1400" dirty="0"/>
              <a:t>, </a:t>
            </a:r>
            <a:r>
              <a:rPr lang="ko-KR" altLang="en-US" sz="1400" dirty="0"/>
              <a:t>분산</a:t>
            </a:r>
            <a:r>
              <a:rPr lang="en-US" altLang="ko-KR" sz="1400" dirty="0"/>
              <a:t>, </a:t>
            </a:r>
            <a:r>
              <a:rPr lang="ko-KR" altLang="en-US" sz="1400" dirty="0"/>
              <a:t>표준편차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기술 통계량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히스토그램</a:t>
            </a:r>
            <a:r>
              <a:rPr lang="en-US" altLang="ko-KR" sz="1400" dirty="0"/>
              <a:t>. </a:t>
            </a:r>
            <a:r>
              <a:rPr lang="ko-KR" altLang="en-US" sz="1400" dirty="0"/>
              <a:t>산포도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상관관계</a:t>
            </a:r>
            <a:r>
              <a:rPr lang="en-US" altLang="ko-KR" sz="1400" dirty="0"/>
              <a:t>, </a:t>
            </a:r>
            <a:r>
              <a:rPr lang="ko-KR" altLang="en-US" sz="1400" dirty="0"/>
              <a:t>공분산</a:t>
            </a:r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A5CDD18-9280-6EB1-D8BD-A56DE168DF14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58108" y="2672916"/>
            <a:ext cx="50405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D5A98A7-C86E-3D41-319D-BA1E4ECEC36E}"/>
              </a:ext>
            </a:extLst>
          </p:cNvPr>
          <p:cNvSpPr/>
          <p:nvPr/>
        </p:nvSpPr>
        <p:spPr>
          <a:xfrm>
            <a:off x="4894706" y="2420887"/>
            <a:ext cx="1944216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확률론</a:t>
            </a:r>
            <a:endParaRPr lang="ko-KR" altLang="en-US" sz="32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899A9F2-C66D-BE34-1C34-A3E25F200FBA}"/>
              </a:ext>
            </a:extLst>
          </p:cNvPr>
          <p:cNvSpPr txBox="1"/>
          <p:nvPr/>
        </p:nvSpPr>
        <p:spPr>
          <a:xfrm>
            <a:off x="4849771" y="3376616"/>
            <a:ext cx="11913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확률변수</a:t>
            </a:r>
            <a:endParaRPr lang="en-US" altLang="ko-KR" sz="140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/>
              <a:t>확률분포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75F960-897D-8ADD-0748-D5EE85DA9ED1}"/>
              </a:ext>
            </a:extLst>
          </p:cNvPr>
          <p:cNvSpPr txBox="1"/>
          <p:nvPr/>
        </p:nvSpPr>
        <p:spPr>
          <a:xfrm>
            <a:off x="1989956" y="499853"/>
            <a:ext cx="13163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통계 요약 클릭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35798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terms/"/>
    <ds:schemaRef ds:uri="40262f94-9f35-4ac3-9a90-690165a166b7"/>
    <ds:schemaRef ds:uri="a4f35948-e619-41b3-aa29-22878b09cfd2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577</TotalTime>
  <Words>458</Words>
  <Application>Microsoft Office PowerPoint</Application>
  <PresentationFormat>사용자 지정</PresentationFormat>
  <Paragraphs>79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4" baseType="lpstr">
      <vt:lpstr>맑은 고딕</vt:lpstr>
      <vt:lpstr>한컴 말랑말랑 Bold</vt:lpstr>
      <vt:lpstr>휴먼모음T</vt:lpstr>
      <vt:lpstr>Arial</vt:lpstr>
      <vt:lpstr>Arial Narrow</vt:lpstr>
      <vt:lpstr>Corbel</vt:lpstr>
      <vt:lpstr>Wingdings</vt:lpstr>
      <vt:lpstr>마케팅 16x9</vt:lpstr>
      <vt:lpstr>통계학  - 검정(Hypothesis Testing)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51</cp:revision>
  <dcterms:created xsi:type="dcterms:W3CDTF">2024-06-03T06:10:16Z</dcterms:created>
  <dcterms:modified xsi:type="dcterms:W3CDTF">2026-03-17T12:07:27Z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