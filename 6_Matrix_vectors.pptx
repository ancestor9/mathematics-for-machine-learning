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1"/>
  </p:notesMasterIdLst>
  <p:sldIdLst>
    <p:sldId id="256" r:id="rId2"/>
    <p:sldId id="266" r:id="rId3"/>
    <p:sldId id="282" r:id="rId4"/>
    <p:sldId id="288" r:id="rId5"/>
    <p:sldId id="291" r:id="rId6"/>
    <p:sldId id="289" r:id="rId7"/>
    <p:sldId id="290" r:id="rId8"/>
    <p:sldId id="286" r:id="rId9"/>
    <p:sldId id="285" r:id="rId10"/>
    <p:sldId id="287" r:id="rId11"/>
    <p:sldId id="280" r:id="rId12"/>
    <p:sldId id="265" r:id="rId13"/>
    <p:sldId id="271" r:id="rId14"/>
    <p:sldId id="275" r:id="rId15"/>
    <p:sldId id="276" r:id="rId16"/>
    <p:sldId id="272" r:id="rId17"/>
    <p:sldId id="279" r:id="rId18"/>
    <p:sldId id="270" r:id="rId19"/>
    <p:sldId id="259" r:id="rId20"/>
    <p:sldId id="258" r:id="rId21"/>
    <p:sldId id="268" r:id="rId22"/>
    <p:sldId id="269" r:id="rId23"/>
    <p:sldId id="260" r:id="rId24"/>
    <p:sldId id="263" r:id="rId25"/>
    <p:sldId id="284" r:id="rId26"/>
    <p:sldId id="264" r:id="rId27"/>
    <p:sldId id="261" r:id="rId28"/>
    <p:sldId id="262" r:id="rId29"/>
    <p:sldId id="267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chrome-extension://hmigninkgibhdckiaphhmbgcghochdjc/pdfjs/web/viewer.html?file=file%3A%2F%2F%2FC%3A%2FUsers%2F%25EC%25A1%25B0%25EA%25B7%25BC%25ED%2595%2598%2FDownloads%2FPython%2520for%2520Data%2520Analysis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wesm/pydata-book/blob/3rd-edition/ch04.ipynb" TargetMode="Externa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27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76B5AD-2D50-1372-7360-DA30BAB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EB4B838B-4138-0FC7-9610-BD20DC7A82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/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𝑏𝑦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𝑏𝑓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비틀림 없이 ‘비례적으로’ 변하는 구조</a:t>
                </a:r>
                <a:endParaRPr lang="ko-KR" altLang="en-US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blipFill>
                <a:blip r:embed="rId2"/>
                <a:stretch>
                  <a:fillRect l="-510" b="-1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/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+mj-ea"/>
                    <a:ea typeface="+mj-ea"/>
                  </a:rPr>
                  <a:t>선형대수는 숫자를 계산하는 학문이 아니라 데이터를 공간으로 보고</a:t>
                </a:r>
                <a:r>
                  <a:rPr lang="en-US" altLang="ko-KR" sz="1600" dirty="0">
                    <a:latin typeface="+mj-ea"/>
                    <a:ea typeface="+mj-ea"/>
                  </a:rPr>
                  <a:t>, </a:t>
                </a:r>
                <a:r>
                  <a:rPr lang="ko-KR" altLang="en-US" sz="1600" dirty="0">
                    <a:latin typeface="+mj-ea"/>
                    <a:ea typeface="+mj-ea"/>
                  </a:rPr>
                  <a:t>모델을 ‘</a:t>
                </a:r>
                <a:r>
                  <a:rPr lang="ko-KR" altLang="en-US" sz="1600" dirty="0" err="1">
                    <a:latin typeface="+mj-ea"/>
                    <a:ea typeface="+mj-ea"/>
                  </a:rPr>
                  <a:t>변환’으로</a:t>
                </a:r>
                <a:r>
                  <a:rPr lang="ko-KR" altLang="en-US" sz="1600" dirty="0">
                    <a:latin typeface="+mj-ea"/>
                    <a:ea typeface="+mj-ea"/>
                  </a:rPr>
                  <a:t> 이해하는 언어</a:t>
                </a:r>
                <a:endParaRPr lang="en-US" altLang="ko-KR" sz="1600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600" dirty="0">
                  <a:latin typeface="+mj-ea"/>
                  <a:ea typeface="+mj-ea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선형변환</a:t>
                </a:r>
                <a14:m>
                  <m:oMath xmlns:m="http://schemas.openxmlformats.org/officeDocument/2006/math">
                    <m:r>
                      <a:rPr lang="ko-KR" altLang="en-US" sz="1400" dirty="0">
                        <a:latin typeface="+mj-ea"/>
                        <a:ea typeface="+mj-ea"/>
                      </a:rPr>
                      <m:t>식</m:t>
                    </m:r>
                    <m:r>
                      <a:rPr lang="en-US" altLang="ko-KR" sz="1400" dirty="0">
                        <a:latin typeface="+mj-ea"/>
                        <a:ea typeface="+mj-ea"/>
                      </a:rPr>
                      <m:t> 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𝐴𝑥</m:t>
                    </m:r>
                  </m:oMath>
                </a14:m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기하학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공간을 어떻게 움직이고 변환</a:t>
                </a:r>
                <a:r>
                  <a:rPr lang="en-US" altLang="ko-KR" sz="1400" dirty="0">
                    <a:latin typeface="+mj-ea"/>
                    <a:ea typeface="+mj-ea"/>
                  </a:rPr>
                  <a:t>(</a:t>
                </a:r>
                <a:r>
                  <a:rPr lang="ko-KR" altLang="ko-KR" sz="1400" dirty="0">
                    <a:latin typeface="+mj-ea"/>
                    <a:ea typeface="+mj-ea"/>
                  </a:rPr>
                  <a:t>회전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확대/축소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기울이기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투영</a:t>
                </a:r>
                <a:r>
                  <a:rPr lang="en-US" altLang="ko-KR" sz="1400" dirty="0">
                    <a:latin typeface="+mj-ea"/>
                    <a:ea typeface="+mj-ea"/>
                  </a:rPr>
                  <a:t>)</a:t>
                </a:r>
                <a:r>
                  <a:rPr lang="ko-KR" altLang="en-US" sz="1400" dirty="0">
                    <a:latin typeface="+mj-ea"/>
                    <a:ea typeface="+mj-ea"/>
                  </a:rPr>
                  <a:t>하는 지 </a:t>
                </a:r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 err="1">
                    <a:latin typeface="+mj-ea"/>
                    <a:ea typeface="+mj-ea"/>
                  </a:rPr>
                  <a:t>머신러닝</a:t>
                </a:r>
                <a:r>
                  <a:rPr lang="ko-KR" altLang="en-US" sz="1400" dirty="0">
                    <a:latin typeface="+mj-ea"/>
                    <a:ea typeface="+mj-ea"/>
                  </a:rPr>
                  <a:t>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관측치는 벡터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en-US" sz="1400" dirty="0">
                    <a:latin typeface="+mj-ea"/>
                    <a:ea typeface="+mj-ea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1400">
                        <a:latin typeface="+mj-ea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𝐴𝑥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+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𝑏</m:t>
                    </m:r>
                  </m:oMath>
                </a14:m>
                <a:endParaRPr lang="ko-KR" altLang="ko-KR" sz="1600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blipFill>
                <a:blip r:embed="rId3"/>
                <a:stretch>
                  <a:fillRect l="-642" r="-321" b="-14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4E33216C-5C89-76EF-1B50-005A46C1073E}"/>
              </a:ext>
            </a:extLst>
          </p:cNvPr>
          <p:cNvSpPr/>
          <p:nvPr/>
        </p:nvSpPr>
        <p:spPr>
          <a:xfrm>
            <a:off x="913774" y="2331773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E4F69319-E81B-BBED-D44F-A4A615948AB7}"/>
              </a:ext>
            </a:extLst>
          </p:cNvPr>
          <p:cNvSpPr/>
          <p:nvPr/>
        </p:nvSpPr>
        <p:spPr>
          <a:xfrm rot="10800000">
            <a:off x="4457701" y="5055724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55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아래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동영상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38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7CA6-AE1E-2771-03AF-1CD13690C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D3F2E-64F5-9124-6A18-1E71DE791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4AF6-B807-1718-66C4-3A177E20DC84}"/>
              </a:ext>
            </a:extLst>
          </p:cNvPr>
          <p:cNvSpPr txBox="1"/>
          <p:nvPr/>
        </p:nvSpPr>
        <p:spPr>
          <a:xfrm>
            <a:off x="2694949" y="3718779"/>
            <a:ext cx="2610476" cy="166834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DF7369FB-EEF5-7CB2-B89D-C0CD67DC690E}"/>
              </a:ext>
            </a:extLst>
          </p:cNvPr>
          <p:cNvSpPr/>
          <p:nvPr/>
        </p:nvSpPr>
        <p:spPr>
          <a:xfrm>
            <a:off x="2847349" y="3325807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8C458B28-D009-3B02-9B51-30B8DBF0B336}"/>
              </a:ext>
            </a:extLst>
          </p:cNvPr>
          <p:cNvSpPr/>
          <p:nvPr/>
        </p:nvSpPr>
        <p:spPr>
          <a:xfrm rot="10800000">
            <a:off x="4210050" y="4994149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내용 개체 틀 11">
            <a:extLst>
              <a:ext uri="{FF2B5EF4-FFF2-40B4-BE49-F238E27FC236}">
                <a16:creationId xmlns:a16="http://schemas.microsoft.com/office/drawing/2014/main" id="{3FAA4F57-F32D-47AF-9527-DF8ECBF4E3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선형대수학은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“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복잡한 문제를 직선적인 단순한 구조로 </a:t>
            </a:r>
            <a:r>
              <a:rPr lang="ko-KR" altLang="en-US" dirty="0"/>
              <a:t>근사</a:t>
            </a:r>
            <a:r>
              <a:rPr lang="en-US" altLang="ko-KR" dirty="0"/>
              <a:t>(</a:t>
            </a:r>
            <a:r>
              <a:rPr lang="en-US" altLang="ko-KR" dirty="0" err="1"/>
              <a:t>ApproxiMate</a:t>
            </a:r>
            <a:r>
              <a:rPr lang="en-US" altLang="ko-KR" dirty="0"/>
              <a:t>)</a:t>
            </a:r>
            <a:r>
              <a:rPr lang="ko-KR" altLang="en-US" dirty="0"/>
              <a:t>하는 기술</a:t>
            </a:r>
            <a:endParaRPr lang="en-US" altLang="ko-KR" dirty="0"/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대부분의 복잡한 시스템은 </a:t>
            </a:r>
            <a:r>
              <a:rPr lang="ko-KR" altLang="en-US" dirty="0"/>
              <a:t>선형 근사</a:t>
            </a:r>
            <a:r>
              <a:rPr lang="en-US" altLang="ko-KR" dirty="0"/>
              <a:t>(linear approximation)</a:t>
            </a:r>
            <a:r>
              <a:rPr lang="ko-KR" altLang="en-US" dirty="0"/>
              <a:t>로 </a:t>
            </a:r>
            <a:r>
              <a:rPr lang="ko-KR" altLang="en-US" dirty="0" err="1"/>
              <a:t>다루어짐</a:t>
            </a:r>
            <a:endParaRPr lang="ko-KR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/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blipFill>
                <a:blip r:embed="rId2"/>
                <a:stretch>
                  <a:fillRect l="-4403" t="-28261" r="-94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/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blipFill>
                <a:blip r:embed="rId3"/>
                <a:stretch>
                  <a:fillRect l="-4473" t="-28889" r="-95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/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blipFill>
                <a:blip r:embed="rId4"/>
                <a:stretch>
                  <a:fillRect l="-3704" t="-24000" r="-3704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/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𝑒𝑡𝑢𝑟𝑛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blipFill>
                <a:blip r:embed="rId5"/>
                <a:stretch>
                  <a:fillRect l="-2367" t="-24000" r="-35503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9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83564" y="2240238"/>
            <a:ext cx="9561167" cy="4133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21569" r="-3226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2000" dirty="0"/>
                  <a:t>회귀생성</a:t>
                </a:r>
                <a:r>
                  <a:rPr lang="en-US" altLang="ko-KR" sz="2000" dirty="0"/>
                  <a:t>(Regression)</a:t>
                </a:r>
                <a:r>
                  <a:rPr lang="ko-KR" altLang="en-US" sz="2000" dirty="0"/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sz="2000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sz="2000" dirty="0"/>
                  <a:t>를 행렬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/>
                  <a:t>가 만드는 선형공간에 가장 가깝게 투영하는 문제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blipFill>
                <a:blip r:embed="rId4"/>
                <a:stretch>
                  <a:fillRect l="-671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82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C982-6E96-ECB2-EBA6-408905AF7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E4E8A41-89FF-B75D-5C98-DE5FBB071249}"/>
              </a:ext>
            </a:extLst>
          </p:cNvPr>
          <p:cNvSpPr/>
          <p:nvPr/>
        </p:nvSpPr>
        <p:spPr>
          <a:xfrm>
            <a:off x="636521" y="23229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57A4E-F290-CE82-27E0-2DF9725D0E18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729165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dirty="0"/>
              <a:t> </a:t>
            </a:r>
            <a:r>
              <a:rPr lang="ko-KR" altLang="en-US" dirty="0"/>
              <a:t>배우기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6541DB5-89AD-BBD3-1005-18F5C456981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116473" y="2214694"/>
            <a:ext cx="3255502" cy="424702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38B465D-C127-08FA-DE59-4EE4DE73E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791" y="2214693"/>
            <a:ext cx="4578929" cy="4247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708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</a:t>
            </a:r>
            <a:r>
              <a:rPr lang="ko-KR" altLang="en-US" dirty="0"/>
              <a:t>장 배열과 </a:t>
            </a:r>
            <a:r>
              <a:rPr lang="ko-KR" altLang="en-US" dirty="0" err="1"/>
              <a:t>벡터화연산</a:t>
            </a:r>
            <a:r>
              <a:rPr lang="ko-KR" altLang="en-US" dirty="0"/>
              <a:t> 학습하기 </a:t>
            </a:r>
            <a:r>
              <a:rPr lang="en-US" altLang="ko-KR" dirty="0"/>
              <a:t>(</a:t>
            </a:r>
            <a:r>
              <a:rPr lang="en-US" altLang="ko-KR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ch04.ipynb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01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D44D-B91A-AE7B-6C6C-B88B039E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F5EBD33-F29B-B13D-CCA7-71EE10FC8B74}"/>
              </a:ext>
            </a:extLst>
          </p:cNvPr>
          <p:cNvSpPr/>
          <p:nvPr/>
        </p:nvSpPr>
        <p:spPr>
          <a:xfrm>
            <a:off x="636521" y="29706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E474B-A2D8-6FFD-093B-1498B72842D6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62723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F88C-1F8F-A2AC-3D6B-A3312E3D8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AA548-B705-F527-DF59-321E6D96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3E08E-3665-01E9-0677-23E74683F5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0215A1-FF31-720E-824D-1350EDE2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4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F7EF1AA-F153-6183-97D0-69F9B4F583E3}"/>
              </a:ext>
            </a:extLst>
          </p:cNvPr>
          <p:cNvCxnSpPr>
            <a:cxnSpLocks/>
          </p:cNvCxnSpPr>
          <p:nvPr/>
        </p:nvCxnSpPr>
        <p:spPr>
          <a:xfrm>
            <a:off x="241904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202B12-A258-8108-186D-F5C99EE6F804}"/>
              </a:ext>
            </a:extLst>
          </p:cNvPr>
          <p:cNvSpPr txBox="1"/>
          <p:nvPr/>
        </p:nvSpPr>
        <p:spPr>
          <a:xfrm>
            <a:off x="228631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CFDE16B-292D-CEE7-D26B-874B0FDAC374}"/>
              </a:ext>
            </a:extLst>
          </p:cNvPr>
          <p:cNvCxnSpPr>
            <a:cxnSpLocks/>
          </p:cNvCxnSpPr>
          <p:nvPr/>
        </p:nvCxnSpPr>
        <p:spPr>
          <a:xfrm>
            <a:off x="47720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0889A9A-9BF1-DC08-AE34-A7451EE113CD}"/>
              </a:ext>
            </a:extLst>
          </p:cNvPr>
          <p:cNvSpPr txBox="1"/>
          <p:nvPr/>
        </p:nvSpPr>
        <p:spPr>
          <a:xfrm rot="16200000">
            <a:off x="2111177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62EAC99-6513-A21E-6BBF-96E1779712F1}"/>
              </a:ext>
            </a:extLst>
          </p:cNvPr>
          <p:cNvCxnSpPr>
            <a:cxnSpLocks/>
          </p:cNvCxnSpPr>
          <p:nvPr/>
        </p:nvCxnSpPr>
        <p:spPr>
          <a:xfrm flipV="1">
            <a:off x="3562353" y="2000250"/>
            <a:ext cx="2419350" cy="43059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D8618D8-99C8-D36D-5F8C-CB7C2F2D6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152EB7C-8477-F13E-0008-2A651FA1B0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45B059-9139-C396-875E-8B274944A6E1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4FDDE7-53BE-B872-B47F-2FA837D88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BE0C7-8609-6D65-19A9-8E7645A5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955959-D6AE-86A3-75EF-BA7993E3B175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F22C6-1AF1-442F-1ED8-59ADC941BCAB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125429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1622</TotalTime>
  <Words>985</Words>
  <Application>Microsoft Office PowerPoint</Application>
  <PresentationFormat>와이드스크린</PresentationFormat>
  <Paragraphs>140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8" baseType="lpstr">
      <vt:lpstr>Nanum Gothic</vt:lpstr>
      <vt:lpstr>맑은 고딕</vt:lpstr>
      <vt:lpstr>한컴 말랑말랑 Bold</vt:lpstr>
      <vt:lpstr>Arial</vt:lpstr>
      <vt:lpstr>Calibri Light</vt:lpstr>
      <vt:lpstr>Cambria Math</vt:lpstr>
      <vt:lpstr>Tw Cen MT</vt:lpstr>
      <vt:lpstr>Wingdings</vt:lpstr>
      <vt:lpstr>물방울</vt:lpstr>
      <vt:lpstr>행렬과 벡터</vt:lpstr>
      <vt:lpstr>PowerPoint 프레젠테이션</vt:lpstr>
      <vt:lpstr>대수(algebra)</vt:lpstr>
      <vt:lpstr>선형대수(linear algebra)</vt:lpstr>
      <vt:lpstr>선형대수(linear algebra)</vt:lpstr>
      <vt:lpstr>선형대수(linear algebra)</vt:lpstr>
      <vt:lpstr>선형대수(linear algebra)</vt:lpstr>
      <vt:lpstr>PowerPoint 프레젠테이션</vt:lpstr>
      <vt:lpstr>Numpy 배우기</vt:lpstr>
      <vt:lpstr>PowerPoint 프레젠테이션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PowerPoint 프레젠테이션</vt:lpstr>
      <vt:lpstr>주성분(Principal component)</vt:lpstr>
      <vt:lpstr>행렬변환에 의한 기저좌표의 변화</vt:lpstr>
      <vt:lpstr>주성분분석</vt:lpstr>
      <vt:lpstr>Eigenvalues_and_eigenvectors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17</cp:revision>
  <dcterms:created xsi:type="dcterms:W3CDTF">2026-03-09T22:59:08Z</dcterms:created>
  <dcterms:modified xsi:type="dcterms:W3CDTF">2026-03-22T03:36:26Z</dcterms:modified>
</cp:coreProperties>
</file>