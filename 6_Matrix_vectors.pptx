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2"/>
  </p:notesMasterIdLst>
  <p:sldIdLst>
    <p:sldId id="256" r:id="rId2"/>
    <p:sldId id="266" r:id="rId3"/>
    <p:sldId id="265" r:id="rId4"/>
    <p:sldId id="271" r:id="rId5"/>
    <p:sldId id="275" r:id="rId6"/>
    <p:sldId id="276" r:id="rId7"/>
    <p:sldId id="272" r:id="rId8"/>
    <p:sldId id="273" r:id="rId9"/>
    <p:sldId id="274" r:id="rId10"/>
    <p:sldId id="270" r:id="rId11"/>
    <p:sldId id="259" r:id="rId12"/>
    <p:sldId id="258" r:id="rId13"/>
    <p:sldId id="268" r:id="rId14"/>
    <p:sldId id="269" r:id="rId15"/>
    <p:sldId id="260" r:id="rId16"/>
    <p:sldId id="263" r:id="rId17"/>
    <p:sldId id="264" r:id="rId18"/>
    <p:sldId id="261" r:id="rId19"/>
    <p:sldId id="262" r:id="rId20"/>
    <p:sldId id="267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60"/>
  </p:normalViewPr>
  <p:slideViewPr>
    <p:cSldViewPr snapToGrid="0">
      <p:cViewPr varScale="1">
        <p:scale>
          <a:sx n="68" d="100"/>
          <a:sy n="68" d="100"/>
        </p:scale>
        <p:origin x="111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cipesds.tistory.com/entry/%EC%B4%88%EA%B0%84%EB%8B%A8-%EC%84%A0%ED%98%95%EB%8C%80%EC%88%98-%ED%96%89%EB%A0%AC%EC%9D%98-%EA%B8%B0%ED%95%98%ED%95%99%EC%A0%81%EC%9D%B8-%EC%9D%98%EB%AF%B8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en.wikipedia.org/wiki/Eigenvalues_and_eigenvector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3B55A5-AD55-D660-8099-86131A4036D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행렬과 벡터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CC0AE0-A72B-E734-A33B-67DEC459553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2026 Spring</a:t>
            </a:r>
          </a:p>
          <a:p>
            <a:r>
              <a:rPr lang="ko-KR" altLang="en-US" dirty="0" err="1"/>
              <a:t>조상구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90924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CBF83E-FA81-2702-D7F1-0896BBDA9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96EBB9-2262-CFC3-D517-E192843CFA6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sz="2400" dirty="0"/>
              <a:t>1</a:t>
            </a:r>
            <a:r>
              <a:rPr lang="ko-KR" altLang="en-US" sz="2400" dirty="0"/>
              <a:t>차원 직선에서의 선형변환에 대해 생각하기</a:t>
            </a:r>
            <a:endParaRPr lang="en-US" altLang="ko-KR" sz="2400" dirty="0"/>
          </a:p>
          <a:p>
            <a:r>
              <a:rPr lang="en-US" altLang="ko-KR" sz="2400" dirty="0"/>
              <a:t>2</a:t>
            </a:r>
            <a:r>
              <a:rPr lang="ko-KR" altLang="en-US" sz="2400" dirty="0"/>
              <a:t>차원 평면의 </a:t>
            </a:r>
            <a:r>
              <a:rPr lang="en-US" altLang="ko-KR" sz="2400" dirty="0"/>
              <a:t>2</a:t>
            </a:r>
            <a:r>
              <a:rPr lang="ko-KR" altLang="en-US" sz="2400" dirty="0"/>
              <a:t>개 벡터</a:t>
            </a:r>
            <a:r>
              <a:rPr lang="en-US" altLang="ko-KR" sz="2400" dirty="0"/>
              <a:t>(points), (1,2), (2,1)</a:t>
            </a:r>
            <a:r>
              <a:rPr lang="ko-KR" altLang="en-US" sz="2400" dirty="0"/>
              <a:t>에 임의의 행렬과 내적</a:t>
            </a:r>
            <a:endParaRPr lang="en-US" altLang="ko-KR" sz="2400" dirty="0"/>
          </a:p>
          <a:p>
            <a:r>
              <a:rPr lang="ko-KR" altLang="en-US" sz="2400" dirty="0"/>
              <a:t>투영</a:t>
            </a:r>
            <a:r>
              <a:rPr lang="en-US" altLang="ko-KR" sz="2400" dirty="0"/>
              <a:t>(Projection)</a:t>
            </a:r>
          </a:p>
          <a:p>
            <a:r>
              <a:rPr lang="ko-KR" altLang="en-US" sz="2400" dirty="0"/>
              <a:t>행렬</a:t>
            </a:r>
            <a:r>
              <a:rPr lang="en-US" altLang="ko-KR" sz="2400" dirty="0"/>
              <a:t> A</a:t>
            </a:r>
            <a:r>
              <a:rPr lang="ko-KR" altLang="en-US" sz="2400" dirty="0"/>
              <a:t>와 내적</a:t>
            </a:r>
            <a:r>
              <a:rPr lang="en-US" altLang="ko-KR" sz="2400" dirty="0"/>
              <a:t>(inner product)</a:t>
            </a:r>
          </a:p>
          <a:p>
            <a:r>
              <a:rPr lang="ko-KR" altLang="en-US" sz="2400" dirty="0"/>
              <a:t>행렬 </a:t>
            </a:r>
            <a:r>
              <a:rPr lang="en-US" altLang="ko-KR" sz="2400" dirty="0"/>
              <a:t>A</a:t>
            </a:r>
            <a:r>
              <a:rPr lang="ko-KR" altLang="en-US" sz="2400" dirty="0"/>
              <a:t>로 선형변환</a:t>
            </a:r>
            <a:r>
              <a:rPr lang="en-US" altLang="ko-KR" sz="2400" dirty="0"/>
              <a:t>(linear combination)</a:t>
            </a:r>
          </a:p>
          <a:p>
            <a:r>
              <a:rPr lang="ko-KR" altLang="en-US" sz="2400" dirty="0"/>
              <a:t>기저좌표의 변화</a:t>
            </a:r>
            <a:endParaRPr lang="en-US" altLang="ko-KR" sz="2400" dirty="0"/>
          </a:p>
          <a:p>
            <a:r>
              <a:rPr lang="ko-KR" altLang="en-US" sz="2400" dirty="0"/>
              <a:t>주성분</a:t>
            </a:r>
            <a:r>
              <a:rPr lang="en-US" altLang="ko-KR" sz="2400" dirty="0"/>
              <a:t>(principal components)</a:t>
            </a:r>
          </a:p>
          <a:p>
            <a:endParaRPr lang="ko-KR" altLang="en-US" sz="2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88C3539-91F4-1378-2B85-AE1709642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1897" y="3429000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17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D293B-460C-9230-F381-B0364AA31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30AE2C-28FF-1039-9A16-E84B181FB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7D4C64AF-EF0E-EBD8-8093-7DE3D6BBB899}"/>
              </a:ext>
            </a:extLst>
          </p:cNvPr>
          <p:cNvCxnSpPr>
            <a:cxnSpLocks/>
          </p:cNvCxnSpPr>
          <p:nvPr/>
        </p:nvCxnSpPr>
        <p:spPr>
          <a:xfrm>
            <a:off x="361325" y="3629309"/>
            <a:ext cx="508697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8D289A-2471-E2AE-B6E6-B49E2097CF5D}"/>
              </a:ext>
            </a:extLst>
          </p:cNvPr>
          <p:cNvSpPr txBox="1"/>
          <p:nvPr/>
        </p:nvSpPr>
        <p:spPr>
          <a:xfrm>
            <a:off x="228600" y="370550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A44CD66-B49C-B14B-F5CB-619727F202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7086" y="2591736"/>
            <a:ext cx="5668613" cy="3256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861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4A1CC-8648-9F67-9936-401B49A35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92634D-69DE-B1FA-0C1A-E45A7D841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8F7EF1AA-F153-6183-97D0-69F9B4F583E3}"/>
              </a:ext>
            </a:extLst>
          </p:cNvPr>
          <p:cNvCxnSpPr>
            <a:cxnSpLocks/>
          </p:cNvCxnSpPr>
          <p:nvPr/>
        </p:nvCxnSpPr>
        <p:spPr>
          <a:xfrm>
            <a:off x="2419040" y="4197775"/>
            <a:ext cx="508697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B202B12-A258-8108-186D-F5C99EE6F804}"/>
              </a:ext>
            </a:extLst>
          </p:cNvPr>
          <p:cNvSpPr txBox="1"/>
          <p:nvPr/>
        </p:nvSpPr>
        <p:spPr>
          <a:xfrm>
            <a:off x="228631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CFDE16B-292D-CEE7-D26B-874B0FDAC374}"/>
              </a:ext>
            </a:extLst>
          </p:cNvPr>
          <p:cNvCxnSpPr>
            <a:cxnSpLocks/>
          </p:cNvCxnSpPr>
          <p:nvPr/>
        </p:nvCxnSpPr>
        <p:spPr>
          <a:xfrm>
            <a:off x="47720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0889A9A-9BF1-DC08-AE34-A7451EE113CD}"/>
              </a:ext>
            </a:extLst>
          </p:cNvPr>
          <p:cNvSpPr txBox="1"/>
          <p:nvPr/>
        </p:nvSpPr>
        <p:spPr>
          <a:xfrm rot="16200000">
            <a:off x="2111177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962EAC99-6513-A21E-6BBF-96E1779712F1}"/>
              </a:ext>
            </a:extLst>
          </p:cNvPr>
          <p:cNvCxnSpPr>
            <a:cxnSpLocks/>
          </p:cNvCxnSpPr>
          <p:nvPr/>
        </p:nvCxnSpPr>
        <p:spPr>
          <a:xfrm flipV="1">
            <a:off x="3562353" y="2000250"/>
            <a:ext cx="2419350" cy="43059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27009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4E690-F2AD-18B4-D988-8AEE6085F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6F44F4-1686-2B4C-B786-2BBD121CB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432D000-AAD7-424D-68F9-3340C35A3C36}"/>
              </a:ext>
            </a:extLst>
          </p:cNvPr>
          <p:cNvCxnSpPr>
            <a:cxnSpLocks/>
          </p:cNvCxnSpPr>
          <p:nvPr/>
        </p:nvCxnSpPr>
        <p:spPr>
          <a:xfrm>
            <a:off x="456890" y="4197775"/>
            <a:ext cx="508697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1CBFC49-A98C-36D0-1878-7FFFEFF36A68}"/>
              </a:ext>
            </a:extLst>
          </p:cNvPr>
          <p:cNvSpPr txBox="1"/>
          <p:nvPr/>
        </p:nvSpPr>
        <p:spPr>
          <a:xfrm>
            <a:off x="32416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C8C6DF1-B97D-F199-5033-64331BCC3A7E}"/>
              </a:ext>
            </a:extLst>
          </p:cNvPr>
          <p:cNvCxnSpPr>
            <a:cxnSpLocks/>
          </p:cNvCxnSpPr>
          <p:nvPr/>
        </p:nvCxnSpPr>
        <p:spPr>
          <a:xfrm>
            <a:off x="280987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8EE0933-37D0-5B7A-EF49-7D3E7E68A636}"/>
              </a:ext>
            </a:extLst>
          </p:cNvPr>
          <p:cNvSpPr txBox="1"/>
          <p:nvPr/>
        </p:nvSpPr>
        <p:spPr>
          <a:xfrm rot="16200000">
            <a:off x="267015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F9770E7-D05C-D9DA-D98D-1366B9D2D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850" y="2377217"/>
            <a:ext cx="1503361" cy="98100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D98E98A-995F-336E-D8D6-82E48810C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2223" y="3358239"/>
            <a:ext cx="1280266" cy="52582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5689E68-6A28-53EE-75F3-C2D0E09D82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850" y="3691819"/>
            <a:ext cx="1280271" cy="54868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B06CAE5-178C-DC5D-E74B-8EF5E3F67E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7120" y="3697535"/>
            <a:ext cx="1597887" cy="542971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8A11805A-4319-468A-B660-5363D357BFFB}"/>
              </a:ext>
            </a:extLst>
          </p:cNvPr>
          <p:cNvSpPr/>
          <p:nvPr/>
        </p:nvSpPr>
        <p:spPr>
          <a:xfrm>
            <a:off x="3073399" y="3358224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C826B98-1D71-4910-55B7-EE49E4BBF56A}"/>
              </a:ext>
            </a:extLst>
          </p:cNvPr>
          <p:cNvSpPr/>
          <p:nvPr/>
        </p:nvSpPr>
        <p:spPr>
          <a:xfrm>
            <a:off x="4474513" y="2335507"/>
            <a:ext cx="260349" cy="24220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21DE4A-D272-D340-D9A6-538BC397CD81}"/>
              </a:ext>
            </a:extLst>
          </p:cNvPr>
          <p:cNvSpPr txBox="1"/>
          <p:nvPr/>
        </p:nvSpPr>
        <p:spPr>
          <a:xfrm>
            <a:off x="9385999" y="2345081"/>
            <a:ext cx="2714628" cy="170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벡터</a:t>
            </a:r>
            <a:r>
              <a:rPr lang="en-US" altLang="ko-KR" dirty="0"/>
              <a:t> v</a:t>
            </a:r>
            <a:r>
              <a:rPr lang="ko-KR" altLang="en-US" dirty="0"/>
              <a:t>가 행렬 </a:t>
            </a:r>
            <a:r>
              <a:rPr lang="en-US" altLang="ko-KR" dirty="0"/>
              <a:t>A</a:t>
            </a:r>
            <a:r>
              <a:rPr lang="ko-KR" altLang="en-US" dirty="0"/>
              <a:t>와 </a:t>
            </a:r>
            <a:r>
              <a:rPr lang="ko-KR" altLang="en-US" dirty="0" err="1"/>
              <a:t>내적하는</a:t>
            </a:r>
            <a:r>
              <a:rPr lang="ko-KR" altLang="en-US" dirty="0"/>
              <a:t> 선형변환을 하면 </a:t>
            </a:r>
            <a:r>
              <a:rPr lang="en-US" altLang="ko-KR" dirty="0"/>
              <a:t>Av = (5,5) </a:t>
            </a:r>
            <a:r>
              <a:rPr lang="ko-KR" altLang="en-US" dirty="0"/>
              <a:t>로 위치 이동하게 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2780874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0B495B-D82D-70B1-95E8-6A221ED9A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</a:t>
            </a:r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CC0271E0-83DB-4699-2D1D-D4EC4FBB269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801144" y="2411707"/>
            <a:ext cx="2036761" cy="1302580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A23EC9D9-E1E5-486D-524D-A0C034D9B291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133EA56-E119-9E2E-EBFA-3E843E65458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B792C78-4F30-BAD6-12FC-138766A35512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8AE44BCE-2E3C-9E9E-D923-0EEE18AB9631}"/>
              </a:ext>
            </a:extLst>
          </p:cNvPr>
          <p:cNvSpPr/>
          <p:nvPr/>
        </p:nvSpPr>
        <p:spPr>
          <a:xfrm>
            <a:off x="2359026" y="3429000"/>
            <a:ext cx="841374" cy="768773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E801FD-463E-32A8-962F-C2F5391655F2}"/>
              </a:ext>
            </a:extLst>
          </p:cNvPr>
          <p:cNvSpPr txBox="1"/>
          <p:nvPr/>
        </p:nvSpPr>
        <p:spPr>
          <a:xfrm>
            <a:off x="5182225" y="2105546"/>
            <a:ext cx="6619250" cy="336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행렬 </a:t>
            </a:r>
            <a:r>
              <a:rPr lang="en-US" altLang="ko-KR" dirty="0"/>
              <a:t>A = [(2,1), (3,4)] </a:t>
            </a:r>
            <a:r>
              <a:rPr lang="ko-KR" altLang="en-US" dirty="0"/>
              <a:t>의 행렬인 경우 </a:t>
            </a:r>
            <a:r>
              <a:rPr lang="en-US" altLang="ko-KR" dirty="0"/>
              <a:t>v=(1,2)</a:t>
            </a:r>
            <a:r>
              <a:rPr lang="ko-KR" altLang="en-US" dirty="0"/>
              <a:t>는 어떻게 </a:t>
            </a:r>
            <a:r>
              <a:rPr lang="ko-KR" altLang="en-US" b="1" dirty="0"/>
              <a:t>변환</a:t>
            </a:r>
            <a:r>
              <a:rPr lang="ko-KR" altLang="en-US" dirty="0"/>
              <a:t>되는가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 </a:t>
            </a:r>
            <a:r>
              <a:rPr lang="ko-KR" altLang="en-US" dirty="0"/>
              <a:t>아래와 같은 정방형의 모든 실수는 </a:t>
            </a:r>
            <a:r>
              <a:rPr lang="en-US" altLang="ko-KR" dirty="0"/>
              <a:t>A</a:t>
            </a:r>
            <a:r>
              <a:rPr lang="ko-KR" altLang="en-US" dirty="0"/>
              <a:t>행렬과 </a:t>
            </a:r>
            <a:r>
              <a:rPr lang="ko-KR" altLang="en-US" dirty="0" err="1"/>
              <a:t>내적하면</a:t>
            </a:r>
            <a:r>
              <a:rPr lang="ko-KR" altLang="en-US" dirty="0"/>
              <a:t> 어떻게 </a:t>
            </a:r>
            <a:r>
              <a:rPr lang="ko-KR" altLang="en-US" b="1" dirty="0"/>
              <a:t>변환</a:t>
            </a:r>
            <a:r>
              <a:rPr lang="ko-KR" altLang="en-US" dirty="0"/>
              <a:t>되는지 파이썬 코드로 작성하고 시각화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/>
              <a:t>선형변환</a:t>
            </a:r>
            <a:r>
              <a:rPr lang="en-US" altLang="ko-KR" b="1" dirty="0"/>
              <a:t>(Linear Transformation)</a:t>
            </a:r>
            <a:r>
              <a:rPr lang="ko-KR" altLang="en-US" dirty="0"/>
              <a:t>의 결과를 기하학적 의미를 </a:t>
            </a:r>
            <a:r>
              <a:rPr lang="ko-KR" altLang="en-US" b="1" dirty="0"/>
              <a:t>투영</a:t>
            </a:r>
            <a:r>
              <a:rPr lang="en-US" altLang="ko-KR" b="1" dirty="0"/>
              <a:t>(Projection)</a:t>
            </a:r>
            <a:r>
              <a:rPr lang="ko-KR" altLang="en-US" dirty="0"/>
              <a:t>의 관점에서 설명하라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FB67B-47AD-E2B1-F02D-7438ED6D3A02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66491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2000B8-C771-3200-0A05-38436541C6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894742"/>
            <a:ext cx="10364451" cy="1596177"/>
          </a:xfrm>
        </p:spPr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7F9728CA-6096-1AAE-2337-74A1A8AE706C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0" y="714375"/>
            <a:ext cx="4005667" cy="252364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6B612DA-EC24-162C-995D-B540CF45FD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13485"/>
            <a:ext cx="4040743" cy="27053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1A67843-AE69-0B2B-5F41-FE6F5C991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5667" y="714375"/>
            <a:ext cx="3813259" cy="359728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E8901E8-7965-CE74-B48B-BD4127BDF7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8926" y="714375"/>
            <a:ext cx="4378446" cy="479107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6F50D7B-778A-F9B4-AB6F-6AE08D263D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2682" y="4311662"/>
            <a:ext cx="3886244" cy="2523640"/>
          </a:xfrm>
          <a:prstGeom prst="rect">
            <a:avLst/>
          </a:prstGeom>
        </p:spPr>
      </p:pic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401C3C5F-2E75-E81F-BF46-53C7922CA0A4}"/>
              </a:ext>
            </a:extLst>
          </p:cNvPr>
          <p:cNvCxnSpPr/>
          <p:nvPr/>
        </p:nvCxnSpPr>
        <p:spPr>
          <a:xfrm>
            <a:off x="3932682" y="752475"/>
            <a:ext cx="0" cy="4962525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EDDF5B2A-C1DA-47D2-70FB-4C466E113B6F}"/>
              </a:ext>
            </a:extLst>
          </p:cNvPr>
          <p:cNvCxnSpPr/>
          <p:nvPr/>
        </p:nvCxnSpPr>
        <p:spPr>
          <a:xfrm>
            <a:off x="7771257" y="762000"/>
            <a:ext cx="0" cy="4962525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ED26979-3036-435B-0822-871DA230CA78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</p:spTree>
    <p:extLst>
      <p:ext uri="{BB962C8B-B14F-4D97-AF65-F5344CB8AC3E}">
        <p14:creationId xmlns:p14="http://schemas.microsoft.com/office/powerpoint/2010/main" val="12860400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D7D0D-E62D-FFB8-6A8F-2C54504AE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7AABB1-9F98-2E26-34F8-C104190D9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1085242"/>
            <a:ext cx="10364451" cy="159617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222B9B2-BA65-5C63-EA02-618B81C271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EF4732E-C835-013A-6AFB-F7806EA98D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08"/>
            <a:ext cx="3930647" cy="495020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3CDA08E6-CC22-FAA3-2EBD-CBEAF08C9C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1531" y="674807"/>
            <a:ext cx="4456827" cy="4950203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30FC976-180A-411F-362C-2D440D7EEF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4256" y="3785211"/>
            <a:ext cx="2991694" cy="308988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279ACA28-5E31-570D-B191-4529D1E041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8358" y="674807"/>
            <a:ext cx="3872999" cy="4580171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5D179E23-7389-BD6F-1128-61D290E1A4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" y="5612689"/>
            <a:ext cx="4618120" cy="967824"/>
          </a:xfrm>
          <a:prstGeom prst="rect">
            <a:avLst/>
          </a:prstGeom>
        </p:spPr>
      </p:pic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53F0D6FD-3237-B981-C361-5B1ADA4831A8}"/>
              </a:ext>
            </a:extLst>
          </p:cNvPr>
          <p:cNvCxnSpPr/>
          <p:nvPr/>
        </p:nvCxnSpPr>
        <p:spPr>
          <a:xfrm>
            <a:off x="3732657" y="674807"/>
            <a:ext cx="0" cy="4962525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8BA9E2D3-BF4A-8CA0-EAE1-AAEA97533009}"/>
              </a:ext>
            </a:extLst>
          </p:cNvPr>
          <p:cNvCxnSpPr>
            <a:cxnSpLocks/>
          </p:cNvCxnSpPr>
          <p:nvPr/>
        </p:nvCxnSpPr>
        <p:spPr>
          <a:xfrm>
            <a:off x="8161782" y="662485"/>
            <a:ext cx="0" cy="4519115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825DC070-DC68-1B95-82FC-8F55024DB88A}"/>
              </a:ext>
            </a:extLst>
          </p:cNvPr>
          <p:cNvCxnSpPr>
            <a:cxnSpLocks/>
          </p:cNvCxnSpPr>
          <p:nvPr/>
        </p:nvCxnSpPr>
        <p:spPr>
          <a:xfrm>
            <a:off x="5493613" y="3895725"/>
            <a:ext cx="626" cy="2962275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DE6FF7CD-27FF-0834-A759-56F76993FC09}"/>
              </a:ext>
            </a:extLst>
          </p:cNvPr>
          <p:cNvCxnSpPr>
            <a:cxnSpLocks/>
          </p:cNvCxnSpPr>
          <p:nvPr/>
        </p:nvCxnSpPr>
        <p:spPr>
          <a:xfrm>
            <a:off x="5494239" y="3821900"/>
            <a:ext cx="2667543" cy="0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436210B1-76CB-281D-50A6-CE21FC079D58}"/>
              </a:ext>
            </a:extLst>
          </p:cNvPr>
          <p:cNvCxnSpPr>
            <a:cxnSpLocks/>
          </p:cNvCxnSpPr>
          <p:nvPr/>
        </p:nvCxnSpPr>
        <p:spPr>
          <a:xfrm>
            <a:off x="8161782" y="5254978"/>
            <a:ext cx="2667543" cy="0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680713A-0006-2858-B500-49779C0BDD3C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AE85DE2B-F462-0D8A-07DB-A264ACA5B63F}"/>
              </a:ext>
            </a:extLst>
          </p:cNvPr>
          <p:cNvCxnSpPr>
            <a:cxnSpLocks/>
          </p:cNvCxnSpPr>
          <p:nvPr/>
        </p:nvCxnSpPr>
        <p:spPr>
          <a:xfrm>
            <a:off x="0" y="5625010"/>
            <a:ext cx="4600482" cy="0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65492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9B5F6-65FC-A353-AC91-699D48CEF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BC4B6E1E-2A21-9A1D-FC09-9B55B8F4F5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5595" y="773848"/>
            <a:ext cx="4838829" cy="5310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68660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E3566-E0E2-3682-76F4-6A2B0A523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5D4C1-4B4A-A66E-82C3-386E6AB7E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CEC279A-BA05-1914-9046-3B18C4C7FD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4924" y="4277515"/>
            <a:ext cx="7402300" cy="115173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D933761-F6C1-E88D-6DC1-6D5645B5AE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4924" y="2300419"/>
            <a:ext cx="7330316" cy="11037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3B0C35-8920-5211-45F2-08E4D70B1F95}"/>
              </a:ext>
            </a:extLst>
          </p:cNvPr>
          <p:cNvSpPr txBox="1"/>
          <p:nvPr/>
        </p:nvSpPr>
        <p:spPr>
          <a:xfrm>
            <a:off x="466725" y="18453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2</a:t>
            </a:r>
            <a:r>
              <a:rPr lang="ko-KR" altLang="en-US" sz="1800" dirty="0"/>
              <a:t>개 벡터</a:t>
            </a:r>
            <a:r>
              <a:rPr lang="en-US" altLang="ko-KR" sz="1800" dirty="0"/>
              <a:t>(points), (1,2), (2,1)</a:t>
            </a:r>
            <a:r>
              <a:rPr lang="ko-KR" altLang="en-US" sz="1800" dirty="0"/>
              <a:t>에 행렬</a:t>
            </a:r>
            <a:r>
              <a:rPr lang="en-US" altLang="ko-KR" dirty="0"/>
              <a:t>[(2,1), (1,4)] </a:t>
            </a:r>
            <a:r>
              <a:rPr lang="ko-KR" altLang="en-US" dirty="0"/>
              <a:t>와의</a:t>
            </a:r>
            <a:r>
              <a:rPr lang="en-US" altLang="ko-KR" dirty="0"/>
              <a:t> </a:t>
            </a:r>
            <a:r>
              <a:rPr lang="ko-KR" altLang="en-US" sz="1800" dirty="0"/>
              <a:t>내적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30224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3CF355-C241-D22E-F97C-7287CE73D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기하학적 이해</a:t>
            </a:r>
          </a:p>
        </p:txBody>
      </p:sp>
      <p:sp>
        <p:nvSpPr>
          <p:cNvPr id="4" name="AutoShape 2" descr=", AI generated">
            <a:extLst>
              <a:ext uri="{FF2B5EF4-FFF2-40B4-BE49-F238E27FC236}">
                <a16:creationId xmlns:a16="http://schemas.microsoft.com/office/drawing/2014/main" id="{A12FC27B-0BD4-A5AB-B0E5-D080A53513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011C37-30DB-6272-D93F-F9473458E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725" y="2014537"/>
            <a:ext cx="7286625" cy="3977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0482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15690B-B9F0-94FA-BC45-0E4821137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기하와 선형대수적 이해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30BE21E3-574E-E3B3-F218-5F9D85ABA5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7450" y="4643307"/>
            <a:ext cx="6599244" cy="202950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5C33DC3-86CB-5044-C33D-E78D6DD430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43" y="1954402"/>
            <a:ext cx="6237758" cy="2455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6598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BD2289-F2DD-C99C-21A0-D359B3CC0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투영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2AC9B519-750B-3AD9-C9B3-C647051B7BB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570875" y="2015277"/>
            <a:ext cx="7738080" cy="422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135C1BC-D100-A1E8-B66D-30FE5BBBCD42}"/>
              </a:ext>
            </a:extLst>
          </p:cNvPr>
          <p:cNvSpPr txBox="1"/>
          <p:nvPr/>
        </p:nvSpPr>
        <p:spPr>
          <a:xfrm>
            <a:off x="8394680" y="2029696"/>
            <a:ext cx="36544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첫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모든 데이터를 직선 하나에 강제로 정렬시키는 투영 </a:t>
            </a:r>
            <a:r>
              <a:rPr lang="en-US" altLang="ko-KR" dirty="0">
                <a:latin typeface="+mj-ea"/>
                <a:ea typeface="+mj-ea"/>
              </a:rPr>
              <a:t>(Singular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두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데이터를 새로운 좌표축으로 재배치하되 평면을 유지하는 투영 </a:t>
            </a:r>
            <a:r>
              <a:rPr lang="en-US" altLang="ko-KR" dirty="0">
                <a:latin typeface="+mj-ea"/>
                <a:ea typeface="+mj-ea"/>
              </a:rPr>
              <a:t>(Non-singular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이 투영 개념은 데이터 분석에서 중요한 주성분 분석</a:t>
            </a:r>
            <a:r>
              <a:rPr lang="en-US" altLang="ko-KR" dirty="0">
                <a:latin typeface="+mj-ea"/>
                <a:ea typeface="+mj-ea"/>
              </a:rPr>
              <a:t>(PCA)</a:t>
            </a:r>
            <a:r>
              <a:rPr lang="ko-KR" altLang="en-US" dirty="0">
                <a:latin typeface="+mj-ea"/>
                <a:ea typeface="+mj-ea"/>
              </a:rPr>
              <a:t>의 기초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111412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83F07D-BFD3-3D69-893B-986373095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Kernel Transformation</a:t>
            </a:r>
            <a:endParaRPr lang="ko-KR" altLang="en-US" dirty="0"/>
          </a:p>
        </p:txBody>
      </p:sp>
      <p:pic>
        <p:nvPicPr>
          <p:cNvPr id="12" name="내용 개체 틀 11">
            <a:extLst>
              <a:ext uri="{FF2B5EF4-FFF2-40B4-BE49-F238E27FC236}">
                <a16:creationId xmlns:a16="http://schemas.microsoft.com/office/drawing/2014/main" id="{5E212C3C-7C78-67D1-9717-691256295328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913774" y="1957388"/>
            <a:ext cx="8418804" cy="4595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43765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B3DBC6-35B0-DF34-8BB2-2CFA82E8E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행렬과 내적은 선형변환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F67A665-D8BD-3BDD-A95C-EA8AF2CDD90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775" y="2014539"/>
            <a:ext cx="5182225" cy="3322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9EFB63E-667B-21BC-A172-32BE45A43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374" y="2014539"/>
            <a:ext cx="5390677" cy="3322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0D1C23-1819-2AC4-B5F5-C6A7D08A2267}"/>
              </a:ext>
            </a:extLst>
          </p:cNvPr>
          <p:cNvSpPr txBox="1"/>
          <p:nvPr/>
        </p:nvSpPr>
        <p:spPr>
          <a:xfrm>
            <a:off x="838200" y="5734658"/>
            <a:ext cx="33441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자료원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행렬의 기하학적인 의미와 해석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35531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54DAF-730F-8F6D-B29D-5CFC43465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F56195-CEFF-90F0-4BC3-62D731328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CD8618D8-99C8-D36D-5F8C-CB7C2F2D61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" y="3120178"/>
            <a:ext cx="4373450" cy="2747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4152EB7C-8477-F13E-0008-2A651FA1B0C6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7048" y="2522484"/>
            <a:ext cx="5056802" cy="3424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D45B059-9139-C396-875E-8B274944A6E1}"/>
              </a:ext>
            </a:extLst>
          </p:cNvPr>
          <p:cNvSpPr txBox="1"/>
          <p:nvPr/>
        </p:nvSpPr>
        <p:spPr>
          <a:xfrm>
            <a:off x="504825" y="2244389"/>
            <a:ext cx="42481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Gaussian Random Noise Data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를 생성하고 행렬 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로 </a:t>
            </a:r>
            <a:r>
              <a:rPr lang="ko-KR" altLang="en-US" b="0" i="0" dirty="0" err="1">
                <a:solidFill>
                  <a:srgbClr val="000000"/>
                </a:solidFill>
                <a:effectLst/>
                <a:latin typeface="Nanum Gothic"/>
              </a:rPr>
              <a:t>선형변환하면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74FDDE7-53BE-B872-B47F-2FA837D882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503" y="3143249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6213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B0106-250C-EDA4-CFBA-23A14D248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97C0B-D82D-3948-18EA-EA57EC29E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주성분</a:t>
            </a:r>
            <a:r>
              <a:rPr lang="en-US" altLang="ko-KR" dirty="0"/>
              <a:t>(Principal component)</a:t>
            </a:r>
            <a:endParaRPr lang="ko-KR" altLang="en-US" dirty="0"/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EC556570-9556-C9E9-F483-2FA62BEA55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763" y="1647825"/>
            <a:ext cx="6257925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23895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D4C6D7-90E2-02DD-095D-F5CFC88C5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행렬변환에 의한 기저좌표의 변화</a:t>
            </a:r>
          </a:p>
        </p:txBody>
      </p:sp>
      <p:pic>
        <p:nvPicPr>
          <p:cNvPr id="3078" name="Picture 6">
            <a:extLst>
              <a:ext uri="{FF2B5EF4-FFF2-40B4-BE49-F238E27FC236}">
                <a16:creationId xmlns:a16="http://schemas.microsoft.com/office/drawing/2014/main" id="{8661F9D4-6959-ECD9-DFE2-38BAFFAD0C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476" y="2214694"/>
            <a:ext cx="5581650" cy="356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537BC7C1-934D-9636-2C4B-CD031F9EC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5848" y="1776923"/>
            <a:ext cx="5581651" cy="4000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51106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6D487E-2A47-66D1-E5D6-203622E2B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주성분분석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9F8F0A64-97F6-9176-29ED-C3A737B3980D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0582" y="2366963"/>
            <a:ext cx="6869311" cy="4252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73990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A05-AD8A-4312-2266-14EB3FF74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9996B7-68D5-154D-EEB6-A81286B77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hlinkClick r:id="rId2"/>
              </a:rPr>
              <a:t>Eigenvalues_and_eigenvectors</a:t>
            </a:r>
            <a:endParaRPr lang="ko-KR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1EC2804F-41A4-5101-2BDC-FC966F15EAEB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4" y="2214694"/>
            <a:ext cx="5774697" cy="4024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656C6E6-6881-C1B3-F43B-81E4D1656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0424" y="1978912"/>
            <a:ext cx="4210051" cy="4260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6602098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661</TotalTime>
  <Words>375</Words>
  <Application>Microsoft Office PowerPoint</Application>
  <PresentationFormat>와이드스크린</PresentationFormat>
  <Paragraphs>49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6" baseType="lpstr">
      <vt:lpstr>Nanum Gothic</vt:lpstr>
      <vt:lpstr>맑은 고딕</vt:lpstr>
      <vt:lpstr>Arial</vt:lpstr>
      <vt:lpstr>Tw Cen MT</vt:lpstr>
      <vt:lpstr>Wingdings</vt:lpstr>
      <vt:lpstr>물방울</vt:lpstr>
      <vt:lpstr>행렬과 벡터</vt:lpstr>
      <vt:lpstr>시작</vt:lpstr>
      <vt:lpstr>1차원 직선에서의 선형변환에 대해 생각하기</vt:lpstr>
      <vt:lpstr>1차원 직선에서의 선형변환에 대해 생각하기</vt:lpstr>
      <vt:lpstr>2차원 평면에서의 선형변환에 대해 생각하기</vt:lpstr>
      <vt:lpstr>과제</vt:lpstr>
      <vt:lpstr>PowerPoint 프레젠테이션</vt:lpstr>
      <vt:lpstr>PowerPoint 프레젠테이션</vt:lpstr>
      <vt:lpstr>PowerPoint 프레젠테이션</vt:lpstr>
      <vt:lpstr>선형변환</vt:lpstr>
      <vt:lpstr>기하학적 이해</vt:lpstr>
      <vt:lpstr>기하와 선형대수적 이해</vt:lpstr>
      <vt:lpstr>투영</vt:lpstr>
      <vt:lpstr>Kernel Transformation</vt:lpstr>
      <vt:lpstr>행렬과 내적은 선형변환</vt:lpstr>
      <vt:lpstr>선형변환</vt:lpstr>
      <vt:lpstr>주성분(Principal component)</vt:lpstr>
      <vt:lpstr>행렬변환에 의한 기저좌표의 변화</vt:lpstr>
      <vt:lpstr>주성분분석</vt:lpstr>
      <vt:lpstr>Eigenvalues_and_eigenvectors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조상구</cp:lastModifiedBy>
  <cp:revision>9</cp:revision>
  <dcterms:created xsi:type="dcterms:W3CDTF">2026-03-09T22:59:08Z</dcterms:created>
  <dcterms:modified xsi:type="dcterms:W3CDTF">2026-03-16T08:09:59Z</dcterms:modified>
</cp:coreProperties>
</file>