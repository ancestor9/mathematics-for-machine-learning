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1"/>
  </p:notesMasterIdLst>
  <p:sldIdLst>
    <p:sldId id="256" r:id="rId2"/>
    <p:sldId id="266" r:id="rId3"/>
    <p:sldId id="265" r:id="rId4"/>
    <p:sldId id="271" r:id="rId5"/>
    <p:sldId id="275" r:id="rId6"/>
    <p:sldId id="276" r:id="rId7"/>
    <p:sldId id="272" r:id="rId8"/>
    <p:sldId id="279" r:id="rId9"/>
    <p:sldId id="270" r:id="rId10"/>
    <p:sldId id="259" r:id="rId11"/>
    <p:sldId id="258" r:id="rId12"/>
    <p:sldId id="268" r:id="rId13"/>
    <p:sldId id="269" r:id="rId14"/>
    <p:sldId id="260" r:id="rId15"/>
    <p:sldId id="263" r:id="rId16"/>
    <p:sldId id="264" r:id="rId17"/>
    <p:sldId id="261" r:id="rId18"/>
    <p:sldId id="262" r:id="rId19"/>
    <p:sldId id="267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1651" autoAdjust="0"/>
    <p:restoredTop sz="94660"/>
  </p:normalViewPr>
  <p:slideViewPr>
    <p:cSldViewPr snapToGrid="0">
      <p:cViewPr varScale="1">
        <p:scale>
          <a:sx n="80" d="100"/>
          <a:sy n="80" d="100"/>
        </p:scale>
        <p:origin x="93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2F86-9062-4B78-99E4-F1BEEF85F138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F8537-0286-40EF-BEDA-D09730C54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58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3" Type="http://schemas.openxmlformats.org/officeDocument/2006/relationships/image" Target="../media/image12.pn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cipesds.tistory.com/entry/%EC%B4%88%EA%B0%84%EB%8B%A8-%EC%84%A0%ED%98%95%EB%8C%80%EC%88%98-%ED%96%89%EB%A0%AC%EC%9D%98-%EA%B8%B0%ED%95%98%ED%95%99%EC%A0%81%EC%9D%B8-%EC%9D%98%EB%AF%B8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hyperlink" Target="https://en.wikipedia.org/wiki/Eigenvalues_and_eigenvector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94BC4CC-119D-4066-611C-7FF8F6954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1" y="-1"/>
            <a:ext cx="7315200" cy="68341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53B55A5-AD55-D660-8099-86131A40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614571"/>
            <a:ext cx="4876801" cy="2509213"/>
          </a:xfrm>
        </p:spPr>
        <p:txBody>
          <a:bodyPr/>
          <a:lstStyle/>
          <a:p>
            <a:r>
              <a:rPr lang="ko-KR" altLang="en-US" dirty="0"/>
              <a:t>행렬과 벡터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9CC0AE0-A72B-E734-A33B-67DEC45955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199986"/>
            <a:ext cx="4876801" cy="1371599"/>
          </a:xfrm>
        </p:spPr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2026 Spring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조상구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0924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CBF83E-FA81-2702-D7F1-0896BBDA9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배우기 시작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96EBB9-2262-CFC3-D517-E192843CFA6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ko-KR" sz="2400" dirty="0"/>
              <a:t>1</a:t>
            </a:r>
            <a:r>
              <a:rPr lang="ko-KR" altLang="en-US" sz="2400" dirty="0"/>
              <a:t>차원 직선에서의 선형변환에 대해 생각하기</a:t>
            </a:r>
            <a:endParaRPr lang="en-US" altLang="ko-KR" sz="2400" dirty="0"/>
          </a:p>
          <a:p>
            <a:r>
              <a:rPr lang="en-US" altLang="ko-KR" sz="2400" dirty="0"/>
              <a:t>2</a:t>
            </a:r>
            <a:r>
              <a:rPr lang="ko-KR" altLang="en-US" sz="2400" dirty="0"/>
              <a:t>차원 평면의 </a:t>
            </a:r>
            <a:r>
              <a:rPr lang="en-US" altLang="ko-KR" sz="2400" dirty="0"/>
              <a:t>2</a:t>
            </a:r>
            <a:r>
              <a:rPr lang="ko-KR" altLang="en-US" sz="2400" dirty="0"/>
              <a:t>개 벡터</a:t>
            </a:r>
            <a:r>
              <a:rPr lang="en-US" altLang="ko-KR" sz="2400" dirty="0"/>
              <a:t>(points), (1,2), (2,1)</a:t>
            </a:r>
            <a:r>
              <a:rPr lang="ko-KR" altLang="en-US" sz="2400" dirty="0"/>
              <a:t>에 임의의 행렬과 내적</a:t>
            </a:r>
            <a:endParaRPr lang="en-US" altLang="ko-KR" sz="2400" dirty="0"/>
          </a:p>
          <a:p>
            <a:r>
              <a:rPr lang="ko-KR" altLang="en-US" sz="2400" dirty="0"/>
              <a:t>투영</a:t>
            </a:r>
            <a:r>
              <a:rPr lang="en-US" altLang="ko-KR" sz="2400" dirty="0"/>
              <a:t>(Projection)</a:t>
            </a:r>
          </a:p>
          <a:p>
            <a:r>
              <a:rPr lang="ko-KR" altLang="en-US" sz="2400" dirty="0"/>
              <a:t>행렬</a:t>
            </a:r>
            <a:r>
              <a:rPr lang="en-US" altLang="ko-KR" sz="2400" dirty="0"/>
              <a:t> A</a:t>
            </a:r>
            <a:r>
              <a:rPr lang="ko-KR" altLang="en-US" sz="2400" dirty="0"/>
              <a:t>와 내적</a:t>
            </a:r>
            <a:r>
              <a:rPr lang="en-US" altLang="ko-KR" sz="2400" dirty="0"/>
              <a:t>(inner product)</a:t>
            </a:r>
          </a:p>
          <a:p>
            <a:r>
              <a:rPr lang="ko-KR" altLang="en-US" sz="2400" dirty="0"/>
              <a:t>행렬 </a:t>
            </a:r>
            <a:r>
              <a:rPr lang="en-US" altLang="ko-KR" sz="2400" dirty="0"/>
              <a:t>A</a:t>
            </a:r>
            <a:r>
              <a:rPr lang="ko-KR" altLang="en-US" sz="2400" dirty="0"/>
              <a:t>로 선형변환</a:t>
            </a:r>
            <a:r>
              <a:rPr lang="en-US" altLang="ko-KR" sz="2400" dirty="0"/>
              <a:t>(linear combination)</a:t>
            </a:r>
          </a:p>
          <a:p>
            <a:r>
              <a:rPr lang="ko-KR" altLang="en-US" sz="2400" dirty="0"/>
              <a:t>기저좌표의 변화</a:t>
            </a:r>
            <a:endParaRPr lang="en-US" altLang="ko-KR" sz="2400" dirty="0"/>
          </a:p>
          <a:p>
            <a:r>
              <a:rPr lang="ko-KR" altLang="en-US" sz="2400" dirty="0"/>
              <a:t>주성분</a:t>
            </a:r>
            <a:r>
              <a:rPr lang="en-US" altLang="ko-KR" sz="2400" dirty="0"/>
              <a:t>(principal components)</a:t>
            </a:r>
          </a:p>
          <a:p>
            <a:endParaRPr lang="ko-KR" altLang="en-US" sz="2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88C3539-91F4-1378-2B85-AE17096427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1897" y="3429000"/>
            <a:ext cx="2345545" cy="150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17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D293B-460C-9230-F381-B0364AA31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30AE2C-28FF-1039-9A16-E84B181FB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7D4C64AF-EF0E-EBD8-8093-7DE3D6BBB899}"/>
              </a:ext>
            </a:extLst>
          </p:cNvPr>
          <p:cNvCxnSpPr>
            <a:cxnSpLocks/>
          </p:cNvCxnSpPr>
          <p:nvPr/>
        </p:nvCxnSpPr>
        <p:spPr>
          <a:xfrm>
            <a:off x="361325" y="3629309"/>
            <a:ext cx="508697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98D289A-2471-E2AE-B6E6-B49E2097CF5D}"/>
              </a:ext>
            </a:extLst>
          </p:cNvPr>
          <p:cNvSpPr txBox="1"/>
          <p:nvPr/>
        </p:nvSpPr>
        <p:spPr>
          <a:xfrm>
            <a:off x="228600" y="370550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A44CD66-B49C-B14B-F5CB-619727F202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7086" y="2591736"/>
            <a:ext cx="5668613" cy="3256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861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4A1CC-8648-9F67-9936-401B49A35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92634D-69DE-B1FA-0C1A-E45A7D841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8F7EF1AA-F153-6183-97D0-69F9B4F583E3}"/>
              </a:ext>
            </a:extLst>
          </p:cNvPr>
          <p:cNvCxnSpPr>
            <a:cxnSpLocks/>
          </p:cNvCxnSpPr>
          <p:nvPr/>
        </p:nvCxnSpPr>
        <p:spPr>
          <a:xfrm>
            <a:off x="2419040" y="4197775"/>
            <a:ext cx="508697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B202B12-A258-8108-186D-F5C99EE6F804}"/>
              </a:ext>
            </a:extLst>
          </p:cNvPr>
          <p:cNvSpPr txBox="1"/>
          <p:nvPr/>
        </p:nvSpPr>
        <p:spPr>
          <a:xfrm>
            <a:off x="228631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ACFDE16B-292D-CEE7-D26B-874B0FDAC374}"/>
              </a:ext>
            </a:extLst>
          </p:cNvPr>
          <p:cNvCxnSpPr>
            <a:cxnSpLocks/>
          </p:cNvCxnSpPr>
          <p:nvPr/>
        </p:nvCxnSpPr>
        <p:spPr>
          <a:xfrm>
            <a:off x="47720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0889A9A-9BF1-DC08-AE34-A7451EE113CD}"/>
              </a:ext>
            </a:extLst>
          </p:cNvPr>
          <p:cNvSpPr txBox="1"/>
          <p:nvPr/>
        </p:nvSpPr>
        <p:spPr>
          <a:xfrm rot="16200000">
            <a:off x="2111177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962EAC99-6513-A21E-6BBF-96E1779712F1}"/>
              </a:ext>
            </a:extLst>
          </p:cNvPr>
          <p:cNvCxnSpPr>
            <a:cxnSpLocks/>
          </p:cNvCxnSpPr>
          <p:nvPr/>
        </p:nvCxnSpPr>
        <p:spPr>
          <a:xfrm flipV="1">
            <a:off x="3562353" y="2000250"/>
            <a:ext cx="2419350" cy="43059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27009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4E690-F2AD-18B4-D988-8AEE6085F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6F44F4-1686-2B4C-B786-2BBD121CB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432D000-AAD7-424D-68F9-3340C35A3C36}"/>
              </a:ext>
            </a:extLst>
          </p:cNvPr>
          <p:cNvCxnSpPr>
            <a:cxnSpLocks/>
          </p:cNvCxnSpPr>
          <p:nvPr/>
        </p:nvCxnSpPr>
        <p:spPr>
          <a:xfrm>
            <a:off x="456890" y="4197775"/>
            <a:ext cx="508697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1CBFC49-A98C-36D0-1878-7FFFEFF36A68}"/>
              </a:ext>
            </a:extLst>
          </p:cNvPr>
          <p:cNvSpPr txBox="1"/>
          <p:nvPr/>
        </p:nvSpPr>
        <p:spPr>
          <a:xfrm>
            <a:off x="32416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C8C6DF1-B97D-F199-5033-64331BCC3A7E}"/>
              </a:ext>
            </a:extLst>
          </p:cNvPr>
          <p:cNvCxnSpPr>
            <a:cxnSpLocks/>
          </p:cNvCxnSpPr>
          <p:nvPr/>
        </p:nvCxnSpPr>
        <p:spPr>
          <a:xfrm>
            <a:off x="280987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8EE0933-37D0-5B7A-EF49-7D3E7E68A636}"/>
              </a:ext>
            </a:extLst>
          </p:cNvPr>
          <p:cNvSpPr txBox="1"/>
          <p:nvPr/>
        </p:nvSpPr>
        <p:spPr>
          <a:xfrm rot="16200000">
            <a:off x="267015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F9770E7-D05C-D9DA-D98D-1366B9D2D1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850" y="2377217"/>
            <a:ext cx="1503361" cy="98100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D98E98A-995F-336E-D8D6-82E48810C9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2223" y="3358239"/>
            <a:ext cx="1280266" cy="52582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25689E68-6A28-53EE-75F3-C2D0E09D82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850" y="3691819"/>
            <a:ext cx="1280271" cy="54868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B06CAE5-178C-DC5D-E74B-8EF5E3F67E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7120" y="3697535"/>
            <a:ext cx="1597887" cy="542971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8A11805A-4319-468A-B660-5363D357BFFB}"/>
              </a:ext>
            </a:extLst>
          </p:cNvPr>
          <p:cNvSpPr/>
          <p:nvPr/>
        </p:nvSpPr>
        <p:spPr>
          <a:xfrm>
            <a:off x="3073399" y="3358224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C826B98-1D71-4910-55B7-EE49E4BBF56A}"/>
              </a:ext>
            </a:extLst>
          </p:cNvPr>
          <p:cNvSpPr/>
          <p:nvPr/>
        </p:nvSpPr>
        <p:spPr>
          <a:xfrm>
            <a:off x="4474513" y="2335507"/>
            <a:ext cx="260349" cy="24220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21DE4A-D272-D340-D9A6-538BC397CD81}"/>
              </a:ext>
            </a:extLst>
          </p:cNvPr>
          <p:cNvSpPr txBox="1"/>
          <p:nvPr/>
        </p:nvSpPr>
        <p:spPr>
          <a:xfrm>
            <a:off x="9385999" y="2345081"/>
            <a:ext cx="2714628" cy="170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벡터</a:t>
            </a:r>
            <a:r>
              <a:rPr lang="en-US" altLang="ko-KR" dirty="0"/>
              <a:t> v</a:t>
            </a:r>
            <a:r>
              <a:rPr lang="ko-KR" altLang="en-US" dirty="0"/>
              <a:t>가 행렬 </a:t>
            </a:r>
            <a:r>
              <a:rPr lang="en-US" altLang="ko-KR" dirty="0"/>
              <a:t>A</a:t>
            </a:r>
            <a:r>
              <a:rPr lang="ko-KR" altLang="en-US" dirty="0"/>
              <a:t>와 </a:t>
            </a:r>
            <a:r>
              <a:rPr lang="ko-KR" altLang="en-US" dirty="0" err="1"/>
              <a:t>내적하는</a:t>
            </a:r>
            <a:r>
              <a:rPr lang="ko-KR" altLang="en-US" dirty="0"/>
              <a:t> 선형변환을 하면 </a:t>
            </a:r>
            <a:r>
              <a:rPr lang="en-US" altLang="ko-KR" dirty="0"/>
              <a:t>Av = (5,5) </a:t>
            </a:r>
            <a:r>
              <a:rPr lang="ko-KR" altLang="en-US" dirty="0"/>
              <a:t>로 위치 이동하게 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2780874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0B495B-D82D-70B1-95E8-6A221ED9A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</a:t>
            </a:r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CC0271E0-83DB-4699-2D1D-D4EC4FBB269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2801144" y="2411707"/>
            <a:ext cx="2036761" cy="1302580"/>
          </a:xfrm>
          <a:prstGeom prst="rect">
            <a:avLst/>
          </a:prstGeom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A23EC9D9-E1E5-486D-524D-A0C034D9B291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133EA56-E119-9E2E-EBFA-3E843E65458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AB792C78-4F30-BAD6-12FC-138766A35512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8AE44BCE-2E3C-9E9E-D923-0EEE18AB9631}"/>
              </a:ext>
            </a:extLst>
          </p:cNvPr>
          <p:cNvSpPr/>
          <p:nvPr/>
        </p:nvSpPr>
        <p:spPr>
          <a:xfrm>
            <a:off x="2359026" y="3429000"/>
            <a:ext cx="841374" cy="768773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E801FD-463E-32A8-962F-C2F5391655F2}"/>
              </a:ext>
            </a:extLst>
          </p:cNvPr>
          <p:cNvSpPr txBox="1"/>
          <p:nvPr/>
        </p:nvSpPr>
        <p:spPr>
          <a:xfrm>
            <a:off x="5182225" y="2105546"/>
            <a:ext cx="6619250" cy="336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행렬 </a:t>
            </a:r>
            <a:r>
              <a:rPr lang="en-US" altLang="ko-KR" dirty="0"/>
              <a:t>A = [(2,1), (3,4)] </a:t>
            </a:r>
            <a:r>
              <a:rPr lang="ko-KR" altLang="en-US" dirty="0"/>
              <a:t>의 행렬인 경우 </a:t>
            </a:r>
            <a:r>
              <a:rPr lang="en-US" altLang="ko-KR" dirty="0"/>
              <a:t>v=(1,2)</a:t>
            </a:r>
            <a:r>
              <a:rPr lang="ko-KR" altLang="en-US" dirty="0"/>
              <a:t>는 어떻게 </a:t>
            </a:r>
            <a:r>
              <a:rPr lang="ko-KR" altLang="en-US" b="1" dirty="0"/>
              <a:t>변환</a:t>
            </a:r>
            <a:r>
              <a:rPr lang="ko-KR" altLang="en-US" dirty="0"/>
              <a:t>되는가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 </a:t>
            </a:r>
            <a:r>
              <a:rPr lang="ko-KR" altLang="en-US" dirty="0"/>
              <a:t>아래와 같은 정방형의 모든 실수는 </a:t>
            </a:r>
            <a:r>
              <a:rPr lang="en-US" altLang="ko-KR" dirty="0"/>
              <a:t>A</a:t>
            </a:r>
            <a:r>
              <a:rPr lang="ko-KR" altLang="en-US" dirty="0"/>
              <a:t>행렬과 </a:t>
            </a:r>
            <a:r>
              <a:rPr lang="ko-KR" altLang="en-US" dirty="0" err="1"/>
              <a:t>내적하면</a:t>
            </a:r>
            <a:r>
              <a:rPr lang="ko-KR" altLang="en-US" dirty="0"/>
              <a:t> 어떻게 </a:t>
            </a:r>
            <a:r>
              <a:rPr lang="ko-KR" altLang="en-US" b="1" dirty="0"/>
              <a:t>변환</a:t>
            </a:r>
            <a:r>
              <a:rPr lang="ko-KR" altLang="en-US" dirty="0"/>
              <a:t>되는지 파이썬 코드로 작성하고 시각화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/>
              <a:t>선형변환</a:t>
            </a:r>
            <a:r>
              <a:rPr lang="en-US" altLang="ko-KR" b="1" dirty="0"/>
              <a:t>(Linear Transformation)</a:t>
            </a:r>
            <a:r>
              <a:rPr lang="ko-KR" altLang="en-US" dirty="0"/>
              <a:t>의 결과를 기하학적 의미를 </a:t>
            </a:r>
            <a:r>
              <a:rPr lang="ko-KR" altLang="en-US" b="1" dirty="0"/>
              <a:t>투영</a:t>
            </a:r>
            <a:r>
              <a:rPr lang="en-US" altLang="ko-KR" b="1" dirty="0"/>
              <a:t>(Projection)</a:t>
            </a:r>
            <a:r>
              <a:rPr lang="ko-KR" altLang="en-US" dirty="0"/>
              <a:t>의 관점에서 설명하라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FFB67B-47AD-E2B1-F02D-7438ED6D3A02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66491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AED26979-3036-435B-0822-871DA230CA78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BAD771A1-25B1-665A-99F0-AD771F07CDA4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E7F301B5-9970-FCB6-2C79-A057D8D23F0E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9CF34E6-3C08-D401-489F-98201AD4E32F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7B46C8-7DA9-65B3-928C-F55479A8125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3F676E9-B701-E8CF-EBBF-76EAC4ADB1F9}"/>
                  </a:ext>
                </a:extLst>
              </p:cNvPr>
              <p:cNvSpPr txBox="1"/>
              <p:nvPr/>
            </p:nvSpPr>
            <p:spPr>
              <a:xfrm>
                <a:off x="4290293" y="1947442"/>
                <a:ext cx="1662832" cy="5111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2400" dirty="0"/>
                  <a:t>  A 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i="1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3F676E9-B701-E8CF-EBBF-76EAC4ADB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0293" y="1947442"/>
                <a:ext cx="1662832" cy="511166"/>
              </a:xfrm>
              <a:prstGeom prst="rect">
                <a:avLst/>
              </a:prstGeom>
              <a:blipFill>
                <a:blip r:embed="rId2"/>
                <a:stretch>
                  <a:fillRect l="-1099" t="-7143" b="-190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CBF6A67-AFE4-6834-2F28-3587CEBB3C3B}"/>
                  </a:ext>
                </a:extLst>
              </p:cNvPr>
              <p:cNvSpPr txBox="1"/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CBF6A67-AFE4-6834-2F28-3587CEBB3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blipFill>
                <a:blip r:embed="rId3"/>
                <a:stretch>
                  <a:fillRect l="-9160" t="-6667" r="-9924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D26D5B-87E7-1180-DE23-2F832DA99054}"/>
                  </a:ext>
                </a:extLst>
              </p:cNvPr>
              <p:cNvSpPr txBox="1"/>
              <p:nvPr/>
            </p:nvSpPr>
            <p:spPr>
              <a:xfrm>
                <a:off x="7465166" y="1984554"/>
                <a:ext cx="1805708" cy="5744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400" i="1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D26D5B-87E7-1180-DE23-2F832DA990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5166" y="1984554"/>
                <a:ext cx="1805708" cy="57445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4BEC3A-5D88-9BA3-FED6-597EC41DE58A}"/>
                  </a:ext>
                </a:extLst>
              </p:cNvPr>
              <p:cNvSpPr txBox="1"/>
              <p:nvPr/>
            </p:nvSpPr>
            <p:spPr>
              <a:xfrm>
                <a:off x="8980755" y="2133280"/>
                <a:ext cx="21090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=(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4BEC3A-5D88-9BA3-FED6-597EC41DE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0755" y="2133280"/>
                <a:ext cx="2109039" cy="276999"/>
              </a:xfrm>
              <a:prstGeom prst="rect">
                <a:avLst/>
              </a:prstGeom>
              <a:blipFill>
                <a:blip r:embed="rId5"/>
                <a:stretch>
                  <a:fillRect l="-289" t="-6667" r="-3179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059CE4A2-11E8-3782-9C37-54E0B00FD94F}"/>
              </a:ext>
            </a:extLst>
          </p:cNvPr>
          <p:cNvSpPr txBox="1"/>
          <p:nvPr/>
        </p:nvSpPr>
        <p:spPr>
          <a:xfrm>
            <a:off x="5784127" y="3165498"/>
            <a:ext cx="3915029" cy="2955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두 행이 완전히 동일하며 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모든 벡터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(x, y)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를 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(x+2y,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x+2y)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벡터로 선형변환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임의의 모든 점을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(1,2)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투영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(projection)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하고 대각선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(y=x)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배치 </a:t>
            </a:r>
          </a:p>
        </p:txBody>
      </p: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80E0E523-FCA2-AA24-9EA5-9380D86B3195}"/>
              </a:ext>
            </a:extLst>
          </p:cNvPr>
          <p:cNvCxnSpPr>
            <a:cxnSpLocks/>
            <a:stCxn id="19" idx="0"/>
            <a:endCxn id="17" idx="1"/>
          </p:cNvCxnSpPr>
          <p:nvPr/>
        </p:nvCxnSpPr>
        <p:spPr>
          <a:xfrm rot="5400000" flipH="1" flipV="1">
            <a:off x="3381818" y="1907079"/>
            <a:ext cx="612529" cy="120442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DAF44130-B832-9483-C9DF-EFD357270E48}"/>
              </a:ext>
            </a:extLst>
          </p:cNvPr>
          <p:cNvCxnSpPr>
            <a:cxnSpLocks/>
            <a:stCxn id="17" idx="3"/>
            <a:endCxn id="23" idx="1"/>
          </p:cNvCxnSpPr>
          <p:nvPr/>
        </p:nvCxnSpPr>
        <p:spPr>
          <a:xfrm>
            <a:off x="5953125" y="2203025"/>
            <a:ext cx="1512041" cy="6875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60400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E48C2-D67B-5ADB-18B1-80FE0EBB4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0F82DA0A-412B-C75A-C675-E78A772EB5B4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46E36533-3E78-9C9E-2D7B-3CD87C1D7E1E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50C11FE9-3D39-67F5-9B81-39ABA9F3C151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3A923B-0F3D-C793-CBDF-EB2CBE8E86F4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8F449C-DC59-EB8D-209F-4B2964F89FCF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75DD5-EF33-CACC-F286-91C83CCC184D}"/>
                  </a:ext>
                </a:extLst>
              </p:cNvPr>
              <p:cNvSpPr txBox="1"/>
              <p:nvPr/>
            </p:nvSpPr>
            <p:spPr>
              <a:xfrm>
                <a:off x="4591365" y="1592022"/>
                <a:ext cx="1662832" cy="5111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2400" dirty="0"/>
                  <a:t>  A 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i="1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75DD5-EF33-CACC-F286-91C83CCC1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1365" y="1592022"/>
                <a:ext cx="1662832" cy="511166"/>
              </a:xfrm>
              <a:prstGeom prst="rect">
                <a:avLst/>
              </a:prstGeom>
              <a:blipFill>
                <a:blip r:embed="rId2"/>
                <a:stretch>
                  <a:fillRect l="-733" t="-7143" b="-190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0FDEB4F-C9AC-B18B-C2C9-02BFB61C891E}"/>
                  </a:ext>
                </a:extLst>
              </p:cNvPr>
              <p:cNvSpPr txBox="1"/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0FDEB4F-C9AC-B18B-C2C9-02BFB61C89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blipFill>
                <a:blip r:embed="rId3"/>
                <a:stretch>
                  <a:fillRect l="-9160" t="-6667" r="-9924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43725C-55F0-7EBB-D964-7A4BC336DB67}"/>
                  </a:ext>
                </a:extLst>
              </p:cNvPr>
              <p:cNvSpPr txBox="1"/>
              <p:nvPr/>
            </p:nvSpPr>
            <p:spPr>
              <a:xfrm>
                <a:off x="7770413" y="2640004"/>
                <a:ext cx="18717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43725C-55F0-7EBB-D964-7A4BC336DB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0413" y="2640004"/>
                <a:ext cx="1871794" cy="276999"/>
              </a:xfrm>
              <a:prstGeom prst="rect">
                <a:avLst/>
              </a:prstGeom>
              <a:blipFill>
                <a:blip r:embed="rId4"/>
                <a:stretch>
                  <a:fillRect l="-3583" t="-6522" r="-3909" b="-282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F417510F-FA8E-6162-4468-EC4812C7C296}"/>
              </a:ext>
            </a:extLst>
          </p:cNvPr>
          <p:cNvSpPr txBox="1"/>
          <p:nvPr/>
        </p:nvSpPr>
        <p:spPr>
          <a:xfrm>
            <a:off x="3979335" y="3290089"/>
            <a:ext cx="3915029" cy="2955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임의의 모든 점을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(1,2)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</a:t>
            </a:r>
            <a:r>
              <a:rPr lang="ko-KR" alt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내적하여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투영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(projection)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하고 대각선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(y=x)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투영하여 배치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2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차원으로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차원으로 붕괴시키는 행렬변환 </a:t>
            </a:r>
          </a:p>
        </p:txBody>
      </p: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07E2D664-2BE6-2DF1-837C-3787AEF194CA}"/>
              </a:ext>
            </a:extLst>
          </p:cNvPr>
          <p:cNvCxnSpPr>
            <a:cxnSpLocks/>
            <a:stCxn id="19" idx="0"/>
            <a:endCxn id="17" idx="1"/>
          </p:cNvCxnSpPr>
          <p:nvPr/>
        </p:nvCxnSpPr>
        <p:spPr>
          <a:xfrm rot="5400000" flipH="1" flipV="1">
            <a:off x="3354644" y="1578833"/>
            <a:ext cx="967949" cy="15054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4903B8ED-A4E2-90BE-7A88-0777CA4B0F30}"/>
              </a:ext>
            </a:extLst>
          </p:cNvPr>
          <p:cNvCxnSpPr>
            <a:cxnSpLocks/>
            <a:stCxn id="17" idx="3"/>
            <a:endCxn id="24" idx="1"/>
          </p:cNvCxnSpPr>
          <p:nvPr/>
        </p:nvCxnSpPr>
        <p:spPr>
          <a:xfrm>
            <a:off x="6254197" y="1847605"/>
            <a:ext cx="1516216" cy="93089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A9EBD0C9-2937-E546-104C-A70FBE6A99F3}"/>
              </a:ext>
            </a:extLst>
          </p:cNvPr>
          <p:cNvCxnSpPr>
            <a:cxnSpLocks/>
          </p:cNvCxnSpPr>
          <p:nvPr/>
        </p:nvCxnSpPr>
        <p:spPr>
          <a:xfrm flipV="1">
            <a:off x="7615956" y="4163027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A6B7B48-EFB1-1809-928C-471F9BC07E28}"/>
              </a:ext>
            </a:extLst>
          </p:cNvPr>
          <p:cNvCxnSpPr>
            <a:cxnSpLocks/>
          </p:cNvCxnSpPr>
          <p:nvPr/>
        </p:nvCxnSpPr>
        <p:spPr>
          <a:xfrm>
            <a:off x="9968944" y="1990714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3B2C7D-9653-5102-80B2-FEFBC0BFFAEF}"/>
              </a:ext>
            </a:extLst>
          </p:cNvPr>
          <p:cNvSpPr txBox="1"/>
          <p:nvPr/>
        </p:nvSpPr>
        <p:spPr>
          <a:xfrm rot="16200000">
            <a:off x="7412550" y="4158723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5EDD22D-5F31-7D85-4E49-D7CCEC85C019}"/>
              </a:ext>
            </a:extLst>
          </p:cNvPr>
          <p:cNvSpPr txBox="1"/>
          <p:nvPr/>
        </p:nvSpPr>
        <p:spPr>
          <a:xfrm>
            <a:off x="7486650" y="4197773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28" name="그래픽 27" descr="별">
            <a:extLst>
              <a:ext uri="{FF2B5EF4-FFF2-40B4-BE49-F238E27FC236}">
                <a16:creationId xmlns:a16="http://schemas.microsoft.com/office/drawing/2014/main" id="{B1997F87-A73F-E620-983C-A239734A30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15239" y="3159667"/>
            <a:ext cx="485496" cy="485496"/>
          </a:xfrm>
          <a:prstGeom prst="rect">
            <a:avLst/>
          </a:prstGeom>
        </p:spPr>
      </p:pic>
      <p:pic>
        <p:nvPicPr>
          <p:cNvPr id="31" name="그래픽 30" descr="별">
            <a:extLst>
              <a:ext uri="{FF2B5EF4-FFF2-40B4-BE49-F238E27FC236}">
                <a16:creationId xmlns:a16="http://schemas.microsoft.com/office/drawing/2014/main" id="{1C6B1354-D5CB-5B29-DCCA-3AAA1F5158B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53327" y="2704498"/>
            <a:ext cx="485496" cy="48549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78074A7-356F-2C14-2D6D-24E36C4B79D4}"/>
                  </a:ext>
                </a:extLst>
              </p:cNvPr>
              <p:cNvSpPr txBox="1"/>
              <p:nvPr/>
            </p:nvSpPr>
            <p:spPr>
              <a:xfrm>
                <a:off x="631178" y="3151590"/>
                <a:ext cx="9650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(−1,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78074A7-356F-2C14-2D6D-24E36C4B7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178" y="3151590"/>
                <a:ext cx="965008" cy="276999"/>
              </a:xfrm>
              <a:prstGeom prst="rect">
                <a:avLst/>
              </a:prstGeom>
              <a:blipFill>
                <a:blip r:embed="rId9"/>
                <a:stretch>
                  <a:fillRect l="-7595" t="-6667" r="-8228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CEBCEB-0B03-527A-2949-05A459F0F937}"/>
                  </a:ext>
                </a:extLst>
              </p:cNvPr>
              <p:cNvSpPr txBox="1"/>
              <p:nvPr/>
            </p:nvSpPr>
            <p:spPr>
              <a:xfrm>
                <a:off x="11130986" y="2417974"/>
                <a:ext cx="7918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(3,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3)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CEBCEB-0B03-527A-2949-05A459F0F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30986" y="2417974"/>
                <a:ext cx="791883" cy="276999"/>
              </a:xfrm>
              <a:prstGeom prst="rect">
                <a:avLst/>
              </a:prstGeom>
              <a:blipFill>
                <a:blip r:embed="rId10"/>
                <a:stretch>
                  <a:fillRect l="-9231" t="-8889" r="-10000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FF4B92F-31B4-3C2F-14FE-6DE1FFDEBE8D}"/>
              </a:ext>
            </a:extLst>
          </p:cNvPr>
          <p:cNvCxnSpPr>
            <a:cxnSpLocks/>
          </p:cNvCxnSpPr>
          <p:nvPr/>
        </p:nvCxnSpPr>
        <p:spPr>
          <a:xfrm flipV="1">
            <a:off x="8485488" y="2556473"/>
            <a:ext cx="3128002" cy="3162693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2885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E3566-E0E2-3682-76F4-6A2B0A523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55D4C1-4B4A-A66E-82C3-386E6AB7E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CEC279A-BA05-1914-9046-3B18C4C7FD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4924" y="4277515"/>
            <a:ext cx="7402300" cy="115173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D933761-F6C1-E88D-6DC1-6D5645B5AE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4924" y="2300419"/>
            <a:ext cx="7330316" cy="11037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3B0C35-8920-5211-45F2-08E4D70B1F95}"/>
              </a:ext>
            </a:extLst>
          </p:cNvPr>
          <p:cNvSpPr txBox="1"/>
          <p:nvPr/>
        </p:nvSpPr>
        <p:spPr>
          <a:xfrm>
            <a:off x="466725" y="18453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/>
              <a:t>2</a:t>
            </a:r>
            <a:r>
              <a:rPr lang="ko-KR" altLang="en-US" sz="1800" dirty="0"/>
              <a:t>개 벡터</a:t>
            </a:r>
            <a:r>
              <a:rPr lang="en-US" altLang="ko-KR" sz="1800" dirty="0"/>
              <a:t>(points), (1,2), (2,1)</a:t>
            </a:r>
            <a:r>
              <a:rPr lang="ko-KR" altLang="en-US" sz="1800" dirty="0"/>
              <a:t>에 행렬</a:t>
            </a:r>
            <a:r>
              <a:rPr lang="en-US" altLang="ko-KR" dirty="0"/>
              <a:t>[(2,1), (1,4)] </a:t>
            </a:r>
            <a:r>
              <a:rPr lang="ko-KR" altLang="en-US" dirty="0"/>
              <a:t>와의</a:t>
            </a:r>
            <a:r>
              <a:rPr lang="en-US" altLang="ko-KR" dirty="0"/>
              <a:t> </a:t>
            </a:r>
            <a:r>
              <a:rPr lang="ko-KR" altLang="en-US" sz="1800" dirty="0"/>
              <a:t>내적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302242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3CF355-C241-D22E-F97C-7287CE73D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기하학적 이해</a:t>
            </a:r>
          </a:p>
        </p:txBody>
      </p:sp>
      <p:sp>
        <p:nvSpPr>
          <p:cNvPr id="4" name="AutoShape 2" descr=", AI generated">
            <a:extLst>
              <a:ext uri="{FF2B5EF4-FFF2-40B4-BE49-F238E27FC236}">
                <a16:creationId xmlns:a16="http://schemas.microsoft.com/office/drawing/2014/main" id="{A12FC27B-0BD4-A5AB-B0E5-D080A53513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B011C37-30DB-6272-D93F-F9473458E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1725" y="2014537"/>
            <a:ext cx="7286625" cy="3977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0482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15690B-B9F0-94FA-BC45-0E4821137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기하와 선형대수적 이해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30BE21E3-574E-E3B3-F218-5F9D85ABA5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7450" y="4643307"/>
            <a:ext cx="6599244" cy="202950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5C33DC3-86CB-5044-C33D-E78D6DD430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43" y="1954402"/>
            <a:ext cx="6237758" cy="2455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6598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BD2289-F2DD-C99C-21A0-D359B3CC0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투영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2AC9B519-750B-3AD9-C9B3-C647051B7BB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 bwMode="auto">
          <a:xfrm>
            <a:off x="570875" y="2015277"/>
            <a:ext cx="7738080" cy="422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135C1BC-D100-A1E8-B66D-30FE5BBBCD42}"/>
              </a:ext>
            </a:extLst>
          </p:cNvPr>
          <p:cNvSpPr txBox="1"/>
          <p:nvPr/>
        </p:nvSpPr>
        <p:spPr>
          <a:xfrm>
            <a:off x="8394680" y="2029696"/>
            <a:ext cx="36544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첫 번째 행렬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모든 데이터를 직선 하나에 강제로 정렬시키는 투영 </a:t>
            </a:r>
            <a:r>
              <a:rPr lang="en-US" altLang="ko-KR" dirty="0">
                <a:latin typeface="+mj-ea"/>
                <a:ea typeface="+mj-ea"/>
              </a:rPr>
              <a:t>(Singular Matrix).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두 번째 행렬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데이터를 새로운 좌표축으로 재배치하되 평면을 유지하는 투영 </a:t>
            </a:r>
            <a:r>
              <a:rPr lang="en-US" altLang="ko-KR" dirty="0">
                <a:latin typeface="+mj-ea"/>
                <a:ea typeface="+mj-ea"/>
              </a:rPr>
              <a:t>(Non-singular Matrix).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이 투영 개념은 데이터 분석에서 중요한 주성분 분석</a:t>
            </a:r>
            <a:r>
              <a:rPr lang="en-US" altLang="ko-KR" dirty="0">
                <a:latin typeface="+mj-ea"/>
                <a:ea typeface="+mj-ea"/>
              </a:rPr>
              <a:t>(PCA)</a:t>
            </a:r>
            <a:r>
              <a:rPr lang="ko-KR" altLang="en-US" dirty="0">
                <a:latin typeface="+mj-ea"/>
                <a:ea typeface="+mj-ea"/>
              </a:rPr>
              <a:t>의 기초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111412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83F07D-BFD3-3D69-893B-986373095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Kernel Transformation</a:t>
            </a:r>
            <a:endParaRPr lang="ko-KR" altLang="en-US" dirty="0"/>
          </a:p>
        </p:txBody>
      </p:sp>
      <p:pic>
        <p:nvPicPr>
          <p:cNvPr id="12" name="내용 개체 틀 11">
            <a:extLst>
              <a:ext uri="{FF2B5EF4-FFF2-40B4-BE49-F238E27FC236}">
                <a16:creationId xmlns:a16="http://schemas.microsoft.com/office/drawing/2014/main" id="{5E212C3C-7C78-67D1-9717-691256295328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 bwMode="auto">
          <a:xfrm>
            <a:off x="913774" y="1957388"/>
            <a:ext cx="8418804" cy="4595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4376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B3DBC6-35B0-DF34-8BB2-2CFA82E8E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행렬과 내적은 선형변환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F67A665-D8BD-3BDD-A95C-EA8AF2CDD90C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775" y="2014539"/>
            <a:ext cx="5182225" cy="3322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9EFB63E-667B-21BC-A172-32BE45A435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374" y="2014539"/>
            <a:ext cx="5390677" cy="3322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20D1C23-1819-2AC4-B5F5-C6A7D08A2267}"/>
              </a:ext>
            </a:extLst>
          </p:cNvPr>
          <p:cNvSpPr txBox="1"/>
          <p:nvPr/>
        </p:nvSpPr>
        <p:spPr>
          <a:xfrm>
            <a:off x="838200" y="5734658"/>
            <a:ext cx="33441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자료원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행렬의 기하학적인 의미와 해석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35531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54DAF-730F-8F6D-B29D-5CFC43465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F56195-CEFF-90F0-4BC3-62D731328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CD8618D8-99C8-D36D-5F8C-CB7C2F2D61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50" y="3120178"/>
            <a:ext cx="4373450" cy="2747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4152EB7C-8477-F13E-0008-2A651FA1B0C6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7048" y="2522484"/>
            <a:ext cx="5056802" cy="3424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D45B059-9139-C396-875E-8B274944A6E1}"/>
              </a:ext>
            </a:extLst>
          </p:cNvPr>
          <p:cNvSpPr txBox="1"/>
          <p:nvPr/>
        </p:nvSpPr>
        <p:spPr>
          <a:xfrm>
            <a:off x="504825" y="2244389"/>
            <a:ext cx="42481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Gaussian Random Noise Data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를 생성하고 행렬 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로 </a:t>
            </a:r>
            <a:r>
              <a:rPr lang="ko-KR" altLang="en-US" b="0" i="0" dirty="0" err="1">
                <a:solidFill>
                  <a:srgbClr val="000000"/>
                </a:solidFill>
                <a:effectLst/>
                <a:latin typeface="Nanum Gothic"/>
              </a:rPr>
              <a:t>선형변환하면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74FDDE7-53BE-B872-B47F-2FA837D882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1503" y="3143249"/>
            <a:ext cx="2345545" cy="150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6213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B0106-250C-EDA4-CFBA-23A14D248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97C0B-D82D-3948-18EA-EA57EC29E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주성분</a:t>
            </a:r>
            <a:r>
              <a:rPr lang="en-US" altLang="ko-KR" dirty="0"/>
              <a:t>(Principal component)</a:t>
            </a:r>
            <a:endParaRPr lang="ko-KR" altLang="en-US" dirty="0"/>
          </a:p>
        </p:txBody>
      </p:sp>
      <p:pic>
        <p:nvPicPr>
          <p:cNvPr id="4102" name="Picture 6">
            <a:extLst>
              <a:ext uri="{FF2B5EF4-FFF2-40B4-BE49-F238E27FC236}">
                <a16:creationId xmlns:a16="http://schemas.microsoft.com/office/drawing/2014/main" id="{EC556570-9556-C9E9-F483-2FA62BEA55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763" y="1647825"/>
            <a:ext cx="6257925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23895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D4C6D7-90E2-02DD-095D-F5CFC88C5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행렬변환에 의한 기저좌표의 변화</a:t>
            </a:r>
          </a:p>
        </p:txBody>
      </p:sp>
      <p:pic>
        <p:nvPicPr>
          <p:cNvPr id="3078" name="Picture 6">
            <a:extLst>
              <a:ext uri="{FF2B5EF4-FFF2-40B4-BE49-F238E27FC236}">
                <a16:creationId xmlns:a16="http://schemas.microsoft.com/office/drawing/2014/main" id="{8661F9D4-6959-ECD9-DFE2-38BAFFAD0C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476" y="2214694"/>
            <a:ext cx="5581650" cy="3562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537BC7C1-934D-9636-2C4B-CD031F9EC6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5848" y="1776923"/>
            <a:ext cx="5581651" cy="4000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51106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6D487E-2A47-66D1-E5D6-203622E2B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주성분분석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9F8F0A64-97F6-9176-29ED-C3A737B3980D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0582" y="2366963"/>
            <a:ext cx="6869311" cy="4252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73990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95A05-AD8A-4312-2266-14EB3FF74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9996B7-68D5-154D-EEB6-A81286B77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hlinkClick r:id="rId2"/>
              </a:rPr>
              <a:t>Eigenvalues_and_eigenvectors</a:t>
            </a:r>
            <a:endParaRPr lang="ko-KR" alt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1EC2804F-41A4-5101-2BDC-FC966F15EAEB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4" y="2214694"/>
            <a:ext cx="5774697" cy="4024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656C6E6-6881-C1B3-F43B-81E4D1656F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0424" y="1978912"/>
            <a:ext cx="4210051" cy="4260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6602098"/>
      </p:ext>
    </p:extLst>
  </p:cSld>
  <p:clrMapOvr>
    <a:masterClrMapping/>
  </p:clrMapOvr>
</p:sld>
</file>

<file path=ppt/theme/theme1.xml><?xml version="1.0" encoding="utf-8"?>
<a:theme xmlns:a="http://schemas.openxmlformats.org/drawingml/2006/main" name="물방울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{1CC570B9-0437-4096-963A-AEC0F46B8FA6}TF62d0d592-7ac2-4846-a919-75806e8bead4bfbc838d-5dafd7656617</Template>
  <TotalTime>698</TotalTime>
  <Words>555</Words>
  <Application>Microsoft Office PowerPoint</Application>
  <PresentationFormat>와이드스크린</PresentationFormat>
  <Paragraphs>72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7" baseType="lpstr">
      <vt:lpstr>Nanum Gothic</vt:lpstr>
      <vt:lpstr>맑은 고딕</vt:lpstr>
      <vt:lpstr>Arial</vt:lpstr>
      <vt:lpstr>Calibri Light</vt:lpstr>
      <vt:lpstr>Cambria Math</vt:lpstr>
      <vt:lpstr>Tw Cen MT</vt:lpstr>
      <vt:lpstr>Wingdings</vt:lpstr>
      <vt:lpstr>물방울</vt:lpstr>
      <vt:lpstr>행렬과 벡터</vt:lpstr>
      <vt:lpstr>배우기 시작</vt:lpstr>
      <vt:lpstr>1차원 직선에서의 선형변환에 대해 생각하기</vt:lpstr>
      <vt:lpstr>1차원 직선에서의 선형변환에 대해 생각하기</vt:lpstr>
      <vt:lpstr>2차원 평면에서의 선형변환에 대해 생각하기</vt:lpstr>
      <vt:lpstr>과제</vt:lpstr>
      <vt:lpstr>PowerPoint 프레젠테이션</vt:lpstr>
      <vt:lpstr>PowerPoint 프레젠테이션</vt:lpstr>
      <vt:lpstr>선형변환</vt:lpstr>
      <vt:lpstr>기하학적 이해</vt:lpstr>
      <vt:lpstr>기하와 선형대수적 이해</vt:lpstr>
      <vt:lpstr>투영</vt:lpstr>
      <vt:lpstr>Kernel Transformation</vt:lpstr>
      <vt:lpstr>행렬과 내적은 선형변환</vt:lpstr>
      <vt:lpstr>선형변환</vt:lpstr>
      <vt:lpstr>주성분(Principal component)</vt:lpstr>
      <vt:lpstr>행렬변환에 의한 기저좌표의 변화</vt:lpstr>
      <vt:lpstr>주성분분석</vt:lpstr>
      <vt:lpstr>Eigenvalues_and_eigenvectors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13</cp:revision>
  <dcterms:created xsi:type="dcterms:W3CDTF">2026-03-09T22:59:08Z</dcterms:created>
  <dcterms:modified xsi:type="dcterms:W3CDTF">2026-03-21T12:12:31Z</dcterms:modified>
</cp:coreProperties>
</file>