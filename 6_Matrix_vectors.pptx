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3"/>
  </p:notesMasterIdLst>
  <p:sldIdLst>
    <p:sldId id="256" r:id="rId2"/>
    <p:sldId id="266" r:id="rId3"/>
    <p:sldId id="282" r:id="rId4"/>
    <p:sldId id="288" r:id="rId5"/>
    <p:sldId id="291" r:id="rId6"/>
    <p:sldId id="289" r:id="rId7"/>
    <p:sldId id="290" r:id="rId8"/>
    <p:sldId id="286" r:id="rId9"/>
    <p:sldId id="285" r:id="rId10"/>
    <p:sldId id="287" r:id="rId11"/>
    <p:sldId id="280" r:id="rId12"/>
    <p:sldId id="265" r:id="rId13"/>
    <p:sldId id="271" r:id="rId14"/>
    <p:sldId id="275" r:id="rId15"/>
    <p:sldId id="276" r:id="rId16"/>
    <p:sldId id="272" r:id="rId17"/>
    <p:sldId id="279" r:id="rId18"/>
    <p:sldId id="270" r:id="rId19"/>
    <p:sldId id="259" r:id="rId20"/>
    <p:sldId id="258" r:id="rId21"/>
    <p:sldId id="268" r:id="rId22"/>
    <p:sldId id="269" r:id="rId23"/>
    <p:sldId id="260" r:id="rId24"/>
    <p:sldId id="818" r:id="rId25"/>
    <p:sldId id="263" r:id="rId26"/>
    <p:sldId id="815" r:id="rId27"/>
    <p:sldId id="816" r:id="rId28"/>
    <p:sldId id="817" r:id="rId29"/>
    <p:sldId id="292" r:id="rId30"/>
    <p:sldId id="811" r:id="rId31"/>
    <p:sldId id="81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62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2026-03-23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67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chrome-extension://hmigninkgibhdckiaphhmbgcghochdjc/pdfjs/web/viewer.html?file=file%3A%2F%2F%2FC%3A%2FUsers%2F%25EC%25A1%25B0%25EA%25B7%25BC%25ED%2595%2598%2FDownloads%2FPython%2520for%2520Data%2520Analysis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27.png"/><Relationship Id="rId7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e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행렬과 벡터</a:t>
            </a:r>
            <a:br>
              <a:rPr lang="en-US" altLang="ko-KR" dirty="0"/>
            </a:br>
            <a:r>
              <a:rPr lang="en-US" altLang="ko-KR" sz="3200" dirty="0"/>
              <a:t>-</a:t>
            </a:r>
            <a:r>
              <a:rPr lang="ko-KR" altLang="en-US" sz="3200" dirty="0"/>
              <a:t>선형변환</a:t>
            </a:r>
            <a:r>
              <a:rPr lang="en-US" altLang="ko-KR" sz="3200" dirty="0"/>
              <a:t>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8BC7E252-AF9C-7707-B610-3002F1588D0E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0992DD-2A1A-471D-D61E-522358216252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76B5AD-2D50-1372-7360-DA30BAB8D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EB4B838B-4138-0FC7-9610-BD20DC7A82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/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𝑏𝑦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𝑏𝑓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ko-KR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더하면 → 출력도 더해진다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입력을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스케일하면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출력도 같이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스케일된다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lnSpc>
                    <a:spcPct val="20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비틀림 없이 ‘비례적으로’ 변하는 구조</a:t>
                </a:r>
                <a:endParaRPr lang="ko-KR" altLang="en-US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77135C-CB95-4C2F-A987-FC0BE3085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74" y="2724745"/>
                <a:ext cx="4782176" cy="2723951"/>
              </a:xfrm>
              <a:prstGeom prst="rect">
                <a:avLst/>
              </a:prstGeom>
              <a:blipFill>
                <a:blip r:embed="rId2"/>
                <a:stretch>
                  <a:fillRect l="-510" b="-1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/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+mj-ea"/>
                    <a:ea typeface="+mj-ea"/>
                  </a:rPr>
                  <a:t>선형대수는 숫자를 계산하는 학문이 아니라 데이터를 공간으로 보고</a:t>
                </a:r>
                <a:r>
                  <a:rPr lang="en-US" altLang="ko-KR" sz="1600" dirty="0">
                    <a:latin typeface="+mj-ea"/>
                    <a:ea typeface="+mj-ea"/>
                  </a:rPr>
                  <a:t>, </a:t>
                </a:r>
                <a:r>
                  <a:rPr lang="ko-KR" altLang="en-US" sz="1600" dirty="0">
                    <a:latin typeface="+mj-ea"/>
                    <a:ea typeface="+mj-ea"/>
                  </a:rPr>
                  <a:t>모델을 ‘</a:t>
                </a:r>
                <a:r>
                  <a:rPr lang="ko-KR" altLang="en-US" sz="1600" dirty="0" err="1">
                    <a:latin typeface="+mj-ea"/>
                    <a:ea typeface="+mj-ea"/>
                  </a:rPr>
                  <a:t>변환’으로</a:t>
                </a:r>
                <a:r>
                  <a:rPr lang="ko-KR" altLang="en-US" sz="1600" dirty="0">
                    <a:latin typeface="+mj-ea"/>
                    <a:ea typeface="+mj-ea"/>
                  </a:rPr>
                  <a:t> 이해하는 언어</a:t>
                </a:r>
                <a:endParaRPr lang="en-US" altLang="ko-KR" sz="1600" dirty="0">
                  <a:latin typeface="+mj-ea"/>
                  <a:ea typeface="+mj-ea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1600" dirty="0">
                  <a:latin typeface="+mj-ea"/>
                  <a:ea typeface="+mj-ea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선형변환</a:t>
                </a:r>
                <a14:m>
                  <m:oMath xmlns:m="http://schemas.openxmlformats.org/officeDocument/2006/math">
                    <m:r>
                      <a:rPr lang="ko-KR" altLang="en-US" sz="1400" dirty="0">
                        <a:latin typeface="Cambria Math" panose="02040503050406030204" pitchFamily="18" charset="0"/>
                        <a:ea typeface="+mj-ea"/>
                      </a:rPr>
                      <m:t>식</m:t>
                    </m:r>
                    <m:r>
                      <a:rPr lang="en-US" altLang="ko-KR" sz="1400" dirty="0">
                        <a:latin typeface="Cambria Math" panose="02040503050406030204" pitchFamily="18" charset="0"/>
                        <a:ea typeface="+mj-ea"/>
                      </a:rPr>
                      <m:t> 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</m:oMath>
                </a14:m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+mj-ea"/>
                    <a:ea typeface="+mj-ea"/>
                  </a:rPr>
                  <a:t>기하학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공간을 어떻게 움직이고 변환</a:t>
                </a:r>
                <a:r>
                  <a:rPr lang="en-US" altLang="ko-KR" sz="1400" dirty="0">
                    <a:latin typeface="+mj-ea"/>
                    <a:ea typeface="+mj-ea"/>
                  </a:rPr>
                  <a:t>(</a:t>
                </a:r>
                <a:r>
                  <a:rPr lang="ko-KR" altLang="ko-KR" sz="1400" dirty="0">
                    <a:latin typeface="+mj-ea"/>
                    <a:ea typeface="+mj-ea"/>
                  </a:rPr>
                  <a:t>회전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확대/축소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기울이기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ko-KR" sz="1400" dirty="0">
                    <a:latin typeface="+mj-ea"/>
                    <a:ea typeface="+mj-ea"/>
                  </a:rPr>
                  <a:t>투영</a:t>
                </a:r>
                <a:r>
                  <a:rPr lang="en-US" altLang="ko-KR" sz="1400" dirty="0">
                    <a:latin typeface="+mj-ea"/>
                    <a:ea typeface="+mj-ea"/>
                  </a:rPr>
                  <a:t>)</a:t>
                </a:r>
                <a:r>
                  <a:rPr lang="ko-KR" altLang="en-US" sz="1400" dirty="0">
                    <a:latin typeface="+mj-ea"/>
                    <a:ea typeface="+mj-ea"/>
                  </a:rPr>
                  <a:t>하는 지 </a:t>
                </a:r>
                <a:endParaRPr lang="en-US" altLang="ko-KR" sz="1400" dirty="0">
                  <a:latin typeface="+mj-ea"/>
                  <a:ea typeface="+mj-ea"/>
                </a:endParaRPr>
              </a:p>
              <a:p>
                <a:pPr marL="285750" lvl="0" indent="-285750" defTabSz="91440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sz="1400" dirty="0" err="1">
                    <a:latin typeface="+mj-ea"/>
                    <a:ea typeface="+mj-ea"/>
                  </a:rPr>
                  <a:t>머신러닝</a:t>
                </a:r>
                <a:r>
                  <a:rPr lang="ko-KR" altLang="en-US" sz="1400" dirty="0">
                    <a:latin typeface="+mj-ea"/>
                    <a:ea typeface="+mj-ea"/>
                  </a:rPr>
                  <a:t> </a:t>
                </a:r>
                <a:r>
                  <a:rPr lang="en-US" altLang="ko-KR" sz="1400" dirty="0">
                    <a:latin typeface="+mj-ea"/>
                    <a:ea typeface="+mj-ea"/>
                  </a:rPr>
                  <a:t>: </a:t>
                </a:r>
                <a:r>
                  <a:rPr lang="ko-KR" altLang="en-US" sz="1400" dirty="0">
                    <a:latin typeface="+mj-ea"/>
                    <a:ea typeface="+mj-ea"/>
                  </a:rPr>
                  <a:t>관측치는 벡터</a:t>
                </a:r>
                <a:r>
                  <a:rPr lang="en-US" altLang="ko-KR" sz="1400" dirty="0">
                    <a:latin typeface="+mj-ea"/>
                    <a:ea typeface="+mj-ea"/>
                  </a:rPr>
                  <a:t>, </a:t>
                </a:r>
                <a:r>
                  <a:rPr lang="ko-KR" altLang="en-US" sz="1400" dirty="0">
                    <a:latin typeface="+mj-ea"/>
                    <a:ea typeface="+mj-ea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𝐴𝑥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  <m:r>
                      <a:rPr lang="en-US" altLang="ko-KR" sz="1400">
                        <a:latin typeface="Cambria Math" panose="02040503050406030204" pitchFamily="18" charset="0"/>
                        <a:ea typeface="+mj-ea"/>
                      </a:rPr>
                      <m:t>𝑏</m:t>
                    </m:r>
                  </m:oMath>
                </a14:m>
                <a:endParaRPr lang="ko-KR" altLang="ko-KR" sz="1600" dirty="0"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30ED720-64B5-63D1-949A-AB2E465BA8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724744"/>
                <a:ext cx="5695948" cy="2458045"/>
              </a:xfrm>
              <a:prstGeom prst="rect">
                <a:avLst/>
              </a:prstGeom>
              <a:blipFill>
                <a:blip r:embed="rId3"/>
                <a:stretch>
                  <a:fillRect l="-642" r="-321" b="-148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4E33216C-5C89-76EF-1B50-005A46C1073E}"/>
              </a:ext>
            </a:extLst>
          </p:cNvPr>
          <p:cNvSpPr/>
          <p:nvPr/>
        </p:nvSpPr>
        <p:spPr>
          <a:xfrm>
            <a:off x="913774" y="2331773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E4F69319-E81B-BBED-D44F-A4A615948AB7}"/>
              </a:ext>
            </a:extLst>
          </p:cNvPr>
          <p:cNvSpPr/>
          <p:nvPr/>
        </p:nvSpPr>
        <p:spPr>
          <a:xfrm rot="10800000">
            <a:off x="4457701" y="5055724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556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“벡터와 행렬을 이용해 ‘선형 관계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(linear relationship)’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와 ‘공간의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변환’을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다루는 학문”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아래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동영상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4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38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7CA6-AE1E-2771-03AF-1CD13690C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D3F2E-64F5-9124-6A18-1E71DE791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4AF6-B807-1718-66C4-3A177E20DC84}"/>
              </a:ext>
            </a:extLst>
          </p:cNvPr>
          <p:cNvSpPr txBox="1"/>
          <p:nvPr/>
        </p:nvSpPr>
        <p:spPr>
          <a:xfrm>
            <a:off x="2694949" y="3718779"/>
            <a:ext cx="2610476" cy="166834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en-US" altLang="ko-KR" dirty="0">
              <a:latin typeface="Cambria Math" panose="02040503050406030204" pitchFamily="18" charset="0"/>
            </a:endParaRPr>
          </a:p>
          <a:p>
            <a:pPr>
              <a:lnSpc>
                <a:spcPct val="200000"/>
              </a:lnSpc>
            </a:pPr>
            <a:endParaRPr lang="ko-KR" altLang="en-US" dirty="0">
              <a:latin typeface="Cambria Math" panose="02040503050406030204" pitchFamily="18" charset="0"/>
            </a:endParaRPr>
          </a:p>
        </p:txBody>
      </p:sp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DF7369FB-EEF5-7CB2-B89D-C0CD67DC690E}"/>
              </a:ext>
            </a:extLst>
          </p:cNvPr>
          <p:cNvSpPr/>
          <p:nvPr/>
        </p:nvSpPr>
        <p:spPr>
          <a:xfrm>
            <a:off x="2847349" y="3325807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8C458B28-D009-3B02-9B51-30B8DBF0B336}"/>
              </a:ext>
            </a:extLst>
          </p:cNvPr>
          <p:cNvSpPr/>
          <p:nvPr/>
        </p:nvSpPr>
        <p:spPr>
          <a:xfrm rot="10800000">
            <a:off x="4210050" y="4994149"/>
            <a:ext cx="971550" cy="785943"/>
          </a:xfrm>
          <a:prstGeom prst="flowChartMerg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내용 개체 틀 11">
            <a:extLst>
              <a:ext uri="{FF2B5EF4-FFF2-40B4-BE49-F238E27FC236}">
                <a16:creationId xmlns:a16="http://schemas.microsoft.com/office/drawing/2014/main" id="{3FAA4F57-F32D-47AF-9527-DF8ECBF4E3C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선형대수학은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“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복잡한 문제를 직선적인 단순한 구조로 </a:t>
            </a:r>
            <a:r>
              <a:rPr lang="ko-KR" altLang="en-US" dirty="0"/>
              <a:t>근사</a:t>
            </a:r>
            <a:r>
              <a:rPr lang="en-US" altLang="ko-KR" dirty="0"/>
              <a:t>(</a:t>
            </a:r>
            <a:r>
              <a:rPr lang="en-US" altLang="ko-KR" dirty="0" err="1"/>
              <a:t>ApproxiMate</a:t>
            </a:r>
            <a:r>
              <a:rPr lang="en-US" altLang="ko-KR" dirty="0"/>
              <a:t>)</a:t>
            </a:r>
            <a:r>
              <a:rPr lang="ko-KR" altLang="en-US" dirty="0"/>
              <a:t>하는 기술</a:t>
            </a:r>
            <a:endParaRPr lang="en-US" altLang="ko-KR" dirty="0"/>
          </a:p>
          <a:p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대부분의 복잡한 시스템은 </a:t>
            </a:r>
            <a:r>
              <a:rPr lang="ko-KR" altLang="en-US" dirty="0"/>
              <a:t>선형 근사</a:t>
            </a:r>
            <a:r>
              <a:rPr lang="en-US" altLang="ko-KR" dirty="0"/>
              <a:t>(linear approximation)</a:t>
            </a:r>
            <a:r>
              <a:rPr lang="ko-KR" altLang="en-US" dirty="0"/>
              <a:t>로 </a:t>
            </a:r>
            <a:r>
              <a:rPr lang="ko-KR" altLang="en-US" dirty="0" err="1"/>
              <a:t>다루어짐</a:t>
            </a:r>
            <a:endParaRPr lang="ko-KR" alt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/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13A63-F573-011F-04D4-FCF5683DC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2597998"/>
                <a:ext cx="1939121" cy="276999"/>
              </a:xfrm>
              <a:prstGeom prst="rect">
                <a:avLst/>
              </a:prstGeom>
              <a:blipFill>
                <a:blip r:embed="rId2"/>
                <a:stretch>
                  <a:fillRect l="-4403" t="-28261" r="-943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/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altLang="ko-KR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,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…….</m:t>
                    </m:r>
                    <m:sSub>
                      <m:sSubPr>
                        <m:ctrlPr>
                          <a:rPr lang="pt-BR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AD9A33-C344-2076-A050-652791F231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228" y="3010333"/>
                <a:ext cx="1909946" cy="276999"/>
              </a:xfrm>
              <a:prstGeom prst="rect">
                <a:avLst/>
              </a:prstGeom>
              <a:blipFill>
                <a:blip r:embed="rId3"/>
                <a:stretch>
                  <a:fillRect l="-4473" t="-28889" r="-95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/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B1DC68-B055-71BF-A2D1-B3DF40D36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199" y="4333937"/>
                <a:ext cx="1317925" cy="307777"/>
              </a:xfrm>
              <a:prstGeom prst="rect">
                <a:avLst/>
              </a:prstGeom>
              <a:blipFill>
                <a:blip r:embed="rId4"/>
                <a:stretch>
                  <a:fillRect l="-3704" t="-24000" r="-3704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/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𝑒𝑡𝑢𝑟𝑛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7B44021-266B-11C6-627B-D253521D1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674" y="5923126"/>
                <a:ext cx="1029834" cy="307777"/>
              </a:xfrm>
              <a:prstGeom prst="rect">
                <a:avLst/>
              </a:prstGeom>
              <a:blipFill>
                <a:blip r:embed="rId5"/>
                <a:stretch>
                  <a:fillRect l="-2367" t="-24000" r="-35503" b="-26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9191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83564" y="2240238"/>
            <a:ext cx="9561167" cy="4133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5D6E60C-805C-F4F3-0780-443D722A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781" y="4867337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21569" r="-3226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2000" dirty="0"/>
                  <a:t>회귀생성</a:t>
                </a:r>
                <a:r>
                  <a:rPr lang="en-US" altLang="ko-KR" sz="2000" dirty="0"/>
                  <a:t>(Regression)</a:t>
                </a:r>
                <a:r>
                  <a:rPr lang="ko-KR" altLang="en-US" sz="2000" dirty="0"/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sz="2000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sz="2000" dirty="0"/>
                  <a:t>를 행렬 </a:t>
                </a: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sz="2000" dirty="0"/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800" y="1134845"/>
                <a:ext cx="9990035" cy="964046"/>
              </a:xfrm>
              <a:prstGeom prst="rect">
                <a:avLst/>
              </a:prstGeom>
              <a:blipFill>
                <a:blip r:embed="rId4"/>
                <a:stretch>
                  <a:fillRect l="-671" b="-9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5823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C982-6E96-ECB2-EBA6-408905AF7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E4E8A41-89FF-B75D-5C98-DE5FBB071249}"/>
              </a:ext>
            </a:extLst>
          </p:cNvPr>
          <p:cNvSpPr/>
          <p:nvPr/>
        </p:nvSpPr>
        <p:spPr>
          <a:xfrm>
            <a:off x="636521" y="23229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757A4E-F290-CE82-27E0-2DF9725D0E18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2729165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5871F-6794-7500-6128-87B662878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634C58-AE6C-176B-F945-6D8030D9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dirty="0"/>
              <a:t> </a:t>
            </a:r>
            <a:r>
              <a:rPr lang="ko-KR" altLang="en-US" dirty="0"/>
              <a:t>배우기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6541DB5-89AD-BBD3-1005-18F5C456981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116473" y="2214694"/>
            <a:ext cx="3255502" cy="424702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38B465D-C127-08FA-DE59-4EE4DE73E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791" y="2214693"/>
            <a:ext cx="4578929" cy="4247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AEBB09-87BF-A3B4-9FCE-50B0C858CD85}"/>
              </a:ext>
            </a:extLst>
          </p:cNvPr>
          <p:cNvSpPr txBox="1"/>
          <p:nvPr/>
        </p:nvSpPr>
        <p:spPr>
          <a:xfrm>
            <a:off x="1009650" y="1400175"/>
            <a:ext cx="4155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</a:t>
            </a:r>
            <a:r>
              <a:rPr lang="ko-KR" altLang="en-US" dirty="0"/>
              <a:t>장 배열과 </a:t>
            </a:r>
            <a:r>
              <a:rPr lang="ko-KR" altLang="en-US" dirty="0" err="1"/>
              <a:t>벡터화연산</a:t>
            </a:r>
            <a:r>
              <a:rPr lang="ko-KR" altLang="en-US" dirty="0"/>
              <a:t> 학습하기 </a:t>
            </a:r>
            <a:r>
              <a:rPr lang="en-US" altLang="ko-KR" dirty="0"/>
              <a:t>(</a:t>
            </a:r>
            <a:r>
              <a:rPr lang="ko-KR" altLang="en-US" dirty="0"/>
              <a:t>자습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01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CD44D-B91A-AE7B-6C6C-B88B039E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7F5EBD33-F29B-B13D-CCA7-71EE10FC8B74}"/>
              </a:ext>
            </a:extLst>
          </p:cNvPr>
          <p:cNvSpPr/>
          <p:nvPr/>
        </p:nvSpPr>
        <p:spPr>
          <a:xfrm>
            <a:off x="636521" y="2970684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E474B-A2D8-6FFD-093B-1498B72842D6}"/>
              </a:ext>
            </a:extLst>
          </p:cNvPr>
          <p:cNvSpPr txBox="1"/>
          <p:nvPr/>
        </p:nvSpPr>
        <p:spPr>
          <a:xfrm>
            <a:off x="1629916" y="147612"/>
            <a:ext cx="8928992" cy="3999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대수학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(Algebra)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선형대수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Algebra)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627231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9F88C-1F8F-A2AC-3D6B-A3312E3D8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AA548-B705-F527-DF59-321E6D96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배우기 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A3E08E-3665-01E9-0677-23E74683F5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차원 직선에서의 선형변환에 대해 생각하기</a:t>
            </a:r>
            <a:endParaRPr lang="en-US" altLang="ko-KR" sz="2400" dirty="0"/>
          </a:p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0215A1-FF31-720E-824D-1350EDE22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49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8F7EF1AA-F153-6183-97D0-69F9B4F583E3}"/>
              </a:ext>
            </a:extLst>
          </p:cNvPr>
          <p:cNvCxnSpPr>
            <a:cxnSpLocks/>
          </p:cNvCxnSpPr>
          <p:nvPr/>
        </p:nvCxnSpPr>
        <p:spPr>
          <a:xfrm>
            <a:off x="241904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202B12-A258-8108-186D-F5C99EE6F804}"/>
              </a:ext>
            </a:extLst>
          </p:cNvPr>
          <p:cNvSpPr txBox="1"/>
          <p:nvPr/>
        </p:nvSpPr>
        <p:spPr>
          <a:xfrm>
            <a:off x="228631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CFDE16B-292D-CEE7-D26B-874B0FDAC374}"/>
              </a:ext>
            </a:extLst>
          </p:cNvPr>
          <p:cNvCxnSpPr>
            <a:cxnSpLocks/>
          </p:cNvCxnSpPr>
          <p:nvPr/>
        </p:nvCxnSpPr>
        <p:spPr>
          <a:xfrm>
            <a:off x="47720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0889A9A-9BF1-DC08-AE34-A7451EE113CD}"/>
              </a:ext>
            </a:extLst>
          </p:cNvPr>
          <p:cNvSpPr txBox="1"/>
          <p:nvPr/>
        </p:nvSpPr>
        <p:spPr>
          <a:xfrm rot="16200000">
            <a:off x="2111177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62EAC99-6513-A21E-6BBF-96E1779712F1}"/>
              </a:ext>
            </a:extLst>
          </p:cNvPr>
          <p:cNvCxnSpPr>
            <a:cxnSpLocks/>
          </p:cNvCxnSpPr>
          <p:nvPr/>
        </p:nvCxnSpPr>
        <p:spPr>
          <a:xfrm flipV="1">
            <a:off x="3562353" y="2000250"/>
            <a:ext cx="2419350" cy="43059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0B495B-D82D-70B1-95E8-6A221ED9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3F07D-BFD3-3D69-893B-986373095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Kernel Transformation</a:t>
            </a:r>
            <a:endParaRPr lang="ko-KR" altLang="en-US" dirty="0"/>
          </a:p>
        </p:txBody>
      </p:sp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5E212C3C-7C78-67D1-9717-69125629532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913774" y="1957388"/>
            <a:ext cx="8418804" cy="4595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43765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C4825-AF5F-1A39-53C0-CEDF6DA1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１차원　선형변환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Ｔ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ｘ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200" y="1265382"/>
                <a:ext cx="2541721" cy="404085"/>
              </a:xfrm>
              <a:prstGeom prst="rect">
                <a:avLst/>
              </a:prstGeom>
              <a:blipFill>
                <a:blip r:embed="rId4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10" name="제목 1">
            <a:extLst>
              <a:ext uri="{FF2B5EF4-FFF2-40B4-BE49-F238E27FC236}">
                <a16:creationId xmlns:a16="http://schemas.microsoft.com/office/drawing/2014/main" id="{0ED52B74-ED06-C1FF-8DE4-EEA6F419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회전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C44384E2-C2A9-42A8-C52E-3B425FDA3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099447"/>
          </a:xfrm>
        </p:spPr>
        <p:txBody>
          <a:bodyPr/>
          <a:lstStyle/>
          <a:p>
            <a:r>
              <a:rPr lang="ko-KR" altLang="en-US" dirty="0"/>
              <a:t>２차원　</a:t>
            </a:r>
            <a:r>
              <a:rPr lang="en-US" altLang="ko-KR" dirty="0"/>
              <a:t>sheer</a:t>
            </a:r>
            <a:r>
              <a:rPr lang="ko-KR" altLang="en-US" dirty="0"/>
              <a:t>　선형변환</a:t>
            </a:r>
          </a:p>
        </p:txBody>
      </p:sp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B38FC264-10B3-B34E-8BD5-928FD74E945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451914" y="3178843"/>
            <a:ext cx="9288171" cy="1800476"/>
          </a:xfrm>
          <a:prstGeom prst="rect">
            <a:avLst/>
          </a:prstGeom>
        </p:spPr>
      </p:pic>
      <p:pic>
        <p:nvPicPr>
          <p:cNvPr id="1026" name="Picture 2" descr="clap board roadside Jakob and Ryan">
            <a:extLst>
              <a:ext uri="{FF2B5EF4-FFF2-40B4-BE49-F238E27FC236}">
                <a16:creationId xmlns:a16="http://schemas.microsoft.com/office/drawing/2014/main" id="{23F44CB3-02C4-078A-A7D0-959CDD895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421" y="433787"/>
            <a:ext cx="2362490" cy="159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56778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7742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Kernel Transformation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b="0" dirty="0">
              <a:solidFill>
                <a:srgbClr val="000000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B39C48-D1D6-35F5-B1EA-C7C6916E3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993074"/>
            <a:ext cx="3294767" cy="250303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635BAA7-CE39-2E03-0021-A2FEB8429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6" y="3798534"/>
            <a:ext cx="3294767" cy="254009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E79001F-EDD7-253B-B489-2582AD413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7392" y="3173077"/>
            <a:ext cx="1249073" cy="323036"/>
          </a:xfrm>
          <a:prstGeom prst="rect">
            <a:avLst/>
          </a:prstGeom>
          <a:ln>
            <a:solidFill>
              <a:srgbClr val="FF0000"/>
            </a:solidFill>
          </a:ln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  <a:stCxn id="5" idx="3"/>
            <a:endCxn id="8" idx="3"/>
          </p:cNvCxnSpPr>
          <p:nvPr/>
        </p:nvCxnSpPr>
        <p:spPr>
          <a:xfrm>
            <a:off x="10111203" y="2244594"/>
            <a:ext cx="101600" cy="2823989"/>
          </a:xfrm>
          <a:prstGeom prst="curvedConnector3">
            <a:avLst>
              <a:gd name="adj1" fmla="val 3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411374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1657</TotalTime>
  <Words>1505</Words>
  <Application>Microsoft Office PowerPoint</Application>
  <PresentationFormat>와이드스크린</PresentationFormat>
  <Paragraphs>205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3" baseType="lpstr">
      <vt:lpstr>Nanum Gothic</vt:lpstr>
      <vt:lpstr>맑은 고딕</vt:lpstr>
      <vt:lpstr>Batang</vt:lpstr>
      <vt:lpstr>한컴 말랑말랑 Bold</vt:lpstr>
      <vt:lpstr>Arial</vt:lpstr>
      <vt:lpstr>Calibri</vt:lpstr>
      <vt:lpstr>Calibri Light</vt:lpstr>
      <vt:lpstr>Cambria Math</vt:lpstr>
      <vt:lpstr>Tw Cen MT</vt:lpstr>
      <vt:lpstr>Wingdings</vt:lpstr>
      <vt:lpstr>Wingdings 2</vt:lpstr>
      <vt:lpstr>물방울</vt:lpstr>
      <vt:lpstr>행렬과 벡터 -선형변환-</vt:lpstr>
      <vt:lpstr>PowerPoint 프레젠테이션</vt:lpstr>
      <vt:lpstr>대수(algebra)</vt:lpstr>
      <vt:lpstr>선형대수(linear algebra)</vt:lpstr>
      <vt:lpstr>선형대수(linear algebra)</vt:lpstr>
      <vt:lpstr>선형대수(linear algebra)</vt:lpstr>
      <vt:lpstr>선형대수(linear algebra)</vt:lpstr>
      <vt:lpstr>PowerPoint 프레젠테이션</vt:lpstr>
      <vt:lpstr>Numpy 배우기</vt:lpstr>
      <vt:lpstr>PowerPoint 프레젠테이션</vt:lpstr>
      <vt:lpstr>배우기 시작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과제</vt:lpstr>
      <vt:lpstr>PowerPoint 프레젠테이션</vt:lpstr>
      <vt:lpstr>PowerPoint 프레젠테이션</vt:lpstr>
      <vt:lpstr>선형변환</vt:lpstr>
      <vt:lpstr>기하학적 이해</vt:lpstr>
      <vt:lpstr>기하와 선형대수적 이해</vt:lpstr>
      <vt:lpstr>투영</vt:lpstr>
      <vt:lpstr>Kernel Transformation</vt:lpstr>
      <vt:lpstr>행렬과 내적은 선형변환</vt:lpstr>
      <vt:lpstr>선형변환</vt:lpstr>
      <vt:lpstr>선형변환</vt:lpstr>
      <vt:lpstr>１차원　선형변환</vt:lpstr>
      <vt:lpstr>２차원　회전 선형변환</vt:lpstr>
      <vt:lpstr>２차원　sheer　선형변환</vt:lpstr>
      <vt:lpstr>실습하기</vt:lpstr>
      <vt:lpstr>Digress : Shear Bradpit Image</vt:lpstr>
      <vt:lpstr>Digress : Kernel Transformation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22</cp:revision>
  <dcterms:created xsi:type="dcterms:W3CDTF">2026-03-09T22:59:08Z</dcterms:created>
  <dcterms:modified xsi:type="dcterms:W3CDTF">2026-03-23T02:20:17Z</dcterms:modified>
</cp:coreProperties>
</file>