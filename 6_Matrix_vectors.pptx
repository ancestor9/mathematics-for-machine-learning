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6"/>
  </p:notesMasterIdLst>
  <p:sldIdLst>
    <p:sldId id="256" r:id="rId2"/>
    <p:sldId id="266" r:id="rId3"/>
    <p:sldId id="282" r:id="rId4"/>
    <p:sldId id="288" r:id="rId5"/>
    <p:sldId id="291" r:id="rId6"/>
    <p:sldId id="289" r:id="rId7"/>
    <p:sldId id="290" r:id="rId8"/>
    <p:sldId id="286" r:id="rId9"/>
    <p:sldId id="285" r:id="rId10"/>
    <p:sldId id="287" r:id="rId11"/>
    <p:sldId id="280" r:id="rId12"/>
    <p:sldId id="265" r:id="rId13"/>
    <p:sldId id="271" r:id="rId14"/>
    <p:sldId id="819" r:id="rId15"/>
    <p:sldId id="820" r:id="rId16"/>
    <p:sldId id="275" r:id="rId17"/>
    <p:sldId id="276" r:id="rId18"/>
    <p:sldId id="272" r:id="rId19"/>
    <p:sldId id="279" r:id="rId20"/>
    <p:sldId id="270" r:id="rId21"/>
    <p:sldId id="259" r:id="rId22"/>
    <p:sldId id="258" r:id="rId23"/>
    <p:sldId id="268" r:id="rId24"/>
    <p:sldId id="269" r:id="rId25"/>
    <p:sldId id="260" r:id="rId26"/>
    <p:sldId id="818" r:id="rId27"/>
    <p:sldId id="263" r:id="rId28"/>
    <p:sldId id="815" r:id="rId29"/>
    <p:sldId id="816" r:id="rId30"/>
    <p:sldId id="817" r:id="rId31"/>
    <p:sldId id="821" r:id="rId32"/>
    <p:sldId id="292" r:id="rId33"/>
    <p:sldId id="811" r:id="rId34"/>
    <p:sldId id="812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1651" autoAdjust="0"/>
    <p:restoredTop sz="94660"/>
  </p:normalViewPr>
  <p:slideViewPr>
    <p:cSldViewPr snapToGrid="0">
      <p:cViewPr>
        <p:scale>
          <a:sx n="75" d="100"/>
          <a:sy n="75" d="100"/>
        </p:scale>
        <p:origin x="1128" y="173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12" name="날짜 개체 틀 3">
            <a:extLst>
              <a:ext uri="{FF2B5EF4-FFF2-40B4-BE49-F238E27FC236}">
                <a16:creationId xmlns:a16="http://schemas.microsoft.com/office/drawing/2014/main" id="{E02622F7-B412-D3AE-34CC-44CC99AE3E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338113"/>
            <a:ext cx="2743200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fld id="{28A3BAFB-7A40-4072-A7FD-FB0EDC55F13F}" type="datetime1">
              <a:rPr lang="ko-KR" altLang="en-US" smtClean="0"/>
              <a:t>2026-03-25</a:t>
            </a:fld>
            <a:endParaRPr lang="en-US" dirty="0"/>
          </a:p>
        </p:txBody>
      </p:sp>
      <p:sp>
        <p:nvSpPr>
          <p:cNvPr id="13" name="바닥글 개체 틀 4">
            <a:extLst>
              <a:ext uri="{FF2B5EF4-FFF2-40B4-BE49-F238E27FC236}">
                <a16:creationId xmlns:a16="http://schemas.microsoft.com/office/drawing/2014/main" id="{21086B2D-0BBF-7448-422F-0EAD78082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5" y="6338113"/>
            <a:ext cx="6672865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4" name="슬라이드 번호 개체 틀 5">
            <a:extLst>
              <a:ext uri="{FF2B5EF4-FFF2-40B4-BE49-F238E27FC236}">
                <a16:creationId xmlns:a16="http://schemas.microsoft.com/office/drawing/2014/main" id="{F2F60889-8102-9290-1B7C-A4994E8FC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38113"/>
            <a:ext cx="753545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7674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ww.youtube.com/watch?v=fNk_zzaMoSs&amp;list=PLZHQObOWTQDPD3MizzM2xVFitgF8hE_a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chrome-extension://hmigninkgibhdckiaphhmbgcghochdjc/pdfjs/web/viewer.html?file=file%3A%2F%2F%2FC%3A%2FUsers%2F%25EC%25A1%25B0%25EA%25B7%25BC%25ED%2595%2598%2FDownloads%2FPython%2520for%2520Data%2520Analysis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1.png"/><Relationship Id="rId7" Type="http://schemas.openxmlformats.org/officeDocument/2006/relationships/image" Target="../media/image3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1.png"/><Relationship Id="rId9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0.png"/><Relationship Id="rId4" Type="http://schemas.openxmlformats.org/officeDocument/2006/relationships/image" Target="../media/image28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3" Type="http://schemas.openxmlformats.org/officeDocument/2006/relationships/image" Target="../media/image270.png"/><Relationship Id="rId7" Type="http://schemas.openxmlformats.org/officeDocument/2006/relationships/image" Target="../media/image44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svg"/><Relationship Id="rId5" Type="http://schemas.openxmlformats.org/officeDocument/2006/relationships/image" Target="../media/image42.png"/><Relationship Id="rId10" Type="http://schemas.openxmlformats.org/officeDocument/2006/relationships/image" Target="../media/image370.png"/><Relationship Id="rId4" Type="http://schemas.openxmlformats.org/officeDocument/2006/relationships/image" Target="../media/image310.png"/><Relationship Id="rId9" Type="http://schemas.openxmlformats.org/officeDocument/2006/relationships/image" Target="../media/image36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cipesds.tistory.com/entry/%EC%B4%88%EA%B0%84%EB%8B%A8-%EC%84%A0%ED%98%95%EB%8C%80%EC%88%98-%ED%96%89%EB%A0%AC%EC%9D%98-%EA%B8%B0%ED%95%98%ED%95%99%EC%A0%81%EC%9D%B8-%EC%9D%98%EB%AF%B8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eg"/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0.png"/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0.png"/><Relationship Id="rId4" Type="http://schemas.openxmlformats.org/officeDocument/2006/relationships/image" Target="../media/image51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15462.courses.cs.cmu.edu/fall2019/lecture/transformations/slide_028" TargetMode="External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e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94BC4CC-119D-4066-611C-7FF8F6954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1" y="-1"/>
            <a:ext cx="7315200" cy="6834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53B55A5-AD55-D660-8099-86131A40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14571"/>
            <a:ext cx="4876801" cy="2509213"/>
          </a:xfrm>
        </p:spPr>
        <p:txBody>
          <a:bodyPr/>
          <a:lstStyle/>
          <a:p>
            <a:r>
              <a:rPr lang="ko-KR" altLang="en-US" dirty="0"/>
              <a:t>행렬과 벡터</a:t>
            </a:r>
            <a:br>
              <a:rPr lang="en-US" altLang="ko-KR" dirty="0"/>
            </a:br>
            <a:r>
              <a:rPr lang="en-US" altLang="ko-KR" sz="3200" dirty="0"/>
              <a:t>-</a:t>
            </a:r>
            <a:r>
              <a:rPr lang="ko-KR" altLang="en-US" sz="3200" dirty="0"/>
              <a:t>선형변환</a:t>
            </a:r>
            <a:r>
              <a:rPr lang="en-US" altLang="ko-KR" sz="3200" dirty="0"/>
              <a:t>-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CC0AE0-A72B-E734-A33B-67DEC4595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99986"/>
            <a:ext cx="4876801" cy="1371599"/>
          </a:xfrm>
        </p:spPr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2026 Spring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조상구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924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8BC7E252-AF9C-7707-B610-3002F1588D0E}"/>
              </a:ext>
            </a:extLst>
          </p:cNvPr>
          <p:cNvSpPr/>
          <p:nvPr/>
        </p:nvSpPr>
        <p:spPr>
          <a:xfrm>
            <a:off x="636521" y="1646709"/>
            <a:ext cx="8136904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0992DD-2A1A-471D-D61E-522358216252}"/>
              </a:ext>
            </a:extLst>
          </p:cNvPr>
          <p:cNvSpPr txBox="1"/>
          <p:nvPr/>
        </p:nvSpPr>
        <p:spPr>
          <a:xfrm>
            <a:off x="1629916" y="147612"/>
            <a:ext cx="8928992" cy="3999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대수학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(Algebra)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선형대수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Numpy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(Principal Component Analysis)</a:t>
            </a:r>
          </a:p>
        </p:txBody>
      </p:sp>
    </p:spTree>
    <p:extLst>
      <p:ext uri="{BB962C8B-B14F-4D97-AF65-F5344CB8AC3E}">
        <p14:creationId xmlns:p14="http://schemas.microsoft.com/office/powerpoint/2010/main" val="282017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DC9B65-F8EA-6AA1-1DA5-2D80DF7BE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대수</a:t>
            </a:r>
            <a:r>
              <a:rPr lang="en-US" altLang="ko-KR" dirty="0"/>
              <a:t>(algebra)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F94065A-3B86-1519-6348-51928857D09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Algebra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기호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(symbol) 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값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(value)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의 관계를 다루고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</a:t>
            </a:r>
          </a:p>
          <a:p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Python namespace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이름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(name) 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객체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(object)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의 매핑을 관리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/>
              <p:nvPr/>
            </p:nvSpPr>
            <p:spPr>
              <a:xfrm>
                <a:off x="1114424" y="2588389"/>
                <a:ext cx="4200525" cy="3185616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Algebra </a:t>
                </a:r>
                <a:r>
                  <a:rPr lang="ko-KR" altLang="en-US" sz="2000" dirty="0">
                    <a:latin typeface="Cambria Math" panose="02040503050406030204" pitchFamily="18" charset="0"/>
                  </a:rPr>
                  <a:t>관점에서 보기</a:t>
                </a: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</m:oMath>
                </a14:m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는 이름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기호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), 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은 값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는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을 “참조” 즉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기호 → 값으로 매핑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4424" y="2588389"/>
                <a:ext cx="4200525" cy="3185616"/>
              </a:xfrm>
              <a:prstGeom prst="rect">
                <a:avLst/>
              </a:prstGeom>
              <a:blipFill>
                <a:blip r:embed="rId2"/>
                <a:stretch>
                  <a:fillRect l="-1597" b="-15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/>
              <p:nvPr/>
            </p:nvSpPr>
            <p:spPr>
              <a:xfrm>
                <a:off x="6095687" y="2588389"/>
                <a:ext cx="4562788" cy="3179909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Python Namespace </a:t>
                </a:r>
                <a:r>
                  <a:rPr lang="ko-KR" altLang="en-US" sz="2000" dirty="0">
                    <a:latin typeface="Cambria Math" panose="02040503050406030204" pitchFamily="18" charset="0"/>
                  </a:rPr>
                  <a:t>구조</a:t>
                </a:r>
                <a:endParaRPr lang="en-US" altLang="ko-KR" sz="20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    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# 3(class)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를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가 객체화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</m:oMath>
                </a14:m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3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객체를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, 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y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5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객체를 가리킴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이걸 저장하는 공간이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namespace</a:t>
                </a:r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이름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(name) →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(object)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매핑 테이블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687" y="2588389"/>
                <a:ext cx="4562788" cy="3179909"/>
              </a:xfrm>
              <a:prstGeom prst="rect">
                <a:avLst/>
              </a:prstGeom>
              <a:blipFill>
                <a:blip r:embed="rId3"/>
                <a:stretch>
                  <a:fillRect l="-14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3977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9566F-70DB-C9B6-52A4-104A38E78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76B5AD-2D50-1372-7360-DA30BAB8D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EB4B838B-4138-0FC7-9610-BD20DC7A82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“벡터와 행렬을 이용해 ‘선형 관계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(linear relationship)’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와 ‘공간의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변환’을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다루는 학문”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77135C-CB95-4C2F-A987-FC0BE3085902}"/>
                  </a:ext>
                </a:extLst>
              </p:cNvPr>
              <p:cNvSpPr txBox="1"/>
              <p:nvPr/>
            </p:nvSpPr>
            <p:spPr>
              <a:xfrm>
                <a:off x="761374" y="2724745"/>
                <a:ext cx="4782176" cy="2723951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𝑎𝑥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𝑏𝑦</m:t>
                          </m:r>
                        </m:e>
                      </m:d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𝑎𝑓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𝑏𝑓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ko-KR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입력을 더하면 → 출력도 더해진다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입력을 </a:t>
                </a:r>
                <a:r>
                  <a:rPr lang="ko-KR" altLang="en-US" sz="1600" dirty="0" err="1">
                    <a:latin typeface="Cambria Math" panose="02040503050406030204" pitchFamily="18" charset="0"/>
                  </a:rPr>
                  <a:t>스케일하면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출력도 같이 </a:t>
                </a:r>
                <a:r>
                  <a:rPr lang="ko-KR" altLang="en-US" sz="1600" dirty="0" err="1">
                    <a:latin typeface="Cambria Math" panose="02040503050406030204" pitchFamily="18" charset="0"/>
                  </a:rPr>
                  <a:t>스케일된다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비틀림 없이 ‘비례적으로’ 변하는 구조</a:t>
                </a:r>
                <a:endParaRPr lang="ko-KR" altLang="en-US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77135C-CB95-4C2F-A987-FC0BE30859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74" y="2724745"/>
                <a:ext cx="4782176" cy="2723951"/>
              </a:xfrm>
              <a:prstGeom prst="rect">
                <a:avLst/>
              </a:prstGeom>
              <a:blipFill>
                <a:blip r:embed="rId2"/>
                <a:stretch>
                  <a:fillRect l="-510" b="-1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30ED720-64B5-63D1-949A-AB2E465BA8E3}"/>
                  </a:ext>
                </a:extLst>
              </p:cNvPr>
              <p:cNvSpPr txBox="1"/>
              <p:nvPr/>
            </p:nvSpPr>
            <p:spPr>
              <a:xfrm>
                <a:off x="6095687" y="2724744"/>
                <a:ext cx="5695948" cy="24580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dirty="0">
                    <a:latin typeface="+mj-ea"/>
                    <a:ea typeface="+mj-ea"/>
                  </a:rPr>
                  <a:t>선형대수는 숫자를 계산하는 학문이 아니라 데이터를 공간으로 보고</a:t>
                </a:r>
                <a:r>
                  <a:rPr lang="en-US" altLang="ko-KR" sz="1600" dirty="0">
                    <a:latin typeface="+mj-ea"/>
                    <a:ea typeface="+mj-ea"/>
                  </a:rPr>
                  <a:t>, </a:t>
                </a:r>
                <a:r>
                  <a:rPr lang="ko-KR" altLang="en-US" sz="1600" dirty="0">
                    <a:latin typeface="+mj-ea"/>
                    <a:ea typeface="+mj-ea"/>
                  </a:rPr>
                  <a:t>모델을 ‘</a:t>
                </a:r>
                <a:r>
                  <a:rPr lang="ko-KR" altLang="en-US" sz="1600" dirty="0" err="1">
                    <a:latin typeface="+mj-ea"/>
                    <a:ea typeface="+mj-ea"/>
                  </a:rPr>
                  <a:t>변환’으로</a:t>
                </a:r>
                <a:r>
                  <a:rPr lang="ko-KR" altLang="en-US" sz="1600" dirty="0">
                    <a:latin typeface="+mj-ea"/>
                    <a:ea typeface="+mj-ea"/>
                  </a:rPr>
                  <a:t> 이해하는 언어</a:t>
                </a:r>
                <a:endParaRPr lang="en-US" altLang="ko-KR" sz="1600" dirty="0">
                  <a:latin typeface="+mj-ea"/>
                  <a:ea typeface="+mj-ea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ko-KR" sz="1600" dirty="0">
                  <a:latin typeface="+mj-ea"/>
                  <a:ea typeface="+mj-ea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400" dirty="0">
                    <a:latin typeface="+mj-ea"/>
                    <a:ea typeface="+mj-ea"/>
                  </a:rPr>
                  <a:t>선형변환</a:t>
                </a:r>
                <a14:m>
                  <m:oMath xmlns:m="http://schemas.openxmlformats.org/officeDocument/2006/math">
                    <m:r>
                      <a:rPr lang="ko-KR" altLang="en-US" sz="1400" dirty="0">
                        <a:latin typeface="Cambria Math" panose="02040503050406030204" pitchFamily="18" charset="0"/>
                        <a:ea typeface="+mj-ea"/>
                      </a:rPr>
                      <m:t>식</m:t>
                    </m:r>
                    <m:r>
                      <a:rPr lang="en-US" altLang="ko-KR" sz="1400" dirty="0">
                        <a:latin typeface="Cambria Math" panose="02040503050406030204" pitchFamily="18" charset="0"/>
                        <a:ea typeface="+mj-ea"/>
                      </a:rPr>
                      <m:t> 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𝑦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=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𝐴𝑥</m:t>
                    </m:r>
                  </m:oMath>
                </a14:m>
                <a:endParaRPr lang="en-US" altLang="ko-KR" sz="1400" dirty="0">
                  <a:latin typeface="+mj-ea"/>
                  <a:ea typeface="+mj-ea"/>
                </a:endParaRPr>
              </a:p>
              <a:p>
                <a:pPr marL="285750" lvl="0" indent="-285750" defTabSz="91440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lang="ko-KR" altLang="en-US" sz="1400" dirty="0">
                    <a:latin typeface="+mj-ea"/>
                    <a:ea typeface="+mj-ea"/>
                  </a:rPr>
                  <a:t>기하학 </a:t>
                </a:r>
                <a:r>
                  <a:rPr lang="en-US" altLang="ko-KR" sz="1400" dirty="0">
                    <a:latin typeface="+mj-ea"/>
                    <a:ea typeface="+mj-ea"/>
                  </a:rPr>
                  <a:t>: </a:t>
                </a:r>
                <a:r>
                  <a:rPr lang="ko-KR" altLang="en-US" sz="1400" dirty="0">
                    <a:latin typeface="+mj-ea"/>
                    <a:ea typeface="+mj-ea"/>
                  </a:rPr>
                  <a:t>공간을 어떻게 움직이고 변환</a:t>
                </a:r>
                <a:r>
                  <a:rPr lang="en-US" altLang="ko-KR" sz="1400" dirty="0">
                    <a:latin typeface="+mj-ea"/>
                    <a:ea typeface="+mj-ea"/>
                  </a:rPr>
                  <a:t>(</a:t>
                </a:r>
                <a:r>
                  <a:rPr lang="ko-KR" altLang="ko-KR" sz="1400" dirty="0">
                    <a:latin typeface="+mj-ea"/>
                    <a:ea typeface="+mj-ea"/>
                  </a:rPr>
                  <a:t>회전</a:t>
                </a:r>
                <a:r>
                  <a:rPr lang="en-US" altLang="ko-KR" sz="1400" dirty="0">
                    <a:latin typeface="+mj-ea"/>
                    <a:ea typeface="+mj-ea"/>
                  </a:rPr>
                  <a:t>, </a:t>
                </a:r>
                <a:r>
                  <a:rPr lang="ko-KR" altLang="ko-KR" sz="1400" dirty="0">
                    <a:latin typeface="+mj-ea"/>
                    <a:ea typeface="+mj-ea"/>
                  </a:rPr>
                  <a:t>확대/축소</a:t>
                </a:r>
                <a:r>
                  <a:rPr lang="en-US" altLang="ko-KR" sz="1400" dirty="0">
                    <a:latin typeface="+mj-ea"/>
                    <a:ea typeface="+mj-ea"/>
                  </a:rPr>
                  <a:t>, </a:t>
                </a:r>
                <a:r>
                  <a:rPr lang="ko-KR" altLang="ko-KR" sz="1400" dirty="0">
                    <a:latin typeface="+mj-ea"/>
                    <a:ea typeface="+mj-ea"/>
                  </a:rPr>
                  <a:t>기울이기</a:t>
                </a:r>
                <a:r>
                  <a:rPr lang="en-US" altLang="ko-KR" sz="1400" dirty="0">
                    <a:latin typeface="+mj-ea"/>
                    <a:ea typeface="+mj-ea"/>
                  </a:rPr>
                  <a:t>, </a:t>
                </a:r>
                <a:r>
                  <a:rPr lang="ko-KR" altLang="ko-KR" sz="1400" dirty="0">
                    <a:latin typeface="+mj-ea"/>
                    <a:ea typeface="+mj-ea"/>
                  </a:rPr>
                  <a:t>투영</a:t>
                </a:r>
                <a:r>
                  <a:rPr lang="en-US" altLang="ko-KR" sz="1400" dirty="0">
                    <a:latin typeface="+mj-ea"/>
                    <a:ea typeface="+mj-ea"/>
                  </a:rPr>
                  <a:t>)</a:t>
                </a:r>
                <a:r>
                  <a:rPr lang="ko-KR" altLang="en-US" sz="1400" dirty="0">
                    <a:latin typeface="+mj-ea"/>
                    <a:ea typeface="+mj-ea"/>
                  </a:rPr>
                  <a:t>하는 지 </a:t>
                </a:r>
                <a:endParaRPr lang="en-US" altLang="ko-KR" sz="1400" dirty="0">
                  <a:latin typeface="+mj-ea"/>
                  <a:ea typeface="+mj-ea"/>
                </a:endParaRPr>
              </a:p>
              <a:p>
                <a:pPr marL="285750" lvl="0" indent="-285750" defTabSz="91440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lang="ko-KR" altLang="en-US" sz="1400" dirty="0" err="1">
                    <a:latin typeface="+mj-ea"/>
                    <a:ea typeface="+mj-ea"/>
                  </a:rPr>
                  <a:t>머신러닝</a:t>
                </a:r>
                <a:r>
                  <a:rPr lang="ko-KR" altLang="en-US" sz="1400" dirty="0">
                    <a:latin typeface="+mj-ea"/>
                    <a:ea typeface="+mj-ea"/>
                  </a:rPr>
                  <a:t> </a:t>
                </a:r>
                <a:r>
                  <a:rPr lang="en-US" altLang="ko-KR" sz="1400" dirty="0">
                    <a:latin typeface="+mj-ea"/>
                    <a:ea typeface="+mj-ea"/>
                  </a:rPr>
                  <a:t>: </a:t>
                </a:r>
                <a:r>
                  <a:rPr lang="ko-KR" altLang="en-US" sz="1400" dirty="0">
                    <a:latin typeface="+mj-ea"/>
                    <a:ea typeface="+mj-ea"/>
                  </a:rPr>
                  <a:t>관측치는 벡터</a:t>
                </a:r>
                <a:r>
                  <a:rPr lang="en-US" altLang="ko-KR" sz="1400" dirty="0">
                    <a:latin typeface="+mj-ea"/>
                    <a:ea typeface="+mj-ea"/>
                  </a:rPr>
                  <a:t>, </a:t>
                </a:r>
                <a:r>
                  <a:rPr lang="ko-KR" altLang="en-US" sz="1400" dirty="0">
                    <a:latin typeface="+mj-ea"/>
                    <a:ea typeface="+mj-ea"/>
                  </a:rPr>
                  <a:t>모델은 </a:t>
                </a:r>
                <a14:m>
                  <m:oMath xmlns:m="http://schemas.openxmlformats.org/officeDocument/2006/math"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𝑦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=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𝐴𝑥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+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𝑏</m:t>
                    </m:r>
                  </m:oMath>
                </a14:m>
                <a:endParaRPr lang="ko-KR" altLang="ko-KR" sz="1600" dirty="0"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30ED720-64B5-63D1-949A-AB2E465BA8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687" y="2724744"/>
                <a:ext cx="5695948" cy="2458045"/>
              </a:xfrm>
              <a:prstGeom prst="rect">
                <a:avLst/>
              </a:prstGeom>
              <a:blipFill>
                <a:blip r:embed="rId3"/>
                <a:stretch>
                  <a:fillRect l="-642" r="-321" b="-148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순서도: 병합 5">
            <a:extLst>
              <a:ext uri="{FF2B5EF4-FFF2-40B4-BE49-F238E27FC236}">
                <a16:creationId xmlns:a16="http://schemas.microsoft.com/office/drawing/2014/main" id="{4E33216C-5C89-76EF-1B50-005A46C1073E}"/>
              </a:ext>
            </a:extLst>
          </p:cNvPr>
          <p:cNvSpPr/>
          <p:nvPr/>
        </p:nvSpPr>
        <p:spPr>
          <a:xfrm>
            <a:off x="913774" y="2331773"/>
            <a:ext cx="971550" cy="785943"/>
          </a:xfrm>
          <a:prstGeom prst="flowChartMerg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순서도: 병합 6">
            <a:extLst>
              <a:ext uri="{FF2B5EF4-FFF2-40B4-BE49-F238E27FC236}">
                <a16:creationId xmlns:a16="http://schemas.microsoft.com/office/drawing/2014/main" id="{E4F69319-E81B-BBED-D44F-A4A615948AB7}"/>
              </a:ext>
            </a:extLst>
          </p:cNvPr>
          <p:cNvSpPr/>
          <p:nvPr/>
        </p:nvSpPr>
        <p:spPr>
          <a:xfrm rot="10800000">
            <a:off x="4457701" y="5055724"/>
            <a:ext cx="971550" cy="785943"/>
          </a:xfrm>
          <a:prstGeom prst="flowChartMerg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8556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8DA01-A99B-61BF-C97A-C1A5B76EE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598281-CD11-B99F-2C6A-35C343FE5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A373E53-19CA-74B5-49AE-464E7176A62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“벡터와 행렬을 이용해 ‘선형 관계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(linear relationship)’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와 ‘공간의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변환’을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다루는 학문”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아래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동영상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4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장까지 사전학습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990304-2C81-BE6E-89E5-F6D9190D9914}"/>
              </a:ext>
            </a:extLst>
          </p:cNvPr>
          <p:cNvSpPr txBox="1"/>
          <p:nvPr/>
        </p:nvSpPr>
        <p:spPr>
          <a:xfrm>
            <a:off x="1409700" y="2515058"/>
            <a:ext cx="38130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Essence of linear algebra</a:t>
            </a:r>
            <a:endParaRPr lang="ko-KR" altLang="en-US" sz="28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A8879A5-87AD-8D96-775A-B094426E67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325" y="3116426"/>
            <a:ext cx="3038775" cy="295137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841D3EF-810D-D94A-03B8-586E28C1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700" y="3116426"/>
            <a:ext cx="4487741" cy="294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385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E7CA6-AE1E-2771-03AF-1CD13690C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D3F2E-64F5-9124-6A18-1E71DE791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574AF6-B807-1718-66C4-3A177E20DC84}"/>
              </a:ext>
            </a:extLst>
          </p:cNvPr>
          <p:cNvSpPr txBox="1"/>
          <p:nvPr/>
        </p:nvSpPr>
        <p:spPr>
          <a:xfrm>
            <a:off x="2694949" y="3718779"/>
            <a:ext cx="2610476" cy="1668342"/>
          </a:xfrm>
          <a:prstGeom prst="rect">
            <a:avLst/>
          </a:prstGeom>
          <a:solidFill>
            <a:srgbClr val="FFC000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dirty="0">
              <a:latin typeface="Cambria Math" panose="02040503050406030204" pitchFamily="18" charset="0"/>
            </a:endParaRPr>
          </a:p>
          <a:p>
            <a:pPr>
              <a:lnSpc>
                <a:spcPct val="200000"/>
              </a:lnSpc>
            </a:pPr>
            <a:endParaRPr lang="en-US" altLang="ko-KR" dirty="0">
              <a:latin typeface="Cambria Math" panose="02040503050406030204" pitchFamily="18" charset="0"/>
            </a:endParaRPr>
          </a:p>
          <a:p>
            <a:pPr>
              <a:lnSpc>
                <a:spcPct val="200000"/>
              </a:lnSpc>
            </a:pPr>
            <a:endParaRPr lang="ko-KR" altLang="en-US" dirty="0">
              <a:latin typeface="Cambria Math" panose="02040503050406030204" pitchFamily="18" charset="0"/>
            </a:endParaRPr>
          </a:p>
        </p:txBody>
      </p:sp>
      <p:sp>
        <p:nvSpPr>
          <p:cNvPr id="6" name="순서도: 병합 5">
            <a:extLst>
              <a:ext uri="{FF2B5EF4-FFF2-40B4-BE49-F238E27FC236}">
                <a16:creationId xmlns:a16="http://schemas.microsoft.com/office/drawing/2014/main" id="{DF7369FB-EEF5-7CB2-B89D-C0CD67DC690E}"/>
              </a:ext>
            </a:extLst>
          </p:cNvPr>
          <p:cNvSpPr/>
          <p:nvPr/>
        </p:nvSpPr>
        <p:spPr>
          <a:xfrm>
            <a:off x="2847349" y="3325807"/>
            <a:ext cx="971550" cy="785943"/>
          </a:xfrm>
          <a:prstGeom prst="flowChartMerg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순서도: 병합 6">
            <a:extLst>
              <a:ext uri="{FF2B5EF4-FFF2-40B4-BE49-F238E27FC236}">
                <a16:creationId xmlns:a16="http://schemas.microsoft.com/office/drawing/2014/main" id="{8C458B28-D009-3B02-9B51-30B8DBF0B336}"/>
              </a:ext>
            </a:extLst>
          </p:cNvPr>
          <p:cNvSpPr/>
          <p:nvPr/>
        </p:nvSpPr>
        <p:spPr>
          <a:xfrm rot="10800000">
            <a:off x="4210050" y="4994149"/>
            <a:ext cx="971550" cy="785943"/>
          </a:xfrm>
          <a:prstGeom prst="flowChartMerg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내용 개체 틀 11">
            <a:extLst>
              <a:ext uri="{FF2B5EF4-FFF2-40B4-BE49-F238E27FC236}">
                <a16:creationId xmlns:a16="http://schemas.microsoft.com/office/drawing/2014/main" id="{3FAA4F57-F32D-47AF-9527-DF8ECBF4E3C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선형대수학은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“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복잡한 문제를 직선적인 단순한 구조로 </a:t>
            </a:r>
            <a:r>
              <a:rPr lang="ko-KR" altLang="en-US" dirty="0"/>
              <a:t>근사</a:t>
            </a:r>
            <a:r>
              <a:rPr lang="en-US" altLang="ko-KR" dirty="0"/>
              <a:t>(</a:t>
            </a:r>
            <a:r>
              <a:rPr lang="en-US" altLang="ko-KR" dirty="0" err="1"/>
              <a:t>ApproxiMate</a:t>
            </a:r>
            <a:r>
              <a:rPr lang="en-US" altLang="ko-KR" dirty="0"/>
              <a:t>)</a:t>
            </a:r>
            <a:r>
              <a:rPr lang="ko-KR" altLang="en-US" dirty="0"/>
              <a:t>하는 기술</a:t>
            </a:r>
            <a:endParaRPr lang="en-US" altLang="ko-KR" dirty="0"/>
          </a:p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대부분의 복잡한 시스템은 </a:t>
            </a:r>
            <a:r>
              <a:rPr lang="ko-KR" altLang="en-US" dirty="0"/>
              <a:t>선형 근사</a:t>
            </a:r>
            <a:r>
              <a:rPr lang="en-US" altLang="ko-KR" dirty="0"/>
              <a:t>(linear approximation)</a:t>
            </a:r>
            <a:r>
              <a:rPr lang="ko-KR" altLang="en-US" dirty="0"/>
              <a:t>로 </a:t>
            </a:r>
            <a:r>
              <a:rPr lang="ko-KR" altLang="en-US" dirty="0" err="1"/>
              <a:t>다루어짐</a:t>
            </a:r>
            <a:endParaRPr lang="ko-KR" alt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2013A63-F573-011F-04D4-FCF5683DC0D5}"/>
                  </a:ext>
                </a:extLst>
              </p:cNvPr>
              <p:cNvSpPr txBox="1"/>
              <p:nvPr/>
            </p:nvSpPr>
            <p:spPr>
              <a:xfrm>
                <a:off x="913774" y="2597998"/>
                <a:ext cx="193912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altLang="ko-KR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pt-BR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,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…….</m:t>
                    </m:r>
                    <m:sSub>
                      <m:sSubPr>
                        <m:ctrlPr>
                          <a:rPr lang="pt-BR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2013A63-F573-011F-04D4-FCF5683DC0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74" y="2597998"/>
                <a:ext cx="1939121" cy="276999"/>
              </a:xfrm>
              <a:prstGeom prst="rect">
                <a:avLst/>
              </a:prstGeom>
              <a:blipFill>
                <a:blip r:embed="rId2"/>
                <a:stretch>
                  <a:fillRect l="-4403" t="-28261" r="-943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AAD9A33-C344-2076-A050-652791F231ED}"/>
                  </a:ext>
                </a:extLst>
              </p:cNvPr>
              <p:cNvSpPr txBox="1"/>
              <p:nvPr/>
            </p:nvSpPr>
            <p:spPr>
              <a:xfrm>
                <a:off x="908228" y="3010333"/>
                <a:ext cx="190994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altLang="ko-KR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pt-BR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,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…….</m:t>
                    </m:r>
                    <m:sSub>
                      <m:sSubPr>
                        <m:ctrlPr>
                          <a:rPr lang="pt-BR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AAD9A33-C344-2076-A050-652791F231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228" y="3010333"/>
                <a:ext cx="1909946" cy="276999"/>
              </a:xfrm>
              <a:prstGeom prst="rect">
                <a:avLst/>
              </a:prstGeom>
              <a:blipFill>
                <a:blip r:embed="rId3"/>
                <a:stretch>
                  <a:fillRect l="-4473" t="-28889" r="-958" b="-5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AB1DC68-B055-71BF-A2D1-B3DF40D36DB0}"/>
                  </a:ext>
                </a:extLst>
              </p:cNvPr>
              <p:cNvSpPr txBox="1"/>
              <p:nvPr/>
            </p:nvSpPr>
            <p:spPr>
              <a:xfrm>
                <a:off x="3171199" y="4333937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AB1DC68-B055-71BF-A2D1-B3DF40D36D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1199" y="4333937"/>
                <a:ext cx="1317925" cy="307777"/>
              </a:xfrm>
              <a:prstGeom prst="rect">
                <a:avLst/>
              </a:prstGeom>
              <a:blipFill>
                <a:blip r:embed="rId4"/>
                <a:stretch>
                  <a:fillRect l="-3704" t="-24000" r="-3704" b="-26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7B44021-266B-11C6-627B-D253521D13BD}"/>
                  </a:ext>
                </a:extLst>
              </p:cNvPr>
              <p:cNvSpPr txBox="1"/>
              <p:nvPr/>
            </p:nvSpPr>
            <p:spPr>
              <a:xfrm>
                <a:off x="4257674" y="5923126"/>
                <a:ext cx="102983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i="1" smtClean="0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𝑒𝑡𝑢𝑟𝑛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7B44021-266B-11C6-627B-D253521D1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7674" y="5923126"/>
                <a:ext cx="1029834" cy="307777"/>
              </a:xfrm>
              <a:prstGeom prst="rect">
                <a:avLst/>
              </a:prstGeom>
              <a:blipFill>
                <a:blip r:embed="rId5"/>
                <a:stretch>
                  <a:fillRect l="-2367" t="-24000" r="-35503" b="-26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9191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1083564" y="2240238"/>
            <a:ext cx="9561167" cy="413351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5D6E60C-805C-F4F3-0780-443D722A2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4440781" y="4867337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0781" y="4867337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687" t="-21569" r="-3226" b="-235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748800" y="1134845"/>
                <a:ext cx="9990035" cy="9640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2000" dirty="0"/>
                  <a:t>회귀생성</a:t>
                </a:r>
                <a:r>
                  <a:rPr lang="en-US" altLang="ko-KR" sz="2000" dirty="0"/>
                  <a:t>(Regression)</a:t>
                </a:r>
                <a:r>
                  <a:rPr lang="ko-KR" altLang="en-US" sz="2000" dirty="0"/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sz="2000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sz="2000" dirty="0"/>
                  <a:t>를 행렬 </a:t>
                </a:r>
                <a14:m>
                  <m:oMath xmlns:m="http://schemas.openxmlformats.org/officeDocument/2006/math">
                    <m:r>
                      <a:rPr lang="ko-KR" altLang="en-US" sz="20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000" dirty="0"/>
                  <a:t>가 만드는 선형공간에 가장 가깝게 투영하는 문제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800" y="1134845"/>
                <a:ext cx="9990035" cy="964046"/>
              </a:xfrm>
              <a:prstGeom prst="rect">
                <a:avLst/>
              </a:prstGeom>
              <a:blipFill>
                <a:blip r:embed="rId4"/>
                <a:stretch>
                  <a:fillRect l="-671" b="-94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5823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6C982-6E96-ECB2-EBA6-408905AF7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CE4E8A41-89FF-B75D-5C98-DE5FBB071249}"/>
              </a:ext>
            </a:extLst>
          </p:cNvPr>
          <p:cNvSpPr/>
          <p:nvPr/>
        </p:nvSpPr>
        <p:spPr>
          <a:xfrm>
            <a:off x="636521" y="2322984"/>
            <a:ext cx="8136904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757A4E-F290-CE82-27E0-2DF9725D0E18}"/>
              </a:ext>
            </a:extLst>
          </p:cNvPr>
          <p:cNvSpPr txBox="1"/>
          <p:nvPr/>
        </p:nvSpPr>
        <p:spPr>
          <a:xfrm>
            <a:off x="1629916" y="147612"/>
            <a:ext cx="8928992" cy="3999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대수학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(Algebra)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선형대수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Numpy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(Principal Component Analysis)</a:t>
            </a:r>
          </a:p>
        </p:txBody>
      </p:sp>
    </p:spTree>
    <p:extLst>
      <p:ext uri="{BB962C8B-B14F-4D97-AF65-F5344CB8AC3E}">
        <p14:creationId xmlns:p14="http://schemas.microsoft.com/office/powerpoint/2010/main" val="27291657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5871F-6794-7500-6128-87B662878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634C58-AE6C-176B-F945-6D8030D9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en-US" altLang="ko-KR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Numpy</a:t>
            </a:r>
            <a:r>
              <a:rPr lang="en-US" altLang="ko-KR" dirty="0"/>
              <a:t> </a:t>
            </a:r>
            <a:r>
              <a:rPr lang="ko-KR" altLang="en-US" dirty="0"/>
              <a:t>배우기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F6541DB5-89AD-BBD3-1005-18F5C456981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1116473" y="2214694"/>
            <a:ext cx="3255502" cy="424702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38B465D-C127-08FA-DE59-4EE4DE73E9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2791" y="2214693"/>
            <a:ext cx="4578929" cy="42470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1AEBB09-87BF-A3B4-9FCE-50B0C858CD85}"/>
              </a:ext>
            </a:extLst>
          </p:cNvPr>
          <p:cNvSpPr txBox="1"/>
          <p:nvPr/>
        </p:nvSpPr>
        <p:spPr>
          <a:xfrm>
            <a:off x="1009650" y="1400175"/>
            <a:ext cx="4155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4</a:t>
            </a:r>
            <a:r>
              <a:rPr lang="ko-KR" altLang="en-US" dirty="0"/>
              <a:t>장 배열과 </a:t>
            </a:r>
            <a:r>
              <a:rPr lang="ko-KR" altLang="en-US" dirty="0" err="1"/>
              <a:t>벡터화연산</a:t>
            </a:r>
            <a:r>
              <a:rPr lang="ko-KR" altLang="en-US" dirty="0"/>
              <a:t> 학습하기 </a:t>
            </a:r>
            <a:r>
              <a:rPr lang="en-US" altLang="ko-KR" dirty="0"/>
              <a:t>(</a:t>
            </a:r>
            <a:r>
              <a:rPr lang="ko-KR" altLang="en-US" dirty="0"/>
              <a:t>자습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50173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CD44D-B91A-AE7B-6C6C-B88B039EE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7F5EBD33-F29B-B13D-CCA7-71EE10FC8B74}"/>
              </a:ext>
            </a:extLst>
          </p:cNvPr>
          <p:cNvSpPr/>
          <p:nvPr/>
        </p:nvSpPr>
        <p:spPr>
          <a:xfrm>
            <a:off x="636521" y="2970684"/>
            <a:ext cx="8136904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E474B-A2D8-6FFD-093B-1498B72842D6}"/>
              </a:ext>
            </a:extLst>
          </p:cNvPr>
          <p:cNvSpPr txBox="1"/>
          <p:nvPr/>
        </p:nvSpPr>
        <p:spPr>
          <a:xfrm>
            <a:off x="1629916" y="147612"/>
            <a:ext cx="8928992" cy="3999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대수학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(Algebra)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선형대수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Numpy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(Principal Component Analysis)</a:t>
            </a:r>
          </a:p>
        </p:txBody>
      </p:sp>
    </p:spTree>
    <p:extLst>
      <p:ext uri="{BB962C8B-B14F-4D97-AF65-F5344CB8AC3E}">
        <p14:creationId xmlns:p14="http://schemas.microsoft.com/office/powerpoint/2010/main" val="3627231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9F88C-1F8F-A2AC-3D6B-A3312E3D8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3AA548-B705-F527-DF59-321E6D96B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배우기 시작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A3E08E-3665-01E9-0677-23E74683F5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sz="2400" dirty="0"/>
              <a:t>1</a:t>
            </a:r>
            <a:r>
              <a:rPr lang="ko-KR" altLang="en-US" sz="2400" dirty="0"/>
              <a:t>차원 직선에서의 선형변환에 대해 생각하기</a:t>
            </a:r>
            <a:endParaRPr lang="en-US" altLang="ko-KR" sz="2400" dirty="0"/>
          </a:p>
          <a:p>
            <a:r>
              <a:rPr lang="en-US" altLang="ko-KR" sz="2400" dirty="0"/>
              <a:t>2</a:t>
            </a:r>
            <a:r>
              <a:rPr lang="ko-KR" altLang="en-US" sz="2400" dirty="0"/>
              <a:t>차원 평면의 </a:t>
            </a:r>
            <a:r>
              <a:rPr lang="en-US" altLang="ko-KR" sz="2400" dirty="0"/>
              <a:t>2</a:t>
            </a:r>
            <a:r>
              <a:rPr lang="ko-KR" altLang="en-US" sz="2400" dirty="0"/>
              <a:t>개 벡터</a:t>
            </a:r>
            <a:r>
              <a:rPr lang="en-US" altLang="ko-KR" sz="2400" dirty="0"/>
              <a:t>(points), (1,2), (2,1)</a:t>
            </a:r>
            <a:r>
              <a:rPr lang="ko-KR" altLang="en-US" sz="2400" dirty="0"/>
              <a:t>에 임의의 행렬과 내적</a:t>
            </a:r>
            <a:endParaRPr lang="en-US" altLang="ko-KR" sz="2400" dirty="0"/>
          </a:p>
          <a:p>
            <a:r>
              <a:rPr lang="ko-KR" altLang="en-US" sz="2400" dirty="0"/>
              <a:t>투영</a:t>
            </a:r>
            <a:r>
              <a:rPr lang="en-US" altLang="ko-KR" sz="2400" dirty="0"/>
              <a:t>(Projection)</a:t>
            </a:r>
          </a:p>
          <a:p>
            <a:r>
              <a:rPr lang="ko-KR" altLang="en-US" sz="2400" dirty="0"/>
              <a:t>행렬</a:t>
            </a:r>
            <a:r>
              <a:rPr lang="en-US" altLang="ko-KR" sz="2400" dirty="0"/>
              <a:t> A</a:t>
            </a:r>
            <a:r>
              <a:rPr lang="ko-KR" altLang="en-US" sz="2400" dirty="0"/>
              <a:t>와 내적</a:t>
            </a:r>
            <a:r>
              <a:rPr lang="en-US" altLang="ko-KR" sz="2400" dirty="0"/>
              <a:t>(inner product)</a:t>
            </a:r>
          </a:p>
          <a:p>
            <a:r>
              <a:rPr lang="ko-KR" altLang="en-US" sz="2400" dirty="0"/>
              <a:t>행렬 </a:t>
            </a:r>
            <a:r>
              <a:rPr lang="en-US" altLang="ko-KR" sz="2400" dirty="0"/>
              <a:t>A</a:t>
            </a:r>
            <a:r>
              <a:rPr lang="ko-KR" altLang="en-US" sz="2400" dirty="0"/>
              <a:t>로 선형변환</a:t>
            </a:r>
            <a:r>
              <a:rPr lang="en-US" altLang="ko-KR" sz="2400" dirty="0"/>
              <a:t>(linear combination)</a:t>
            </a:r>
          </a:p>
          <a:p>
            <a:r>
              <a:rPr lang="ko-KR" altLang="en-US" sz="2400" dirty="0"/>
              <a:t>기저좌표의 변화</a:t>
            </a:r>
            <a:endParaRPr lang="en-US" altLang="ko-KR" sz="2400" dirty="0"/>
          </a:p>
          <a:p>
            <a:r>
              <a:rPr lang="ko-KR" altLang="en-US" sz="2400" dirty="0"/>
              <a:t>주성분</a:t>
            </a:r>
            <a:r>
              <a:rPr lang="en-US" altLang="ko-KR" sz="2400" dirty="0"/>
              <a:t>(principal components)</a:t>
            </a:r>
          </a:p>
          <a:p>
            <a:endParaRPr lang="ko-KR" altLang="en-US" sz="2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C0215A1-FF31-720E-824D-1350EDE22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1897" y="3429000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7498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D293B-460C-9230-F381-B0364AA31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30AE2C-28FF-1039-9A16-E84B181FB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7D4C64AF-EF0E-EBD8-8093-7DE3D6BBB899}"/>
              </a:ext>
            </a:extLst>
          </p:cNvPr>
          <p:cNvCxnSpPr>
            <a:cxnSpLocks/>
          </p:cNvCxnSpPr>
          <p:nvPr/>
        </p:nvCxnSpPr>
        <p:spPr>
          <a:xfrm>
            <a:off x="361325" y="3629309"/>
            <a:ext cx="508697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8D289A-2471-E2AE-B6E6-B49E2097CF5D}"/>
              </a:ext>
            </a:extLst>
          </p:cNvPr>
          <p:cNvSpPr txBox="1"/>
          <p:nvPr/>
        </p:nvSpPr>
        <p:spPr>
          <a:xfrm>
            <a:off x="228600" y="370550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A44CD66-B49C-B14B-F5CB-619727F202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7086" y="2591736"/>
            <a:ext cx="5668613" cy="3256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861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4A1CC-8648-9F67-9936-401B49A35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92634D-69DE-B1FA-0C1A-E45A7D841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B52E407F-6FCE-2AF3-B4C9-590554943A06}"/>
              </a:ext>
            </a:extLst>
          </p:cNvPr>
          <p:cNvGrpSpPr/>
          <p:nvPr/>
        </p:nvGrpSpPr>
        <p:grpSpPr>
          <a:xfrm>
            <a:off x="2286315" y="2000250"/>
            <a:ext cx="5219700" cy="4730560"/>
            <a:chOff x="2286315" y="2000250"/>
            <a:chExt cx="5219700" cy="4730560"/>
          </a:xfrm>
        </p:grpSpPr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8F7EF1AA-F153-6183-97D0-69F9B4F583E3}"/>
                </a:ext>
              </a:extLst>
            </p:cNvPr>
            <p:cNvCxnSpPr>
              <a:cxnSpLocks/>
            </p:cNvCxnSpPr>
            <p:nvPr/>
          </p:nvCxnSpPr>
          <p:spPr>
            <a:xfrm>
              <a:off x="2419040" y="4197775"/>
              <a:ext cx="5086975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B202B12-A258-8108-186D-F5C99EE6F804}"/>
                </a:ext>
              </a:extLst>
            </p:cNvPr>
            <p:cNvSpPr txBox="1"/>
            <p:nvPr/>
          </p:nvSpPr>
          <p:spPr>
            <a:xfrm>
              <a:off x="2286315" y="4273975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0	1	2	3</a:t>
              </a:r>
              <a:endParaRPr lang="ko-KR" altLang="en-US" dirty="0"/>
            </a:p>
          </p:txBody>
        </p:sp>
        <p:cxnSp>
          <p:nvCxnSpPr>
            <p:cNvPr id="3" name="직선 연결선 2">
              <a:extLst>
                <a:ext uri="{FF2B5EF4-FFF2-40B4-BE49-F238E27FC236}">
                  <a16:creationId xmlns:a16="http://schemas.microsoft.com/office/drawing/2014/main" id="{ACFDE16B-292D-CEE7-D26B-874B0FDAC374}"/>
                </a:ext>
              </a:extLst>
            </p:cNvPr>
            <p:cNvCxnSpPr>
              <a:cxnSpLocks/>
            </p:cNvCxnSpPr>
            <p:nvPr/>
          </p:nvCxnSpPr>
          <p:spPr>
            <a:xfrm>
              <a:off x="4772028" y="2025460"/>
              <a:ext cx="0" cy="4480115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0889A9A-9BF1-DC08-AE34-A7451EE113CD}"/>
                </a:ext>
              </a:extLst>
            </p:cNvPr>
            <p:cNvSpPr txBox="1"/>
            <p:nvPr/>
          </p:nvSpPr>
          <p:spPr>
            <a:xfrm rot="16200000">
              <a:off x="2111177" y="4193469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	1	2	3</a:t>
              </a:r>
              <a:endParaRPr lang="ko-KR" altLang="en-US" dirty="0"/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962EAC99-6513-A21E-6BBF-96E1779712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2353" y="2000250"/>
              <a:ext cx="2419350" cy="4305908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1BC578CA-2FF6-CF4B-98EE-2B1A44B150DD}"/>
              </a:ext>
            </a:extLst>
          </p:cNvPr>
          <p:cNvSpPr/>
          <p:nvPr/>
        </p:nvSpPr>
        <p:spPr>
          <a:xfrm>
            <a:off x="5036255" y="3333500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내용 개체 틀 3">
            <a:extLst>
              <a:ext uri="{FF2B5EF4-FFF2-40B4-BE49-F238E27FC236}">
                <a16:creationId xmlns:a16="http://schemas.microsoft.com/office/drawing/2014/main" id="{13052355-1119-0517-A20A-A305BD682AA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6915466" y="1932871"/>
            <a:ext cx="2036761" cy="13025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90A477-981F-6DCC-8358-09701A1FA9ED}"/>
                  </a:ext>
                </a:extLst>
              </p:cNvPr>
              <p:cNvSpPr txBox="1"/>
              <p:nvPr/>
            </p:nvSpPr>
            <p:spPr>
              <a:xfrm>
                <a:off x="5269364" y="3575707"/>
                <a:ext cx="12173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90A477-981F-6DCC-8358-09701A1FA9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9364" y="3575707"/>
                <a:ext cx="1217320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127009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76DF6-FB18-4294-55E9-C6DBA31A5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내용 개체 틀 3">
            <a:extLst>
              <a:ext uri="{FF2B5EF4-FFF2-40B4-BE49-F238E27FC236}">
                <a16:creationId xmlns:a16="http://schemas.microsoft.com/office/drawing/2014/main" id="{129CA579-ACE9-8864-C8FC-DB2CB0CF6750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622754" y="2219501"/>
            <a:ext cx="2036761" cy="130258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59A9540-1A43-29C2-FDDD-0FC6C798C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41751FB-CCED-D8B7-A89F-2C9659857CB8}"/>
              </a:ext>
            </a:extLst>
          </p:cNvPr>
          <p:cNvGrpSpPr/>
          <p:nvPr/>
        </p:nvGrpSpPr>
        <p:grpSpPr>
          <a:xfrm>
            <a:off x="228915" y="2013945"/>
            <a:ext cx="5219700" cy="4730560"/>
            <a:chOff x="2286315" y="2000250"/>
            <a:chExt cx="5219700" cy="4730560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AF931236-F7E9-00A7-B658-C585F7F5A16B}"/>
                </a:ext>
              </a:extLst>
            </p:cNvPr>
            <p:cNvCxnSpPr>
              <a:cxnSpLocks/>
            </p:cNvCxnSpPr>
            <p:nvPr/>
          </p:nvCxnSpPr>
          <p:spPr>
            <a:xfrm>
              <a:off x="2419040" y="4197775"/>
              <a:ext cx="5086975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237D04F-3639-48C8-2FB6-4B4C978881E0}"/>
                </a:ext>
              </a:extLst>
            </p:cNvPr>
            <p:cNvSpPr txBox="1"/>
            <p:nvPr/>
          </p:nvSpPr>
          <p:spPr>
            <a:xfrm>
              <a:off x="2286315" y="4273975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0	1	2	3</a:t>
              </a:r>
              <a:endParaRPr lang="ko-KR" altLang="en-US" dirty="0"/>
            </a:p>
          </p:txBody>
        </p: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3C1372A1-72AD-FF90-5EDE-A96753286084}"/>
                </a:ext>
              </a:extLst>
            </p:cNvPr>
            <p:cNvCxnSpPr>
              <a:cxnSpLocks/>
            </p:cNvCxnSpPr>
            <p:nvPr/>
          </p:nvCxnSpPr>
          <p:spPr>
            <a:xfrm>
              <a:off x="4772028" y="2025460"/>
              <a:ext cx="0" cy="4480115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40E2898-EE5A-3D43-1F94-A94D6D1B5225}"/>
                </a:ext>
              </a:extLst>
            </p:cNvPr>
            <p:cNvSpPr txBox="1"/>
            <p:nvPr/>
          </p:nvSpPr>
          <p:spPr>
            <a:xfrm rot="16200000">
              <a:off x="2111177" y="4193469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	1	2	3</a:t>
              </a:r>
              <a:endParaRPr lang="ko-KR" altLang="en-US" dirty="0"/>
            </a:p>
          </p:txBody>
        </p:sp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B198DBB6-2805-CBDB-BED2-D6F2E99DDD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2353" y="2000250"/>
              <a:ext cx="2419350" cy="4305908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D6A4DB8-F24A-7254-51A8-F5FB6291CB29}"/>
              </a:ext>
            </a:extLst>
          </p:cNvPr>
          <p:cNvSpPr/>
          <p:nvPr/>
        </p:nvSpPr>
        <p:spPr>
          <a:xfrm>
            <a:off x="2978855" y="3347195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2925995-92EB-FB7E-18EF-BC9246C5F6C5}"/>
                  </a:ext>
                </a:extLst>
              </p:cNvPr>
              <p:cNvSpPr txBox="1"/>
              <p:nvPr/>
            </p:nvSpPr>
            <p:spPr>
              <a:xfrm>
                <a:off x="3131468" y="3617062"/>
                <a:ext cx="12173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2925995-92EB-FB7E-18EF-BC9246C5F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468" y="3617062"/>
                <a:ext cx="1217320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C5D1148-3EC2-45F2-8167-304E4F958865}"/>
                  </a:ext>
                </a:extLst>
              </p:cNvPr>
              <p:cNvSpPr txBox="1"/>
              <p:nvPr/>
            </p:nvSpPr>
            <p:spPr>
              <a:xfrm>
                <a:off x="6792116" y="2214694"/>
                <a:ext cx="3352456" cy="13390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48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48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4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4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4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C5D1148-3EC2-45F2-8167-304E4F9588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2214694"/>
                <a:ext cx="3352456" cy="13390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EFD04D4-819A-C00F-10C8-261AD33427C2}"/>
                  </a:ext>
                </a:extLst>
              </p:cNvPr>
              <p:cNvSpPr txBox="1"/>
              <p:nvPr/>
            </p:nvSpPr>
            <p:spPr>
              <a:xfrm>
                <a:off x="5448615" y="3986394"/>
                <a:ext cx="44435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ko-KR" altLang="en-US" sz="24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EFD04D4-819A-C00F-10C8-261AD33427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8615" y="3986394"/>
                <a:ext cx="444352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ACEB56C-02C3-FD2C-5368-4215BA208029}"/>
                  </a:ext>
                </a:extLst>
              </p:cNvPr>
              <p:cNvSpPr txBox="1"/>
              <p:nvPr/>
            </p:nvSpPr>
            <p:spPr>
              <a:xfrm>
                <a:off x="2745191" y="1723062"/>
                <a:ext cx="4507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ko-KR" alt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ACEB56C-02C3-FD2C-5368-4215BA208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5191" y="1723062"/>
                <a:ext cx="450764" cy="461665"/>
              </a:xfrm>
              <a:prstGeom prst="rect">
                <a:avLst/>
              </a:prstGeom>
              <a:blipFill>
                <a:blip r:embed="rId6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타원 35">
            <a:extLst>
              <a:ext uri="{FF2B5EF4-FFF2-40B4-BE49-F238E27FC236}">
                <a16:creationId xmlns:a16="http://schemas.microsoft.com/office/drawing/2014/main" id="{A198A072-9A80-F113-3D6E-1A73198F53F6}"/>
              </a:ext>
            </a:extLst>
          </p:cNvPr>
          <p:cNvSpPr/>
          <p:nvPr/>
        </p:nvSpPr>
        <p:spPr>
          <a:xfrm>
            <a:off x="8346847" y="2041167"/>
            <a:ext cx="687578" cy="1700805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AF8F0BE2-B48C-FF81-58BB-7A85CE8092B1}"/>
              </a:ext>
            </a:extLst>
          </p:cNvPr>
          <p:cNvSpPr/>
          <p:nvPr/>
        </p:nvSpPr>
        <p:spPr>
          <a:xfrm>
            <a:off x="9148418" y="2020388"/>
            <a:ext cx="687578" cy="170080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0503F3-2539-0EF1-6127-3493EAEAC935}"/>
                  </a:ext>
                </a:extLst>
              </p:cNvPr>
              <p:cNvSpPr txBox="1"/>
              <p:nvPr/>
            </p:nvSpPr>
            <p:spPr>
              <a:xfrm>
                <a:off x="6792116" y="4586427"/>
                <a:ext cx="203106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 b="1" dirty="0">
                    <a:solidFill>
                      <a:srgbClr val="00B05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ko-KR" altLang="en-US" sz="2400" b="1" dirty="0">
                    <a:solidFill>
                      <a:srgbClr val="00B050"/>
                    </a:solidFill>
                  </a:rPr>
                  <a:t> </a:t>
                </a:r>
                <a:r>
                  <a:rPr lang="en-US" altLang="ko-KR" sz="2400" b="1" dirty="0">
                    <a:solidFill>
                      <a:srgbClr val="00B050"/>
                    </a:solidFill>
                  </a:rPr>
                  <a:t>lands</a:t>
                </a:r>
                <a:endParaRPr lang="ko-KR" altLang="en-US" sz="24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0503F3-2539-0EF1-6127-3493EAEAC9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4586427"/>
                <a:ext cx="2031069" cy="461665"/>
              </a:xfrm>
              <a:prstGeom prst="rect">
                <a:avLst/>
              </a:prstGeom>
              <a:blipFill>
                <a:blip r:embed="rId7"/>
                <a:stretch>
                  <a:fillRect l="-4505" t="-10526" r="-3904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6F1C319-40F3-3B00-3F8D-7B759528AD3E}"/>
                  </a:ext>
                </a:extLst>
              </p:cNvPr>
              <p:cNvSpPr txBox="1"/>
              <p:nvPr/>
            </p:nvSpPr>
            <p:spPr>
              <a:xfrm>
                <a:off x="9174517" y="4577707"/>
                <a:ext cx="203748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 b="1" dirty="0">
                    <a:solidFill>
                      <a:srgbClr val="FF000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ko-KR" alt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ko-KR" sz="2400" b="1" dirty="0">
                    <a:solidFill>
                      <a:srgbClr val="FF0000"/>
                    </a:solidFill>
                  </a:rPr>
                  <a:t>lands</a:t>
                </a:r>
                <a:endParaRPr lang="ko-KR" alt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6F1C319-40F3-3B00-3F8D-7B759528AD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4517" y="4577707"/>
                <a:ext cx="2037481" cy="461665"/>
              </a:xfrm>
              <a:prstGeom prst="rect">
                <a:avLst/>
              </a:prstGeom>
              <a:blipFill>
                <a:blip r:embed="rId8"/>
                <a:stretch>
                  <a:fillRect l="-4491" t="-10526" r="-3892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9D458F58-935A-1653-73BC-4F5FF3AFBF2A}"/>
              </a:ext>
            </a:extLst>
          </p:cNvPr>
          <p:cNvCxnSpPr>
            <a:cxnSpLocks/>
          </p:cNvCxnSpPr>
          <p:nvPr/>
        </p:nvCxnSpPr>
        <p:spPr>
          <a:xfrm flipV="1">
            <a:off x="8056207" y="3726137"/>
            <a:ext cx="570365" cy="8989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51E6DBA1-4305-2ABF-E831-B71B539AECE9}"/>
              </a:ext>
            </a:extLst>
          </p:cNvPr>
          <p:cNvCxnSpPr>
            <a:cxnSpLocks/>
          </p:cNvCxnSpPr>
          <p:nvPr/>
        </p:nvCxnSpPr>
        <p:spPr>
          <a:xfrm flipH="1" flipV="1">
            <a:off x="9491715" y="3725751"/>
            <a:ext cx="688561" cy="88229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2FA667-22C4-F733-94C5-5665AFC1CBEA}"/>
                  </a:ext>
                </a:extLst>
              </p:cNvPr>
              <p:cNvSpPr txBox="1"/>
              <p:nvPr/>
            </p:nvSpPr>
            <p:spPr>
              <a:xfrm>
                <a:off x="7139056" y="5164622"/>
                <a:ext cx="14045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B050"/>
                        </a:solidFill>
                        <a:latin typeface="+mj-ea"/>
                        <a:ea typeface="+mj-ea"/>
                      </a:rPr>
                      <m:t>𝑥</m:t>
                    </m:r>
                  </m:oMath>
                </a14:m>
                <a:r>
                  <a:rPr lang="ko-KR" altLang="en-US" dirty="0">
                    <a:solidFill>
                      <a:srgbClr val="00B050"/>
                    </a:solidFill>
                    <a:latin typeface="+mj-ea"/>
                    <a:ea typeface="+mj-ea"/>
                  </a:rPr>
                  <a:t> 축에 투영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2FA667-22C4-F733-94C5-5665AFC1C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9056" y="5164622"/>
                <a:ext cx="1404552" cy="369332"/>
              </a:xfrm>
              <a:prstGeom prst="rect">
                <a:avLst/>
              </a:prstGeom>
              <a:blipFill>
                <a:blip r:embed="rId9"/>
                <a:stretch>
                  <a:fillRect t="-8197" r="-3030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E9DDAA-096C-A1BE-1D87-A2DAACF6D2A9}"/>
                  </a:ext>
                </a:extLst>
              </p:cNvPr>
              <p:cNvSpPr txBox="1"/>
              <p:nvPr/>
            </p:nvSpPr>
            <p:spPr>
              <a:xfrm>
                <a:off x="9516927" y="5164622"/>
                <a:ext cx="14093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FF0000"/>
                        </a:solidFill>
                        <a:latin typeface="+mj-ea"/>
                        <a:ea typeface="+mj-ea"/>
                      </a:rPr>
                      <m:t>𝑦</m:t>
                    </m:r>
                  </m:oMath>
                </a14:m>
                <a:r>
                  <a:rPr lang="ko-KR" altLang="en-US" dirty="0">
                    <a:solidFill>
                      <a:srgbClr val="FF0000"/>
                    </a:solidFill>
                    <a:latin typeface="+mj-ea"/>
                    <a:ea typeface="+mj-ea"/>
                  </a:rPr>
                  <a:t> 축에</a:t>
                </a:r>
                <a:r>
                  <a:rPr lang="en-US" altLang="ko-KR" dirty="0">
                    <a:solidFill>
                      <a:srgbClr val="FF0000"/>
                    </a:solidFill>
                    <a:latin typeface="+mj-ea"/>
                    <a:ea typeface="+mj-ea"/>
                  </a:rPr>
                  <a:t> </a:t>
                </a:r>
                <a:r>
                  <a:rPr lang="ko-KR" altLang="en-US" dirty="0">
                    <a:solidFill>
                      <a:srgbClr val="FF0000"/>
                    </a:solidFill>
                    <a:latin typeface="+mj-ea"/>
                    <a:ea typeface="+mj-ea"/>
                  </a:rPr>
                  <a:t>투영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E9DDAA-096C-A1BE-1D87-A2DAACF6D2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6927" y="5164622"/>
                <a:ext cx="1409360" cy="369332"/>
              </a:xfrm>
              <a:prstGeom prst="rect">
                <a:avLst/>
              </a:prstGeom>
              <a:blipFill>
                <a:blip r:embed="rId10"/>
                <a:stretch>
                  <a:fillRect t="-8197" r="-3463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31539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B6047-1098-D4A9-F3E4-BF4B5CC04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66DE6C-07CA-F0F1-E6D9-13C50AF82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4BB8FF3-4604-4774-4B17-379BC3468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2116" y="4017793"/>
            <a:ext cx="4805524" cy="1389766"/>
          </a:xfrm>
          <a:prstGeom prst="rect">
            <a:avLst/>
          </a:prstGeom>
        </p:spPr>
      </p:pic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5B7846-3221-540A-BE0D-265F91EC9DCF}"/>
              </a:ext>
            </a:extLst>
          </p:cNvPr>
          <p:cNvGrpSpPr/>
          <p:nvPr/>
        </p:nvGrpSpPr>
        <p:grpSpPr>
          <a:xfrm>
            <a:off x="171140" y="2021434"/>
            <a:ext cx="5086975" cy="4480115"/>
            <a:chOff x="2228540" y="2007739"/>
            <a:chExt cx="5086975" cy="4480115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E4A685D7-7142-7FF7-0385-F3B28E3CA7AF}"/>
                </a:ext>
              </a:extLst>
            </p:cNvPr>
            <p:cNvCxnSpPr>
              <a:cxnSpLocks/>
            </p:cNvCxnSpPr>
            <p:nvPr/>
          </p:nvCxnSpPr>
          <p:spPr>
            <a:xfrm>
              <a:off x="2228540" y="5455075"/>
              <a:ext cx="5086975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60C97EA0-D6BC-35AD-7E07-12F4B4482B87}"/>
                </a:ext>
              </a:extLst>
            </p:cNvPr>
            <p:cNvCxnSpPr>
              <a:cxnSpLocks/>
            </p:cNvCxnSpPr>
            <p:nvPr/>
          </p:nvCxnSpPr>
          <p:spPr>
            <a:xfrm>
              <a:off x="3914778" y="2007739"/>
              <a:ext cx="0" cy="448011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CF3CC60D-3812-9308-967F-3D2A15B26A06}"/>
              </a:ext>
            </a:extLst>
          </p:cNvPr>
          <p:cNvSpPr/>
          <p:nvPr/>
        </p:nvSpPr>
        <p:spPr>
          <a:xfrm>
            <a:off x="2038347" y="5074071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8CD4E4-49CE-2EAB-9D85-2629433EE084}"/>
                  </a:ext>
                </a:extLst>
              </p:cNvPr>
              <p:cNvSpPr txBox="1"/>
              <p:nvPr/>
            </p:nvSpPr>
            <p:spPr>
              <a:xfrm>
                <a:off x="2306830" y="4965183"/>
                <a:ext cx="2061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8CD4E4-49CE-2EAB-9D85-2629433EE0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6830" y="4965183"/>
                <a:ext cx="2061077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DDC9516-0E91-36D6-EFBE-1172B878D31E}"/>
                  </a:ext>
                </a:extLst>
              </p:cNvPr>
              <p:cNvSpPr txBox="1"/>
              <p:nvPr/>
            </p:nvSpPr>
            <p:spPr>
              <a:xfrm>
                <a:off x="4929940" y="5103010"/>
                <a:ext cx="35779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6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ko-KR" altLang="en-US" sz="16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DDC9516-0E91-36D6-EFBE-1172B878D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940" y="5103010"/>
                <a:ext cx="357790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EFC8B89-70B4-4236-487F-DBA100E12752}"/>
                  </a:ext>
                </a:extLst>
              </p:cNvPr>
              <p:cNvSpPr txBox="1"/>
              <p:nvPr/>
            </p:nvSpPr>
            <p:spPr>
              <a:xfrm>
                <a:off x="1307329" y="1854736"/>
                <a:ext cx="3834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ko-KR" alt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EFC8B89-70B4-4236-487F-DBA100E127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7329" y="1854736"/>
                <a:ext cx="383438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F42118F-F82A-7332-0FAC-BA17BA95771E}"/>
              </a:ext>
            </a:extLst>
          </p:cNvPr>
          <p:cNvCxnSpPr>
            <a:cxnSpLocks/>
          </p:cNvCxnSpPr>
          <p:nvPr/>
        </p:nvCxnSpPr>
        <p:spPr>
          <a:xfrm flipH="1">
            <a:off x="1660986" y="1662825"/>
            <a:ext cx="938932" cy="470993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9513CA9-1FF2-667A-7575-59ED74DD0EDD}"/>
              </a:ext>
            </a:extLst>
          </p:cNvPr>
          <p:cNvGrpSpPr/>
          <p:nvPr/>
        </p:nvGrpSpPr>
        <p:grpSpPr>
          <a:xfrm>
            <a:off x="363921" y="4476615"/>
            <a:ext cx="1354218" cy="787525"/>
            <a:chOff x="6655650" y="2150299"/>
            <a:chExt cx="1692562" cy="11038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5C524DD-E032-1640-29BE-2A1F082FE246}"/>
                    </a:ext>
                  </a:extLst>
                </p:cNvPr>
                <p:cNvSpPr txBox="1"/>
                <p:nvPr/>
              </p:nvSpPr>
              <p:spPr>
                <a:xfrm>
                  <a:off x="6655650" y="2296979"/>
                  <a:ext cx="1692562" cy="7768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ko-KR" altLang="en-US" sz="360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5C524DD-E032-1640-29BE-2A1F082FE2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5650" y="2296979"/>
                  <a:ext cx="1692562" cy="7768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FF91148E-CDA5-C323-15C9-30E0A0313DA4}"/>
                </a:ext>
              </a:extLst>
            </p:cNvPr>
            <p:cNvSpPr/>
            <p:nvPr/>
          </p:nvSpPr>
          <p:spPr>
            <a:xfrm>
              <a:off x="7834763" y="2150299"/>
              <a:ext cx="420323" cy="1103812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1DE10634-30DE-1535-F053-C155E2687217}"/>
                </a:ext>
              </a:extLst>
            </p:cNvPr>
            <p:cNvSpPr/>
            <p:nvPr/>
          </p:nvSpPr>
          <p:spPr>
            <a:xfrm>
              <a:off x="7364141" y="2150299"/>
              <a:ext cx="443256" cy="1103812"/>
            </a:xfrm>
            <a:prstGeom prst="ellipse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</p:grp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32D8F7B-60F2-055B-F150-41CD16A22885}"/>
              </a:ext>
            </a:extLst>
          </p:cNvPr>
          <p:cNvCxnSpPr>
            <a:cxnSpLocks/>
          </p:cNvCxnSpPr>
          <p:nvPr/>
        </p:nvCxnSpPr>
        <p:spPr>
          <a:xfrm flipH="1">
            <a:off x="1261516" y="2304898"/>
            <a:ext cx="2830430" cy="4025469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D8F592-7651-492B-60D3-0C5EC13405ED}"/>
                  </a:ext>
                </a:extLst>
              </p:cNvPr>
              <p:cNvSpPr txBox="1"/>
              <p:nvPr/>
            </p:nvSpPr>
            <p:spPr>
              <a:xfrm>
                <a:off x="3995368" y="2367847"/>
                <a:ext cx="1687578" cy="3772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̀"/>
                          <m:ctrlP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𝑁𝑒𝑤</m:t>
                          </m:r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altLang="ko-KR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=(2,3)</m:t>
                      </m:r>
                    </m:oMath>
                  </m:oMathPara>
                </a14:m>
                <a:endParaRPr lang="ko-KR" altLang="en-US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D8F592-7651-492B-60D3-0C5EC1340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5368" y="2367847"/>
                <a:ext cx="1687578" cy="377219"/>
              </a:xfrm>
              <a:prstGeom prst="rect">
                <a:avLst/>
              </a:prstGeom>
              <a:blipFill>
                <a:blip r:embed="rId7"/>
                <a:stretch>
                  <a:fillRect t="-8065" b="-145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F14792-8828-FE52-2167-82B3C6402E93}"/>
                  </a:ext>
                </a:extLst>
              </p:cNvPr>
              <p:cNvSpPr txBox="1"/>
              <p:nvPr/>
            </p:nvSpPr>
            <p:spPr>
              <a:xfrm>
                <a:off x="1954485" y="1879697"/>
                <a:ext cx="1690976" cy="3772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̀"/>
                          <m:ctrlP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𝑁𝑒𝑤</m:t>
                          </m:r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=(1,4)</m:t>
                      </m:r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F14792-8828-FE52-2167-82B3C6402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4485" y="1879697"/>
                <a:ext cx="1690976" cy="377219"/>
              </a:xfrm>
              <a:prstGeom prst="rect">
                <a:avLst/>
              </a:prstGeom>
              <a:blipFill>
                <a:blip r:embed="rId8"/>
                <a:stretch>
                  <a:fillRect t="-8065" b="-145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직사각형 16">
            <a:extLst>
              <a:ext uri="{FF2B5EF4-FFF2-40B4-BE49-F238E27FC236}">
                <a16:creationId xmlns:a16="http://schemas.microsoft.com/office/drawing/2014/main" id="{C26B9350-ECBC-D96D-85CF-14BC15D81B2E}"/>
              </a:ext>
            </a:extLst>
          </p:cNvPr>
          <p:cNvSpPr/>
          <p:nvPr/>
        </p:nvSpPr>
        <p:spPr>
          <a:xfrm>
            <a:off x="2599918" y="3337474"/>
            <a:ext cx="260349" cy="24220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E9A590E-AAB4-B3C4-09F3-593D1CF85793}"/>
                  </a:ext>
                </a:extLst>
              </p:cNvPr>
              <p:cNvSpPr txBox="1"/>
              <p:nvPr/>
            </p:nvSpPr>
            <p:spPr>
              <a:xfrm>
                <a:off x="2860267" y="3254111"/>
                <a:ext cx="18203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=(4, 11)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E9A590E-AAB4-B3C4-09F3-593D1CF85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0267" y="3254111"/>
                <a:ext cx="1820370" cy="369332"/>
              </a:xfrm>
              <a:prstGeom prst="rect">
                <a:avLst/>
              </a:prstGeom>
              <a:blipFill>
                <a:blip r:embed="rId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FEB578A-2D81-A6E7-36E3-01CEA339EF66}"/>
                  </a:ext>
                </a:extLst>
              </p:cNvPr>
              <p:cNvSpPr txBox="1"/>
              <p:nvPr/>
            </p:nvSpPr>
            <p:spPr>
              <a:xfrm>
                <a:off x="6792116" y="2214694"/>
                <a:ext cx="4107535" cy="92172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2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sz="32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3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32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∗1+</m:t>
                                </m:r>
                              </m:e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2∗1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3∗1+</m:t>
                                </m:r>
                              </m:e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4∗2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48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FEB578A-2D81-A6E7-36E3-01CEA339EF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2214694"/>
                <a:ext cx="4107535" cy="92172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20657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4E690-F2AD-18B4-D988-8AEE6085F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6F44F4-1686-2B4C-B786-2BBD121CB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432D000-AAD7-424D-68F9-3340C35A3C36}"/>
              </a:ext>
            </a:extLst>
          </p:cNvPr>
          <p:cNvCxnSpPr>
            <a:cxnSpLocks/>
          </p:cNvCxnSpPr>
          <p:nvPr/>
        </p:nvCxnSpPr>
        <p:spPr>
          <a:xfrm>
            <a:off x="456890" y="4197775"/>
            <a:ext cx="508697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1CBFC49-A98C-36D0-1878-7FFFEFF36A68}"/>
              </a:ext>
            </a:extLst>
          </p:cNvPr>
          <p:cNvSpPr txBox="1"/>
          <p:nvPr/>
        </p:nvSpPr>
        <p:spPr>
          <a:xfrm>
            <a:off x="32416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C8C6DF1-B97D-F199-5033-64331BCC3A7E}"/>
              </a:ext>
            </a:extLst>
          </p:cNvPr>
          <p:cNvCxnSpPr>
            <a:cxnSpLocks/>
          </p:cNvCxnSpPr>
          <p:nvPr/>
        </p:nvCxnSpPr>
        <p:spPr>
          <a:xfrm>
            <a:off x="280987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8EE0933-37D0-5B7A-EF49-7D3E7E68A636}"/>
              </a:ext>
            </a:extLst>
          </p:cNvPr>
          <p:cNvSpPr txBox="1"/>
          <p:nvPr/>
        </p:nvSpPr>
        <p:spPr>
          <a:xfrm rot="16200000">
            <a:off x="267015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F9770E7-D05C-D9DA-D98D-1366B9D2D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850" y="2377217"/>
            <a:ext cx="1503361" cy="98100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D98E98A-995F-336E-D8D6-82E48810C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2223" y="3358239"/>
            <a:ext cx="1280266" cy="52582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5689E68-6A28-53EE-75F3-C2D0E09D82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850" y="3691819"/>
            <a:ext cx="1280271" cy="54868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B06CAE5-178C-DC5D-E74B-8EF5E3F67E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7120" y="3697535"/>
            <a:ext cx="1597887" cy="542971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8A11805A-4319-468A-B660-5363D357BFFB}"/>
              </a:ext>
            </a:extLst>
          </p:cNvPr>
          <p:cNvSpPr/>
          <p:nvPr/>
        </p:nvSpPr>
        <p:spPr>
          <a:xfrm>
            <a:off x="3073399" y="3358224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C826B98-1D71-4910-55B7-EE49E4BBF56A}"/>
              </a:ext>
            </a:extLst>
          </p:cNvPr>
          <p:cNvSpPr/>
          <p:nvPr/>
        </p:nvSpPr>
        <p:spPr>
          <a:xfrm>
            <a:off x="4474513" y="2335507"/>
            <a:ext cx="260349" cy="24220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21DE4A-D272-D340-D9A6-538BC397CD81}"/>
              </a:ext>
            </a:extLst>
          </p:cNvPr>
          <p:cNvSpPr txBox="1"/>
          <p:nvPr/>
        </p:nvSpPr>
        <p:spPr>
          <a:xfrm>
            <a:off x="9385999" y="2345081"/>
            <a:ext cx="2714628" cy="170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벡터</a:t>
            </a:r>
            <a:r>
              <a:rPr lang="en-US" altLang="ko-KR" dirty="0"/>
              <a:t> v</a:t>
            </a:r>
            <a:r>
              <a:rPr lang="ko-KR" altLang="en-US" dirty="0"/>
              <a:t>가 행렬 </a:t>
            </a:r>
            <a:r>
              <a:rPr lang="en-US" altLang="ko-KR" dirty="0"/>
              <a:t>A</a:t>
            </a:r>
            <a:r>
              <a:rPr lang="ko-KR" altLang="en-US" dirty="0"/>
              <a:t>와 </a:t>
            </a:r>
            <a:r>
              <a:rPr lang="ko-KR" altLang="en-US" dirty="0" err="1"/>
              <a:t>내적하는</a:t>
            </a:r>
            <a:r>
              <a:rPr lang="ko-KR" altLang="en-US" dirty="0"/>
              <a:t> 선형변환을 하면 </a:t>
            </a:r>
            <a:r>
              <a:rPr lang="en-US" altLang="ko-KR" dirty="0"/>
              <a:t>Av = (5,5) </a:t>
            </a:r>
            <a:r>
              <a:rPr lang="ko-KR" altLang="en-US" dirty="0"/>
              <a:t>로 위치 이동하게 됨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F1D4E1-1C00-2913-FD43-03EE8C0C200D}"/>
              </a:ext>
            </a:extLst>
          </p:cNvPr>
          <p:cNvSpPr txBox="1"/>
          <p:nvPr/>
        </p:nvSpPr>
        <p:spPr>
          <a:xfrm>
            <a:off x="6139367" y="1975749"/>
            <a:ext cx="15752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행렬 </a:t>
            </a:r>
            <a:r>
              <a:rPr lang="en-US" altLang="ko-KR" dirty="0"/>
              <a:t>= </a:t>
            </a:r>
            <a:r>
              <a:rPr lang="ko-KR" altLang="en-US" dirty="0"/>
              <a:t>함수</a:t>
            </a:r>
          </a:p>
        </p:txBody>
      </p:sp>
    </p:spTree>
    <p:extLst>
      <p:ext uri="{BB962C8B-B14F-4D97-AF65-F5344CB8AC3E}">
        <p14:creationId xmlns:p14="http://schemas.microsoft.com/office/powerpoint/2010/main" val="32780874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0B495B-D82D-70B1-95E8-6A221ED9A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</a:t>
            </a:r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CC0271E0-83DB-4699-2D1D-D4EC4FBB269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801144" y="2411707"/>
            <a:ext cx="2036761" cy="1302580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A23EC9D9-E1E5-486D-524D-A0C034D9B291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133EA56-E119-9E2E-EBFA-3E843E65458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B792C78-4F30-BAD6-12FC-138766A35512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8AE44BCE-2E3C-9E9E-D923-0EEE18AB9631}"/>
              </a:ext>
            </a:extLst>
          </p:cNvPr>
          <p:cNvSpPr/>
          <p:nvPr/>
        </p:nvSpPr>
        <p:spPr>
          <a:xfrm>
            <a:off x="2359026" y="3429000"/>
            <a:ext cx="841374" cy="768773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E801FD-463E-32A8-962F-C2F5391655F2}"/>
              </a:ext>
            </a:extLst>
          </p:cNvPr>
          <p:cNvSpPr txBox="1"/>
          <p:nvPr/>
        </p:nvSpPr>
        <p:spPr>
          <a:xfrm>
            <a:off x="5182225" y="2105546"/>
            <a:ext cx="6619250" cy="336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행렬 </a:t>
            </a:r>
            <a:r>
              <a:rPr lang="en-US" altLang="ko-KR" dirty="0"/>
              <a:t>A = [(2,1), (3,4)] </a:t>
            </a:r>
            <a:r>
              <a:rPr lang="ko-KR" altLang="en-US" dirty="0"/>
              <a:t>의 행렬인 경우 </a:t>
            </a:r>
            <a:r>
              <a:rPr lang="en-US" altLang="ko-KR" dirty="0"/>
              <a:t>v=(1,2)</a:t>
            </a:r>
            <a:r>
              <a:rPr lang="ko-KR" altLang="en-US" dirty="0"/>
              <a:t>는 어떻게 </a:t>
            </a:r>
            <a:r>
              <a:rPr lang="ko-KR" altLang="en-US" b="1" dirty="0"/>
              <a:t>변환</a:t>
            </a:r>
            <a:r>
              <a:rPr lang="ko-KR" altLang="en-US" dirty="0"/>
              <a:t>되는가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 </a:t>
            </a:r>
            <a:r>
              <a:rPr lang="ko-KR" altLang="en-US" dirty="0"/>
              <a:t>아래와 같은 정방형의 모든 실수는 </a:t>
            </a:r>
            <a:r>
              <a:rPr lang="en-US" altLang="ko-KR" dirty="0"/>
              <a:t>A</a:t>
            </a:r>
            <a:r>
              <a:rPr lang="ko-KR" altLang="en-US" dirty="0"/>
              <a:t>행렬과 </a:t>
            </a:r>
            <a:r>
              <a:rPr lang="ko-KR" altLang="en-US" dirty="0" err="1"/>
              <a:t>내적하면</a:t>
            </a:r>
            <a:r>
              <a:rPr lang="ko-KR" altLang="en-US" dirty="0"/>
              <a:t> 어떻게 </a:t>
            </a:r>
            <a:r>
              <a:rPr lang="ko-KR" altLang="en-US" b="1" dirty="0"/>
              <a:t>변환</a:t>
            </a:r>
            <a:r>
              <a:rPr lang="ko-KR" altLang="en-US" dirty="0"/>
              <a:t>되는지 파이썬 코드로 작성하고 시각화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/>
              <a:t>선형변환</a:t>
            </a:r>
            <a:r>
              <a:rPr lang="en-US" altLang="ko-KR" b="1" dirty="0"/>
              <a:t>(Linear Transformation)</a:t>
            </a:r>
            <a:r>
              <a:rPr lang="ko-KR" altLang="en-US" dirty="0"/>
              <a:t>의 결과를 기하학적 의미를 </a:t>
            </a:r>
            <a:r>
              <a:rPr lang="ko-KR" altLang="en-US" b="1" dirty="0"/>
              <a:t>투영</a:t>
            </a:r>
            <a:r>
              <a:rPr lang="en-US" altLang="ko-KR" b="1" dirty="0"/>
              <a:t>(Projection)</a:t>
            </a:r>
            <a:r>
              <a:rPr lang="ko-KR" altLang="en-US" dirty="0"/>
              <a:t>의 관점에서 설명하라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FB67B-47AD-E2B1-F02D-7438ED6D3A02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66491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AED26979-3036-435B-0822-871DA230CA78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BAD771A1-25B1-665A-99F0-AD771F07CDA4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E7F301B5-9970-FCB6-2C79-A057D8D23F0E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9CF34E6-3C08-D401-489F-98201AD4E32F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7B46C8-7DA9-65B3-928C-F55479A8125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/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1099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/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/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blipFill>
                <a:blip r:embed="rId5"/>
                <a:stretch>
                  <a:fillRect l="-289" t="-6667" r="-3179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059CE4A2-11E8-3782-9C37-54E0B00FD94F}"/>
              </a:ext>
            </a:extLst>
          </p:cNvPr>
          <p:cNvSpPr txBox="1"/>
          <p:nvPr/>
        </p:nvSpPr>
        <p:spPr>
          <a:xfrm>
            <a:off x="5784127" y="3165498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두 행이 완전히 동일하며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모든 벡터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(x, 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를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(x+2y,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x+2y)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벡터로 선형변환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배치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80E0E523-FCA2-AA24-9EA5-9380D86B3195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81818" y="1907079"/>
            <a:ext cx="612529" cy="120442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DAF44130-B832-9483-C9DF-EFD357270E48}"/>
              </a:ext>
            </a:extLst>
          </p:cNvPr>
          <p:cNvCxnSpPr>
            <a:cxnSpLocks/>
            <a:stCxn id="17" idx="3"/>
            <a:endCxn id="23" idx="1"/>
          </p:cNvCxnSpPr>
          <p:nvPr/>
        </p:nvCxnSpPr>
        <p:spPr>
          <a:xfrm>
            <a:off x="5953125" y="2203025"/>
            <a:ext cx="1512041" cy="6875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60400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E48C2-D67B-5ADB-18B1-80FE0EBB4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0F82DA0A-412B-C75A-C675-E78A772EB5B4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46E36533-3E78-9C9E-2D7B-3CD87C1D7E1E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50C11FE9-3D39-67F5-9B81-39ABA9F3C151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3A923B-0F3D-C793-CBDF-EB2CBE8E86F4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8F449C-DC59-EB8D-209F-4B2964F89FCF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/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733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/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blipFill>
                <a:blip r:embed="rId4"/>
                <a:stretch>
                  <a:fillRect l="-3583" t="-6522" r="-3909" b="-28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F417510F-FA8E-6162-4468-EC4812C7C296}"/>
              </a:ext>
            </a:extLst>
          </p:cNvPr>
          <p:cNvSpPr txBox="1"/>
          <p:nvPr/>
        </p:nvSpPr>
        <p:spPr>
          <a:xfrm>
            <a:off x="3979335" y="3290089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내적하여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투영하여 배치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붕괴시키는 행렬변환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07E2D664-2BE6-2DF1-837C-3787AEF194CA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54644" y="1578833"/>
            <a:ext cx="967949" cy="15054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4903B8ED-A4E2-90BE-7A88-0777CA4B0F30}"/>
              </a:ext>
            </a:extLst>
          </p:cNvPr>
          <p:cNvCxnSpPr>
            <a:cxnSpLocks/>
            <a:stCxn id="17" idx="3"/>
            <a:endCxn id="24" idx="1"/>
          </p:cNvCxnSpPr>
          <p:nvPr/>
        </p:nvCxnSpPr>
        <p:spPr>
          <a:xfrm>
            <a:off x="6254197" y="1847605"/>
            <a:ext cx="1516216" cy="93089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A9EBD0C9-2937-E546-104C-A70FBE6A99F3}"/>
              </a:ext>
            </a:extLst>
          </p:cNvPr>
          <p:cNvCxnSpPr>
            <a:cxnSpLocks/>
          </p:cNvCxnSpPr>
          <p:nvPr/>
        </p:nvCxnSpPr>
        <p:spPr>
          <a:xfrm flipV="1">
            <a:off x="7615956" y="4163027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A6B7B48-EFB1-1809-928C-471F9BC07E28}"/>
              </a:ext>
            </a:extLst>
          </p:cNvPr>
          <p:cNvCxnSpPr>
            <a:cxnSpLocks/>
          </p:cNvCxnSpPr>
          <p:nvPr/>
        </p:nvCxnSpPr>
        <p:spPr>
          <a:xfrm>
            <a:off x="9968944" y="1990714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3B2C7D-9653-5102-80B2-FEFBC0BFFAEF}"/>
              </a:ext>
            </a:extLst>
          </p:cNvPr>
          <p:cNvSpPr txBox="1"/>
          <p:nvPr/>
        </p:nvSpPr>
        <p:spPr>
          <a:xfrm rot="16200000">
            <a:off x="7412550" y="415872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EDD22D-5F31-7D85-4E49-D7CCEC85C019}"/>
              </a:ext>
            </a:extLst>
          </p:cNvPr>
          <p:cNvSpPr txBox="1"/>
          <p:nvPr/>
        </p:nvSpPr>
        <p:spPr>
          <a:xfrm>
            <a:off x="7486650" y="419777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28" name="그래픽 27" descr="별">
            <a:extLst>
              <a:ext uri="{FF2B5EF4-FFF2-40B4-BE49-F238E27FC236}">
                <a16:creationId xmlns:a16="http://schemas.microsoft.com/office/drawing/2014/main" id="{B1997F87-A73F-E620-983C-A239734A30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15239" y="3159667"/>
            <a:ext cx="485496" cy="485496"/>
          </a:xfrm>
          <a:prstGeom prst="rect">
            <a:avLst/>
          </a:prstGeom>
        </p:spPr>
      </p:pic>
      <p:pic>
        <p:nvPicPr>
          <p:cNvPr id="31" name="그래픽 30" descr="별">
            <a:extLst>
              <a:ext uri="{FF2B5EF4-FFF2-40B4-BE49-F238E27FC236}">
                <a16:creationId xmlns:a16="http://schemas.microsoft.com/office/drawing/2014/main" id="{1C6B1354-D5CB-5B29-DCCA-3AAA1F5158B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53327" y="2704498"/>
            <a:ext cx="485496" cy="4854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/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−1,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blipFill>
                <a:blip r:embed="rId9"/>
                <a:stretch>
                  <a:fillRect l="-7595" t="-6667" r="-8228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/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blipFill>
                <a:blip r:embed="rId10"/>
                <a:stretch>
                  <a:fillRect l="-9231" t="-8889" r="-10000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FF4B92F-31B4-3C2F-14FE-6DE1FFDEBE8D}"/>
              </a:ext>
            </a:extLst>
          </p:cNvPr>
          <p:cNvCxnSpPr>
            <a:cxnSpLocks/>
          </p:cNvCxnSpPr>
          <p:nvPr/>
        </p:nvCxnSpPr>
        <p:spPr>
          <a:xfrm flipV="1">
            <a:off x="8485488" y="2556473"/>
            <a:ext cx="3128002" cy="316269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28851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E3566-E0E2-3682-76F4-6A2B0A523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5D4C1-4B4A-A66E-82C3-386E6AB7E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CEC279A-BA05-1914-9046-3B18C4C7FD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4924" y="4277515"/>
            <a:ext cx="7402300" cy="115173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D933761-F6C1-E88D-6DC1-6D5645B5AE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4924" y="2300419"/>
            <a:ext cx="7330316" cy="11037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3B0C35-8920-5211-45F2-08E4D70B1F95}"/>
              </a:ext>
            </a:extLst>
          </p:cNvPr>
          <p:cNvSpPr txBox="1"/>
          <p:nvPr/>
        </p:nvSpPr>
        <p:spPr>
          <a:xfrm>
            <a:off x="466725" y="18453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2</a:t>
            </a:r>
            <a:r>
              <a:rPr lang="ko-KR" altLang="en-US" sz="1800" dirty="0"/>
              <a:t>개 벡터</a:t>
            </a:r>
            <a:r>
              <a:rPr lang="en-US" altLang="ko-KR" sz="1800" dirty="0"/>
              <a:t>(points), (1,2), (2,1)</a:t>
            </a:r>
            <a:r>
              <a:rPr lang="ko-KR" altLang="en-US" sz="1800" dirty="0"/>
              <a:t>에 행렬</a:t>
            </a:r>
            <a:r>
              <a:rPr lang="en-US" altLang="ko-KR" dirty="0"/>
              <a:t>[(2,1), (1,4)] </a:t>
            </a:r>
            <a:r>
              <a:rPr lang="ko-KR" altLang="en-US" dirty="0"/>
              <a:t>와의</a:t>
            </a:r>
            <a:r>
              <a:rPr lang="en-US" altLang="ko-KR" dirty="0"/>
              <a:t> </a:t>
            </a:r>
            <a:r>
              <a:rPr lang="ko-KR" altLang="en-US" sz="1800" dirty="0"/>
              <a:t>내적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302242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3CF355-C241-D22E-F97C-7287CE73D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기하학적 이해</a:t>
            </a:r>
          </a:p>
        </p:txBody>
      </p:sp>
      <p:sp>
        <p:nvSpPr>
          <p:cNvPr id="4" name="AutoShape 2" descr=", AI generated">
            <a:extLst>
              <a:ext uri="{FF2B5EF4-FFF2-40B4-BE49-F238E27FC236}">
                <a16:creationId xmlns:a16="http://schemas.microsoft.com/office/drawing/2014/main" id="{A12FC27B-0BD4-A5AB-B0E5-D080A53513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011C37-30DB-6272-D93F-F9473458E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725" y="2014537"/>
            <a:ext cx="7286625" cy="3977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0482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15690B-B9F0-94FA-BC45-0E4821137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기하와 선형대수적 이해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30BE21E3-574E-E3B3-F218-5F9D85ABA5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7450" y="4643307"/>
            <a:ext cx="6599244" cy="202950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5C33DC3-86CB-5044-C33D-E78D6DD430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43" y="1954402"/>
            <a:ext cx="6237758" cy="2455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6598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BD2289-F2DD-C99C-21A0-D359B3CC0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투영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2AC9B519-750B-3AD9-C9B3-C647051B7BB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570875" y="2015277"/>
            <a:ext cx="7738080" cy="422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135C1BC-D100-A1E8-B66D-30FE5BBBCD42}"/>
              </a:ext>
            </a:extLst>
          </p:cNvPr>
          <p:cNvSpPr txBox="1"/>
          <p:nvPr/>
        </p:nvSpPr>
        <p:spPr>
          <a:xfrm>
            <a:off x="8394680" y="2029696"/>
            <a:ext cx="36544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첫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모든 데이터를 직선 하나에 강제로 정렬시키는 투영 </a:t>
            </a:r>
            <a:r>
              <a:rPr lang="en-US" altLang="ko-KR" dirty="0">
                <a:latin typeface="+mj-ea"/>
                <a:ea typeface="+mj-ea"/>
              </a:rPr>
              <a:t>(Singular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두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데이터를 새로운 좌표축으로 재배치하되 평면을 유지하는 투영 </a:t>
            </a:r>
            <a:r>
              <a:rPr lang="en-US" altLang="ko-KR" dirty="0">
                <a:latin typeface="+mj-ea"/>
                <a:ea typeface="+mj-ea"/>
              </a:rPr>
              <a:t>(Non-singular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이 투영 개념은 데이터 분석에서 중요한 주성분 분석</a:t>
            </a:r>
            <a:r>
              <a:rPr lang="en-US" altLang="ko-KR" dirty="0">
                <a:latin typeface="+mj-ea"/>
                <a:ea typeface="+mj-ea"/>
              </a:rPr>
              <a:t>(PCA)</a:t>
            </a:r>
            <a:r>
              <a:rPr lang="ko-KR" altLang="en-US" dirty="0">
                <a:latin typeface="+mj-ea"/>
                <a:ea typeface="+mj-ea"/>
              </a:rPr>
              <a:t>의 기초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111412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83F07D-BFD3-3D69-893B-986373095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Kernel Transformation</a:t>
            </a:r>
            <a:endParaRPr lang="ko-KR" altLang="en-US" dirty="0"/>
          </a:p>
        </p:txBody>
      </p:sp>
      <p:pic>
        <p:nvPicPr>
          <p:cNvPr id="12" name="내용 개체 틀 11">
            <a:extLst>
              <a:ext uri="{FF2B5EF4-FFF2-40B4-BE49-F238E27FC236}">
                <a16:creationId xmlns:a16="http://schemas.microsoft.com/office/drawing/2014/main" id="{5E212C3C-7C78-67D1-9717-691256295328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913774" y="1957388"/>
            <a:ext cx="8418804" cy="4595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43765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B3DBC6-35B0-DF34-8BB2-2CFA82E8E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행렬과 내적은 선형변환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F67A665-D8BD-3BDD-A95C-EA8AF2CDD90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775" y="2014539"/>
            <a:ext cx="5182225" cy="3322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9EFB63E-667B-21BC-A172-32BE45A43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374" y="2014539"/>
            <a:ext cx="5390677" cy="3322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0D1C23-1819-2AC4-B5F5-C6A7D08A2267}"/>
              </a:ext>
            </a:extLst>
          </p:cNvPr>
          <p:cNvSpPr txBox="1"/>
          <p:nvPr/>
        </p:nvSpPr>
        <p:spPr>
          <a:xfrm>
            <a:off x="838200" y="5734658"/>
            <a:ext cx="33441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자료원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행렬의 기하학적인 의미와 해석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35531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F990D-7C65-6C21-31D3-EC7CB3751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A20CEC-BF00-1556-F0BA-6AF560EF0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491CE45-07B6-3F10-9D80-86C15F831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" y="3120178"/>
            <a:ext cx="4373450" cy="2747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AB99FAD7-67C0-95AC-D700-A35DDC7C501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7048" y="2522484"/>
            <a:ext cx="5056802" cy="3424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61B9A48-9B38-5029-B7E7-030E2344A517}"/>
              </a:ext>
            </a:extLst>
          </p:cNvPr>
          <p:cNvSpPr txBox="1"/>
          <p:nvPr/>
        </p:nvSpPr>
        <p:spPr>
          <a:xfrm>
            <a:off x="504825" y="2244389"/>
            <a:ext cx="42481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Gaussian Random Noise Data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를 생성하고 행렬 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로 </a:t>
            </a:r>
            <a:r>
              <a:rPr lang="ko-KR" altLang="en-US" b="0" i="0" dirty="0" err="1">
                <a:solidFill>
                  <a:srgbClr val="000000"/>
                </a:solidFill>
                <a:effectLst/>
                <a:latin typeface="Nanum Gothic"/>
              </a:rPr>
              <a:t>선형변환하면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3D3EB99-B1E1-2A0D-C54E-009CFE5952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503" y="3143249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2423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54DAF-730F-8F6D-B29D-5CFC43465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F56195-CEFF-90F0-4BC3-62D731328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06278D-E073-9F29-1EA2-BDDE3586BF80}"/>
                  </a:ext>
                </a:extLst>
              </p:cNvPr>
              <p:cNvSpPr txBox="1"/>
              <p:nvPr/>
            </p:nvSpPr>
            <p:spPr>
              <a:xfrm>
                <a:off x="3112654" y="2905780"/>
                <a:ext cx="1880515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𝐴𝑥</m:t>
                      </m:r>
                    </m:oMath>
                  </m:oMathPara>
                </a14:m>
                <a:endParaRPr lang="en-US" altLang="ko-K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06278D-E073-9F29-1EA2-BDDE3586BF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2654" y="2905780"/>
                <a:ext cx="1880515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2AB01C-CBB7-D2A8-A798-338C0C6D7307}"/>
                  </a:ext>
                </a:extLst>
              </p:cNvPr>
              <p:cNvSpPr txBox="1"/>
              <p:nvPr/>
            </p:nvSpPr>
            <p:spPr>
              <a:xfrm>
                <a:off x="3177309" y="5401452"/>
                <a:ext cx="1885068" cy="5232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altLang="ko-K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2AB01C-CBB7-D2A8-A798-338C0C6D7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309" y="5401452"/>
                <a:ext cx="188506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82EF28-FB02-E5F8-0720-4B25D59C9AD6}"/>
                  </a:ext>
                </a:extLst>
              </p:cNvPr>
              <p:cNvSpPr txBox="1"/>
              <p:nvPr/>
            </p:nvSpPr>
            <p:spPr>
              <a:xfrm>
                <a:off x="913775" y="2214694"/>
                <a:ext cx="8974701" cy="50924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/>
                  <a:t>선형대수학에서 선형변환</a:t>
                </a:r>
                <a:r>
                  <a:rPr lang="en-US" altLang="ko-KR" sz="2000" dirty="0"/>
                  <a:t>(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ko-KR" altLang="en-US" sz="2000" dirty="0"/>
                  <a:t>은 </a:t>
                </a:r>
                <a:r>
                  <a:rPr lang="en-US" altLang="ko-KR" sz="2000" dirty="0"/>
                  <a:t>Vector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ko-KR" altLang="en-US" sz="2000" i="1" smtClean="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en-US" altLang="ko-KR" sz="2000" dirty="0"/>
                  <a:t> matrix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2000" dirty="0"/>
                  <a:t> 가</a:t>
                </a:r>
                <a:r>
                  <a:rPr lang="en-US" altLang="ko-KR" sz="2000" dirty="0"/>
                  <a:t> </a:t>
                </a:r>
                <a:r>
                  <a:rPr lang="ko-KR" altLang="en-US" sz="2000" dirty="0" err="1"/>
                  <a:t>내적하는</a:t>
                </a:r>
                <a:r>
                  <a:rPr lang="ko-KR" altLang="en-US" sz="2000" dirty="0"/>
                  <a:t> 것으로 표현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82EF28-FB02-E5F8-0720-4B25D59C9A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75" y="2214694"/>
                <a:ext cx="8974701" cy="509242"/>
              </a:xfrm>
              <a:prstGeom prst="rect">
                <a:avLst/>
              </a:prstGeom>
              <a:blipFill>
                <a:blip r:embed="rId4"/>
                <a:stretch>
                  <a:fillRect l="-611" b="-2023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7E321C-F4AB-9353-29F2-F163826A3600}"/>
                  </a:ext>
                </a:extLst>
              </p:cNvPr>
              <p:cNvSpPr txBox="1"/>
              <p:nvPr/>
            </p:nvSpPr>
            <p:spPr>
              <a:xfrm>
                <a:off x="983048" y="4557283"/>
                <a:ext cx="9771947" cy="9640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/>
                  <a:t>일반적을 </a:t>
                </a:r>
                <a:r>
                  <a:rPr lang="en-US" altLang="ko-KR" sz="2000" dirty="0"/>
                  <a:t>Vector </a:t>
                </a:r>
                <a:r>
                  <a:rPr lang="ko-KR" altLang="en-US" sz="2000" dirty="0"/>
                  <a:t>공간</a:t>
                </a:r>
                <a:r>
                  <a:rPr lang="en-US" altLang="ko-KR" sz="2000" dirty="0"/>
                  <a:t>(</a:t>
                </a:r>
                <a:r>
                  <a:rPr lang="ko-KR" altLang="en-US" sz="2000" dirty="0"/>
                  <a:t>차원</a:t>
                </a:r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ko-KR" altLang="en-US" sz="2000" dirty="0"/>
                  <a:t>에서 </a:t>
                </a:r>
                <a:r>
                  <a:rPr lang="en-US" altLang="ko-KR" sz="2000" dirty="0"/>
                  <a:t> matrix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2000" dirty="0"/>
                  <a:t> 를 통해 </a:t>
                </a:r>
                <a:r>
                  <a:rPr lang="en-US" altLang="ko-KR" sz="2000" dirty="0"/>
                  <a:t>Vector </a:t>
                </a:r>
                <a:r>
                  <a:rPr lang="ko-KR" altLang="en-US" sz="2000" dirty="0"/>
                  <a:t>공간</a:t>
                </a:r>
                <a:r>
                  <a:rPr lang="en-US" altLang="ko-KR" sz="2000" dirty="0"/>
                  <a:t>(</a:t>
                </a:r>
                <a:r>
                  <a:rPr lang="ko-KR" altLang="en-US" sz="2000" dirty="0"/>
                  <a:t>차원</a:t>
                </a:r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2000" dirty="0"/>
                  <a:t> 것이 선형변환</a:t>
                </a:r>
                <a:r>
                  <a:rPr lang="en-US" altLang="ko-KR" sz="2000" dirty="0"/>
                  <a:t> (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7E321C-F4AB-9353-29F2-F163826A36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048" y="4557283"/>
                <a:ext cx="9771947" cy="964046"/>
              </a:xfrm>
              <a:prstGeom prst="rect">
                <a:avLst/>
              </a:prstGeom>
              <a:blipFill>
                <a:blip r:embed="rId5"/>
                <a:stretch>
                  <a:fillRect l="-561" b="-1075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06213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4FEB6-E777-CB4C-BA75-09716C4F4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AC4825-AF5F-1A39-53C0-CEDF6DA19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099447"/>
          </a:xfrm>
        </p:spPr>
        <p:txBody>
          <a:bodyPr/>
          <a:lstStyle/>
          <a:p>
            <a:r>
              <a:rPr lang="ko-KR" altLang="en-US" dirty="0"/>
              <a:t>１차원　선형변환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A080CCC-DD48-569D-991D-9E45D1F32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1958286"/>
            <a:ext cx="6264183" cy="12345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F3D18DD-855A-74E2-813C-86047CEE4D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898" y="4245597"/>
            <a:ext cx="6187976" cy="1188823"/>
          </a:xfrm>
          <a:prstGeom prst="rect">
            <a:avLst/>
          </a:prstGeom>
        </p:spPr>
      </p:pic>
      <p:sp>
        <p:nvSpPr>
          <p:cNvPr id="8" name="내용 개체 틀 8">
            <a:extLst>
              <a:ext uri="{FF2B5EF4-FFF2-40B4-BE49-F238E27FC236}">
                <a16:creationId xmlns:a16="http://schemas.microsoft.com/office/drawing/2014/main" id="{B87DB3C8-EE0D-2495-E58F-EE4D67482D9C}"/>
              </a:ext>
            </a:extLst>
          </p:cNvPr>
          <p:cNvSpPr txBox="1">
            <a:spLocks/>
          </p:cNvSpPr>
          <p:nvPr/>
        </p:nvSpPr>
        <p:spPr>
          <a:xfrm>
            <a:off x="8103121" y="2271955"/>
            <a:ext cx="3848734" cy="295582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3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(3)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T*x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-0.5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T*x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Wingdings 2" charset="2"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C577BEC-31EC-196E-11D3-6E1377BCEF1D}"/>
                  </a:ext>
                </a:extLst>
              </p:cNvPr>
              <p:cNvSpPr txBox="1"/>
              <p:nvPr/>
            </p:nvSpPr>
            <p:spPr>
              <a:xfrm>
                <a:off x="8331200" y="1265382"/>
                <a:ext cx="2541721" cy="4040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Ｔ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（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ｘ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）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　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＝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　</m:t>
                      </m:r>
                      <m:sSup>
                        <m:sSup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C577BEC-31EC-196E-11D3-6E1377BCE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200" y="1265382"/>
                <a:ext cx="2541721" cy="404085"/>
              </a:xfrm>
              <a:prstGeom prst="rect">
                <a:avLst/>
              </a:prstGeom>
              <a:blipFill>
                <a:blip r:embed="rId4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44593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84C24-8D98-35C3-69D8-8E695978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8">
            <a:extLst>
              <a:ext uri="{FF2B5EF4-FFF2-40B4-BE49-F238E27FC236}">
                <a16:creationId xmlns:a16="http://schemas.microsoft.com/office/drawing/2014/main" id="{8CBA0E20-FB95-AEDD-401A-C2F8641D0A74}"/>
              </a:ext>
            </a:extLst>
          </p:cNvPr>
          <p:cNvSpPr txBox="1">
            <a:spLocks/>
          </p:cNvSpPr>
          <p:nvPr/>
        </p:nvSpPr>
        <p:spPr>
          <a:xfrm>
            <a:off x="7906386" y="2098797"/>
            <a:ext cx="3848734" cy="404479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([[-2,0], [0,-2])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([[-2,0], [0,-2]])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([1,1])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T.shape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x.shape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((2, 2), (2,))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Linear Transformation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T@x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8FC8EE8-50BC-C172-F21E-C04538729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098797"/>
            <a:ext cx="5090601" cy="3718882"/>
          </a:xfrm>
          <a:prstGeom prst="rect">
            <a:avLst/>
          </a:prstGeom>
        </p:spPr>
      </p:pic>
      <p:sp>
        <p:nvSpPr>
          <p:cNvPr id="10" name="제목 1">
            <a:extLst>
              <a:ext uri="{FF2B5EF4-FFF2-40B4-BE49-F238E27FC236}">
                <a16:creationId xmlns:a16="http://schemas.microsoft.com/office/drawing/2014/main" id="{0ED52B74-ED06-C1FF-8DE4-EEA6F4190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099447"/>
          </a:xfrm>
        </p:spPr>
        <p:txBody>
          <a:bodyPr/>
          <a:lstStyle/>
          <a:p>
            <a:r>
              <a:rPr lang="ko-KR" altLang="en-US" dirty="0"/>
              <a:t>２차원　회전 선형변환</a:t>
            </a:r>
          </a:p>
        </p:txBody>
      </p:sp>
    </p:spTree>
    <p:extLst>
      <p:ext uri="{BB962C8B-B14F-4D97-AF65-F5344CB8AC3E}">
        <p14:creationId xmlns:p14="http://schemas.microsoft.com/office/powerpoint/2010/main" val="20824681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1318A-96C6-CD64-4AF5-DF9BF5580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>
            <a:extLst>
              <a:ext uri="{FF2B5EF4-FFF2-40B4-BE49-F238E27FC236}">
                <a16:creationId xmlns:a16="http://schemas.microsoft.com/office/drawing/2014/main" id="{C44384E2-C2A9-42A8-C52E-3B425FDA3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099447"/>
          </a:xfrm>
        </p:spPr>
        <p:txBody>
          <a:bodyPr/>
          <a:lstStyle/>
          <a:p>
            <a:r>
              <a:rPr lang="ko-KR" altLang="en-US" dirty="0"/>
              <a:t>２차원　</a:t>
            </a:r>
            <a:r>
              <a:rPr lang="en-US" altLang="ko-KR" dirty="0"/>
              <a:t>sheer</a:t>
            </a:r>
            <a:r>
              <a:rPr lang="ko-KR" altLang="en-US" dirty="0"/>
              <a:t>　선형변환</a:t>
            </a:r>
          </a:p>
        </p:txBody>
      </p:sp>
      <p:sp>
        <p:nvSpPr>
          <p:cNvPr id="2" name="내용 개체 틀 8">
            <a:extLst>
              <a:ext uri="{FF2B5EF4-FFF2-40B4-BE49-F238E27FC236}">
                <a16:creationId xmlns:a16="http://schemas.microsoft.com/office/drawing/2014/main" id="{55F52ACB-3533-2C1E-F706-FC72D1315578}"/>
              </a:ext>
            </a:extLst>
          </p:cNvPr>
          <p:cNvSpPr txBox="1">
            <a:spLocks/>
          </p:cNvSpPr>
          <p:nvPr/>
        </p:nvSpPr>
        <p:spPr>
          <a:xfrm>
            <a:off x="7406640" y="1877127"/>
            <a:ext cx="4348480" cy="440452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Shear in x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([[1,10], [0,1]])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([1,1])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Shear in y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([[1,0], [10,1]])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Arbitrary shear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([[1,5], [10,1]])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F96A5AD-95CE-83EA-7800-4AF55653A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000" y="1877127"/>
            <a:ext cx="5735026" cy="39644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10E9EF1-73DB-B38D-3CC4-3E0D01A85599}"/>
              </a:ext>
            </a:extLst>
          </p:cNvPr>
          <p:cNvSpPr txBox="1"/>
          <p:nvPr/>
        </p:nvSpPr>
        <p:spPr>
          <a:xfrm>
            <a:off x="600635" y="595118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http://15462.courses.cs.cmu.edu/fall2019/lecture/transformations/slide_028</a:t>
            </a:r>
            <a:r>
              <a:rPr lang="ko-KR" altLang="en-US" sz="1100" dirty="0"/>
              <a:t>　</a:t>
            </a:r>
          </a:p>
        </p:txBody>
      </p:sp>
    </p:spTree>
    <p:extLst>
      <p:ext uri="{BB962C8B-B14F-4D97-AF65-F5344CB8AC3E}">
        <p14:creationId xmlns:p14="http://schemas.microsoft.com/office/powerpoint/2010/main" val="26239557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68855-F1C1-DC38-247C-6FC7ADE13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>
            <a:extLst>
              <a:ext uri="{FF2B5EF4-FFF2-40B4-BE49-F238E27FC236}">
                <a16:creationId xmlns:a16="http://schemas.microsoft.com/office/drawing/2014/main" id="{018E2FB2-74BF-0856-D02B-74FB68ED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099447"/>
          </a:xfrm>
        </p:spPr>
        <p:txBody>
          <a:bodyPr/>
          <a:lstStyle/>
          <a:p>
            <a:r>
              <a:rPr lang="ko-KR" altLang="en-US" dirty="0"/>
              <a:t>２차원　</a:t>
            </a:r>
            <a:r>
              <a:rPr lang="en-US" altLang="ko-KR" dirty="0"/>
              <a:t>sheer &amp; rotate</a:t>
            </a:r>
            <a:r>
              <a:rPr lang="ko-KR" altLang="en-US" dirty="0"/>
              <a:t>　선형변환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F3AE20F-6629-40E2-8C70-D8FA74A488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233" y="1898531"/>
            <a:ext cx="4493709" cy="127817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AD208C2-B568-7964-BFF4-748D44B675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1233" y="3176706"/>
            <a:ext cx="9118287" cy="2746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86884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9CCB3-4DE8-F539-1DF0-784A9D341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2219E6-6789-6F03-2329-ED0ACBF34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실습하기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38FC264-10B3-B34E-8BD5-928FD74E945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1451914" y="3178843"/>
            <a:ext cx="9288171" cy="1800476"/>
          </a:xfrm>
          <a:prstGeom prst="rect">
            <a:avLst/>
          </a:prstGeom>
        </p:spPr>
      </p:pic>
      <p:pic>
        <p:nvPicPr>
          <p:cNvPr id="1026" name="Picture 2" descr="clap board roadside Jakob and Ryan">
            <a:extLst>
              <a:ext uri="{FF2B5EF4-FFF2-40B4-BE49-F238E27FC236}">
                <a16:creationId xmlns:a16="http://schemas.microsoft.com/office/drawing/2014/main" id="{23F44CB3-02C4-078A-A7D0-959CDD8952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7421" y="433787"/>
            <a:ext cx="2362490" cy="1596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4663D5-FA49-ABC8-25CC-683BC9FD1FE8}"/>
              </a:ext>
            </a:extLst>
          </p:cNvPr>
          <p:cNvSpPr txBox="1"/>
          <p:nvPr/>
        </p:nvSpPr>
        <p:spPr>
          <a:xfrm>
            <a:off x="1451914" y="2399424"/>
            <a:ext cx="7154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dirty="0"/>
              <a:t>아래 코드를 직접 실행해보고 이미지에 대한 </a:t>
            </a:r>
            <a:r>
              <a:rPr lang="ko-KR" altLang="en-US"/>
              <a:t>선형변환을 이해하자</a:t>
            </a:r>
          </a:p>
        </p:txBody>
      </p:sp>
    </p:spTree>
    <p:extLst>
      <p:ext uri="{BB962C8B-B14F-4D97-AF65-F5344CB8AC3E}">
        <p14:creationId xmlns:p14="http://schemas.microsoft.com/office/powerpoint/2010/main" val="30956778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Digress</a:t>
            </a:r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: Shear </a:t>
            </a:r>
            <a:r>
              <a:rPr lang="en-US" altLang="ko-K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Bradpit</a:t>
            </a:r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Image</a:t>
            </a:r>
            <a:endParaRPr lang="ko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9BEA41EB-734E-F0B7-AAFC-ED8EC32908F3}"/>
              </a:ext>
            </a:extLst>
          </p:cNvPr>
          <p:cNvSpPr txBox="1">
            <a:spLocks/>
          </p:cNvSpPr>
          <p:nvPr/>
        </p:nvSpPr>
        <p:spPr>
          <a:xfrm>
            <a:off x="548640" y="1226739"/>
            <a:ext cx="11297920" cy="532646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PIL import Image,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ImageOps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ImageFilter</a:t>
            </a: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Load the image (Brad Pit)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image_url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"https://people.com/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thmb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/h67yba4NaGbpnv9DZVZm894kSjo=/1500x0/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filters:no_upscale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():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max_bytes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(150000):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strip_icc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():focal(979x292:981x294)/Brad-Pitt_1-2000-e8a294b80b034e659785ad813d3f02f2.jpg"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response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requests.get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image_url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Image.open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BytesIO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response.content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))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Define the shear factor (adjust as needed)</a:t>
            </a:r>
          </a:p>
          <a:p>
            <a:pPr marL="36900" indent="0">
              <a:buNone/>
            </a:pPr>
            <a:r>
              <a:rPr lang="en-US" altLang="ko-KR" sz="1600" b="1" dirty="0" err="1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shear_factor</a:t>
            </a:r>
            <a:r>
              <a:rPr lang="en-US" altLang="ko-KR" sz="1600" b="1" dirty="0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1.2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Create a shear matrix for horizontal shear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shear_matrix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(1,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shear_factor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0, 0, 1, 0)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Apply the shear transformation to the image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sheared_image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image.transform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Image.AFFINE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shear_matrix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Image.BICUBIC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6E02702-71BB-FB7E-187D-40E8D16B9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6110" y="3029994"/>
            <a:ext cx="2014485" cy="3371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7742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Digress</a:t>
            </a:r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: Kernel Transformation</a:t>
            </a:r>
            <a:endParaRPr lang="ko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9BEA41EB-734E-F0B7-AAFC-ED8EC32908F3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544748" cy="487822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sklearn.datasets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X, y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n_samples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=500,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random_state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=11, noise=0.1)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plt.scatter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(X[:, 0], X[:, 1], c=y, s=20,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’);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pt-BR" altLang="ko-KR" sz="1600" b="1" dirty="0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 =np.exp(-(X ** 2).sum(1))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mpl_toolkits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mplot3d</a:t>
            </a:r>
            <a:b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plt.figure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figsize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=(8,6))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plt.axes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(projection='3d')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ax.scatter3D(X[:, 0], X[:, 1], r, c=y,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#ax.view_init(10, 250)</a:t>
            </a:r>
          </a:p>
          <a:p>
            <a:pPr>
              <a:lnSpc>
                <a:spcPct val="100000"/>
              </a:lnSpc>
            </a:pPr>
            <a:endParaRPr lang="en-US" altLang="ko-KR" sz="1200" b="0" dirty="0">
              <a:solidFill>
                <a:srgbClr val="00000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3B39C48-D1D6-35F5-B1EA-C7C6916E3B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436" y="993074"/>
            <a:ext cx="3294767" cy="250303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635BAA7-CE39-2E03-0021-A2FEB8429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036" y="3798534"/>
            <a:ext cx="3294767" cy="254009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E79001F-EDD7-253B-B489-2582AD413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57392" y="3173077"/>
            <a:ext cx="1249073" cy="323036"/>
          </a:xfrm>
          <a:prstGeom prst="rect">
            <a:avLst/>
          </a:prstGeom>
          <a:ln>
            <a:solidFill>
              <a:srgbClr val="FF0000"/>
            </a:solidFill>
          </a:ln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F92B326-14DF-461C-1D5D-1809FAB4CE5B}"/>
              </a:ext>
            </a:extLst>
          </p:cNvPr>
          <p:cNvCxnSpPr>
            <a:cxnSpLocks/>
            <a:stCxn id="5" idx="3"/>
            <a:endCxn id="8" idx="3"/>
          </p:cNvCxnSpPr>
          <p:nvPr/>
        </p:nvCxnSpPr>
        <p:spPr>
          <a:xfrm>
            <a:off x="10111203" y="2244594"/>
            <a:ext cx="101600" cy="2823989"/>
          </a:xfrm>
          <a:prstGeom prst="curvedConnector3">
            <a:avLst>
              <a:gd name="adj1" fmla="val 325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6411374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1710</TotalTime>
  <Words>1622</Words>
  <Application>Microsoft Office PowerPoint</Application>
  <PresentationFormat>와이드스크린</PresentationFormat>
  <Paragraphs>228</Paragraphs>
  <Slides>34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6" baseType="lpstr">
      <vt:lpstr>Nanum Gothic</vt:lpstr>
      <vt:lpstr>맑은 고딕</vt:lpstr>
      <vt:lpstr>Batang</vt:lpstr>
      <vt:lpstr>한컴 말랑말랑 Bold</vt:lpstr>
      <vt:lpstr>Arial</vt:lpstr>
      <vt:lpstr>Calibri</vt:lpstr>
      <vt:lpstr>Calibri Light</vt:lpstr>
      <vt:lpstr>Cambria Math</vt:lpstr>
      <vt:lpstr>Tw Cen MT</vt:lpstr>
      <vt:lpstr>Wingdings</vt:lpstr>
      <vt:lpstr>Wingdings 2</vt:lpstr>
      <vt:lpstr>물방울</vt:lpstr>
      <vt:lpstr>행렬과 벡터 -선형변환-</vt:lpstr>
      <vt:lpstr>PowerPoint 프레젠테이션</vt:lpstr>
      <vt:lpstr>대수(algebra)</vt:lpstr>
      <vt:lpstr>선형대수(linear algebra)</vt:lpstr>
      <vt:lpstr>선형대수(linear algebra)</vt:lpstr>
      <vt:lpstr>선형대수(linear algebra)</vt:lpstr>
      <vt:lpstr>선형대수(linear algebra)</vt:lpstr>
      <vt:lpstr>PowerPoint 프레젠테이션</vt:lpstr>
      <vt:lpstr>Numpy 배우기</vt:lpstr>
      <vt:lpstr>PowerPoint 프레젠테이션</vt:lpstr>
      <vt:lpstr>배우기 시작</vt:lpstr>
      <vt:lpstr>1차원 직선에서의 선형변환에 대해 생각하기</vt:lpstr>
      <vt:lpstr>1차원 직선에서의 선형변환에 대해 생각하기</vt:lpstr>
      <vt:lpstr>2차원 평면에서의 선형변환에 대해 생각하기</vt:lpstr>
      <vt:lpstr>2차원 평면에서의 선형변환에 대해 생각하기</vt:lpstr>
      <vt:lpstr>2차원 평면에서의 선형변환에 대해 생각하기</vt:lpstr>
      <vt:lpstr>과제</vt:lpstr>
      <vt:lpstr>PowerPoint 프레젠테이션</vt:lpstr>
      <vt:lpstr>PowerPoint 프레젠테이션</vt:lpstr>
      <vt:lpstr>선형변환</vt:lpstr>
      <vt:lpstr>기하학적 이해</vt:lpstr>
      <vt:lpstr>기하와 선형대수적 이해</vt:lpstr>
      <vt:lpstr>투영</vt:lpstr>
      <vt:lpstr>Kernel Transformation</vt:lpstr>
      <vt:lpstr>행렬과 내적은 선형변환</vt:lpstr>
      <vt:lpstr>선형변환</vt:lpstr>
      <vt:lpstr>선형변환</vt:lpstr>
      <vt:lpstr>１차원　선형변환</vt:lpstr>
      <vt:lpstr>２차원　회전 선형변환</vt:lpstr>
      <vt:lpstr>２차원　sheer　선형변환</vt:lpstr>
      <vt:lpstr>２차원　sheer &amp; rotate　선형변환</vt:lpstr>
      <vt:lpstr>실습하기</vt:lpstr>
      <vt:lpstr>Digress : Shear Bradpit Image</vt:lpstr>
      <vt:lpstr>Digress : Kernel Transformation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25</cp:revision>
  <dcterms:created xsi:type="dcterms:W3CDTF">2026-03-09T22:59:08Z</dcterms:created>
  <dcterms:modified xsi:type="dcterms:W3CDTF">2026-03-24T15:42:55Z</dcterms:modified>
</cp:coreProperties>
</file>