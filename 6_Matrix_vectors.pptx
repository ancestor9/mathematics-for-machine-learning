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82" r:id="rId4"/>
    <p:sldId id="283" r:id="rId5"/>
    <p:sldId id="280" r:id="rId6"/>
    <p:sldId id="265" r:id="rId7"/>
    <p:sldId id="271" r:id="rId8"/>
    <p:sldId id="275" r:id="rId9"/>
    <p:sldId id="276" r:id="rId10"/>
    <p:sldId id="272" r:id="rId11"/>
    <p:sldId id="279" r:id="rId12"/>
    <p:sldId id="270" r:id="rId13"/>
    <p:sldId id="259" r:id="rId14"/>
    <p:sldId id="258" r:id="rId15"/>
    <p:sldId id="268" r:id="rId16"/>
    <p:sldId id="269" r:id="rId17"/>
    <p:sldId id="260" r:id="rId18"/>
    <p:sldId id="263" r:id="rId19"/>
    <p:sldId id="284" r:id="rId20"/>
    <p:sldId id="264" r:id="rId21"/>
    <p:sldId id="261" r:id="rId22"/>
    <p:sldId id="262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60"/>
  </p:normalViewPr>
  <p:slideViewPr>
    <p:cSldViewPr snapToGrid="0">
      <p:cViewPr varScale="1">
        <p:scale>
          <a:sx n="80" d="100"/>
          <a:sy n="80" d="100"/>
        </p:scale>
        <p:origin x="9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chrome-extension://hmigninkgibhdckiaphhmbgcghochdjc/pdfjs/web/viewer.html?file=file%3A%2F%2F%2FC%3A%2FUsers%2F%25EC%25A1%25B0%25EA%25B7%25BC%25ED%2595%2598%2FDownloads%2FPython%2520for%2520Data%2520Analysi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wesm/pydata-book/blob/3rd-edition/ch04.ipynb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ipesds.tistory.com/entry/%EC%B4%88%EA%B0%84%EB%8B%A8-%EC%84%A0%ED%98%95%EB%8C%80%EC%88%98-%ED%96%89%EB%A0%AC%EC%9D%98-%EA%B8%B0%ED%95%98%ED%95%99%EC%A0%81%EC%9D%B8-%EC%9D%98%EB%AF%B8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en.wikipedia.org/wiki/Eigenvalues_and_eigenvect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/>
          <a:lstStyle/>
          <a:p>
            <a:r>
              <a:rPr lang="ko-KR" altLang="en-US" dirty="0"/>
              <a:t>행렬과 벡터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BC7E252-AF9C-7707-B610-3002F1588D0E}"/>
              </a:ext>
            </a:extLst>
          </p:cNvPr>
          <p:cNvSpPr/>
          <p:nvPr/>
        </p:nvSpPr>
        <p:spPr>
          <a:xfrm>
            <a:off x="636521" y="1646709"/>
            <a:ext cx="8136904" cy="488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992DD-2A1A-471D-D61E-522358216252}"/>
              </a:ext>
            </a:extLst>
          </p:cNvPr>
          <p:cNvSpPr txBox="1"/>
          <p:nvPr/>
        </p:nvSpPr>
        <p:spPr>
          <a:xfrm>
            <a:off x="1629916" y="147612"/>
            <a:ext cx="8928992" cy="3306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Numpy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(Principal Component Analysis)</a:t>
            </a:r>
          </a:p>
        </p:txBody>
      </p:sp>
    </p:spTree>
    <p:extLst>
      <p:ext uri="{BB962C8B-B14F-4D97-AF65-F5344CB8AC3E}">
        <p14:creationId xmlns:p14="http://schemas.microsoft.com/office/powerpoint/2010/main" val="28201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9B65-F8EA-6AA1-1DA5-2D80DF7B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배우기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1DBF4AB-18F7-B495-4FB6-8A38A541D4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116473" y="2214694"/>
            <a:ext cx="3255502" cy="42470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A460C8-3D6F-CA01-A221-E7D424A77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791" y="2214693"/>
            <a:ext cx="4578929" cy="4247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82D019-6BB4-ADFA-1AD5-8A7774BD338F}"/>
              </a:ext>
            </a:extLst>
          </p:cNvPr>
          <p:cNvSpPr txBox="1"/>
          <p:nvPr/>
        </p:nvSpPr>
        <p:spPr>
          <a:xfrm>
            <a:off x="1009650" y="1400175"/>
            <a:ext cx="4708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장 배열과 </a:t>
            </a:r>
            <a:r>
              <a:rPr lang="ko-KR" altLang="en-US" dirty="0" err="1"/>
              <a:t>벡터화연산</a:t>
            </a:r>
            <a:r>
              <a:rPr lang="ko-KR" altLang="en-US" dirty="0"/>
              <a:t> 학습하기 </a:t>
            </a:r>
            <a:r>
              <a:rPr lang="en-US" altLang="ko-KR" dirty="0"/>
              <a:t>(</a:t>
            </a:r>
            <a:r>
              <a:rPr lang="en-US" altLang="ko-KR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ch04.ipynb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A8871-E473-EBE6-CC11-5E0AA722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2B581D4-F968-9524-D88C-480A051EB5F8}"/>
              </a:ext>
            </a:extLst>
          </p:cNvPr>
          <p:cNvSpPr/>
          <p:nvPr/>
        </p:nvSpPr>
        <p:spPr>
          <a:xfrm>
            <a:off x="636521" y="1646709"/>
            <a:ext cx="8136904" cy="488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755D7F-39F2-BAFA-6926-28AB0F55A49C}"/>
              </a:ext>
            </a:extLst>
          </p:cNvPr>
          <p:cNvSpPr txBox="1"/>
          <p:nvPr/>
        </p:nvSpPr>
        <p:spPr>
          <a:xfrm>
            <a:off x="1629916" y="147612"/>
            <a:ext cx="8928992" cy="3306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Numpy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(Principal Component Analysis)</a:t>
            </a:r>
          </a:p>
        </p:txBody>
      </p:sp>
    </p:spTree>
    <p:extLst>
      <p:ext uri="{BB962C8B-B14F-4D97-AF65-F5344CB8AC3E}">
        <p14:creationId xmlns:p14="http://schemas.microsoft.com/office/powerpoint/2010/main" val="37962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F88C-1F8F-A2AC-3D6B-A3312E3D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AA548-B705-F527-DF59-321E6D96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배우기 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A3E08E-3665-01E9-0677-23E74683F5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2400" dirty="0"/>
              <a:t>1</a:t>
            </a:r>
            <a:r>
              <a:rPr lang="ko-KR" altLang="en-US" sz="2400" dirty="0"/>
              <a:t>차원 직선에서의 선형변환에 대해 생각하기</a:t>
            </a:r>
            <a:endParaRPr lang="en-US" altLang="ko-KR" sz="2400" dirty="0"/>
          </a:p>
          <a:p>
            <a:r>
              <a:rPr lang="en-US" altLang="ko-KR" sz="2400" dirty="0"/>
              <a:t>2</a:t>
            </a:r>
            <a:r>
              <a:rPr lang="ko-KR" altLang="en-US" sz="2400" dirty="0"/>
              <a:t>차원 평면의 </a:t>
            </a:r>
            <a:r>
              <a:rPr lang="en-US" altLang="ko-KR" sz="2400" dirty="0"/>
              <a:t>2</a:t>
            </a:r>
            <a:r>
              <a:rPr lang="ko-KR" altLang="en-US" sz="2400" dirty="0"/>
              <a:t>개 벡터</a:t>
            </a:r>
            <a:r>
              <a:rPr lang="en-US" altLang="ko-KR" sz="2400" dirty="0"/>
              <a:t>(points), (1,2), (2,1)</a:t>
            </a:r>
            <a:r>
              <a:rPr lang="ko-KR" altLang="en-US" sz="2400" dirty="0"/>
              <a:t>에 임의의 행렬과 내적</a:t>
            </a:r>
            <a:endParaRPr lang="en-US" altLang="ko-KR" sz="2400" dirty="0"/>
          </a:p>
          <a:p>
            <a:r>
              <a:rPr lang="ko-KR" altLang="en-US" sz="2400" dirty="0"/>
              <a:t>투영</a:t>
            </a:r>
            <a:r>
              <a:rPr lang="en-US" altLang="ko-KR" sz="2400" dirty="0"/>
              <a:t>(Projection)</a:t>
            </a:r>
          </a:p>
          <a:p>
            <a:r>
              <a:rPr lang="ko-KR" altLang="en-US" sz="2400" dirty="0"/>
              <a:t>행렬</a:t>
            </a:r>
            <a:r>
              <a:rPr lang="en-US" altLang="ko-KR" sz="2400" dirty="0"/>
              <a:t> A</a:t>
            </a:r>
            <a:r>
              <a:rPr lang="ko-KR" altLang="en-US" sz="2400" dirty="0"/>
              <a:t>와 내적</a:t>
            </a:r>
            <a:r>
              <a:rPr lang="en-US" altLang="ko-KR" sz="2400" dirty="0"/>
              <a:t>(inner product)</a:t>
            </a:r>
          </a:p>
          <a:p>
            <a:r>
              <a:rPr lang="ko-KR" altLang="en-US" sz="2400" dirty="0"/>
              <a:t>행렬 </a:t>
            </a:r>
            <a:r>
              <a:rPr lang="en-US" altLang="ko-KR" sz="2400" dirty="0"/>
              <a:t>A</a:t>
            </a:r>
            <a:r>
              <a:rPr lang="ko-KR" altLang="en-US" sz="2400" dirty="0"/>
              <a:t>로 선형변환</a:t>
            </a:r>
            <a:r>
              <a:rPr lang="en-US" altLang="ko-KR" sz="2400" dirty="0"/>
              <a:t>(linear combination)</a:t>
            </a:r>
          </a:p>
          <a:p>
            <a:r>
              <a:rPr lang="ko-KR" altLang="en-US" sz="2400" dirty="0"/>
              <a:t>기저좌표의 변화</a:t>
            </a:r>
            <a:endParaRPr lang="en-US" altLang="ko-KR" sz="2400" dirty="0"/>
          </a:p>
          <a:p>
            <a:r>
              <a:rPr lang="ko-KR" altLang="en-US" sz="2400" dirty="0"/>
              <a:t>주성분</a:t>
            </a:r>
            <a:r>
              <a:rPr lang="en-US" altLang="ko-KR" sz="2400" dirty="0"/>
              <a:t>(principal components)</a:t>
            </a:r>
          </a:p>
          <a:p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0215A1-FF31-720E-824D-1350EDE22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897" y="3429000"/>
            <a:ext cx="2345545" cy="15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4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293B-460C-9230-F381-B0364AA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AE2C-28FF-1039-9A16-E84B181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4C64AF-EF0E-EBD8-8093-7DE3D6BBB899}"/>
              </a:ext>
            </a:extLst>
          </p:cNvPr>
          <p:cNvCxnSpPr>
            <a:cxnSpLocks/>
          </p:cNvCxnSpPr>
          <p:nvPr/>
        </p:nvCxnSpPr>
        <p:spPr>
          <a:xfrm>
            <a:off x="361325" y="3629309"/>
            <a:ext cx="5086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D289A-2471-E2AE-B6E6-B49E2097CF5D}"/>
              </a:ext>
            </a:extLst>
          </p:cNvPr>
          <p:cNvSpPr txBox="1"/>
          <p:nvPr/>
        </p:nvSpPr>
        <p:spPr>
          <a:xfrm>
            <a:off x="228600" y="370550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44CD66-B49C-B14B-F5CB-619727F20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086" y="2591736"/>
            <a:ext cx="5668613" cy="32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CC-8648-9F67-9936-401B49A3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2634D-69DE-B1FA-0C1A-E45A7D84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7EF1AA-F153-6183-97D0-69F9B4F583E3}"/>
              </a:ext>
            </a:extLst>
          </p:cNvPr>
          <p:cNvCxnSpPr>
            <a:cxnSpLocks/>
          </p:cNvCxnSpPr>
          <p:nvPr/>
        </p:nvCxnSpPr>
        <p:spPr>
          <a:xfrm>
            <a:off x="241904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202B12-A258-8108-186D-F5C99EE6F804}"/>
              </a:ext>
            </a:extLst>
          </p:cNvPr>
          <p:cNvSpPr txBox="1"/>
          <p:nvPr/>
        </p:nvSpPr>
        <p:spPr>
          <a:xfrm>
            <a:off x="228631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CFDE16B-292D-CEE7-D26B-874B0FDAC374}"/>
              </a:ext>
            </a:extLst>
          </p:cNvPr>
          <p:cNvCxnSpPr>
            <a:cxnSpLocks/>
          </p:cNvCxnSpPr>
          <p:nvPr/>
        </p:nvCxnSpPr>
        <p:spPr>
          <a:xfrm>
            <a:off x="47720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0889A9A-9BF1-DC08-AE34-A7451EE113CD}"/>
              </a:ext>
            </a:extLst>
          </p:cNvPr>
          <p:cNvSpPr txBox="1"/>
          <p:nvPr/>
        </p:nvSpPr>
        <p:spPr>
          <a:xfrm rot="16200000">
            <a:off x="2111177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62EAC99-6513-A21E-6BBF-96E1779712F1}"/>
              </a:ext>
            </a:extLst>
          </p:cNvPr>
          <p:cNvCxnSpPr>
            <a:cxnSpLocks/>
          </p:cNvCxnSpPr>
          <p:nvPr/>
        </p:nvCxnSpPr>
        <p:spPr>
          <a:xfrm flipV="1">
            <a:off x="3562353" y="2000250"/>
            <a:ext cx="2419350" cy="43059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70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E690-F2AD-18B4-D988-8AEE6085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F44F4-1686-2B4C-B786-2BBD121C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32D000-AAD7-424D-68F9-3340C35A3C36}"/>
              </a:ext>
            </a:extLst>
          </p:cNvPr>
          <p:cNvCxnSpPr>
            <a:cxnSpLocks/>
          </p:cNvCxnSpPr>
          <p:nvPr/>
        </p:nvCxnSpPr>
        <p:spPr>
          <a:xfrm>
            <a:off x="45689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CBFC49-A98C-36D0-1878-7FFFEFF36A68}"/>
              </a:ext>
            </a:extLst>
          </p:cNvPr>
          <p:cNvSpPr txBox="1"/>
          <p:nvPr/>
        </p:nvSpPr>
        <p:spPr>
          <a:xfrm>
            <a:off x="32416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8C6DF1-B97D-F199-5033-64331BCC3A7E}"/>
              </a:ext>
            </a:extLst>
          </p:cNvPr>
          <p:cNvCxnSpPr>
            <a:cxnSpLocks/>
          </p:cNvCxnSpPr>
          <p:nvPr/>
        </p:nvCxnSpPr>
        <p:spPr>
          <a:xfrm>
            <a:off x="280987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E0933-37D0-5B7A-EF49-7D3E7E68A636}"/>
              </a:ext>
            </a:extLst>
          </p:cNvPr>
          <p:cNvSpPr txBox="1"/>
          <p:nvPr/>
        </p:nvSpPr>
        <p:spPr>
          <a:xfrm rot="16200000">
            <a:off x="267015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9770E7-D05C-D9DA-D98D-1366B9D2D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850" y="2377217"/>
            <a:ext cx="1503361" cy="981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98E98A-995F-336E-D8D6-82E48810C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223" y="3358239"/>
            <a:ext cx="1280266" cy="5258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689E68-6A28-53EE-75F3-C2D0E09D8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850" y="3691819"/>
            <a:ext cx="1280271" cy="548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06CAE5-178C-DC5D-E74B-8EF5E3F67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120" y="3697535"/>
            <a:ext cx="1597887" cy="542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11805A-4319-468A-B660-5363D357BFFB}"/>
              </a:ext>
            </a:extLst>
          </p:cNvPr>
          <p:cNvSpPr/>
          <p:nvPr/>
        </p:nvSpPr>
        <p:spPr>
          <a:xfrm>
            <a:off x="3073399" y="335822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826B98-1D71-4910-55B7-EE49E4BBF56A}"/>
              </a:ext>
            </a:extLst>
          </p:cNvPr>
          <p:cNvSpPr/>
          <p:nvPr/>
        </p:nvSpPr>
        <p:spPr>
          <a:xfrm>
            <a:off x="4474513" y="2335507"/>
            <a:ext cx="260349" cy="242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1DE4A-D272-D340-D9A6-538BC397CD81}"/>
              </a:ext>
            </a:extLst>
          </p:cNvPr>
          <p:cNvSpPr txBox="1"/>
          <p:nvPr/>
        </p:nvSpPr>
        <p:spPr>
          <a:xfrm>
            <a:off x="9385999" y="2345081"/>
            <a:ext cx="2714628" cy="17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벡터</a:t>
            </a:r>
            <a:r>
              <a:rPr lang="en-US" altLang="ko-KR" dirty="0"/>
              <a:t> v</a:t>
            </a:r>
            <a:r>
              <a:rPr lang="ko-KR" altLang="en-US" dirty="0"/>
              <a:t>가 행렬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ko-KR" altLang="en-US" dirty="0" err="1"/>
              <a:t>내적하는</a:t>
            </a:r>
            <a:r>
              <a:rPr lang="ko-KR" altLang="en-US" dirty="0"/>
              <a:t> 선형변환을 하면 </a:t>
            </a:r>
            <a:r>
              <a:rPr lang="en-US" altLang="ko-KR" dirty="0"/>
              <a:t>Av = (5,5) </a:t>
            </a:r>
            <a:r>
              <a:rPr lang="ko-KR" altLang="en-US" dirty="0"/>
              <a:t>로 위치 이동하게 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780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B495B-D82D-70B1-95E8-6A221ED9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C0271E0-83DB-4699-2D1D-D4EC4FBB26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1144" y="2411707"/>
            <a:ext cx="2036761" cy="130258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3EC9D9-E1E5-486D-524D-A0C034D9B291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33EA56-E119-9E2E-EBFA-3E843E65458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792C78-4F30-BAD6-12FC-138766A35512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E44BCE-2E3C-9E9E-D923-0EEE18AB9631}"/>
              </a:ext>
            </a:extLst>
          </p:cNvPr>
          <p:cNvSpPr/>
          <p:nvPr/>
        </p:nvSpPr>
        <p:spPr>
          <a:xfrm>
            <a:off x="2359026" y="3429000"/>
            <a:ext cx="841374" cy="7687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801FD-463E-32A8-962F-C2F5391655F2}"/>
              </a:ext>
            </a:extLst>
          </p:cNvPr>
          <p:cNvSpPr txBox="1"/>
          <p:nvPr/>
        </p:nvSpPr>
        <p:spPr>
          <a:xfrm>
            <a:off x="5182225" y="2105546"/>
            <a:ext cx="6619250" cy="336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행렬 </a:t>
            </a:r>
            <a:r>
              <a:rPr lang="en-US" altLang="ko-KR" dirty="0"/>
              <a:t>A = [(2,1), (3,4)] </a:t>
            </a:r>
            <a:r>
              <a:rPr lang="ko-KR" altLang="en-US" dirty="0"/>
              <a:t>의 행렬인 경우 </a:t>
            </a:r>
            <a:r>
              <a:rPr lang="en-US" altLang="ko-KR" dirty="0"/>
              <a:t>v=(1,2)</a:t>
            </a:r>
            <a:r>
              <a:rPr lang="ko-KR" altLang="en-US" dirty="0"/>
              <a:t>는 어떻게 </a:t>
            </a:r>
            <a:r>
              <a:rPr lang="ko-KR" altLang="en-US" b="1" dirty="0"/>
              <a:t>변환</a:t>
            </a:r>
            <a:r>
              <a:rPr lang="ko-KR" altLang="en-US" dirty="0"/>
              <a:t>되는가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 </a:t>
            </a:r>
            <a:r>
              <a:rPr lang="ko-KR" altLang="en-US" dirty="0"/>
              <a:t>아래와 같은 정방형의 모든 실수는 </a:t>
            </a:r>
            <a:r>
              <a:rPr lang="en-US" altLang="ko-KR" dirty="0"/>
              <a:t>A</a:t>
            </a:r>
            <a:r>
              <a:rPr lang="ko-KR" altLang="en-US" dirty="0"/>
              <a:t>행렬과 </a:t>
            </a:r>
            <a:r>
              <a:rPr lang="ko-KR" altLang="en-US" dirty="0" err="1"/>
              <a:t>내적하면</a:t>
            </a:r>
            <a:r>
              <a:rPr lang="ko-KR" altLang="en-US" dirty="0"/>
              <a:t> 어떻게 </a:t>
            </a:r>
            <a:r>
              <a:rPr lang="ko-KR" altLang="en-US" b="1" dirty="0"/>
              <a:t>변환</a:t>
            </a:r>
            <a:r>
              <a:rPr lang="ko-KR" altLang="en-US" dirty="0"/>
              <a:t>되는지 파이썬 코드로 작성하고 시각화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선형변환</a:t>
            </a:r>
            <a:r>
              <a:rPr lang="en-US" altLang="ko-KR" b="1" dirty="0"/>
              <a:t>(Linear Transformation)</a:t>
            </a:r>
            <a:r>
              <a:rPr lang="ko-KR" altLang="en-US" dirty="0"/>
              <a:t>의 결과를 기하학적 의미를 </a:t>
            </a:r>
            <a:r>
              <a:rPr lang="ko-KR" altLang="en-US" b="1" dirty="0"/>
              <a:t>투영</a:t>
            </a:r>
            <a:r>
              <a:rPr lang="en-US" altLang="ko-KR" b="1" dirty="0"/>
              <a:t>(Projection)</a:t>
            </a:r>
            <a:r>
              <a:rPr lang="ko-KR" altLang="en-US" dirty="0"/>
              <a:t>의 관점에서 설명하라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FB67B-47AD-E2B1-F02D-7438ED6D3A02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664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ED26979-3036-435B-0822-871DA230CA78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D771A1-25B1-665A-99F0-AD771F07CDA4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F301B5-9970-FCB6-2C79-A057D8D23F0E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CF34E6-3C08-D401-489F-98201AD4E32F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B46C8-7DA9-65B3-928C-F55479A8125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/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1099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/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/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blipFill>
                <a:blip r:embed="rId5"/>
                <a:stretch>
                  <a:fillRect l="-289" t="-6667" r="-3179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59CE4A2-11E8-3782-9C37-54E0B00FD94F}"/>
              </a:ext>
            </a:extLst>
          </p:cNvPr>
          <p:cNvSpPr txBox="1"/>
          <p:nvPr/>
        </p:nvSpPr>
        <p:spPr>
          <a:xfrm>
            <a:off x="5784127" y="3165498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두 행이 완전히 동일하며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모든 벡터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(x, 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를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(x+2y,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x+2y)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벡터로 선형변환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배치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80E0E523-FCA2-AA24-9EA5-9380D86B3195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81818" y="1907079"/>
            <a:ext cx="612529" cy="1204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DAF44130-B832-9483-C9DF-EFD357270E4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953125" y="2203025"/>
            <a:ext cx="1512041" cy="687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04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48C2-D67B-5ADB-18B1-80FE0EBB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F82DA0A-412B-C75A-C675-E78A772EB5B4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36533-3E78-9C9E-2D7B-3CD87C1D7E1E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C11FE9-3D39-67F5-9B81-39ABA9F3C151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3A923B-0F3D-C793-CBDF-EB2CBE8E86F4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F449C-DC59-EB8D-209F-4B2964F89FCF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/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733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/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blipFill>
                <a:blip r:embed="rId4"/>
                <a:stretch>
                  <a:fillRect l="-3583" t="-6522" r="-3909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417510F-FA8E-6162-4468-EC4812C7C296}"/>
              </a:ext>
            </a:extLst>
          </p:cNvPr>
          <p:cNvSpPr txBox="1"/>
          <p:nvPr/>
        </p:nvSpPr>
        <p:spPr>
          <a:xfrm>
            <a:off x="3979335" y="3290089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</a:t>
            </a:r>
            <a:r>
              <a:rPr lang="ko-KR" alt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내적하여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투영하여 배치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붕괴시키는 행렬변환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07E2D664-2BE6-2DF1-837C-3787AEF194CA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54644" y="1578833"/>
            <a:ext cx="967949" cy="15054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4903B8ED-A4E2-90BE-7A88-0777CA4B0F30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6254197" y="1847605"/>
            <a:ext cx="1516216" cy="9308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9EBD0C9-2937-E546-104C-A70FBE6A99F3}"/>
              </a:ext>
            </a:extLst>
          </p:cNvPr>
          <p:cNvCxnSpPr>
            <a:cxnSpLocks/>
          </p:cNvCxnSpPr>
          <p:nvPr/>
        </p:nvCxnSpPr>
        <p:spPr>
          <a:xfrm flipV="1">
            <a:off x="7615956" y="4163027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6B7B48-EFB1-1809-928C-471F9BC07E28}"/>
              </a:ext>
            </a:extLst>
          </p:cNvPr>
          <p:cNvCxnSpPr>
            <a:cxnSpLocks/>
          </p:cNvCxnSpPr>
          <p:nvPr/>
        </p:nvCxnSpPr>
        <p:spPr>
          <a:xfrm>
            <a:off x="9968944" y="1990714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3B2C7D-9653-5102-80B2-FEFBC0BFFAEF}"/>
              </a:ext>
            </a:extLst>
          </p:cNvPr>
          <p:cNvSpPr txBox="1"/>
          <p:nvPr/>
        </p:nvSpPr>
        <p:spPr>
          <a:xfrm rot="16200000">
            <a:off x="7412550" y="415872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DD22D-5F31-7D85-4E49-D7CCEC85C019}"/>
              </a:ext>
            </a:extLst>
          </p:cNvPr>
          <p:cNvSpPr txBox="1"/>
          <p:nvPr/>
        </p:nvSpPr>
        <p:spPr>
          <a:xfrm>
            <a:off x="7486650" y="419777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28" name="그래픽 27" descr="별">
            <a:extLst>
              <a:ext uri="{FF2B5EF4-FFF2-40B4-BE49-F238E27FC236}">
                <a16:creationId xmlns:a16="http://schemas.microsoft.com/office/drawing/2014/main" id="{B1997F87-A73F-E620-983C-A239734A3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5239" y="3159667"/>
            <a:ext cx="485496" cy="485496"/>
          </a:xfrm>
          <a:prstGeom prst="rect">
            <a:avLst/>
          </a:prstGeom>
        </p:spPr>
      </p:pic>
      <p:pic>
        <p:nvPicPr>
          <p:cNvPr id="31" name="그래픽 30" descr="별">
            <a:extLst>
              <a:ext uri="{FF2B5EF4-FFF2-40B4-BE49-F238E27FC236}">
                <a16:creationId xmlns:a16="http://schemas.microsoft.com/office/drawing/2014/main" id="{1C6B1354-D5CB-5B29-DCCA-3AAA1F515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3327" y="2704498"/>
            <a:ext cx="485496" cy="4854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/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(−1,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blipFill>
                <a:blip r:embed="rId9"/>
                <a:stretch>
                  <a:fillRect l="-7595" t="-6667" r="-8228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/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(3,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blipFill>
                <a:blip r:embed="rId10"/>
                <a:stretch>
                  <a:fillRect l="-9231" t="-8889" r="-10000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FF4B92F-31B4-3C2F-14FE-6DE1FFDEBE8D}"/>
              </a:ext>
            </a:extLst>
          </p:cNvPr>
          <p:cNvCxnSpPr>
            <a:cxnSpLocks/>
          </p:cNvCxnSpPr>
          <p:nvPr/>
        </p:nvCxnSpPr>
        <p:spPr>
          <a:xfrm flipV="1">
            <a:off x="8485488" y="2556473"/>
            <a:ext cx="3128002" cy="31626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885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3566-E0E2-3682-76F4-6A2B0A52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5D4C1-4B4A-A66E-82C3-386E6AB7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EC279A-BA05-1914-9046-3B18C4C7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24" y="4277515"/>
            <a:ext cx="7402300" cy="115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933761-F6C1-E88D-6DC1-6D5645B5A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924" y="2300419"/>
            <a:ext cx="7330316" cy="1103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B0C35-8920-5211-45F2-08E4D70B1F95}"/>
              </a:ext>
            </a:extLst>
          </p:cNvPr>
          <p:cNvSpPr txBox="1"/>
          <p:nvPr/>
        </p:nvSpPr>
        <p:spPr>
          <a:xfrm>
            <a:off x="466725" y="18453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2</a:t>
            </a:r>
            <a:r>
              <a:rPr lang="ko-KR" altLang="en-US" sz="1800" dirty="0"/>
              <a:t>개 벡터</a:t>
            </a:r>
            <a:r>
              <a:rPr lang="en-US" altLang="ko-KR" sz="1800" dirty="0"/>
              <a:t>(points), (1,2), (2,1)</a:t>
            </a:r>
            <a:r>
              <a:rPr lang="ko-KR" altLang="en-US" sz="1800" dirty="0"/>
              <a:t>에 행렬</a:t>
            </a:r>
            <a:r>
              <a:rPr lang="en-US" altLang="ko-KR" dirty="0"/>
              <a:t>[(2,1), (1,4)] </a:t>
            </a:r>
            <a:r>
              <a:rPr lang="ko-KR" altLang="en-US" dirty="0"/>
              <a:t>와의</a:t>
            </a:r>
            <a:r>
              <a:rPr lang="en-US" altLang="ko-KR" dirty="0"/>
              <a:t> </a:t>
            </a:r>
            <a:r>
              <a:rPr lang="ko-KR" altLang="en-US" sz="1800" dirty="0"/>
              <a:t>내적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224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F355-C241-D22E-F97C-7287CE73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기하학적 이해</a:t>
            </a:r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A12FC27B-0BD4-A5AB-B0E5-D080A5351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011C37-30DB-6272-D93F-F9473458E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2014537"/>
            <a:ext cx="7286625" cy="39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48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5690B-B9F0-94FA-BC45-0E482113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기하와 선형대수적 이해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BE21E3-574E-E3B3-F218-5F9D85ABA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450" y="4643307"/>
            <a:ext cx="6599244" cy="20295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C33DC3-86CB-5044-C33D-E78D6DD43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43" y="1954402"/>
            <a:ext cx="6237758" cy="24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59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D2289-F2DD-C99C-21A0-D359B3CC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투영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AC9B519-750B-3AD9-C9B3-C647051B7B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570875" y="2015277"/>
            <a:ext cx="7738080" cy="422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35C1BC-D100-A1E8-B66D-30FE5BBBCD42}"/>
              </a:ext>
            </a:extLst>
          </p:cNvPr>
          <p:cNvSpPr txBox="1"/>
          <p:nvPr/>
        </p:nvSpPr>
        <p:spPr>
          <a:xfrm>
            <a:off x="8394680" y="2029696"/>
            <a:ext cx="36544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첫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모든 데이터를 직선 하나에 강제로 정렬시키는 투영 </a:t>
            </a:r>
            <a:r>
              <a:rPr lang="en-US" altLang="ko-KR" dirty="0">
                <a:latin typeface="+mj-ea"/>
                <a:ea typeface="+mj-ea"/>
              </a:rPr>
              <a:t>(Singular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두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데이터를 새로운 좌표축으로 재배치하되 평면을 유지하는 투영 </a:t>
            </a:r>
            <a:r>
              <a:rPr lang="en-US" altLang="ko-KR" dirty="0">
                <a:latin typeface="+mj-ea"/>
                <a:ea typeface="+mj-ea"/>
              </a:rPr>
              <a:t>(Non-singular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이 투영 개념은 데이터 분석에서 중요한 주성분 분석</a:t>
            </a:r>
            <a:r>
              <a:rPr lang="en-US" altLang="ko-KR" dirty="0">
                <a:latin typeface="+mj-ea"/>
                <a:ea typeface="+mj-ea"/>
              </a:rPr>
              <a:t>(PCA)</a:t>
            </a:r>
            <a:r>
              <a:rPr lang="ko-KR" altLang="en-US" dirty="0">
                <a:latin typeface="+mj-ea"/>
                <a:ea typeface="+mj-ea"/>
              </a:rPr>
              <a:t>의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141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3F07D-BFD3-3D69-893B-98637309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Transformation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E212C3C-7C78-67D1-9717-6912562953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913774" y="1957388"/>
            <a:ext cx="8418804" cy="459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37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DBC6-35B0-DF34-8BB2-2CFA82E8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행렬과 내적은 선형변환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67A665-D8BD-3BDD-A95C-EA8AF2CDD90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5" y="2014539"/>
            <a:ext cx="5182225" cy="3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FB63E-667B-21BC-A172-32BE45A4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74" y="2014539"/>
            <a:ext cx="5390677" cy="33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D1C23-1819-2AC4-B5F5-C6A7D08A2267}"/>
              </a:ext>
            </a:extLst>
          </p:cNvPr>
          <p:cNvSpPr txBox="1"/>
          <p:nvPr/>
        </p:nvSpPr>
        <p:spPr>
          <a:xfrm>
            <a:off x="838200" y="5734658"/>
            <a:ext cx="3344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자료원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행렬의 기하학적인 의미와 해석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553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4DAF-730F-8F6D-B29D-5CFC434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56195-CEFF-90F0-4BC3-62D73132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8618D8-99C8-D36D-5F8C-CB7C2F2D6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0178"/>
            <a:ext cx="4373450" cy="27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152EB7C-8477-F13E-0008-2A651FA1B0C6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48" y="2522484"/>
            <a:ext cx="5056802" cy="3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45B059-9139-C396-875E-8B274944A6E1}"/>
              </a:ext>
            </a:extLst>
          </p:cNvPr>
          <p:cNvSpPr txBox="1"/>
          <p:nvPr/>
        </p:nvSpPr>
        <p:spPr>
          <a:xfrm>
            <a:off x="504825" y="2244389"/>
            <a:ext cx="424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Gaussian Random Noise Data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를 생성하고 행렬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anum Gothic"/>
              </a:rPr>
              <a:t>선형변환하면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4FDDE7-53BE-B872-B47F-2FA837D88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03" y="3143249"/>
            <a:ext cx="2345545" cy="15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21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E0C7-8609-6D65-19A9-8E7645A5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0955959-D6AE-86A3-75EF-BA7993E3B175}"/>
              </a:ext>
            </a:extLst>
          </p:cNvPr>
          <p:cNvSpPr/>
          <p:nvPr/>
        </p:nvSpPr>
        <p:spPr>
          <a:xfrm>
            <a:off x="636521" y="1646709"/>
            <a:ext cx="8136904" cy="488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5F22C6-1AF1-442F-1ED8-59ADC941BCAB}"/>
              </a:ext>
            </a:extLst>
          </p:cNvPr>
          <p:cNvSpPr txBox="1"/>
          <p:nvPr/>
        </p:nvSpPr>
        <p:spPr>
          <a:xfrm>
            <a:off x="1629916" y="147612"/>
            <a:ext cx="8928992" cy="3306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Numpy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(Principal Component Analysis)</a:t>
            </a:r>
          </a:p>
        </p:txBody>
      </p:sp>
    </p:spTree>
    <p:extLst>
      <p:ext uri="{BB962C8B-B14F-4D97-AF65-F5344CB8AC3E}">
        <p14:creationId xmlns:p14="http://schemas.microsoft.com/office/powerpoint/2010/main" val="3125429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0106-250C-EDA4-CFBA-23A14D24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97C0B-D82D-3948-18EA-EA57EC29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주성분</a:t>
            </a:r>
            <a:r>
              <a:rPr lang="en-US" altLang="ko-KR" dirty="0"/>
              <a:t>(Principal component)</a:t>
            </a:r>
            <a:endParaRPr lang="ko-KR" alt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EC556570-9556-C9E9-F483-2FA62BEA5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647825"/>
            <a:ext cx="62579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389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4C6D7-90E2-02DD-095D-F5CFC88C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행렬변환에 의한 기저좌표의 변화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8661F9D4-6959-ECD9-DFE2-38BAFFAD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6" y="2214694"/>
            <a:ext cx="558165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37BC7C1-934D-9636-2C4B-CD031F9EC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48" y="1776923"/>
            <a:ext cx="5581651" cy="40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110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D487E-2A47-66D1-E5D6-203622E2B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주성분분석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F8F0A64-97F6-9176-29ED-C3A737B3980D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82" y="2366963"/>
            <a:ext cx="6869311" cy="425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399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996B7-68D5-154D-EEB6-A81286B7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hlinkClick r:id="rId2"/>
              </a:rPr>
              <a:t>Eigenvalues_and_eigenvectors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2214694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978912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602098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752</TotalTime>
  <Words>609</Words>
  <Application>Microsoft Office PowerPoint</Application>
  <PresentationFormat>와이드스크린</PresentationFormat>
  <Paragraphs>86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Nanum Gothic</vt:lpstr>
      <vt:lpstr>맑은 고딕</vt:lpstr>
      <vt:lpstr>한컴 말랑말랑 Bold</vt:lpstr>
      <vt:lpstr>Arial</vt:lpstr>
      <vt:lpstr>Calibri Light</vt:lpstr>
      <vt:lpstr>Cambria Math</vt:lpstr>
      <vt:lpstr>Tw Cen MT</vt:lpstr>
      <vt:lpstr>Wingdings</vt:lpstr>
      <vt:lpstr>물방울</vt:lpstr>
      <vt:lpstr>행렬과 벡터</vt:lpstr>
      <vt:lpstr>PowerPoint 프레젠테이션</vt:lpstr>
      <vt:lpstr>Numpy 배우기</vt:lpstr>
      <vt:lpstr>PowerPoint 프레젠테이션</vt:lpstr>
      <vt:lpstr>배우기 시작</vt:lpstr>
      <vt:lpstr>1차원 직선에서의 선형변환에 대해 생각하기</vt:lpstr>
      <vt:lpstr>1차원 직선에서의 선형변환에 대해 생각하기</vt:lpstr>
      <vt:lpstr>2차원 평면에서의 선형변환에 대해 생각하기</vt:lpstr>
      <vt:lpstr>과제</vt:lpstr>
      <vt:lpstr>PowerPoint 프레젠테이션</vt:lpstr>
      <vt:lpstr>PowerPoint 프레젠테이션</vt:lpstr>
      <vt:lpstr>선형변환</vt:lpstr>
      <vt:lpstr>기하학적 이해</vt:lpstr>
      <vt:lpstr>기하와 선형대수적 이해</vt:lpstr>
      <vt:lpstr>투영</vt:lpstr>
      <vt:lpstr>Kernel Transformation</vt:lpstr>
      <vt:lpstr>행렬과 내적은 선형변환</vt:lpstr>
      <vt:lpstr>선형변환</vt:lpstr>
      <vt:lpstr>PowerPoint 프레젠테이션</vt:lpstr>
      <vt:lpstr>주성분(Principal component)</vt:lpstr>
      <vt:lpstr>행렬변환에 의한 기저좌표의 변화</vt:lpstr>
      <vt:lpstr>주성분분석</vt:lpstr>
      <vt:lpstr>Eigenvalues_and_eigenvectors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14</cp:revision>
  <dcterms:created xsi:type="dcterms:W3CDTF">2026-03-09T22:59:08Z</dcterms:created>
  <dcterms:modified xsi:type="dcterms:W3CDTF">2026-03-21T13:06:30Z</dcterms:modified>
</cp:coreProperties>
</file>