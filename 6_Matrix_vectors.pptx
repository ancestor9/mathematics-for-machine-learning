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30"/>
  </p:notesMasterIdLst>
  <p:sldIdLst>
    <p:sldId id="256" r:id="rId2"/>
    <p:sldId id="266" r:id="rId3"/>
    <p:sldId id="282" r:id="rId4"/>
    <p:sldId id="288" r:id="rId5"/>
    <p:sldId id="289" r:id="rId6"/>
    <p:sldId id="290" r:id="rId7"/>
    <p:sldId id="286" r:id="rId8"/>
    <p:sldId id="285" r:id="rId9"/>
    <p:sldId id="287" r:id="rId10"/>
    <p:sldId id="280" r:id="rId11"/>
    <p:sldId id="265" r:id="rId12"/>
    <p:sldId id="271" r:id="rId13"/>
    <p:sldId id="275" r:id="rId14"/>
    <p:sldId id="276" r:id="rId15"/>
    <p:sldId id="272" r:id="rId16"/>
    <p:sldId id="279" r:id="rId17"/>
    <p:sldId id="270" r:id="rId18"/>
    <p:sldId id="259" r:id="rId19"/>
    <p:sldId id="258" r:id="rId20"/>
    <p:sldId id="268" r:id="rId21"/>
    <p:sldId id="269" r:id="rId22"/>
    <p:sldId id="260" r:id="rId23"/>
    <p:sldId id="263" r:id="rId24"/>
    <p:sldId id="284" r:id="rId25"/>
    <p:sldId id="264" r:id="rId26"/>
    <p:sldId id="261" r:id="rId27"/>
    <p:sldId id="262" r:id="rId28"/>
    <p:sldId id="267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1651" autoAdjust="0"/>
    <p:restoredTop sz="94660"/>
  </p:normalViewPr>
  <p:slideViewPr>
    <p:cSldViewPr snapToGrid="0">
      <p:cViewPr varScale="1">
        <p:scale>
          <a:sx n="80" d="100"/>
          <a:sy n="80" d="100"/>
        </p:scale>
        <p:origin x="936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6D2F86-9062-4B78-99E4-F1BEEF85F138}" type="datetimeFigureOut">
              <a:rPr lang="ko-KR" altLang="en-US" smtClean="0"/>
              <a:t>2026-03-21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5F8537-0286-40EF-BEDA-D09730C549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1858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chrome-extension://hmigninkgibhdckiaphhmbgcghochdjc/pdfjs/web/viewer.html?file=file%3A%2F%2F%2FC%3A%2FUsers%2F%25EC%25A1%25B0%25EA%25B7%25BC%25ED%2595%2598%2FDownloads%2FPython%2520for%2520Data%2520Analysis.pdf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wesm/pydata-book/blob/3rd-edition/ch04.ipynb" TargetMode="External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svg"/><Relationship Id="rId3" Type="http://schemas.openxmlformats.org/officeDocument/2006/relationships/image" Target="../media/image25.png"/><Relationship Id="rId7" Type="http://schemas.openxmlformats.org/officeDocument/2006/relationships/image" Target="../media/image32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svg"/><Relationship Id="rId5" Type="http://schemas.openxmlformats.org/officeDocument/2006/relationships/image" Target="../media/image30.png"/><Relationship Id="rId10" Type="http://schemas.openxmlformats.org/officeDocument/2006/relationships/image" Target="../media/image35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jpeg"/><Relationship Id="rId2" Type="http://schemas.openxmlformats.org/officeDocument/2006/relationships/image" Target="../media/image43.jpe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recipesds.tistory.com/entry/%EC%B4%88%EA%B0%84%EB%8B%A8-%EC%84%A0%ED%98%95%EB%8C%80%EC%88%98-%ED%96%89%EB%A0%AC%EC%9D%98-%EA%B8%B0%ED%95%98%ED%95%99%EC%A0%81%EC%9D%B8-%EC%9D%98%EB%AF%B8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eg"/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hyperlink" Target="https://en.wikipedia.org/wiki/Eigenvalues_and_eigenvector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g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94BC4CC-119D-4066-611C-7FF8F6954E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01" y="-1"/>
            <a:ext cx="7315200" cy="683417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53B55A5-AD55-D660-8099-86131A4036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614571"/>
            <a:ext cx="4876801" cy="2509213"/>
          </a:xfrm>
        </p:spPr>
        <p:txBody>
          <a:bodyPr/>
          <a:lstStyle/>
          <a:p>
            <a:r>
              <a:rPr lang="ko-KR" altLang="en-US" dirty="0"/>
              <a:t>행렬과 벡터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9CC0AE0-A72B-E734-A33B-67DEC45955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199986"/>
            <a:ext cx="4876801" cy="1371599"/>
          </a:xfrm>
        </p:spPr>
        <p:txBody>
          <a:bodyPr/>
          <a:lstStyle/>
          <a:p>
            <a:r>
              <a:rPr lang="en-US" altLang="ko-KR" dirty="0">
                <a:solidFill>
                  <a:schemeClr val="tx1"/>
                </a:solidFill>
              </a:rPr>
              <a:t>2026 Spring</a:t>
            </a:r>
          </a:p>
          <a:p>
            <a:r>
              <a:rPr lang="ko-KR" altLang="en-US" dirty="0" err="1">
                <a:solidFill>
                  <a:schemeClr val="tx1"/>
                </a:solidFill>
              </a:rPr>
              <a:t>조상구</a:t>
            </a:r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09249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8BC7E252-AF9C-7707-B610-3002F1588D0E}"/>
              </a:ext>
            </a:extLst>
          </p:cNvPr>
          <p:cNvSpPr/>
          <p:nvPr/>
        </p:nvSpPr>
        <p:spPr>
          <a:xfrm>
            <a:off x="636521" y="1646709"/>
            <a:ext cx="8136904" cy="48832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30992DD-2A1A-471D-D61E-522358216252}"/>
              </a:ext>
            </a:extLst>
          </p:cNvPr>
          <p:cNvSpPr txBox="1"/>
          <p:nvPr/>
        </p:nvSpPr>
        <p:spPr>
          <a:xfrm>
            <a:off x="1629916" y="147612"/>
            <a:ext cx="8928992" cy="39991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대수학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(Algebra)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선형대수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Algebra)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en-US" altLang="ko-KR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Numpy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선형변환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Transformation)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주성분 분석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(Principal Component Analysis)</a:t>
            </a:r>
          </a:p>
        </p:txBody>
      </p:sp>
    </p:spTree>
    <p:extLst>
      <p:ext uri="{BB962C8B-B14F-4D97-AF65-F5344CB8AC3E}">
        <p14:creationId xmlns:p14="http://schemas.microsoft.com/office/powerpoint/2010/main" val="2820174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DC9B65-F8EA-6AA1-1DA5-2D80DF7BE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대수</a:t>
            </a:r>
            <a:r>
              <a:rPr lang="en-US" altLang="ko-KR" dirty="0"/>
              <a:t>(algebra)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8F94065A-3B86-1519-6348-51928857D09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1243143"/>
            <a:ext cx="10363826" cy="1061908"/>
          </a:xfrm>
        </p:spPr>
        <p:txBody>
          <a:bodyPr/>
          <a:lstStyle/>
          <a:p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Algebra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는 </a:t>
            </a:r>
            <a:r>
              <a:rPr lang="ko-KR" altLang="en-US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기호</a:t>
            </a:r>
            <a:r>
              <a:rPr lang="en-US" altLang="ko-KR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(symbol) ↔ </a:t>
            </a:r>
            <a:r>
              <a:rPr lang="ko-KR" altLang="en-US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값</a:t>
            </a:r>
            <a:r>
              <a:rPr lang="en-US" altLang="ko-KR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(value)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의 관계를 다루고</a:t>
            </a: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,</a:t>
            </a:r>
          </a:p>
          <a:p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Python namespace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는 </a:t>
            </a:r>
            <a:r>
              <a:rPr lang="ko-KR" altLang="en-US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이름</a:t>
            </a:r>
            <a:r>
              <a:rPr lang="en-US" altLang="ko-KR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(name) ↔ </a:t>
            </a:r>
            <a:r>
              <a:rPr lang="ko-KR" altLang="en-US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객체</a:t>
            </a:r>
            <a:r>
              <a:rPr lang="en-US" altLang="ko-KR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(object)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의 매핑을 관리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1DB9E3E-3577-1260-128B-9898F7CF9E9C}"/>
                  </a:ext>
                </a:extLst>
              </p:cNvPr>
              <p:cNvSpPr txBox="1"/>
              <p:nvPr/>
            </p:nvSpPr>
            <p:spPr>
              <a:xfrm>
                <a:off x="1114424" y="2588389"/>
                <a:ext cx="4200525" cy="3185616"/>
              </a:xfrm>
              <a:prstGeom prst="rect">
                <a:avLst/>
              </a:prstGeom>
              <a:solidFill>
                <a:srgbClr val="FFC000"/>
              </a:solidFill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2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Algebra </a:t>
                </a:r>
                <a:r>
                  <a:rPr lang="ko-KR" altLang="en-US" sz="2000" dirty="0">
                    <a:latin typeface="Cambria Math" panose="02040503050406030204" pitchFamily="18" charset="0"/>
                  </a:rPr>
                  <a:t>관점에서 보기</a:t>
                </a:r>
                <a:endParaRPr lang="en-US" altLang="ko-KR" sz="2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:endParaRPr lang="en-US" altLang="ko-KR" sz="2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sz="16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=3</m:t>
                    </m:r>
                  </m:oMath>
                </a14:m>
                <a:endParaRPr lang="ko-KR" altLang="en-US" sz="1600" dirty="0">
                  <a:latin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sz="16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ko-KR" altLang="en-US" sz="16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</m:oMath>
                </a14:m>
                <a:endParaRPr lang="en-US" altLang="ko-KR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x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는 이름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기호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), 3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은 값 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x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는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3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을 “참조” 즉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기호 → 값으로 매핑</a:t>
                </a: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1DB9E3E-3577-1260-128B-9898F7CF9E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4424" y="2588389"/>
                <a:ext cx="4200525" cy="3185616"/>
              </a:xfrm>
              <a:prstGeom prst="rect">
                <a:avLst/>
              </a:prstGeom>
              <a:blipFill>
                <a:blip r:embed="rId2"/>
                <a:stretch>
                  <a:fillRect l="-1597" b="-15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BB6EF32-8427-BBBA-0DE1-7EADCB0C34DF}"/>
                  </a:ext>
                </a:extLst>
              </p:cNvPr>
              <p:cNvSpPr txBox="1"/>
              <p:nvPr/>
            </p:nvSpPr>
            <p:spPr>
              <a:xfrm>
                <a:off x="6095687" y="2588389"/>
                <a:ext cx="4562788" cy="3179909"/>
              </a:xfrm>
              <a:prstGeom prst="rect">
                <a:avLst/>
              </a:prstGeom>
              <a:solidFill>
                <a:srgbClr val="FFC000"/>
              </a:solidFill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2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Python Namespace </a:t>
                </a:r>
                <a:r>
                  <a:rPr lang="ko-KR" altLang="en-US" sz="2000" dirty="0">
                    <a:latin typeface="Cambria Math" panose="02040503050406030204" pitchFamily="18" charset="0"/>
                  </a:rPr>
                  <a:t>구조</a:t>
                </a:r>
                <a:endParaRPr lang="en-US" altLang="ko-KR" sz="2000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:endParaRPr lang="ko-KR" altLang="en-US" sz="1600" dirty="0">
                  <a:latin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6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ko-KR" altLang="en-US" sz="1600" dirty="0">
                    <a:latin typeface="Cambria Math" panose="02040503050406030204" pitchFamily="18" charset="0"/>
                  </a:rPr>
                  <a:t>    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# 3(class)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를 </a:t>
                </a: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sz="1600" dirty="0">
                    <a:latin typeface="Cambria Math" panose="02040503050406030204" pitchFamily="18" charset="0"/>
                  </a:rPr>
                  <a:t>가 객체화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sz="16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6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</m:oMath>
                </a14:m>
                <a:endParaRPr lang="en-US" altLang="ko-KR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x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→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3 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객체를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, 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y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→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5 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객체를 가리킴 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이걸 저장하는 공간이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namespace</a:t>
                </a:r>
                <a:endParaRPr lang="ko-KR" altLang="en-US" sz="1600" dirty="0">
                  <a:latin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이름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(name) → 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객체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(object)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매핑 테이블</a:t>
                </a: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BB6EF32-8427-BBBA-0DE1-7EADCB0C34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687" y="2588389"/>
                <a:ext cx="4562788" cy="3179909"/>
              </a:xfrm>
              <a:prstGeom prst="rect">
                <a:avLst/>
              </a:prstGeom>
              <a:blipFill>
                <a:blip r:embed="rId3"/>
                <a:stretch>
                  <a:fillRect l="-147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03977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9566F-70DB-C9B6-52A4-104A38E78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76B5AD-2D50-1372-7360-DA30BAB8D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선형대수</a:t>
            </a:r>
            <a:r>
              <a:rPr lang="en-US" altLang="ko-KR" dirty="0"/>
              <a:t>(linear</a:t>
            </a:r>
            <a:r>
              <a:rPr lang="ko-KR" altLang="en-US" dirty="0"/>
              <a:t> </a:t>
            </a:r>
            <a:r>
              <a:rPr lang="en-US" altLang="ko-KR" dirty="0"/>
              <a:t>algebra)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EB4B838B-4138-0FC7-9610-BD20DC7A82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1243143"/>
            <a:ext cx="10363826" cy="1061908"/>
          </a:xfrm>
        </p:spPr>
        <p:txBody>
          <a:bodyPr/>
          <a:lstStyle/>
          <a:p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“벡터와 행렬을 이용해 ‘선형 관계</a:t>
            </a: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(linear relationship)’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와 ‘공간의 </a:t>
            </a:r>
            <a:r>
              <a:rPr lang="ko-KR" alt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변환’을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다루는 학문”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377135C-CB95-4C2F-A987-FC0BE3085902}"/>
                  </a:ext>
                </a:extLst>
              </p:cNvPr>
              <p:cNvSpPr txBox="1"/>
              <p:nvPr/>
            </p:nvSpPr>
            <p:spPr>
              <a:xfrm>
                <a:off x="761374" y="2724745"/>
                <a:ext cx="4782176" cy="2723951"/>
              </a:xfrm>
              <a:prstGeom prst="rect">
                <a:avLst/>
              </a:prstGeom>
              <a:solidFill>
                <a:srgbClr val="FFC000"/>
              </a:solidFill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𝑎𝑥</m:t>
                          </m:r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𝑏𝑦</m:t>
                          </m:r>
                        </m:e>
                      </m:d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𝑎𝑓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𝑏𝑓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ko-KR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ct val="200000"/>
                  </a:lnSpc>
                </a:pPr>
                <a:endParaRPr lang="en-US" altLang="ko-KR" sz="2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342900" indent="-342900">
                  <a:lnSpc>
                    <a:spcPct val="20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입력을 더하면 → 출력도 더해진다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.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</a:t>
                </a:r>
              </a:p>
              <a:p>
                <a:pPr marL="342900" indent="-342900">
                  <a:lnSpc>
                    <a:spcPct val="20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입력을 </a:t>
                </a:r>
                <a:r>
                  <a:rPr lang="ko-KR" altLang="en-US" sz="1600" dirty="0" err="1">
                    <a:latin typeface="Cambria Math" panose="02040503050406030204" pitchFamily="18" charset="0"/>
                  </a:rPr>
                  <a:t>스케일하면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→ 출력도 같이 </a:t>
                </a:r>
                <a:r>
                  <a:rPr lang="ko-KR" altLang="en-US" sz="1600" dirty="0" err="1">
                    <a:latin typeface="Cambria Math" panose="02040503050406030204" pitchFamily="18" charset="0"/>
                  </a:rPr>
                  <a:t>스케일된다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.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</a:t>
                </a:r>
              </a:p>
              <a:p>
                <a:pPr marL="342900" indent="-342900">
                  <a:lnSpc>
                    <a:spcPct val="20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비틀림 없이 ‘비례적으로’ 변하는 구조</a:t>
                </a:r>
                <a:endParaRPr lang="ko-KR" altLang="en-US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377135C-CB95-4C2F-A987-FC0BE30859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374" y="2724745"/>
                <a:ext cx="4782176" cy="2723951"/>
              </a:xfrm>
              <a:prstGeom prst="rect">
                <a:avLst/>
              </a:prstGeom>
              <a:blipFill>
                <a:blip r:embed="rId2"/>
                <a:stretch>
                  <a:fillRect l="-510" b="-17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30ED720-64B5-63D1-949A-AB2E465BA8E3}"/>
                  </a:ext>
                </a:extLst>
              </p:cNvPr>
              <p:cNvSpPr txBox="1"/>
              <p:nvPr/>
            </p:nvSpPr>
            <p:spPr>
              <a:xfrm>
                <a:off x="6095687" y="2724744"/>
                <a:ext cx="5695948" cy="24580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dirty="0">
                    <a:latin typeface="+mj-ea"/>
                    <a:ea typeface="+mj-ea"/>
                  </a:rPr>
                  <a:t>선형대수는 숫자를 계산하는 학문이 아니라 데이터를 공간으로 보고</a:t>
                </a:r>
                <a:r>
                  <a:rPr lang="en-US" altLang="ko-KR" sz="1600" dirty="0">
                    <a:latin typeface="+mj-ea"/>
                    <a:ea typeface="+mj-ea"/>
                  </a:rPr>
                  <a:t>, </a:t>
                </a:r>
                <a:r>
                  <a:rPr lang="ko-KR" altLang="en-US" sz="1600" dirty="0">
                    <a:latin typeface="+mj-ea"/>
                    <a:ea typeface="+mj-ea"/>
                  </a:rPr>
                  <a:t>모델을 ‘</a:t>
                </a:r>
                <a:r>
                  <a:rPr lang="ko-KR" altLang="en-US" sz="1600" dirty="0" err="1">
                    <a:latin typeface="+mj-ea"/>
                    <a:ea typeface="+mj-ea"/>
                  </a:rPr>
                  <a:t>변환’으로</a:t>
                </a:r>
                <a:r>
                  <a:rPr lang="ko-KR" altLang="en-US" sz="1600" dirty="0">
                    <a:latin typeface="+mj-ea"/>
                    <a:ea typeface="+mj-ea"/>
                  </a:rPr>
                  <a:t> 이해하는 언어</a:t>
                </a:r>
                <a:endParaRPr lang="en-US" altLang="ko-KR" sz="1600" dirty="0">
                  <a:latin typeface="+mj-ea"/>
                  <a:ea typeface="+mj-ea"/>
                </a:endParaRPr>
              </a:p>
              <a:p>
                <a:pPr>
                  <a:lnSpc>
                    <a:spcPct val="150000"/>
                  </a:lnSpc>
                </a:pPr>
                <a:endParaRPr lang="en-US" altLang="ko-KR" sz="1600" dirty="0">
                  <a:latin typeface="+mj-ea"/>
                  <a:ea typeface="+mj-ea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400" dirty="0">
                    <a:latin typeface="+mj-ea"/>
                    <a:ea typeface="+mj-ea"/>
                  </a:rPr>
                  <a:t>선형변환</a:t>
                </a:r>
                <a14:m>
                  <m:oMath xmlns:m="http://schemas.openxmlformats.org/officeDocument/2006/math">
                    <m:r>
                      <a:rPr lang="ko-KR" altLang="en-US" sz="1400" dirty="0">
                        <a:latin typeface="+mj-ea"/>
                        <a:ea typeface="+mj-ea"/>
                      </a:rPr>
                      <m:t>식</m:t>
                    </m:r>
                    <m:r>
                      <a:rPr lang="en-US" altLang="ko-KR" sz="1400" dirty="0">
                        <a:latin typeface="+mj-ea"/>
                        <a:ea typeface="+mj-ea"/>
                      </a:rPr>
                      <m:t> </m:t>
                    </m:r>
                    <m:r>
                      <a:rPr lang="en-US" altLang="ko-KR" sz="1400">
                        <a:latin typeface="+mj-ea"/>
                        <a:ea typeface="+mj-ea"/>
                      </a:rPr>
                      <m:t>𝑦</m:t>
                    </m:r>
                    <m:r>
                      <a:rPr lang="en-US" altLang="ko-KR" sz="1400">
                        <a:latin typeface="+mj-ea"/>
                        <a:ea typeface="+mj-ea"/>
                      </a:rPr>
                      <m:t>=</m:t>
                    </m:r>
                    <m:r>
                      <a:rPr lang="en-US" altLang="ko-KR" sz="1400">
                        <a:latin typeface="+mj-ea"/>
                        <a:ea typeface="+mj-ea"/>
                      </a:rPr>
                      <m:t>𝐴𝑥</m:t>
                    </m:r>
                  </m:oMath>
                </a14:m>
                <a:endParaRPr lang="en-US" altLang="ko-KR" sz="1400" dirty="0">
                  <a:latin typeface="+mj-ea"/>
                  <a:ea typeface="+mj-ea"/>
                </a:endParaRPr>
              </a:p>
              <a:p>
                <a:pPr marL="285750" lvl="0" indent="-285750" defTabSz="91440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Font typeface="Wingdings" panose="05000000000000000000" pitchFamily="2" charset="2"/>
                  <a:buChar char="§"/>
                </a:pPr>
                <a:r>
                  <a:rPr lang="ko-KR" altLang="en-US" sz="1400" dirty="0">
                    <a:latin typeface="+mj-ea"/>
                    <a:ea typeface="+mj-ea"/>
                  </a:rPr>
                  <a:t>기하학 </a:t>
                </a:r>
                <a:r>
                  <a:rPr lang="en-US" altLang="ko-KR" sz="1400" dirty="0">
                    <a:latin typeface="+mj-ea"/>
                    <a:ea typeface="+mj-ea"/>
                  </a:rPr>
                  <a:t>: </a:t>
                </a:r>
                <a:r>
                  <a:rPr lang="ko-KR" altLang="en-US" sz="1400" dirty="0">
                    <a:latin typeface="+mj-ea"/>
                    <a:ea typeface="+mj-ea"/>
                  </a:rPr>
                  <a:t>공간을 어떻게 움직이고 변환</a:t>
                </a:r>
                <a:r>
                  <a:rPr lang="en-US" altLang="ko-KR" sz="1400" dirty="0">
                    <a:latin typeface="+mj-ea"/>
                    <a:ea typeface="+mj-ea"/>
                  </a:rPr>
                  <a:t>(</a:t>
                </a:r>
                <a:r>
                  <a:rPr lang="ko-KR" altLang="ko-KR" sz="1400" dirty="0">
                    <a:latin typeface="+mj-ea"/>
                    <a:ea typeface="+mj-ea"/>
                  </a:rPr>
                  <a:t>회전</a:t>
                </a:r>
                <a:r>
                  <a:rPr lang="en-US" altLang="ko-KR" sz="1400" dirty="0">
                    <a:latin typeface="+mj-ea"/>
                    <a:ea typeface="+mj-ea"/>
                  </a:rPr>
                  <a:t>, </a:t>
                </a:r>
                <a:r>
                  <a:rPr lang="ko-KR" altLang="ko-KR" sz="1400" dirty="0">
                    <a:latin typeface="+mj-ea"/>
                    <a:ea typeface="+mj-ea"/>
                  </a:rPr>
                  <a:t>확대/축소</a:t>
                </a:r>
                <a:r>
                  <a:rPr lang="en-US" altLang="ko-KR" sz="1400" dirty="0">
                    <a:latin typeface="+mj-ea"/>
                    <a:ea typeface="+mj-ea"/>
                  </a:rPr>
                  <a:t>, </a:t>
                </a:r>
                <a:r>
                  <a:rPr lang="ko-KR" altLang="ko-KR" sz="1400" dirty="0">
                    <a:latin typeface="+mj-ea"/>
                    <a:ea typeface="+mj-ea"/>
                  </a:rPr>
                  <a:t>기울이기</a:t>
                </a:r>
                <a:r>
                  <a:rPr lang="en-US" altLang="ko-KR" sz="1400" dirty="0">
                    <a:latin typeface="+mj-ea"/>
                    <a:ea typeface="+mj-ea"/>
                  </a:rPr>
                  <a:t>, </a:t>
                </a:r>
                <a:r>
                  <a:rPr lang="ko-KR" altLang="ko-KR" sz="1400" dirty="0">
                    <a:latin typeface="+mj-ea"/>
                    <a:ea typeface="+mj-ea"/>
                  </a:rPr>
                  <a:t>투영</a:t>
                </a:r>
                <a:r>
                  <a:rPr lang="en-US" altLang="ko-KR" sz="1400" dirty="0">
                    <a:latin typeface="+mj-ea"/>
                    <a:ea typeface="+mj-ea"/>
                  </a:rPr>
                  <a:t>)</a:t>
                </a:r>
                <a:r>
                  <a:rPr lang="ko-KR" altLang="en-US" sz="1400" dirty="0">
                    <a:latin typeface="+mj-ea"/>
                    <a:ea typeface="+mj-ea"/>
                  </a:rPr>
                  <a:t>하는 지 </a:t>
                </a:r>
                <a:endParaRPr lang="en-US" altLang="ko-KR" sz="1400" dirty="0">
                  <a:latin typeface="+mj-ea"/>
                  <a:ea typeface="+mj-ea"/>
                </a:endParaRPr>
              </a:p>
              <a:p>
                <a:pPr marL="285750" lvl="0" indent="-285750" defTabSz="91440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Font typeface="Wingdings" panose="05000000000000000000" pitchFamily="2" charset="2"/>
                  <a:buChar char="§"/>
                </a:pPr>
                <a:r>
                  <a:rPr lang="ko-KR" altLang="en-US" sz="1400" dirty="0" err="1">
                    <a:latin typeface="+mj-ea"/>
                    <a:ea typeface="+mj-ea"/>
                  </a:rPr>
                  <a:t>머신러닝</a:t>
                </a:r>
                <a:r>
                  <a:rPr lang="ko-KR" altLang="en-US" sz="1400" dirty="0">
                    <a:latin typeface="+mj-ea"/>
                    <a:ea typeface="+mj-ea"/>
                  </a:rPr>
                  <a:t> </a:t>
                </a:r>
                <a:r>
                  <a:rPr lang="en-US" altLang="ko-KR" sz="1400" dirty="0">
                    <a:latin typeface="+mj-ea"/>
                    <a:ea typeface="+mj-ea"/>
                  </a:rPr>
                  <a:t>: </a:t>
                </a:r>
                <a:r>
                  <a:rPr lang="ko-KR" altLang="en-US" sz="1400" dirty="0">
                    <a:latin typeface="+mj-ea"/>
                    <a:ea typeface="+mj-ea"/>
                  </a:rPr>
                  <a:t>관측치는 벡터</a:t>
                </a:r>
                <a:r>
                  <a:rPr lang="en-US" altLang="ko-KR" sz="1400" dirty="0">
                    <a:latin typeface="+mj-ea"/>
                    <a:ea typeface="+mj-ea"/>
                  </a:rPr>
                  <a:t>, </a:t>
                </a:r>
                <a:r>
                  <a:rPr lang="ko-KR" altLang="en-US" sz="1400" dirty="0">
                    <a:latin typeface="+mj-ea"/>
                    <a:ea typeface="+mj-ea"/>
                  </a:rPr>
                  <a:t>모델은 </a:t>
                </a:r>
                <a14:m>
                  <m:oMath xmlns:m="http://schemas.openxmlformats.org/officeDocument/2006/math">
                    <m:r>
                      <a:rPr lang="en-US" altLang="ko-KR" sz="1400">
                        <a:latin typeface="+mj-ea"/>
                        <a:ea typeface="+mj-ea"/>
                      </a:rPr>
                      <m:t>𝑦</m:t>
                    </m:r>
                    <m:r>
                      <a:rPr lang="en-US" altLang="ko-KR" sz="1400">
                        <a:latin typeface="+mj-ea"/>
                        <a:ea typeface="+mj-ea"/>
                      </a:rPr>
                      <m:t>=</m:t>
                    </m:r>
                    <m:r>
                      <a:rPr lang="en-US" altLang="ko-KR" sz="1400">
                        <a:latin typeface="+mj-ea"/>
                        <a:ea typeface="+mj-ea"/>
                      </a:rPr>
                      <m:t>𝐴𝑥</m:t>
                    </m:r>
                    <m:r>
                      <a:rPr lang="en-US" altLang="ko-KR" sz="1400">
                        <a:latin typeface="+mj-ea"/>
                        <a:ea typeface="+mj-ea"/>
                      </a:rPr>
                      <m:t>+</m:t>
                    </m:r>
                    <m:r>
                      <a:rPr lang="en-US" altLang="ko-KR" sz="1400">
                        <a:latin typeface="+mj-ea"/>
                        <a:ea typeface="+mj-ea"/>
                      </a:rPr>
                      <m:t>𝑏</m:t>
                    </m:r>
                  </m:oMath>
                </a14:m>
                <a:endParaRPr lang="ko-KR" altLang="ko-KR" sz="1600" dirty="0">
                  <a:latin typeface="+mj-ea"/>
                  <a:ea typeface="+mj-ea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30ED720-64B5-63D1-949A-AB2E465BA8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687" y="2724744"/>
                <a:ext cx="5695948" cy="2458045"/>
              </a:xfrm>
              <a:prstGeom prst="rect">
                <a:avLst/>
              </a:prstGeom>
              <a:blipFill>
                <a:blip r:embed="rId3"/>
                <a:stretch>
                  <a:fillRect l="-642" r="-321" b="-148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순서도: 병합 5">
            <a:extLst>
              <a:ext uri="{FF2B5EF4-FFF2-40B4-BE49-F238E27FC236}">
                <a16:creationId xmlns:a16="http://schemas.microsoft.com/office/drawing/2014/main" id="{4E33216C-5C89-76EF-1B50-005A46C1073E}"/>
              </a:ext>
            </a:extLst>
          </p:cNvPr>
          <p:cNvSpPr/>
          <p:nvPr/>
        </p:nvSpPr>
        <p:spPr>
          <a:xfrm>
            <a:off x="913774" y="2331773"/>
            <a:ext cx="971550" cy="785943"/>
          </a:xfrm>
          <a:prstGeom prst="flowChartMerg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순서도: 병합 6">
            <a:extLst>
              <a:ext uri="{FF2B5EF4-FFF2-40B4-BE49-F238E27FC236}">
                <a16:creationId xmlns:a16="http://schemas.microsoft.com/office/drawing/2014/main" id="{E4F69319-E81B-BBED-D44F-A4A615948AB7}"/>
              </a:ext>
            </a:extLst>
          </p:cNvPr>
          <p:cNvSpPr/>
          <p:nvPr/>
        </p:nvSpPr>
        <p:spPr>
          <a:xfrm rot="10800000">
            <a:off x="4457701" y="5055724"/>
            <a:ext cx="971550" cy="785943"/>
          </a:xfrm>
          <a:prstGeom prst="flowChartMerg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685568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E7CA6-AE1E-2771-03AF-1CD13690C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7D3F2E-64F5-9124-6A18-1E71DE791E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선형대수</a:t>
            </a:r>
            <a:r>
              <a:rPr lang="en-US" altLang="ko-KR" dirty="0"/>
              <a:t>(linear</a:t>
            </a:r>
            <a:r>
              <a:rPr lang="ko-KR" altLang="en-US" dirty="0"/>
              <a:t> </a:t>
            </a:r>
            <a:r>
              <a:rPr lang="en-US" altLang="ko-KR" dirty="0"/>
              <a:t>algebra)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E574AF6-B807-1718-66C4-3A177E20DC84}"/>
              </a:ext>
            </a:extLst>
          </p:cNvPr>
          <p:cNvSpPr txBox="1"/>
          <p:nvPr/>
        </p:nvSpPr>
        <p:spPr>
          <a:xfrm>
            <a:off x="2694949" y="3718779"/>
            <a:ext cx="2610476" cy="1668342"/>
          </a:xfrm>
          <a:prstGeom prst="rect">
            <a:avLst/>
          </a:prstGeom>
          <a:solidFill>
            <a:srgbClr val="FFC000"/>
          </a:solidFill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dirty="0">
              <a:latin typeface="Cambria Math" panose="02040503050406030204" pitchFamily="18" charset="0"/>
            </a:endParaRPr>
          </a:p>
          <a:p>
            <a:pPr>
              <a:lnSpc>
                <a:spcPct val="200000"/>
              </a:lnSpc>
            </a:pPr>
            <a:endParaRPr lang="en-US" altLang="ko-KR" dirty="0">
              <a:latin typeface="Cambria Math" panose="02040503050406030204" pitchFamily="18" charset="0"/>
            </a:endParaRPr>
          </a:p>
          <a:p>
            <a:pPr>
              <a:lnSpc>
                <a:spcPct val="200000"/>
              </a:lnSpc>
            </a:pPr>
            <a:endParaRPr lang="ko-KR" altLang="en-US" dirty="0">
              <a:latin typeface="Cambria Math" panose="02040503050406030204" pitchFamily="18" charset="0"/>
            </a:endParaRPr>
          </a:p>
        </p:txBody>
      </p:sp>
      <p:sp>
        <p:nvSpPr>
          <p:cNvPr id="6" name="순서도: 병합 5">
            <a:extLst>
              <a:ext uri="{FF2B5EF4-FFF2-40B4-BE49-F238E27FC236}">
                <a16:creationId xmlns:a16="http://schemas.microsoft.com/office/drawing/2014/main" id="{DF7369FB-EEF5-7CB2-B89D-C0CD67DC690E}"/>
              </a:ext>
            </a:extLst>
          </p:cNvPr>
          <p:cNvSpPr/>
          <p:nvPr/>
        </p:nvSpPr>
        <p:spPr>
          <a:xfrm>
            <a:off x="2847349" y="3325807"/>
            <a:ext cx="971550" cy="785943"/>
          </a:xfrm>
          <a:prstGeom prst="flowChartMerg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순서도: 병합 6">
            <a:extLst>
              <a:ext uri="{FF2B5EF4-FFF2-40B4-BE49-F238E27FC236}">
                <a16:creationId xmlns:a16="http://schemas.microsoft.com/office/drawing/2014/main" id="{8C458B28-D009-3B02-9B51-30B8DBF0B336}"/>
              </a:ext>
            </a:extLst>
          </p:cNvPr>
          <p:cNvSpPr/>
          <p:nvPr/>
        </p:nvSpPr>
        <p:spPr>
          <a:xfrm rot="10800000">
            <a:off x="4210050" y="4994149"/>
            <a:ext cx="971550" cy="785943"/>
          </a:xfrm>
          <a:prstGeom prst="flowChartMerg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내용 개체 틀 11">
            <a:extLst>
              <a:ext uri="{FF2B5EF4-FFF2-40B4-BE49-F238E27FC236}">
                <a16:creationId xmlns:a16="http://schemas.microsoft.com/office/drawing/2014/main" id="{3FAA4F57-F32D-47AF-9527-DF8ECBF4E3C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1243143"/>
            <a:ext cx="10363826" cy="1061908"/>
          </a:xfrm>
        </p:spPr>
        <p:txBody>
          <a:bodyPr/>
          <a:lstStyle/>
          <a:p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선형대수학은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“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복잡한 문제를 직선적인 단순한 구조로 </a:t>
            </a:r>
            <a:r>
              <a:rPr lang="ko-KR" altLang="en-US" dirty="0"/>
              <a:t>근사</a:t>
            </a:r>
            <a:r>
              <a:rPr lang="en-US" altLang="ko-KR" dirty="0"/>
              <a:t>(</a:t>
            </a:r>
            <a:r>
              <a:rPr lang="en-US" altLang="ko-KR" dirty="0" err="1"/>
              <a:t>ApproxiMate</a:t>
            </a:r>
            <a:r>
              <a:rPr lang="en-US" altLang="ko-KR" dirty="0"/>
              <a:t>)</a:t>
            </a:r>
            <a:r>
              <a:rPr lang="ko-KR" altLang="en-US" dirty="0"/>
              <a:t>하는 기술</a:t>
            </a:r>
            <a:endParaRPr lang="en-US" altLang="ko-KR" dirty="0"/>
          </a:p>
          <a:p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대부분의 복잡한 시스템은 </a:t>
            </a:r>
            <a:r>
              <a:rPr lang="ko-KR" altLang="en-US" dirty="0"/>
              <a:t>선형 근사</a:t>
            </a:r>
            <a:r>
              <a:rPr lang="en-US" altLang="ko-KR" dirty="0"/>
              <a:t>(linear approximation)</a:t>
            </a:r>
            <a:r>
              <a:rPr lang="ko-KR" altLang="en-US" dirty="0"/>
              <a:t>로 </a:t>
            </a:r>
            <a:r>
              <a:rPr lang="ko-KR" altLang="en-US" dirty="0" err="1"/>
              <a:t>다루어짐</a:t>
            </a:r>
            <a:endParaRPr lang="ko-KR" altLang="en-US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2013A63-F573-011F-04D4-FCF5683DC0D5}"/>
                  </a:ext>
                </a:extLst>
              </p:cNvPr>
              <p:cNvSpPr txBox="1"/>
              <p:nvPr/>
            </p:nvSpPr>
            <p:spPr>
              <a:xfrm>
                <a:off x="913774" y="2597998"/>
                <a:ext cx="193912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altLang="ko-KR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altLang="ko-K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pt-BR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dirty="0"/>
                  <a:t>, </a:t>
                </a:r>
                <a14:m>
                  <m:oMath xmlns:m="http://schemas.openxmlformats.org/officeDocument/2006/math"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…….</m:t>
                    </m:r>
                    <m:sSub>
                      <m:sSubPr>
                        <m:ctrlPr>
                          <a:rPr lang="pt-BR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ko-KR" altLang="en-US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2013A63-F573-011F-04D4-FCF5683DC0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774" y="2597998"/>
                <a:ext cx="1939121" cy="276999"/>
              </a:xfrm>
              <a:prstGeom prst="rect">
                <a:avLst/>
              </a:prstGeom>
              <a:blipFill>
                <a:blip r:embed="rId2"/>
                <a:stretch>
                  <a:fillRect l="-4403" t="-28261" r="-943" b="-5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AAD9A33-C344-2076-A050-652791F231ED}"/>
                  </a:ext>
                </a:extLst>
              </p:cNvPr>
              <p:cNvSpPr txBox="1"/>
              <p:nvPr/>
            </p:nvSpPr>
            <p:spPr>
              <a:xfrm>
                <a:off x="908228" y="3010333"/>
                <a:ext cx="190994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altLang="ko-KR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altLang="ko-K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pt-BR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dirty="0"/>
                  <a:t>, </a:t>
                </a:r>
                <a14:m>
                  <m:oMath xmlns:m="http://schemas.openxmlformats.org/officeDocument/2006/math"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…….</m:t>
                    </m:r>
                    <m:sSub>
                      <m:sSubPr>
                        <m:ctrlPr>
                          <a:rPr lang="pt-BR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ko-KR" altLang="en-US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AAD9A33-C344-2076-A050-652791F231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8228" y="3010333"/>
                <a:ext cx="1909946" cy="276999"/>
              </a:xfrm>
              <a:prstGeom prst="rect">
                <a:avLst/>
              </a:prstGeom>
              <a:blipFill>
                <a:blip r:embed="rId3"/>
                <a:stretch>
                  <a:fillRect l="-4473" t="-28889" r="-958" b="-5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AB1DC68-B055-71BF-A2D1-B3DF40D36DB0}"/>
                  </a:ext>
                </a:extLst>
              </p:cNvPr>
              <p:cNvSpPr txBox="1"/>
              <p:nvPr/>
            </p:nvSpPr>
            <p:spPr>
              <a:xfrm>
                <a:off x="3171199" y="4333937"/>
                <a:ext cx="131792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𝑎𝑋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AB1DC68-B055-71BF-A2D1-B3DF40D36D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1199" y="4333937"/>
                <a:ext cx="1317925" cy="307777"/>
              </a:xfrm>
              <a:prstGeom prst="rect">
                <a:avLst/>
              </a:prstGeom>
              <a:blipFill>
                <a:blip r:embed="rId4"/>
                <a:stretch>
                  <a:fillRect l="-3704" t="-24000" r="-3704" b="-26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7B44021-266B-11C6-627B-D253521D13BD}"/>
                  </a:ext>
                </a:extLst>
              </p:cNvPr>
              <p:cNvSpPr txBox="1"/>
              <p:nvPr/>
            </p:nvSpPr>
            <p:spPr>
              <a:xfrm>
                <a:off x="4257674" y="5923126"/>
                <a:ext cx="102983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000" i="1" smtClean="0">
                          <a:latin typeface="Cambria Math" panose="02040503050406030204" pitchFamily="18" charset="0"/>
                        </a:rPr>
                        <m:t>r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𝑒𝑡𝑢𝑟𝑛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̂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ko-KR" altLang="en-US" sz="20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7B44021-266B-11C6-627B-D253521D13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7674" y="5923126"/>
                <a:ext cx="1029834" cy="307777"/>
              </a:xfrm>
              <a:prstGeom prst="rect">
                <a:avLst/>
              </a:prstGeom>
              <a:blipFill>
                <a:blip r:embed="rId5"/>
                <a:stretch>
                  <a:fillRect l="-2367" t="-24000" r="-35503" b="-26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691911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1E7B0-7803-9D29-32C0-9698CF449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내용 개체 틀 23">
            <a:extLst>
              <a:ext uri="{FF2B5EF4-FFF2-40B4-BE49-F238E27FC236}">
                <a16:creationId xmlns:a16="http://schemas.microsoft.com/office/drawing/2014/main" id="{1E2CC3F1-BCA1-50B2-98C7-41CFEACD45EA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1083564" y="2240238"/>
            <a:ext cx="9561167" cy="413351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5D6E60C-805C-F4F3-0780-443D722A21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선형대수</a:t>
            </a:r>
            <a:r>
              <a:rPr lang="en-US" altLang="ko-KR" dirty="0"/>
              <a:t>(linear</a:t>
            </a:r>
            <a:r>
              <a:rPr lang="ko-KR" altLang="en-US" dirty="0"/>
              <a:t> </a:t>
            </a:r>
            <a:r>
              <a:rPr lang="en-US" altLang="ko-KR" dirty="0"/>
              <a:t>algebra)</a:t>
            </a:r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/>
              <p:nvPr/>
            </p:nvSpPr>
            <p:spPr>
              <a:xfrm>
                <a:off x="4440781" y="4867337"/>
                <a:ext cx="131792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𝑎𝑋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0781" y="4867337"/>
                <a:ext cx="1317925" cy="307777"/>
              </a:xfrm>
              <a:prstGeom prst="rect">
                <a:avLst/>
              </a:prstGeom>
              <a:blipFill>
                <a:blip r:embed="rId3"/>
                <a:stretch>
                  <a:fillRect l="-3687" t="-21569" r="-3226" b="-2352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/>
              <p:nvPr/>
            </p:nvSpPr>
            <p:spPr>
              <a:xfrm>
                <a:off x="748800" y="1134845"/>
                <a:ext cx="9990035" cy="9640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2000" dirty="0"/>
                  <a:t>회귀생성</a:t>
                </a:r>
                <a:r>
                  <a:rPr lang="en-US" altLang="ko-KR" sz="2000" dirty="0"/>
                  <a:t>(Regression)</a:t>
                </a:r>
                <a:r>
                  <a:rPr lang="ko-KR" altLang="en-US" sz="2000" dirty="0"/>
                  <a:t>은 데이터 벡터 </a:t>
                </a:r>
                <a14:m>
                  <m:oMath xmlns:m="http://schemas.openxmlformats.org/officeDocument/2006/math">
                    <m:r>
                      <a:rPr lang="ko-KR" altLang="en-US" sz="2000" b="1">
                        <a:latin typeface="Cambria Math" panose="02040503050406030204" pitchFamily="18" charset="0"/>
                      </a:rPr>
                      <m:t>𝐲</m:t>
                    </m:r>
                  </m:oMath>
                </a14:m>
                <a:r>
                  <a:rPr lang="ko-KR" altLang="en-US" sz="2000" dirty="0"/>
                  <a:t>를 행렬 </a:t>
                </a:r>
                <a14:m>
                  <m:oMath xmlns:m="http://schemas.openxmlformats.org/officeDocument/2006/math">
                    <m:r>
                      <a:rPr lang="ko-KR" altLang="en-US" sz="2000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2000" dirty="0"/>
                  <a:t>가 만드는 선형공간에 가장 가깝게 투영하는 문제</a:t>
                </a: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800" y="1134845"/>
                <a:ext cx="9990035" cy="964046"/>
              </a:xfrm>
              <a:prstGeom prst="rect">
                <a:avLst/>
              </a:prstGeom>
              <a:blipFill>
                <a:blip r:embed="rId4"/>
                <a:stretch>
                  <a:fillRect l="-671" b="-949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458239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6C982-6E96-ECB2-EBA6-408905AF7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CE4E8A41-89FF-B75D-5C98-DE5FBB071249}"/>
              </a:ext>
            </a:extLst>
          </p:cNvPr>
          <p:cNvSpPr/>
          <p:nvPr/>
        </p:nvSpPr>
        <p:spPr>
          <a:xfrm>
            <a:off x="636521" y="2322984"/>
            <a:ext cx="8136904" cy="48832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757A4E-F290-CE82-27E0-2DF9725D0E18}"/>
              </a:ext>
            </a:extLst>
          </p:cNvPr>
          <p:cNvSpPr txBox="1"/>
          <p:nvPr/>
        </p:nvSpPr>
        <p:spPr>
          <a:xfrm>
            <a:off x="1629916" y="147612"/>
            <a:ext cx="8928992" cy="39991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대수학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(Algebra)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선형대수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Algebra)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en-US" altLang="ko-KR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Numpy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선형변환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Transformation)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주성분 분석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(Principal Component Analysis)</a:t>
            </a:r>
          </a:p>
        </p:txBody>
      </p:sp>
    </p:spTree>
    <p:extLst>
      <p:ext uri="{BB962C8B-B14F-4D97-AF65-F5344CB8AC3E}">
        <p14:creationId xmlns:p14="http://schemas.microsoft.com/office/powerpoint/2010/main" val="27291657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55871F-6794-7500-6128-87B662878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634C58-AE6C-176B-F945-6D8030D9B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en-US" altLang="ko-KR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Numpy</a:t>
            </a:r>
            <a:r>
              <a:rPr lang="en-US" altLang="ko-KR" dirty="0"/>
              <a:t> </a:t>
            </a:r>
            <a:r>
              <a:rPr lang="ko-KR" altLang="en-US" dirty="0"/>
              <a:t>배우기</a:t>
            </a: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F6541DB5-89AD-BBD3-1005-18F5C4569811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/>
          <a:stretch>
            <a:fillRect/>
          </a:stretch>
        </p:blipFill>
        <p:spPr>
          <a:xfrm>
            <a:off x="1116473" y="2214694"/>
            <a:ext cx="3255502" cy="424702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D38B465D-C127-08FA-DE59-4EE4DE73E9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2791" y="2214693"/>
            <a:ext cx="4578929" cy="42470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1AEBB09-87BF-A3B4-9FCE-50B0C858CD85}"/>
              </a:ext>
            </a:extLst>
          </p:cNvPr>
          <p:cNvSpPr txBox="1"/>
          <p:nvPr/>
        </p:nvSpPr>
        <p:spPr>
          <a:xfrm>
            <a:off x="1009650" y="1400175"/>
            <a:ext cx="47083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4</a:t>
            </a:r>
            <a:r>
              <a:rPr lang="ko-KR" altLang="en-US" dirty="0"/>
              <a:t>장 배열과 </a:t>
            </a:r>
            <a:r>
              <a:rPr lang="ko-KR" altLang="en-US" dirty="0" err="1"/>
              <a:t>벡터화연산</a:t>
            </a:r>
            <a:r>
              <a:rPr lang="ko-KR" altLang="en-US" dirty="0"/>
              <a:t> 학습하기 </a:t>
            </a:r>
            <a:r>
              <a:rPr lang="en-US" altLang="ko-KR" dirty="0"/>
              <a:t>(</a:t>
            </a:r>
            <a:r>
              <a:rPr lang="en-US" altLang="ko-KR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ch04.ipynb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350173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CD44D-B91A-AE7B-6C6C-B88B039EE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7F5EBD33-F29B-B13D-CCA7-71EE10FC8B74}"/>
              </a:ext>
            </a:extLst>
          </p:cNvPr>
          <p:cNvSpPr/>
          <p:nvPr/>
        </p:nvSpPr>
        <p:spPr>
          <a:xfrm>
            <a:off x="636521" y="2970684"/>
            <a:ext cx="8136904" cy="48832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6E474B-A2D8-6FFD-093B-1498B72842D6}"/>
              </a:ext>
            </a:extLst>
          </p:cNvPr>
          <p:cNvSpPr txBox="1"/>
          <p:nvPr/>
        </p:nvSpPr>
        <p:spPr>
          <a:xfrm>
            <a:off x="1629916" y="147612"/>
            <a:ext cx="8928992" cy="39991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대수학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(Algebra)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선형대수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Algebra)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en-US" altLang="ko-KR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Numpy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선형변환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Transformation)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주성분 분석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(Principal Component Analysis)</a:t>
            </a:r>
          </a:p>
        </p:txBody>
      </p:sp>
    </p:spTree>
    <p:extLst>
      <p:ext uri="{BB962C8B-B14F-4D97-AF65-F5344CB8AC3E}">
        <p14:creationId xmlns:p14="http://schemas.microsoft.com/office/powerpoint/2010/main" val="36272315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9F88C-1F8F-A2AC-3D6B-A3312E3D8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3AA548-B705-F527-DF59-321E6D96B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배우기 시작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DA3E08E-3665-01E9-0677-23E74683F50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ko-KR" sz="2400" dirty="0"/>
              <a:t>1</a:t>
            </a:r>
            <a:r>
              <a:rPr lang="ko-KR" altLang="en-US" sz="2400" dirty="0"/>
              <a:t>차원 직선에서의 선형변환에 대해 생각하기</a:t>
            </a:r>
            <a:endParaRPr lang="en-US" altLang="ko-KR" sz="2400" dirty="0"/>
          </a:p>
          <a:p>
            <a:r>
              <a:rPr lang="en-US" altLang="ko-KR" sz="2400" dirty="0"/>
              <a:t>2</a:t>
            </a:r>
            <a:r>
              <a:rPr lang="ko-KR" altLang="en-US" sz="2400" dirty="0"/>
              <a:t>차원 평면의 </a:t>
            </a:r>
            <a:r>
              <a:rPr lang="en-US" altLang="ko-KR" sz="2400" dirty="0"/>
              <a:t>2</a:t>
            </a:r>
            <a:r>
              <a:rPr lang="ko-KR" altLang="en-US" sz="2400" dirty="0"/>
              <a:t>개 벡터</a:t>
            </a:r>
            <a:r>
              <a:rPr lang="en-US" altLang="ko-KR" sz="2400" dirty="0"/>
              <a:t>(points), (1,2), (2,1)</a:t>
            </a:r>
            <a:r>
              <a:rPr lang="ko-KR" altLang="en-US" sz="2400" dirty="0"/>
              <a:t>에 임의의 행렬과 내적</a:t>
            </a:r>
            <a:endParaRPr lang="en-US" altLang="ko-KR" sz="2400" dirty="0"/>
          </a:p>
          <a:p>
            <a:r>
              <a:rPr lang="ko-KR" altLang="en-US" sz="2400" dirty="0"/>
              <a:t>투영</a:t>
            </a:r>
            <a:r>
              <a:rPr lang="en-US" altLang="ko-KR" sz="2400" dirty="0"/>
              <a:t>(Projection)</a:t>
            </a:r>
          </a:p>
          <a:p>
            <a:r>
              <a:rPr lang="ko-KR" altLang="en-US" sz="2400" dirty="0"/>
              <a:t>행렬</a:t>
            </a:r>
            <a:r>
              <a:rPr lang="en-US" altLang="ko-KR" sz="2400" dirty="0"/>
              <a:t> A</a:t>
            </a:r>
            <a:r>
              <a:rPr lang="ko-KR" altLang="en-US" sz="2400" dirty="0"/>
              <a:t>와 내적</a:t>
            </a:r>
            <a:r>
              <a:rPr lang="en-US" altLang="ko-KR" sz="2400" dirty="0"/>
              <a:t>(inner product)</a:t>
            </a:r>
          </a:p>
          <a:p>
            <a:r>
              <a:rPr lang="ko-KR" altLang="en-US" sz="2400" dirty="0"/>
              <a:t>행렬 </a:t>
            </a:r>
            <a:r>
              <a:rPr lang="en-US" altLang="ko-KR" sz="2400" dirty="0"/>
              <a:t>A</a:t>
            </a:r>
            <a:r>
              <a:rPr lang="ko-KR" altLang="en-US" sz="2400" dirty="0"/>
              <a:t>로 선형변환</a:t>
            </a:r>
            <a:r>
              <a:rPr lang="en-US" altLang="ko-KR" sz="2400" dirty="0"/>
              <a:t>(linear combination)</a:t>
            </a:r>
          </a:p>
          <a:p>
            <a:r>
              <a:rPr lang="ko-KR" altLang="en-US" sz="2400" dirty="0"/>
              <a:t>기저좌표의 변화</a:t>
            </a:r>
            <a:endParaRPr lang="en-US" altLang="ko-KR" sz="2400" dirty="0"/>
          </a:p>
          <a:p>
            <a:r>
              <a:rPr lang="ko-KR" altLang="en-US" sz="2400" dirty="0"/>
              <a:t>주성분</a:t>
            </a:r>
            <a:r>
              <a:rPr lang="en-US" altLang="ko-KR" sz="2400" dirty="0"/>
              <a:t>(principal components)</a:t>
            </a:r>
          </a:p>
          <a:p>
            <a:endParaRPr lang="ko-KR" altLang="en-US" sz="24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C0215A1-FF31-720E-824D-1350EDE22D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1897" y="3429000"/>
            <a:ext cx="2345545" cy="150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77498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D293B-460C-9230-F381-B0364AA31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30AE2C-28FF-1039-9A16-E84B181FB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</a:t>
            </a:r>
            <a:r>
              <a:rPr lang="ko-KR" altLang="en-US" dirty="0"/>
              <a:t>차원 직선에서의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7D4C64AF-EF0E-EBD8-8093-7DE3D6BBB899}"/>
              </a:ext>
            </a:extLst>
          </p:cNvPr>
          <p:cNvCxnSpPr>
            <a:cxnSpLocks/>
          </p:cNvCxnSpPr>
          <p:nvPr/>
        </p:nvCxnSpPr>
        <p:spPr>
          <a:xfrm>
            <a:off x="361325" y="3629309"/>
            <a:ext cx="508697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98D289A-2471-E2AE-B6E6-B49E2097CF5D}"/>
              </a:ext>
            </a:extLst>
          </p:cNvPr>
          <p:cNvSpPr txBox="1"/>
          <p:nvPr/>
        </p:nvSpPr>
        <p:spPr>
          <a:xfrm>
            <a:off x="228600" y="370550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1A44CD66-B49C-B14B-F5CB-619727F202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7086" y="2591736"/>
            <a:ext cx="5668613" cy="3256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861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4A1CC-8648-9F67-9936-401B49A35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92634D-69DE-B1FA-0C1A-E45A7D841E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</a:t>
            </a:r>
            <a:r>
              <a:rPr lang="ko-KR" altLang="en-US" dirty="0"/>
              <a:t>차원 직선에서의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8F7EF1AA-F153-6183-97D0-69F9B4F583E3}"/>
              </a:ext>
            </a:extLst>
          </p:cNvPr>
          <p:cNvCxnSpPr>
            <a:cxnSpLocks/>
          </p:cNvCxnSpPr>
          <p:nvPr/>
        </p:nvCxnSpPr>
        <p:spPr>
          <a:xfrm>
            <a:off x="2419040" y="4197775"/>
            <a:ext cx="5086975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B202B12-A258-8108-186D-F5C99EE6F804}"/>
              </a:ext>
            </a:extLst>
          </p:cNvPr>
          <p:cNvSpPr txBox="1"/>
          <p:nvPr/>
        </p:nvSpPr>
        <p:spPr>
          <a:xfrm>
            <a:off x="228631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ACFDE16B-292D-CEE7-D26B-874B0FDAC374}"/>
              </a:ext>
            </a:extLst>
          </p:cNvPr>
          <p:cNvCxnSpPr>
            <a:cxnSpLocks/>
          </p:cNvCxnSpPr>
          <p:nvPr/>
        </p:nvCxnSpPr>
        <p:spPr>
          <a:xfrm>
            <a:off x="477202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0889A9A-9BF1-DC08-AE34-A7451EE113CD}"/>
              </a:ext>
            </a:extLst>
          </p:cNvPr>
          <p:cNvSpPr txBox="1"/>
          <p:nvPr/>
        </p:nvSpPr>
        <p:spPr>
          <a:xfrm rot="16200000">
            <a:off x="2111177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962EAC99-6513-A21E-6BBF-96E1779712F1}"/>
              </a:ext>
            </a:extLst>
          </p:cNvPr>
          <p:cNvCxnSpPr>
            <a:cxnSpLocks/>
          </p:cNvCxnSpPr>
          <p:nvPr/>
        </p:nvCxnSpPr>
        <p:spPr>
          <a:xfrm flipV="1">
            <a:off x="3562353" y="2000250"/>
            <a:ext cx="2419350" cy="43059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27009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4E690-F2AD-18B4-D988-8AEE6085F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6F44F4-1686-2B4C-B786-2BBD121CB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차원 평면에서의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1432D000-AAD7-424D-68F9-3340C35A3C36}"/>
              </a:ext>
            </a:extLst>
          </p:cNvPr>
          <p:cNvCxnSpPr>
            <a:cxnSpLocks/>
          </p:cNvCxnSpPr>
          <p:nvPr/>
        </p:nvCxnSpPr>
        <p:spPr>
          <a:xfrm>
            <a:off x="456890" y="4197775"/>
            <a:ext cx="5086975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1CBFC49-A98C-36D0-1878-7FFFEFF36A68}"/>
              </a:ext>
            </a:extLst>
          </p:cNvPr>
          <p:cNvSpPr txBox="1"/>
          <p:nvPr/>
        </p:nvSpPr>
        <p:spPr>
          <a:xfrm>
            <a:off x="32416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C8C6DF1-B97D-F199-5033-64331BCC3A7E}"/>
              </a:ext>
            </a:extLst>
          </p:cNvPr>
          <p:cNvCxnSpPr>
            <a:cxnSpLocks/>
          </p:cNvCxnSpPr>
          <p:nvPr/>
        </p:nvCxnSpPr>
        <p:spPr>
          <a:xfrm>
            <a:off x="280987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8EE0933-37D0-5B7A-EF49-7D3E7E68A636}"/>
              </a:ext>
            </a:extLst>
          </p:cNvPr>
          <p:cNvSpPr txBox="1"/>
          <p:nvPr/>
        </p:nvSpPr>
        <p:spPr>
          <a:xfrm rot="16200000">
            <a:off x="267015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F9770E7-D05C-D9DA-D98D-1366B9D2D1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850" y="2377217"/>
            <a:ext cx="1503361" cy="98100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D98E98A-995F-336E-D8D6-82E48810C9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2223" y="3358239"/>
            <a:ext cx="1280266" cy="525823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25689E68-6A28-53EE-75F3-C2D0E09D82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850" y="3691819"/>
            <a:ext cx="1280271" cy="54868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9B06CAE5-178C-DC5D-E74B-8EF5E3F67E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67120" y="3697535"/>
            <a:ext cx="1597887" cy="542971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8A11805A-4319-468A-B660-5363D357BFFB}"/>
              </a:ext>
            </a:extLst>
          </p:cNvPr>
          <p:cNvSpPr/>
          <p:nvPr/>
        </p:nvSpPr>
        <p:spPr>
          <a:xfrm>
            <a:off x="3073399" y="3358224"/>
            <a:ext cx="260349" cy="2422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C826B98-1D71-4910-55B7-EE49E4BBF56A}"/>
              </a:ext>
            </a:extLst>
          </p:cNvPr>
          <p:cNvSpPr/>
          <p:nvPr/>
        </p:nvSpPr>
        <p:spPr>
          <a:xfrm>
            <a:off x="4474513" y="2335507"/>
            <a:ext cx="260349" cy="24220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21DE4A-D272-D340-D9A6-538BC397CD81}"/>
              </a:ext>
            </a:extLst>
          </p:cNvPr>
          <p:cNvSpPr txBox="1"/>
          <p:nvPr/>
        </p:nvSpPr>
        <p:spPr>
          <a:xfrm>
            <a:off x="9385999" y="2345081"/>
            <a:ext cx="2714628" cy="1707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벡터</a:t>
            </a:r>
            <a:r>
              <a:rPr lang="en-US" altLang="ko-KR" dirty="0"/>
              <a:t> v</a:t>
            </a:r>
            <a:r>
              <a:rPr lang="ko-KR" altLang="en-US" dirty="0"/>
              <a:t>가 행렬 </a:t>
            </a:r>
            <a:r>
              <a:rPr lang="en-US" altLang="ko-KR" dirty="0"/>
              <a:t>A</a:t>
            </a:r>
            <a:r>
              <a:rPr lang="ko-KR" altLang="en-US" dirty="0"/>
              <a:t>와 </a:t>
            </a:r>
            <a:r>
              <a:rPr lang="ko-KR" altLang="en-US" dirty="0" err="1"/>
              <a:t>내적하는</a:t>
            </a:r>
            <a:r>
              <a:rPr lang="ko-KR" altLang="en-US" dirty="0"/>
              <a:t> 선형변환을 하면 </a:t>
            </a:r>
            <a:r>
              <a:rPr lang="en-US" altLang="ko-KR" dirty="0"/>
              <a:t>Av = (5,5) </a:t>
            </a:r>
            <a:r>
              <a:rPr lang="ko-KR" altLang="en-US" dirty="0"/>
              <a:t>로 위치 이동하게 됨</a:t>
            </a:r>
            <a:endParaRPr lang="en-US" altLang="ko-KR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F1D4E1-1C00-2913-FD43-03EE8C0C200D}"/>
              </a:ext>
            </a:extLst>
          </p:cNvPr>
          <p:cNvSpPr txBox="1"/>
          <p:nvPr/>
        </p:nvSpPr>
        <p:spPr>
          <a:xfrm>
            <a:off x="6139367" y="1975749"/>
            <a:ext cx="157523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행렬 </a:t>
            </a:r>
            <a:r>
              <a:rPr lang="en-US" altLang="ko-KR" dirty="0"/>
              <a:t>= </a:t>
            </a:r>
            <a:r>
              <a:rPr lang="ko-KR" altLang="en-US" dirty="0"/>
              <a:t>함수</a:t>
            </a:r>
          </a:p>
        </p:txBody>
      </p:sp>
    </p:spTree>
    <p:extLst>
      <p:ext uri="{BB962C8B-B14F-4D97-AF65-F5344CB8AC3E}">
        <p14:creationId xmlns:p14="http://schemas.microsoft.com/office/powerpoint/2010/main" val="32780874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0B495B-D82D-70B1-95E8-6A221ED9A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과제</a:t>
            </a:r>
          </a:p>
        </p:txBody>
      </p:sp>
      <p:pic>
        <p:nvPicPr>
          <p:cNvPr id="4" name="내용 개체 틀 3">
            <a:extLst>
              <a:ext uri="{FF2B5EF4-FFF2-40B4-BE49-F238E27FC236}">
                <a16:creationId xmlns:a16="http://schemas.microsoft.com/office/drawing/2014/main" id="{CC0271E0-83DB-4699-2D1D-D4EC4FBB269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2801144" y="2411707"/>
            <a:ext cx="2036761" cy="1302580"/>
          </a:xfrm>
          <a:prstGeom prst="rect">
            <a:avLst/>
          </a:prstGeom>
        </p:spPr>
      </p:pic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A23EC9D9-E1E5-486D-524D-A0C034D9B291}"/>
              </a:ext>
            </a:extLst>
          </p:cNvPr>
          <p:cNvCxnSpPr>
            <a:cxnSpLocks/>
          </p:cNvCxnSpPr>
          <p:nvPr/>
        </p:nvCxnSpPr>
        <p:spPr>
          <a:xfrm flipV="1">
            <a:off x="18740" y="4197773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133EA56-E119-9E2E-EBFA-3E843E65458E}"/>
              </a:ext>
            </a:extLst>
          </p:cNvPr>
          <p:cNvSpPr txBox="1"/>
          <p:nvPr/>
        </p:nvSpPr>
        <p:spPr>
          <a:xfrm>
            <a:off x="-11398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AB792C78-4F30-BAD6-12FC-138766A35512}"/>
              </a:ext>
            </a:extLst>
          </p:cNvPr>
          <p:cNvCxnSpPr>
            <a:cxnSpLocks/>
          </p:cNvCxnSpPr>
          <p:nvPr/>
        </p:nvCxnSpPr>
        <p:spPr>
          <a:xfrm>
            <a:off x="237172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직사각형 8">
            <a:extLst>
              <a:ext uri="{FF2B5EF4-FFF2-40B4-BE49-F238E27FC236}">
                <a16:creationId xmlns:a16="http://schemas.microsoft.com/office/drawing/2014/main" id="{8AE44BCE-2E3C-9E9E-D923-0EEE18AB9631}"/>
              </a:ext>
            </a:extLst>
          </p:cNvPr>
          <p:cNvSpPr/>
          <p:nvPr/>
        </p:nvSpPr>
        <p:spPr>
          <a:xfrm>
            <a:off x="2359026" y="3429000"/>
            <a:ext cx="841374" cy="768773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4E801FD-463E-32A8-962F-C2F5391655F2}"/>
              </a:ext>
            </a:extLst>
          </p:cNvPr>
          <p:cNvSpPr txBox="1"/>
          <p:nvPr/>
        </p:nvSpPr>
        <p:spPr>
          <a:xfrm>
            <a:off x="5182225" y="2105546"/>
            <a:ext cx="6619250" cy="336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/>
              <a:t>행렬 </a:t>
            </a:r>
            <a:r>
              <a:rPr lang="en-US" altLang="ko-KR" dirty="0"/>
              <a:t>A = [(2,1), (3,4)] </a:t>
            </a:r>
            <a:r>
              <a:rPr lang="ko-KR" altLang="en-US" dirty="0"/>
              <a:t>의 행렬인 경우 </a:t>
            </a:r>
            <a:r>
              <a:rPr lang="en-US" altLang="ko-KR" dirty="0"/>
              <a:t>v=(1,2)</a:t>
            </a:r>
            <a:r>
              <a:rPr lang="ko-KR" altLang="en-US" dirty="0"/>
              <a:t>는 어떻게 </a:t>
            </a:r>
            <a:r>
              <a:rPr lang="ko-KR" altLang="en-US" b="1" dirty="0"/>
              <a:t>변환</a:t>
            </a:r>
            <a:r>
              <a:rPr lang="ko-KR" altLang="en-US" dirty="0"/>
              <a:t>되는가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 </a:t>
            </a:r>
            <a:r>
              <a:rPr lang="ko-KR" altLang="en-US" dirty="0"/>
              <a:t>아래와 같은 정방형의 모든 실수는 </a:t>
            </a:r>
            <a:r>
              <a:rPr lang="en-US" altLang="ko-KR" dirty="0"/>
              <a:t>A</a:t>
            </a:r>
            <a:r>
              <a:rPr lang="ko-KR" altLang="en-US" dirty="0"/>
              <a:t>행렬과 </a:t>
            </a:r>
            <a:r>
              <a:rPr lang="ko-KR" altLang="en-US" dirty="0" err="1"/>
              <a:t>내적하면</a:t>
            </a:r>
            <a:r>
              <a:rPr lang="ko-KR" altLang="en-US" dirty="0"/>
              <a:t> 어떻게 </a:t>
            </a:r>
            <a:r>
              <a:rPr lang="ko-KR" altLang="en-US" b="1" dirty="0"/>
              <a:t>변환</a:t>
            </a:r>
            <a:r>
              <a:rPr lang="ko-KR" altLang="en-US" dirty="0"/>
              <a:t>되는지 파이썬 코드로 작성하고 시각화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/>
              <a:t>선형변환</a:t>
            </a:r>
            <a:r>
              <a:rPr lang="en-US" altLang="ko-KR" b="1" dirty="0"/>
              <a:t>(Linear Transformation)</a:t>
            </a:r>
            <a:r>
              <a:rPr lang="ko-KR" altLang="en-US" dirty="0"/>
              <a:t>의 결과를 기하학적 의미를 </a:t>
            </a:r>
            <a:r>
              <a:rPr lang="ko-KR" altLang="en-US" b="1" dirty="0"/>
              <a:t>투영</a:t>
            </a:r>
            <a:r>
              <a:rPr lang="en-US" altLang="ko-KR" b="1" dirty="0"/>
              <a:t>(Projection)</a:t>
            </a:r>
            <a:r>
              <a:rPr lang="ko-KR" altLang="en-US" dirty="0"/>
              <a:t>의 관점에서 설명하라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FFB67B-47AD-E2B1-F02D-7438ED6D3A02}"/>
              </a:ext>
            </a:extLst>
          </p:cNvPr>
          <p:cNvSpPr txBox="1"/>
          <p:nvPr/>
        </p:nvSpPr>
        <p:spPr>
          <a:xfrm rot="16200000">
            <a:off x="-184666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066491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AED26979-3036-435B-0822-871DA230CA78}"/>
              </a:ext>
            </a:extLst>
          </p:cNvPr>
          <p:cNvSpPr txBox="1"/>
          <p:nvPr/>
        </p:nvSpPr>
        <p:spPr>
          <a:xfrm>
            <a:off x="2178843" y="58466"/>
            <a:ext cx="8536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dirty="0"/>
              <a:t>2</a:t>
            </a:r>
            <a:r>
              <a:rPr lang="ko-KR" altLang="en-US" sz="3200" dirty="0"/>
              <a:t>차원 평면에서의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BAD771A1-25B1-665A-99F0-AD771F07CDA4}"/>
              </a:ext>
            </a:extLst>
          </p:cNvPr>
          <p:cNvCxnSpPr>
            <a:cxnSpLocks/>
          </p:cNvCxnSpPr>
          <p:nvPr/>
        </p:nvCxnSpPr>
        <p:spPr>
          <a:xfrm flipV="1">
            <a:off x="18740" y="4197773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E7F301B5-9970-FCB6-2C79-A057D8D23F0E}"/>
              </a:ext>
            </a:extLst>
          </p:cNvPr>
          <p:cNvCxnSpPr>
            <a:cxnSpLocks/>
          </p:cNvCxnSpPr>
          <p:nvPr/>
        </p:nvCxnSpPr>
        <p:spPr>
          <a:xfrm>
            <a:off x="237172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9CF34E6-3C08-D401-489F-98201AD4E32F}"/>
              </a:ext>
            </a:extLst>
          </p:cNvPr>
          <p:cNvSpPr txBox="1"/>
          <p:nvPr/>
        </p:nvSpPr>
        <p:spPr>
          <a:xfrm rot="16200000">
            <a:off x="-184666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7B46C8-7DA9-65B3-928C-F55479A8125E}"/>
              </a:ext>
            </a:extLst>
          </p:cNvPr>
          <p:cNvSpPr txBox="1"/>
          <p:nvPr/>
        </p:nvSpPr>
        <p:spPr>
          <a:xfrm>
            <a:off x="-11398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3F676E9-B701-E8CF-EBBF-76EAC4ADB1F9}"/>
                  </a:ext>
                </a:extLst>
              </p:cNvPr>
              <p:cNvSpPr txBox="1"/>
              <p:nvPr/>
            </p:nvSpPr>
            <p:spPr>
              <a:xfrm>
                <a:off x="4290293" y="1947442"/>
                <a:ext cx="1662832" cy="5111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ko-KR" sz="2400" dirty="0"/>
                  <a:t>  A =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ko-KR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sz="20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ko-KR" altLang="en-US" sz="2400" i="1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3F676E9-B701-E8CF-EBBF-76EAC4ADB1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0293" y="1947442"/>
                <a:ext cx="1662832" cy="511166"/>
              </a:xfrm>
              <a:prstGeom prst="rect">
                <a:avLst/>
              </a:prstGeom>
              <a:blipFill>
                <a:blip r:embed="rId2"/>
                <a:stretch>
                  <a:fillRect l="-1099" t="-7143" b="-1904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CBF6A67-AFE4-6834-2F28-3587CEBB3C3B}"/>
                  </a:ext>
                </a:extLst>
              </p:cNvPr>
              <p:cNvSpPr txBox="1"/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CBF6A67-AFE4-6834-2F28-3587CEBB3C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blipFill>
                <a:blip r:embed="rId3"/>
                <a:stretch>
                  <a:fillRect l="-9160" t="-6667" r="-9924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1D26D5B-87E7-1180-DE23-2F832DA99054}"/>
                  </a:ext>
                </a:extLst>
              </p:cNvPr>
              <p:cNvSpPr txBox="1"/>
              <p:nvPr/>
            </p:nvSpPr>
            <p:spPr>
              <a:xfrm>
                <a:off x="7465166" y="1984554"/>
                <a:ext cx="1805708" cy="5744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400" i="1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1D26D5B-87E7-1180-DE23-2F832DA990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5166" y="1984554"/>
                <a:ext cx="1805708" cy="57445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4BEC3A-5D88-9BA3-FED6-597EC41DE58A}"/>
                  </a:ext>
                </a:extLst>
              </p:cNvPr>
              <p:cNvSpPr txBox="1"/>
              <p:nvPr/>
            </p:nvSpPr>
            <p:spPr>
              <a:xfrm>
                <a:off x="8980755" y="2133280"/>
                <a:ext cx="210903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=(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4BEC3A-5D88-9BA3-FED6-597EC41DE5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0755" y="2133280"/>
                <a:ext cx="2109039" cy="276999"/>
              </a:xfrm>
              <a:prstGeom prst="rect">
                <a:avLst/>
              </a:prstGeom>
              <a:blipFill>
                <a:blip r:embed="rId5"/>
                <a:stretch>
                  <a:fillRect l="-289" t="-6667" r="-3179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059CE4A2-11E8-3782-9C37-54E0B00FD94F}"/>
              </a:ext>
            </a:extLst>
          </p:cNvPr>
          <p:cNvSpPr txBox="1"/>
          <p:nvPr/>
        </p:nvSpPr>
        <p:spPr>
          <a:xfrm>
            <a:off x="5784127" y="3165498"/>
            <a:ext cx="3915029" cy="2955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두 행이 완전히 동일하며 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모든 벡터</a:t>
            </a: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(x, y)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를 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(x+2y,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x+2y)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벡터로 선형변환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임의의 모든 점을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(1,2)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투영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(projection)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하고 대각선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(y=x)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배치 </a:t>
            </a:r>
          </a:p>
        </p:txBody>
      </p:sp>
      <p:cxnSp>
        <p:nvCxnSpPr>
          <p:cNvPr id="29" name="연결선: 구부러짐 28">
            <a:extLst>
              <a:ext uri="{FF2B5EF4-FFF2-40B4-BE49-F238E27FC236}">
                <a16:creationId xmlns:a16="http://schemas.microsoft.com/office/drawing/2014/main" id="{80E0E523-FCA2-AA24-9EA5-9380D86B3195}"/>
              </a:ext>
            </a:extLst>
          </p:cNvPr>
          <p:cNvCxnSpPr>
            <a:cxnSpLocks/>
            <a:stCxn id="19" idx="0"/>
            <a:endCxn id="17" idx="1"/>
          </p:cNvCxnSpPr>
          <p:nvPr/>
        </p:nvCxnSpPr>
        <p:spPr>
          <a:xfrm rot="5400000" flipH="1" flipV="1">
            <a:off x="3381818" y="1907079"/>
            <a:ext cx="612529" cy="120442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연결선: 구부러짐 29">
            <a:extLst>
              <a:ext uri="{FF2B5EF4-FFF2-40B4-BE49-F238E27FC236}">
                <a16:creationId xmlns:a16="http://schemas.microsoft.com/office/drawing/2014/main" id="{DAF44130-B832-9483-C9DF-EFD357270E48}"/>
              </a:ext>
            </a:extLst>
          </p:cNvPr>
          <p:cNvCxnSpPr>
            <a:cxnSpLocks/>
            <a:stCxn id="17" idx="3"/>
            <a:endCxn id="23" idx="1"/>
          </p:cNvCxnSpPr>
          <p:nvPr/>
        </p:nvCxnSpPr>
        <p:spPr>
          <a:xfrm>
            <a:off x="5953125" y="2203025"/>
            <a:ext cx="1512041" cy="68756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60400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E48C2-D67B-5ADB-18B1-80FE0EBB4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0F82DA0A-412B-C75A-C675-E78A772EB5B4}"/>
              </a:ext>
            </a:extLst>
          </p:cNvPr>
          <p:cNvSpPr txBox="1"/>
          <p:nvPr/>
        </p:nvSpPr>
        <p:spPr>
          <a:xfrm>
            <a:off x="2178843" y="58466"/>
            <a:ext cx="8536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dirty="0"/>
              <a:t>2</a:t>
            </a:r>
            <a:r>
              <a:rPr lang="ko-KR" altLang="en-US" sz="3200" dirty="0"/>
              <a:t>차원 평면에서의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46E36533-3E78-9C9E-2D7B-3CD87C1D7E1E}"/>
              </a:ext>
            </a:extLst>
          </p:cNvPr>
          <p:cNvCxnSpPr>
            <a:cxnSpLocks/>
          </p:cNvCxnSpPr>
          <p:nvPr/>
        </p:nvCxnSpPr>
        <p:spPr>
          <a:xfrm flipV="1">
            <a:off x="18740" y="4197773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50C11FE9-3D39-67F5-9B81-39ABA9F3C151}"/>
              </a:ext>
            </a:extLst>
          </p:cNvPr>
          <p:cNvCxnSpPr>
            <a:cxnSpLocks/>
          </p:cNvCxnSpPr>
          <p:nvPr/>
        </p:nvCxnSpPr>
        <p:spPr>
          <a:xfrm>
            <a:off x="237172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23A923B-0F3D-C793-CBDF-EB2CBE8E86F4}"/>
              </a:ext>
            </a:extLst>
          </p:cNvPr>
          <p:cNvSpPr txBox="1"/>
          <p:nvPr/>
        </p:nvSpPr>
        <p:spPr>
          <a:xfrm rot="16200000">
            <a:off x="-184666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8F449C-DC59-EB8D-209F-4B2964F89FCF}"/>
              </a:ext>
            </a:extLst>
          </p:cNvPr>
          <p:cNvSpPr txBox="1"/>
          <p:nvPr/>
        </p:nvSpPr>
        <p:spPr>
          <a:xfrm>
            <a:off x="-11398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4E75DD5-EF33-CACC-F286-91C83CCC184D}"/>
                  </a:ext>
                </a:extLst>
              </p:cNvPr>
              <p:cNvSpPr txBox="1"/>
              <p:nvPr/>
            </p:nvSpPr>
            <p:spPr>
              <a:xfrm>
                <a:off x="4591365" y="1592022"/>
                <a:ext cx="1662832" cy="5111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ko-KR" sz="2400" dirty="0"/>
                  <a:t>  A =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ko-KR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sz="20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ko-KR" altLang="en-US" sz="2400" i="1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4E75DD5-EF33-CACC-F286-91C83CCC18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1365" y="1592022"/>
                <a:ext cx="1662832" cy="511166"/>
              </a:xfrm>
              <a:prstGeom prst="rect">
                <a:avLst/>
              </a:prstGeom>
              <a:blipFill>
                <a:blip r:embed="rId2"/>
                <a:stretch>
                  <a:fillRect l="-733" t="-7143" b="-1904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0FDEB4F-C9AC-B18B-C2C9-02BFB61C891E}"/>
                  </a:ext>
                </a:extLst>
              </p:cNvPr>
              <p:cNvSpPr txBox="1"/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0FDEB4F-C9AC-B18B-C2C9-02BFB61C89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blipFill>
                <a:blip r:embed="rId3"/>
                <a:stretch>
                  <a:fillRect l="-9160" t="-6667" r="-9924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B43725C-55F0-7EBB-D964-7A4BC336DB67}"/>
                  </a:ext>
                </a:extLst>
              </p:cNvPr>
              <p:cNvSpPr txBox="1"/>
              <p:nvPr/>
            </p:nvSpPr>
            <p:spPr>
              <a:xfrm>
                <a:off x="7770413" y="2640004"/>
                <a:ext cx="187179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B43725C-55F0-7EBB-D964-7A4BC336DB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0413" y="2640004"/>
                <a:ext cx="1871794" cy="276999"/>
              </a:xfrm>
              <a:prstGeom prst="rect">
                <a:avLst/>
              </a:prstGeom>
              <a:blipFill>
                <a:blip r:embed="rId4"/>
                <a:stretch>
                  <a:fillRect l="-3583" t="-6522" r="-3909" b="-282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F417510F-FA8E-6162-4468-EC4812C7C296}"/>
              </a:ext>
            </a:extLst>
          </p:cNvPr>
          <p:cNvSpPr txBox="1"/>
          <p:nvPr/>
        </p:nvSpPr>
        <p:spPr>
          <a:xfrm>
            <a:off x="3979335" y="3290089"/>
            <a:ext cx="3915029" cy="2955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임의의 모든 점을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(1,2)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</a:t>
            </a:r>
            <a:r>
              <a:rPr lang="ko-KR" alt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내적하여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투영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(projection)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하고 대각선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(y=x)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투영하여 배치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2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차원으로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1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차원으로 붕괴시키는 행렬변환 </a:t>
            </a:r>
          </a:p>
        </p:txBody>
      </p:sp>
      <p:cxnSp>
        <p:nvCxnSpPr>
          <p:cNvPr id="29" name="연결선: 구부러짐 28">
            <a:extLst>
              <a:ext uri="{FF2B5EF4-FFF2-40B4-BE49-F238E27FC236}">
                <a16:creationId xmlns:a16="http://schemas.microsoft.com/office/drawing/2014/main" id="{07E2D664-2BE6-2DF1-837C-3787AEF194CA}"/>
              </a:ext>
            </a:extLst>
          </p:cNvPr>
          <p:cNvCxnSpPr>
            <a:cxnSpLocks/>
            <a:stCxn id="19" idx="0"/>
            <a:endCxn id="17" idx="1"/>
          </p:cNvCxnSpPr>
          <p:nvPr/>
        </p:nvCxnSpPr>
        <p:spPr>
          <a:xfrm rot="5400000" flipH="1" flipV="1">
            <a:off x="3354644" y="1578833"/>
            <a:ext cx="967949" cy="150549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연결선: 구부러짐 29">
            <a:extLst>
              <a:ext uri="{FF2B5EF4-FFF2-40B4-BE49-F238E27FC236}">
                <a16:creationId xmlns:a16="http://schemas.microsoft.com/office/drawing/2014/main" id="{4903B8ED-A4E2-90BE-7A88-0777CA4B0F30}"/>
              </a:ext>
            </a:extLst>
          </p:cNvPr>
          <p:cNvCxnSpPr>
            <a:cxnSpLocks/>
            <a:stCxn id="17" idx="3"/>
            <a:endCxn id="24" idx="1"/>
          </p:cNvCxnSpPr>
          <p:nvPr/>
        </p:nvCxnSpPr>
        <p:spPr>
          <a:xfrm>
            <a:off x="6254197" y="1847605"/>
            <a:ext cx="1516216" cy="93089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A9EBD0C9-2937-E546-104C-A70FBE6A99F3}"/>
              </a:ext>
            </a:extLst>
          </p:cNvPr>
          <p:cNvCxnSpPr>
            <a:cxnSpLocks/>
          </p:cNvCxnSpPr>
          <p:nvPr/>
        </p:nvCxnSpPr>
        <p:spPr>
          <a:xfrm flipV="1">
            <a:off x="7615956" y="4163027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A6B7B48-EFB1-1809-928C-471F9BC07E28}"/>
              </a:ext>
            </a:extLst>
          </p:cNvPr>
          <p:cNvCxnSpPr>
            <a:cxnSpLocks/>
          </p:cNvCxnSpPr>
          <p:nvPr/>
        </p:nvCxnSpPr>
        <p:spPr>
          <a:xfrm>
            <a:off x="9968944" y="1990714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B3B2C7D-9653-5102-80B2-FEFBC0BFFAEF}"/>
              </a:ext>
            </a:extLst>
          </p:cNvPr>
          <p:cNvSpPr txBox="1"/>
          <p:nvPr/>
        </p:nvSpPr>
        <p:spPr>
          <a:xfrm rot="16200000">
            <a:off x="7412550" y="4158723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5EDD22D-5F31-7D85-4E49-D7CCEC85C019}"/>
              </a:ext>
            </a:extLst>
          </p:cNvPr>
          <p:cNvSpPr txBox="1"/>
          <p:nvPr/>
        </p:nvSpPr>
        <p:spPr>
          <a:xfrm>
            <a:off x="7486650" y="4197773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pic>
        <p:nvPicPr>
          <p:cNvPr id="28" name="그래픽 27" descr="별">
            <a:extLst>
              <a:ext uri="{FF2B5EF4-FFF2-40B4-BE49-F238E27FC236}">
                <a16:creationId xmlns:a16="http://schemas.microsoft.com/office/drawing/2014/main" id="{B1997F87-A73F-E620-983C-A239734A302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615239" y="3159667"/>
            <a:ext cx="485496" cy="485496"/>
          </a:xfrm>
          <a:prstGeom prst="rect">
            <a:avLst/>
          </a:prstGeom>
        </p:spPr>
      </p:pic>
      <p:pic>
        <p:nvPicPr>
          <p:cNvPr id="31" name="그래픽 30" descr="별">
            <a:extLst>
              <a:ext uri="{FF2B5EF4-FFF2-40B4-BE49-F238E27FC236}">
                <a16:creationId xmlns:a16="http://schemas.microsoft.com/office/drawing/2014/main" id="{1C6B1354-D5CB-5B29-DCCA-3AAA1F5158B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953327" y="2704498"/>
            <a:ext cx="485496" cy="48549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78074A7-356F-2C14-2D6D-24E36C4B79D4}"/>
                  </a:ext>
                </a:extLst>
              </p:cNvPr>
              <p:cNvSpPr txBox="1"/>
              <p:nvPr/>
            </p:nvSpPr>
            <p:spPr>
              <a:xfrm>
                <a:off x="631178" y="3151590"/>
                <a:ext cx="96500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(−1,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78074A7-356F-2C14-2D6D-24E36C4B79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178" y="3151590"/>
                <a:ext cx="965008" cy="276999"/>
              </a:xfrm>
              <a:prstGeom prst="rect">
                <a:avLst/>
              </a:prstGeom>
              <a:blipFill>
                <a:blip r:embed="rId9"/>
                <a:stretch>
                  <a:fillRect l="-7595" t="-6667" r="-8228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3CEBCEB-0B03-527A-2949-05A459F0F937}"/>
                  </a:ext>
                </a:extLst>
              </p:cNvPr>
              <p:cNvSpPr txBox="1"/>
              <p:nvPr/>
            </p:nvSpPr>
            <p:spPr>
              <a:xfrm>
                <a:off x="11130986" y="2417974"/>
                <a:ext cx="79188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(3,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3)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3CEBCEB-0B03-527A-2949-05A459F0F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30986" y="2417974"/>
                <a:ext cx="791883" cy="276999"/>
              </a:xfrm>
              <a:prstGeom prst="rect">
                <a:avLst/>
              </a:prstGeom>
              <a:blipFill>
                <a:blip r:embed="rId10"/>
                <a:stretch>
                  <a:fillRect l="-9231" t="-8889" r="-10000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FF4B92F-31B4-3C2F-14FE-6DE1FFDEBE8D}"/>
              </a:ext>
            </a:extLst>
          </p:cNvPr>
          <p:cNvCxnSpPr>
            <a:cxnSpLocks/>
          </p:cNvCxnSpPr>
          <p:nvPr/>
        </p:nvCxnSpPr>
        <p:spPr>
          <a:xfrm flipV="1">
            <a:off x="8485488" y="2556473"/>
            <a:ext cx="3128002" cy="3162693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28851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E3566-E0E2-3682-76F4-6A2B0A523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55D4C1-4B4A-A66E-82C3-386E6AB7E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선형변환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CEC279A-BA05-1914-9046-3B18C4C7FD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4924" y="4277515"/>
            <a:ext cx="7402300" cy="115173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D933761-F6C1-E88D-6DC1-6D5645B5AE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4924" y="2300419"/>
            <a:ext cx="7330316" cy="110374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33B0C35-8920-5211-45F2-08E4D70B1F95}"/>
              </a:ext>
            </a:extLst>
          </p:cNvPr>
          <p:cNvSpPr txBox="1"/>
          <p:nvPr/>
        </p:nvSpPr>
        <p:spPr>
          <a:xfrm>
            <a:off x="466725" y="184536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/>
              <a:t>2</a:t>
            </a:r>
            <a:r>
              <a:rPr lang="ko-KR" altLang="en-US" sz="1800" dirty="0"/>
              <a:t>개 벡터</a:t>
            </a:r>
            <a:r>
              <a:rPr lang="en-US" altLang="ko-KR" sz="1800" dirty="0"/>
              <a:t>(points), (1,2), (2,1)</a:t>
            </a:r>
            <a:r>
              <a:rPr lang="ko-KR" altLang="en-US" sz="1800" dirty="0"/>
              <a:t>에 행렬</a:t>
            </a:r>
            <a:r>
              <a:rPr lang="en-US" altLang="ko-KR" dirty="0"/>
              <a:t>[(2,1), (1,4)] </a:t>
            </a:r>
            <a:r>
              <a:rPr lang="ko-KR" altLang="en-US" dirty="0"/>
              <a:t>와의</a:t>
            </a:r>
            <a:r>
              <a:rPr lang="en-US" altLang="ko-KR" dirty="0"/>
              <a:t> </a:t>
            </a:r>
            <a:r>
              <a:rPr lang="ko-KR" altLang="en-US" sz="1800" dirty="0"/>
              <a:t>내적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302242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3CF355-C241-D22E-F97C-7287CE73D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기하학적 이해</a:t>
            </a:r>
          </a:p>
        </p:txBody>
      </p:sp>
      <p:sp>
        <p:nvSpPr>
          <p:cNvPr id="4" name="AutoShape 2" descr=", AI generated">
            <a:extLst>
              <a:ext uri="{FF2B5EF4-FFF2-40B4-BE49-F238E27FC236}">
                <a16:creationId xmlns:a16="http://schemas.microsoft.com/office/drawing/2014/main" id="{A12FC27B-0BD4-A5AB-B0E5-D080A53513D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B011C37-30DB-6272-D93F-F9473458E8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1725" y="2014537"/>
            <a:ext cx="7286625" cy="3977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0482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15690B-B9F0-94FA-BC45-0E4821137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기하와 선형대수적 이해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30BE21E3-574E-E3B3-F218-5F9D85ABA5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7450" y="4643307"/>
            <a:ext cx="6599244" cy="2029503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35C33DC3-86CB-5044-C33D-E78D6DD430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43" y="1954402"/>
            <a:ext cx="6237758" cy="2455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6598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BD2289-F2DD-C99C-21A0-D359B3CC0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투영</a:t>
            </a:r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2AC9B519-750B-3AD9-C9B3-C647051B7BB1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 bwMode="auto">
          <a:xfrm>
            <a:off x="570875" y="2015277"/>
            <a:ext cx="7738080" cy="422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135C1BC-D100-A1E8-B66D-30FE5BBBCD42}"/>
              </a:ext>
            </a:extLst>
          </p:cNvPr>
          <p:cNvSpPr txBox="1"/>
          <p:nvPr/>
        </p:nvSpPr>
        <p:spPr>
          <a:xfrm>
            <a:off x="8394680" y="2029696"/>
            <a:ext cx="365444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+mj-ea"/>
                <a:ea typeface="+mj-ea"/>
              </a:rPr>
              <a:t>첫 번째 행렬</a:t>
            </a:r>
            <a:r>
              <a:rPr lang="en-US" altLang="ko-KR" dirty="0">
                <a:latin typeface="+mj-ea"/>
                <a:ea typeface="+mj-ea"/>
              </a:rPr>
              <a:t>: </a:t>
            </a:r>
            <a:r>
              <a:rPr lang="ko-KR" altLang="en-US" dirty="0">
                <a:latin typeface="+mj-ea"/>
                <a:ea typeface="+mj-ea"/>
              </a:rPr>
              <a:t>모든 데이터를 직선 하나에 강제로 정렬시키는 투영 </a:t>
            </a:r>
            <a:r>
              <a:rPr lang="en-US" altLang="ko-KR" dirty="0">
                <a:latin typeface="+mj-ea"/>
                <a:ea typeface="+mj-ea"/>
              </a:rPr>
              <a:t>(Singular Matrix).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>
              <a:latin typeface="+mj-ea"/>
              <a:ea typeface="+mj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+mj-ea"/>
                <a:ea typeface="+mj-ea"/>
              </a:rPr>
              <a:t>두 번째 행렬</a:t>
            </a:r>
            <a:r>
              <a:rPr lang="en-US" altLang="ko-KR" dirty="0">
                <a:latin typeface="+mj-ea"/>
                <a:ea typeface="+mj-ea"/>
              </a:rPr>
              <a:t>: </a:t>
            </a:r>
            <a:r>
              <a:rPr lang="ko-KR" altLang="en-US" dirty="0">
                <a:latin typeface="+mj-ea"/>
                <a:ea typeface="+mj-ea"/>
              </a:rPr>
              <a:t>데이터를 새로운 좌표축으로 재배치하되 평면을 유지하는 투영 </a:t>
            </a:r>
            <a:r>
              <a:rPr lang="en-US" altLang="ko-KR" dirty="0">
                <a:latin typeface="+mj-ea"/>
                <a:ea typeface="+mj-ea"/>
              </a:rPr>
              <a:t>(Non-singular Matrix).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>
              <a:latin typeface="+mj-ea"/>
              <a:ea typeface="+mj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+mj-ea"/>
                <a:ea typeface="+mj-ea"/>
              </a:rPr>
              <a:t>이 투영 개념은 데이터 분석에서 중요한 주성분 분석</a:t>
            </a:r>
            <a:r>
              <a:rPr lang="en-US" altLang="ko-KR" dirty="0">
                <a:latin typeface="+mj-ea"/>
                <a:ea typeface="+mj-ea"/>
              </a:rPr>
              <a:t>(PCA)</a:t>
            </a:r>
            <a:r>
              <a:rPr lang="ko-KR" altLang="en-US" dirty="0">
                <a:latin typeface="+mj-ea"/>
                <a:ea typeface="+mj-ea"/>
              </a:rPr>
              <a:t>의 기초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ko-KR" altLang="en-US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111412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83F07D-BFD3-3D69-893B-986373095F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Kernel Transformation</a:t>
            </a:r>
            <a:endParaRPr lang="ko-KR" altLang="en-US" dirty="0"/>
          </a:p>
        </p:txBody>
      </p:sp>
      <p:pic>
        <p:nvPicPr>
          <p:cNvPr id="12" name="내용 개체 틀 11">
            <a:extLst>
              <a:ext uri="{FF2B5EF4-FFF2-40B4-BE49-F238E27FC236}">
                <a16:creationId xmlns:a16="http://schemas.microsoft.com/office/drawing/2014/main" id="{5E212C3C-7C78-67D1-9717-691256295328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 bwMode="auto">
          <a:xfrm>
            <a:off x="913774" y="1957388"/>
            <a:ext cx="8418804" cy="4595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843765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B3DBC6-35B0-DF34-8BB2-2CFA82E8E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행렬과 내적은 선형변환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F67A665-D8BD-3BDD-A95C-EA8AF2CDD90C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3775" y="2014539"/>
            <a:ext cx="5182225" cy="3322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39EFB63E-667B-21BC-A172-32BE45A435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2374" y="2014539"/>
            <a:ext cx="5390677" cy="33226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20D1C23-1819-2AC4-B5F5-C6A7D08A2267}"/>
              </a:ext>
            </a:extLst>
          </p:cNvPr>
          <p:cNvSpPr txBox="1"/>
          <p:nvPr/>
        </p:nvSpPr>
        <p:spPr>
          <a:xfrm>
            <a:off x="838200" y="5734658"/>
            <a:ext cx="33441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 err="1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자료원</a:t>
            </a:r>
            <a:r>
              <a:rPr lang="ko-KR" altLang="en-US" sz="1400" b="1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400" b="1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 </a:t>
            </a:r>
            <a:r>
              <a:rPr lang="ko-KR" altLang="en-US" sz="1400" b="1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행렬의 기하학적인 의미와 해석</a:t>
            </a:r>
            <a:endParaRPr lang="ko-KR" altLang="en-US" sz="1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35531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54DAF-730F-8F6D-B29D-5CFC43465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F56195-CEFF-90F0-4BC3-62D731328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선형변환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CD8618D8-99C8-D36D-5F8C-CB7C2F2D61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8150" y="3120178"/>
            <a:ext cx="4373450" cy="2747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4152EB7C-8477-F13E-0008-2A651FA1B0C6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7048" y="2522484"/>
            <a:ext cx="5056802" cy="34242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D45B059-9139-C396-875E-8B274944A6E1}"/>
              </a:ext>
            </a:extLst>
          </p:cNvPr>
          <p:cNvSpPr txBox="1"/>
          <p:nvPr/>
        </p:nvSpPr>
        <p:spPr>
          <a:xfrm>
            <a:off x="504825" y="2244389"/>
            <a:ext cx="42481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solidFill>
                  <a:srgbClr val="000000"/>
                </a:solidFill>
                <a:effectLst/>
                <a:latin typeface="Nanum Gothic"/>
              </a:rPr>
              <a:t>Gaussian Random Noise Data</a:t>
            </a:r>
            <a:r>
              <a:rPr lang="ko-KR" altLang="en-US" b="0" i="0" dirty="0">
                <a:solidFill>
                  <a:srgbClr val="000000"/>
                </a:solidFill>
                <a:effectLst/>
                <a:latin typeface="Nanum Gothic"/>
              </a:rPr>
              <a:t>를 생성하고 행렬 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Nanum Gothic"/>
              </a:rPr>
              <a:t>A</a:t>
            </a:r>
            <a:r>
              <a:rPr lang="ko-KR" altLang="en-US" b="0" i="0" dirty="0">
                <a:solidFill>
                  <a:srgbClr val="000000"/>
                </a:solidFill>
                <a:effectLst/>
                <a:latin typeface="Nanum Gothic"/>
              </a:rPr>
              <a:t>로 </a:t>
            </a:r>
            <a:r>
              <a:rPr lang="ko-KR" altLang="en-US" b="0" i="0" dirty="0" err="1">
                <a:solidFill>
                  <a:srgbClr val="000000"/>
                </a:solidFill>
                <a:effectLst/>
                <a:latin typeface="Nanum Gothic"/>
              </a:rPr>
              <a:t>선형변환하면</a:t>
            </a:r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74FDDE7-53BE-B872-B47F-2FA837D882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1503" y="3143249"/>
            <a:ext cx="2345545" cy="150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6213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BE0C7-8609-6D65-19A9-8E7645A55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40955959-D6AE-86A3-75EF-BA7993E3B175}"/>
              </a:ext>
            </a:extLst>
          </p:cNvPr>
          <p:cNvSpPr/>
          <p:nvPr/>
        </p:nvSpPr>
        <p:spPr>
          <a:xfrm>
            <a:off x="636521" y="1646709"/>
            <a:ext cx="8136904" cy="48832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25F22C6-1AF1-442F-1ED8-59ADC941BCAB}"/>
              </a:ext>
            </a:extLst>
          </p:cNvPr>
          <p:cNvSpPr txBox="1"/>
          <p:nvPr/>
        </p:nvSpPr>
        <p:spPr>
          <a:xfrm>
            <a:off x="1629916" y="147612"/>
            <a:ext cx="8928992" cy="33066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en-US" altLang="ko-KR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Numpy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선형변환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Transformation)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주성분 분석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(Principal Component Analysis)</a:t>
            </a:r>
          </a:p>
        </p:txBody>
      </p:sp>
    </p:spTree>
    <p:extLst>
      <p:ext uri="{BB962C8B-B14F-4D97-AF65-F5344CB8AC3E}">
        <p14:creationId xmlns:p14="http://schemas.microsoft.com/office/powerpoint/2010/main" val="31254290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1B0106-250C-EDA4-CFBA-23A14D248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E97C0B-D82D-3948-18EA-EA57EC29E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주성분</a:t>
            </a:r>
            <a:r>
              <a:rPr lang="en-US" altLang="ko-KR" dirty="0"/>
              <a:t>(Principal component)</a:t>
            </a:r>
            <a:endParaRPr lang="ko-KR" altLang="en-US" dirty="0"/>
          </a:p>
        </p:txBody>
      </p:sp>
      <p:pic>
        <p:nvPicPr>
          <p:cNvPr id="4102" name="Picture 6">
            <a:extLst>
              <a:ext uri="{FF2B5EF4-FFF2-40B4-BE49-F238E27FC236}">
                <a16:creationId xmlns:a16="http://schemas.microsoft.com/office/drawing/2014/main" id="{EC556570-9556-C9E9-F483-2FA62BEA55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6763" y="1647825"/>
            <a:ext cx="6257925" cy="4171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523895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D4C6D7-90E2-02DD-095D-F5CFC88C5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행렬변환에 의한 기저좌표의 변화</a:t>
            </a:r>
          </a:p>
        </p:txBody>
      </p:sp>
      <p:pic>
        <p:nvPicPr>
          <p:cNvPr id="3078" name="Picture 6">
            <a:extLst>
              <a:ext uri="{FF2B5EF4-FFF2-40B4-BE49-F238E27FC236}">
                <a16:creationId xmlns:a16="http://schemas.microsoft.com/office/drawing/2014/main" id="{8661F9D4-6959-ECD9-DFE2-38BAFFAD0C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476" y="2214694"/>
            <a:ext cx="5581650" cy="3562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>
            <a:extLst>
              <a:ext uri="{FF2B5EF4-FFF2-40B4-BE49-F238E27FC236}">
                <a16:creationId xmlns:a16="http://schemas.microsoft.com/office/drawing/2014/main" id="{537BC7C1-934D-9636-2C4B-CD031F9EC6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5848" y="1776923"/>
            <a:ext cx="5581651" cy="4000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8511062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6D487E-2A47-66D1-E5D6-203622E2B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주성분분석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9F8F0A64-97F6-9176-29ED-C3A737B3980D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0582" y="2366963"/>
            <a:ext cx="6869311" cy="42529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473990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95A05-AD8A-4312-2266-14EB3FF74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9996B7-68D5-154D-EEB6-A81286B77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>
                <a:hlinkClick r:id="rId2"/>
              </a:rPr>
              <a:t>Eigenvalues_and_eigenvectors</a:t>
            </a:r>
            <a:endParaRPr lang="ko-KR" alt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1EC2804F-41A4-5101-2BDC-FC966F15EAEB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524" y="2214694"/>
            <a:ext cx="5774697" cy="4024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1656C6E6-6881-C1B3-F43B-81E4D1656F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10424" y="1978912"/>
            <a:ext cx="4210051" cy="42605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6602098"/>
      </p:ext>
    </p:extLst>
  </p:cSld>
  <p:clrMapOvr>
    <a:masterClrMapping/>
  </p:clrMapOvr>
</p:sld>
</file>

<file path=ppt/theme/theme1.xml><?xml version="1.0" encoding="utf-8"?>
<a:theme xmlns:a="http://schemas.openxmlformats.org/drawingml/2006/main" name="물방울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{1CC570B9-0437-4096-963A-AEC0F46B8FA6}TF62d0d592-7ac2-4846-a919-75806e8bead4bfbc838d-5dafd7656617</Template>
  <TotalTime>1616</TotalTime>
  <Words>951</Words>
  <Application>Microsoft Office PowerPoint</Application>
  <PresentationFormat>와이드스크린</PresentationFormat>
  <Paragraphs>136</Paragraphs>
  <Slides>28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28</vt:i4>
      </vt:variant>
    </vt:vector>
  </HeadingPairs>
  <TitlesOfParts>
    <vt:vector size="37" baseType="lpstr">
      <vt:lpstr>Nanum Gothic</vt:lpstr>
      <vt:lpstr>맑은 고딕</vt:lpstr>
      <vt:lpstr>한컴 말랑말랑 Bold</vt:lpstr>
      <vt:lpstr>Arial</vt:lpstr>
      <vt:lpstr>Calibri Light</vt:lpstr>
      <vt:lpstr>Cambria Math</vt:lpstr>
      <vt:lpstr>Tw Cen MT</vt:lpstr>
      <vt:lpstr>Wingdings</vt:lpstr>
      <vt:lpstr>물방울</vt:lpstr>
      <vt:lpstr>행렬과 벡터</vt:lpstr>
      <vt:lpstr>PowerPoint 프레젠테이션</vt:lpstr>
      <vt:lpstr>대수(algebra)</vt:lpstr>
      <vt:lpstr>선형대수(linear algebra)</vt:lpstr>
      <vt:lpstr>선형대수(linear algebra)</vt:lpstr>
      <vt:lpstr>선형대수(linear algebra)</vt:lpstr>
      <vt:lpstr>PowerPoint 프레젠테이션</vt:lpstr>
      <vt:lpstr>Numpy 배우기</vt:lpstr>
      <vt:lpstr>PowerPoint 프레젠테이션</vt:lpstr>
      <vt:lpstr>배우기 시작</vt:lpstr>
      <vt:lpstr>1차원 직선에서의 선형변환에 대해 생각하기</vt:lpstr>
      <vt:lpstr>1차원 직선에서의 선형변환에 대해 생각하기</vt:lpstr>
      <vt:lpstr>2차원 평면에서의 선형변환에 대해 생각하기</vt:lpstr>
      <vt:lpstr>과제</vt:lpstr>
      <vt:lpstr>PowerPoint 프레젠테이션</vt:lpstr>
      <vt:lpstr>PowerPoint 프레젠테이션</vt:lpstr>
      <vt:lpstr>선형변환</vt:lpstr>
      <vt:lpstr>기하학적 이해</vt:lpstr>
      <vt:lpstr>기하와 선형대수적 이해</vt:lpstr>
      <vt:lpstr>투영</vt:lpstr>
      <vt:lpstr>Kernel Transformation</vt:lpstr>
      <vt:lpstr>행렬과 내적은 선형변환</vt:lpstr>
      <vt:lpstr>선형변환</vt:lpstr>
      <vt:lpstr>PowerPoint 프레젠테이션</vt:lpstr>
      <vt:lpstr>주성분(Principal component)</vt:lpstr>
      <vt:lpstr>행렬변환에 의한 기저좌표의 변화</vt:lpstr>
      <vt:lpstr>주성분분석</vt:lpstr>
      <vt:lpstr>Eigenvalues_and_eigenvectors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Sanggoo Cho</cp:lastModifiedBy>
  <cp:revision>15</cp:revision>
  <dcterms:created xsi:type="dcterms:W3CDTF">2026-03-09T22:59:08Z</dcterms:created>
  <dcterms:modified xsi:type="dcterms:W3CDTF">2026-03-22T03:29:46Z</dcterms:modified>
</cp:coreProperties>
</file>