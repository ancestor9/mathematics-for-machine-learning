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256" r:id="rId2"/>
    <p:sldId id="1094" r:id="rId3"/>
    <p:sldId id="978" r:id="rId4"/>
    <p:sldId id="973" r:id="rId5"/>
    <p:sldId id="977" r:id="rId6"/>
    <p:sldId id="986" r:id="rId7"/>
    <p:sldId id="976" r:id="rId8"/>
    <p:sldId id="1095" r:id="rId9"/>
    <p:sldId id="886" r:id="rId10"/>
    <p:sldId id="1096" r:id="rId11"/>
    <p:sldId id="987" r:id="rId12"/>
    <p:sldId id="1097" r:id="rId13"/>
    <p:sldId id="949" r:id="rId14"/>
    <p:sldId id="991" r:id="rId15"/>
    <p:sldId id="990" r:id="rId16"/>
    <p:sldId id="992" r:id="rId17"/>
    <p:sldId id="982" r:id="rId18"/>
    <p:sldId id="983" r:id="rId19"/>
    <p:sldId id="968" r:id="rId20"/>
    <p:sldId id="994" r:id="rId21"/>
    <p:sldId id="908" r:id="rId22"/>
    <p:sldId id="885" r:id="rId23"/>
    <p:sldId id="1098" r:id="rId24"/>
    <p:sldId id="1103" r:id="rId25"/>
    <p:sldId id="1104" r:id="rId26"/>
    <p:sldId id="1102" r:id="rId27"/>
    <p:sldId id="1105" r:id="rId28"/>
    <p:sldId id="1106" r:id="rId29"/>
    <p:sldId id="1109" r:id="rId30"/>
    <p:sldId id="1110" r:id="rId31"/>
    <p:sldId id="1111" r:id="rId32"/>
    <p:sldId id="1099" r:id="rId33"/>
    <p:sldId id="1100" r:id="rId34"/>
    <p:sldId id="1107" r:id="rId3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973"/>
            <p14:sldId id="977"/>
            <p14:sldId id="986"/>
            <p14:sldId id="976"/>
            <p14:sldId id="1095"/>
            <p14:sldId id="886"/>
            <p14:sldId id="1096"/>
            <p14:sldId id="987"/>
            <p14:sldId id="1097"/>
            <p14:sldId id="949"/>
            <p14:sldId id="991"/>
            <p14:sldId id="990"/>
            <p14:sldId id="992"/>
            <p14:sldId id="982"/>
            <p14:sldId id="983"/>
            <p14:sldId id="968"/>
            <p14:sldId id="994"/>
            <p14:sldId id="908"/>
            <p14:sldId id="885"/>
            <p14:sldId id="1098"/>
            <p14:sldId id="1103"/>
            <p14:sldId id="1104"/>
            <p14:sldId id="1102"/>
            <p14:sldId id="1105"/>
            <p14:sldId id="1106"/>
            <p14:sldId id="1109"/>
            <p14:sldId id="1110"/>
            <p14:sldId id="1111"/>
            <p14:sldId id="1099"/>
            <p14:sldId id="1100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24726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43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29D-F7EF-775A-D816-AE9617A1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58B616-1D0A-FB3E-7C52-B5F4EFB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57553C-237D-A8F1-27F9-A0B62652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15FD8C-8A74-BF6F-9677-79D139288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559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DD6E-5C48-E546-8182-8ED28524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351A6-C2EF-C308-4238-244C4AE9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6FAD1-346E-BA96-CFA1-591BDCFA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4DBFDC-E055-2E91-80DA-ECA4680BE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287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ECD1-C81E-2409-5D43-C21FA1E7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7CC44-0EB4-AF44-849C-6815239C7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BCA7EC-A1C8-D166-3DB9-25E34672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226F-B8ED-7A65-5C83-C6559218E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03211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57DF-CFA3-8088-54F3-A8C644699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798C66-2AD1-5589-11DF-3DB07A97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59A7-7455-B150-8057-00FEBC6D8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17F92C-9FE1-E25E-1B6E-862D8B22A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70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layered_bivariate_plot.html" TargetMode="External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hyperlink" Target="https://seaborn.pydata.org/examples/smooth_bivariate_kde.html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hyperlink" Target="https://seaborn.pydata.org/examples/index.html" TargetMode="External"/><Relationship Id="rId7" Type="http://schemas.openxmlformats.org/officeDocument/2006/relationships/image" Target="../media/image4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pycaret.gitbook.io/docs/get-started/tutorials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scikit-learn.org/1.3/tutorial/machine_learning_map/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github.com/ancestor9/mathematics-for-machine-learning/tree/main/pytorch_recap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743196" y="1749284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25490" y="1749285"/>
            <a:ext cx="6023314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41338" y="435670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5704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DE0-A8EA-7EAB-D10D-8C5B8A34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720DEFA-28CC-4E54-5D87-BAE89CA4ED59}"/>
              </a:ext>
            </a:extLst>
          </p:cNvPr>
          <p:cNvSpPr/>
          <p:nvPr/>
        </p:nvSpPr>
        <p:spPr>
          <a:xfrm>
            <a:off x="1457324" y="24193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B2CA1AF-9B69-DAD0-7430-9C4F0911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5AC02A4-31CC-DFC9-6F69-0BF7E96CC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572B5-CD8B-8F46-E79A-CD383593F415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79637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59ED-1060-A67A-DAEB-3F5B3314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AF4B5D8-EC0B-B2ED-7C9B-39CB1F92D4D8}"/>
              </a:ext>
            </a:extLst>
          </p:cNvPr>
          <p:cNvSpPr/>
          <p:nvPr/>
        </p:nvSpPr>
        <p:spPr>
          <a:xfrm>
            <a:off x="1457324" y="326707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289FAA1-417B-AE3C-CB55-3B6DC10C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58EDC94-00CA-97BB-8517-056221563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41886A-E0DA-C986-7052-21994A5B29A9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99556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6A65-107A-2743-38F4-25C7B066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E4EAD4F-53D1-F7DD-6F97-1B7D4DBE73D7}"/>
              </a:ext>
            </a:extLst>
          </p:cNvPr>
          <p:cNvSpPr/>
          <p:nvPr/>
        </p:nvSpPr>
        <p:spPr>
          <a:xfrm>
            <a:off x="1457324" y="41338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D9F39A20-723D-0537-49D5-C5051C71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0EEE07A-5019-7A68-003B-0A0DCD9A4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27AAF-BEC4-FD4A-F12A-B0BBDF7DBD14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35072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EDE5-8E79-C7E1-CB52-C779EC7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2B6E5E-FC4D-D5FE-628B-07E336326CE4}"/>
              </a:ext>
            </a:extLst>
          </p:cNvPr>
          <p:cNvSpPr/>
          <p:nvPr/>
        </p:nvSpPr>
        <p:spPr>
          <a:xfrm>
            <a:off x="1457324" y="500062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E4B32F8-963A-3AC5-FA53-ED66A8664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9A11CE-F982-0EDD-57F8-EC1AB3EE5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D21109-AED5-930C-1DED-70583AFD1626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18363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8F64-AE03-83A8-9AC3-946E3E41F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D7258-89E0-FD16-303B-902B6CD77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C55FA6B-189E-28C7-6A8E-2B437D18053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1A83C34-C151-41C1-64A0-BD7003F0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320833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41F368-1CB4-5087-3A3D-F11BAC41B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D54FBD-2A11-10A5-4EBC-9030EC7BE9A3}"/>
              </a:ext>
            </a:extLst>
          </p:cNvPr>
          <p:cNvSpPr txBox="1">
            <a:spLocks/>
          </p:cNvSpPr>
          <p:nvPr/>
        </p:nvSpPr>
        <p:spPr>
          <a:xfrm>
            <a:off x="742864" y="5480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25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E6398-4BFE-4A9F-6038-C76E929E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91611-FEB0-08B6-3ADF-3D53D7E7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EC02710-FAFA-CB41-8FD4-D3B20F515B4A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CDD2D56-AB63-1CFC-3EA8-CE4D97724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235108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D668D96A-CE83-ADD0-F5DF-0380F6FCB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426019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27B050C9-3918-0FC9-3DA7-760BE91EE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426020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74DDD5-5E98-0D28-C1F6-B7C002ADC1E5}"/>
              </a:ext>
            </a:extLst>
          </p:cNvPr>
          <p:cNvSpPr txBox="1"/>
          <p:nvPr/>
        </p:nvSpPr>
        <p:spPr>
          <a:xfrm>
            <a:off x="807720" y="5723600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3259D-9128-168B-95E1-4BB0CB2983A5}"/>
              </a:ext>
            </a:extLst>
          </p:cNvPr>
          <p:cNvSpPr txBox="1"/>
          <p:nvPr/>
        </p:nvSpPr>
        <p:spPr>
          <a:xfrm>
            <a:off x="6267449" y="5723600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5764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DA77C-2E29-FAAD-6486-73DAE99C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4139A7-D2A7-F7DF-AB8B-CE5F968B0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8ABDE38-5B87-6B5E-FD84-F755B556407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Dimensionality Reduction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74B5D32-C566-AE78-5EFB-3C09EEC6D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A22C6A-8BD3-339D-5312-E8D46C32AE62}"/>
              </a:ext>
            </a:extLst>
          </p:cNvPr>
          <p:cNvSpPr txBox="1"/>
          <p:nvPr/>
        </p:nvSpPr>
        <p:spPr>
          <a:xfrm>
            <a:off x="607241" y="1280160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4118A0-E283-62A0-E943-7CF479C2CDA9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C4EBE39-9381-68D1-F7D5-9ABA89C7B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68C3BF4C-3BEC-CCAD-51AA-B04850C91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83AD08F-9A65-B9E5-D2AA-91888529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39360056-C6B7-C3C4-513B-DC03845926C0}"/>
              </a:ext>
            </a:extLst>
          </p:cNvPr>
          <p:cNvSpPr txBox="1"/>
          <p:nvPr/>
        </p:nvSpPr>
        <p:spPr>
          <a:xfrm>
            <a:off x="755904" y="2838153"/>
            <a:ext cx="5297424" cy="286232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torchvision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datasets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불러오는 즉시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datasets.MNIST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(root='./data', train=True, download=True).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data.float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불필요한 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확인용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dim=0)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값의 범위를 확인하기 위해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("Standard Deviation of MNIST Pixels")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337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1584A-354B-8854-9D84-8A4AED2B3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6891ED-6830-2365-D8C2-4853C34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1C5D85-E399-D2CC-578A-E107FBDAB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41BEBCA-45F9-C50A-C781-59824B65491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EA879B-8433-5CB0-3060-2ED57156B079}"/>
              </a:ext>
            </a:extLst>
          </p:cNvPr>
          <p:cNvSpPr/>
          <p:nvPr/>
        </p:nvSpPr>
        <p:spPr>
          <a:xfrm>
            <a:off x="3538537" y="2428875"/>
            <a:ext cx="3667125" cy="3667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A0C315-4B8C-5501-2CDD-6A01DBFAAA85}"/>
              </a:ext>
            </a:extLst>
          </p:cNvPr>
          <p:cNvSpPr/>
          <p:nvPr/>
        </p:nvSpPr>
        <p:spPr>
          <a:xfrm>
            <a:off x="3612832" y="2494915"/>
            <a:ext cx="3529014" cy="35290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DABCC-D68A-D788-C4E3-121032F9B346}"/>
              </a:ext>
            </a:extLst>
          </p:cNvPr>
          <p:cNvSpPr txBox="1"/>
          <p:nvPr/>
        </p:nvSpPr>
        <p:spPr>
          <a:xfrm>
            <a:off x="590464" y="1300008"/>
            <a:ext cx="1053691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가로 세로 길이가 각각 </a:t>
            </a:r>
            <a:r>
              <a:rPr lang="en-US" altLang="ko-KR" dirty="0"/>
              <a:t>1</a:t>
            </a:r>
            <a:r>
              <a:rPr lang="ko-KR" altLang="en-US" dirty="0"/>
              <a:t>인 정사각형의 </a:t>
            </a:r>
            <a:r>
              <a:rPr lang="ko-KR" altLang="en-US" dirty="0" err="1"/>
              <a:t>태두리</a:t>
            </a:r>
            <a:r>
              <a:rPr lang="en-US" altLang="ko-KR" dirty="0"/>
              <a:t>(</a:t>
            </a:r>
            <a:r>
              <a:rPr lang="ko-KR" altLang="en-US" dirty="0"/>
              <a:t>빨강색</a:t>
            </a:r>
            <a:r>
              <a:rPr lang="en-US" altLang="ko-KR" dirty="0"/>
              <a:t>)</a:t>
            </a:r>
            <a:r>
              <a:rPr lang="ko-KR" altLang="en-US" dirty="0"/>
              <a:t>에 임의의 데이터가 있을 확률을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  <a:r>
              <a:rPr lang="en-US" altLang="ko-KR" dirty="0"/>
              <a:t>, 3</a:t>
            </a:r>
            <a:r>
              <a:rPr lang="ko-KR" altLang="en-US" dirty="0"/>
              <a:t>차원</a:t>
            </a:r>
            <a:r>
              <a:rPr lang="en-US" altLang="ko-KR" dirty="0"/>
              <a:t>, 4</a:t>
            </a:r>
            <a:r>
              <a:rPr lang="ko-KR" altLang="en-US" dirty="0"/>
              <a:t>차원</a:t>
            </a:r>
            <a:r>
              <a:rPr lang="en-US" altLang="ko-KR" dirty="0"/>
              <a:t>, 100</a:t>
            </a:r>
            <a:r>
              <a:rPr lang="ko-KR" altLang="en-US" dirty="0"/>
              <a:t>차원까지 확장하여 계산하라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1D319AD3-7C6F-5D74-D64E-BE0662F2AD89}"/>
              </a:ext>
            </a:extLst>
          </p:cNvPr>
          <p:cNvSpPr/>
          <p:nvPr/>
        </p:nvSpPr>
        <p:spPr>
          <a:xfrm>
            <a:off x="7324724" y="2420619"/>
            <a:ext cx="314325" cy="36671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C1B7EBF-A4EB-27EC-021B-B5EA3DF6E392}"/>
              </a:ext>
            </a:extLst>
          </p:cNvPr>
          <p:cNvSpPr/>
          <p:nvPr/>
        </p:nvSpPr>
        <p:spPr>
          <a:xfrm rot="10800000">
            <a:off x="3104196" y="2502534"/>
            <a:ext cx="314325" cy="34639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/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/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/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b="1" i="1" smtClean="0"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8340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9472-2894-5A71-FE73-7C8A5AD8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0B956-C993-C992-80CE-F028A3B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E7A49C6-7D72-B92A-C29E-AF96EFBA289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6" name="Picture 2" descr="The curse(s) of dimensionality | Nature Methods">
            <a:extLst>
              <a:ext uri="{FF2B5EF4-FFF2-40B4-BE49-F238E27FC236}">
                <a16:creationId xmlns:a16="http://schemas.microsoft.com/office/drawing/2014/main" id="{A85A9F98-EF66-2088-4ABF-79F701CB6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047" y="1601006"/>
            <a:ext cx="4666706" cy="4523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0E4EFE-8F57-C87C-CFC9-D9C7BB5DD793}"/>
              </a:ext>
            </a:extLst>
          </p:cNvPr>
          <p:cNvSpPr txBox="1"/>
          <p:nvPr/>
        </p:nvSpPr>
        <p:spPr>
          <a:xfrm>
            <a:off x="5767345" y="2631380"/>
            <a:ext cx="6089375" cy="3493264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seaborn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scipy.stats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분포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mean = [0, 0]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[[1, 0], [0, 1]]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독립 변수 가정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원형 분포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N = 10_000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multivariate_normal.rvs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(mean=mean,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size=N).T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Draw a combo histogram and scatterplot with density contours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f, ax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plt.subplots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=(6, 6))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sns.scatterplot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s=5, color=".15")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sns.histplot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bins=50,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pthresh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=.1,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="mako")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sns.kdeplot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levels=5, color="w", linewidths=1)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3BD2A-0BC9-6490-4E92-669DF121DD6C}"/>
              </a:ext>
            </a:extLst>
          </p:cNvPr>
          <p:cNvSpPr txBox="1"/>
          <p:nvPr/>
        </p:nvSpPr>
        <p:spPr>
          <a:xfrm>
            <a:off x="5623753" y="224262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layered_bivariate_plot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1648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60F6-B3C5-0C46-4C7A-2D2B293E4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D09807-D0F2-214E-7585-7DDA567FD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B899600-7233-CA9D-5EAD-8C04116B3B1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gaussian mixture model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E5CA069-05A3-B6DC-F65D-8E9DC566C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384DCA8-F9C0-24B4-91FD-BB3E53088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4" y="2654753"/>
            <a:ext cx="2580698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F274F54-3845-5E49-5105-70830BD29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968" y="2654751"/>
            <a:ext cx="2674837" cy="275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48DC78F-7FF1-78D4-7A0B-4F2D84999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9511" y="2654752"/>
            <a:ext cx="2627226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FBC82-4C26-34AD-7EC1-939B1DDB48AF}"/>
              </a:ext>
            </a:extLst>
          </p:cNvPr>
          <p:cNvSpPr txBox="1"/>
          <p:nvPr/>
        </p:nvSpPr>
        <p:spPr>
          <a:xfrm>
            <a:off x="590464" y="1505595"/>
            <a:ext cx="9382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정규분포가 데이터 분포에 혼재되어 숨어있는 그래프를 시각화 해보자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27E3A01-DE2D-B33A-9D6E-C090DACA0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8444" y="2654752"/>
            <a:ext cx="2733889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9BF775-3F2E-E3D0-972F-C2B8496A918A}"/>
              </a:ext>
            </a:extLst>
          </p:cNvPr>
          <p:cNvSpPr txBox="1"/>
          <p:nvPr/>
        </p:nvSpPr>
        <p:spPr>
          <a:xfrm>
            <a:off x="9118443" y="231902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smooth_bivariate_kde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99947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28F73-8351-9819-936D-C508CD88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C5DE67-5850-1A78-5257-6E19CBED3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F8D1AAC-C3F3-2B3F-A445-27EB0C66B96D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model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with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gmm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1717E0-CA4F-B99F-EE83-6C4AC3935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26FAE2-39FF-4AD5-A5B9-DAC81820C559}"/>
              </a:ext>
            </a:extLst>
          </p:cNvPr>
          <p:cNvSpPr txBox="1"/>
          <p:nvPr/>
        </p:nvSpPr>
        <p:spPr>
          <a:xfrm>
            <a:off x="590464" y="1363355"/>
            <a:ext cx="10102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데이터 분포에 혼재되어 숨어있는 그래프를 시각화 해보자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seaborn_Example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gallery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6CF5C09-8792-B894-742C-3BE7CF50C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464" y="1905408"/>
            <a:ext cx="232141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8F5053F3-BC5D-5EA8-017A-C8E25AF98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463" y="1905407"/>
            <a:ext cx="2341985" cy="23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CA71CFBE-6DD0-9414-962E-7A7E7F99B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029" y="1905408"/>
            <a:ext cx="2891197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A525403E-80ED-E3FF-91CA-88EA43BED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782" y="4316476"/>
            <a:ext cx="479719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74E2F4CC-39DF-A0E8-AC5B-43D9122C9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4227" y="4316476"/>
            <a:ext cx="2891197" cy="2457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14643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9E0B-E4A4-D935-84DD-515F7262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231800-C976-3F1B-F586-A674DE55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53146C9-B725-8BD3-8413-F20AE6FB1A00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>
                <a:latin typeface="ADLaM Display" panose="02010000000000000000" pitchFamily="2" charset="0"/>
                <a:cs typeface="ADLaM Display" panose="02010000000000000000" pitchFamily="2" charset="0"/>
              </a:rPr>
              <a:t>Summary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D7A436-B2E9-31A4-2E23-960D855B21A1}"/>
              </a:ext>
            </a:extLst>
          </p:cNvPr>
          <p:cNvSpPr txBox="1"/>
          <p:nvPr/>
        </p:nvSpPr>
        <p:spPr>
          <a:xfrm>
            <a:off x="812800" y="1818640"/>
            <a:ext cx="10952479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선형대수는 데이터를 담는 그릇과 연산 도구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분포는 그 데이터의 의미를 해석하고 예측의 확신을 더하는 논리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딥러닝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근육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확률은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지능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판단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사고는 인공지능은 단순한 암기기가 아닌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복잡한 세상의 패턴을 추론하는 도구로 이해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기반이 탄탄할수록 최신 논문이나 알고리즘을 자신의 것으로 만들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51753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02277-2BB8-EA3C-F407-80C30E4F6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57CB7-A267-5A3A-7301-53DD95FE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2B334D-CE53-B4DA-BA04-544B0A37712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ML/DL applicable to Industry Domains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2C30D-4320-84BB-FAE7-5A7BC18952AA}"/>
              </a:ext>
            </a:extLst>
          </p:cNvPr>
          <p:cNvSpPr txBox="1"/>
          <p:nvPr/>
        </p:nvSpPr>
        <p:spPr>
          <a:xfrm>
            <a:off x="657225" y="1400175"/>
            <a:ext cx="616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pycaret_tutorials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Low Code for Machine Learning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7861E1-48D5-D84D-A3E4-1DB7620E1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236260"/>
              </p:ext>
            </p:extLst>
          </p:nvPr>
        </p:nvGraphicFramePr>
        <p:xfrm>
          <a:off x="1015479" y="2218731"/>
          <a:ext cx="10109721" cy="3048592"/>
        </p:xfrm>
        <a:graphic>
          <a:graphicData uri="http://schemas.openxmlformats.org/drawingml/2006/table">
            <a:tbl>
              <a:tblPr/>
              <a:tblGrid>
                <a:gridCol w="2032521">
                  <a:extLst>
                    <a:ext uri="{9D8B030D-6E8A-4147-A177-3AD203B41FA5}">
                      <a16:colId xmlns:a16="http://schemas.microsoft.com/office/drawing/2014/main" val="1558595867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40177755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601587682"/>
                    </a:ext>
                  </a:extLst>
                </a:gridCol>
              </a:tblGrid>
              <a:tr h="2913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분야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핵심 정의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대표 응용 사례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81036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Time Series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시간의 흐름에 따른 변화를 분석하여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주가 및 환율 예측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전력 수요량 추정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기상 관측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065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Binary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두 가지 그룹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(Yes/No)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스팸 메일 차단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질병 유무 진단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신용카드 승인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60830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Multiclass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세 가지 이상의 카테고리 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손글씨 숫자 인식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뉴스 카테고리 자동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377777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Regression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변수의 상관관계를 파악해 연속적인 수치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부동산 가격 산정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광고 대비 매출액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95849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Clustering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간의 유사성을 측정하여 정답 없이 그룹 생성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고객 시장 세분화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유사 문서 묶기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추천 시스템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48913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Anomaly Detection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패턴에서 벗어난 희귀하고 비정상적인 데이터 탐색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카드 부정 사용 탐지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(FDS),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설비 고장 사전 감지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306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592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F6100-61F3-6FE9-FD81-1440F4EE8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75C77-56DE-830E-71B3-0FE79523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944703F-86DE-5D53-E507-2E26089CF88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Choosing the right estimator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2B0306-A14D-0698-12C2-3411B701B5EA}"/>
              </a:ext>
            </a:extLst>
          </p:cNvPr>
          <p:cNvSpPr txBox="1"/>
          <p:nvPr/>
        </p:nvSpPr>
        <p:spPr>
          <a:xfrm>
            <a:off x="533400" y="1251887"/>
            <a:ext cx="3110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machine_learning_map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Move mouse over image">
            <a:extLst>
              <a:ext uri="{FF2B5EF4-FFF2-40B4-BE49-F238E27FC236}">
                <a16:creationId xmlns:a16="http://schemas.microsoft.com/office/drawing/2014/main" id="{EB0F8F73-752E-3F77-4D2D-087B18D99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854" y="1731661"/>
            <a:ext cx="7800346" cy="4863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405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AABF-8E34-14ED-2A54-48F149A9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25BA0-6347-AD14-4642-034E7A75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FEE2A5-6076-E25F-D547-0D8FBF0FCD2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Self</a:t>
            </a:r>
            <a:r>
              <a:rPr lang="ko-KR" altLang="en-US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study : 40 min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223098-E37F-061C-74F5-64BC667BB779}"/>
              </a:ext>
            </a:extLst>
          </p:cNvPr>
          <p:cNvSpPr txBox="1"/>
          <p:nvPr/>
        </p:nvSpPr>
        <p:spPr>
          <a:xfrm>
            <a:off x="590464" y="1524000"/>
            <a:ext cx="218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pytorch_recap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D8D6F7-8DC7-2BB5-3AF7-8AA8A4BE2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666" y="1412011"/>
            <a:ext cx="4923869" cy="4826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098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2596</TotalTime>
  <Words>3337</Words>
  <Application>Microsoft Office PowerPoint</Application>
  <PresentationFormat>와이드스크린</PresentationFormat>
  <Paragraphs>414</Paragraphs>
  <Slides>34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4" baseType="lpstr">
      <vt:lpstr>D2Coding</vt:lpstr>
      <vt:lpstr>맑은 고딕</vt:lpstr>
      <vt:lpstr>맑은 고딕 Semilight</vt:lpstr>
      <vt:lpstr>Batang</vt:lpstr>
      <vt:lpstr>ADLaM Display</vt:lpstr>
      <vt:lpstr>Arial</vt:lpstr>
      <vt:lpstr>Cambria Math</vt:lpstr>
      <vt:lpstr>Segoe UI Light</vt:lpstr>
      <vt:lpstr>Wingdings</vt:lpstr>
      <vt:lpstr>WelcomeDoc</vt:lpstr>
      <vt:lpstr>Deep Learning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86</cp:revision>
  <dcterms:created xsi:type="dcterms:W3CDTF">2026-04-06T01:00:39Z</dcterms:created>
  <dcterms:modified xsi:type="dcterms:W3CDTF">2026-05-06T21:01:09Z</dcterms:modified>
  <cp:version/>
</cp:coreProperties>
</file>