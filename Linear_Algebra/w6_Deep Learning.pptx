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1094" r:id="rId3"/>
    <p:sldId id="978" r:id="rId4"/>
    <p:sldId id="973" r:id="rId5"/>
    <p:sldId id="977" r:id="rId6"/>
    <p:sldId id="986" r:id="rId7"/>
    <p:sldId id="976" r:id="rId8"/>
    <p:sldId id="1095" r:id="rId9"/>
    <p:sldId id="886" r:id="rId10"/>
    <p:sldId id="1096" r:id="rId11"/>
    <p:sldId id="987" r:id="rId12"/>
    <p:sldId id="1097" r:id="rId13"/>
    <p:sldId id="949" r:id="rId14"/>
    <p:sldId id="991" r:id="rId15"/>
    <p:sldId id="990" r:id="rId16"/>
    <p:sldId id="992" r:id="rId17"/>
    <p:sldId id="982" r:id="rId18"/>
    <p:sldId id="983" r:id="rId19"/>
    <p:sldId id="968" r:id="rId20"/>
    <p:sldId id="994" r:id="rId21"/>
    <p:sldId id="908" r:id="rId22"/>
    <p:sldId id="885" r:id="rId23"/>
    <p:sldId id="1098" r:id="rId24"/>
    <p:sldId id="1103" r:id="rId25"/>
    <p:sldId id="1104" r:id="rId26"/>
    <p:sldId id="1102" r:id="rId27"/>
    <p:sldId id="1105" r:id="rId28"/>
    <p:sldId id="1106" r:id="rId29"/>
    <p:sldId id="1109" r:id="rId30"/>
    <p:sldId id="1110" r:id="rId31"/>
    <p:sldId id="1111" r:id="rId32"/>
    <p:sldId id="1099" r:id="rId33"/>
    <p:sldId id="1100" r:id="rId34"/>
    <p:sldId id="1107" r:id="rId3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978"/>
            <p14:sldId id="973"/>
            <p14:sldId id="977"/>
            <p14:sldId id="986"/>
            <p14:sldId id="976"/>
            <p14:sldId id="1095"/>
            <p14:sldId id="886"/>
            <p14:sldId id="1096"/>
            <p14:sldId id="987"/>
            <p14:sldId id="1097"/>
            <p14:sldId id="949"/>
            <p14:sldId id="991"/>
            <p14:sldId id="990"/>
            <p14:sldId id="992"/>
            <p14:sldId id="982"/>
            <p14:sldId id="983"/>
            <p14:sldId id="968"/>
            <p14:sldId id="994"/>
            <p14:sldId id="908"/>
            <p14:sldId id="885"/>
            <p14:sldId id="1098"/>
            <p14:sldId id="1103"/>
            <p14:sldId id="1104"/>
            <p14:sldId id="1102"/>
            <p14:sldId id="1105"/>
            <p14:sldId id="1106"/>
            <p14:sldId id="1109"/>
            <p14:sldId id="1110"/>
            <p14:sldId id="1111"/>
            <p14:sldId id="1099"/>
            <p14:sldId id="1100"/>
            <p14:sldId id="1107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5256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2026-05-07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2026-05-07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029D-F7EF-775A-D816-AE9617A1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58B616-1D0A-FB3E-7C52-B5F4EFBC7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57553C-237D-A8F1-27F9-A0B62652A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15FD8C-8A74-BF6F-9677-79D139288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559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DD6E-5C48-E546-8182-8ED285247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E351A6-C2EF-C308-4238-244C4AE97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C6FAD1-346E-BA96-CFA1-591BDCFA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4DBFDC-E055-2E91-80DA-ECA4680BE8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287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ECD1-C81E-2409-5D43-C21FA1E7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C7CC44-0EB4-AF44-849C-6815239C7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BCA7EC-A1C8-D166-3DB9-25E346722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6C226F-B8ED-7A65-5C83-C6559218E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321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57DF-CFA3-8088-54F3-A8C64469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798C66-2AD1-5589-11DF-3DB07A97A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C59A7-7455-B150-8057-00FEBC6D8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17F92C-9FE1-E25E-1B6E-862D8B22A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7015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2026-05-07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2026-05-07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excel/stochasti%20gradient%20descent.xlsx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ancestor9/mathematics-for-machine-learning/blob/main/excel/loss_functions.xlsx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hub.com/ancestor9/mathematics-for-machine-learning/blob/main/pytorch/08_odds_ratio_logit_sigmoid.ipynb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excel/XOR_perceptron_optimization_backprpagation_sgd.xlsx" TargetMode="External"/><Relationship Id="rId4" Type="http://schemas.openxmlformats.org/officeDocument/2006/relationships/hyperlink" Target="https://www.youtube.com/watch?v=t3VBY9OisCo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youtube.com/watch?v=ILsA4nyG7I0" TargetMode="External"/><Relationship Id="rId5" Type="http://schemas.openxmlformats.org/officeDocument/2006/relationships/hyperlink" Target="https://github.com/ancestor9/mathematics-for-machine-learning/blob/main/scripts/w4_pytorch_tutorial.ipynb" TargetMode="Externa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eaborn.pydata.org/examples/layered_bivariate_plot.html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hyperlink" Target="https://seaborn.pydata.org/examples/smooth_bivariate_kde.html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hyperlink" Target="https://seaborn.pydata.org/examples/index.html" TargetMode="External"/><Relationship Id="rId7" Type="http://schemas.openxmlformats.org/officeDocument/2006/relationships/image" Target="../media/image4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pycaret.gitbook.io/docs/get-started/tutorials" TargetMode="Externa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scikit-learn.org/1.3/tutorial/machine_learning_map/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github.com/ancestor9/mathematics-for-machine-learning/tree/main/pytorch_recap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FB53F-5797-0BB2-9323-F166DE5B6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FB5B3E-2733-6F10-C433-7C314850C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56A9490-8D65-6528-22C1-98B7D508091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24E00A9-B7BD-84B1-C8C9-4379A44B7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96" y="2796363"/>
            <a:ext cx="4492179" cy="237472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39FB3-BDC3-5CE1-2660-D71F27A4A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695" y="2796363"/>
            <a:ext cx="4737003" cy="3063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0331E-189C-7790-90B5-D620BD0EBE3F}"/>
              </a:ext>
            </a:extLst>
          </p:cNvPr>
          <p:cNvSpPr txBox="1"/>
          <p:nvPr/>
        </p:nvSpPr>
        <p:spPr>
          <a:xfrm>
            <a:off x="2177634" y="5497523"/>
            <a:ext cx="3166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Forward,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747EDD-F717-2F86-B83C-CA5F3D943427}"/>
              </a:ext>
            </a:extLst>
          </p:cNvPr>
          <p:cNvSpPr txBox="1"/>
          <p:nvPr/>
        </p:nvSpPr>
        <p:spPr>
          <a:xfrm>
            <a:off x="561974" y="1265090"/>
            <a:ext cx="10835829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시험 문제를 풀고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네크워크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구조 설정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계산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채점을 해서 몇 점 틀렸는지 확인한 후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틀린 문제의 해설지를 보며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어떤 개념이 부족했는지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파악하여 </a:t>
            </a:r>
            <a:r>
              <a:rPr lang="en-US" altLang="ko-KR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Optimization: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부족했던 개념을 새로 공부해서 머릿속 지식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가중치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고쳐가는 과정을 수천 번 반복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하면 모델은 점점 정답에 가까워지게 학습</a:t>
            </a:r>
          </a:p>
        </p:txBody>
      </p:sp>
    </p:spTree>
    <p:extLst>
      <p:ext uri="{BB962C8B-B14F-4D97-AF65-F5344CB8AC3E}">
        <p14:creationId xmlns:p14="http://schemas.microsoft.com/office/powerpoint/2010/main" val="2153360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1F35-8C4C-4F00-48DE-2BB610110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ED8FB9-E995-C351-50A4-21CB273C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A792CE88-920B-B9FD-AFAF-2A44541C1D43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1AEA3D4-B2E7-81BF-4EC0-71283B16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1E0A323-CDF3-5091-9096-CEF8B5996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6" y="3073075"/>
            <a:ext cx="4492179" cy="23747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90370B-53E0-61CC-7F18-218A76E249D3}"/>
              </a:ext>
            </a:extLst>
          </p:cNvPr>
          <p:cNvSpPr txBox="1"/>
          <p:nvPr/>
        </p:nvSpPr>
        <p:spPr>
          <a:xfrm>
            <a:off x="537021" y="1245750"/>
            <a:ext cx="10902504" cy="15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Forward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Pass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순전파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수학적 연산이 수행되는 순방향 과정을 나타내며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연산의 구성은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숫자 2가 '더하기(+)' 노드로 들어가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결과값(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)은 이 노드를 거쳐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+ 2라는 결과가 도출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PyTorch에서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+ 2라고 쓰는 순간, 내부적으로는 이런 연산그래프 노드가 생성되며 이때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y는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단순한 숫자 값이 아니라, 어떤 연산을 통해 만들어졌는지에 대한 정보를 함께 가지게 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4B6B8-49C6-CCD9-83EC-AFA53128D93F}"/>
              </a:ext>
            </a:extLst>
          </p:cNvPr>
          <p:cNvSpPr txBox="1"/>
          <p:nvPr/>
        </p:nvSpPr>
        <p:spPr>
          <a:xfrm>
            <a:off x="5534025" y="3073075"/>
            <a:ext cx="6096000" cy="286232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입력값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(기울기를 계산하도록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설정)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(1.0,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순전파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초록색 화살표 과정</a:t>
            </a: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 연산 수행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+ 2</a:t>
            </a:r>
          </a:p>
          <a:p>
            <a:endParaRPr lang="ko-KR" altLang="en-US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f"Forward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결과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y.item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()}")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# 이미지의 '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AddBackward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' 확인</a:t>
            </a:r>
          </a:p>
          <a:p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f"연산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식별자 (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5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y.grad_fn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}") </a:t>
            </a:r>
          </a:p>
        </p:txBody>
      </p:sp>
    </p:spTree>
    <p:extLst>
      <p:ext uri="{BB962C8B-B14F-4D97-AF65-F5344CB8AC3E}">
        <p14:creationId xmlns:p14="http://schemas.microsoft.com/office/powerpoint/2010/main" val="355929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C2DF-39AA-EAFD-BC6B-0B41748E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92FEE9-46F5-EA57-68C2-427AFE42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1F5082A-5927-C6E1-DA4F-5F71251E9A7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4D307B3-1256-BA92-853B-52BFE54F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01D5DF3-B10F-E653-EEF7-4FEF83290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45" y="3175319"/>
            <a:ext cx="4737003" cy="306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5F44A6-312B-CF7E-D95F-868985B25DBA}"/>
              </a:ext>
            </a:extLst>
          </p:cNvPr>
          <p:cNvSpPr txBox="1"/>
          <p:nvPr/>
        </p:nvSpPr>
        <p:spPr>
          <a:xfrm>
            <a:off x="537021" y="1259068"/>
            <a:ext cx="11410028" cy="1611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Backward Pass(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 계수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계산하는 역방향 연산 결과로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grad_fn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속성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즉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연산으로 만들어졌기 때문에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에는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AddBackward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미분용 함수가 자동으로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태깅</a:t>
            </a:r>
            <a:endParaRPr lang="en-US" altLang="ko-KR" sz="17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나중에 </a:t>
            </a:r>
            <a:r>
              <a:rPr lang="ko-KR" altLang="en-US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역전파할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때 이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더하기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규칙에 맞춰 미분해라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메모지로 학습 시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7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y.backward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호출하면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화살표가 반대 방향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빨간색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흐르면서 미분을 하여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결과값 </a:t>
            </a: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미치는 영향력을 계산하여 뒤로 전달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DFD6F-F034-68FF-258C-3F04261064E7}"/>
              </a:ext>
            </a:extLst>
          </p:cNvPr>
          <p:cNvSpPr txBox="1"/>
          <p:nvPr/>
        </p:nvSpPr>
        <p:spPr>
          <a:xfrm>
            <a:off x="5713902" y="3175319"/>
            <a:ext cx="6096000" cy="18158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그림의 빨간색 화살표 과정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미분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(gradient)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계산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y.backward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4. 결과 확인 (기울기)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+ 2 이므로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1이 생성</a:t>
            </a: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기울기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x.grad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81953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F02DA-20F1-737B-D0B0-2E568ECD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2C83A0-3BE3-EEE2-FFEA-0272A1C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B8FDAC1-BF69-9FDB-D572-0A0F2FD47949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Autograd</a:t>
            </a:r>
            <a:r>
              <a:rPr lang="ko-KR" altLang="en-US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Backward Pass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6FAD018-9242-05E9-922B-D4A1BE8D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99F50-01FB-2B8F-FDD0-55673AF023E0}"/>
              </a:ext>
            </a:extLst>
          </p:cNvPr>
          <p:cNvSpPr txBox="1"/>
          <p:nvPr/>
        </p:nvSpPr>
        <p:spPr>
          <a:xfrm>
            <a:off x="743196" y="1749284"/>
            <a:ext cx="4644578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정의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속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 x,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2.0, 4.0, 3.0, 5.0])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([1.0, 3.0, 3.0, 2.0, 5.0])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파라미터 초기화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이미지 초기 설정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α=β=0)</a:t>
            </a:r>
          </a:p>
          <a:p>
            <a:pPr>
              <a:lnSpc>
                <a:spcPts val="1575"/>
              </a:lnSpc>
              <a:buNone/>
            </a:pP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절편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(alpha)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과 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(beta)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 설정하고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 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epochs = 4</a:t>
            </a:r>
          </a:p>
          <a:p>
            <a:pPr>
              <a:lnSpc>
                <a:spcPts val="1575"/>
              </a:lnSpc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alpha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초기 상태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beta =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():.4f}\n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학습 시작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(Recursive iterations)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iteration = 0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646A4-8B9E-6FA2-816C-B833DF47B5F4}"/>
              </a:ext>
            </a:extLst>
          </p:cNvPr>
          <p:cNvSpPr txBox="1"/>
          <p:nvPr/>
        </p:nvSpPr>
        <p:spPr>
          <a:xfrm>
            <a:off x="5425490" y="1749285"/>
            <a:ext cx="6023314" cy="439081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epoch in range(1, epochs + 1):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print(f"--- {epoch} epoch ---")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엑셀처럼 각 데이터 샘플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(instance)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마다 업데이트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(SGD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방식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x, y in zip(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l-GR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α + β *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alpha + beta * x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오차 계산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(error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 = (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 ** 2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/2  #(y_hat-y)^2/2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미분하면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-y)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됨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(Gradient)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기록을 건드리지 않기 위해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beta -=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200" b="1" dirty="0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200" b="1" dirty="0" err="1">
                <a:solidFill>
                  <a:srgbClr val="D2472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</a:t>
            </a:r>
            <a:endParaRPr lang="en-US" altLang="ko-KR" sz="1200" b="1" dirty="0">
              <a:solidFill>
                <a:srgbClr val="D24726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다음 반복을 위해 기울기 초기화</a:t>
            </a:r>
          </a:p>
          <a:p>
            <a:pPr>
              <a:lnSpc>
                <a:spcPts val="1575"/>
              </a:lnSpc>
              <a:buNone/>
            </a:pP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_();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beta.grad.zero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f"Iteration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{iteration}: alpha={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alpha.item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\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beta={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beta.item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():.4f}, error={(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y).item():.4f}")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iteration += 1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595D80-1965-E9EF-FD9B-071FD52325B3}"/>
              </a:ext>
            </a:extLst>
          </p:cNvPr>
          <p:cNvSpPr txBox="1"/>
          <p:nvPr/>
        </p:nvSpPr>
        <p:spPr>
          <a:xfrm>
            <a:off x="613223" y="1314829"/>
            <a:ext cx="3577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  <a:hlinkClick r:id="rId3"/>
              </a:rPr>
              <a:t>sgd.xlsx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예제를 </a:t>
            </a:r>
            <a:r>
              <a:rPr lang="en-US" altLang="ko-KR" dirty="0" err="1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</a:t>
            </a:r>
            <a:r>
              <a:rPr lang="ko-KR" altLang="en-US" dirty="0">
                <a:solidFill>
                  <a:schemeClr val="bg2">
                    <a:lumMod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12287B-57AD-1713-2D34-689C3872A1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1338" y="4356701"/>
            <a:ext cx="1702369" cy="6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5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2D0A-5D07-F026-511C-2A5BFC23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50F38-937E-F755-580F-AE17EBFC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C91F776-8B9B-98BC-8E11-9635E9A04D0A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pytorch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D69CF31-4A39-9AB8-FCC2-916BEE125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D5DA5-375F-BBD5-5460-D40A69A58F64}"/>
              </a:ext>
            </a:extLst>
          </p:cNvPr>
          <p:cNvSpPr txBox="1"/>
          <p:nvPr/>
        </p:nvSpPr>
        <p:spPr>
          <a:xfrm>
            <a:off x="638982" y="1346628"/>
            <a:ext cx="10628574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PyTorch의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backward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기능을 통해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a와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b를</a:t>
            </a:r>
            <a:r>
              <a:rPr lang="ko-KR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학습(최적화)하는 전체 코드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9CB94-5A27-0BFD-6BB8-559463C11FAD}"/>
              </a:ext>
            </a:extLst>
          </p:cNvPr>
          <p:cNvSpPr txBox="1"/>
          <p:nvPr/>
        </p:nvSpPr>
        <p:spPr>
          <a:xfrm>
            <a:off x="715326" y="1926290"/>
            <a:ext cx="4656774" cy="457048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=3,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PyTorch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Tensor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형태이므로 그대로 사용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y_np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이므로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(50, 1)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torch.FloatTensor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(y).view(-1, 1)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a, b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정의 및 초기화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미분 가능 설정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=True)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0.01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epochs = 1000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556DF-C93B-5239-CCDC-23DA6FDC6BBE}"/>
              </a:ext>
            </a:extLst>
          </p:cNvPr>
          <p:cNvSpPr txBox="1"/>
          <p:nvPr/>
        </p:nvSpPr>
        <p:spPr>
          <a:xfrm>
            <a:off x="5538683" y="1926290"/>
            <a:ext cx="5352099" cy="449353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5.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 루프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for epoch in range(epochs):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(Forward Pass)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a + b * X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손실 함수 계산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(MSE)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 =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torch.mean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((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y_hat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- y)**2)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역전파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(Backward Pass): dL/da, dL/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자동 계산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 err="1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en-US" altLang="ko-KR" sz="1300" dirty="0">
                <a:solidFill>
                  <a:srgbClr val="DD462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업데이트 및 기울기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with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a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b -=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가중치 업데이트 후에는 반드시 기울기를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초기화</a:t>
            </a:r>
          </a:p>
          <a:p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b.grad.zero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_()</a:t>
            </a:r>
            <a:b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print("-" * 30)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실제 계수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coef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{coef:.4f}")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학습된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b 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기울기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b.item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():.4f}")</a:t>
            </a:r>
          </a:p>
        </p:txBody>
      </p:sp>
    </p:spTree>
    <p:extLst>
      <p:ext uri="{BB962C8B-B14F-4D97-AF65-F5344CB8AC3E}">
        <p14:creationId xmlns:p14="http://schemas.microsoft.com/office/powerpoint/2010/main" val="129990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7DE0-A8EA-7EAB-D10D-8C5B8A34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720DEFA-28CC-4E54-5D87-BAE89CA4ED59}"/>
              </a:ext>
            </a:extLst>
          </p:cNvPr>
          <p:cNvSpPr/>
          <p:nvPr/>
        </p:nvSpPr>
        <p:spPr>
          <a:xfrm>
            <a:off x="1457324" y="241935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CB2CA1AF-9B69-DAD0-7430-9C4F0911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5AC02A4-31CC-DFC9-6F69-0BF7E96CC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5572B5-CD8B-8F46-E79A-CD383593F415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79637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212533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FCCN : 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Fully Connected Neural Network (FCNN)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구조를 행렬식으로 표현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97431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44439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44439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97431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005ECD-90F7-F8D9-E7DE-965B532432D2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>
          <a:xfrm flipV="1">
            <a:off x="1464511" y="2624204"/>
            <a:ext cx="286056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DAFA676-AF72-0916-0AAC-6B4B11DF8AD2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>
            <a:off x="1464511" y="3154118"/>
            <a:ext cx="2860563" cy="4177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75D6BC9-B6ED-0D7A-35A1-284A46102C70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>
            <a:off x="1464511" y="3154118"/>
            <a:ext cx="2860563" cy="136539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260C829-F2C5-E49A-1BFB-5BE4D6ADAA75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 flipV="1">
            <a:off x="1464511" y="2624204"/>
            <a:ext cx="2860563" cy="1365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6781E488-706A-B873-E6DD-BEF6151CBE5F}"/>
              </a:ext>
            </a:extLst>
          </p:cNvPr>
          <p:cNvCxnSpPr>
            <a:cxnSpLocks/>
            <a:stCxn id="3" idx="6"/>
            <a:endCxn id="8" idx="2"/>
          </p:cNvCxnSpPr>
          <p:nvPr/>
        </p:nvCxnSpPr>
        <p:spPr>
          <a:xfrm>
            <a:off x="1464511" y="3989597"/>
            <a:ext cx="286056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140B20F-3D4A-5E1D-9237-5220A9C29E48}"/>
              </a:ext>
            </a:extLst>
          </p:cNvPr>
          <p:cNvCxnSpPr>
            <a:cxnSpLocks/>
            <a:stCxn id="3" idx="6"/>
            <a:endCxn id="7" idx="2"/>
          </p:cNvCxnSpPr>
          <p:nvPr/>
        </p:nvCxnSpPr>
        <p:spPr>
          <a:xfrm flipV="1">
            <a:off x="1464511" y="3571858"/>
            <a:ext cx="2860563" cy="417739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B970888C-91D3-F4D3-A71E-32CD1322FD33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4665718" y="2624204"/>
            <a:ext cx="2879531" cy="166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6" name="직선 연결선 9215">
            <a:extLst>
              <a:ext uri="{FF2B5EF4-FFF2-40B4-BE49-F238E27FC236}">
                <a16:creationId xmlns:a16="http://schemas.microsoft.com/office/drawing/2014/main" id="{0746B69C-144B-848F-E473-03BE6A00EA4E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4665718" y="2640895"/>
            <a:ext cx="2879530" cy="6150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18" name="직선 연결선 9217">
            <a:extLst>
              <a:ext uri="{FF2B5EF4-FFF2-40B4-BE49-F238E27FC236}">
                <a16:creationId xmlns:a16="http://schemas.microsoft.com/office/drawing/2014/main" id="{AC5FEAD9-7439-0FA3-8080-211FBEB0FA19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4665718" y="2640895"/>
            <a:ext cx="2887552" cy="12468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27" name="직선 연결선 9226">
            <a:extLst>
              <a:ext uri="{FF2B5EF4-FFF2-40B4-BE49-F238E27FC236}">
                <a16:creationId xmlns:a16="http://schemas.microsoft.com/office/drawing/2014/main" id="{14B5EE2C-DD21-AF7E-08DB-75BF03181C1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4684685" y="2624204"/>
            <a:ext cx="2868585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0" name="직선 연결선 9229">
            <a:extLst>
              <a:ext uri="{FF2B5EF4-FFF2-40B4-BE49-F238E27FC236}">
                <a16:creationId xmlns:a16="http://schemas.microsoft.com/office/drawing/2014/main" id="{A7E4E79E-E8C7-DC17-23EC-DD0E175492BA}"/>
              </a:ext>
            </a:extLst>
          </p:cNvPr>
          <p:cNvCxnSpPr>
            <a:cxnSpLocks/>
            <a:stCxn id="7" idx="6"/>
            <a:endCxn id="12" idx="2"/>
          </p:cNvCxnSpPr>
          <p:nvPr/>
        </p:nvCxnSpPr>
        <p:spPr>
          <a:xfrm flipV="1">
            <a:off x="4684685" y="2624204"/>
            <a:ext cx="2860564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2" name="직선 연결선 9231">
            <a:extLst>
              <a:ext uri="{FF2B5EF4-FFF2-40B4-BE49-F238E27FC236}">
                <a16:creationId xmlns:a16="http://schemas.microsoft.com/office/drawing/2014/main" id="{C2A752F4-5609-D677-C163-0D94FCC4A02A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4684685" y="3255973"/>
            <a:ext cx="2860563" cy="31588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3" name="직선 연결선 9232">
            <a:extLst>
              <a:ext uri="{FF2B5EF4-FFF2-40B4-BE49-F238E27FC236}">
                <a16:creationId xmlns:a16="http://schemas.microsoft.com/office/drawing/2014/main" id="{FDE5058E-9D38-8806-95EF-4646F08D006C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>
            <a:off x="4684685" y="3571858"/>
            <a:ext cx="2868585" cy="31588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34" name="직선 연결선 9233">
            <a:extLst>
              <a:ext uri="{FF2B5EF4-FFF2-40B4-BE49-F238E27FC236}">
                <a16:creationId xmlns:a16="http://schemas.microsoft.com/office/drawing/2014/main" id="{A3CAE824-5655-C703-9F94-23DDF8A1BFAB}"/>
              </a:ext>
            </a:extLst>
          </p:cNvPr>
          <p:cNvCxnSpPr>
            <a:cxnSpLocks/>
            <a:stCxn id="7" idx="6"/>
            <a:endCxn id="11" idx="2"/>
          </p:cNvCxnSpPr>
          <p:nvPr/>
        </p:nvCxnSpPr>
        <p:spPr>
          <a:xfrm>
            <a:off x="4684685" y="3571858"/>
            <a:ext cx="2868585" cy="94765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4" name="직선 연결선 9243">
            <a:extLst>
              <a:ext uri="{FF2B5EF4-FFF2-40B4-BE49-F238E27FC236}">
                <a16:creationId xmlns:a16="http://schemas.microsoft.com/office/drawing/2014/main" id="{087E6F6E-3F1F-FE42-D673-2BA8FC1AC801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 flipV="1">
            <a:off x="4684685" y="2624204"/>
            <a:ext cx="2860564" cy="189530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5" name="직선 연결선 9244">
            <a:extLst>
              <a:ext uri="{FF2B5EF4-FFF2-40B4-BE49-F238E27FC236}">
                <a16:creationId xmlns:a16="http://schemas.microsoft.com/office/drawing/2014/main" id="{EFB2D543-D01E-C14E-7DAC-701319F53EE5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263119"/>
            <a:ext cx="2822632" cy="12563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6" name="직선 연결선 9245">
            <a:extLst>
              <a:ext uri="{FF2B5EF4-FFF2-40B4-BE49-F238E27FC236}">
                <a16:creationId xmlns:a16="http://schemas.microsoft.com/office/drawing/2014/main" id="{96C9A1C2-B992-FDA5-3163-757CC1000F66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684685" y="3882105"/>
            <a:ext cx="2842090" cy="63740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47" name="직선 연결선 9246">
            <a:extLst>
              <a:ext uri="{FF2B5EF4-FFF2-40B4-BE49-F238E27FC236}">
                <a16:creationId xmlns:a16="http://schemas.microsoft.com/office/drawing/2014/main" id="{E4844EAC-73FF-A91C-DBF8-C62D7E13A983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4684685" y="4519512"/>
            <a:ext cx="2842090" cy="2373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56" name="직선 연결선 9255">
            <a:extLst>
              <a:ext uri="{FF2B5EF4-FFF2-40B4-BE49-F238E27FC236}">
                <a16:creationId xmlns:a16="http://schemas.microsoft.com/office/drawing/2014/main" id="{CB643D58-E287-AE6D-0BEF-D4649E64BF96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7904860" y="2624204"/>
            <a:ext cx="2868583" cy="5299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260" name="그림 9259">
            <a:extLst>
              <a:ext uri="{FF2B5EF4-FFF2-40B4-BE49-F238E27FC236}">
                <a16:creationId xmlns:a16="http://schemas.microsoft.com/office/drawing/2014/main" id="{A07A9FC6-DF4E-29FA-0FFF-BA65FF59A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511" y="4788268"/>
            <a:ext cx="1760062" cy="544446"/>
          </a:xfrm>
          <a:prstGeom prst="rect">
            <a:avLst/>
          </a:prstGeom>
        </p:spPr>
      </p:pic>
      <p:pic>
        <p:nvPicPr>
          <p:cNvPr id="9262" name="그림 9261">
            <a:extLst>
              <a:ext uri="{FF2B5EF4-FFF2-40B4-BE49-F238E27FC236}">
                <a16:creationId xmlns:a16="http://schemas.microsoft.com/office/drawing/2014/main" id="{BA1A2289-2A8F-7DEB-5AD9-F3A40F023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217" y="4788268"/>
            <a:ext cx="2842090" cy="913070"/>
          </a:xfrm>
          <a:prstGeom prst="rect">
            <a:avLst/>
          </a:prstGeom>
        </p:spPr>
      </p:pic>
      <p:pic>
        <p:nvPicPr>
          <p:cNvPr id="9264" name="그림 9263">
            <a:extLst>
              <a:ext uri="{FF2B5EF4-FFF2-40B4-BE49-F238E27FC236}">
                <a16:creationId xmlns:a16="http://schemas.microsoft.com/office/drawing/2014/main" id="{220CC5A9-AC8B-0983-EE81-A8966A549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053" y="4788268"/>
            <a:ext cx="2263383" cy="1138122"/>
          </a:xfrm>
          <a:prstGeom prst="rect">
            <a:avLst/>
          </a:prstGeom>
        </p:spPr>
      </p:pic>
      <p:cxnSp>
        <p:nvCxnSpPr>
          <p:cNvPr id="9265" name="직선 연결선 9264">
            <a:extLst>
              <a:ext uri="{FF2B5EF4-FFF2-40B4-BE49-F238E27FC236}">
                <a16:creationId xmlns:a16="http://schemas.microsoft.com/office/drawing/2014/main" id="{9D98EAFC-EB3A-D7A1-9E2A-6E3124CF31B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912881" y="2623452"/>
            <a:ext cx="2868583" cy="136614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8" name="직선 연결선 9267">
            <a:extLst>
              <a:ext uri="{FF2B5EF4-FFF2-40B4-BE49-F238E27FC236}">
                <a16:creationId xmlns:a16="http://schemas.microsoft.com/office/drawing/2014/main" id="{D0DDA572-0297-EBBC-FC61-5AA42657A663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904859" y="3154118"/>
            <a:ext cx="2868584" cy="10185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69" name="직선 연결선 9268">
            <a:extLst>
              <a:ext uri="{FF2B5EF4-FFF2-40B4-BE49-F238E27FC236}">
                <a16:creationId xmlns:a16="http://schemas.microsoft.com/office/drawing/2014/main" id="{C8CAD3FF-0044-B9B8-F677-82192D67F268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7904859" y="3255973"/>
            <a:ext cx="2876605" cy="73362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6" name="직선 연결선 9275">
            <a:extLst>
              <a:ext uri="{FF2B5EF4-FFF2-40B4-BE49-F238E27FC236}">
                <a16:creationId xmlns:a16="http://schemas.microsoft.com/office/drawing/2014/main" id="{4CDE6AD4-1E47-14D6-17B5-06E1D3B4BBC2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7896838" y="3154118"/>
            <a:ext cx="2876605" cy="74937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77" name="직선 연결선 9276">
            <a:extLst>
              <a:ext uri="{FF2B5EF4-FFF2-40B4-BE49-F238E27FC236}">
                <a16:creationId xmlns:a16="http://schemas.microsoft.com/office/drawing/2014/main" id="{54DE2942-69C1-7B5C-0AD5-E269C565C6D3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7896838" y="3903496"/>
            <a:ext cx="2884626" cy="8610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3" name="직선 연결선 9282">
            <a:extLst>
              <a:ext uri="{FF2B5EF4-FFF2-40B4-BE49-F238E27FC236}">
                <a16:creationId xmlns:a16="http://schemas.microsoft.com/office/drawing/2014/main" id="{02A0287C-6FE0-9435-78E7-4D26BD03BE09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7912881" y="3192272"/>
            <a:ext cx="2805728" cy="132724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84" name="직선 연결선 9283">
            <a:extLst>
              <a:ext uri="{FF2B5EF4-FFF2-40B4-BE49-F238E27FC236}">
                <a16:creationId xmlns:a16="http://schemas.microsoft.com/office/drawing/2014/main" id="{367806B9-1578-FF26-FE3C-C7C576614816}"/>
              </a:ext>
            </a:extLst>
          </p:cNvPr>
          <p:cNvCxnSpPr>
            <a:cxnSpLocks/>
            <a:stCxn id="11" idx="6"/>
            <a:endCxn id="13" idx="2"/>
          </p:cNvCxnSpPr>
          <p:nvPr/>
        </p:nvCxnSpPr>
        <p:spPr>
          <a:xfrm flipV="1">
            <a:off x="7912881" y="3989597"/>
            <a:ext cx="2868583" cy="529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89" name="TextBox 9288">
            <a:extLst>
              <a:ext uri="{FF2B5EF4-FFF2-40B4-BE49-F238E27FC236}">
                <a16:creationId xmlns:a16="http://schemas.microsoft.com/office/drawing/2014/main" id="{1A24241E-380F-D2C3-547B-9F5D8C68B62B}"/>
              </a:ext>
            </a:extLst>
          </p:cNvPr>
          <p:cNvSpPr txBox="1"/>
          <p:nvPr/>
        </p:nvSpPr>
        <p:spPr>
          <a:xfrm>
            <a:off x="1493842" y="5322157"/>
            <a:ext cx="1760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(1,2) @ (2,3) = (1,3)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0" name="TextBox 9289">
            <a:extLst>
              <a:ext uri="{FF2B5EF4-FFF2-40B4-BE49-F238E27FC236}">
                <a16:creationId xmlns:a16="http://schemas.microsoft.com/office/drawing/2014/main" id="{04C3A569-4FF4-C87E-ABDA-8042FB8FB291}"/>
              </a:ext>
            </a:extLst>
          </p:cNvPr>
          <p:cNvSpPr txBox="1"/>
          <p:nvPr/>
        </p:nvSpPr>
        <p:spPr>
          <a:xfrm>
            <a:off x="5197265" y="5701338"/>
            <a:ext cx="2124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(1,3) @ (3,4) = (1,4)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1" name="TextBox 9290">
            <a:extLst>
              <a:ext uri="{FF2B5EF4-FFF2-40B4-BE49-F238E27FC236}">
                <a16:creationId xmlns:a16="http://schemas.microsoft.com/office/drawing/2014/main" id="{43BD9FC8-ECB1-B386-5E43-ADB19B72463A}"/>
              </a:ext>
            </a:extLst>
          </p:cNvPr>
          <p:cNvSpPr txBox="1"/>
          <p:nvPr/>
        </p:nvSpPr>
        <p:spPr>
          <a:xfrm>
            <a:off x="8943010" y="5942851"/>
            <a:ext cx="182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(1,4) @ (4,2) = (1,2)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3" name="TextBox 9292">
            <a:extLst>
              <a:ext uri="{FF2B5EF4-FFF2-40B4-BE49-F238E27FC236}">
                <a16:creationId xmlns:a16="http://schemas.microsoft.com/office/drawing/2014/main" id="{7A175B21-AA0B-37A5-44B1-4A7B24D8B789}"/>
              </a:ext>
            </a:extLst>
          </p:cNvPr>
          <p:cNvSpPr txBox="1"/>
          <p:nvPr/>
        </p:nvSpPr>
        <p:spPr>
          <a:xfrm>
            <a:off x="80154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Input(X)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4" name="TextBox 9293">
            <a:extLst>
              <a:ext uri="{FF2B5EF4-FFF2-40B4-BE49-F238E27FC236}">
                <a16:creationId xmlns:a16="http://schemas.microsoft.com/office/drawing/2014/main" id="{771A204D-88A8-9A56-6DAF-14EA444F77B9}"/>
              </a:ext>
            </a:extLst>
          </p:cNvPr>
          <p:cNvSpPr txBox="1"/>
          <p:nvPr/>
        </p:nvSpPr>
        <p:spPr>
          <a:xfrm>
            <a:off x="10358997" y="2056624"/>
            <a:ext cx="1548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put(y)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5" name="TextBox 9294">
            <a:extLst>
              <a:ext uri="{FF2B5EF4-FFF2-40B4-BE49-F238E27FC236}">
                <a16:creationId xmlns:a16="http://schemas.microsoft.com/office/drawing/2014/main" id="{5728B3CC-2C9B-CCFC-C174-806DBFC6CEAA}"/>
              </a:ext>
            </a:extLst>
          </p:cNvPr>
          <p:cNvSpPr txBox="1"/>
          <p:nvPr/>
        </p:nvSpPr>
        <p:spPr>
          <a:xfrm>
            <a:off x="3836296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1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296" name="TextBox 9295">
            <a:extLst>
              <a:ext uri="{FF2B5EF4-FFF2-40B4-BE49-F238E27FC236}">
                <a16:creationId xmlns:a16="http://schemas.microsoft.com/office/drawing/2014/main" id="{A517200C-63F5-B913-E926-2ABDAA65B72A}"/>
              </a:ext>
            </a:extLst>
          </p:cNvPr>
          <p:cNvSpPr txBox="1"/>
          <p:nvPr/>
        </p:nvSpPr>
        <p:spPr>
          <a:xfrm>
            <a:off x="6506798" y="2056624"/>
            <a:ext cx="23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759ED-1060-A67A-DAEB-3F5B3314D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AF4B5D8-EC0B-B2ED-7C9B-39CB1F92D4D8}"/>
              </a:ext>
            </a:extLst>
          </p:cNvPr>
          <p:cNvSpPr/>
          <p:nvPr/>
        </p:nvSpPr>
        <p:spPr>
          <a:xfrm>
            <a:off x="1457324" y="3267076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2289FAA1-417B-AE3C-CB55-3B6DC10C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58EDC94-00CA-97BB-8517-056221563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1886A-E0DA-C986-7052-21994A5B29A9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995564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CD14-C5EB-9287-8D73-F9F1BB28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B0587-D91B-8580-6E0F-BD875D1A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B9D7CF7-62C2-EF58-A712-6F1CA1C6E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ADE5B218-DB00-6927-3154-13E34DC8DC40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B3273-5808-C357-A26E-D8D5B7FC9953}"/>
              </a:ext>
            </a:extLst>
          </p:cNvPr>
          <p:cNvSpPr txBox="1"/>
          <p:nvPr/>
        </p:nvSpPr>
        <p:spPr>
          <a:xfrm>
            <a:off x="610995" y="2214901"/>
            <a:ext cx="5061079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torch.optim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데이터 생성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2x + 1)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([[1.0], [2.0], [3.0], [4.0]],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([[3.0], [5.0], [7.0], [9.0]],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모델 정의 (입력 1개, 출력 1개인 선형 회귀)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손실 함수와 최적화 도구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nn.MSELoss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model_reg.parameters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=0.01)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39E4D-3AB5-541E-8D0B-A6AC490A60A2}"/>
              </a:ext>
            </a:extLst>
          </p:cNvPr>
          <p:cNvSpPr txBox="1"/>
          <p:nvPr/>
        </p:nvSpPr>
        <p:spPr>
          <a:xfrm>
            <a:off x="5886450" y="2207588"/>
            <a:ext cx="5981075" cy="267765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학습 (1000번 반복)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(1000):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prediction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       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backpropagation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예측 (5를 넣었을 때 11에 가까운 값이 나와야 함)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f"회귀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예측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input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5.0): {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model_reg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test_val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item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():.4f}")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67791B-4972-60A0-42AF-E11FBE129692}"/>
              </a:ext>
            </a:extLst>
          </p:cNvPr>
          <p:cNvSpPr txBox="1"/>
          <p:nvPr/>
        </p:nvSpPr>
        <p:spPr>
          <a:xfrm>
            <a:off x="525270" y="1361159"/>
            <a:ext cx="1139231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(Regression)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연속적인 숫자 값을 예측하는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y = 2x + 1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이라는 선형 관계를 학습</a:t>
            </a:r>
          </a:p>
        </p:txBody>
      </p:sp>
    </p:spTree>
    <p:extLst>
      <p:ext uri="{BB962C8B-B14F-4D97-AF65-F5344CB8AC3E}">
        <p14:creationId xmlns:p14="http://schemas.microsoft.com/office/powerpoint/2010/main" val="227774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6A65-107A-2743-38F4-25C7B066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4EAD4F-53D1-F7DD-6F97-1B7D4DBE73D7}"/>
              </a:ext>
            </a:extLst>
          </p:cNvPr>
          <p:cNvSpPr/>
          <p:nvPr/>
        </p:nvSpPr>
        <p:spPr>
          <a:xfrm>
            <a:off x="1457324" y="4133851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D9F39A20-723D-0537-49D5-C5051C71A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0EEE07A-5019-7A68-003B-0A0DCD9A4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627AAF-BEC4-FD4A-F12A-B0BBDF7DBD14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235072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42FB-EF10-31D4-2362-600F33B9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60F8C-DF3A-97BB-52A4-40A63FF3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3230382-766E-AADE-75F1-79B0E657195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BCD33C-36A8-2406-5A3F-36994C0AE701}"/>
              </a:ext>
            </a:extLst>
          </p:cNvPr>
          <p:cNvSpPr txBox="1"/>
          <p:nvPr/>
        </p:nvSpPr>
        <p:spPr>
          <a:xfrm>
            <a:off x="500606" y="1304253"/>
            <a:ext cx="11016204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형태의 데이터는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선형결합식의 어떠한 조합으로도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Positive(1)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Negative(0)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(classification)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하지 못하기 때문에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activation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함수를 각 노드마다 도입하여 비선형으로 인공지능을 구성하여 예측 분류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FC96B868-5D45-9DB3-23EC-345A8DAFC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236" y="4494029"/>
            <a:ext cx="2582775" cy="2119435"/>
          </a:xfrm>
          <a:prstGeom prst="rect">
            <a:avLst/>
          </a:prstGeom>
        </p:spPr>
      </p:pic>
      <p:pic>
        <p:nvPicPr>
          <p:cNvPr id="1029" name="그림 1028">
            <a:extLst>
              <a:ext uri="{FF2B5EF4-FFF2-40B4-BE49-F238E27FC236}">
                <a16:creationId xmlns:a16="http://schemas.microsoft.com/office/drawing/2014/main" id="{10E9D52F-1AD9-729A-CF4D-AB9697B6C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235" y="2320793"/>
            <a:ext cx="2582775" cy="2026485"/>
          </a:xfrm>
          <a:prstGeom prst="rect">
            <a:avLst/>
          </a:prstGeom>
        </p:spPr>
      </p:pic>
      <p:cxnSp>
        <p:nvCxnSpPr>
          <p:cNvPr id="1031" name="직선 화살표 연결선 1030">
            <a:extLst>
              <a:ext uri="{FF2B5EF4-FFF2-40B4-BE49-F238E27FC236}">
                <a16:creationId xmlns:a16="http://schemas.microsoft.com/office/drawing/2014/main" id="{D18E881C-469B-AC71-8FD8-B021F8E80BA3}"/>
              </a:ext>
            </a:extLst>
          </p:cNvPr>
          <p:cNvCxnSpPr>
            <a:stCxn id="57" idx="3"/>
            <a:endCxn id="1029" idx="1"/>
          </p:cNvCxnSpPr>
          <p:nvPr/>
        </p:nvCxnSpPr>
        <p:spPr>
          <a:xfrm flipV="1">
            <a:off x="4550953" y="3334036"/>
            <a:ext cx="3380282" cy="1159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8B8FA355-D964-8286-2084-CB01783B4E7D}"/>
              </a:ext>
            </a:extLst>
          </p:cNvPr>
          <p:cNvCxnSpPr>
            <a:cxnSpLocks/>
            <a:stCxn id="57" idx="3"/>
            <a:endCxn id="1026" idx="1"/>
          </p:cNvCxnSpPr>
          <p:nvPr/>
        </p:nvCxnSpPr>
        <p:spPr>
          <a:xfrm>
            <a:off x="4550953" y="4494029"/>
            <a:ext cx="3380283" cy="1059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0C0A2111-AA3F-1327-DD5D-7EF1098835CF}"/>
              </a:ext>
            </a:extLst>
          </p:cNvPr>
          <p:cNvSpPr txBox="1"/>
          <p:nvPr/>
        </p:nvSpPr>
        <p:spPr>
          <a:xfrm rot="20482373">
            <a:off x="5048332" y="3067854"/>
            <a:ext cx="24876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데이터자체를 </a:t>
            </a:r>
            <a:r>
              <a:rPr lang="ko-KR" altLang="en-US" sz="14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선형변환하여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차원으로 공간이동 후 선형식으로 분류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4461D5D0-9910-5322-B982-450A79839777}"/>
              </a:ext>
            </a:extLst>
          </p:cNvPr>
          <p:cNvSpPr txBox="1"/>
          <p:nvPr/>
        </p:nvSpPr>
        <p:spPr>
          <a:xfrm rot="1145019">
            <a:off x="5026856" y="5123938"/>
            <a:ext cx="24529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 알고리즘을 데이터에 적용하여 분류</a:t>
            </a:r>
          </a:p>
        </p:txBody>
      </p:sp>
      <p:pic>
        <p:nvPicPr>
          <p:cNvPr id="1041" name="Picture 8">
            <a:extLst>
              <a:ext uri="{FF2B5EF4-FFF2-40B4-BE49-F238E27FC236}">
                <a16:creationId xmlns:a16="http://schemas.microsoft.com/office/drawing/2014/main" id="{0CCA9A08-B7BD-63D8-5E03-A729AA377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2" y="2767387"/>
            <a:ext cx="3606501" cy="345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7A20783F-30F0-D4B7-012A-63D6D5CC1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444" y="2768311"/>
            <a:ext cx="3626509" cy="345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9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6" grpId="0"/>
      <p:bldP spid="10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188A6-C9D4-C594-7386-21D381B9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08292C-48F8-5B5D-EC3D-7872AF78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126D9EC8-2573-34A0-2202-68309B0D1117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Neural Network for 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315B8025-02B8-A5E7-B976-C2C15FDBD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560" y="1693518"/>
            <a:ext cx="8782050" cy="447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2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1462-6263-5D7F-4E6C-449689AB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9AEE1-E36A-FAAA-E19F-3BCB49A5D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722EA60-9816-0D47-A0DC-38408052C222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for XOR problem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A48CA-FBC3-2463-86B0-7EDF7679084B}"/>
              </a:ext>
            </a:extLst>
          </p:cNvPr>
          <p:cNvSpPr txBox="1"/>
          <p:nvPr/>
        </p:nvSpPr>
        <p:spPr>
          <a:xfrm>
            <a:off x="656620" y="1764051"/>
            <a:ext cx="4687023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XOR 데이터 정의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([[0.0, 0.0], [0.0, 1.0], 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	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[1.0, 0.0], [1.0, 1.0]])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torch.tensor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([[0.0], [1.0], [1.0], [0.0]])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2. 파라미터 설정 (노드 2개)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입력(2)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((2, 2),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(2) -&gt;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((2, 1),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torch.randn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requires_grad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0.5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10000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D8D79-0BBE-25BC-5DB0-838980C0289D}"/>
              </a:ext>
            </a:extLst>
          </p:cNvPr>
          <p:cNvSpPr txBox="1"/>
          <p:nvPr/>
        </p:nvSpPr>
        <p:spPr>
          <a:xfrm>
            <a:off x="5459391" y="1764051"/>
            <a:ext cx="6323637" cy="440120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4. 학습 루프</a:t>
            </a:r>
          </a:p>
          <a:p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epochs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은닉층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z1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torch.matmul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W1) + b1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a1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(z1)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출력층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z2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torch.matmul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(a1, W2) + b2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(z2)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손실 함수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Binary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Entropy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-(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torch.log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+ 1e-7) + (1 -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y_data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*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torch.log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(1 -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+ 1e-7)).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mean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(기울기 계산)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loss.backward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파라미터 업데이트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torch.no_grad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W1 -=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W1.grad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b1.grad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W2 -=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W2.grad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b2 -=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* b2.grad 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# 기울기 초기화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W1.grad.zero_()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b1.grad.zero_()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W2.grad.zero_()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b2.grad.zero_()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441044D-4B58-E474-EB53-A0C083248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437890"/>
          </a:xfrm>
        </p:spPr>
        <p:txBody>
          <a:bodyPr>
            <a:normAutofit lnSpcReduction="10000"/>
          </a:bodyPr>
          <a:lstStyle/>
          <a:p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노드 개수를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3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이상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Hidden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Layer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이상 등 인공지능망 구조를 변경하면서 실습하라</a:t>
            </a:r>
            <a:endParaRPr lang="en-US" altLang="ko-KR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73BBA46-E25C-D9B7-3D3C-55DB5924D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00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8173F-0EA7-5332-5B71-1F1948786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CAF317-7A4D-0EDB-C867-141D167C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E10A7B3-6DA7-9C2C-93C6-819876A0FA91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neural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network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&amp;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scikit-learn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estimator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API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0290014-81CE-C841-AC7E-9067310A1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7326" y="1313348"/>
            <a:ext cx="6287545" cy="5387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FA6556-DBA7-499A-3D0C-10C7A8D42BEF}"/>
              </a:ext>
            </a:extLst>
          </p:cNvPr>
          <p:cNvSpPr/>
          <p:nvPr/>
        </p:nvSpPr>
        <p:spPr>
          <a:xfrm>
            <a:off x="4747326" y="1313348"/>
            <a:ext cx="3250781" cy="26220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0C32B9-3EFB-57B4-4B81-7A55193A56D0}"/>
              </a:ext>
            </a:extLst>
          </p:cNvPr>
          <p:cNvSpPr/>
          <p:nvPr/>
        </p:nvSpPr>
        <p:spPr>
          <a:xfrm>
            <a:off x="4737678" y="3965880"/>
            <a:ext cx="3250781" cy="2622044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FA820-AD5A-168F-D412-57DCC3958699}"/>
              </a:ext>
            </a:extLst>
          </p:cNvPr>
          <p:cNvSpPr txBox="1"/>
          <p:nvPr/>
        </p:nvSpPr>
        <p:spPr>
          <a:xfrm>
            <a:off x="656619" y="1313348"/>
            <a:ext cx="3848374" cy="3738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가상의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바탕으로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인공지능망과 다른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머신러닝과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분류한 결과를 의사결정경계선을 시각화한 것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선형결합 구조인 로지스틱 회귀식은 분류를 못함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이미지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텍스트 데이터와 같이 고차원 데이터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비선형을 가진 데이터는 인공지능망의 성능이 높음</a:t>
            </a:r>
          </a:p>
        </p:txBody>
      </p:sp>
    </p:spTree>
    <p:extLst>
      <p:ext uri="{BB962C8B-B14F-4D97-AF65-F5344CB8AC3E}">
        <p14:creationId xmlns:p14="http://schemas.microsoft.com/office/powerpoint/2010/main" val="1534555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76907-6B9A-B691-FA60-CB5742F0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F6028-E971-D2D2-A37C-A4B681D3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CF6427EA-47CE-DD8E-2ECD-17D2CF70C816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 functions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8A7B801-0A51-4A98-B12E-63322EDDA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80" y="1798410"/>
            <a:ext cx="4587433" cy="478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2537F47-2CF7-D84F-42A1-EB257E1F5295}"/>
              </a:ext>
            </a:extLst>
          </p:cNvPr>
          <p:cNvSpPr txBox="1"/>
          <p:nvPr/>
        </p:nvSpPr>
        <p:spPr>
          <a:xfrm>
            <a:off x="512180" y="1348385"/>
            <a:ext cx="11212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문제에서 정답이 아닌 곳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곱셈에 의해 모두 사라지고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정답인 위치의 확률 값만 남는다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ko-KR" altLang="en-US" sz="18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CBFD89-AE31-F70B-1B8A-A07BB6330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487" y="2276844"/>
            <a:ext cx="10908656" cy="363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8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C948-29E9-8735-2FB6-BC707123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53F641F-7A68-D1E1-74DF-263C3332A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86" y="2708078"/>
            <a:ext cx="11086021" cy="3049553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201F9-D791-B84F-532F-E5201113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046C5C9-7FC9-878D-B677-5BF98F4B925D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loss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function: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20762F-5B79-568D-9980-2E386885B9C5}"/>
              </a:ext>
            </a:extLst>
          </p:cNvPr>
          <p:cNvSpPr txBox="1"/>
          <p:nvPr/>
        </p:nvSpPr>
        <p:spPr>
          <a:xfrm>
            <a:off x="543286" y="1280721"/>
            <a:ext cx="10992093" cy="87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 문제에서 정답이 아닌 곳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(0)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곱셈에 의해 모두 사라지고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정답인 위치의 </a:t>
            </a:r>
            <a:r>
              <a:rPr lang="ko-KR" altLang="en-US" sz="18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확률값만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남으며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Log-loss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Cross-Entropy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이진분류의 특수한 경우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D74360-CCF4-B8C7-480C-D7341F47A02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24781" y="1825124"/>
            <a:ext cx="3010598" cy="78475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6" name="그림 5" descr="분류기] Softmax 함수 : 네이버 블로그">
            <a:extLst>
              <a:ext uri="{FF2B5EF4-FFF2-40B4-BE49-F238E27FC236}">
                <a16:creationId xmlns:a16="http://schemas.microsoft.com/office/drawing/2014/main" id="{6DF8396C-609B-7141-FE25-7CA1E9B3D1E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83362" y="5642397"/>
            <a:ext cx="2440708" cy="104950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32B282-897A-E569-9C0B-CECA36EC63CF}"/>
              </a:ext>
            </a:extLst>
          </p:cNvPr>
          <p:cNvSpPr/>
          <p:nvPr/>
        </p:nvSpPr>
        <p:spPr>
          <a:xfrm>
            <a:off x="8590646" y="5274687"/>
            <a:ext cx="861292" cy="34026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28575">
                <a:solidFill>
                  <a:srgbClr val="0070C0"/>
                </a:solidFill>
              </a:ln>
              <a:noFill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8CCDDA-C063-685C-0C3A-25640911DAE4}"/>
              </a:ext>
            </a:extLst>
          </p:cNvPr>
          <p:cNvSpPr/>
          <p:nvPr/>
        </p:nvSpPr>
        <p:spPr>
          <a:xfrm>
            <a:off x="10836910" y="5472266"/>
            <a:ext cx="861292" cy="340262"/>
          </a:xfrm>
          <a:prstGeom prst="rect">
            <a:avLst/>
          </a:prstGeom>
          <a:noFill/>
          <a:ln w="28575">
            <a:solidFill>
              <a:srgbClr val="DD46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 w="28575">
                <a:solidFill>
                  <a:srgbClr val="0070C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310057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ED1E5-5843-DBEB-50F5-1EA7E7C7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55FF74-5477-22AB-43FD-DF018748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AE8BB7F-4374-94A4-96E2-5D2F81230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3816" y="68913"/>
            <a:ext cx="1667479" cy="1103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8332F086-37CC-9131-0AB6-DC91842D581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Pytorch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Hands-on : classification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3DFB2-48BA-7EB0-99DE-16C02139227D}"/>
              </a:ext>
            </a:extLst>
          </p:cNvPr>
          <p:cNvSpPr txBox="1"/>
          <p:nvPr/>
        </p:nvSpPr>
        <p:spPr>
          <a:xfrm>
            <a:off x="677670" y="1883738"/>
            <a:ext cx="5199255" cy="461664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 생성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([[-2.0], [-1.0], [1.0], [2.0]],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([[0.0], [0.0], [1.0], [1.0]],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dtype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=torch.float32)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모델 정의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(Sigmoid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사용하여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0~1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사이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확률값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출력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nn.Module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__(self):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super().__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init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__()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(1, 1)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def forward(self, x):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    return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self.sigmoid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self.linear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SimpleClassifier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이진 교차 엔트로피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와 최적화 도구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criterion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nn.BCELoss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 =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optim.SGD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model_cls.parameters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lr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=0.1)</a:t>
            </a:r>
            <a:endParaRPr lang="ko-KR" altLang="en-US" sz="1400" b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0191A9-AF39-DFA2-DD6E-A46ACD670F8A}"/>
              </a:ext>
            </a:extLst>
          </p:cNvPr>
          <p:cNvSpPr txBox="1"/>
          <p:nvPr/>
        </p:nvSpPr>
        <p:spPr>
          <a:xfrm>
            <a:off x="6210991" y="1883738"/>
            <a:ext cx="5314260" cy="353943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4.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학습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epoch in range(500):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out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loss = criterion(out,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optimizer.zero_grad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loss.backward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 </a:t>
            </a:r>
            <a:r>
              <a:rPr lang="en-US" altLang="ko-KR" sz="1400" b="1" dirty="0" err="1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optimizer.step</a:t>
            </a:r>
            <a:r>
              <a:rPr lang="en-US" altLang="ko-KR" sz="14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# 5.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예측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([[-5.0]])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([[5.0]])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(-5.0):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test_neg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분류 예측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(+5.0):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model_cls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test_pos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).item():.4f} (1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가까움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)"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E7D529-0B99-F34C-9456-A4BCF215413E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분류는 입력 데이터가 어느 그룹에 속하는지 판단하는 작업으로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작으면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0, 0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 크면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분류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이진 분류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4300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8833C-0702-7FB9-CA68-E9F604F9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EBE41-3AF7-AB83-DEB8-CFAA6D3B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A6AC6CE-12FA-975E-AED0-B7F1423238CC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Logistic regression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5E958-F0D6-D564-FD8F-0ABCBD009E33}"/>
              </a:ext>
            </a:extLst>
          </p:cNvPr>
          <p:cNvSpPr txBox="1"/>
          <p:nvPr/>
        </p:nvSpPr>
        <p:spPr>
          <a:xfrm>
            <a:off x="525270" y="1265909"/>
            <a:ext cx="11576025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분류모델인 로지스틱 회귀는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/08_odds_ratio_logit_sigmoid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코드 참고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223FD0-ADC8-B76A-10E9-7FF52DA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9596" y="2038228"/>
            <a:ext cx="3976808" cy="29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72A7111D-DEE6-F645-A881-641D0B0B8098}"/>
              </a:ext>
            </a:extLst>
          </p:cNvPr>
          <p:cNvGrpSpPr/>
          <p:nvPr/>
        </p:nvGrpSpPr>
        <p:grpSpPr>
          <a:xfrm>
            <a:off x="656620" y="2038228"/>
            <a:ext cx="7087128" cy="3638672"/>
            <a:chOff x="656620" y="2038228"/>
            <a:chExt cx="7087128" cy="363867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A3668DD-F69F-352A-2678-065F4B07A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56620" y="2038228"/>
              <a:ext cx="7087128" cy="3638672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9CC41A3-5878-CDD8-C521-016FE5C04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916084" y="5032462"/>
              <a:ext cx="2672452" cy="6444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771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199" y="66676"/>
            <a:ext cx="1657351" cy="109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437545" y="502356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1856" y="2346102"/>
            <a:ext cx="10516592" cy="3690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791856" y="6201755"/>
            <a:ext cx="9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 Tube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7FD12-73D2-3353-A8C4-7E7C0383DD21}"/>
              </a:ext>
            </a:extLst>
          </p:cNvPr>
          <p:cNvSpPr txBox="1"/>
          <p:nvPr/>
        </p:nvSpPr>
        <p:spPr>
          <a:xfrm>
            <a:off x="544946" y="1415177"/>
            <a:ext cx="111482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0F3AF9-A173-B593-4230-2FE3E7921A68}"/>
              </a:ext>
            </a:extLst>
          </p:cNvPr>
          <p:cNvSpPr txBox="1"/>
          <p:nvPr/>
        </p:nvSpPr>
        <p:spPr>
          <a:xfrm>
            <a:off x="704850" y="2082568"/>
            <a:ext cx="51617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XOR_perceptron_optimization_backprpagation_sgd.xlsx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99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7" y="109568"/>
            <a:ext cx="1590674" cy="10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110" y="1700213"/>
            <a:ext cx="3592964" cy="3734398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Tutorial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배우고 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오른쪽 그림을 바탕으로 입력과 출력데이터를 생성하고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Pytorch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로 </a:t>
            </a:r>
            <a:r>
              <a:rPr lang="ko-KR" altLang="en-US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네크워크를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구성하고 학습한 후 예측하라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예측하여야 하는 총 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parameters(w,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b)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몇 개인가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?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DB4939-FECE-E50C-F0C1-06C4C4424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314" y="1700213"/>
            <a:ext cx="6413497" cy="3786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60D858-72FF-9996-DDB4-58889C397859}"/>
              </a:ext>
            </a:extLst>
          </p:cNvPr>
          <p:cNvSpPr txBox="1"/>
          <p:nvPr/>
        </p:nvSpPr>
        <p:spPr>
          <a:xfrm>
            <a:off x="2600325" y="634753"/>
            <a:ext cx="30827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w4_pytorch_tutorial.ipynb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BEDEB4-CC20-F660-9DB2-96EED65201AC}"/>
              </a:ext>
            </a:extLst>
          </p:cNvPr>
          <p:cNvSpPr txBox="1"/>
          <p:nvPr/>
        </p:nvSpPr>
        <p:spPr>
          <a:xfrm>
            <a:off x="4100514" y="5880269"/>
            <a:ext cx="13596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utube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EDE5-8E79-C7E1-CB52-C779EC7EC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2B6E5E-FC4D-D5FE-628B-07E336326CE4}"/>
              </a:ext>
            </a:extLst>
          </p:cNvPr>
          <p:cNvSpPr/>
          <p:nvPr/>
        </p:nvSpPr>
        <p:spPr>
          <a:xfrm>
            <a:off x="1457324" y="5000626"/>
            <a:ext cx="8277225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E4B32F8-963A-3AC5-FA53-ED66A8664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D9A11CE-F982-0EDD-57F8-EC1AB3EE5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D21109-AED5-930C-1DED-70583AFD1626}"/>
              </a:ext>
            </a:extLst>
          </p:cNvPr>
          <p:cNvSpPr txBox="1"/>
          <p:nvPr/>
        </p:nvSpPr>
        <p:spPr>
          <a:xfrm>
            <a:off x="1957661" y="1356552"/>
            <a:ext cx="8662713" cy="428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&amp; Backpropagation : Recap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FCNN(Fully Connected Neural Network)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Regression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Classification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Dimension Reduction</a:t>
            </a:r>
          </a:p>
        </p:txBody>
      </p:sp>
    </p:spTree>
    <p:extLst>
      <p:ext uri="{BB962C8B-B14F-4D97-AF65-F5344CB8AC3E}">
        <p14:creationId xmlns:p14="http://schemas.microsoft.com/office/powerpoint/2010/main" val="183637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D8F64-AE03-83A8-9AC3-946E3E41F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9D7258-89E0-FD16-303B-902B6CD77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C55FA6B-189E-28C7-6A8E-2B437D180532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1A83C34-C151-41C1-64A0-BD7003F0C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64" y="1320833"/>
            <a:ext cx="10706705" cy="185386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41F368-1CB4-5087-3A3D-F11BAC41B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4268" y="3088968"/>
            <a:ext cx="6957663" cy="23776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4D54FBD-2A11-10A5-4EBC-9030EC7BE9A3}"/>
              </a:ext>
            </a:extLst>
          </p:cNvPr>
          <p:cNvSpPr txBox="1">
            <a:spLocks/>
          </p:cNvSpPr>
          <p:nvPr/>
        </p:nvSpPr>
        <p:spPr>
          <a:xfrm>
            <a:off x="742864" y="5480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Principal Component Analysis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825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6398-4BFE-4A9F-6038-C76E929E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191611-FEB0-08B6-3ADF-3D53D7E7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EC02710-FAFA-CB41-8FD4-D3B20F515B4A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Principal Component Analysis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CDD2D56-AB63-1CFC-3EA8-CE4D97724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64" y="1235108"/>
            <a:ext cx="10706705" cy="185386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가 아무리 많아도 대부분의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feature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무의미한 경우가 많음</a:t>
            </a:r>
            <a:endParaRPr lang="en-US" altLang="ko-KR" sz="21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아라비아 숫자의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75%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이상을 지워도 수자를 읽을 수 있음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Picture 2" descr="The original 3-dimensional data set. The red, blue, green arrows are the direction of the first, second, and third principal components, respectively. Image by the author.">
            <a:extLst>
              <a:ext uri="{FF2B5EF4-FFF2-40B4-BE49-F238E27FC236}">
                <a16:creationId xmlns:a16="http://schemas.microsoft.com/office/drawing/2014/main" id="{D668D96A-CE83-ADD0-F5DF-0380F6FCB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5" y="2426019"/>
            <a:ext cx="4371975" cy="326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catterplot after PCA reduced from 3-dimensions to 2-dimensions. Image by the author.">
            <a:extLst>
              <a:ext uri="{FF2B5EF4-FFF2-40B4-BE49-F238E27FC236}">
                <a16:creationId xmlns:a16="http://schemas.microsoft.com/office/drawing/2014/main" id="{27B050C9-3918-0FC9-3DA7-760BE91EE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449" y="2426020"/>
            <a:ext cx="5230069" cy="32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74DDD5-5E98-0D28-C1F6-B7C002ADC1E5}"/>
              </a:ext>
            </a:extLst>
          </p:cNvPr>
          <p:cNvSpPr txBox="1"/>
          <p:nvPr/>
        </p:nvSpPr>
        <p:spPr>
          <a:xfrm>
            <a:off x="807720" y="5723600"/>
            <a:ext cx="4533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original 3-dimensional data set. The red, blue, green arrows are the direction of the first, second, and third principal components, respectively.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3259D-9128-168B-95E1-4BB0CB2983A5}"/>
              </a:ext>
            </a:extLst>
          </p:cNvPr>
          <p:cNvSpPr txBox="1"/>
          <p:nvPr/>
        </p:nvSpPr>
        <p:spPr>
          <a:xfrm>
            <a:off x="6267449" y="5723600"/>
            <a:ext cx="453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rgbClr val="2A2A2A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Scatterplot after PCA reduced from 3-dimensions to 2-dimensions. </a:t>
            </a:r>
            <a:endParaRPr lang="ko-KR" altLang="en-US" sz="12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5764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DA77C-2E29-FAAD-6486-73DAE99CD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4139A7-D2A7-F7DF-AB8B-CE5F968B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8ABDE38-5B87-6B5E-FD84-F755B556407C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Dimensionality Reduction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74B5D32-C566-AE78-5EFB-3C09EEC6D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9" y="2838154"/>
            <a:ext cx="3170871" cy="314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A22C6A-8BD3-339D-5312-E8D46C32AE62}"/>
              </a:ext>
            </a:extLst>
          </p:cNvPr>
          <p:cNvSpPr txBox="1"/>
          <p:nvPr/>
        </p:nvSpPr>
        <p:spPr>
          <a:xfrm>
            <a:off x="607241" y="1280160"/>
            <a:ext cx="10977518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60,00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MNIST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필기체 수자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(28 by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28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데이터의 각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pixel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간 표준편차를 구해서 시각화한 이미지를 보면 해보면 중앙 픽셀의 표준편차는 높지만 주변 픽셀의 표준편차는 거의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근접한 것으로 나타남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주변의 정보는 데이터는 수자를 표현하는데 거의 역할이 없음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54118A0-E283-62A0-E943-7CF479C2CDA9}"/>
              </a:ext>
            </a:extLst>
          </p:cNvPr>
          <p:cNvGrpSpPr/>
          <p:nvPr/>
        </p:nvGrpSpPr>
        <p:grpSpPr>
          <a:xfrm>
            <a:off x="9966960" y="2838153"/>
            <a:ext cx="1936300" cy="3137007"/>
            <a:chOff x="9628030" y="2838154"/>
            <a:chExt cx="2246046" cy="363882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C4EBE39-9381-68D1-F7D5-9ABA89C7B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8030" y="2838154"/>
              <a:ext cx="2246046" cy="1225431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8C3BF4C-3BEC-CCAD-51AA-B04850C91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8031" y="4060451"/>
              <a:ext cx="2240700" cy="1204969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F83AD08F-9A65-B9E5-D2AA-918885298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8782" y="5265420"/>
              <a:ext cx="2240701" cy="1211561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9360056-C6B7-C3C4-513B-DC03845926C0}"/>
              </a:ext>
            </a:extLst>
          </p:cNvPr>
          <p:cNvSpPr txBox="1"/>
          <p:nvPr/>
        </p:nvSpPr>
        <p:spPr>
          <a:xfrm>
            <a:off x="755904" y="2838153"/>
            <a:ext cx="5297424" cy="2862322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import torch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torchvision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datasets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불러오는 즉시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.data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텐서를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추출하고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float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datasets.MNIST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(root='./data', train=True, download=True).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data.float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전체 데이터의 표준편차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불필요한 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픽셀 확인용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pixel_std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torch.std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dim=0)</a:t>
            </a:r>
          </a:p>
          <a:p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plt.imshow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pixel_std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='hot')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plt.colorbar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() #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값의 범위를 확인하기 위해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컬러바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plt.title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("Standard Deviation of MNIST Pixels")</a:t>
            </a:r>
          </a:p>
          <a:p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plt.show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4337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1584A-354B-8854-9D84-8A4AED2B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6891ED-6830-2365-D8C2-4853C3446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51C5D85-E399-D2CC-578A-E107FBDAB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3677" y="109568"/>
            <a:ext cx="1590674" cy="1052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41BEBCA-45F9-C50A-C781-59824B65491C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: Curse of Dimensionality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EA879B-8433-5CB0-3060-2ED57156B079}"/>
              </a:ext>
            </a:extLst>
          </p:cNvPr>
          <p:cNvSpPr/>
          <p:nvPr/>
        </p:nvSpPr>
        <p:spPr>
          <a:xfrm>
            <a:off x="3538537" y="2428875"/>
            <a:ext cx="3667125" cy="36671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A0C315-4B8C-5501-2CDD-6A01DBFAAA85}"/>
              </a:ext>
            </a:extLst>
          </p:cNvPr>
          <p:cNvSpPr/>
          <p:nvPr/>
        </p:nvSpPr>
        <p:spPr>
          <a:xfrm>
            <a:off x="3612832" y="2494915"/>
            <a:ext cx="3529014" cy="352901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BDABCC-D68A-D788-C4E3-121032F9B346}"/>
              </a:ext>
            </a:extLst>
          </p:cNvPr>
          <p:cNvSpPr txBox="1"/>
          <p:nvPr/>
        </p:nvSpPr>
        <p:spPr>
          <a:xfrm>
            <a:off x="590464" y="1300008"/>
            <a:ext cx="10536917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가로 세로 길이가 각각 </a:t>
            </a:r>
            <a:r>
              <a:rPr lang="en-US" altLang="ko-KR" dirty="0"/>
              <a:t>1</a:t>
            </a:r>
            <a:r>
              <a:rPr lang="ko-KR" altLang="en-US" dirty="0"/>
              <a:t>인 정사각형의 </a:t>
            </a:r>
            <a:r>
              <a:rPr lang="ko-KR" altLang="en-US" dirty="0" err="1"/>
              <a:t>태두리</a:t>
            </a:r>
            <a:r>
              <a:rPr lang="en-US" altLang="ko-KR" dirty="0"/>
              <a:t>(</a:t>
            </a:r>
            <a:r>
              <a:rPr lang="ko-KR" altLang="en-US" dirty="0"/>
              <a:t>빨강색</a:t>
            </a:r>
            <a:r>
              <a:rPr lang="en-US" altLang="ko-KR" dirty="0"/>
              <a:t>)</a:t>
            </a:r>
            <a:r>
              <a:rPr lang="ko-KR" altLang="en-US" dirty="0"/>
              <a:t>에 임의의 데이터가 있을 확률을 </a:t>
            </a:r>
            <a:r>
              <a:rPr lang="en-US" altLang="ko-KR" dirty="0"/>
              <a:t>2</a:t>
            </a:r>
            <a:r>
              <a:rPr lang="ko-KR" altLang="en-US" dirty="0"/>
              <a:t>차원</a:t>
            </a:r>
            <a:r>
              <a:rPr lang="en-US" altLang="ko-KR" dirty="0"/>
              <a:t>, 3</a:t>
            </a:r>
            <a:r>
              <a:rPr lang="ko-KR" altLang="en-US" dirty="0"/>
              <a:t>차원</a:t>
            </a:r>
            <a:r>
              <a:rPr lang="en-US" altLang="ko-KR" dirty="0"/>
              <a:t>, 4</a:t>
            </a:r>
            <a:r>
              <a:rPr lang="ko-KR" altLang="en-US" dirty="0"/>
              <a:t>차원</a:t>
            </a:r>
            <a:r>
              <a:rPr lang="en-US" altLang="ko-KR" dirty="0"/>
              <a:t>, 100</a:t>
            </a:r>
            <a:r>
              <a:rPr lang="ko-KR" altLang="en-US" dirty="0"/>
              <a:t>차원까지 확장하여 계산하라</a:t>
            </a:r>
          </a:p>
        </p:txBody>
      </p:sp>
      <p:sp>
        <p:nvSpPr>
          <p:cNvPr id="14" name="오른쪽 중괄호 13">
            <a:extLst>
              <a:ext uri="{FF2B5EF4-FFF2-40B4-BE49-F238E27FC236}">
                <a16:creationId xmlns:a16="http://schemas.microsoft.com/office/drawing/2014/main" id="{1D319AD3-7C6F-5D74-D64E-BE0662F2AD89}"/>
              </a:ext>
            </a:extLst>
          </p:cNvPr>
          <p:cNvSpPr/>
          <p:nvPr/>
        </p:nvSpPr>
        <p:spPr>
          <a:xfrm>
            <a:off x="7324724" y="2420619"/>
            <a:ext cx="314325" cy="3667125"/>
          </a:xfrm>
          <a:prstGeom prst="rightBrace">
            <a:avLst>
              <a:gd name="adj1" fmla="val 45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오른쪽 중괄호 15">
            <a:extLst>
              <a:ext uri="{FF2B5EF4-FFF2-40B4-BE49-F238E27FC236}">
                <a16:creationId xmlns:a16="http://schemas.microsoft.com/office/drawing/2014/main" id="{EC1B7EBF-A4EB-27EC-021B-B5EA3DF6E392}"/>
              </a:ext>
            </a:extLst>
          </p:cNvPr>
          <p:cNvSpPr/>
          <p:nvPr/>
        </p:nvSpPr>
        <p:spPr>
          <a:xfrm rot="10800000">
            <a:off x="3104196" y="2502534"/>
            <a:ext cx="314325" cy="3463925"/>
          </a:xfrm>
          <a:prstGeom prst="rightBrace">
            <a:avLst>
              <a:gd name="adj1" fmla="val 45000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A83219-A091-EE97-6D09-081AA1E4D461}"/>
                  </a:ext>
                </a:extLst>
              </p:cNvPr>
              <p:cNvSpPr txBox="1"/>
              <p:nvPr/>
            </p:nvSpPr>
            <p:spPr>
              <a:xfrm>
                <a:off x="7758111" y="4077771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DA83219-A091-EE97-6D09-081AA1E4D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111" y="4077771"/>
                <a:ext cx="3866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418839-1373-1F5A-A382-DF16FB75A252}"/>
                  </a:ext>
                </a:extLst>
              </p:cNvPr>
              <p:cNvSpPr txBox="1"/>
              <p:nvPr/>
            </p:nvSpPr>
            <p:spPr>
              <a:xfrm>
                <a:off x="2512891" y="5803771"/>
                <a:ext cx="3674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ko-KR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418839-1373-1F5A-A382-DF16FB75A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2891" y="5803771"/>
                <a:ext cx="36740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111F6A-ED4E-CA39-CF59-F80AE897EFA4}"/>
                  </a:ext>
                </a:extLst>
              </p:cNvPr>
              <p:cNvSpPr txBox="1"/>
              <p:nvPr/>
            </p:nvSpPr>
            <p:spPr>
              <a:xfrm>
                <a:off x="2436981" y="4069515"/>
                <a:ext cx="5822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b="1" i="1" smtClean="0">
                          <a:latin typeface="Cambria Math" panose="02040503050406030204" pitchFamily="18" charset="0"/>
                        </a:rPr>
                        <m:t>𝜺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111F6A-ED4E-CA39-CF59-F80AE897E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981" y="4069515"/>
                <a:ext cx="5822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3408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89472-2894-5A71-FE73-7C8A5AD8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30B956-C993-C992-80CE-F028A3B8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9E7A49C6-7D72-B92A-C29E-AF96EFBA2897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 : Curse of Dimensionality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026" name="Picture 2" descr="The curse(s) of dimensionality | Nature Methods">
            <a:extLst>
              <a:ext uri="{FF2B5EF4-FFF2-40B4-BE49-F238E27FC236}">
                <a16:creationId xmlns:a16="http://schemas.microsoft.com/office/drawing/2014/main" id="{A85A9F98-EF66-2088-4ABF-79F701CB6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047" y="1601006"/>
            <a:ext cx="4666706" cy="452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0E4EFE-8F57-C87C-CFC9-D9C7BB5DD793}"/>
              </a:ext>
            </a:extLst>
          </p:cNvPr>
          <p:cNvSpPr txBox="1"/>
          <p:nvPr/>
        </p:nvSpPr>
        <p:spPr>
          <a:xfrm>
            <a:off x="5767345" y="2631380"/>
            <a:ext cx="6089375" cy="3493264"/>
          </a:xfrm>
          <a:prstGeom prst="rect">
            <a:avLst/>
          </a:prstGeom>
          <a:solidFill>
            <a:srgbClr val="76E3FF"/>
          </a:solidFill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numpy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np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import seaborn as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sns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scipy.stats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multivariate_normal</a:t>
            </a:r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생성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평균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표준편차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1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분포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mean = [0, 0]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cov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 = [[1, 0], [0, 1]]  # 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독립 변수 가정 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원형 분포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N = 10_000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x, y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multivariate_normal.rvs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(mean=mean,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cov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cov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, size=N).T</a:t>
            </a:r>
          </a:p>
          <a:p>
            <a:endParaRPr lang="en-US" altLang="ko-KR" sz="13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# Draw a combo histogram and scatterplot with density contours</a:t>
            </a:r>
          </a:p>
          <a:p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f, ax =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plt.subplots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=(6, 6))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sns.scatterplot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(x=x, y=y, s=5, color=".15")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sns.histplot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(x=x, y=y, bins=50,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pthresh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=.1, </a:t>
            </a:r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="mako")</a:t>
            </a:r>
          </a:p>
          <a:p>
            <a:r>
              <a:rPr lang="en-US" altLang="ko-KR" sz="13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sns.kdeplot</a:t>
            </a:r>
            <a:r>
              <a:rPr lang="en-US" altLang="ko-KR" sz="1300" dirty="0">
                <a:latin typeface="D2Coding" panose="020B0609020101020101" pitchFamily="49" charset="-127"/>
                <a:ea typeface="D2Coding" panose="020B0609020101020101" pitchFamily="49" charset="-127"/>
              </a:rPr>
              <a:t>(x=x, y=y, levels=5, color="w", linewidths=1)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3BD2A-0BC9-6490-4E92-669DF121DD6C}"/>
              </a:ext>
            </a:extLst>
          </p:cNvPr>
          <p:cNvSpPr txBox="1"/>
          <p:nvPr/>
        </p:nvSpPr>
        <p:spPr>
          <a:xfrm>
            <a:off x="5623753" y="2242629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layered_bivariate_plot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1648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60F6-B3C5-0C46-4C7A-2D2B293E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D09807-D0F2-214E-7585-7DDA567F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B899600-7233-CA9D-5EAD-8C04116B3B17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gaussian mixture model distributions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6E5CA069-05A3-B6DC-F65D-8E9DC566C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779" y="52082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384DCA8-F9C0-24B4-91FD-BB3E53088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4" y="2654753"/>
            <a:ext cx="2580698" cy="27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F274F54-3845-5E49-5105-70830BD29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968" y="2654751"/>
            <a:ext cx="2674837" cy="275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8DC78F-7FF1-78D4-7A0B-4F2D84999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511" y="2654752"/>
            <a:ext cx="2627226" cy="27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EFBC82-4C26-34AD-7EC1-939B1DDB48AF}"/>
              </a:ext>
            </a:extLst>
          </p:cNvPr>
          <p:cNvSpPr txBox="1"/>
          <p:nvPr/>
        </p:nvSpPr>
        <p:spPr>
          <a:xfrm>
            <a:off x="590464" y="1505595"/>
            <a:ext cx="938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개의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가우시안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정규분포가 데이터 분포에 혼재되어 숨어있는 그래프를 시각화 해보자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7E3A01-DE2D-B33A-9D6E-C090DACA0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444" y="2654752"/>
            <a:ext cx="2733889" cy="275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9BF775-3F2E-E3D0-972F-C2B8496A918A}"/>
              </a:ext>
            </a:extLst>
          </p:cNvPr>
          <p:cNvSpPr txBox="1"/>
          <p:nvPr/>
        </p:nvSpPr>
        <p:spPr>
          <a:xfrm>
            <a:off x="9118443" y="231902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smooth_bivariate_kde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994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8F73-8351-9819-936D-C508CD88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C5DE67-5850-1A78-5257-6E19CBED3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F8D1AAC-C3F3-2B3F-A445-27EB0C66B96D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regression</a:t>
            </a:r>
            <a:r>
              <a:rPr lang="ko-KR" altLang="en-US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model</a:t>
            </a:r>
            <a:r>
              <a:rPr lang="ko-KR" altLang="en-US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with</a:t>
            </a:r>
            <a:r>
              <a:rPr lang="ko-KR" altLang="en-US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2800" cap="none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gmm</a:t>
            </a:r>
            <a:r>
              <a:rPr lang="en-US" altLang="ko-KR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distributions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41717E0-CA4F-B99F-EE83-6C4AC3935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779" y="52082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26FAE2-39FF-4AD5-A5B9-DAC81820C559}"/>
              </a:ext>
            </a:extLst>
          </p:cNvPr>
          <p:cNvSpPr txBox="1"/>
          <p:nvPr/>
        </p:nvSpPr>
        <p:spPr>
          <a:xfrm>
            <a:off x="590464" y="1363355"/>
            <a:ext cx="10102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여러 개의 데이터 분포에 혼재되어 숨어있는 그래프를 시각화 해보자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seaborn_Example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gallery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6CF5C09-8792-B894-742C-3BE7CF50C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64" y="1905408"/>
            <a:ext cx="2321418" cy="233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8F5053F3-BC5D-5EA8-017A-C8E25AF98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463" y="1905407"/>
            <a:ext cx="2341985" cy="2337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A71CFBE-6DD0-9414-962E-7A7E7F99B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029" y="1905408"/>
            <a:ext cx="2891197" cy="233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A525403E-80ED-E3FF-91CA-88EA43BED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82" y="4316476"/>
            <a:ext cx="4797198" cy="233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74E2F4CC-39DF-A0E8-AC5B-43D9122C9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27" y="4316476"/>
            <a:ext cx="2891197" cy="245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464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9E0B-E4A4-D935-84DD-515F7262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231800-C976-3F1B-F586-A674DE551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E53146C9-B725-8BD3-8413-F20AE6FB1A00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Summary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D7A436-B2E9-31A4-2E23-960D855B21A1}"/>
              </a:ext>
            </a:extLst>
          </p:cNvPr>
          <p:cNvSpPr txBox="1"/>
          <p:nvPr/>
        </p:nvSpPr>
        <p:spPr>
          <a:xfrm>
            <a:off x="812800" y="1818640"/>
            <a:ext cx="10952479" cy="3432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선형대수는 데이터를 담는 그릇과 연산 도구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통계와 분포는 그 데이터의 의미를 해석하고 예측의 확신을 더하는 논리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선형대수가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머신러닝과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딥러닝 모델의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근육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연산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)”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이라면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통계와 확률은 모델의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지능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판단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)”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확률적 사고는 인공지능은 단순한 암기기가 아닌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복잡한 세상의 패턴을 추론하는 도구로 이해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기반이 탄탄할수록 최신 논문이나 알고리즘을 자신의 것으로 만들 수 있음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175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2277-2BB8-EA3C-F407-80C30E4F6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057CB7-A267-5A3A-7301-53DD95FE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412B334D-CE53-B4DA-BA04-544B0A37712D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ML/DL applicable to Industry Domains 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A2C30D-4320-84BB-FAE7-5A7BC18952AA}"/>
              </a:ext>
            </a:extLst>
          </p:cNvPr>
          <p:cNvSpPr txBox="1"/>
          <p:nvPr/>
        </p:nvSpPr>
        <p:spPr>
          <a:xfrm>
            <a:off x="657225" y="1400175"/>
            <a:ext cx="61608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pycaret_tutorials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Low Code for Machine Learning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7861E1-48D5-D84D-A3E4-1DB7620E1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236260"/>
              </p:ext>
            </p:extLst>
          </p:nvPr>
        </p:nvGraphicFramePr>
        <p:xfrm>
          <a:off x="1015479" y="2218731"/>
          <a:ext cx="10109721" cy="3048592"/>
        </p:xfrm>
        <a:graphic>
          <a:graphicData uri="http://schemas.openxmlformats.org/drawingml/2006/table">
            <a:tbl>
              <a:tblPr/>
              <a:tblGrid>
                <a:gridCol w="2032521">
                  <a:extLst>
                    <a:ext uri="{9D8B030D-6E8A-4147-A177-3AD203B41FA5}">
                      <a16:colId xmlns:a16="http://schemas.microsoft.com/office/drawing/2014/main" val="1558595867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401777559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601587682"/>
                    </a:ext>
                  </a:extLst>
                </a:gridCol>
              </a:tblGrid>
              <a:tr h="2913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분야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핵심 정의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대표 응용 사례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381036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Time Series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시간의 흐름에 따른 변화를 분석하여 예측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주가 및 환율 예측</a:t>
                      </a:r>
                      <a:r>
                        <a:rPr lang="en-US" altLang="ko-KR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전력 수요량 추정</a:t>
                      </a:r>
                      <a:r>
                        <a:rPr lang="en-US" altLang="ko-KR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기상 관측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0659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Binary Classification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데이터를 두 가지 그룹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(Yes/No)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중 하나로 분류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스팸 메일 차단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질병 유무 진단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신용카드 승인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608309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Multiclass Classification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데이터를 세 가지 이상의 카테고리 중 하나로 분류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손글씨 숫자 인식</a:t>
                      </a:r>
                      <a:r>
                        <a:rPr lang="en-US" altLang="ko-KR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뉴스 카테고리 자동 분류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377777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Regression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입력 변수의 상관관계를 파악해 연속적인 수치 예측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부동산 가격 산정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광고 대비 매출액 예측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958494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Clustering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데이터 간의 유사성을 측정하여 정답 없이 그룹 생성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고객 시장 세분화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유사 문서 묶기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추천 시스템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0489134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Anomaly Detection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패턴에서 벗어난 희귀하고 비정상적인 데이터 탐색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카드 부정 사용 탐지</a:t>
                      </a:r>
                      <a:r>
                        <a:rPr lang="en-US" altLang="ko-KR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(FDS), </a:t>
                      </a:r>
                      <a:r>
                        <a:rPr lang="ko-KR" altLang="en-US" sz="1400" b="0" normalizeH="0" baseline="0" dirty="0">
                          <a:effectLst/>
                          <a:latin typeface="맑은 고딕 Semilight" panose="020B0502040204020203" pitchFamily="50" charset="-127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a:t>설비 고장 사전 감지</a:t>
                      </a:r>
                    </a:p>
                  </a:txBody>
                  <a:tcPr marL="13370" marR="13370" marT="8913" marB="8913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06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0592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6100-61F3-6FE9-FD81-1440F4EE8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75C77-56DE-830E-71B3-0FE79523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B944703F-86DE-5D53-E507-2E26089CF888}"/>
              </a:ext>
            </a:extLst>
          </p:cNvPr>
          <p:cNvSpPr txBox="1">
            <a:spLocks/>
          </p:cNvSpPr>
          <p:nvPr/>
        </p:nvSpPr>
        <p:spPr>
          <a:xfrm>
            <a:off x="656620" y="4057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Choosing the right estimator 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2B0306-A14D-0698-12C2-3411B701B5EA}"/>
              </a:ext>
            </a:extLst>
          </p:cNvPr>
          <p:cNvSpPr txBox="1"/>
          <p:nvPr/>
        </p:nvSpPr>
        <p:spPr>
          <a:xfrm>
            <a:off x="533400" y="1251887"/>
            <a:ext cx="31101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/>
              </a:rPr>
              <a:t>machine_learning_map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050" name="Picture 2" descr="Move mouse over image">
            <a:extLst>
              <a:ext uri="{FF2B5EF4-FFF2-40B4-BE49-F238E27FC236}">
                <a16:creationId xmlns:a16="http://schemas.microsoft.com/office/drawing/2014/main" id="{EB0F8F73-752E-3F77-4D2D-087B18D99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854" y="1731661"/>
            <a:ext cx="7800346" cy="4863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40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7AABF-8E34-14ED-2A54-48F149A9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C25BA0-6347-AD14-4642-034E7A75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AFEE2A5-6076-E25F-D547-0D8FBF0FCD22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Self</a:t>
            </a:r>
            <a:r>
              <a:rPr lang="ko-KR" altLang="en-US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2800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study : 40 min</a:t>
            </a:r>
            <a:endParaRPr lang="ko-KR" altLang="en-US" sz="2800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223098-E37F-061C-74F5-64BC667BB779}"/>
              </a:ext>
            </a:extLst>
          </p:cNvPr>
          <p:cNvSpPr txBox="1"/>
          <p:nvPr/>
        </p:nvSpPr>
        <p:spPr>
          <a:xfrm>
            <a:off x="590464" y="1524000"/>
            <a:ext cx="2185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pytorch_recap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D8D6F7-8DC7-2BB5-3AF7-8AA8A4BE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666" y="1412011"/>
            <a:ext cx="4923869" cy="482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0985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2674</TotalTime>
  <Words>3338</Words>
  <Application>Microsoft Office PowerPoint</Application>
  <PresentationFormat>와이드스크린</PresentationFormat>
  <Paragraphs>414</Paragraphs>
  <Slides>34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D2Coding</vt:lpstr>
      <vt:lpstr>맑은 고딕</vt:lpstr>
      <vt:lpstr>맑은 고딕 Semilight</vt:lpstr>
      <vt:lpstr>Batang</vt:lpstr>
      <vt:lpstr>ADLaM Display</vt:lpstr>
      <vt:lpstr>Arial</vt:lpstr>
      <vt:lpstr>Cambria Math</vt:lpstr>
      <vt:lpstr>Segoe UI Light</vt:lpstr>
      <vt:lpstr>Wingdings</vt:lpstr>
      <vt:lpstr>WelcomeDoc</vt:lpstr>
      <vt:lpstr>Deep Learning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Contents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89</cp:revision>
  <dcterms:created xsi:type="dcterms:W3CDTF">2026-04-06T01:00:39Z</dcterms:created>
  <dcterms:modified xsi:type="dcterms:W3CDTF">2026-05-07T12:25:37Z</dcterms:modified>
  <cp:version/>
</cp:coreProperties>
</file>