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36"/>
  </p:notesMasterIdLst>
  <p:handoutMasterIdLst>
    <p:handoutMasterId r:id="rId37"/>
  </p:handoutMasterIdLst>
  <p:sldIdLst>
    <p:sldId id="256" r:id="rId2"/>
    <p:sldId id="1094" r:id="rId3"/>
    <p:sldId id="978" r:id="rId4"/>
    <p:sldId id="973" r:id="rId5"/>
    <p:sldId id="977" r:id="rId6"/>
    <p:sldId id="986" r:id="rId7"/>
    <p:sldId id="976" r:id="rId8"/>
    <p:sldId id="1095" r:id="rId9"/>
    <p:sldId id="886" r:id="rId10"/>
    <p:sldId id="1096" r:id="rId11"/>
    <p:sldId id="987" r:id="rId12"/>
    <p:sldId id="1097" r:id="rId13"/>
    <p:sldId id="949" r:id="rId14"/>
    <p:sldId id="991" r:id="rId15"/>
    <p:sldId id="990" r:id="rId16"/>
    <p:sldId id="992" r:id="rId17"/>
    <p:sldId id="982" r:id="rId18"/>
    <p:sldId id="983" r:id="rId19"/>
    <p:sldId id="968" r:id="rId20"/>
    <p:sldId id="994" r:id="rId21"/>
    <p:sldId id="908" r:id="rId22"/>
    <p:sldId id="885" r:id="rId23"/>
    <p:sldId id="1098" r:id="rId24"/>
    <p:sldId id="1103" r:id="rId25"/>
    <p:sldId id="1104" r:id="rId26"/>
    <p:sldId id="1102" r:id="rId27"/>
    <p:sldId id="1105" r:id="rId28"/>
    <p:sldId id="1106" r:id="rId29"/>
    <p:sldId id="1109" r:id="rId30"/>
    <p:sldId id="1110" r:id="rId31"/>
    <p:sldId id="1111" r:id="rId32"/>
    <p:sldId id="1099" r:id="rId33"/>
    <p:sldId id="1100" r:id="rId34"/>
    <p:sldId id="1107" r:id="rId35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1094"/>
            <p14:sldId id="978"/>
            <p14:sldId id="973"/>
            <p14:sldId id="977"/>
            <p14:sldId id="986"/>
            <p14:sldId id="976"/>
            <p14:sldId id="1095"/>
            <p14:sldId id="886"/>
            <p14:sldId id="1096"/>
            <p14:sldId id="987"/>
            <p14:sldId id="1097"/>
            <p14:sldId id="949"/>
            <p14:sldId id="991"/>
            <p14:sldId id="990"/>
            <p14:sldId id="992"/>
            <p14:sldId id="982"/>
            <p14:sldId id="983"/>
            <p14:sldId id="968"/>
            <p14:sldId id="994"/>
            <p14:sldId id="908"/>
            <p14:sldId id="885"/>
            <p14:sldId id="1098"/>
            <p14:sldId id="1103"/>
            <p14:sldId id="1104"/>
            <p14:sldId id="1102"/>
            <p14:sldId id="1105"/>
            <p14:sldId id="1106"/>
            <p14:sldId id="1109"/>
            <p14:sldId id="1110"/>
            <p14:sldId id="1111"/>
            <p14:sldId id="1099"/>
            <p14:sldId id="1100"/>
            <p14:sldId id="1107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E3FF"/>
    <a:srgbClr val="FF9B45"/>
    <a:srgbClr val="D24726"/>
    <a:srgbClr val="DD462F"/>
    <a:srgbClr val="404040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062" autoAdjust="0"/>
    <p:restoredTop sz="94297" autoAdjust="0"/>
  </p:normalViewPr>
  <p:slideViewPr>
    <p:cSldViewPr snapToGrid="0">
      <p:cViewPr>
        <p:scale>
          <a:sx n="75" d="100"/>
          <a:sy n="75" d="100"/>
        </p:scale>
        <p:origin x="1066" y="16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-6648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handoutMaster" Target="handoutMasters/handoutMaster1.xml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commentAuthors" Target="commentAuthor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2026-05-07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2026-05-07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837279-FA95-57FD-B2E0-B2C29D2843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650D63E-DC71-4D37-5D4F-468F49D2D2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F898BEE-6031-34C6-F089-690D9432055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CC5BB30-C1B6-C7CA-4B6D-82E37F0006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2869789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31029D-F7EF-775A-D816-AE9617A1D2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858B616-1D0A-FB3E-7C52-B5F4EFBC774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557553C-237D-A8F1-27F9-A0B62652AF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415FD8C-8A74-BF6F-9677-79D139288C4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24559032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ACDD6E-5C48-E546-8182-8ED285247B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AE351A6-C2EF-C308-4238-244C4AE97A7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7C6FAD1-346E-BA96-CFA1-591BDCFAE1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04DBFDC-E055-2E91-80DA-ECA4680BE86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10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4428759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48ECD1-C81E-2409-5D43-C21FA1E722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BC7CC44-0EB4-AF44-849C-6815239C770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9BCA7EC-A1C8-D166-3DB9-25E346722E7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16C226F-B8ED-7A65-5C83-C6559218E06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6032112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4557DF-CFA3-8088-54F3-A8C6446994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C798C66-2AD1-5589-11DF-3DB07A97A3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26C59A7-7455-B150-8057-00FEBC6D88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A17F92C-9FE1-E25E-1B6E-862D8B22AFA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1701505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2026-05-07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5/7/2026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2026-05-07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mathematics-for-machine-learning/blob/main/excel/stochasti%20gradient%20descent.xlsx" TargetMode="External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4.xml"/><Relationship Id="rId5" Type="http://schemas.microsoft.com/office/2007/relationships/hdphoto" Target="../media/hdphoto1.wdp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hyperlink" Target="https://github.com/ancestor9/mathematics-for-machine-learning/blob/main/excel/loss_functions.xlsx" TargetMode="Externa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6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hyperlink" Target="https://github.com/ancestor9/mathematics-for-machine-learning/blob/main/pytorch/08_odds_ratio_logit_sigmoid.ipynb" TargetMode="Externa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4.xml"/><Relationship Id="rId5" Type="http://schemas.openxmlformats.org/officeDocument/2006/relationships/hyperlink" Target="https://github.com/ancestor9/mathematics-for-machine-learning/blob/main/excel/XOR_perceptron_optimization_backprpagation_sgd.xlsx" TargetMode="External"/><Relationship Id="rId4" Type="http://schemas.openxmlformats.org/officeDocument/2006/relationships/hyperlink" Target="https://www.youtube.com/watch?v=t3VBY9OisCo" TargetMode="Externa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pytorch.org/" TargetMode="External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4.xml"/><Relationship Id="rId6" Type="http://schemas.openxmlformats.org/officeDocument/2006/relationships/hyperlink" Target="https://www.youtube.com/watch?v=ILsA4nyG7I0" TargetMode="External"/><Relationship Id="rId5" Type="http://schemas.openxmlformats.org/officeDocument/2006/relationships/hyperlink" Target="https://github.com/ancestor9/mathematics-for-machine-learning/blob/main/scripts/w4_pytorch_tutorial.ipynb" TargetMode="External"/><Relationship Id="rId4" Type="http://schemas.openxmlformats.org/officeDocument/2006/relationships/image" Target="../media/image23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seaborn.pydata.org/examples/layered_bivariate_plot.html" TargetMode="External"/><Relationship Id="rId2" Type="http://schemas.openxmlformats.org/officeDocument/2006/relationships/image" Target="../media/image31.jpeg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7" Type="http://schemas.openxmlformats.org/officeDocument/2006/relationships/hyperlink" Target="https://seaborn.pydata.org/examples/smooth_bivariate_kde.html" TargetMode="External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7.png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.png"/><Relationship Id="rId3" Type="http://schemas.openxmlformats.org/officeDocument/2006/relationships/hyperlink" Target="https://seaborn.pydata.org/examples/index.html" TargetMode="External"/><Relationship Id="rId7" Type="http://schemas.openxmlformats.org/officeDocument/2006/relationships/image" Target="../media/image41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0.png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hyperlink" Target="https://pycaret.gitbook.io/docs/get-started/tutorials" TargetMode="External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hyperlink" Target="https://scikit-learn.org/1.3/tutorial/machine_learning_map/" TargetMode="External"/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hyperlink" Target="https://github.com/ancestor9/mathematics-for-machine-learning/tree/main/pytorch_recap" TargetMode="Externa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200" y="1164324"/>
            <a:ext cx="10515600" cy="2387600"/>
          </a:xfrm>
        </p:spPr>
        <p:txBody>
          <a:bodyPr rtlCol="0" anchor="ctr" anchorCtr="0">
            <a:normAutofit/>
          </a:bodyPr>
          <a:lstStyle/>
          <a:p>
            <a:pPr rtl="0"/>
            <a:r>
              <a:rPr lang="en-US" altLang="ko-KR" sz="4800" dirty="0">
                <a:solidFill>
                  <a:schemeClr val="bg1"/>
                </a:solidFill>
              </a:rPr>
              <a:t>Deep Learning</a:t>
            </a:r>
            <a:endParaRPr lang="ko-KR" altLang="en-US" sz="4800" dirty="0">
              <a:solidFill>
                <a:schemeClr val="bg1"/>
              </a:solidFill>
            </a:endParaRPr>
          </a:p>
        </p:txBody>
      </p:sp>
      <p:sp>
        <p:nvSpPr>
          <p:cNvPr id="3" name="부제목 2"/>
          <p:cNvSpPr>
            <a:spLocks noGrp="1"/>
          </p:cNvSpPr>
          <p:nvPr>
            <p:ph type="subTitle" idx="4294967295"/>
          </p:nvPr>
        </p:nvSpPr>
        <p:spPr>
          <a:xfrm>
            <a:off x="855620" y="2933105"/>
            <a:ext cx="9582736" cy="1137793"/>
          </a:xfrm>
        </p:spPr>
        <p:txBody>
          <a:bodyPr rtlCol="0">
            <a:normAutofit/>
          </a:bodyPr>
          <a:lstStyle/>
          <a:p>
            <a:r>
              <a:rPr lang="en-US" altLang="ko-KR" sz="2400" dirty="0" err="1">
                <a:solidFill>
                  <a:schemeClr val="bg1"/>
                </a:solidFill>
              </a:rPr>
              <a:t>Pytorch</a:t>
            </a:r>
            <a:r>
              <a:rPr lang="en-US" altLang="ko-KR" sz="2400" dirty="0">
                <a:solidFill>
                  <a:schemeClr val="bg1"/>
                </a:solidFill>
              </a:rPr>
              <a:t> </a:t>
            </a:r>
            <a:endParaRPr lang="ko-KR" altLang="en-US" sz="24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Spring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B125F6-F24E-9FB4-6ECA-D22604C4AC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AB0C61D8-1616-C6B8-9FEC-D11B28CD4BF2}"/>
              </a:ext>
            </a:extLst>
          </p:cNvPr>
          <p:cNvSpPr/>
          <p:nvPr/>
        </p:nvSpPr>
        <p:spPr>
          <a:xfrm>
            <a:off x="1457324" y="1600201"/>
            <a:ext cx="8277225" cy="64008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A47D1732-55A1-BAC2-7A11-146984E7CE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solidFill>
                  <a:schemeClr val="tx1"/>
                </a:solidFill>
                <a:cs typeface="Segoe UI Light" panose="020B0502040204020203" pitchFamily="34" charset="0"/>
              </a:rPr>
              <a:t>Contents</a:t>
            </a:r>
            <a:endParaRPr lang="ko-KR" altLang="en-US" dirty="0">
              <a:solidFill>
                <a:schemeClr val="tx1"/>
              </a:solidFill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8BD6D622-6C11-B524-84D3-DE18F25D860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</a:t>
            </a:fld>
            <a:endParaRPr lang="ko-KR" altLang="en-US" noProof="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CC1D6EC-EA81-70BB-F0CB-C30EA60FDF8D}"/>
              </a:ext>
            </a:extLst>
          </p:cNvPr>
          <p:cNvSpPr txBox="1"/>
          <p:nvPr/>
        </p:nvSpPr>
        <p:spPr>
          <a:xfrm>
            <a:off x="1957661" y="1356552"/>
            <a:ext cx="8662713" cy="42812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Autograd</a:t>
            </a: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&amp; Backpropagation : Recap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FCNN(Fully Connected Neural Network)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Regression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Classification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Dimension Reduction</a:t>
            </a:r>
          </a:p>
        </p:txBody>
      </p:sp>
    </p:spTree>
    <p:extLst>
      <p:ext uri="{BB962C8B-B14F-4D97-AF65-F5344CB8AC3E}">
        <p14:creationId xmlns:p14="http://schemas.microsoft.com/office/powerpoint/2010/main" val="7220907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FFB53F-5797-0BB2-9323-F166DE5B67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BFB5B3E-2733-6F10-C433-7C314850C9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56A9490-8D65-6528-22C1-98B7D508091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PyTorch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E24E00A9-B7BD-84B1-C8C9-4379A44B71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4196" y="2796363"/>
            <a:ext cx="4492179" cy="2374720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E2B39FB3-BDC3-5CE1-2660-D71F27A4AC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7695" y="2796363"/>
            <a:ext cx="4737003" cy="306355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000331E-189C-7790-90B5-D620BD0EBE3F}"/>
              </a:ext>
            </a:extLst>
          </p:cNvPr>
          <p:cNvSpPr txBox="1"/>
          <p:nvPr/>
        </p:nvSpPr>
        <p:spPr>
          <a:xfrm>
            <a:off x="2177634" y="5497523"/>
            <a:ext cx="31662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Forward, </a:t>
            </a:r>
            <a:r>
              <a:rPr lang="en-US" altLang="ko-KR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Autograd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Backward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B747EDD-F717-2F86-B83C-CA5F3D943427}"/>
              </a:ext>
            </a:extLst>
          </p:cNvPr>
          <p:cNvSpPr txBox="1"/>
          <p:nvPr/>
        </p:nvSpPr>
        <p:spPr>
          <a:xfrm>
            <a:off x="561974" y="1265090"/>
            <a:ext cx="10835829" cy="115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Forward: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시험 문제를 풀고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네크워크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구조 설정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Loss </a:t>
            </a:r>
            <a:r>
              <a:rPr lang="ko-KR" altLang="en-US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계산</a:t>
            </a: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채점을 해서 몇 점 틀렸는지 확인한 후 </a:t>
            </a: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Backward: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틀린 문제의 해설지를 보며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어떤 개념이 부족했는지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파악하여 </a:t>
            </a: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Optimization: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부족했던 개념을 새로 공부해서 머릿속 지식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가중치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고쳐가는 과정을 수천 번 반복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(Epoch)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하면 모델은 점점 정답에 가까워지게 학습</a:t>
            </a:r>
          </a:p>
        </p:txBody>
      </p:sp>
    </p:spTree>
    <p:extLst>
      <p:ext uri="{BB962C8B-B14F-4D97-AF65-F5344CB8AC3E}">
        <p14:creationId xmlns:p14="http://schemas.microsoft.com/office/powerpoint/2010/main" val="21533600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071F35-8C4C-4F00-48DE-2BB6101106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1ED8FB9-E995-C351-50A4-21CB273CB3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15" name="제목 1">
            <a:extLst>
              <a:ext uri="{FF2B5EF4-FFF2-40B4-BE49-F238E27FC236}">
                <a16:creationId xmlns:a16="http://schemas.microsoft.com/office/drawing/2014/main" id="{A792CE88-920B-B9FD-AFAF-2A44541C1D43}"/>
              </a:ext>
            </a:extLst>
          </p:cNvPr>
          <p:cNvSpPr txBox="1">
            <a:spLocks/>
          </p:cNvSpPr>
          <p:nvPr/>
        </p:nvSpPr>
        <p:spPr>
          <a:xfrm>
            <a:off x="537021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Autograd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chemeClr val="accent6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Forward pass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: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pytorch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D1AEA3D4-B2E7-81BF-4EC0-71283B1608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4775" y="9236"/>
            <a:ext cx="1677554" cy="1109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21E0A323-CDF3-5091-9096-CEF8B5996E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096" y="3073075"/>
            <a:ext cx="4492179" cy="237472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2590370B-53E0-61CC-7F18-218A76E249D3}"/>
              </a:ext>
            </a:extLst>
          </p:cNvPr>
          <p:cNvSpPr txBox="1"/>
          <p:nvPr/>
        </p:nvSpPr>
        <p:spPr>
          <a:xfrm>
            <a:off x="537021" y="1245750"/>
            <a:ext cx="10902504" cy="15220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Forward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Pass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(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순전파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수학적 연산이 수행되는 순방향 과정을 나타내며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연산의 구성은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입력값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숫자 2가 '더하기(+)' 노드로 들어가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결과값(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)은 이 노드를 거쳐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+ 2라는 결과가 도출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PyTorch에서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+ 2라고 쓰는 순간, 내부적으로는 이런 연산그래프 노드가 생성되며 이때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y는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단순한 숫자 값이 아니라, 어떤 연산을 통해 만들어졌는지에 대한 정보를 함께 가지게 됨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234B6B8-49C6-CCD9-83EC-AFA53128D93F}"/>
              </a:ext>
            </a:extLst>
          </p:cNvPr>
          <p:cNvSpPr txBox="1"/>
          <p:nvPr/>
        </p:nvSpPr>
        <p:spPr>
          <a:xfrm>
            <a:off x="5534025" y="3073075"/>
            <a:ext cx="6096000" cy="2862322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</a:t>
            </a:r>
            <a:endParaRPr lang="ko-KR" altLang="en-US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# 1.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입력값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(기울기를 계산하도록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설정)</a:t>
            </a:r>
          </a:p>
          <a:p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torch.tensor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(1.0,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endParaRPr lang="ko-KR" altLang="en-US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# 2.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Forward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Pass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순전파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): 그림의 초록색 화살표 과정</a:t>
            </a:r>
          </a:p>
          <a:p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+ 2 연산 수행</a:t>
            </a:r>
          </a:p>
          <a:p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+ 2</a:t>
            </a:r>
          </a:p>
          <a:p>
            <a:endParaRPr lang="ko-KR" altLang="en-US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f"Forward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결과 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): {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y.item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()}")</a:t>
            </a:r>
            <a:endParaRPr lang="en-US" altLang="ko-KR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# 이미지의 '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AddBackward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' 확인</a:t>
            </a:r>
          </a:p>
          <a:p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f"연산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식별자 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grad_fn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): {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y.grad_fn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}") </a:t>
            </a:r>
          </a:p>
        </p:txBody>
      </p:sp>
    </p:spTree>
    <p:extLst>
      <p:ext uri="{BB962C8B-B14F-4D97-AF65-F5344CB8AC3E}">
        <p14:creationId xmlns:p14="http://schemas.microsoft.com/office/powerpoint/2010/main" val="35592945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CEC2DF-39AA-EAFD-BC6B-0B41748ECF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792FEE9-46F5-EA57-68C2-427AFE42EE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15" name="제목 1">
            <a:extLst>
              <a:ext uri="{FF2B5EF4-FFF2-40B4-BE49-F238E27FC236}">
                <a16:creationId xmlns:a16="http://schemas.microsoft.com/office/drawing/2014/main" id="{01F5082A-5927-C6E1-DA4F-5F71251E9A7A}"/>
              </a:ext>
            </a:extLst>
          </p:cNvPr>
          <p:cNvSpPr txBox="1">
            <a:spLocks/>
          </p:cNvSpPr>
          <p:nvPr/>
        </p:nvSpPr>
        <p:spPr>
          <a:xfrm>
            <a:off x="537021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Autograd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Backward Pass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: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pytorch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34D307B3-1256-BA92-853B-52BFE54F9A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4775" y="9236"/>
            <a:ext cx="1677554" cy="1109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401D5DF3-B10F-E653-EEF7-4FEF832900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7545" y="3175319"/>
            <a:ext cx="4737003" cy="306355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15F44A6-312B-CF7E-D95F-868985B25DBA}"/>
              </a:ext>
            </a:extLst>
          </p:cNvPr>
          <p:cNvSpPr txBox="1"/>
          <p:nvPr/>
        </p:nvSpPr>
        <p:spPr>
          <a:xfrm>
            <a:off x="537021" y="1259068"/>
            <a:ext cx="11410028" cy="16114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Backward Pass(</a:t>
            </a:r>
            <a:r>
              <a:rPr lang="ko-KR" altLang="en-US" sz="17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역전파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미분 계수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기울기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계산하는 역방향 연산 결과로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y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</a:t>
            </a:r>
            <a:r>
              <a:rPr lang="en-US" altLang="ko-KR" sz="17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grad_fn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라는 속성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즉 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더하기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 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연산으로 만들어졌기 때문에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y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에는 </a:t>
            </a:r>
            <a:r>
              <a:rPr lang="en-US" altLang="ko-KR" sz="17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AddBackward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라는 미분용 함수가 자동으로 </a:t>
            </a:r>
            <a:r>
              <a:rPr lang="ko-KR" altLang="en-US" sz="17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태깅</a:t>
            </a:r>
            <a:endParaRPr lang="en-US" altLang="ko-KR" sz="17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나중에 </a:t>
            </a:r>
            <a:r>
              <a:rPr lang="ko-KR" altLang="en-US" sz="17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역전파할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때 이 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더하기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 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규칙에 맞춰 미분해라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라는 메모지로 학습 시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7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y.backward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()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호출하면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화살표가 반대 방향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빨간색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흐르면서 미분을 하여 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결과값 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 미치는 영향력을 계산하여 뒤로 전달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A9DFD6F-F034-68FF-258C-3F04261064E7}"/>
              </a:ext>
            </a:extLst>
          </p:cNvPr>
          <p:cNvSpPr txBox="1"/>
          <p:nvPr/>
        </p:nvSpPr>
        <p:spPr>
          <a:xfrm>
            <a:off x="5713902" y="3175319"/>
            <a:ext cx="6096000" cy="1815882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3.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Backward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Pass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역전파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): 그림의 빨간색 화살표 과정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dx를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미분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(gradient)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계산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y.backward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4. 결과 확인 (기울기)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+ 2 이므로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1이 생성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f"x의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기울기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): {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x.grad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}")</a:t>
            </a:r>
          </a:p>
        </p:txBody>
      </p:sp>
    </p:spTree>
    <p:extLst>
      <p:ext uri="{BB962C8B-B14F-4D97-AF65-F5344CB8AC3E}">
        <p14:creationId xmlns:p14="http://schemas.microsoft.com/office/powerpoint/2010/main" val="81953426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FF02DA-20F1-737B-D0B0-2E568ECD1B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42C83A0-3BE3-EEE2-FFEA-0272A1C8A4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15" name="제목 1">
            <a:extLst>
              <a:ext uri="{FF2B5EF4-FFF2-40B4-BE49-F238E27FC236}">
                <a16:creationId xmlns:a16="http://schemas.microsoft.com/office/drawing/2014/main" id="{DB8FDAC1-BF69-9FDB-D572-0A0F2FD47949}"/>
              </a:ext>
            </a:extLst>
          </p:cNvPr>
          <p:cNvSpPr txBox="1">
            <a:spLocks/>
          </p:cNvSpPr>
          <p:nvPr/>
        </p:nvSpPr>
        <p:spPr>
          <a:xfrm>
            <a:off x="537021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Autograd</a:t>
            </a:r>
            <a:r>
              <a:rPr lang="ko-KR" altLang="en-US" sz="2800" cap="none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Backward Pass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pytorch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A6FAD018-9242-05E9-922B-D4A1BE8DB2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4775" y="9236"/>
            <a:ext cx="1677554" cy="1109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8599F50-01FB-2B8F-FDD0-55673AF023E0}"/>
              </a:ext>
            </a:extLst>
          </p:cNvPr>
          <p:cNvSpPr txBox="1"/>
          <p:nvPr/>
        </p:nvSpPr>
        <p:spPr>
          <a:xfrm>
            <a:off x="743196" y="1749284"/>
            <a:ext cx="4644578" cy="4390817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torch</a:t>
            </a:r>
          </a:p>
          <a:p>
            <a:pPr>
              <a:lnSpc>
                <a:spcPts val="1575"/>
              </a:lnSpc>
              <a:buNone/>
            </a:pP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1.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데이터 정의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이미지 속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Data x, y)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x_train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torch.tensor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([1.0, 2.0, 4.0, 3.0, 5.0])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y_train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torch.tensor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([1.0, 3.0, 3.0, 2.0, 5.0])</a:t>
            </a:r>
          </a:p>
          <a:p>
            <a:pPr>
              <a:lnSpc>
                <a:spcPts val="1575"/>
              </a:lnSpc>
              <a:buNone/>
            </a:pP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2.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모델 파라미터 초기화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이미지 초기 설정 </a:t>
            </a:r>
            <a:r>
              <a:rPr lang="el-G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α=β=0)</a:t>
            </a:r>
          </a:p>
          <a:p>
            <a:pPr>
              <a:lnSpc>
                <a:spcPts val="1575"/>
              </a:lnSpc>
              <a:buNone/>
            </a:pPr>
            <a:r>
              <a:rPr lang="el-G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절편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(alpha)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과 기울기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(beta)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를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으로 설정하고 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alpha = </a:t>
            </a:r>
            <a:r>
              <a:rPr lang="en-US" altLang="ko-KR" sz="1200" b="1" dirty="0" err="1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torch.tensor</a:t>
            </a: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(0.0, </a:t>
            </a:r>
            <a:r>
              <a:rPr lang="en-US" altLang="ko-KR" sz="1200" b="1" dirty="0" err="1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=True)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beta = </a:t>
            </a:r>
            <a:r>
              <a:rPr lang="en-US" altLang="ko-KR" sz="1200" b="1" dirty="0" err="1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torch.tensor</a:t>
            </a: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(0.0, </a:t>
            </a:r>
            <a:r>
              <a:rPr lang="en-US" altLang="ko-KR" sz="1200" b="1" dirty="0" err="1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=True)</a:t>
            </a:r>
          </a:p>
          <a:p>
            <a:pPr>
              <a:lnSpc>
                <a:spcPts val="1575"/>
              </a:lnSpc>
              <a:buNone/>
            </a:pP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3. </a:t>
            </a:r>
            <a:r>
              <a:rPr lang="ko-KR" altLang="en-US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하이퍼파라미터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설정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0.01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epochs = 4</a:t>
            </a:r>
          </a:p>
          <a:p>
            <a:pPr>
              <a:lnSpc>
                <a:spcPts val="1575"/>
              </a:lnSpc>
              <a:buNone/>
            </a:pP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초기 상태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alpha = {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alpha.item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():.4f}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")</a:t>
            </a: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초기 상태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beta = {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beta.item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():.4f}\n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>
              <a:lnSpc>
                <a:spcPts val="1575"/>
              </a:lnSpc>
              <a:buNone/>
            </a:pP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4.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학습 시작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(Recursive iterations)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iteration = 0</a:t>
            </a:r>
            <a:b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65646A4-8B9E-6FA2-816C-B833DF47B5F4}"/>
              </a:ext>
            </a:extLst>
          </p:cNvPr>
          <p:cNvSpPr txBox="1"/>
          <p:nvPr/>
        </p:nvSpPr>
        <p:spPr>
          <a:xfrm>
            <a:off x="5425490" y="1749285"/>
            <a:ext cx="6023314" cy="4390817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for epoch in range(1, epochs + 1):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print(f"--- {epoch} epoch ---")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#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엑셀처럼 각 데이터 샘플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(instance)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마다 업데이트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(SGD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방식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for x, y in zip(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x_train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y_train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# </a:t>
            </a:r>
            <a:r>
              <a:rPr lang="ko-KR" altLang="en-US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예측값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계산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l-G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α + β *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200" b="1" dirty="0" err="1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alpha + beta * x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#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오차 계산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(error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- y)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loss = (</a:t>
            </a:r>
            <a:r>
              <a:rPr lang="en-US" altLang="ko-KR" sz="1200" b="1" dirty="0" err="1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- y) ** 2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/2  #(y_hat-y)^2/2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를 미분하면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-y)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가 됨</a:t>
            </a:r>
          </a:p>
          <a:p>
            <a:pPr>
              <a:lnSpc>
                <a:spcPts val="1575"/>
              </a:lnSpc>
              <a:buNone/>
            </a:pP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역전파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기울기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(Gradient)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계산</a:t>
            </a:r>
          </a:p>
          <a:p>
            <a:pPr>
              <a:lnSpc>
                <a:spcPts val="1575"/>
              </a:lnSpc>
              <a:buNone/>
            </a:pP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200" b="1" dirty="0" err="1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loss.backward</a:t>
            </a: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#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파라미터 업데이트 </a:t>
            </a: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#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Autograd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기록을 건드리지 않기 위해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torch.no_grad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사용</a:t>
            </a:r>
          </a:p>
          <a:p>
            <a:pPr>
              <a:lnSpc>
                <a:spcPts val="1575"/>
              </a:lnSpc>
              <a:buNone/>
            </a:pP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with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torch.no_grad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():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  </a:t>
            </a: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alpha -= </a:t>
            </a:r>
            <a:r>
              <a:rPr lang="en-US" altLang="ko-KR" sz="1200" b="1" dirty="0" err="1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* </a:t>
            </a:r>
            <a:r>
              <a:rPr lang="en-US" altLang="ko-KR" sz="1200" b="1" dirty="0" err="1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alpha.grad</a:t>
            </a:r>
            <a:endParaRPr lang="en-US" altLang="ko-KR" sz="1200" b="1" dirty="0">
              <a:solidFill>
                <a:srgbClr val="D24726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  beta -= </a:t>
            </a:r>
            <a:r>
              <a:rPr lang="en-US" altLang="ko-KR" sz="1200" b="1" dirty="0" err="1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* </a:t>
            </a:r>
            <a:r>
              <a:rPr lang="en-US" altLang="ko-KR" sz="1200" b="1" dirty="0" err="1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beta.grad</a:t>
            </a:r>
            <a:endParaRPr lang="en-US" altLang="ko-KR" sz="1200" b="1" dirty="0">
              <a:solidFill>
                <a:srgbClr val="D24726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  #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다음 반복을 위해 기울기 초기화</a:t>
            </a:r>
          </a:p>
          <a:p>
            <a:pPr>
              <a:lnSpc>
                <a:spcPts val="1575"/>
              </a:lnSpc>
              <a:buNone/>
            </a:pP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 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alpha.grad.zero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_();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beta.grad.zero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_()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print(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f"Iteration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{iteration}: alpha={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alpha.item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():.4f}, \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      beta={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beta.item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():.4f}, error={(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- y).item():.4f}")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iteration += 1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print()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2595D80-1965-E9EF-FD9B-071FD52325B3}"/>
              </a:ext>
            </a:extLst>
          </p:cNvPr>
          <p:cNvSpPr txBox="1"/>
          <p:nvPr/>
        </p:nvSpPr>
        <p:spPr>
          <a:xfrm>
            <a:off x="613223" y="1314829"/>
            <a:ext cx="357777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  <a:hlinkClick r:id="rId3"/>
              </a:rPr>
              <a:t>sgd.xlsx</a:t>
            </a:r>
            <a:r>
              <a:rPr lang="ko-KR" altLang="en-US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예제를 </a:t>
            </a:r>
            <a:r>
              <a:rPr lang="en-US" altLang="ko-KR" dirty="0" err="1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pytorch</a:t>
            </a:r>
            <a:r>
              <a:rPr lang="ko-KR" altLang="en-US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코드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CE12287B-57AD-1713-2D34-689C3872A19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colorTemperature colorTemp="112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9341338" y="4356701"/>
            <a:ext cx="1702369" cy="6229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095178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312D0A-5D07-F026-511C-2A5BFC23F3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D750F38-937E-F755-580F-AE17EBFCC3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15" name="제목 1">
            <a:extLst>
              <a:ext uri="{FF2B5EF4-FFF2-40B4-BE49-F238E27FC236}">
                <a16:creationId xmlns:a16="http://schemas.microsoft.com/office/drawing/2014/main" id="{3C91F776-8B9B-98BC-8E11-9635E9A04D0A}"/>
              </a:ext>
            </a:extLst>
          </p:cNvPr>
          <p:cNvSpPr txBox="1">
            <a:spLocks/>
          </p:cNvSpPr>
          <p:nvPr/>
        </p:nvSpPr>
        <p:spPr>
          <a:xfrm>
            <a:off x="537021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Hands-on Linear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with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pytorch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AD69CF31-4A39-9AB8-FCC2-916BEE125D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4775" y="9236"/>
            <a:ext cx="1677554" cy="1109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5DD5DA5-375F-BBD5-5460-D40A69A58F64}"/>
              </a:ext>
            </a:extLst>
          </p:cNvPr>
          <p:cNvSpPr txBox="1"/>
          <p:nvPr/>
        </p:nvSpPr>
        <p:spPr>
          <a:xfrm>
            <a:off x="638982" y="1346628"/>
            <a:ext cx="10628574" cy="4560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ko-KR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PyTorch의</a:t>
            </a:r>
            <a:r>
              <a:rPr lang="ko-KR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ko-KR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Autograd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backward</a:t>
            </a:r>
            <a:r>
              <a:rPr lang="ko-KR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기능을 통해 </a:t>
            </a:r>
            <a:r>
              <a:rPr lang="ko-KR" altLang="ko-KR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a와</a:t>
            </a:r>
            <a:r>
              <a:rPr lang="ko-KR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ko-KR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b를</a:t>
            </a:r>
            <a:r>
              <a:rPr lang="ko-KR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학습(최적화)하는 전체 코드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CE9CB94-5A27-0BFD-6BB8-559463C11FAD}"/>
              </a:ext>
            </a:extLst>
          </p:cNvPr>
          <p:cNvSpPr txBox="1"/>
          <p:nvPr/>
        </p:nvSpPr>
        <p:spPr>
          <a:xfrm>
            <a:off x="715326" y="1926290"/>
            <a:ext cx="4656774" cy="4570482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torch</a:t>
            </a:r>
          </a:p>
          <a:p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# 1.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 생성</a:t>
            </a:r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X, y, w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make_regression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n_samples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=50,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</a:t>
            </a:r>
            <a:r>
              <a:rPr lang="en-US" altLang="ko-KR" sz="1400" b="1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n_features</a:t>
            </a:r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=3,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noise=15,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coef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=True,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random_state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=11)</a:t>
            </a:r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# 2.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데이터를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PyTorch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Tensor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로 변환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X_np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(50, 1)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형태이므로 그대로 사용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y_np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(50,)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이므로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(50, 1)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로 변환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X =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torch.FloatTensor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(X)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y =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torch.FloatTensor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(y).view(-1, 1)</a:t>
            </a:r>
            <a:b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# 3.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파라미터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a, b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정의 및 초기화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미분 가능 설정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 = </a:t>
            </a:r>
            <a:r>
              <a:rPr lang="en-US" altLang="ko-KR" sz="1300" dirty="0" err="1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torch.randn</a:t>
            </a:r>
            <a:r>
              <a:rPr lang="en-US" altLang="ko-KR" sz="1300" dirty="0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(1, </a:t>
            </a:r>
            <a:r>
              <a:rPr lang="en-US" altLang="ko-KR" sz="1300" dirty="0" err="1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en-US" altLang="ko-KR" sz="1300" dirty="0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=True)</a:t>
            </a:r>
          </a:p>
          <a:p>
            <a:r>
              <a:rPr lang="en-US" altLang="ko-KR" sz="1300" dirty="0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 = </a:t>
            </a:r>
            <a:r>
              <a:rPr lang="en-US" altLang="ko-KR" sz="1300" dirty="0" err="1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torch.randn</a:t>
            </a:r>
            <a:r>
              <a:rPr lang="en-US" altLang="ko-KR" sz="1300" dirty="0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(1, </a:t>
            </a:r>
            <a:r>
              <a:rPr lang="en-US" altLang="ko-KR" sz="1300" dirty="0" err="1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en-US" altLang="ko-KR" sz="1300" dirty="0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=True)</a:t>
            </a:r>
          </a:p>
          <a:p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# 4. </a:t>
            </a:r>
            <a:r>
              <a:rPr lang="ko-KR" altLang="en-US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하이퍼파라미터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설정</a:t>
            </a:r>
          </a:p>
          <a:p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= 0.01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epochs = 1000</a:t>
            </a:r>
            <a:endParaRPr lang="ko-KR" altLang="en-US" sz="13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4B556DF-C93B-5239-CCDC-23DA6FDC6BBE}"/>
              </a:ext>
            </a:extLst>
          </p:cNvPr>
          <p:cNvSpPr txBox="1"/>
          <p:nvPr/>
        </p:nvSpPr>
        <p:spPr>
          <a:xfrm>
            <a:off x="5538683" y="1926290"/>
            <a:ext cx="5352099" cy="4493538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# 5.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학습 루프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for epoch in range(epochs):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# </a:t>
            </a:r>
            <a:r>
              <a:rPr lang="ko-KR" altLang="en-US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예측값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계산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(Forward Pass)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300" dirty="0" err="1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en-US" altLang="ko-KR" sz="1300" dirty="0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= a + b * X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#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손실 함수 계산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(MSE)</a:t>
            </a:r>
            <a:endParaRPr lang="ko-KR" altLang="en-US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300" dirty="0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loss = </a:t>
            </a:r>
            <a:r>
              <a:rPr lang="en-US" altLang="ko-KR" sz="1300" dirty="0" err="1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torch.mean</a:t>
            </a:r>
            <a:r>
              <a:rPr lang="en-US" altLang="ko-KR" sz="1300" dirty="0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((</a:t>
            </a:r>
            <a:r>
              <a:rPr lang="en-US" altLang="ko-KR" sz="1300" dirty="0" err="1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en-US" altLang="ko-KR" sz="1300" dirty="0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- y)**2)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# </a:t>
            </a:r>
            <a:r>
              <a:rPr lang="ko-KR" altLang="en-US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역전파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(Backward Pass): dL/da, dL/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db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자동 계산</a:t>
            </a:r>
          </a:p>
          <a:p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300" dirty="0" err="1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loss.backward</a:t>
            </a:r>
            <a:r>
              <a:rPr lang="en-US" altLang="ko-KR" sz="1300" dirty="0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#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파라미터 업데이트 및 기울기 초기화</a:t>
            </a:r>
          </a:p>
          <a:p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with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torch.no_grad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():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a -=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*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a.grad</a:t>
            </a:r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b -=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*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b.grad</a:t>
            </a:r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#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가중치 업데이트 후에는 반드시 기울기를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으로 초기화</a:t>
            </a:r>
          </a:p>
          <a:p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a.grad.zero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_()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b.grad.zero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_()</a:t>
            </a:r>
            <a:b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print("-" * 30)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실제 계수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coef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): {coef:.4f}")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학습된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b (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기울기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): {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b.item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():.4f}")</a:t>
            </a:r>
          </a:p>
        </p:txBody>
      </p:sp>
    </p:spTree>
    <p:extLst>
      <p:ext uri="{BB962C8B-B14F-4D97-AF65-F5344CB8AC3E}">
        <p14:creationId xmlns:p14="http://schemas.microsoft.com/office/powerpoint/2010/main" val="12999034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487DE0-A8EA-7EAB-D10D-8C5B8A34E2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A720DEFA-28CC-4E54-5D87-BAE89CA4ED59}"/>
              </a:ext>
            </a:extLst>
          </p:cNvPr>
          <p:cNvSpPr/>
          <p:nvPr/>
        </p:nvSpPr>
        <p:spPr>
          <a:xfrm>
            <a:off x="1457324" y="2419351"/>
            <a:ext cx="8277225" cy="64008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CB2CA1AF-9B69-DAD0-7430-9C4F091120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solidFill>
                  <a:schemeClr val="tx1"/>
                </a:solidFill>
                <a:cs typeface="Segoe UI Light" panose="020B0502040204020203" pitchFamily="34" charset="0"/>
              </a:rPr>
              <a:t>Contents</a:t>
            </a:r>
            <a:endParaRPr lang="ko-KR" altLang="en-US" dirty="0">
              <a:solidFill>
                <a:schemeClr val="tx1"/>
              </a:solidFill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15AC02A4-31CC-DFC9-6F69-0BF7E96CC9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8</a:t>
            </a:fld>
            <a:endParaRPr lang="ko-KR" altLang="en-US" noProof="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95572B5-CD8B-8F46-E79A-CD383593F415}"/>
              </a:ext>
            </a:extLst>
          </p:cNvPr>
          <p:cNvSpPr txBox="1"/>
          <p:nvPr/>
        </p:nvSpPr>
        <p:spPr>
          <a:xfrm>
            <a:off x="1957661" y="1356552"/>
            <a:ext cx="8662713" cy="42812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Autograd</a:t>
            </a: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&amp; Backpropagation : Recap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FCNN(Fully Connected Neural Network)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Regression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Classification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Dimension Reduction</a:t>
            </a:r>
          </a:p>
        </p:txBody>
      </p:sp>
    </p:spTree>
    <p:extLst>
      <p:ext uri="{BB962C8B-B14F-4D97-AF65-F5344CB8AC3E}">
        <p14:creationId xmlns:p14="http://schemas.microsoft.com/office/powerpoint/2010/main" val="27963788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C33545-2B0E-A249-D80C-9F7679C59F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직사각형 56">
            <a:extLst>
              <a:ext uri="{FF2B5EF4-FFF2-40B4-BE49-F238E27FC236}">
                <a16:creationId xmlns:a16="http://schemas.microsoft.com/office/drawing/2014/main" id="{ABCEC355-4532-C994-A3FD-57D5B514B728}"/>
              </a:ext>
            </a:extLst>
          </p:cNvPr>
          <p:cNvSpPr/>
          <p:nvPr/>
        </p:nvSpPr>
        <p:spPr>
          <a:xfrm>
            <a:off x="7330819" y="2125333"/>
            <a:ext cx="800188" cy="281139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BCE8608-C2CE-46D1-90F0-F1280F959A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F0870C28-593A-45A8-E777-9FCA0A33F057}"/>
              </a:ext>
            </a:extLst>
          </p:cNvPr>
          <p:cNvSpPr txBox="1">
            <a:spLocks/>
          </p:cNvSpPr>
          <p:nvPr/>
        </p:nvSpPr>
        <p:spPr>
          <a:xfrm>
            <a:off x="913794" y="3873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FCCN : Matrix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Formulation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0312DEB9-2540-E23E-AC49-D83D2A7956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194140"/>
            <a:ext cx="10706705" cy="766440"/>
          </a:xfrm>
        </p:spPr>
        <p:txBody>
          <a:bodyPr>
            <a:normAutofit/>
          </a:bodyPr>
          <a:lstStyle/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Fully Connected Neural Network (FCNN)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구조를 행렬식으로 표현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endParaRPr lang="en-US" altLang="ko-KR" sz="18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968F6BA9-1AD0-FF0D-E49C-0A6F0029F512}"/>
              </a:ext>
            </a:extLst>
          </p:cNvPr>
          <p:cNvGrpSpPr/>
          <p:nvPr/>
        </p:nvGrpSpPr>
        <p:grpSpPr>
          <a:xfrm>
            <a:off x="1104900" y="2974312"/>
            <a:ext cx="359611" cy="1195090"/>
            <a:chOff x="1847850" y="2436106"/>
            <a:chExt cx="359611" cy="1195090"/>
          </a:xfrm>
        </p:grpSpPr>
        <p:sp>
          <p:nvSpPr>
            <p:cNvPr id="2" name="타원 1">
              <a:extLst>
                <a:ext uri="{FF2B5EF4-FFF2-40B4-BE49-F238E27FC236}">
                  <a16:creationId xmlns:a16="http://schemas.microsoft.com/office/drawing/2014/main" id="{36CA5553-4E01-04D5-0F73-87D04CAACDEF}"/>
                </a:ext>
              </a:extLst>
            </p:cNvPr>
            <p:cNvSpPr/>
            <p:nvPr/>
          </p:nvSpPr>
          <p:spPr>
            <a:xfrm>
              <a:off x="1847850" y="2436106"/>
              <a:ext cx="359611" cy="359611"/>
            </a:xfrm>
            <a:prstGeom prst="ellips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" name="타원 2">
              <a:extLst>
                <a:ext uri="{FF2B5EF4-FFF2-40B4-BE49-F238E27FC236}">
                  <a16:creationId xmlns:a16="http://schemas.microsoft.com/office/drawing/2014/main" id="{ECEF51E4-E843-BB8D-3B50-CD68A38D33DF}"/>
                </a:ext>
              </a:extLst>
            </p:cNvPr>
            <p:cNvSpPr/>
            <p:nvPr/>
          </p:nvSpPr>
          <p:spPr>
            <a:xfrm>
              <a:off x="1847850" y="3271585"/>
              <a:ext cx="359611" cy="359611"/>
            </a:xfrm>
            <a:prstGeom prst="ellips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708EDB37-7360-D473-E49F-83BC099F27E2}"/>
              </a:ext>
            </a:extLst>
          </p:cNvPr>
          <p:cNvGrpSpPr/>
          <p:nvPr/>
        </p:nvGrpSpPr>
        <p:grpSpPr>
          <a:xfrm>
            <a:off x="4325074" y="2444398"/>
            <a:ext cx="359611" cy="2254919"/>
            <a:chOff x="4562921" y="2019028"/>
            <a:chExt cx="359611" cy="2254919"/>
          </a:xfrm>
        </p:grpSpPr>
        <p:sp>
          <p:nvSpPr>
            <p:cNvPr id="6" name="타원 5">
              <a:extLst>
                <a:ext uri="{FF2B5EF4-FFF2-40B4-BE49-F238E27FC236}">
                  <a16:creationId xmlns:a16="http://schemas.microsoft.com/office/drawing/2014/main" id="{EB783135-C882-4DAA-AE08-7C417401323F}"/>
                </a:ext>
              </a:extLst>
            </p:cNvPr>
            <p:cNvSpPr/>
            <p:nvPr/>
          </p:nvSpPr>
          <p:spPr>
            <a:xfrm>
              <a:off x="4562921" y="2019028"/>
              <a:ext cx="359611" cy="359611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7" name="타원 6">
              <a:extLst>
                <a:ext uri="{FF2B5EF4-FFF2-40B4-BE49-F238E27FC236}">
                  <a16:creationId xmlns:a16="http://schemas.microsoft.com/office/drawing/2014/main" id="{CE4468BB-2600-85EC-06B0-8C1611999753}"/>
                </a:ext>
              </a:extLst>
            </p:cNvPr>
            <p:cNvSpPr/>
            <p:nvPr/>
          </p:nvSpPr>
          <p:spPr>
            <a:xfrm>
              <a:off x="4562921" y="2966682"/>
              <a:ext cx="359611" cy="359611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2A113F6A-F51D-9F1F-2E7B-ED7F22CA9DA9}"/>
                </a:ext>
              </a:extLst>
            </p:cNvPr>
            <p:cNvSpPr/>
            <p:nvPr/>
          </p:nvSpPr>
          <p:spPr>
            <a:xfrm>
              <a:off x="4562921" y="3914336"/>
              <a:ext cx="359611" cy="359611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9CAAE21E-89F3-723F-ED8C-4B384E0173B1}"/>
              </a:ext>
            </a:extLst>
          </p:cNvPr>
          <p:cNvGrpSpPr/>
          <p:nvPr/>
        </p:nvGrpSpPr>
        <p:grpSpPr>
          <a:xfrm>
            <a:off x="7545248" y="2444398"/>
            <a:ext cx="367633" cy="2254919"/>
            <a:chOff x="7478016" y="2019028"/>
            <a:chExt cx="367633" cy="2254919"/>
          </a:xfrm>
        </p:grpSpPr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A9C24CB1-536C-3F52-651C-A017E898A879}"/>
                </a:ext>
              </a:extLst>
            </p:cNvPr>
            <p:cNvSpPr/>
            <p:nvPr/>
          </p:nvSpPr>
          <p:spPr>
            <a:xfrm>
              <a:off x="7478016" y="2650797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37C0FCED-4886-7D86-A314-DEF940409413}"/>
                </a:ext>
              </a:extLst>
            </p:cNvPr>
            <p:cNvSpPr/>
            <p:nvPr/>
          </p:nvSpPr>
          <p:spPr>
            <a:xfrm>
              <a:off x="7486038" y="3282566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타원 10">
              <a:extLst>
                <a:ext uri="{FF2B5EF4-FFF2-40B4-BE49-F238E27FC236}">
                  <a16:creationId xmlns:a16="http://schemas.microsoft.com/office/drawing/2014/main" id="{D3F6B6C6-4080-9D15-2811-714BB8B2560F}"/>
                </a:ext>
              </a:extLst>
            </p:cNvPr>
            <p:cNvSpPr/>
            <p:nvPr/>
          </p:nvSpPr>
          <p:spPr>
            <a:xfrm>
              <a:off x="7486038" y="3914336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타원 11">
              <a:extLst>
                <a:ext uri="{FF2B5EF4-FFF2-40B4-BE49-F238E27FC236}">
                  <a16:creationId xmlns:a16="http://schemas.microsoft.com/office/drawing/2014/main" id="{F9057C09-D53B-721C-3FFC-325CC3C294B3}"/>
                </a:ext>
              </a:extLst>
            </p:cNvPr>
            <p:cNvSpPr/>
            <p:nvPr/>
          </p:nvSpPr>
          <p:spPr>
            <a:xfrm>
              <a:off x="7478017" y="2019028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22" name="그룹 21">
            <a:extLst>
              <a:ext uri="{FF2B5EF4-FFF2-40B4-BE49-F238E27FC236}">
                <a16:creationId xmlns:a16="http://schemas.microsoft.com/office/drawing/2014/main" id="{3D9C08F2-1574-209F-65D6-723769045731}"/>
              </a:ext>
            </a:extLst>
          </p:cNvPr>
          <p:cNvGrpSpPr/>
          <p:nvPr/>
        </p:nvGrpSpPr>
        <p:grpSpPr>
          <a:xfrm>
            <a:off x="10773443" y="2974312"/>
            <a:ext cx="367632" cy="1195090"/>
            <a:chOff x="10033668" y="2436106"/>
            <a:chExt cx="367632" cy="1195090"/>
          </a:xfrm>
        </p:grpSpPr>
        <p:sp>
          <p:nvSpPr>
            <p:cNvPr id="13" name="타원 12">
              <a:extLst>
                <a:ext uri="{FF2B5EF4-FFF2-40B4-BE49-F238E27FC236}">
                  <a16:creationId xmlns:a16="http://schemas.microsoft.com/office/drawing/2014/main" id="{CD7420D1-4A5A-4997-8F38-B6D1B95E3FAE}"/>
                </a:ext>
              </a:extLst>
            </p:cNvPr>
            <p:cNvSpPr/>
            <p:nvPr/>
          </p:nvSpPr>
          <p:spPr>
            <a:xfrm>
              <a:off x="10041689" y="3271585"/>
              <a:ext cx="359611" cy="359611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5" name="타원 14">
              <a:extLst>
                <a:ext uri="{FF2B5EF4-FFF2-40B4-BE49-F238E27FC236}">
                  <a16:creationId xmlns:a16="http://schemas.microsoft.com/office/drawing/2014/main" id="{C4D5F89C-18F2-0C39-E6CC-6E7984ED407A}"/>
                </a:ext>
              </a:extLst>
            </p:cNvPr>
            <p:cNvSpPr/>
            <p:nvPr/>
          </p:nvSpPr>
          <p:spPr>
            <a:xfrm>
              <a:off x="10033668" y="2436106"/>
              <a:ext cx="359611" cy="359611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cxnSp>
        <p:nvCxnSpPr>
          <p:cNvPr id="23" name="직선 연결선 22">
            <a:extLst>
              <a:ext uri="{FF2B5EF4-FFF2-40B4-BE49-F238E27FC236}">
                <a16:creationId xmlns:a16="http://schemas.microsoft.com/office/drawing/2014/main" id="{37005ECD-90F7-F8D9-E7DE-965B532432D2}"/>
              </a:ext>
            </a:extLst>
          </p:cNvPr>
          <p:cNvCxnSpPr>
            <a:cxnSpLocks/>
            <a:stCxn id="2" idx="6"/>
            <a:endCxn id="6" idx="2"/>
          </p:cNvCxnSpPr>
          <p:nvPr/>
        </p:nvCxnSpPr>
        <p:spPr>
          <a:xfrm flipV="1">
            <a:off x="1464511" y="2624204"/>
            <a:ext cx="2860563" cy="52991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4" name="직선 연결선 23">
            <a:extLst>
              <a:ext uri="{FF2B5EF4-FFF2-40B4-BE49-F238E27FC236}">
                <a16:creationId xmlns:a16="http://schemas.microsoft.com/office/drawing/2014/main" id="{EDAFA676-AF72-0916-0AAC-6B4B11DF8AD2}"/>
              </a:ext>
            </a:extLst>
          </p:cNvPr>
          <p:cNvCxnSpPr>
            <a:cxnSpLocks/>
            <a:stCxn id="2" idx="6"/>
            <a:endCxn id="7" idx="2"/>
          </p:cNvCxnSpPr>
          <p:nvPr/>
        </p:nvCxnSpPr>
        <p:spPr>
          <a:xfrm>
            <a:off x="1464511" y="3154118"/>
            <a:ext cx="2860563" cy="417740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275D6BC9-B6ED-0D7A-35A1-284A46102C70}"/>
              </a:ext>
            </a:extLst>
          </p:cNvPr>
          <p:cNvCxnSpPr>
            <a:cxnSpLocks/>
            <a:stCxn id="2" idx="6"/>
            <a:endCxn id="8" idx="2"/>
          </p:cNvCxnSpPr>
          <p:nvPr/>
        </p:nvCxnSpPr>
        <p:spPr>
          <a:xfrm>
            <a:off x="1464511" y="3154118"/>
            <a:ext cx="2860563" cy="136539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2" name="직선 연결선 31">
            <a:extLst>
              <a:ext uri="{FF2B5EF4-FFF2-40B4-BE49-F238E27FC236}">
                <a16:creationId xmlns:a16="http://schemas.microsoft.com/office/drawing/2014/main" id="{5260C829-F2C5-E49A-1BFB-5BE4D6ADAA75}"/>
              </a:ext>
            </a:extLst>
          </p:cNvPr>
          <p:cNvCxnSpPr>
            <a:cxnSpLocks/>
            <a:stCxn id="3" idx="6"/>
            <a:endCxn id="6" idx="2"/>
          </p:cNvCxnSpPr>
          <p:nvPr/>
        </p:nvCxnSpPr>
        <p:spPr>
          <a:xfrm flipV="1">
            <a:off x="1464511" y="2624204"/>
            <a:ext cx="2860563" cy="1365393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4" name="직선 연결선 33">
            <a:extLst>
              <a:ext uri="{FF2B5EF4-FFF2-40B4-BE49-F238E27FC236}">
                <a16:creationId xmlns:a16="http://schemas.microsoft.com/office/drawing/2014/main" id="{6781E488-706A-B873-E6DD-BEF6151CBE5F}"/>
              </a:ext>
            </a:extLst>
          </p:cNvPr>
          <p:cNvCxnSpPr>
            <a:cxnSpLocks/>
            <a:stCxn id="3" idx="6"/>
            <a:endCxn id="8" idx="2"/>
          </p:cNvCxnSpPr>
          <p:nvPr/>
        </p:nvCxnSpPr>
        <p:spPr>
          <a:xfrm>
            <a:off x="1464511" y="3989597"/>
            <a:ext cx="2860563" cy="529915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3" name="직선 연결선 32">
            <a:extLst>
              <a:ext uri="{FF2B5EF4-FFF2-40B4-BE49-F238E27FC236}">
                <a16:creationId xmlns:a16="http://schemas.microsoft.com/office/drawing/2014/main" id="{2140B20F-3D4A-5E1D-9237-5220A9C29E48}"/>
              </a:ext>
            </a:extLst>
          </p:cNvPr>
          <p:cNvCxnSpPr>
            <a:cxnSpLocks/>
            <a:stCxn id="3" idx="6"/>
            <a:endCxn id="7" idx="2"/>
          </p:cNvCxnSpPr>
          <p:nvPr/>
        </p:nvCxnSpPr>
        <p:spPr>
          <a:xfrm flipV="1">
            <a:off x="1464511" y="3571858"/>
            <a:ext cx="2860563" cy="417739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59" name="직선 연결선 58">
            <a:extLst>
              <a:ext uri="{FF2B5EF4-FFF2-40B4-BE49-F238E27FC236}">
                <a16:creationId xmlns:a16="http://schemas.microsoft.com/office/drawing/2014/main" id="{B970888C-91D3-F4D3-A71E-32CD1322FD33}"/>
              </a:ext>
            </a:extLst>
          </p:cNvPr>
          <p:cNvCxnSpPr>
            <a:cxnSpLocks/>
            <a:endCxn id="12" idx="2"/>
          </p:cNvCxnSpPr>
          <p:nvPr/>
        </p:nvCxnSpPr>
        <p:spPr>
          <a:xfrm flipV="1">
            <a:off x="4665718" y="2624204"/>
            <a:ext cx="2879531" cy="16691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16" name="직선 연결선 9215">
            <a:extLst>
              <a:ext uri="{FF2B5EF4-FFF2-40B4-BE49-F238E27FC236}">
                <a16:creationId xmlns:a16="http://schemas.microsoft.com/office/drawing/2014/main" id="{0746B69C-144B-848F-E473-03BE6A00EA4E}"/>
              </a:ext>
            </a:extLst>
          </p:cNvPr>
          <p:cNvCxnSpPr>
            <a:cxnSpLocks/>
            <a:endCxn id="9" idx="2"/>
          </p:cNvCxnSpPr>
          <p:nvPr/>
        </p:nvCxnSpPr>
        <p:spPr>
          <a:xfrm>
            <a:off x="4665718" y="2640895"/>
            <a:ext cx="2879530" cy="615078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18" name="직선 연결선 9217">
            <a:extLst>
              <a:ext uri="{FF2B5EF4-FFF2-40B4-BE49-F238E27FC236}">
                <a16:creationId xmlns:a16="http://schemas.microsoft.com/office/drawing/2014/main" id="{AC5FEAD9-7439-0FA3-8080-211FBEB0FA19}"/>
              </a:ext>
            </a:extLst>
          </p:cNvPr>
          <p:cNvCxnSpPr>
            <a:cxnSpLocks/>
            <a:endCxn id="10" idx="2"/>
          </p:cNvCxnSpPr>
          <p:nvPr/>
        </p:nvCxnSpPr>
        <p:spPr>
          <a:xfrm>
            <a:off x="4665718" y="2640895"/>
            <a:ext cx="2887552" cy="1246847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27" name="직선 연결선 9226">
            <a:extLst>
              <a:ext uri="{FF2B5EF4-FFF2-40B4-BE49-F238E27FC236}">
                <a16:creationId xmlns:a16="http://schemas.microsoft.com/office/drawing/2014/main" id="{14B5EE2C-DD21-AF7E-08DB-75BF03181C1A}"/>
              </a:ext>
            </a:extLst>
          </p:cNvPr>
          <p:cNvCxnSpPr>
            <a:cxnSpLocks/>
            <a:stCxn id="6" idx="6"/>
            <a:endCxn id="11" idx="2"/>
          </p:cNvCxnSpPr>
          <p:nvPr/>
        </p:nvCxnSpPr>
        <p:spPr>
          <a:xfrm>
            <a:off x="4684685" y="2624204"/>
            <a:ext cx="2868585" cy="1895308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30" name="직선 연결선 9229">
            <a:extLst>
              <a:ext uri="{FF2B5EF4-FFF2-40B4-BE49-F238E27FC236}">
                <a16:creationId xmlns:a16="http://schemas.microsoft.com/office/drawing/2014/main" id="{A7E4E79E-E8C7-DC17-23EC-DD0E175492BA}"/>
              </a:ext>
            </a:extLst>
          </p:cNvPr>
          <p:cNvCxnSpPr>
            <a:cxnSpLocks/>
            <a:stCxn id="7" idx="6"/>
            <a:endCxn id="12" idx="2"/>
          </p:cNvCxnSpPr>
          <p:nvPr/>
        </p:nvCxnSpPr>
        <p:spPr>
          <a:xfrm flipV="1">
            <a:off x="4684685" y="2624204"/>
            <a:ext cx="2860564" cy="94765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32" name="직선 연결선 9231">
            <a:extLst>
              <a:ext uri="{FF2B5EF4-FFF2-40B4-BE49-F238E27FC236}">
                <a16:creationId xmlns:a16="http://schemas.microsoft.com/office/drawing/2014/main" id="{C2A752F4-5609-D677-C163-0D94FCC4A02A}"/>
              </a:ext>
            </a:extLst>
          </p:cNvPr>
          <p:cNvCxnSpPr>
            <a:cxnSpLocks/>
            <a:stCxn id="7" idx="6"/>
            <a:endCxn id="9" idx="2"/>
          </p:cNvCxnSpPr>
          <p:nvPr/>
        </p:nvCxnSpPr>
        <p:spPr>
          <a:xfrm flipV="1">
            <a:off x="4684685" y="3255973"/>
            <a:ext cx="2860563" cy="315885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33" name="직선 연결선 9232">
            <a:extLst>
              <a:ext uri="{FF2B5EF4-FFF2-40B4-BE49-F238E27FC236}">
                <a16:creationId xmlns:a16="http://schemas.microsoft.com/office/drawing/2014/main" id="{FDE5058E-9D38-8806-95EF-4646F08D006C}"/>
              </a:ext>
            </a:extLst>
          </p:cNvPr>
          <p:cNvCxnSpPr>
            <a:cxnSpLocks/>
            <a:stCxn id="7" idx="6"/>
            <a:endCxn id="10" idx="2"/>
          </p:cNvCxnSpPr>
          <p:nvPr/>
        </p:nvCxnSpPr>
        <p:spPr>
          <a:xfrm>
            <a:off x="4684685" y="3571858"/>
            <a:ext cx="2868585" cy="31588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34" name="직선 연결선 9233">
            <a:extLst>
              <a:ext uri="{FF2B5EF4-FFF2-40B4-BE49-F238E27FC236}">
                <a16:creationId xmlns:a16="http://schemas.microsoft.com/office/drawing/2014/main" id="{A3CAE824-5655-C703-9F94-23DDF8A1BFAB}"/>
              </a:ext>
            </a:extLst>
          </p:cNvPr>
          <p:cNvCxnSpPr>
            <a:cxnSpLocks/>
            <a:stCxn id="7" idx="6"/>
            <a:endCxn id="11" idx="2"/>
          </p:cNvCxnSpPr>
          <p:nvPr/>
        </p:nvCxnSpPr>
        <p:spPr>
          <a:xfrm>
            <a:off x="4684685" y="3571858"/>
            <a:ext cx="2868585" cy="94765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44" name="직선 연결선 9243">
            <a:extLst>
              <a:ext uri="{FF2B5EF4-FFF2-40B4-BE49-F238E27FC236}">
                <a16:creationId xmlns:a16="http://schemas.microsoft.com/office/drawing/2014/main" id="{087E6F6E-3F1F-FE42-D673-2BA8FC1AC801}"/>
              </a:ext>
            </a:extLst>
          </p:cNvPr>
          <p:cNvCxnSpPr>
            <a:cxnSpLocks/>
            <a:stCxn id="8" idx="6"/>
            <a:endCxn id="12" idx="2"/>
          </p:cNvCxnSpPr>
          <p:nvPr/>
        </p:nvCxnSpPr>
        <p:spPr>
          <a:xfrm flipV="1">
            <a:off x="4684685" y="2624204"/>
            <a:ext cx="2860564" cy="1895308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45" name="직선 연결선 9244">
            <a:extLst>
              <a:ext uri="{FF2B5EF4-FFF2-40B4-BE49-F238E27FC236}">
                <a16:creationId xmlns:a16="http://schemas.microsoft.com/office/drawing/2014/main" id="{EFB2D543-D01E-C14E-7DAC-701319F53EE5}"/>
              </a:ext>
            </a:extLst>
          </p:cNvPr>
          <p:cNvCxnSpPr>
            <a:cxnSpLocks/>
            <a:stCxn id="8" idx="6"/>
          </p:cNvCxnSpPr>
          <p:nvPr/>
        </p:nvCxnSpPr>
        <p:spPr>
          <a:xfrm flipV="1">
            <a:off x="4684685" y="3263119"/>
            <a:ext cx="2822632" cy="1256393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46" name="직선 연결선 9245">
            <a:extLst>
              <a:ext uri="{FF2B5EF4-FFF2-40B4-BE49-F238E27FC236}">
                <a16:creationId xmlns:a16="http://schemas.microsoft.com/office/drawing/2014/main" id="{96C9A1C2-B992-FDA5-3163-757CC1000F66}"/>
              </a:ext>
            </a:extLst>
          </p:cNvPr>
          <p:cNvCxnSpPr>
            <a:cxnSpLocks/>
            <a:stCxn id="8" idx="6"/>
          </p:cNvCxnSpPr>
          <p:nvPr/>
        </p:nvCxnSpPr>
        <p:spPr>
          <a:xfrm flipV="1">
            <a:off x="4684685" y="3882105"/>
            <a:ext cx="2842090" cy="637407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47" name="직선 연결선 9246">
            <a:extLst>
              <a:ext uri="{FF2B5EF4-FFF2-40B4-BE49-F238E27FC236}">
                <a16:creationId xmlns:a16="http://schemas.microsoft.com/office/drawing/2014/main" id="{E4844EAC-73FF-A91C-DBF8-C62D7E13A983}"/>
              </a:ext>
            </a:extLst>
          </p:cNvPr>
          <p:cNvCxnSpPr>
            <a:cxnSpLocks/>
            <a:stCxn id="8" idx="6"/>
          </p:cNvCxnSpPr>
          <p:nvPr/>
        </p:nvCxnSpPr>
        <p:spPr>
          <a:xfrm>
            <a:off x="4684685" y="4519512"/>
            <a:ext cx="2842090" cy="23736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56" name="직선 연결선 9255">
            <a:extLst>
              <a:ext uri="{FF2B5EF4-FFF2-40B4-BE49-F238E27FC236}">
                <a16:creationId xmlns:a16="http://schemas.microsoft.com/office/drawing/2014/main" id="{CB643D58-E287-AE6D-0BEF-D4649E64BF96}"/>
              </a:ext>
            </a:extLst>
          </p:cNvPr>
          <p:cNvCxnSpPr>
            <a:cxnSpLocks/>
            <a:stCxn id="12" idx="6"/>
            <a:endCxn id="15" idx="2"/>
          </p:cNvCxnSpPr>
          <p:nvPr/>
        </p:nvCxnSpPr>
        <p:spPr>
          <a:xfrm>
            <a:off x="7904860" y="2624204"/>
            <a:ext cx="2868583" cy="52991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9260" name="그림 9259">
            <a:extLst>
              <a:ext uri="{FF2B5EF4-FFF2-40B4-BE49-F238E27FC236}">
                <a16:creationId xmlns:a16="http://schemas.microsoft.com/office/drawing/2014/main" id="{A07A9FC6-DF4E-29FA-0FFF-BA65FF59A3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4511" y="4788268"/>
            <a:ext cx="1760062" cy="544446"/>
          </a:xfrm>
          <a:prstGeom prst="rect">
            <a:avLst/>
          </a:prstGeom>
        </p:spPr>
      </p:pic>
      <p:pic>
        <p:nvPicPr>
          <p:cNvPr id="9262" name="그림 9261">
            <a:extLst>
              <a:ext uri="{FF2B5EF4-FFF2-40B4-BE49-F238E27FC236}">
                <a16:creationId xmlns:a16="http://schemas.microsoft.com/office/drawing/2014/main" id="{BA1A2289-2A8F-7DEB-5AD9-F3A40F023F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3217" y="4788268"/>
            <a:ext cx="2842090" cy="913070"/>
          </a:xfrm>
          <a:prstGeom prst="rect">
            <a:avLst/>
          </a:prstGeom>
        </p:spPr>
      </p:pic>
      <p:pic>
        <p:nvPicPr>
          <p:cNvPr id="9264" name="그림 9263">
            <a:extLst>
              <a:ext uri="{FF2B5EF4-FFF2-40B4-BE49-F238E27FC236}">
                <a16:creationId xmlns:a16="http://schemas.microsoft.com/office/drawing/2014/main" id="{220CC5A9-AC8B-0983-EE81-A8966A5495F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84053" y="4788268"/>
            <a:ext cx="2263383" cy="1138122"/>
          </a:xfrm>
          <a:prstGeom prst="rect">
            <a:avLst/>
          </a:prstGeom>
        </p:spPr>
      </p:pic>
      <p:cxnSp>
        <p:nvCxnSpPr>
          <p:cNvPr id="9265" name="직선 연결선 9264">
            <a:extLst>
              <a:ext uri="{FF2B5EF4-FFF2-40B4-BE49-F238E27FC236}">
                <a16:creationId xmlns:a16="http://schemas.microsoft.com/office/drawing/2014/main" id="{9D98EAFC-EB3A-D7A1-9E2A-6E3124CF31B1}"/>
              </a:ext>
            </a:extLst>
          </p:cNvPr>
          <p:cNvCxnSpPr>
            <a:cxnSpLocks/>
            <a:endCxn id="13" idx="2"/>
          </p:cNvCxnSpPr>
          <p:nvPr/>
        </p:nvCxnSpPr>
        <p:spPr>
          <a:xfrm>
            <a:off x="7912881" y="2623452"/>
            <a:ext cx="2868583" cy="1366145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68" name="직선 연결선 9267">
            <a:extLst>
              <a:ext uri="{FF2B5EF4-FFF2-40B4-BE49-F238E27FC236}">
                <a16:creationId xmlns:a16="http://schemas.microsoft.com/office/drawing/2014/main" id="{D0DDA572-0297-EBBC-FC61-5AA42657A663}"/>
              </a:ext>
            </a:extLst>
          </p:cNvPr>
          <p:cNvCxnSpPr>
            <a:cxnSpLocks/>
            <a:stCxn id="9" idx="6"/>
            <a:endCxn id="15" idx="2"/>
          </p:cNvCxnSpPr>
          <p:nvPr/>
        </p:nvCxnSpPr>
        <p:spPr>
          <a:xfrm flipV="1">
            <a:off x="7904859" y="3154118"/>
            <a:ext cx="2868584" cy="101855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69" name="직선 연결선 9268">
            <a:extLst>
              <a:ext uri="{FF2B5EF4-FFF2-40B4-BE49-F238E27FC236}">
                <a16:creationId xmlns:a16="http://schemas.microsoft.com/office/drawing/2014/main" id="{C8CAD3FF-0044-B9B8-F677-82192D67F268}"/>
              </a:ext>
            </a:extLst>
          </p:cNvPr>
          <p:cNvCxnSpPr>
            <a:cxnSpLocks/>
            <a:stCxn id="9" idx="6"/>
            <a:endCxn id="13" idx="2"/>
          </p:cNvCxnSpPr>
          <p:nvPr/>
        </p:nvCxnSpPr>
        <p:spPr>
          <a:xfrm>
            <a:off x="7904859" y="3255973"/>
            <a:ext cx="2876605" cy="73362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76" name="직선 연결선 9275">
            <a:extLst>
              <a:ext uri="{FF2B5EF4-FFF2-40B4-BE49-F238E27FC236}">
                <a16:creationId xmlns:a16="http://schemas.microsoft.com/office/drawing/2014/main" id="{4CDE6AD4-1E47-14D6-17B5-06E1D3B4BBC2}"/>
              </a:ext>
            </a:extLst>
          </p:cNvPr>
          <p:cNvCxnSpPr>
            <a:cxnSpLocks/>
            <a:endCxn id="15" idx="2"/>
          </p:cNvCxnSpPr>
          <p:nvPr/>
        </p:nvCxnSpPr>
        <p:spPr>
          <a:xfrm flipV="1">
            <a:off x="7896838" y="3154118"/>
            <a:ext cx="2876605" cy="749378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77" name="직선 연결선 9276">
            <a:extLst>
              <a:ext uri="{FF2B5EF4-FFF2-40B4-BE49-F238E27FC236}">
                <a16:creationId xmlns:a16="http://schemas.microsoft.com/office/drawing/2014/main" id="{54DE2942-69C1-7B5C-0AD5-E269C565C6D3}"/>
              </a:ext>
            </a:extLst>
          </p:cNvPr>
          <p:cNvCxnSpPr>
            <a:cxnSpLocks/>
            <a:endCxn id="13" idx="2"/>
          </p:cNvCxnSpPr>
          <p:nvPr/>
        </p:nvCxnSpPr>
        <p:spPr>
          <a:xfrm>
            <a:off x="7896838" y="3903496"/>
            <a:ext cx="2884626" cy="86101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83" name="직선 연결선 9282">
            <a:extLst>
              <a:ext uri="{FF2B5EF4-FFF2-40B4-BE49-F238E27FC236}">
                <a16:creationId xmlns:a16="http://schemas.microsoft.com/office/drawing/2014/main" id="{02A0287C-6FE0-9435-78E7-4D26BD03BE09}"/>
              </a:ext>
            </a:extLst>
          </p:cNvPr>
          <p:cNvCxnSpPr>
            <a:cxnSpLocks/>
            <a:stCxn id="11" idx="6"/>
          </p:cNvCxnSpPr>
          <p:nvPr/>
        </p:nvCxnSpPr>
        <p:spPr>
          <a:xfrm flipV="1">
            <a:off x="7912881" y="3192272"/>
            <a:ext cx="2805728" cy="1327240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84" name="직선 연결선 9283">
            <a:extLst>
              <a:ext uri="{FF2B5EF4-FFF2-40B4-BE49-F238E27FC236}">
                <a16:creationId xmlns:a16="http://schemas.microsoft.com/office/drawing/2014/main" id="{367806B9-1578-FF26-FE3C-C7C576614816}"/>
              </a:ext>
            </a:extLst>
          </p:cNvPr>
          <p:cNvCxnSpPr>
            <a:cxnSpLocks/>
            <a:stCxn id="11" idx="6"/>
            <a:endCxn id="13" idx="2"/>
          </p:cNvCxnSpPr>
          <p:nvPr/>
        </p:nvCxnSpPr>
        <p:spPr>
          <a:xfrm flipV="1">
            <a:off x="7912881" y="3989597"/>
            <a:ext cx="2868583" cy="529915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9289" name="TextBox 9288">
            <a:extLst>
              <a:ext uri="{FF2B5EF4-FFF2-40B4-BE49-F238E27FC236}">
                <a16:creationId xmlns:a16="http://schemas.microsoft.com/office/drawing/2014/main" id="{1A24241E-380F-D2C3-547B-9F5D8C68B62B}"/>
              </a:ext>
            </a:extLst>
          </p:cNvPr>
          <p:cNvSpPr txBox="1"/>
          <p:nvPr/>
        </p:nvSpPr>
        <p:spPr>
          <a:xfrm>
            <a:off x="1493842" y="5322157"/>
            <a:ext cx="17600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(1,2) @ (2,3) = (1,3)</a:t>
            </a:r>
            <a:endParaRPr lang="ko-KR" altLang="en-US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290" name="TextBox 9289">
            <a:extLst>
              <a:ext uri="{FF2B5EF4-FFF2-40B4-BE49-F238E27FC236}">
                <a16:creationId xmlns:a16="http://schemas.microsoft.com/office/drawing/2014/main" id="{04C3A569-4FF4-C87E-ABDA-8042FB8FB291}"/>
              </a:ext>
            </a:extLst>
          </p:cNvPr>
          <p:cNvSpPr txBox="1"/>
          <p:nvPr/>
        </p:nvSpPr>
        <p:spPr>
          <a:xfrm>
            <a:off x="5197265" y="5701338"/>
            <a:ext cx="212452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(1,3) @ (3,4) = (1,4)</a:t>
            </a:r>
            <a:endParaRPr lang="ko-KR" altLang="en-US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291" name="TextBox 9290">
            <a:extLst>
              <a:ext uri="{FF2B5EF4-FFF2-40B4-BE49-F238E27FC236}">
                <a16:creationId xmlns:a16="http://schemas.microsoft.com/office/drawing/2014/main" id="{43BD9FC8-ECB1-B386-5E43-ADB19B72463A}"/>
              </a:ext>
            </a:extLst>
          </p:cNvPr>
          <p:cNvSpPr txBox="1"/>
          <p:nvPr/>
        </p:nvSpPr>
        <p:spPr>
          <a:xfrm>
            <a:off x="8943010" y="5942851"/>
            <a:ext cx="182775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(1,4) @ (4,2) = (1,2)</a:t>
            </a:r>
            <a:endParaRPr lang="ko-KR" altLang="en-US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293" name="TextBox 9292">
            <a:extLst>
              <a:ext uri="{FF2B5EF4-FFF2-40B4-BE49-F238E27FC236}">
                <a16:creationId xmlns:a16="http://schemas.microsoft.com/office/drawing/2014/main" id="{7A175B21-AA0B-37A5-44B1-4A7B24D8B789}"/>
              </a:ext>
            </a:extLst>
          </p:cNvPr>
          <p:cNvSpPr txBox="1"/>
          <p:nvPr/>
        </p:nvSpPr>
        <p:spPr>
          <a:xfrm>
            <a:off x="801547" y="2056624"/>
            <a:ext cx="154811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Input(X)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294" name="TextBox 9293">
            <a:extLst>
              <a:ext uri="{FF2B5EF4-FFF2-40B4-BE49-F238E27FC236}">
                <a16:creationId xmlns:a16="http://schemas.microsoft.com/office/drawing/2014/main" id="{771A204D-88A8-9A56-6DAF-14EA444F77B9}"/>
              </a:ext>
            </a:extLst>
          </p:cNvPr>
          <p:cNvSpPr txBox="1"/>
          <p:nvPr/>
        </p:nvSpPr>
        <p:spPr>
          <a:xfrm>
            <a:off x="10358997" y="2056624"/>
            <a:ext cx="154811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Out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put(y)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295" name="TextBox 9294">
            <a:extLst>
              <a:ext uri="{FF2B5EF4-FFF2-40B4-BE49-F238E27FC236}">
                <a16:creationId xmlns:a16="http://schemas.microsoft.com/office/drawing/2014/main" id="{5728B3CC-2C9B-CCFC-C174-806DBFC6CEAA}"/>
              </a:ext>
            </a:extLst>
          </p:cNvPr>
          <p:cNvSpPr txBox="1"/>
          <p:nvPr/>
        </p:nvSpPr>
        <p:spPr>
          <a:xfrm>
            <a:off x="3836296" y="2056624"/>
            <a:ext cx="236773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Hidden Layer 1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296" name="TextBox 9295">
            <a:extLst>
              <a:ext uri="{FF2B5EF4-FFF2-40B4-BE49-F238E27FC236}">
                <a16:creationId xmlns:a16="http://schemas.microsoft.com/office/drawing/2014/main" id="{A517200C-63F5-B913-E926-2ABDAA65B72A}"/>
              </a:ext>
            </a:extLst>
          </p:cNvPr>
          <p:cNvSpPr txBox="1"/>
          <p:nvPr/>
        </p:nvSpPr>
        <p:spPr>
          <a:xfrm>
            <a:off x="6506798" y="2056624"/>
            <a:ext cx="236773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Hidden Layer 2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88174451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5759ED-1060-A67A-DAEB-3F5B3314D2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7AF4B5D8-EC0B-B2ED-7C9B-39CB1F92D4D8}"/>
              </a:ext>
            </a:extLst>
          </p:cNvPr>
          <p:cNvSpPr/>
          <p:nvPr/>
        </p:nvSpPr>
        <p:spPr>
          <a:xfrm>
            <a:off x="1457324" y="3267076"/>
            <a:ext cx="8277225" cy="64008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2289FAA1-417B-AE3C-CB55-3B6DC10C0D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solidFill>
                  <a:schemeClr val="tx1"/>
                </a:solidFill>
                <a:cs typeface="Segoe UI Light" panose="020B0502040204020203" pitchFamily="34" charset="0"/>
              </a:rPr>
              <a:t>Contents</a:t>
            </a:r>
            <a:endParaRPr lang="ko-KR" altLang="en-US" dirty="0">
              <a:solidFill>
                <a:schemeClr val="tx1"/>
              </a:solidFill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958EDC94-00CA-97BB-8517-0562215631A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10</a:t>
            </a:fld>
            <a:endParaRPr lang="ko-KR" altLang="en-US" noProof="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341886A-E0DA-C986-7052-21994A5B29A9}"/>
              </a:ext>
            </a:extLst>
          </p:cNvPr>
          <p:cNvSpPr txBox="1"/>
          <p:nvPr/>
        </p:nvSpPr>
        <p:spPr>
          <a:xfrm>
            <a:off x="1957661" y="1356552"/>
            <a:ext cx="8662713" cy="42812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Autograd</a:t>
            </a: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&amp; Backpropagation : Recap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FCNN(Fully Connected Neural Network)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Regression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Classification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Dimension Reduction</a:t>
            </a:r>
          </a:p>
        </p:txBody>
      </p:sp>
    </p:spTree>
    <p:extLst>
      <p:ext uri="{BB962C8B-B14F-4D97-AF65-F5344CB8AC3E}">
        <p14:creationId xmlns:p14="http://schemas.microsoft.com/office/powerpoint/2010/main" val="29955645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F9CD14-C5EB-9287-8D73-F9F1BB2887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E1B0587-D91B-8580-6E0F-BD875D1A89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11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2B9D7CF7-62C2-EF58-A712-6F1CA1C6EB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33816" y="68913"/>
            <a:ext cx="1667479" cy="11033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ADE5B218-DB00-6927-3154-13E34DC8DC40}"/>
              </a:ext>
            </a:extLst>
          </p:cNvPr>
          <p:cNvSpPr txBox="1">
            <a:spLocks/>
          </p:cNvSpPr>
          <p:nvPr/>
        </p:nvSpPr>
        <p:spPr>
          <a:xfrm>
            <a:off x="656620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Pytorch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Hands-on : regression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BBB3273-5808-C357-A26E-D8D5B7FC9953}"/>
              </a:ext>
            </a:extLst>
          </p:cNvPr>
          <p:cNvSpPr txBox="1"/>
          <p:nvPr/>
        </p:nvSpPr>
        <p:spPr>
          <a:xfrm>
            <a:off x="610995" y="2214901"/>
            <a:ext cx="5061079" cy="3539430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import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import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torch.nn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as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nn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import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torch.optim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as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1. 데이터 생성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2x + 1)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X_reg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torch.tensor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([[1.0], [2.0], [3.0], [4.0]],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dtype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=torch.float32)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y_reg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torch.tensor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([[3.0], [5.0], [7.0], [9.0]],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dtype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=torch.float32)</a:t>
            </a: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2. 모델 정의 (입력 1개, 출력 1개인 선형 회귀)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model_reg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nn.Linear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(1, 1)</a:t>
            </a: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3. 손실 함수와 최적화 도구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criterion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nn.MSELoss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optimizer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optim.SGD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model_reg.parameters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=0.01)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D439E4D-3AB5-541E-8D0B-A6AC490A60A2}"/>
              </a:ext>
            </a:extLst>
          </p:cNvPr>
          <p:cNvSpPr txBox="1"/>
          <p:nvPr/>
        </p:nvSpPr>
        <p:spPr>
          <a:xfrm>
            <a:off x="5886450" y="2207588"/>
            <a:ext cx="5981075" cy="2677656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4. 학습 (1000번 반복)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for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epoch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range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(1000):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prediction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model_reg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X_reg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loss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criterion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prediction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y_reg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optimizer.zero_grad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loss.backward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          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backpropagation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optimizer.step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5. 예측 (5를 넣었을 때 11에 가까운 값이 나와야 함)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test_val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torch.tensor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([[5.0]])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print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f"회귀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예측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input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5.0): {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model_reg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test_val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).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item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():.4f}")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967791B-4972-60A0-42AF-E11FBE129692}"/>
              </a:ext>
            </a:extLst>
          </p:cNvPr>
          <p:cNvSpPr txBox="1"/>
          <p:nvPr/>
        </p:nvSpPr>
        <p:spPr>
          <a:xfrm>
            <a:off x="525270" y="1361159"/>
            <a:ext cx="11392317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회귀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(Regression)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연속적인 숫자 값을 예측하는 작업으로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y = 2x + 1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이라는 선형 관계를 학습</a:t>
            </a:r>
          </a:p>
        </p:txBody>
      </p:sp>
    </p:spTree>
    <p:extLst>
      <p:ext uri="{BB962C8B-B14F-4D97-AF65-F5344CB8AC3E}">
        <p14:creationId xmlns:p14="http://schemas.microsoft.com/office/powerpoint/2010/main" val="227774668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486A65-107A-2743-38F4-25C7B066FC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3E4EAD4F-53D1-F7DD-6F97-1B7D4DBE73D7}"/>
              </a:ext>
            </a:extLst>
          </p:cNvPr>
          <p:cNvSpPr/>
          <p:nvPr/>
        </p:nvSpPr>
        <p:spPr>
          <a:xfrm>
            <a:off x="1457324" y="4133851"/>
            <a:ext cx="8277225" cy="64008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D9F39A20-723D-0537-49D5-C5051C71AE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solidFill>
                  <a:schemeClr val="tx1"/>
                </a:solidFill>
                <a:cs typeface="Segoe UI Light" panose="020B0502040204020203" pitchFamily="34" charset="0"/>
              </a:rPr>
              <a:t>Contents</a:t>
            </a:r>
            <a:endParaRPr lang="ko-KR" altLang="en-US" dirty="0">
              <a:solidFill>
                <a:schemeClr val="tx1"/>
              </a:solidFill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C0EEE07A-5019-7A68-003B-0A0DCD9A436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12</a:t>
            </a:fld>
            <a:endParaRPr lang="ko-KR" altLang="en-US" noProof="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4627AAF-BEC4-FD4A-F12A-B0BBDF7DBD14}"/>
              </a:ext>
            </a:extLst>
          </p:cNvPr>
          <p:cNvSpPr txBox="1"/>
          <p:nvPr/>
        </p:nvSpPr>
        <p:spPr>
          <a:xfrm>
            <a:off x="1957661" y="1356552"/>
            <a:ext cx="8662713" cy="42812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Autograd</a:t>
            </a: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&amp; Backpropagation : Recap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FCNN(Fully Connected Neural Network)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Regression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Classification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Dimension Reduction</a:t>
            </a:r>
          </a:p>
        </p:txBody>
      </p:sp>
    </p:spTree>
    <p:extLst>
      <p:ext uri="{BB962C8B-B14F-4D97-AF65-F5344CB8AC3E}">
        <p14:creationId xmlns:p14="http://schemas.microsoft.com/office/powerpoint/2010/main" val="23507272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2E42FB-EF10-31D4-2362-600F33B967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EB60F8C-DF3A-97BB-52A4-40A63FF31B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13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C3230382-766E-AADE-75F1-79B0E6571958}"/>
              </a:ext>
            </a:extLst>
          </p:cNvPr>
          <p:cNvSpPr txBox="1">
            <a:spLocks/>
          </p:cNvSpPr>
          <p:nvPr/>
        </p:nvSpPr>
        <p:spPr>
          <a:xfrm>
            <a:off x="656620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XOR problem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01BCD33C-36A8-2406-5A3F-36994C0AE701}"/>
              </a:ext>
            </a:extLst>
          </p:cNvPr>
          <p:cNvSpPr txBox="1"/>
          <p:nvPr/>
        </p:nvSpPr>
        <p:spPr>
          <a:xfrm>
            <a:off x="500606" y="1304253"/>
            <a:ext cx="11016204" cy="8697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XOR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형태의 데이터는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선형결합식의 어떠한 조합으로도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Positive(1)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Negative(0)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분류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(classification)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하지 못하기 때문에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activation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함수를 각 노드마다 도입하여 비선형으로 인공지능을 구성하여 예측 분류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1026" name="그림 1025">
            <a:extLst>
              <a:ext uri="{FF2B5EF4-FFF2-40B4-BE49-F238E27FC236}">
                <a16:creationId xmlns:a16="http://schemas.microsoft.com/office/drawing/2014/main" id="{FC96B868-5D45-9DB3-23EC-345A8DAFC5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1236" y="4494029"/>
            <a:ext cx="2582775" cy="2119435"/>
          </a:xfrm>
          <a:prstGeom prst="rect">
            <a:avLst/>
          </a:prstGeom>
        </p:spPr>
      </p:pic>
      <p:pic>
        <p:nvPicPr>
          <p:cNvPr id="1029" name="그림 1028">
            <a:extLst>
              <a:ext uri="{FF2B5EF4-FFF2-40B4-BE49-F238E27FC236}">
                <a16:creationId xmlns:a16="http://schemas.microsoft.com/office/drawing/2014/main" id="{10E9D52F-1AD9-729A-CF4D-AB9697B6CF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1235" y="2320793"/>
            <a:ext cx="2582775" cy="2026485"/>
          </a:xfrm>
          <a:prstGeom prst="rect">
            <a:avLst/>
          </a:prstGeom>
        </p:spPr>
      </p:pic>
      <p:cxnSp>
        <p:nvCxnSpPr>
          <p:cNvPr id="1031" name="직선 화살표 연결선 1030">
            <a:extLst>
              <a:ext uri="{FF2B5EF4-FFF2-40B4-BE49-F238E27FC236}">
                <a16:creationId xmlns:a16="http://schemas.microsoft.com/office/drawing/2014/main" id="{D18E881C-469B-AC71-8FD8-B021F8E80BA3}"/>
              </a:ext>
            </a:extLst>
          </p:cNvPr>
          <p:cNvCxnSpPr>
            <a:stCxn id="57" idx="3"/>
            <a:endCxn id="1029" idx="1"/>
          </p:cNvCxnSpPr>
          <p:nvPr/>
        </p:nvCxnSpPr>
        <p:spPr>
          <a:xfrm flipV="1">
            <a:off x="4550953" y="3334036"/>
            <a:ext cx="3380282" cy="115999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2" name="직선 화살표 연결선 1031">
            <a:extLst>
              <a:ext uri="{FF2B5EF4-FFF2-40B4-BE49-F238E27FC236}">
                <a16:creationId xmlns:a16="http://schemas.microsoft.com/office/drawing/2014/main" id="{8B8FA355-D964-8286-2084-CB01783B4E7D}"/>
              </a:ext>
            </a:extLst>
          </p:cNvPr>
          <p:cNvCxnSpPr>
            <a:cxnSpLocks/>
            <a:stCxn id="57" idx="3"/>
            <a:endCxn id="1026" idx="1"/>
          </p:cNvCxnSpPr>
          <p:nvPr/>
        </p:nvCxnSpPr>
        <p:spPr>
          <a:xfrm>
            <a:off x="4550953" y="4494029"/>
            <a:ext cx="3380283" cy="105971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6" name="TextBox 1035">
            <a:extLst>
              <a:ext uri="{FF2B5EF4-FFF2-40B4-BE49-F238E27FC236}">
                <a16:creationId xmlns:a16="http://schemas.microsoft.com/office/drawing/2014/main" id="{0C0A2111-AA3F-1327-DD5D-7EF1098835CF}"/>
              </a:ext>
            </a:extLst>
          </p:cNvPr>
          <p:cNvSpPr txBox="1"/>
          <p:nvPr/>
        </p:nvSpPr>
        <p:spPr>
          <a:xfrm rot="20482373">
            <a:off x="5048332" y="3067854"/>
            <a:ext cx="2487692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데이터자체를 </a:t>
            </a:r>
            <a:r>
              <a:rPr lang="ko-KR" altLang="en-US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선형변환하여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차원으로 공간이동 후 선형식으로 분류</a:t>
            </a:r>
          </a:p>
        </p:txBody>
      </p:sp>
      <p:sp>
        <p:nvSpPr>
          <p:cNvPr id="1039" name="TextBox 1038">
            <a:extLst>
              <a:ext uri="{FF2B5EF4-FFF2-40B4-BE49-F238E27FC236}">
                <a16:creationId xmlns:a16="http://schemas.microsoft.com/office/drawing/2014/main" id="{4461D5D0-9910-5322-B982-450A79839777}"/>
              </a:ext>
            </a:extLst>
          </p:cNvPr>
          <p:cNvSpPr txBox="1"/>
          <p:nvPr/>
        </p:nvSpPr>
        <p:spPr>
          <a:xfrm rot="1145019">
            <a:off x="5026856" y="5123938"/>
            <a:ext cx="245299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비선형 알고리즘을 데이터에 적용하여 분류</a:t>
            </a:r>
          </a:p>
        </p:txBody>
      </p:sp>
      <p:pic>
        <p:nvPicPr>
          <p:cNvPr id="1041" name="Picture 8">
            <a:extLst>
              <a:ext uri="{FF2B5EF4-FFF2-40B4-BE49-F238E27FC236}">
                <a16:creationId xmlns:a16="http://schemas.microsoft.com/office/drawing/2014/main" id="{0CCA9A08-B7BD-63D8-5E03-A729AA377C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1342" y="2767387"/>
            <a:ext cx="3606501" cy="34514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7" name="그림 56">
            <a:extLst>
              <a:ext uri="{FF2B5EF4-FFF2-40B4-BE49-F238E27FC236}">
                <a16:creationId xmlns:a16="http://schemas.microsoft.com/office/drawing/2014/main" id="{7A20783F-30F0-D4B7-012A-63D6D5CC198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4444" y="2768311"/>
            <a:ext cx="3626509" cy="34514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15910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36" grpId="0"/>
      <p:bldP spid="1039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4188A6-C9D4-C594-7386-21D381B9FF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508292C-48F8-5B5D-EC3D-7872AF78C4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14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126D9EC8-2573-34A0-2202-68309B0D1117}"/>
              </a:ext>
            </a:extLst>
          </p:cNvPr>
          <p:cNvSpPr txBox="1">
            <a:spLocks/>
          </p:cNvSpPr>
          <p:nvPr/>
        </p:nvSpPr>
        <p:spPr>
          <a:xfrm>
            <a:off x="656620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Neural Network for XOR problem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pic>
        <p:nvPicPr>
          <p:cNvPr id="55" name="그림 54">
            <a:extLst>
              <a:ext uri="{FF2B5EF4-FFF2-40B4-BE49-F238E27FC236}">
                <a16:creationId xmlns:a16="http://schemas.microsoft.com/office/drawing/2014/main" id="{315B8025-02B8-A5E7-B976-C2C15FDBD5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3560" y="1693518"/>
            <a:ext cx="8782050" cy="44709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40229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DC1462-6263-5D7F-4E6C-449689AB95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109AEE1-E36A-FAAA-E19F-3BCB49A5DD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15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D722EA60-9816-0D47-A0DC-38408052C222}"/>
              </a:ext>
            </a:extLst>
          </p:cNvPr>
          <p:cNvSpPr txBox="1">
            <a:spLocks/>
          </p:cNvSpPr>
          <p:nvPr/>
        </p:nvSpPr>
        <p:spPr>
          <a:xfrm>
            <a:off x="656620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pytorch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for XOR problem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B3A48CA-FBC3-2463-86B0-7EDF7679084B}"/>
              </a:ext>
            </a:extLst>
          </p:cNvPr>
          <p:cNvSpPr txBox="1"/>
          <p:nvPr/>
        </p:nvSpPr>
        <p:spPr>
          <a:xfrm>
            <a:off x="656620" y="1764051"/>
            <a:ext cx="4687023" cy="4185761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1. XOR 데이터 정의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x_data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torch.tensor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([[0.0, 0.0], [0.0, 1.0], 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		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[1.0, 0.0], [1.0, 1.0]])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y_data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torch.tensor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([[0.0], [1.0], [1.0], [0.0]])</a:t>
            </a: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2. 파라미터 설정 (노드 2개)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입력(2) -&gt;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은닉층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(2)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W1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torch.randn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((2, 2),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b1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torch.randn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(2,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은닉층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(2) -&gt;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출력층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(1)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W2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torch.randn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((2, 1),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b2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torch.randn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(1,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3.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하이퍼파라미터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0.5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epochs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10000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FFD8D79-0BBE-25BC-5DB0-838980C0289D}"/>
              </a:ext>
            </a:extLst>
          </p:cNvPr>
          <p:cNvSpPr txBox="1"/>
          <p:nvPr/>
        </p:nvSpPr>
        <p:spPr>
          <a:xfrm>
            <a:off x="5459391" y="1764051"/>
            <a:ext cx="6323637" cy="4401205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4. 학습 루프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for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epoch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range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epochs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+ 1):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#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Forward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Pass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은닉층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연산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Sigmoid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적용)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z1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torch.matmul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x_data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W1) + b1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;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a1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torch.sigmoid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(z1)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#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출력층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연산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Sigmoid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적용)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z2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torch.matmul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(a1, W2) + b2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;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hypothesis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torch.sigmoid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(z2)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# 손실 함수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Binary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Cross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Entropy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loss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-(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y_data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*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torch.log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hypothesis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+ 1e-7) + (1 -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y_data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*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torch.log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(1 -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hypothesis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+ 1e-7)).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mean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#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Backward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Pass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(기울기 계산)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loss.backward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# 파라미터 업데이트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with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torch.no_grad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():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W1 -=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* W1.grad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;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b1 -=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* b1.grad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W2 -=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* W2.grad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;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b2 -=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* b2.grad 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# 기울기 초기화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W1.grad.zero_()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;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b1.grad.zero_()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W2.grad.zero_()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;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b2.grad.zero_()</a:t>
            </a: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2441044D-4B58-E474-EB53-A0C0832484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194140"/>
            <a:ext cx="10706705" cy="437890"/>
          </a:xfrm>
        </p:spPr>
        <p:txBody>
          <a:bodyPr>
            <a:normAutofit lnSpcReduction="10000"/>
          </a:bodyPr>
          <a:lstStyle/>
          <a:p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노드 개수를 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3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 이상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Hidden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Layer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 이상 등 인공지능망 구조를 변경하면서 실습하라</a:t>
            </a:r>
            <a:endParaRPr lang="en-US" altLang="ko-KR" sz="18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873BBA46-E25C-D9B7-3D3C-55DB5924DF6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33816" y="68913"/>
            <a:ext cx="1667479" cy="11033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760006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48173F-0EA7-5332-5B71-1F19487864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BCAF317-7A4D-0EDB-C867-141D167C28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16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2E10A7B3-6DA7-9C2C-93C6-819876A0FA91}"/>
              </a:ext>
            </a:extLst>
          </p:cNvPr>
          <p:cNvSpPr txBox="1">
            <a:spLocks/>
          </p:cNvSpPr>
          <p:nvPr/>
        </p:nvSpPr>
        <p:spPr>
          <a:xfrm>
            <a:off x="656620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neural</a:t>
            </a:r>
            <a:r>
              <a:rPr lang="ko-KR" altLang="en-US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network</a:t>
            </a:r>
            <a:r>
              <a:rPr lang="ko-KR" altLang="en-US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&amp;</a:t>
            </a:r>
            <a:r>
              <a:rPr lang="ko-KR" altLang="en-US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scikit-learn</a:t>
            </a:r>
            <a:r>
              <a:rPr lang="ko-KR" altLang="en-US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estimator</a:t>
            </a:r>
            <a:r>
              <a:rPr lang="ko-KR" altLang="en-US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API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10290014-81CE-C841-AC7E-9067310A1B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47326" y="1313348"/>
            <a:ext cx="6287545" cy="53871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F5FA6556-DBA7-499A-3D0C-10C7A8D42BEF}"/>
              </a:ext>
            </a:extLst>
          </p:cNvPr>
          <p:cNvSpPr/>
          <p:nvPr/>
        </p:nvSpPr>
        <p:spPr>
          <a:xfrm>
            <a:off x="4747326" y="1313348"/>
            <a:ext cx="3250781" cy="2622044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110C32B9-3EFB-57B4-4B81-7A55193A56D0}"/>
              </a:ext>
            </a:extLst>
          </p:cNvPr>
          <p:cNvSpPr/>
          <p:nvPr/>
        </p:nvSpPr>
        <p:spPr>
          <a:xfrm>
            <a:off x="4737678" y="3965880"/>
            <a:ext cx="3250781" cy="2622044"/>
          </a:xfrm>
          <a:prstGeom prst="rect">
            <a:avLst/>
          </a:prstGeom>
          <a:noFill/>
          <a:ln w="19050"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11FA820-AD5A-168F-D412-57DCC3958699}"/>
              </a:ext>
            </a:extLst>
          </p:cNvPr>
          <p:cNvSpPr txBox="1"/>
          <p:nvPr/>
        </p:nvSpPr>
        <p:spPr>
          <a:xfrm>
            <a:off x="656619" y="1313348"/>
            <a:ext cx="3848374" cy="37380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가상의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XOR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데이터를 바탕으로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인공지능망과 다른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머신러닝과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분류한 결과를 의사결정경계선을 시각화한 것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선형결합 구조인 로지스틱 회귀식은 분류를 못함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이미지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텍스트 데이터와 같이 고차원 데이터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비선형을 가진 데이터는 인공지능망의 성능이 높음</a:t>
            </a:r>
          </a:p>
        </p:txBody>
      </p:sp>
    </p:spTree>
    <p:extLst>
      <p:ext uri="{BB962C8B-B14F-4D97-AF65-F5344CB8AC3E}">
        <p14:creationId xmlns:p14="http://schemas.microsoft.com/office/powerpoint/2010/main" val="153455556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076907-6B9A-B691-FA60-CB5742F0CB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FBF6028-E971-D2D2-A37C-A4B681D389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17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CF6427EA-47CE-DD8E-2ECD-17D2CF70C816}"/>
              </a:ext>
            </a:extLst>
          </p:cNvPr>
          <p:cNvSpPr txBox="1">
            <a:spLocks/>
          </p:cNvSpPr>
          <p:nvPr/>
        </p:nvSpPr>
        <p:spPr>
          <a:xfrm>
            <a:off x="656620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loss functions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: classification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65514FD8-2DC4-4FAB-2375-F50B8E9281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0701" y="2174702"/>
            <a:ext cx="6005080" cy="3939881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C8A7B801-0A51-4A98-B12E-63322EDDADB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93866" y="2624079"/>
            <a:ext cx="4587433" cy="478434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D2537F47-2CF7-D84F-42A1-EB257E1F5295}"/>
              </a:ext>
            </a:extLst>
          </p:cNvPr>
          <p:cNvSpPr txBox="1"/>
          <p:nvPr/>
        </p:nvSpPr>
        <p:spPr>
          <a:xfrm>
            <a:off x="512180" y="1348385"/>
            <a:ext cx="112129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분류 문제에서 정답이 아닌 곳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(0)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은 곱셈에 의해 모두 사라지고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정답인 위치의 </a:t>
            </a:r>
            <a:r>
              <a:rPr lang="ko-KR" altLang="en-US" sz="18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확률값만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남는다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</a:t>
            </a:r>
            <a:endParaRPr lang="ko-KR" altLang="en-US" sz="18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6708720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84C948-29E9-8735-2FB6-BC7071233C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8C201F9-D791-B84F-532F-E520111305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18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5046C5C9-7FC9-878D-B677-5BF98F4B925D}"/>
              </a:ext>
            </a:extLst>
          </p:cNvPr>
          <p:cNvSpPr txBox="1">
            <a:spLocks/>
          </p:cNvSpPr>
          <p:nvPr/>
        </p:nvSpPr>
        <p:spPr>
          <a:xfrm>
            <a:off x="656620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loss</a:t>
            </a:r>
            <a:r>
              <a:rPr lang="ko-KR" altLang="en-US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function: classification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71E7BB11-E633-A94D-2501-F36DA50C07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9820" y="2029703"/>
            <a:ext cx="5713174" cy="4371683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EAD74360-CCF4-B8C7-480C-D7341F47A02F}"/>
              </a:ext>
            </a:extLst>
          </p:cNvPr>
          <p:cNvPicPr>
            <a:picLocks noChangeAspect="1"/>
          </p:cNvPicPr>
          <p:nvPr/>
        </p:nvPicPr>
        <p:blipFill>
          <a:blip r:embed="rId3">
            <a:grayscl/>
          </a:blip>
          <a:stretch>
            <a:fillRect/>
          </a:stretch>
        </p:blipFill>
        <p:spPr>
          <a:xfrm>
            <a:off x="656620" y="2691805"/>
            <a:ext cx="3240913" cy="84478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620762F-5B79-568D-9980-2E386885B9C5}"/>
              </a:ext>
            </a:extLst>
          </p:cNvPr>
          <p:cNvSpPr txBox="1"/>
          <p:nvPr/>
        </p:nvSpPr>
        <p:spPr>
          <a:xfrm>
            <a:off x="543286" y="1280721"/>
            <a:ext cx="10992093" cy="8715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분류 문제에서 정답이 아닌 곳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(0)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은 곱셈에 의해 모두 사라지고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정답인 위치의 </a:t>
            </a:r>
            <a:r>
              <a:rPr lang="ko-KR" altLang="en-US" sz="18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확률값만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남으며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Log-loss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Cross-Entropy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이진분류의 특수한 경우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1005792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4ED1E5-5843-DBEB-50F5-1EA7E7C767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E55FF74-5477-22AB-43FD-DF01874821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19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BAE8BB7F-4374-94A4-96E2-5D2F81230A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33816" y="68913"/>
            <a:ext cx="1667479" cy="11033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8332F086-37CC-9131-0AB6-DC91842D5818}"/>
              </a:ext>
            </a:extLst>
          </p:cNvPr>
          <p:cNvSpPr txBox="1">
            <a:spLocks/>
          </p:cNvSpPr>
          <p:nvPr/>
        </p:nvSpPr>
        <p:spPr>
          <a:xfrm>
            <a:off x="656620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Pytorch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Hands-on : classification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9A3DFB2-48BA-7EB0-99DE-16C02139227D}"/>
              </a:ext>
            </a:extLst>
          </p:cNvPr>
          <p:cNvSpPr txBox="1"/>
          <p:nvPr/>
        </p:nvSpPr>
        <p:spPr>
          <a:xfrm>
            <a:off x="677670" y="1883738"/>
            <a:ext cx="5199255" cy="4616648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1.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데이터 생성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X_cls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torch.tensor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([[-2.0], [-1.0], [1.0], [2.0]],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dtype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=torch.float32)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y_cls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torch.tensor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([[0.0], [0.0], [1.0], [1.0]],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dtype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=torch.float32)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2.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모델 정의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(Sigmoid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를 사용하여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0~1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사이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확률값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출력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class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SimpleClassifier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nn.Module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def __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init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__(self):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    super().__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init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__()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   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self.linear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nn.Linear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(1, 1)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   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self.sigmoid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nn.Sigmoid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def forward(self, x):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    return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self.sigmoid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self.linear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(x))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model_cls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SimpleClassifier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3.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손실 함수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이진 교차 엔트로피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와 최적화 도구</a:t>
            </a:r>
          </a:p>
          <a:p>
            <a:r>
              <a:rPr lang="en-US" altLang="ko-KR" sz="1400" b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criterion = </a:t>
            </a:r>
            <a:r>
              <a:rPr lang="en-US" altLang="ko-KR" sz="1400" b="1" dirty="0" err="1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nn.BCELoss</a:t>
            </a:r>
            <a:r>
              <a:rPr lang="en-US" altLang="ko-KR" sz="1400" b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r>
              <a:rPr lang="en-US" altLang="ko-KR" sz="1400" b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optimizer = </a:t>
            </a:r>
            <a:r>
              <a:rPr lang="en-US" altLang="ko-KR" sz="1400" b="1" dirty="0" err="1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optim.SGD</a:t>
            </a:r>
            <a:r>
              <a:rPr lang="en-US" altLang="ko-KR" sz="1400" b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b="1" dirty="0" err="1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model_cls.parameters</a:t>
            </a:r>
            <a:r>
              <a:rPr lang="en-US" altLang="ko-KR" sz="1400" b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(), </a:t>
            </a:r>
            <a:r>
              <a:rPr lang="en-US" altLang="ko-KR" sz="1400" b="1" dirty="0" err="1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lr</a:t>
            </a:r>
            <a:r>
              <a:rPr lang="en-US" altLang="ko-KR" sz="1400" b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=0.1)</a:t>
            </a:r>
            <a:endParaRPr lang="ko-KR" altLang="en-US" sz="1400" b="1" dirty="0">
              <a:solidFill>
                <a:srgbClr val="FF0000"/>
              </a:solidFill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00191A9-AF39-DFA2-DD6E-A46ACD670F8A}"/>
              </a:ext>
            </a:extLst>
          </p:cNvPr>
          <p:cNvSpPr txBox="1"/>
          <p:nvPr/>
        </p:nvSpPr>
        <p:spPr>
          <a:xfrm>
            <a:off x="6210991" y="1883738"/>
            <a:ext cx="5314260" cy="3539430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4.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학습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for epoch in range(500):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out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model_cls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X_cls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loss = criterion(out,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y_cls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  <a:r>
              <a:rPr lang="en-US" altLang="ko-KR" sz="1400" b="1" dirty="0" err="1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optimizer.zero_grad</a:t>
            </a:r>
            <a:r>
              <a:rPr lang="en-US" altLang="ko-KR" sz="1400" b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loss.backward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  <a:r>
              <a:rPr lang="en-US" altLang="ko-KR" sz="1400" b="1" dirty="0" err="1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optimizer.step</a:t>
            </a:r>
            <a:r>
              <a:rPr lang="en-US" altLang="ko-KR" sz="1400" b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5.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예측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test_neg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torch.tensor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([[-5.0]])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test_pos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torch.tensor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([[5.0]])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분류 예측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(-5.0): {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model_cls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test_neg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).item():.4f} (0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에 가까움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)")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분류 예측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(+5.0): {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model_cls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test_pos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).item():.4f} (1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에 가까움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)"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1E7D529-0B99-F34C-9456-A4BCF215413E}"/>
              </a:ext>
            </a:extLst>
          </p:cNvPr>
          <p:cNvSpPr txBox="1"/>
          <p:nvPr/>
        </p:nvSpPr>
        <p:spPr>
          <a:xfrm>
            <a:off x="525270" y="1265909"/>
            <a:ext cx="11576025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분류는 입력 데이터가 어느 그룹에 속하는지 판단하는 작업으로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0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보다 작으면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0, 0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보다 크면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분류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이진 분류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4430063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58833C-0702-7FB9-CA68-E9F604F95F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A5EBE41-3AF7-AB83-DEB8-CFAA6D3B77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20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FA6AC6CE-12FA-975E-AED0-B7F1423238CC}"/>
              </a:ext>
            </a:extLst>
          </p:cNvPr>
          <p:cNvSpPr txBox="1">
            <a:spLocks/>
          </p:cNvSpPr>
          <p:nvPr/>
        </p:nvSpPr>
        <p:spPr>
          <a:xfrm>
            <a:off x="656620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Logistic regression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255E958-F0D6-D564-FD8F-0ABCBD009E33}"/>
              </a:ext>
            </a:extLst>
          </p:cNvPr>
          <p:cNvSpPr txBox="1"/>
          <p:nvPr/>
        </p:nvSpPr>
        <p:spPr>
          <a:xfrm>
            <a:off x="525270" y="1265909"/>
            <a:ext cx="11576025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분류모델인 로지스틱 회귀는 </a:t>
            </a:r>
            <a:r>
              <a:rPr lang="en-US" altLang="ko-KR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pytorch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/08_odds_ratio_logit_sigmoid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코드 참고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B9223FD0-ADC8-B76A-10E9-7FF52DAE66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9596" y="2038228"/>
            <a:ext cx="3976808" cy="29942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5" name="그룹 14">
            <a:extLst>
              <a:ext uri="{FF2B5EF4-FFF2-40B4-BE49-F238E27FC236}">
                <a16:creationId xmlns:a16="http://schemas.microsoft.com/office/drawing/2014/main" id="{72A7111D-DEE6-F645-A881-641D0B0B8098}"/>
              </a:ext>
            </a:extLst>
          </p:cNvPr>
          <p:cNvGrpSpPr/>
          <p:nvPr/>
        </p:nvGrpSpPr>
        <p:grpSpPr>
          <a:xfrm>
            <a:off x="656620" y="2038228"/>
            <a:ext cx="7087128" cy="3638672"/>
            <a:chOff x="656620" y="2038228"/>
            <a:chExt cx="7087128" cy="3638672"/>
          </a:xfrm>
        </p:grpSpPr>
        <p:pic>
          <p:nvPicPr>
            <p:cNvPr id="14" name="그림 13">
              <a:extLst>
                <a:ext uri="{FF2B5EF4-FFF2-40B4-BE49-F238E27FC236}">
                  <a16:creationId xmlns:a16="http://schemas.microsoft.com/office/drawing/2014/main" id="{4A3668DD-F69F-352A-2678-065F4B07A00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duotone>
                <a:schemeClr val="accent6">
                  <a:shade val="45000"/>
                  <a:satMod val="135000"/>
                </a:schemeClr>
                <a:prstClr val="white"/>
              </a:duotone>
            </a:blip>
            <a:stretch>
              <a:fillRect/>
            </a:stretch>
          </p:blipFill>
          <p:spPr>
            <a:xfrm>
              <a:off x="656620" y="2038228"/>
              <a:ext cx="7087128" cy="3638672"/>
            </a:xfrm>
            <a:prstGeom prst="rect">
              <a:avLst/>
            </a:prstGeom>
          </p:spPr>
        </p:pic>
        <p:pic>
          <p:nvPicPr>
            <p:cNvPr id="10" name="그림 9">
              <a:extLst>
                <a:ext uri="{FF2B5EF4-FFF2-40B4-BE49-F238E27FC236}">
                  <a16:creationId xmlns:a16="http://schemas.microsoft.com/office/drawing/2014/main" id="{29CC41A3-5878-CDD8-C521-016FE5C0461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duotone>
                <a:schemeClr val="accent6">
                  <a:shade val="45000"/>
                  <a:satMod val="135000"/>
                </a:schemeClr>
                <a:prstClr val="white"/>
              </a:duotone>
            </a:blip>
            <a:stretch>
              <a:fillRect/>
            </a:stretch>
          </p:blipFill>
          <p:spPr>
            <a:xfrm>
              <a:off x="3916084" y="5032462"/>
              <a:ext cx="2672452" cy="64443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90771355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6374E8-82B3-D847-F7E8-EF04D487CE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161781C-D05A-B519-20BE-DBE65D41BB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21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DEBBEECA-7208-58A6-BAAE-4D2303EBA9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63199" y="66676"/>
            <a:ext cx="1657351" cy="10966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F2C9450F-B441-3F20-44D9-4580F732A108}"/>
              </a:ext>
            </a:extLst>
          </p:cNvPr>
          <p:cNvSpPr txBox="1">
            <a:spLocks/>
          </p:cNvSpPr>
          <p:nvPr/>
        </p:nvSpPr>
        <p:spPr>
          <a:xfrm>
            <a:off x="437545" y="502356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Backpropagation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7" name="내용 개체 틀 6">
            <a:extLst>
              <a:ext uri="{FF2B5EF4-FFF2-40B4-BE49-F238E27FC236}">
                <a16:creationId xmlns:a16="http://schemas.microsoft.com/office/drawing/2014/main" id="{716D3317-9D82-5C29-5B4D-23A68081DE1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791856" y="2346102"/>
            <a:ext cx="10516592" cy="369015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01DA442-0A02-35E1-5924-E2BF51A7DDF7}"/>
              </a:ext>
            </a:extLst>
          </p:cNvPr>
          <p:cNvSpPr txBox="1"/>
          <p:nvPr/>
        </p:nvSpPr>
        <p:spPr>
          <a:xfrm>
            <a:off x="791856" y="6201755"/>
            <a:ext cx="9193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 Tube</a:t>
            </a:r>
            <a:endParaRPr lang="ko-KR" altLang="en-US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C67FD12-73D2-3353-A8C4-7E7C0383DD21}"/>
              </a:ext>
            </a:extLst>
          </p:cNvPr>
          <p:cNvSpPr txBox="1"/>
          <p:nvPr/>
        </p:nvSpPr>
        <p:spPr>
          <a:xfrm>
            <a:off x="544946" y="1415177"/>
            <a:ext cx="11148290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입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력변수가 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개인 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XOR 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문제를 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단층구조 네트워크로 만들고 엑셀로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parameter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back propagation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구하라</a:t>
            </a:r>
            <a:endParaRPr lang="ko-KR" altLang="en-US" sz="16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B0F3AF9-A173-B593-4230-2FE3E7921A68}"/>
              </a:ext>
            </a:extLst>
          </p:cNvPr>
          <p:cNvSpPr txBox="1"/>
          <p:nvPr/>
        </p:nvSpPr>
        <p:spPr>
          <a:xfrm>
            <a:off x="704850" y="2082568"/>
            <a:ext cx="516173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XOR_perceptron_optimization_backprpagation_sgd.xlsx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2399054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862381-3972-869E-B311-851346C881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742E03F-B582-8FE9-524B-E033E86758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22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0F2F0F76-653C-E126-EB6E-A7E4FC7B99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53677" y="109568"/>
            <a:ext cx="1590674" cy="10524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07623FCE-2234-98BA-A6C8-AB07B6BDF561}"/>
              </a:ext>
            </a:extLst>
          </p:cNvPr>
          <p:cNvSpPr txBox="1">
            <a:spLocks/>
          </p:cNvSpPr>
          <p:nvPr/>
        </p:nvSpPr>
        <p:spPr>
          <a:xfrm>
            <a:off x="590464" y="39561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73E8ACEE-D388-F7CA-6A08-DE923D42AC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0110" y="1700213"/>
            <a:ext cx="3592964" cy="3734398"/>
          </a:xfrm>
        </p:spPr>
        <p:txBody>
          <a:bodyPr>
            <a:normAutofit fontScale="85000" lnSpcReduction="10000"/>
          </a:bodyPr>
          <a:lstStyle/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altLang="ko-KR" sz="20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pytorch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Tutorial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배우고 </a:t>
            </a:r>
            <a:endParaRPr lang="en-US" altLang="ko-KR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  <a:sym typeface="Wingdings" panose="05000000000000000000" pitchFamily="2" charset="2"/>
            </a:endParaRP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오른쪽 그림을 바탕으로 입력과 출력데이터를 생성하고</a:t>
            </a:r>
            <a:endParaRPr lang="en-US" altLang="ko-KR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  <a:sym typeface="Wingdings" panose="05000000000000000000" pitchFamily="2" charset="2"/>
            </a:endParaRP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altLang="ko-KR" sz="20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Pytorch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로 </a:t>
            </a:r>
            <a:r>
              <a:rPr lang="ko-KR" altLang="en-US" sz="20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네크워크를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 구성하고 학습한 후 예측하라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. 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예측하여야 하는 총 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parameters(w,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b)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는 몇 개인가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?</a:t>
            </a:r>
            <a:endParaRPr lang="en-US" altLang="ko-KR" sz="20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5DB4939-FECE-E50C-F0C1-06C4C44245D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59314" y="1700213"/>
            <a:ext cx="6413497" cy="378696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960D858-72FF-9996-DDB4-58889C397859}"/>
              </a:ext>
            </a:extLst>
          </p:cNvPr>
          <p:cNvSpPr txBox="1"/>
          <p:nvPr/>
        </p:nvSpPr>
        <p:spPr>
          <a:xfrm>
            <a:off x="2600325" y="634753"/>
            <a:ext cx="308270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w4_pytorch_tutorial.ipynb</a:t>
            </a:r>
            <a:endParaRPr lang="ko-KR" altLang="en-US" sz="20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BBEDEB4-CC20-F660-9DB2-96EED65201AC}"/>
              </a:ext>
            </a:extLst>
          </p:cNvPr>
          <p:cNvSpPr txBox="1"/>
          <p:nvPr/>
        </p:nvSpPr>
        <p:spPr>
          <a:xfrm>
            <a:off x="4100514" y="5880269"/>
            <a:ext cx="13596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source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utube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5536409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96EDE5-8E79-C7E1-CB52-C779EC7ECC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182B6E5E-FC4D-D5FE-628B-07E336326CE4}"/>
              </a:ext>
            </a:extLst>
          </p:cNvPr>
          <p:cNvSpPr/>
          <p:nvPr/>
        </p:nvSpPr>
        <p:spPr>
          <a:xfrm>
            <a:off x="1457324" y="5000626"/>
            <a:ext cx="8277225" cy="64008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EE4B32F8-963A-3AC5-FA53-ED66A86643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solidFill>
                  <a:schemeClr val="tx1"/>
                </a:solidFill>
                <a:cs typeface="Segoe UI Light" panose="020B0502040204020203" pitchFamily="34" charset="0"/>
              </a:rPr>
              <a:t>Contents</a:t>
            </a:r>
            <a:endParaRPr lang="ko-KR" altLang="en-US" dirty="0">
              <a:solidFill>
                <a:schemeClr val="tx1"/>
              </a:solidFill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5D9A11CE-F982-0EDD-57F8-EC1AB3EE5B2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23</a:t>
            </a:fld>
            <a:endParaRPr lang="ko-KR" altLang="en-US" noProof="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ED21109-AED5-930C-1DED-70583AFD1626}"/>
              </a:ext>
            </a:extLst>
          </p:cNvPr>
          <p:cNvSpPr txBox="1"/>
          <p:nvPr/>
        </p:nvSpPr>
        <p:spPr>
          <a:xfrm>
            <a:off x="1957661" y="1356552"/>
            <a:ext cx="8662713" cy="42812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Autograd</a:t>
            </a: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&amp; Backpropagation : Recap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FCNN(Fully Connected Neural Network)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Regression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Classification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Dimension Reduction</a:t>
            </a:r>
          </a:p>
        </p:txBody>
      </p:sp>
    </p:spTree>
    <p:extLst>
      <p:ext uri="{BB962C8B-B14F-4D97-AF65-F5344CB8AC3E}">
        <p14:creationId xmlns:p14="http://schemas.microsoft.com/office/powerpoint/2010/main" val="18363793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6D8F64-AE03-83A8-9AC3-946E3E41FF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A9D7258-89E0-FD16-303B-902B6CD775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24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5C55FA6B-189E-28C7-6A8E-2B437D180532}"/>
              </a:ext>
            </a:extLst>
          </p:cNvPr>
          <p:cNvSpPr txBox="1">
            <a:spLocks/>
          </p:cNvSpPr>
          <p:nvPr/>
        </p:nvSpPr>
        <p:spPr>
          <a:xfrm>
            <a:off x="590464" y="39561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9" name="내용 개체 틀 2">
            <a:extLst>
              <a:ext uri="{FF2B5EF4-FFF2-40B4-BE49-F238E27FC236}">
                <a16:creationId xmlns:a16="http://schemas.microsoft.com/office/drawing/2014/main" id="{61A83C34-C151-41C1-64A0-BD7003F0C9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0464" y="1320833"/>
            <a:ext cx="10706705" cy="1853860"/>
          </a:xfrm>
        </p:spPr>
        <p:txBody>
          <a:bodyPr>
            <a:normAutofit/>
          </a:bodyPr>
          <a:lstStyle/>
          <a:p>
            <a:pPr marL="342900" indent="-342900"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Feature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가 아무리 많아도 대부분의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feature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무의미한 경우가 많음</a:t>
            </a:r>
            <a:endParaRPr lang="en-US" altLang="ko-KR" sz="21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342900" indent="-342900"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 </a:t>
            </a: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개의 아라비아 숫자의 </a:t>
            </a: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75% 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이상을 지워도 수자를 읽을 수 있음</a:t>
            </a:r>
            <a:endParaRPr lang="en-US" altLang="ko-KR" sz="19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CF41F368-1CB4-5087-3A3D-F11BAC41BC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4268" y="3088968"/>
            <a:ext cx="6957663" cy="2377646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64D54FBD-2A11-10A5-4EBC-9030EC7BE9A3}"/>
              </a:ext>
            </a:extLst>
          </p:cNvPr>
          <p:cNvSpPr txBox="1">
            <a:spLocks/>
          </p:cNvSpPr>
          <p:nvPr/>
        </p:nvSpPr>
        <p:spPr>
          <a:xfrm>
            <a:off x="742864" y="54801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Principal Component Analysis</a:t>
            </a:r>
            <a:endParaRPr lang="ko-KR" altLang="en-US" sz="2800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7982522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BE6398-4BFE-4A9F-6038-C76E929E0E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6191611-FEB0-08B6-3ADF-3D53D7E715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25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5EC02710-FAFA-CB41-8FD4-D3B20F515B4A}"/>
              </a:ext>
            </a:extLst>
          </p:cNvPr>
          <p:cNvSpPr txBox="1">
            <a:spLocks/>
          </p:cNvSpPr>
          <p:nvPr/>
        </p:nvSpPr>
        <p:spPr>
          <a:xfrm>
            <a:off x="590464" y="39561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Principal Component Analysis</a:t>
            </a:r>
            <a:endParaRPr lang="ko-KR" altLang="en-US" sz="2800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9" name="내용 개체 틀 2">
            <a:extLst>
              <a:ext uri="{FF2B5EF4-FFF2-40B4-BE49-F238E27FC236}">
                <a16:creationId xmlns:a16="http://schemas.microsoft.com/office/drawing/2014/main" id="{ACDD2D56-AB63-1CFC-3EA8-CE4D977248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0464" y="1235108"/>
            <a:ext cx="10706705" cy="1853860"/>
          </a:xfrm>
        </p:spPr>
        <p:txBody>
          <a:bodyPr>
            <a:normAutofit/>
          </a:bodyPr>
          <a:lstStyle/>
          <a:p>
            <a:pPr marL="342900" indent="-342900"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Feature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가 아무리 많아도 대부분의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feature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무의미한 경우가 많음</a:t>
            </a:r>
            <a:endParaRPr lang="en-US" altLang="ko-KR" sz="21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342900" indent="-342900"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 </a:t>
            </a: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개의 아라비아 숫자의 </a:t>
            </a: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75% 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이상을 지워도 수자를 읽을 수 있음</a:t>
            </a:r>
            <a:endParaRPr lang="en-US" altLang="ko-KR" sz="19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2" name="Picture 2" descr="The original 3-dimensional data set. The red, blue, green arrows are the direction of the first, second, and third principal components, respectively. Image by the author.">
            <a:extLst>
              <a:ext uri="{FF2B5EF4-FFF2-40B4-BE49-F238E27FC236}">
                <a16:creationId xmlns:a16="http://schemas.microsoft.com/office/drawing/2014/main" id="{D668D96A-CE83-ADD0-F5DF-0380F6FCB76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6775" y="2426019"/>
            <a:ext cx="4371975" cy="32643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 descr="Scatterplot after PCA reduced from 3-dimensions to 2-dimensions. Image by the author.">
            <a:extLst>
              <a:ext uri="{FF2B5EF4-FFF2-40B4-BE49-F238E27FC236}">
                <a16:creationId xmlns:a16="http://schemas.microsoft.com/office/drawing/2014/main" id="{27B050C9-3918-0FC9-3DA7-760BE91EEB1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67449" y="2426020"/>
            <a:ext cx="5230069" cy="32643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674DDD5-5E98-0D28-C1F6-B7C002ADC1E5}"/>
              </a:ext>
            </a:extLst>
          </p:cNvPr>
          <p:cNvSpPr txBox="1"/>
          <p:nvPr/>
        </p:nvSpPr>
        <p:spPr>
          <a:xfrm>
            <a:off x="807720" y="5723600"/>
            <a:ext cx="45339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b="0" i="0" dirty="0">
                <a:solidFill>
                  <a:srgbClr val="2A2A2A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The original 3-dimensional data set. The red, blue, green arrows are the direction of the first, second, and third principal components, respectively.</a:t>
            </a:r>
            <a:endParaRPr lang="ko-KR" altLang="en-US" sz="12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533259D-9128-168B-95E1-4BB0CB2983A5}"/>
              </a:ext>
            </a:extLst>
          </p:cNvPr>
          <p:cNvSpPr txBox="1"/>
          <p:nvPr/>
        </p:nvSpPr>
        <p:spPr>
          <a:xfrm>
            <a:off x="6267449" y="5723600"/>
            <a:ext cx="45339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b="0" i="0" dirty="0">
                <a:solidFill>
                  <a:srgbClr val="2A2A2A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Scatterplot after PCA reduced from 3-dimensions to 2-dimensions. </a:t>
            </a:r>
            <a:endParaRPr lang="ko-KR" altLang="en-US" sz="12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2576485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BDA77C-2E29-FAAD-6486-73DAE99CD5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74139A7-D2A7-F7DF-AB8B-CE5F968B0F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26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88ABDE38-5B87-6B5E-FD84-F755B556407C}"/>
              </a:ext>
            </a:extLst>
          </p:cNvPr>
          <p:cNvSpPr txBox="1">
            <a:spLocks/>
          </p:cNvSpPr>
          <p:nvPr/>
        </p:nvSpPr>
        <p:spPr>
          <a:xfrm>
            <a:off x="590464" y="39561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Dimensionality Reduction</a:t>
            </a:r>
            <a:endParaRPr lang="ko-KR" altLang="en-US" sz="2800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pic>
        <p:nvPicPr>
          <p:cNvPr id="6" name="Picture 4">
            <a:extLst>
              <a:ext uri="{FF2B5EF4-FFF2-40B4-BE49-F238E27FC236}">
                <a16:creationId xmlns:a16="http://schemas.microsoft.com/office/drawing/2014/main" id="{074B5D32-C566-AE78-5EFB-3C09EEC6D4F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42089" y="2838154"/>
            <a:ext cx="3170871" cy="31480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8A22C6A-8BD3-339D-5312-E8D46C32AE62}"/>
              </a:ext>
            </a:extLst>
          </p:cNvPr>
          <p:cNvSpPr txBox="1"/>
          <p:nvPr/>
        </p:nvSpPr>
        <p:spPr>
          <a:xfrm>
            <a:off x="607241" y="1280160"/>
            <a:ext cx="10977518" cy="12852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60,00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MNIST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필기체 수자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(28 by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28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행렬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데이터의 각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pixel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간 표준편차를 구해서 시각화한 이미지를 보면 해보면 중앙 픽셀의 표준편차는 높지만 주변 픽셀의 표준편차는 거의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0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 근접한 것으로 나타남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주변의 정보는 데이터는 수자를 표현하는데 거의 역할이 없음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F54118A0-E283-62A0-E943-7CF479C2CDA9}"/>
              </a:ext>
            </a:extLst>
          </p:cNvPr>
          <p:cNvGrpSpPr/>
          <p:nvPr/>
        </p:nvGrpSpPr>
        <p:grpSpPr>
          <a:xfrm>
            <a:off x="9966960" y="2838153"/>
            <a:ext cx="1936300" cy="3137007"/>
            <a:chOff x="9628030" y="2838154"/>
            <a:chExt cx="2246046" cy="3638827"/>
          </a:xfrm>
        </p:grpSpPr>
        <p:pic>
          <p:nvPicPr>
            <p:cNvPr id="11" name="그림 10">
              <a:extLst>
                <a:ext uri="{FF2B5EF4-FFF2-40B4-BE49-F238E27FC236}">
                  <a16:creationId xmlns:a16="http://schemas.microsoft.com/office/drawing/2014/main" id="{4C4EBE39-9381-68D1-F7D5-9ABA89C7BD8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628030" y="2838154"/>
              <a:ext cx="2246046" cy="1225431"/>
            </a:xfrm>
            <a:prstGeom prst="rect">
              <a:avLst/>
            </a:prstGeom>
          </p:spPr>
        </p:pic>
        <p:pic>
          <p:nvPicPr>
            <p:cNvPr id="12" name="그림 11">
              <a:extLst>
                <a:ext uri="{FF2B5EF4-FFF2-40B4-BE49-F238E27FC236}">
                  <a16:creationId xmlns:a16="http://schemas.microsoft.com/office/drawing/2014/main" id="{68C3BF4C-3BEC-CCAD-51AA-B04850C9137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9628031" y="4060451"/>
              <a:ext cx="2240700" cy="1204969"/>
            </a:xfrm>
            <a:prstGeom prst="rect">
              <a:avLst/>
            </a:prstGeom>
          </p:spPr>
        </p:pic>
        <p:pic>
          <p:nvPicPr>
            <p:cNvPr id="13" name="그림 12">
              <a:extLst>
                <a:ext uri="{FF2B5EF4-FFF2-40B4-BE49-F238E27FC236}">
                  <a16:creationId xmlns:a16="http://schemas.microsoft.com/office/drawing/2014/main" id="{F83AD08F-9A65-B9E5-D2AA-9188852986B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9628782" y="5265420"/>
              <a:ext cx="2240701" cy="1211561"/>
            </a:xfrm>
            <a:prstGeom prst="rect">
              <a:avLst/>
            </a:prstGeom>
          </p:spPr>
        </p:pic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39360056-C6B7-C3C4-513B-DC03845926C0}"/>
              </a:ext>
            </a:extLst>
          </p:cNvPr>
          <p:cNvSpPr txBox="1"/>
          <p:nvPr/>
        </p:nvSpPr>
        <p:spPr>
          <a:xfrm>
            <a:off x="755904" y="2838153"/>
            <a:ext cx="5297424" cy="2862322"/>
          </a:xfrm>
          <a:prstGeom prst="rect">
            <a:avLst/>
          </a:prstGeom>
          <a:solidFill>
            <a:srgbClr val="76E3FF"/>
          </a:solidFill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import torch</a:t>
            </a:r>
          </a:p>
          <a:p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torchvision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import datasets</a:t>
            </a:r>
          </a:p>
          <a:p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matplotlib.pyplot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as 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데이터를 불러오는 즉시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.data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로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텐서를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추출하고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float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로 변환</a:t>
            </a:r>
          </a:p>
          <a:p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x_train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datasets.MNIST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(root='./data', train=True, download=True).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data.float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전체 데이터의 표준편차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불필요한 열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픽셀 확인용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pixel_std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torch.std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x_train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dim=0)</a:t>
            </a:r>
          </a:p>
          <a:p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plt.imshow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pixel_std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cmap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='hot')</a:t>
            </a:r>
          </a:p>
          <a:p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plt.colorbar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() #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값의 범위를 확인하기 위해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컬러바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추가</a:t>
            </a:r>
          </a:p>
          <a:p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plt.title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("Standard Deviation of MNIST Pixels")</a:t>
            </a:r>
          </a:p>
          <a:p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plt.show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4433795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21584A-354B-8854-9D84-8A4AED2B35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A6891ED-6830-2365-D8C2-4853C3446D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27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251C5D85-E399-D2CC-578A-E107FBDAB7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53677" y="109568"/>
            <a:ext cx="1590674" cy="10524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741BEBCA-45F9-C50A-C781-59824B65491C}"/>
              </a:ext>
            </a:extLst>
          </p:cNvPr>
          <p:cNvSpPr txBox="1">
            <a:spLocks/>
          </p:cNvSpPr>
          <p:nvPr/>
        </p:nvSpPr>
        <p:spPr>
          <a:xfrm>
            <a:off x="590464" y="39561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 : Curse of Dimensionality</a:t>
            </a:r>
            <a:endParaRPr lang="ko-KR" altLang="en-US" sz="2800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5EEA879B-8433-5CB0-3060-2ED57156B079}"/>
              </a:ext>
            </a:extLst>
          </p:cNvPr>
          <p:cNvSpPr/>
          <p:nvPr/>
        </p:nvSpPr>
        <p:spPr>
          <a:xfrm>
            <a:off x="3538537" y="2428875"/>
            <a:ext cx="3667125" cy="3667125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48A0C315-4B8C-5501-2CDD-6A01DBFAAA85}"/>
              </a:ext>
            </a:extLst>
          </p:cNvPr>
          <p:cNvSpPr/>
          <p:nvPr/>
        </p:nvSpPr>
        <p:spPr>
          <a:xfrm>
            <a:off x="3612832" y="2494915"/>
            <a:ext cx="3529014" cy="3529014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2BDABCC-D68A-D788-C4E3-121032F9B346}"/>
              </a:ext>
            </a:extLst>
          </p:cNvPr>
          <p:cNvSpPr txBox="1"/>
          <p:nvPr/>
        </p:nvSpPr>
        <p:spPr>
          <a:xfrm>
            <a:off x="590464" y="1300008"/>
            <a:ext cx="10536917" cy="871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/>
              <a:t>가로 세로 길이가 각각 </a:t>
            </a:r>
            <a:r>
              <a:rPr lang="en-US" altLang="ko-KR" dirty="0"/>
              <a:t>1</a:t>
            </a:r>
            <a:r>
              <a:rPr lang="ko-KR" altLang="en-US" dirty="0"/>
              <a:t>인 정사각형의 </a:t>
            </a:r>
            <a:r>
              <a:rPr lang="ko-KR" altLang="en-US" dirty="0" err="1"/>
              <a:t>태두리</a:t>
            </a:r>
            <a:r>
              <a:rPr lang="en-US" altLang="ko-KR" dirty="0"/>
              <a:t>(</a:t>
            </a:r>
            <a:r>
              <a:rPr lang="ko-KR" altLang="en-US" dirty="0"/>
              <a:t>빨강색</a:t>
            </a:r>
            <a:r>
              <a:rPr lang="en-US" altLang="ko-KR" dirty="0"/>
              <a:t>)</a:t>
            </a:r>
            <a:r>
              <a:rPr lang="ko-KR" altLang="en-US" dirty="0"/>
              <a:t>에 임의의 데이터가 있을 확률을 </a:t>
            </a:r>
            <a:r>
              <a:rPr lang="en-US" altLang="ko-KR" dirty="0"/>
              <a:t>2</a:t>
            </a:r>
            <a:r>
              <a:rPr lang="ko-KR" altLang="en-US" dirty="0"/>
              <a:t>차원</a:t>
            </a:r>
            <a:r>
              <a:rPr lang="en-US" altLang="ko-KR" dirty="0"/>
              <a:t>, 3</a:t>
            </a:r>
            <a:r>
              <a:rPr lang="ko-KR" altLang="en-US" dirty="0"/>
              <a:t>차원</a:t>
            </a:r>
            <a:r>
              <a:rPr lang="en-US" altLang="ko-KR" dirty="0"/>
              <a:t>, 4</a:t>
            </a:r>
            <a:r>
              <a:rPr lang="ko-KR" altLang="en-US" dirty="0"/>
              <a:t>차원</a:t>
            </a:r>
            <a:r>
              <a:rPr lang="en-US" altLang="ko-KR" dirty="0"/>
              <a:t>, 100</a:t>
            </a:r>
            <a:r>
              <a:rPr lang="ko-KR" altLang="en-US" dirty="0"/>
              <a:t>차원까지 확장하여 계산하라</a:t>
            </a:r>
          </a:p>
        </p:txBody>
      </p:sp>
      <p:sp>
        <p:nvSpPr>
          <p:cNvPr id="14" name="오른쪽 중괄호 13">
            <a:extLst>
              <a:ext uri="{FF2B5EF4-FFF2-40B4-BE49-F238E27FC236}">
                <a16:creationId xmlns:a16="http://schemas.microsoft.com/office/drawing/2014/main" id="{1D319AD3-7C6F-5D74-D64E-BE0662F2AD89}"/>
              </a:ext>
            </a:extLst>
          </p:cNvPr>
          <p:cNvSpPr/>
          <p:nvPr/>
        </p:nvSpPr>
        <p:spPr>
          <a:xfrm>
            <a:off x="7324724" y="2420619"/>
            <a:ext cx="314325" cy="3667125"/>
          </a:xfrm>
          <a:prstGeom prst="rightBrace">
            <a:avLst>
              <a:gd name="adj1" fmla="val 45000"/>
              <a:gd name="adj2" fmla="val 50000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오른쪽 중괄호 15">
            <a:extLst>
              <a:ext uri="{FF2B5EF4-FFF2-40B4-BE49-F238E27FC236}">
                <a16:creationId xmlns:a16="http://schemas.microsoft.com/office/drawing/2014/main" id="{EC1B7EBF-A4EB-27EC-021B-B5EA3DF6E392}"/>
              </a:ext>
            </a:extLst>
          </p:cNvPr>
          <p:cNvSpPr/>
          <p:nvPr/>
        </p:nvSpPr>
        <p:spPr>
          <a:xfrm rot="10800000">
            <a:off x="3104196" y="2502534"/>
            <a:ext cx="314325" cy="3463925"/>
          </a:xfrm>
          <a:prstGeom prst="rightBrace">
            <a:avLst>
              <a:gd name="adj1" fmla="val 45000"/>
              <a:gd name="adj2" fmla="val 50000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BDA83219-A091-EE97-6D09-081AA1E4D461}"/>
                  </a:ext>
                </a:extLst>
              </p:cNvPr>
              <p:cNvSpPr txBox="1"/>
              <p:nvPr/>
            </p:nvSpPr>
            <p:spPr>
              <a:xfrm>
                <a:off x="7758111" y="4077771"/>
                <a:ext cx="38664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b="1" i="1">
                          <a:latin typeface="Cambria Math" panose="02040503050406030204" pitchFamily="18" charset="0"/>
                        </a:rPr>
                        <m:t>𝟏</m:t>
                      </m:r>
                    </m:oMath>
                  </m:oMathPara>
                </a14:m>
                <a:endParaRPr lang="ko-KR" altLang="en-US" b="1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BDA83219-A091-EE97-6D09-081AA1E4D4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58111" y="4077771"/>
                <a:ext cx="386644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C7418839-1373-1F5A-A382-DF16FB75A252}"/>
                  </a:ext>
                </a:extLst>
              </p:cNvPr>
              <p:cNvSpPr txBox="1"/>
              <p:nvPr/>
            </p:nvSpPr>
            <p:spPr>
              <a:xfrm>
                <a:off x="2512891" y="5803771"/>
                <a:ext cx="36740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𝜺</m:t>
                      </m:r>
                    </m:oMath>
                  </m:oMathPara>
                </a14:m>
                <a:endParaRPr lang="ko-KR" alt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C7418839-1373-1F5A-A382-DF16FB75A2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12891" y="5803771"/>
                <a:ext cx="367408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35111F6A-ED4E-CA39-CF59-F80AE897EFA4}"/>
                  </a:ext>
                </a:extLst>
              </p:cNvPr>
              <p:cNvSpPr txBox="1"/>
              <p:nvPr/>
            </p:nvSpPr>
            <p:spPr>
              <a:xfrm>
                <a:off x="2436981" y="4069515"/>
                <a:ext cx="58221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b="1" i="1" smtClean="0"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altLang="ko-KR" b="1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ko-KR" altLang="en-US" b="1" i="1" smtClean="0">
                          <a:latin typeface="Cambria Math" panose="02040503050406030204" pitchFamily="18" charset="0"/>
                        </a:rPr>
                        <m:t>𝜺</m:t>
                      </m:r>
                    </m:oMath>
                  </m:oMathPara>
                </a14:m>
                <a:endParaRPr lang="ko-KR" altLang="en-US" b="1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35111F6A-ED4E-CA39-CF59-F80AE897EF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36981" y="4069515"/>
                <a:ext cx="582211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7834083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789472-2894-5A71-FE73-7C8A5AD814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530B956-C993-C992-80CE-F028A3B820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28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9E7A49C6-7D72-B92A-C29E-AF96EFBA2897}"/>
              </a:ext>
            </a:extLst>
          </p:cNvPr>
          <p:cNvSpPr txBox="1">
            <a:spLocks/>
          </p:cNvSpPr>
          <p:nvPr/>
        </p:nvSpPr>
        <p:spPr>
          <a:xfrm>
            <a:off x="590464" y="39561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 : Curse of Dimensionality</a:t>
            </a:r>
            <a:endParaRPr lang="ko-KR" altLang="en-US" sz="2800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pic>
        <p:nvPicPr>
          <p:cNvPr id="1026" name="Picture 2" descr="The curse(s) of dimensionality | Nature Methods">
            <a:extLst>
              <a:ext uri="{FF2B5EF4-FFF2-40B4-BE49-F238E27FC236}">
                <a16:creationId xmlns:a16="http://schemas.microsoft.com/office/drawing/2014/main" id="{A85A9F98-EF66-2088-4ABF-79F701CB6C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7047" y="1601006"/>
            <a:ext cx="4666706" cy="45236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B0E4EFE-8F57-C87C-CFC9-D9C7BB5DD793}"/>
              </a:ext>
            </a:extLst>
          </p:cNvPr>
          <p:cNvSpPr txBox="1"/>
          <p:nvPr/>
        </p:nvSpPr>
        <p:spPr>
          <a:xfrm>
            <a:off x="5767345" y="2631380"/>
            <a:ext cx="6089375" cy="3493264"/>
          </a:xfrm>
          <a:prstGeom prst="rect">
            <a:avLst/>
          </a:prstGeom>
          <a:solidFill>
            <a:srgbClr val="76E3FF"/>
          </a:solidFill>
        </p:spPr>
        <p:txBody>
          <a:bodyPr wrap="square" rtlCol="0">
            <a:spAutoFit/>
          </a:bodyPr>
          <a:lstStyle/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numpy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as np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matplotlib.pyplot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as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</a:t>
            </a:r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import seaborn as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sns</a:t>
            </a:r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scipy.stats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import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multivariate_normal</a:t>
            </a:r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# 1.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 생성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평균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0,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표준편차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1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분포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mean = [0, 0]</a:t>
            </a:r>
          </a:p>
          <a:p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cov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= [[1, 0], [0, 1]]  #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독립 변수 가정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원형 분포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N = 10_000</a:t>
            </a:r>
          </a:p>
          <a:p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x, y =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multivariate_normal.rvs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(mean=mean,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cov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cov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, size=N).T</a:t>
            </a:r>
          </a:p>
          <a:p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# Draw a combo histogram and scatterplot with density contours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f, ax =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plt.subplots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figsize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=(6, 6))</a:t>
            </a:r>
          </a:p>
          <a:p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sns.scatterplot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(x=x, y=y, s=5, color=".15")</a:t>
            </a:r>
          </a:p>
          <a:p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sns.histplot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(x=x, y=y, bins=50,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pthresh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=.1,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cmap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="mako")</a:t>
            </a:r>
          </a:p>
          <a:p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sns.kdeplot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(x=x, y=y, levels=5, color="w", linewidths=1)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2F3BD2A-0BC9-6490-4E92-669DF121DD6C}"/>
              </a:ext>
            </a:extLst>
          </p:cNvPr>
          <p:cNvSpPr txBox="1"/>
          <p:nvPr/>
        </p:nvSpPr>
        <p:spPr>
          <a:xfrm>
            <a:off x="5623753" y="2242629"/>
            <a:ext cx="27238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layered_bivariate_plot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6164886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4760F6-B3C5-0C46-4C7A-2D2B293E49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3D09807-D0F2-214E-7585-7DDA567FD8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29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AB899600-7233-CA9D-5EAD-8C04116B3B17}"/>
              </a:ext>
            </a:extLst>
          </p:cNvPr>
          <p:cNvSpPr txBox="1">
            <a:spLocks/>
          </p:cNvSpPr>
          <p:nvPr/>
        </p:nvSpPr>
        <p:spPr>
          <a:xfrm>
            <a:off x="590464" y="39561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gaussian mixture model distributions</a:t>
            </a:r>
            <a:endParaRPr lang="ko-KR" altLang="en-US" sz="2800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pic>
        <p:nvPicPr>
          <p:cNvPr id="5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6E5CA069-05A3-B6DC-F65D-8E9DC566CFB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28779" y="52082"/>
            <a:ext cx="1677554" cy="1109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2">
            <a:extLst>
              <a:ext uri="{FF2B5EF4-FFF2-40B4-BE49-F238E27FC236}">
                <a16:creationId xmlns:a16="http://schemas.microsoft.com/office/drawing/2014/main" id="{8384DCA8-F9C0-24B4-91FD-BB3E5308823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0564" y="2654753"/>
            <a:ext cx="2580698" cy="27527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FF274F54-3845-5E49-5105-70830BD292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52968" y="2654751"/>
            <a:ext cx="2674837" cy="27527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C48DC78F-7FF1-78D4-7A0B-4F2D84999D0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09511" y="2654752"/>
            <a:ext cx="2627226" cy="27527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9EFBC82-4C26-34AD-7EC1-939B1DDB48AF}"/>
              </a:ext>
            </a:extLst>
          </p:cNvPr>
          <p:cNvSpPr txBox="1"/>
          <p:nvPr/>
        </p:nvSpPr>
        <p:spPr>
          <a:xfrm>
            <a:off x="590464" y="1505595"/>
            <a:ext cx="93826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여러 개의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가우시안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정규분포가 데이터 분포에 혼재되어 숨어있는 그래프를 시각화 해보자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727E3A01-DE2D-B33A-9D6E-C090DACA01A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18444" y="2654752"/>
            <a:ext cx="2733889" cy="27527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729BF775-3F2E-E3D0-972F-C2B8496A918A}"/>
              </a:ext>
            </a:extLst>
          </p:cNvPr>
          <p:cNvSpPr txBox="1"/>
          <p:nvPr/>
        </p:nvSpPr>
        <p:spPr>
          <a:xfrm>
            <a:off x="9118443" y="2319026"/>
            <a:ext cx="223651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smooth_bivariate_kde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6999472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528F73-8351-9819-936D-C508CD88BE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3C5DE67-5850-1A78-5257-6E19CBED3F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30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AF8D1AAC-C3F3-2B3F-A445-27EB0C66B96D}"/>
              </a:ext>
            </a:extLst>
          </p:cNvPr>
          <p:cNvSpPr txBox="1">
            <a:spLocks/>
          </p:cNvSpPr>
          <p:nvPr/>
        </p:nvSpPr>
        <p:spPr>
          <a:xfrm>
            <a:off x="590464" y="39561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regression</a:t>
            </a:r>
            <a:r>
              <a:rPr lang="ko-KR" altLang="en-US" sz="2800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sz="2800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model</a:t>
            </a:r>
            <a:r>
              <a:rPr lang="ko-KR" altLang="en-US" sz="2800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sz="2800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with</a:t>
            </a:r>
            <a:r>
              <a:rPr lang="ko-KR" altLang="en-US" sz="2800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sz="2800" cap="none" dirty="0" err="1">
                <a:latin typeface="ADLaM Display" panose="02010000000000000000" pitchFamily="2" charset="0"/>
                <a:cs typeface="ADLaM Display" panose="02010000000000000000" pitchFamily="2" charset="0"/>
              </a:rPr>
              <a:t>gmm</a:t>
            </a:r>
            <a:r>
              <a:rPr lang="en-US" altLang="ko-KR" sz="2800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distributions</a:t>
            </a:r>
            <a:endParaRPr lang="ko-KR" altLang="en-US" sz="2800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pic>
        <p:nvPicPr>
          <p:cNvPr id="5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341717E0-CA4F-B99F-EE83-6C4AC3935E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28779" y="52082"/>
            <a:ext cx="1677554" cy="1109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6A26FAE2-39FF-4AD5-A5B9-DAC81820C559}"/>
              </a:ext>
            </a:extLst>
          </p:cNvPr>
          <p:cNvSpPr txBox="1"/>
          <p:nvPr/>
        </p:nvSpPr>
        <p:spPr>
          <a:xfrm>
            <a:off x="590464" y="1363355"/>
            <a:ext cx="101021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여러 개의 데이터 분포에 혼재되어 숨어있는 그래프를 시각화 해보자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 </a:t>
            </a:r>
            <a:r>
              <a:rPr lang="en-US" altLang="ko-KR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seaborn_Example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gallery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96CF5C09-8792-B894-742C-3BE7CF50C64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0464" y="1905408"/>
            <a:ext cx="2321418" cy="23374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>
            <a:extLst>
              <a:ext uri="{FF2B5EF4-FFF2-40B4-BE49-F238E27FC236}">
                <a16:creationId xmlns:a16="http://schemas.microsoft.com/office/drawing/2014/main" id="{8F5053F3-BC5D-5EA8-017A-C8E25AF983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11463" y="1905407"/>
            <a:ext cx="2341985" cy="23374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8" name="Picture 6">
            <a:extLst>
              <a:ext uri="{FF2B5EF4-FFF2-40B4-BE49-F238E27FC236}">
                <a16:creationId xmlns:a16="http://schemas.microsoft.com/office/drawing/2014/main" id="{CA71CFBE-6DD0-9414-962E-7A7E7F99B7E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53029" y="1905408"/>
            <a:ext cx="2891197" cy="23374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0" name="Picture 8">
            <a:extLst>
              <a:ext uri="{FF2B5EF4-FFF2-40B4-BE49-F238E27FC236}">
                <a16:creationId xmlns:a16="http://schemas.microsoft.com/office/drawing/2014/main" id="{A525403E-80ED-E3FF-91CA-88EA43BED5D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6782" y="4316476"/>
            <a:ext cx="4797198" cy="23374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2" name="Picture 10">
            <a:extLst>
              <a:ext uri="{FF2B5EF4-FFF2-40B4-BE49-F238E27FC236}">
                <a16:creationId xmlns:a16="http://schemas.microsoft.com/office/drawing/2014/main" id="{74E2F4CC-39DF-A0E8-AC5B-43D9122C935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64227" y="4316476"/>
            <a:ext cx="2891197" cy="24578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1146434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8C9E0B-E4A4-D935-84DD-515F72623E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E231800-C976-3F1B-F586-A674DE551E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31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E53146C9-B725-8BD3-8413-F20AE6FB1A00}"/>
              </a:ext>
            </a:extLst>
          </p:cNvPr>
          <p:cNvSpPr txBox="1">
            <a:spLocks/>
          </p:cNvSpPr>
          <p:nvPr/>
        </p:nvSpPr>
        <p:spPr>
          <a:xfrm>
            <a:off x="590464" y="39561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Summary</a:t>
            </a:r>
            <a:endParaRPr lang="ko-KR" altLang="en-US" sz="2800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AD7A436-B2E9-31A4-2E23-960D855B21A1}"/>
              </a:ext>
            </a:extLst>
          </p:cNvPr>
          <p:cNvSpPr txBox="1"/>
          <p:nvPr/>
        </p:nvSpPr>
        <p:spPr>
          <a:xfrm>
            <a:off x="812800" y="1818640"/>
            <a:ext cx="10952479" cy="34320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선형대수는 데이터를 담는 그릇과 연산 도구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통계와 분포는 그 데이터의 의미를 해석하고 예측의 확신을 더하는 논리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선형대수가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머신러닝과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딥러닝 모델의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“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근육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연산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)”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이라면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통계와 확률은 모델의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“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지능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판단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)”</a:t>
            </a:r>
          </a:p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확률적 사고는 인공지능은 단순한 암기기가 아닌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복잡한 세상의 패턴을 추론하는 도구로 이해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 기반이 탄탄할수록 최신 논문이나 알고리즘을 자신의 것으로 만들 수 있음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8517536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A02277-2BB8-EA3C-F407-80C30E4F62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7057CB7-A267-5A3A-7301-53DD95FEDA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32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412B334D-CE53-B4DA-BA04-544B0A37712D}"/>
              </a:ext>
            </a:extLst>
          </p:cNvPr>
          <p:cNvSpPr txBox="1">
            <a:spLocks/>
          </p:cNvSpPr>
          <p:nvPr/>
        </p:nvSpPr>
        <p:spPr>
          <a:xfrm>
            <a:off x="656620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ML/DL applicable to Industry Domains 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8A2C30D-4320-84BB-FAE7-5A7BC18952AA}"/>
              </a:ext>
            </a:extLst>
          </p:cNvPr>
          <p:cNvSpPr txBox="1"/>
          <p:nvPr/>
        </p:nvSpPr>
        <p:spPr>
          <a:xfrm>
            <a:off x="657225" y="1400175"/>
            <a:ext cx="616085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altLang="ko-KR" sz="20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pycaret_tutorials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: Low Code for Machine Learning</a:t>
            </a:r>
            <a:endParaRPr lang="ko-KR" altLang="en-US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247861E1-48D5-D84D-A3E4-1DB7620E193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70236260"/>
              </p:ext>
            </p:extLst>
          </p:nvPr>
        </p:nvGraphicFramePr>
        <p:xfrm>
          <a:off x="1015479" y="2218731"/>
          <a:ext cx="10109721" cy="3048592"/>
        </p:xfrm>
        <a:graphic>
          <a:graphicData uri="http://schemas.openxmlformats.org/drawingml/2006/table">
            <a:tbl>
              <a:tblPr/>
              <a:tblGrid>
                <a:gridCol w="2032521">
                  <a:extLst>
                    <a:ext uri="{9D8B030D-6E8A-4147-A177-3AD203B41FA5}">
                      <a16:colId xmlns:a16="http://schemas.microsoft.com/office/drawing/2014/main" val="1558595867"/>
                    </a:ext>
                  </a:extLst>
                </a:gridCol>
                <a:gridCol w="4191000">
                  <a:extLst>
                    <a:ext uri="{9D8B030D-6E8A-4147-A177-3AD203B41FA5}">
                      <a16:colId xmlns:a16="http://schemas.microsoft.com/office/drawing/2014/main" val="2401777559"/>
                    </a:ext>
                  </a:extLst>
                </a:gridCol>
                <a:gridCol w="3886200">
                  <a:extLst>
                    <a:ext uri="{9D8B030D-6E8A-4147-A177-3AD203B41FA5}">
                      <a16:colId xmlns:a16="http://schemas.microsoft.com/office/drawing/2014/main" val="2601587682"/>
                    </a:ext>
                  </a:extLst>
                </a:gridCol>
              </a:tblGrid>
              <a:tr h="291340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400" b="0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분야</a:t>
                      </a:r>
                    </a:p>
                  </a:txBody>
                  <a:tcPr marL="13370" marR="13370" marT="8913" marB="8913" anchor="b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400" b="0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핵심 정의</a:t>
                      </a:r>
                    </a:p>
                  </a:txBody>
                  <a:tcPr marL="13370" marR="13370" marT="8913" marB="8913" anchor="b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400" b="0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대표 응용 사례</a:t>
                      </a:r>
                    </a:p>
                  </a:txBody>
                  <a:tcPr marL="13370" marR="13370" marT="8913" marB="8913" anchor="b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24381036"/>
                  </a:ext>
                </a:extLst>
              </a:tr>
              <a:tr h="459542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b="1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Time Series</a:t>
                      </a:r>
                    </a:p>
                  </a:txBody>
                  <a:tcPr marL="13370" marR="13370" marT="8913" marB="8913" anchor="b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400" b="0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시간의 흐름에 따른 변화를 분석하여 예측</a:t>
                      </a:r>
                    </a:p>
                  </a:txBody>
                  <a:tcPr marL="13370" marR="13370" marT="8913" marB="8913" anchor="b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400" b="0" normalizeH="0" baseline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주가 및 환율 예측</a:t>
                      </a:r>
                      <a:r>
                        <a:rPr lang="en-US" altLang="ko-KR" sz="1400" b="0" normalizeH="0" baseline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400" b="0" normalizeH="0" baseline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전력 수요량 추정</a:t>
                      </a:r>
                      <a:r>
                        <a:rPr lang="en-US" altLang="ko-KR" sz="1400" b="0" normalizeH="0" baseline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400" b="0" normalizeH="0" baseline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기상 관측</a:t>
                      </a:r>
                    </a:p>
                  </a:txBody>
                  <a:tcPr marL="13370" marR="13370" marT="8913" marB="8913" anchor="b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1960659"/>
                  </a:ext>
                </a:extLst>
              </a:tr>
              <a:tr h="459542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b="1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Binary Classification</a:t>
                      </a:r>
                    </a:p>
                  </a:txBody>
                  <a:tcPr marL="13370" marR="13370" marT="8913" marB="8913" anchor="b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400" b="0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데이터를 두 가지 그룹</a:t>
                      </a:r>
                      <a:r>
                        <a:rPr lang="en-US" altLang="ko-KR" sz="1400" b="0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(Yes/No) </a:t>
                      </a:r>
                      <a:r>
                        <a:rPr lang="ko-KR" altLang="en-US" sz="1400" b="0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중 하나로 분류</a:t>
                      </a:r>
                    </a:p>
                  </a:txBody>
                  <a:tcPr marL="13370" marR="13370" marT="8913" marB="8913" anchor="b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400" b="0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스팸 메일 차단</a:t>
                      </a:r>
                      <a:r>
                        <a:rPr lang="en-US" altLang="ko-KR" sz="1400" b="0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400" b="0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질병 유무 진단</a:t>
                      </a:r>
                      <a:r>
                        <a:rPr lang="en-US" altLang="ko-KR" sz="1400" b="0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400" b="0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신용카드 승인</a:t>
                      </a:r>
                    </a:p>
                  </a:txBody>
                  <a:tcPr marL="13370" marR="13370" marT="8913" marB="8913" anchor="b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2608309"/>
                  </a:ext>
                </a:extLst>
              </a:tr>
              <a:tr h="459542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b="1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Multiclass Classification</a:t>
                      </a:r>
                    </a:p>
                  </a:txBody>
                  <a:tcPr marL="13370" marR="13370" marT="8913" marB="8913" anchor="b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400" b="0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데이터를 세 가지 이상의 카테고리 중 하나로 분류</a:t>
                      </a:r>
                    </a:p>
                  </a:txBody>
                  <a:tcPr marL="13370" marR="13370" marT="8913" marB="8913" anchor="b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400" b="0" normalizeH="0" baseline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손글씨 숫자 인식</a:t>
                      </a:r>
                      <a:r>
                        <a:rPr lang="en-US" altLang="ko-KR" sz="1400" b="0" normalizeH="0" baseline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400" b="0" normalizeH="0" baseline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뉴스 카테고리 자동 분류</a:t>
                      </a:r>
                    </a:p>
                  </a:txBody>
                  <a:tcPr marL="13370" marR="13370" marT="8913" marB="8913" anchor="b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44377777"/>
                  </a:ext>
                </a:extLst>
              </a:tr>
              <a:tr h="459542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b="1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Regression</a:t>
                      </a:r>
                    </a:p>
                  </a:txBody>
                  <a:tcPr marL="13370" marR="13370" marT="8913" marB="8913" anchor="b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400" b="0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입력 변수의 상관관계를 파악해 연속적인 수치 예측</a:t>
                      </a:r>
                    </a:p>
                  </a:txBody>
                  <a:tcPr marL="13370" marR="13370" marT="8913" marB="8913" anchor="b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400" b="0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부동산 가격 산정</a:t>
                      </a:r>
                      <a:r>
                        <a:rPr lang="en-US" altLang="ko-KR" sz="1400" b="0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400" b="0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광고 대비 매출액 예측</a:t>
                      </a:r>
                    </a:p>
                  </a:txBody>
                  <a:tcPr marL="13370" marR="13370" marT="8913" marB="8913" anchor="b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29958494"/>
                  </a:ext>
                </a:extLst>
              </a:tr>
              <a:tr h="459542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b="1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Clustering</a:t>
                      </a:r>
                    </a:p>
                  </a:txBody>
                  <a:tcPr marL="13370" marR="13370" marT="8913" marB="8913" anchor="b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400" b="0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데이터 간의 유사성을 측정하여 정답 없이 그룹 생성</a:t>
                      </a:r>
                    </a:p>
                  </a:txBody>
                  <a:tcPr marL="13370" marR="13370" marT="8913" marB="8913" anchor="b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400" b="0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고객 시장 세분화</a:t>
                      </a:r>
                      <a:r>
                        <a:rPr lang="en-US" altLang="ko-KR" sz="1400" b="0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400" b="0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유사 문서 묶기</a:t>
                      </a:r>
                      <a:r>
                        <a:rPr lang="en-US" altLang="ko-KR" sz="1400" b="0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400" b="0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추천 시스템</a:t>
                      </a:r>
                    </a:p>
                  </a:txBody>
                  <a:tcPr marL="13370" marR="13370" marT="8913" marB="8913" anchor="b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30489134"/>
                  </a:ext>
                </a:extLst>
              </a:tr>
              <a:tr h="459542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b="1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Anomaly Detection</a:t>
                      </a:r>
                    </a:p>
                  </a:txBody>
                  <a:tcPr marL="13370" marR="13370" marT="8913" marB="8913" anchor="b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400" b="0" normalizeH="0" baseline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패턴에서 벗어난 희귀하고 비정상적인 데이터 탐색</a:t>
                      </a:r>
                    </a:p>
                  </a:txBody>
                  <a:tcPr marL="13370" marR="13370" marT="8913" marB="8913" anchor="b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400" b="0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카드 부정 사용 탐지</a:t>
                      </a:r>
                      <a:r>
                        <a:rPr lang="en-US" altLang="ko-KR" sz="1400" b="0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(FDS), </a:t>
                      </a:r>
                      <a:r>
                        <a:rPr lang="ko-KR" altLang="en-US" sz="1400" b="0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설비 고장 사전 감지</a:t>
                      </a:r>
                    </a:p>
                  </a:txBody>
                  <a:tcPr marL="13370" marR="13370" marT="8913" marB="8913" anchor="b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8306326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0005920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BF6100-61F3-6FE9-FD81-1440F4EE84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A975C77-56DE-830E-71B3-0FE7952370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33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B944703F-86DE-5D53-E507-2E26089CF888}"/>
              </a:ext>
            </a:extLst>
          </p:cNvPr>
          <p:cNvSpPr txBox="1">
            <a:spLocks/>
          </p:cNvSpPr>
          <p:nvPr/>
        </p:nvSpPr>
        <p:spPr>
          <a:xfrm>
            <a:off x="656620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Choosing the right estimator 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82B0306-A14D-0698-12C2-3411B701B5EA}"/>
              </a:ext>
            </a:extLst>
          </p:cNvPr>
          <p:cNvSpPr txBox="1"/>
          <p:nvPr/>
        </p:nvSpPr>
        <p:spPr>
          <a:xfrm>
            <a:off x="533400" y="1251887"/>
            <a:ext cx="311014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altLang="ko-KR" sz="20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/>
              </a:rPr>
              <a:t>machine_learning_map</a:t>
            </a:r>
            <a:endParaRPr lang="ko-KR" altLang="en-US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2050" name="Picture 2" descr="Move mouse over image">
            <a:extLst>
              <a:ext uri="{FF2B5EF4-FFF2-40B4-BE49-F238E27FC236}">
                <a16:creationId xmlns:a16="http://schemas.microsoft.com/office/drawing/2014/main" id="{EB0F8F73-752E-3F77-4D2D-087B18D9988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81854" y="1731661"/>
            <a:ext cx="7800346" cy="48632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3364055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67AABF-8E34-14ED-2A54-48F149A9E1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0C25BA0-6347-AD14-4642-034E7A75E7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34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6AFEE2A5-6076-E25F-D547-0D8FBF0FCD22}"/>
              </a:ext>
            </a:extLst>
          </p:cNvPr>
          <p:cNvSpPr txBox="1">
            <a:spLocks/>
          </p:cNvSpPr>
          <p:nvPr/>
        </p:nvSpPr>
        <p:spPr>
          <a:xfrm>
            <a:off x="590464" y="39561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Self</a:t>
            </a:r>
            <a:r>
              <a:rPr lang="ko-KR" altLang="en-US" sz="2800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sz="2800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study : 40 min</a:t>
            </a:r>
            <a:endParaRPr lang="ko-KR" altLang="en-US" sz="2800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0223098-E37F-061C-74F5-64BC667BB779}"/>
              </a:ext>
            </a:extLst>
          </p:cNvPr>
          <p:cNvSpPr txBox="1"/>
          <p:nvPr/>
        </p:nvSpPr>
        <p:spPr>
          <a:xfrm>
            <a:off x="590464" y="1524000"/>
            <a:ext cx="218521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dirty="0" err="1"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pytorch_recap</a:t>
            </a:r>
            <a:endParaRPr lang="ko-KR" altLang="en-US" sz="2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ED8D6F7-8DC7-2BB5-3AF7-8AA8A4BE25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05666" y="1412011"/>
            <a:ext cx="4923869" cy="48262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3609852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2598</TotalTime>
  <Words>3337</Words>
  <Application>Microsoft Office PowerPoint</Application>
  <PresentationFormat>와이드스크린</PresentationFormat>
  <Paragraphs>414</Paragraphs>
  <Slides>34</Slides>
  <Notes>6</Notes>
  <HiddenSlides>0</HiddenSlides>
  <MMClips>0</MMClips>
  <ScaleCrop>false</ScaleCrop>
  <HeadingPairs>
    <vt:vector size="6" baseType="variant">
      <vt:variant>
        <vt:lpstr>사용한 글꼴</vt:lpstr>
      </vt:variant>
      <vt:variant>
        <vt:i4>9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34</vt:i4>
      </vt:variant>
    </vt:vector>
  </HeadingPairs>
  <TitlesOfParts>
    <vt:vector size="44" baseType="lpstr">
      <vt:lpstr>D2Coding</vt:lpstr>
      <vt:lpstr>맑은 고딕</vt:lpstr>
      <vt:lpstr>맑은 고딕 Semilight</vt:lpstr>
      <vt:lpstr>Batang</vt:lpstr>
      <vt:lpstr>ADLaM Display</vt:lpstr>
      <vt:lpstr>Arial</vt:lpstr>
      <vt:lpstr>Cambria Math</vt:lpstr>
      <vt:lpstr>Segoe UI Light</vt:lpstr>
      <vt:lpstr>Wingdings</vt:lpstr>
      <vt:lpstr>WelcomeDoc</vt:lpstr>
      <vt:lpstr>Deep Learning</vt:lpstr>
      <vt:lpstr>Contents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Contents</vt:lpstr>
      <vt:lpstr>PowerPoint 프레젠테이션</vt:lpstr>
      <vt:lpstr>Contents</vt:lpstr>
      <vt:lpstr>PowerPoint 프레젠테이션</vt:lpstr>
      <vt:lpstr>Contents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Contents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87</cp:revision>
  <dcterms:created xsi:type="dcterms:W3CDTF">2026-04-06T01:00:39Z</dcterms:created>
  <dcterms:modified xsi:type="dcterms:W3CDTF">2026-05-06T21:03:18Z</dcterms:modified>
  <cp:version/>
</cp:coreProperties>
</file>