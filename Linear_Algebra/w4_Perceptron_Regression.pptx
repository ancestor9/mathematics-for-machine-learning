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51"/>
  </p:notesMasterIdLst>
  <p:handoutMasterIdLst>
    <p:handoutMasterId r:id="rId52"/>
  </p:handoutMasterIdLst>
  <p:sldIdLst>
    <p:sldId id="256" r:id="rId2"/>
    <p:sldId id="355" r:id="rId3"/>
    <p:sldId id="966" r:id="rId4"/>
    <p:sldId id="942" r:id="rId5"/>
    <p:sldId id="941" r:id="rId6"/>
    <p:sldId id="940" r:id="rId7"/>
    <p:sldId id="847" r:id="rId8"/>
    <p:sldId id="943" r:id="rId9"/>
    <p:sldId id="944" r:id="rId10"/>
    <p:sldId id="335" r:id="rId11"/>
    <p:sldId id="938" r:id="rId12"/>
    <p:sldId id="871" r:id="rId13"/>
    <p:sldId id="872" r:id="rId14"/>
    <p:sldId id="947" r:id="rId15"/>
    <p:sldId id="931" r:id="rId16"/>
    <p:sldId id="958" r:id="rId17"/>
    <p:sldId id="970" r:id="rId18"/>
    <p:sldId id="971" r:id="rId19"/>
    <p:sldId id="873" r:id="rId20"/>
    <p:sldId id="907" r:id="rId21"/>
    <p:sldId id="945" r:id="rId22"/>
    <p:sldId id="946" r:id="rId23"/>
    <p:sldId id="930" r:id="rId24"/>
    <p:sldId id="928" r:id="rId25"/>
    <p:sldId id="851" r:id="rId26"/>
    <p:sldId id="852" r:id="rId27"/>
    <p:sldId id="952" r:id="rId28"/>
    <p:sldId id="969" r:id="rId29"/>
    <p:sldId id="937" r:id="rId30"/>
    <p:sldId id="883" r:id="rId31"/>
    <p:sldId id="974" r:id="rId32"/>
    <p:sldId id="975" r:id="rId33"/>
    <p:sldId id="954" r:id="rId34"/>
    <p:sldId id="882" r:id="rId35"/>
    <p:sldId id="932" r:id="rId36"/>
    <p:sldId id="956" r:id="rId37"/>
    <p:sldId id="957" r:id="rId38"/>
    <p:sldId id="978" r:id="rId39"/>
    <p:sldId id="973" r:id="rId40"/>
    <p:sldId id="977" r:id="rId41"/>
    <p:sldId id="976" r:id="rId42"/>
    <p:sldId id="886" r:id="rId43"/>
    <p:sldId id="887" r:id="rId44"/>
    <p:sldId id="885" r:id="rId45"/>
    <p:sldId id="949" r:id="rId46"/>
    <p:sldId id="968" r:id="rId47"/>
    <p:sldId id="908" r:id="rId48"/>
    <p:sldId id="979" r:id="rId49"/>
    <p:sldId id="980" r:id="rId50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355"/>
            <p14:sldId id="966"/>
            <p14:sldId id="942"/>
            <p14:sldId id="941"/>
            <p14:sldId id="940"/>
            <p14:sldId id="847"/>
            <p14:sldId id="943"/>
            <p14:sldId id="944"/>
            <p14:sldId id="335"/>
            <p14:sldId id="938"/>
            <p14:sldId id="871"/>
            <p14:sldId id="872"/>
            <p14:sldId id="947"/>
            <p14:sldId id="931"/>
            <p14:sldId id="958"/>
            <p14:sldId id="970"/>
            <p14:sldId id="971"/>
            <p14:sldId id="873"/>
            <p14:sldId id="907"/>
            <p14:sldId id="945"/>
            <p14:sldId id="946"/>
            <p14:sldId id="930"/>
            <p14:sldId id="928"/>
            <p14:sldId id="851"/>
            <p14:sldId id="852"/>
            <p14:sldId id="952"/>
            <p14:sldId id="969"/>
            <p14:sldId id="937"/>
            <p14:sldId id="883"/>
            <p14:sldId id="974"/>
            <p14:sldId id="975"/>
            <p14:sldId id="954"/>
            <p14:sldId id="882"/>
            <p14:sldId id="932"/>
            <p14:sldId id="956"/>
            <p14:sldId id="957"/>
            <p14:sldId id="978"/>
            <p14:sldId id="973"/>
            <p14:sldId id="977"/>
            <p14:sldId id="976"/>
            <p14:sldId id="886"/>
            <p14:sldId id="887"/>
            <p14:sldId id="885"/>
            <p14:sldId id="949"/>
            <p14:sldId id="968"/>
            <p14:sldId id="908"/>
            <p14:sldId id="979"/>
            <p14:sldId id="980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DD462F"/>
    <a:srgbClr val="D24726"/>
    <a:srgbClr val="404040"/>
    <a:srgbClr val="FF9B45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commentAuthors" Target="commentAuthor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2026-04-23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2026-04-23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91026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C1D81-A265-D880-C635-EAD07AEC8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DDBAE91-53B6-8719-6275-1630D635AB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C963A6B-FD6B-A459-4A79-370C8D472E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A637138-DD64-C927-EE43-6A948B74F0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733568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36492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462068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48AC44-DA24-83DE-416D-180E051BF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72C3AAD-4A1D-3766-29DC-6F335154CA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B404C09-64C0-94E9-00AC-FD995ED053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EF59243-E4FD-E55D-D5B9-4263ACB881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2267596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A4481-FB67-9A46-3E1F-DE4BFFE5B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4EBA0A7-F971-AA60-A7A0-E8C0B4CC6F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4ABA929-AC8F-F2B7-E1A3-F8E65AE412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2BD69C-3A7C-39EA-A02F-8CA92D1F93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6002538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E22509-A687-85EC-3956-9A0A7F7106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479EDB7-56A6-39E2-AD6D-AEE8C09A51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20B3BD2-007D-29AD-630B-B58C7F7740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3F7988-991C-6E3E-0AAD-4AC2004AB9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1694962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3C81C2-20FB-1249-CB30-821F4CB8A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FBA4B1E-E754-15CE-6616-24844628F0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21F0D68-E04D-EBD2-D009-1978D436E6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C1DCAF-B719-AADD-E51F-DCDF8DDCD3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5519992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C12CA-9D2F-F288-FA76-3143D6F945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5E904F3-3AB1-ACD5-18C2-8CD5688561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20EC024-0D98-D39D-2E50-BDA85B9AAF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811EF2-08FC-31B3-3B73-F3AB562559B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2606198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23F987-F2FF-8FE5-C93A-60FA8597FF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6FE57C7-7F72-B9F3-D10C-DF821448FC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2A86459-E845-2D50-AAA1-9332006DD1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C1FD7CA-87C4-81E5-E6F3-143D2EFEDB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699611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2026-04-23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4/23/2026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59800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2026-04-23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  <p:sldLayoutId id="2147483666" r:id="rId5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hyperlink" Target="https://github.com/ancestor9/mathematics-for-machine-learning/blob/main/excel/random_distribution%26linear_regression.xlsx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hyperlink" Target="https://en.wikipedia.org/wiki/Henrietta_Swan_Leavitt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e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analytics17.blogspot.com/2017/08/2-1.html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20.png"/><Relationship Id="rId4" Type="http://schemas.openxmlformats.org/officeDocument/2006/relationships/hyperlink" Target="https://mlu-explain.github.io/linear-regression/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png"/><Relationship Id="rId4" Type="http://schemas.openxmlformats.org/officeDocument/2006/relationships/hyperlink" Target="https://medium.com/" TargetMode="Externa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jpeg"/><Relationship Id="rId7" Type="http://schemas.openxmlformats.org/officeDocument/2006/relationships/image" Target="../media/image37.png"/><Relationship Id="rId2" Type="http://schemas.openxmlformats.org/officeDocument/2006/relationships/hyperlink" Target="https://scikit-learn.org/stable/modules/linear_model.html" TargetMode="External"/><Relationship Id="rId1" Type="http://schemas.openxmlformats.org/officeDocument/2006/relationships/slideLayout" Target="../slideLayouts/slideLayout4.xml"/><Relationship Id="rId10" Type="http://schemas.openxmlformats.org/officeDocument/2006/relationships/image" Target="../media/image21.png"/><Relationship Id="rId9" Type="http://schemas.openxmlformats.org/officeDocument/2006/relationships/hyperlink" Target="https://scikit-learn.org/stable/modules/generated/sklearn.linear_model.LinearRegression.html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blob/main/scripts/w4_loss_function.ipynb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gif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0.jpe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Relationship Id="rId4" Type="http://schemas.microsoft.com/office/2007/relationships/hdphoto" Target="../media/hdphoto1.wdp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scikit-learn.org/stable/modules/generated/sklearn.linear_model.SGDRegressor.html#sklearn.linear_model.SGDRegressor" TargetMode="External"/><Relationship Id="rId4" Type="http://schemas.openxmlformats.org/officeDocument/2006/relationships/image" Target="../media/image20.jpe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blob/main/scripts/w4_stochastic_gradient_descent.ipynb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9.gif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42.png"/><Relationship Id="rId4" Type="http://schemas.microsoft.com/office/2007/relationships/hdphoto" Target="../media/hdphoto2.wdp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0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90.png"/><Relationship Id="rId5" Type="http://schemas.openxmlformats.org/officeDocument/2006/relationships/image" Target="../media/image480.png"/><Relationship Id="rId4" Type="http://schemas.openxmlformats.org/officeDocument/2006/relationships/image" Target="../media/image470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6FkRvTtUc-o?si=U153Vros53kOdnvM&amp;t=1610" TargetMode="External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www.youtube.com/shorts/E4VGh3CthvA" TargetMode="External"/><Relationship Id="rId4" Type="http://schemas.openxmlformats.org/officeDocument/2006/relationships/image" Target="../media/image50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50.png"/><Relationship Id="rId13" Type="http://schemas.openxmlformats.org/officeDocument/2006/relationships/image" Target="../media/image80.png"/><Relationship Id="rId18" Type="http://schemas.openxmlformats.org/officeDocument/2006/relationships/image" Target="../media/image85.png"/><Relationship Id="rId21" Type="http://schemas.openxmlformats.org/officeDocument/2006/relationships/image" Target="../media/image51.png"/><Relationship Id="rId7" Type="http://schemas.openxmlformats.org/officeDocument/2006/relationships/image" Target="../media/image740.png"/><Relationship Id="rId12" Type="http://schemas.openxmlformats.org/officeDocument/2006/relationships/image" Target="../media/image55.png"/><Relationship Id="rId2" Type="http://schemas.openxmlformats.org/officeDocument/2006/relationships/image" Target="../media/image520.png"/><Relationship Id="rId16" Type="http://schemas.openxmlformats.org/officeDocument/2006/relationships/image" Target="../media/image83.png"/><Relationship Id="rId20" Type="http://schemas.openxmlformats.org/officeDocument/2006/relationships/image" Target="../media/image87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30.png"/><Relationship Id="rId11" Type="http://schemas.openxmlformats.org/officeDocument/2006/relationships/image" Target="../media/image54.png"/><Relationship Id="rId5" Type="http://schemas.openxmlformats.org/officeDocument/2006/relationships/image" Target="../media/image530.png"/><Relationship Id="rId15" Type="http://schemas.openxmlformats.org/officeDocument/2006/relationships/image" Target="../media/image56.png"/><Relationship Id="rId10" Type="http://schemas.openxmlformats.org/officeDocument/2006/relationships/image" Target="../media/image770.png"/><Relationship Id="rId19" Type="http://schemas.openxmlformats.org/officeDocument/2006/relationships/image" Target="../media/image57.png"/><Relationship Id="rId4" Type="http://schemas.openxmlformats.org/officeDocument/2006/relationships/image" Target="../media/image710.png"/><Relationship Id="rId9" Type="http://schemas.openxmlformats.org/officeDocument/2006/relationships/image" Target="../media/image760.png"/><Relationship Id="rId14" Type="http://schemas.openxmlformats.org/officeDocument/2006/relationships/image" Target="../media/image810.png"/><Relationship Id="rId22" Type="http://schemas.openxmlformats.org/officeDocument/2006/relationships/image" Target="../media/image59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jpe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jpe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hyperlink" Target="https://www.101ai.net/nnet/backprop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8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7.png"/><Relationship Id="rId4" Type="http://schemas.openxmlformats.org/officeDocument/2006/relationships/image" Target="../media/image66.png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3" Type="http://schemas.microsoft.com/office/2007/relationships/hdphoto" Target="../media/hdphoto3.wdp"/><Relationship Id="rId7" Type="http://schemas.microsoft.com/office/2007/relationships/hdphoto" Target="../media/hdphoto5.wdp"/><Relationship Id="rId12" Type="http://schemas.openxmlformats.org/officeDocument/2006/relationships/image" Target="../media/image73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0.png"/><Relationship Id="rId11" Type="http://schemas.microsoft.com/office/2007/relationships/hdphoto" Target="../media/hdphoto7.wdp"/><Relationship Id="rId5" Type="http://schemas.microsoft.com/office/2007/relationships/hdphoto" Target="../media/hdphoto4.wdp"/><Relationship Id="rId10" Type="http://schemas.openxmlformats.org/officeDocument/2006/relationships/image" Target="../media/image72.png"/><Relationship Id="rId4" Type="http://schemas.openxmlformats.org/officeDocument/2006/relationships/image" Target="../media/image69.png"/><Relationship Id="rId9" Type="http://schemas.microsoft.com/office/2007/relationships/hdphoto" Target="../media/hdphoto6.wdp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s://pytorch.org/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www.youtube.com/watch?v=ILsA4nyG7I0" TargetMode="External"/><Relationship Id="rId5" Type="http://schemas.openxmlformats.org/officeDocument/2006/relationships/hyperlink" Target="https://github.com/ancestor9/mathematics-for-machine-learning/blob/main/scripts/w4_pytorch_tutorial.ipynb" TargetMode="External"/><Relationship Id="rId4" Type="http://schemas.openxmlformats.org/officeDocument/2006/relationships/image" Target="../media/image74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blob/main/excel/loss_functions.xlsx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ancestor9/mathematics-for-machine-learning/blob/main/excel/XOR_perceptron_optimization_backprpagation_sgd.xlsx" TargetMode="External"/><Relationship Id="rId4" Type="http://schemas.openxmlformats.org/officeDocument/2006/relationships/hyperlink" Target="https://www.youtube.com/watch?v=t3VBY9OisCo" TargetMode="Externa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tree/main/pytorch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Deep Learning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3" name="부제목 2"/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1137793"/>
          </a:xfrm>
        </p:spPr>
        <p:txBody>
          <a:bodyPr rtlCol="0">
            <a:normAutofit/>
          </a:bodyPr>
          <a:lstStyle/>
          <a:p>
            <a:r>
              <a:rPr lang="en-US" altLang="ko-KR" sz="2400" dirty="0">
                <a:solidFill>
                  <a:schemeClr val="bg1"/>
                </a:solidFill>
              </a:rPr>
              <a:t>Linear Regression and Perceptron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Spring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Goals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5958B0C-1BB9-A28C-623E-EB95735D9931}"/>
              </a:ext>
            </a:extLst>
          </p:cNvPr>
          <p:cNvSpPr txBox="1"/>
          <p:nvPr/>
        </p:nvSpPr>
        <p:spPr>
          <a:xfrm>
            <a:off x="798297" y="1778359"/>
            <a:ext cx="10553194" cy="34320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선형회귀분석의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손실함수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(Loss Function)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대한 이해 및 실습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구조를 선형대수 관점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(matrix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Formation)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이해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하고 파이썬 코딩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Gradient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Descent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알고리즘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(Optimizer)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미분관점에서 이해하고 파이썬 코딩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순전파와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역전파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(Backpropagation)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이해하고 파이썬 코딩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회귀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(regression)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분류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(classification)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파이썬 코딩하고 예측하기</a:t>
            </a:r>
          </a:p>
        </p:txBody>
      </p:sp>
    </p:spTree>
    <p:extLst>
      <p:ext uri="{BB962C8B-B14F-4D97-AF65-F5344CB8AC3E}">
        <p14:creationId xmlns:p14="http://schemas.microsoft.com/office/powerpoint/2010/main" val="35510428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3225C-7A25-9FC5-D434-0EE983F9FF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209595DB-0ABE-1C50-ACE6-C610EEA747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Motivation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8D34A0A-64FE-C81A-281C-D43D60FAFB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</a:t>
            </a:fld>
            <a:endParaRPr lang="ko-KR" altLang="en-US" noProof="0"/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6EF07BE3-EDEE-87D9-75C4-323C2D94D3B0}"/>
              </a:ext>
            </a:extLst>
          </p:cNvPr>
          <p:cNvGrpSpPr/>
          <p:nvPr/>
        </p:nvGrpSpPr>
        <p:grpSpPr>
          <a:xfrm>
            <a:off x="5249666" y="2293299"/>
            <a:ext cx="5133814" cy="4026682"/>
            <a:chOff x="5200496" y="2438880"/>
            <a:chExt cx="5133814" cy="4026682"/>
          </a:xfrm>
        </p:grpSpPr>
        <p:pic>
          <p:nvPicPr>
            <p:cNvPr id="15" name="그림 14">
              <a:extLst>
                <a:ext uri="{FF2B5EF4-FFF2-40B4-BE49-F238E27FC236}">
                  <a16:creationId xmlns:a16="http://schemas.microsoft.com/office/drawing/2014/main" id="{6EDD85FC-2735-4C7D-C8A8-7F03C55E68A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200496" y="2438880"/>
              <a:ext cx="5133814" cy="4026682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82E32BA-37F8-9E5F-9D54-CBD93D5342E7}"/>
                </a:ext>
              </a:extLst>
            </p:cNvPr>
            <p:cNvSpPr txBox="1"/>
            <p:nvPr/>
          </p:nvSpPr>
          <p:spPr>
            <a:xfrm>
              <a:off x="5793548" y="2438880"/>
              <a:ext cx="150554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 err="1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linear_regression</a:t>
              </a:r>
              <a:endPara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endParaRP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6A77238E-52D8-FCD0-021A-A5F1D965EF31}"/>
              </a:ext>
            </a:extLst>
          </p:cNvPr>
          <p:cNvSpPr txBox="1"/>
          <p:nvPr/>
        </p:nvSpPr>
        <p:spPr>
          <a:xfrm>
            <a:off x="521207" y="1335014"/>
            <a:ext cx="11100270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기술통계분석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추정과 검정 등은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‘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무엇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(What)’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일어났는지 보여주는 색안경이라면 회귀분석은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(Why)'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일어났는지 보여주는 렌즈로 무질서해 보이던 데이터의 속에서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인과관계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수학적 질서와 패턴을 읽어낼 수 있음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563C96A-E8EF-AC4B-F20D-A1545E818AD2}"/>
              </a:ext>
            </a:extLst>
          </p:cNvPr>
          <p:cNvSpPr txBox="1"/>
          <p:nvPr/>
        </p:nvSpPr>
        <p:spPr>
          <a:xfrm>
            <a:off x="3072832" y="6365693"/>
            <a:ext cx="10838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</a:t>
            </a:r>
            <a:r>
              <a:rPr lang="en-US" altLang="ko-KR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분산 등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8CDE21E-C694-BE8C-5DF1-BBB766ED262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98427" y="2257425"/>
            <a:ext cx="1083899" cy="406255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E6B28F39-5BCF-B7E1-F085-FC626F0FC20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05492" y="2257426"/>
            <a:ext cx="2145613" cy="4108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39850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66F61B-7453-135C-8AC4-CA8A5A1E0C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63915"/>
            <a:ext cx="6877119" cy="640080"/>
          </a:xfrm>
        </p:spPr>
        <p:txBody>
          <a:bodyPr>
            <a:normAutofit/>
          </a:bodyPr>
          <a:lstStyle/>
          <a:p>
            <a:r>
              <a:rPr lang="en-US" altLang="ko-KR" sz="2800" dirty="0" err="1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Henrietta_Swan_Leavitt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FC96A3-0E1D-DD20-A553-6DD267BCB1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</a:t>
            </a:fld>
            <a:endParaRPr lang="ko-KR" altLang="en-US" noProof="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7B46B67-D997-B58E-788E-F3DBFA1A6C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8437" y="1470608"/>
            <a:ext cx="4482333" cy="47333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Upper body and face of Henrietta Swan Leavitt">
            <a:extLst>
              <a:ext uri="{FF2B5EF4-FFF2-40B4-BE49-F238E27FC236}">
                <a16:creationId xmlns:a16="http://schemas.microsoft.com/office/drawing/2014/main" id="{10F67AC0-8BED-4C50-0DE3-A07C563834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86371" y="2070100"/>
            <a:ext cx="972845" cy="1291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CCD83FD6-0BB3-0EE6-2BBB-6AA7B0C566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8080" y="1545176"/>
            <a:ext cx="6960246" cy="45288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단변량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분석의 한계: "밝기의 분포만 관찰함 (과거의 거울)"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천문학자들은 별의 밝기(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데이터를 보며 "어떤 별은 밝고 어떤 별은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어둡다"는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분포(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Shape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)와 평균만을 논할 수 있었습니다. 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 어떤 별은 12등급이고 어떤 별은 16등급인지, 그 흩어짐(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Variance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)의 이유를 밝힐 '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렌즈'가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없었기 때문입니다.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회귀분석의 도입: "변동성(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Variance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당위성을 부여함 (원인의 렌즈)"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리비트는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별의 밝기가 변하는 주기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Logarithm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of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period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)라는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독립 변수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도입했습니다.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현상의 발견: 단순히 흩어져 있던 밝기 데이터들을 주기라는 축 위에 놓자, 놀랍게도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직선(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Relationship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형태가 나타났습니다.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불확실성의 지식화: "저 별은 왜 저렇게 밝지?“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의문에 대해 "주기가 길기 때문(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x의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영향)"이라는 수학적 당위성을 부여한 것입니다.</a:t>
            </a: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482834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Terminology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1433E4-C192-2433-A2E9-B5BCAFC7FA01}"/>
              </a:ext>
            </a:extLst>
          </p:cNvPr>
          <p:cNvSpPr txBox="1"/>
          <p:nvPr/>
        </p:nvSpPr>
        <p:spPr>
          <a:xfrm>
            <a:off x="1764145" y="1384043"/>
            <a:ext cx="7250546" cy="41077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 Function</a:t>
            </a:r>
          </a:p>
          <a:p>
            <a:pPr marL="971550" lvl="1" indent="-5143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MSE(Mean Squared Error)</a:t>
            </a:r>
          </a:p>
          <a:p>
            <a:pPr marL="971550" lvl="1" indent="-5143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Log Loss</a:t>
            </a:r>
            <a:endParaRPr lang="en-US" altLang="ko-KR" sz="2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971550" lvl="1" indent="-514350">
              <a:lnSpc>
                <a:spcPct val="200000"/>
              </a:lnSpc>
              <a:buFont typeface="Wingdings" panose="05000000000000000000" pitchFamily="2" charset="2"/>
              <a:buChar char="§"/>
            </a:pPr>
            <a:endParaRPr lang="en-US" altLang="ko-KR" sz="2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514350" indent="-5143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Optimization(minimization, maximization)</a:t>
            </a:r>
          </a:p>
          <a:p>
            <a:pPr marL="971550" lvl="1" indent="-5143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971550" lvl="1" indent="-5143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 propagation</a:t>
            </a:r>
            <a:endParaRPr lang="en-US" altLang="ko-KR" sz="2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881557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F020723-0294-B282-4C97-3801608209F4}"/>
              </a:ext>
            </a:extLst>
          </p:cNvPr>
          <p:cNvSpPr/>
          <p:nvPr/>
        </p:nvSpPr>
        <p:spPr>
          <a:xfrm>
            <a:off x="734002" y="145793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6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1433E4-C192-2433-A2E9-B5BCAFC7FA01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37502177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93EA5-99CC-6B44-83F5-540BF3A62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C4210D-B484-A19F-8777-CF1AE1FF57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922F308-10D7-76DC-330D-AFCF4C314D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945" y="1887499"/>
            <a:ext cx="4797395" cy="4225586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</a:t>
            </a:r>
            <a:r>
              <a:rPr lang="en-US" altLang="ko-KR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</a:t>
            </a:r>
            <a:r>
              <a:rPr lang="en-US" altLang="ko-KR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데이터와 선형회귀식의 예측 값과의 차이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구하고，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차이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제곱의 모든 합이 최소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(Minimization)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되는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선형회귀식의 파라미터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(Parameter), 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계수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(coefficients)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찾는 최적화 과정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평균에 회귀하는 수식함수라 이상치에 민감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938662-2B68-DDB0-D5D4-BF2ADA739A97}"/>
              </a:ext>
            </a:extLst>
          </p:cNvPr>
          <p:cNvSpPr txBox="1"/>
          <p:nvPr/>
        </p:nvSpPr>
        <p:spPr>
          <a:xfrm>
            <a:off x="5676900" y="6093649"/>
            <a:ext cx="362902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https://analytics17.blogspot.com/2017/08/2-1.html</a:t>
            </a:r>
            <a:r>
              <a:rPr lang="ko-KR" altLang="en-US" sz="1200" dirty="0"/>
              <a:t> 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E7A5554C-B588-F8E2-39C1-0661AA1724C3}"/>
              </a:ext>
            </a:extLst>
          </p:cNvPr>
          <p:cNvGrpSpPr/>
          <p:nvPr/>
        </p:nvGrpSpPr>
        <p:grpSpPr>
          <a:xfrm>
            <a:off x="5781673" y="1924050"/>
            <a:ext cx="5404487" cy="4112211"/>
            <a:chOff x="5781673" y="1924050"/>
            <a:chExt cx="5065245" cy="3762753"/>
          </a:xfrm>
        </p:grpSpPr>
        <p:pic>
          <p:nvPicPr>
            <p:cNvPr id="5122" name="Picture 2">
              <a:extLst>
                <a:ext uri="{FF2B5EF4-FFF2-40B4-BE49-F238E27FC236}">
                  <a16:creationId xmlns:a16="http://schemas.microsoft.com/office/drawing/2014/main" id="{77DF77E8-48D8-1C11-E742-2FF576CE1ED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81673" y="1924050"/>
              <a:ext cx="5065245" cy="37627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C4B76198-7BDB-2635-FFAD-9401FE5555EA}"/>
                </a:ext>
              </a:extLst>
            </p:cNvPr>
            <p:cNvSpPr/>
            <p:nvPr/>
          </p:nvSpPr>
          <p:spPr>
            <a:xfrm>
              <a:off x="9305925" y="2638199"/>
              <a:ext cx="386715" cy="344974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67AC9867-39BD-55A1-3ED2-5B9D6DA02C32}"/>
                </a:ext>
              </a:extLst>
            </p:cNvPr>
            <p:cNvSpPr/>
            <p:nvPr/>
          </p:nvSpPr>
          <p:spPr>
            <a:xfrm>
              <a:off x="8475345" y="3467390"/>
              <a:ext cx="361315" cy="356461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CA6954AB-B213-A17D-3C1F-85D7A5234449}"/>
                </a:ext>
              </a:extLst>
            </p:cNvPr>
            <p:cNvSpPr/>
            <p:nvPr/>
          </p:nvSpPr>
          <p:spPr>
            <a:xfrm>
              <a:off x="7310754" y="3658405"/>
              <a:ext cx="446406" cy="425915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87B081DE-6B68-1E55-7B58-0C8FA896077E}"/>
              </a:ext>
            </a:extLst>
          </p:cNvPr>
          <p:cNvSpPr txBox="1"/>
          <p:nvPr/>
        </p:nvSpPr>
        <p:spPr>
          <a:xfrm>
            <a:off x="6474470" y="1411845"/>
            <a:ext cx="35862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Understanding of linear-regression/</a:t>
            </a:r>
            <a:endParaRPr lang="ko-KR" alt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CE937F-706C-6F21-F5A8-22B3129A5FE0}"/>
                  </a:ext>
                </a:extLst>
              </p:cNvPr>
              <p:cNvSpPr txBox="1"/>
              <p:nvPr/>
            </p:nvSpPr>
            <p:spPr>
              <a:xfrm>
                <a:off x="8588426" y="4902855"/>
                <a:ext cx="2308174" cy="46166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z="24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ko-KR" altLang="en-US" sz="2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ko-KR" altLang="en-US" sz="2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ko-KR" altLang="en-US" sz="2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ko-KR" altLang="en-US" sz="2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ko-KR" alt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𝛽</m:t>
                      </m:r>
                      <m:sSub>
                        <m:sSubPr>
                          <m:ctrlP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ko-KR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CE937F-706C-6F21-F5A8-22B3129A5F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88426" y="4902855"/>
                <a:ext cx="2308174" cy="461665"/>
              </a:xfrm>
              <a:prstGeom prst="rect">
                <a:avLst/>
              </a:prstGeom>
              <a:blipFill>
                <a:blip r:embed="rId5"/>
                <a:stretch>
                  <a:fillRect t="-3947" b="-1710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제목 7">
            <a:extLst>
              <a:ext uri="{FF2B5EF4-FFF2-40B4-BE49-F238E27FC236}">
                <a16:creationId xmlns:a16="http://schemas.microsoft.com/office/drawing/2014/main" id="{42FDDF0F-6EDA-C345-5E1E-A829656B49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Linear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405444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224992-35A4-8C37-8EE5-9B0C6F7514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1A5E7C-7EBA-7B23-6643-670075CF63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11" name="제목 7">
            <a:extLst>
              <a:ext uri="{FF2B5EF4-FFF2-40B4-BE49-F238E27FC236}">
                <a16:creationId xmlns:a16="http://schemas.microsoft.com/office/drawing/2014/main" id="{9CCB927E-B895-7B15-8ECF-2288041B2E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Linear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as dot product form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1749C635-04BC-7683-40A3-979E794AB9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781" y="1479008"/>
            <a:ext cx="6496708" cy="4653937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2247E886-7E6D-5155-217E-3B9B64C835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5581" y="1535318"/>
            <a:ext cx="3452742" cy="1118721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5EBA3757-2B28-6602-82A3-FC13934DDC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6026" y="3044999"/>
            <a:ext cx="2684822" cy="1375851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A92B8496-E773-CA04-F88C-02C76CBC16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26026" y="4804866"/>
            <a:ext cx="2006450" cy="1328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7749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292F8F-A4B0-3BC9-D2B1-6376199EF0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B1D4E63-0F02-CB99-9D75-F5889DDCB5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11" name="제목 7">
            <a:extLst>
              <a:ext uri="{FF2B5EF4-FFF2-40B4-BE49-F238E27FC236}">
                <a16:creationId xmlns:a16="http://schemas.microsoft.com/office/drawing/2014/main" id="{04121093-E765-61EA-FCDD-986F5741E5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Linear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as dot product form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E3F376B3-7183-B4E1-CF4D-B0685C11C3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0611" y="2922919"/>
            <a:ext cx="2449526" cy="485355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D4AB75CA-D344-A44D-2CC6-9FDC2D5FEB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422" y="2922919"/>
            <a:ext cx="4686711" cy="160773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8C9CB0-2EF1-D407-9979-1B80825CEFB6}"/>
                  </a:ext>
                </a:extLst>
              </p:cNvPr>
              <p:cNvSpPr txBox="1"/>
              <p:nvPr/>
            </p:nvSpPr>
            <p:spPr>
              <a:xfrm>
                <a:off x="521206" y="1450999"/>
                <a:ext cx="1112731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실제 값과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예측값의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차이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14:m>
                  <m:oMath xmlns:m="http://schemas.openxmlformats.org/officeDocument/2006/math">
                    <m:r>
                      <a:rPr lang="ko-KR" altLang="en-US" dirty="0">
                        <a:latin typeface="Cambria Math" panose="02040503050406030204" pitchFamily="18" charset="0"/>
                      </a:rPr>
                      <m:t>ⅇ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의 제곱 합의 평균인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MSE(Mean Squared Error),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손실함수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en-US" altLang="ko-KR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LossFunction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설정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8C9CB0-2EF1-D407-9979-1B80825CEF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206" y="1450999"/>
                <a:ext cx="11127319" cy="369332"/>
              </a:xfrm>
              <a:prstGeom prst="rect">
                <a:avLst/>
              </a:prstGeom>
              <a:blipFill>
                <a:blip r:embed="rId4"/>
                <a:stretch>
                  <a:fillRect l="-438" t="-8197" b="-245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>
            <a:extLst>
              <a:ext uri="{FF2B5EF4-FFF2-40B4-BE49-F238E27FC236}">
                <a16:creationId xmlns:a16="http://schemas.microsoft.com/office/drawing/2014/main" id="{4A4021B1-7EBC-E445-7862-79E9D6F13C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0611" y="4245012"/>
            <a:ext cx="1708943" cy="792658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B3024A05-BB04-429F-B20A-E553D4D6273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9554" y="4267669"/>
            <a:ext cx="1085111" cy="740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2573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FC324B-8D95-E95D-3023-495A2775D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9AEAD823-3A3E-BE0F-C5B8-2B2976E24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39444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Fitting a line to data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13F624C-7EF1-02BD-6478-A25E8DCA51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10</a:t>
            </a:fld>
            <a:endParaRPr lang="ko-KR" altLang="en-US" noProof="0"/>
          </a:p>
        </p:txBody>
      </p:sp>
      <p:pic>
        <p:nvPicPr>
          <p:cNvPr id="23554" name="Picture 2">
            <a:extLst>
              <a:ext uri="{FF2B5EF4-FFF2-40B4-BE49-F238E27FC236}">
                <a16:creationId xmlns:a16="http://schemas.microsoft.com/office/drawing/2014/main" id="{84A11B83-64F8-70E3-AE1B-71439B233C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90795" y="2752344"/>
            <a:ext cx="6451093" cy="35216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A197130-6E5F-9D66-5CB9-1198D38CF95D}"/>
              </a:ext>
            </a:extLst>
          </p:cNvPr>
          <p:cNvSpPr txBox="1"/>
          <p:nvPr/>
        </p:nvSpPr>
        <p:spPr>
          <a:xfrm>
            <a:off x="2005070" y="6203952"/>
            <a:ext cx="24982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https://medium.com/</a:t>
            </a:r>
            <a:r>
              <a:rPr lang="ko-KR" altLang="en-US" sz="1200"/>
              <a:t> </a:t>
            </a:r>
            <a:endParaRPr lang="ko-KR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BAB8783-03DD-7D12-9357-AE219CAA886F}"/>
                  </a:ext>
                </a:extLst>
              </p:cNvPr>
              <p:cNvSpPr txBox="1"/>
              <p:nvPr/>
            </p:nvSpPr>
            <p:spPr>
              <a:xfrm>
                <a:off x="616456" y="1286560"/>
                <a:ext cx="10508743" cy="95737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ko-KR" altLang="en-US" sz="2000" dirty="0" smtClean="0">
                        <a:latin typeface="Cambria Math" panose="02040503050406030204" pitchFamily="18" charset="0"/>
                      </a:rPr>
                      <m:t>ⅇ</m:t>
                    </m:r>
                  </m:oMath>
                </a14:m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의 제곱 합의 평균인 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MSE(Mean Squared Error), 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손실함수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(Loss Function)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최소화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(Optimization)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하는 계수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(Coefficients)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</a:t>
                </a:r>
                <a14:m>
                  <m:oMath xmlns:m="http://schemas.openxmlformats.org/officeDocument/2006/math">
                    <m:r>
                      <a:rPr lang="ko-KR" altLang="en-US" sz="2000" i="1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ko-KR" altLang="en-US" sz="2000" i="0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2000" b="0" i="0" dirty="0" smtClean="0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0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0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0" dirty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,  …...</m:t>
                    </m:r>
                    <m:r>
                      <a:rPr lang="ko-KR" altLang="en-US" sz="2000" i="0" dirty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을 찾아내라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BAB8783-03DD-7D12-9357-AE219CAA88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6456" y="1286560"/>
                <a:ext cx="10508743" cy="957378"/>
              </a:xfrm>
              <a:prstGeom prst="rect">
                <a:avLst/>
              </a:prstGeom>
              <a:blipFill>
                <a:blip r:embed="rId5"/>
                <a:stretch>
                  <a:fillRect l="-580" b="-1019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669834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1FC14-9AB2-5C2C-C823-CB3077735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6A99E8-30D0-8408-F941-F453B2CBA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270" y="396258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Matrix Formulation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9DBF7D-1F4C-F6E7-D9F8-E4267EC0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B8E1880-0EE2-7E95-B978-FFBA25E40A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795" y="2291326"/>
            <a:ext cx="6624926" cy="210198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808319F-6940-D88F-0A15-5533635BD384}"/>
              </a:ext>
            </a:extLst>
          </p:cNvPr>
          <p:cNvSpPr txBox="1"/>
          <p:nvPr/>
        </p:nvSpPr>
        <p:spPr>
          <a:xfrm>
            <a:off x="7538721" y="2291326"/>
            <a:ext cx="4348479" cy="2101986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(n, 1) = (n, p) @ (p, 1) + (n, 1)</a:t>
            </a:r>
          </a:p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(n, 1) = (n, p) @ (p, 1)</a:t>
            </a:r>
          </a:p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(n, 1) = (n, 1) – (n, 1) = (n,1) - (n, p) @ (p, 1)</a:t>
            </a:r>
          </a:p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1) = 1/n * (1, n)@(n, 1)</a:t>
            </a:r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1534F1F3-D829-72EE-41EC-A1C576D61F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308439"/>
            <a:ext cx="10706705" cy="529886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선형회귀식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 regression)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행렬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스칼라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등의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내적으로 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표현</a:t>
            </a:r>
            <a:endParaRPr lang="en-US" altLang="ko-KR" sz="1800" cap="none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49895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4D5C5-D1C0-2EAC-D146-0F2AC06291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B88C44-EEF5-724D-88A2-AA6DAE6DA4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270" y="396258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Ordinary Least Squares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E270557-E1CB-D333-5F7F-F4856E8DDA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0174EE4-EFF9-A751-C20A-954270309BEB}"/>
                  </a:ext>
                </a:extLst>
              </p:cNvPr>
              <p:cNvSpPr txBox="1"/>
              <p:nvPr/>
            </p:nvSpPr>
            <p:spPr>
              <a:xfrm>
                <a:off x="582447" y="1216852"/>
                <a:ext cx="11009478" cy="87055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원 자료 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선형식으로 이루어졌다고 모델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설정하고 실제 값과 모델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예측값의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차이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- 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</a:t>
                </a:r>
                <a14:m>
                  <m:oMath xmlns:m="http://schemas.openxmlformats.org/officeDocument/2006/math">
                    <m:r>
                      <a:rPr lang="ko-KR" altLang="en-US" dirty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최소화하는 과정으로 </a:t>
                </a:r>
                <a14:m>
                  <m:oMath xmlns:m="http://schemas.openxmlformats.org/officeDocument/2006/math">
                    <m:r>
                      <a:rPr lang="ko-KR" altLang="en-US" dirty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벡터 의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Norm의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제곱을 최소화하는 과정과 동일하다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0174EE4-EFF9-A751-C20A-954270309B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447" y="1216852"/>
                <a:ext cx="11009478" cy="870559"/>
              </a:xfrm>
              <a:prstGeom prst="rect">
                <a:avLst/>
              </a:prstGeom>
              <a:blipFill>
                <a:blip r:embed="rId7"/>
                <a:stretch>
                  <a:fillRect l="-498" b="-1056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C81CFE5D-23C1-7AB0-C7C8-BC837AA8C7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6"/>
            <a:ext cx="1548244" cy="10244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424E9B6-4961-D2F5-200B-7BC82C4E864F}"/>
              </a:ext>
            </a:extLst>
          </p:cNvPr>
          <p:cNvSpPr txBox="1"/>
          <p:nvPr/>
        </p:nvSpPr>
        <p:spPr>
          <a:xfrm>
            <a:off x="5401684" y="3053638"/>
            <a:ext cx="5275552" cy="1285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왼쪽 데이터를 사용하여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scikit-learn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의 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hlinkClick r:id="rId9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>
              <a:lnSpc>
                <a:spcPct val="150000"/>
              </a:lnSpc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LinearRegression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으로 회귀식을 구해 계수를 서로 비교하라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D9F24BF1-3898-6B9C-89C6-2B7B1B3ABD0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96208" y="2410682"/>
            <a:ext cx="2222821" cy="4177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4084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94E4F8-12B7-84F6-67FE-7418458056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F2E29C-09FA-E082-C55F-9585B7A83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AA6105E-4140-477B-7DCF-2A2E711672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7DD94376-4403-4C5C-2798-FEA60EA6400C}"/>
              </a:ext>
            </a:extLst>
          </p:cNvPr>
          <p:cNvSpPr txBox="1">
            <a:spLocks/>
          </p:cNvSpPr>
          <p:nvPr/>
        </p:nvSpPr>
        <p:spPr>
          <a:xfrm>
            <a:off x="537021" y="602339"/>
            <a:ext cx="10353762" cy="5562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대수학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(Project)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01DCA9-D8DE-A682-34B7-BD2842C0B192}"/>
              </a:ext>
            </a:extLst>
          </p:cNvPr>
          <p:cNvSpPr txBox="1"/>
          <p:nvPr/>
        </p:nvSpPr>
        <p:spPr>
          <a:xfrm>
            <a:off x="1441896" y="2787549"/>
            <a:ext cx="4349304" cy="353943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sympy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1.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기호 변수 및 데이터 정의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w, b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sp.symbols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('w b')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x_vals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[1, 2, 3, 4, 5]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y_vals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[2.1, 3.9, 6.2, 8.1, 10.1]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len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x_vals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)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2.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손실 함수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(MSE)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수식화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loss = 0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for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in range(n):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    prediction = w *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x_vals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[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] + b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    loss += (prediction -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y_vals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[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])**2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loss = loss / n    # MSE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print(loss)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72CB4E6-E15F-62DE-AE9B-422EB6956C75}"/>
              </a:ext>
            </a:extLst>
          </p:cNvPr>
          <p:cNvSpPr txBox="1"/>
          <p:nvPr/>
        </p:nvSpPr>
        <p:spPr>
          <a:xfrm>
            <a:off x="6171058" y="2787549"/>
            <a:ext cx="5062501" cy="267765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3.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기울기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(w)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와 절편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(b)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에 대한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편미분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sp.diff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(loss, w)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diff_b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sp.diff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(loss, b)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f"w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에 대한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미분식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f"b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에 대한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미분식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diff_b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}")</a:t>
            </a:r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4.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미분값이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이 되는 연립 방정식 풀이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solution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sp.solve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diff_b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), (w, b))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최적의 기울기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(w): {solution[w]:.4f}")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최적의 절편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(b): {solution[b]:.4f}")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DE6C56-8C04-C821-C062-22787CF3C890}"/>
              </a:ext>
            </a:extLst>
          </p:cNvPr>
          <p:cNvSpPr txBox="1"/>
          <p:nvPr/>
        </p:nvSpPr>
        <p:spPr>
          <a:xfrm>
            <a:off x="537021" y="1396721"/>
            <a:ext cx="11268075" cy="11526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단순회귀식의 손실함수를 정의하고 대수학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모듈인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작성한 코드이다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diff_w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diff_b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미분방정식은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선형연립방정식으로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모두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될 때 손실함수가 가장 적다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선형방정식의 해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(w,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b)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행렬식으로 변환하여 역행렬을 이용하여 구하고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아래 결과와 동일한지 확인하라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w4_loss_function.ipynb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코드 참고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9645827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50F436-6053-FD89-1446-89B8C57BE4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DA4FAE3-4AC5-2FA0-0D54-956F0333EE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BE53A998-A58D-FA2C-6620-C333A654B0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89309" y="66675"/>
            <a:ext cx="1731242" cy="1145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C394F579-8FE9-23E0-8239-B37344AFA494}"/>
              </a:ext>
            </a:extLst>
          </p:cNvPr>
          <p:cNvSpPr txBox="1">
            <a:spLocks/>
          </p:cNvSpPr>
          <p:nvPr/>
        </p:nvSpPr>
        <p:spPr>
          <a:xfrm>
            <a:off x="537021" y="602339"/>
            <a:ext cx="10353762" cy="5562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Algebra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F323F81-3CF7-4939-B4DB-0F665B1319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5860" y="2220089"/>
            <a:ext cx="5070493" cy="42610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D2B8666-8C0D-C4C5-9352-5B1143B83C12}"/>
              </a:ext>
            </a:extLst>
          </p:cNvPr>
          <p:cNvSpPr txBox="1"/>
          <p:nvPr/>
        </p:nvSpPr>
        <p:spPr>
          <a:xfrm>
            <a:off x="6241185" y="2362385"/>
            <a:ext cx="5542552" cy="102021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Equations are at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Optimal point(w, b):</a:t>
            </a:r>
          </a:p>
          <a:p>
            <a:pPr>
              <a:lnSpc>
                <a:spcPct val="150000"/>
              </a:lnSpc>
            </a:pP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diff_w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22*w + 6*b - 44.56 = 0  =&gt;  22*w + 6*b = 44.56</a:t>
            </a:r>
          </a:p>
          <a:p>
            <a:pPr>
              <a:lnSpc>
                <a:spcPct val="150000"/>
              </a:lnSpc>
            </a:pP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diff_b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6*w + 2*b - 12.16 = 0  =&gt;   6*w + 2*b = 12.16</a:t>
            </a:r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58E7B21F-0BE0-9A81-484F-6CA16EC53759}"/>
              </a:ext>
            </a:extLst>
          </p:cNvPr>
          <p:cNvCxnSpPr/>
          <p:nvPr/>
        </p:nvCxnSpPr>
        <p:spPr>
          <a:xfrm>
            <a:off x="8807805" y="3512402"/>
            <a:ext cx="0" cy="8382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193F1C0D-3A98-56DD-D8A9-D5BC8F75F446}"/>
              </a:ext>
            </a:extLst>
          </p:cNvPr>
          <p:cNvSpPr txBox="1"/>
          <p:nvPr/>
        </p:nvSpPr>
        <p:spPr>
          <a:xfrm>
            <a:off x="6970858" y="4449177"/>
            <a:ext cx="444528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행렬식으로 변환하여 역행렬로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w, b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구하라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394461D9-CAE0-12A2-49C0-205DB4ED695C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516084" y="4895208"/>
            <a:ext cx="2583442" cy="1323615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9179F787-DAC9-EA08-04DD-063F2954CAEB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0055076" y="3499036"/>
            <a:ext cx="722857" cy="33855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E0B0117-09C5-4529-0376-8BA59E003D54}"/>
              </a:ext>
            </a:extLst>
          </p:cNvPr>
          <p:cNvSpPr txBox="1"/>
          <p:nvPr/>
        </p:nvSpPr>
        <p:spPr>
          <a:xfrm>
            <a:off x="537021" y="1436139"/>
            <a:ext cx="112467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실제와 예측 값의 차이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Error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함수를</a:t>
            </a:r>
            <a:r>
              <a:rPr lang="ko-KR" altLang="en-US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 그래프를 </a:t>
            </a:r>
            <a:r>
              <a:rPr lang="en-US" altLang="ko-KR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w, b</a:t>
            </a:r>
            <a:r>
              <a:rPr lang="ko-KR" altLang="en-US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대해 미분하고 </a:t>
            </a:r>
            <a:r>
              <a:rPr lang="en-US" altLang="ko-KR" b="0" i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ko-KR" altLang="en-US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시각화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코딩하라</a:t>
            </a:r>
          </a:p>
        </p:txBody>
      </p:sp>
    </p:spTree>
    <p:extLst>
      <p:ext uri="{BB962C8B-B14F-4D97-AF65-F5344CB8AC3E}">
        <p14:creationId xmlns:p14="http://schemas.microsoft.com/office/powerpoint/2010/main" val="26940320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0F959B-9F8A-E278-5C4A-F76AA547C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8B76A31-430E-4AFE-FC1A-725748E9B71C}"/>
              </a:ext>
            </a:extLst>
          </p:cNvPr>
          <p:cNvSpPr/>
          <p:nvPr/>
        </p:nvSpPr>
        <p:spPr>
          <a:xfrm>
            <a:off x="734002" y="1983448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5F4B479B-CED5-9339-49A4-664509216C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2E25E364-035C-85C6-18BE-3B7D366475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15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D696C0E-3F45-288C-7A19-C7EEA5031C2B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41830070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9E2B94-E098-6BEA-3052-DD8E91F85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93BC25-A2E9-D93A-4820-90A92286BB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5B770CE-C0D0-41B8-616D-4A7A95E2C6E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Stochastic Gradient Descent Algorithm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495AA7C4-A787-42EC-8403-2ADB14EE83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495" y="1604437"/>
            <a:ext cx="5381131" cy="3984803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EC6645B1-FA5F-DFFA-7F41-0AADE5D706B0}"/>
              </a:ext>
            </a:extLst>
          </p:cNvPr>
          <p:cNvSpPr/>
          <p:nvPr/>
        </p:nvSpPr>
        <p:spPr>
          <a:xfrm>
            <a:off x="2905919" y="2156425"/>
            <a:ext cx="576064" cy="232697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구부러진 연결선 11">
            <a:extLst>
              <a:ext uri="{FF2B5EF4-FFF2-40B4-BE49-F238E27FC236}">
                <a16:creationId xmlns:a16="http://schemas.microsoft.com/office/drawing/2014/main" id="{D2E8ABF2-FD97-9482-CAB5-B0141AA2DCF4}"/>
              </a:ext>
            </a:extLst>
          </p:cNvPr>
          <p:cNvCxnSpPr>
            <a:cxnSpLocks/>
            <a:stCxn id="9" idx="2"/>
            <a:endCxn id="16" idx="1"/>
          </p:cNvCxnSpPr>
          <p:nvPr/>
        </p:nvCxnSpPr>
        <p:spPr>
          <a:xfrm rot="16200000" flipH="1">
            <a:off x="3124616" y="2458456"/>
            <a:ext cx="2896815" cy="2758145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417B34-C254-4F01-49E2-FF64AD86F2F5}"/>
              </a:ext>
            </a:extLst>
          </p:cNvPr>
          <p:cNvSpPr txBox="1"/>
          <p:nvPr/>
        </p:nvSpPr>
        <p:spPr>
          <a:xfrm>
            <a:off x="7620514" y="1434004"/>
            <a:ext cx="2648935" cy="8883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Let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α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=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β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=0,</a:t>
            </a:r>
          </a:p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y_hat =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α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 +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β</a:t>
            </a:r>
            <a:r>
              <a:rPr lang="ko-KR" altLang="en-US" sz="1200">
                <a:latin typeface="Arial Narrow" panose="020B0606020202030204" pitchFamily="34" charset="0"/>
                <a:ea typeface="맑은 고딕" panose="020B0503020000020004" pitchFamily="50" charset="-127"/>
              </a:rPr>
              <a:t>* 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X(instance)   </a:t>
            </a:r>
          </a:p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error = y_hat - y</a:t>
            </a:r>
            <a:endParaRPr lang="ko-KR" altLang="en-US" sz="1200">
              <a:latin typeface="Arial Narrow" panose="020B0606020202030204" pitchFamily="34" charset="0"/>
            </a:endParaRPr>
          </a:p>
        </p:txBody>
      </p:sp>
      <p:pic>
        <p:nvPicPr>
          <p:cNvPr id="12" name="_x422600552" descr="DRW00004be805ca">
            <a:extLst>
              <a:ext uri="{FF2B5EF4-FFF2-40B4-BE49-F238E27FC236}">
                <a16:creationId xmlns:a16="http://schemas.microsoft.com/office/drawing/2014/main" id="{4EADB233-588F-C11C-5B9E-AAE593EB73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52501" y="1604437"/>
            <a:ext cx="2362060" cy="5475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E914E7CD-C67B-3A4D-7F2F-3D06D53F15BD}"/>
              </a:ext>
            </a:extLst>
          </p:cNvPr>
          <p:cNvSpPr/>
          <p:nvPr/>
        </p:nvSpPr>
        <p:spPr>
          <a:xfrm>
            <a:off x="6200911" y="2414721"/>
            <a:ext cx="147829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u="sng">
                <a:latin typeface="Arial Narrow" panose="020B0606020202030204" pitchFamily="34" charset="0"/>
                <a:ea typeface="맑은 고딕" panose="020B0503020000020004" pitchFamily="50" charset="-127"/>
              </a:rPr>
              <a:t>Recursive iterations</a:t>
            </a:r>
            <a:endParaRPr lang="ko-KR" altLang="en-US" sz="1400" u="sng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4D23006-5A11-5A2D-AB80-34067D6B26BE}"/>
              </a:ext>
            </a:extLst>
          </p:cNvPr>
          <p:cNvSpPr/>
          <p:nvPr/>
        </p:nvSpPr>
        <p:spPr>
          <a:xfrm>
            <a:off x="6266634" y="1266956"/>
            <a:ext cx="134684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u="sng">
                <a:latin typeface="Arial Narrow" panose="020B0606020202030204" pitchFamily="34" charset="0"/>
                <a:ea typeface="맑은 고딕" panose="020B0503020000020004" pitchFamily="50" charset="-127"/>
              </a:rPr>
              <a:t>Initialized settings</a:t>
            </a:r>
            <a:endParaRPr lang="ko-KR" altLang="en-US" sz="1400" u="sng"/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6F7763A0-5F10-90F8-CA2D-7DCBCCC4DC68}"/>
              </a:ext>
            </a:extLst>
          </p:cNvPr>
          <p:cNvCxnSpPr>
            <a:stCxn id="14" idx="2"/>
            <a:endCxn id="13" idx="0"/>
          </p:cNvCxnSpPr>
          <p:nvPr/>
        </p:nvCxnSpPr>
        <p:spPr>
          <a:xfrm>
            <a:off x="6940056" y="1574733"/>
            <a:ext cx="0" cy="8399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6" name="그림 15">
            <a:extLst>
              <a:ext uri="{FF2B5EF4-FFF2-40B4-BE49-F238E27FC236}">
                <a16:creationId xmlns:a16="http://schemas.microsoft.com/office/drawing/2014/main" id="{B1489412-AE07-CA87-6810-2F75A3E329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2096" y="4535612"/>
            <a:ext cx="5346757" cy="1500649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FD19B963-2A8F-570B-8ADF-E216636CC975}"/>
              </a:ext>
            </a:extLst>
          </p:cNvPr>
          <p:cNvSpPr/>
          <p:nvPr/>
        </p:nvSpPr>
        <p:spPr>
          <a:xfrm>
            <a:off x="3588200" y="2136863"/>
            <a:ext cx="576064" cy="232697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8" name="구부러진 연결선 24">
            <a:extLst>
              <a:ext uri="{FF2B5EF4-FFF2-40B4-BE49-F238E27FC236}">
                <a16:creationId xmlns:a16="http://schemas.microsoft.com/office/drawing/2014/main" id="{C9588AE1-5A12-75C5-1093-D747904B6E4F}"/>
              </a:ext>
            </a:extLst>
          </p:cNvPr>
          <p:cNvCxnSpPr>
            <a:cxnSpLocks/>
            <a:stCxn id="17" idx="2"/>
            <a:endCxn id="19" idx="1"/>
          </p:cNvCxnSpPr>
          <p:nvPr/>
        </p:nvCxnSpPr>
        <p:spPr>
          <a:xfrm rot="16200000" flipH="1">
            <a:off x="4533700" y="1712092"/>
            <a:ext cx="1241319" cy="255625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9" name="그림 18">
            <a:extLst>
              <a:ext uri="{FF2B5EF4-FFF2-40B4-BE49-F238E27FC236}">
                <a16:creationId xmlns:a16="http://schemas.microsoft.com/office/drawing/2014/main" id="{3BDFB097-4555-EF5C-B891-91D9873249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2486" y="2864884"/>
            <a:ext cx="5254874" cy="1491989"/>
          </a:xfrm>
          <a:prstGeom prst="rect">
            <a:avLst/>
          </a:prstGeom>
        </p:spPr>
      </p:pic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AAEBA13E-E249-B6C6-C592-9AFBAA038C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4961" y="93209"/>
            <a:ext cx="1585190" cy="1048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022871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C9B7E8-B3A7-FF21-5480-DC3A3EAB12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9D2BC70-D57D-EEF5-DC69-826FD9B8C4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07CE7DD-C1AA-1B94-76C5-A133AAA325A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Stochastic Gradient Descent Algorithm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787A7674-55ED-543D-BF8F-53D8B60B4E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4961" y="93209"/>
            <a:ext cx="1585190" cy="1048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6E0C0C27-BF30-17B6-8611-0466BFA805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666" y="2617573"/>
            <a:ext cx="5524466" cy="3642195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2AD90B98-B534-CE1E-4664-22109CC86E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3964" y="2617573"/>
            <a:ext cx="3010047" cy="2049537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34BF5BD5-920A-1FD2-1CB3-E878BBAE3D97}"/>
              </a:ext>
            </a:extLst>
          </p:cNvPr>
          <p:cNvSpPr txBox="1"/>
          <p:nvPr/>
        </p:nvSpPr>
        <p:spPr>
          <a:xfrm>
            <a:off x="561974" y="1248422"/>
            <a:ext cx="11334751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손실함수에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미분 값은 어느 방향으로 갈지 알려주고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learning rate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얼마나 갈지 조절하여 주며 오차가 줄어드는 방향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반대 방향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빼기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이동하는 것을 데이터 샘플마다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epoch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마다 반복하면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α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β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점점 최적 값에 수렴</a:t>
            </a:r>
          </a:p>
        </p:txBody>
      </p:sp>
    </p:spTree>
    <p:extLst>
      <p:ext uri="{BB962C8B-B14F-4D97-AF65-F5344CB8AC3E}">
        <p14:creationId xmlns:p14="http://schemas.microsoft.com/office/powerpoint/2010/main" val="24445264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72C89-E962-AFB4-EA83-6DF916F76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DB6C60-BD48-B0C2-F448-471EBA07E3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EE271DA-4B51-B1C5-29C9-886DF6D382D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Stochastic Gradient Descent Algorithm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2C16006-D0A7-2B57-EF1A-9498ABB73F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4961" y="93209"/>
            <a:ext cx="1585190" cy="1048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A3B124D7-D9A2-F644-7F5F-D2078513C01A}"/>
              </a:ext>
            </a:extLst>
          </p:cNvPr>
          <p:cNvSpPr txBox="1"/>
          <p:nvPr/>
        </p:nvSpPr>
        <p:spPr>
          <a:xfrm>
            <a:off x="561974" y="1296047"/>
            <a:ext cx="11334751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Python symbolic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모듈로 손실함수를 각각 미분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편미분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하면 엑셀파일의 수식과 동일 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EDF9674-2C88-B5B8-7E8A-FA04E8A85F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1575" y="3094888"/>
            <a:ext cx="2651990" cy="138696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601E274-6BFD-1DC2-F4E3-5867BCBF5E20}"/>
              </a:ext>
            </a:extLst>
          </p:cNvPr>
          <p:cNvSpPr txBox="1"/>
          <p:nvPr/>
        </p:nvSpPr>
        <p:spPr>
          <a:xfrm>
            <a:off x="609599" y="2469153"/>
            <a:ext cx="4857751" cy="329320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sympy</a:t>
            </a:r>
            <a:endParaRPr lang="en-US" altLang="ko-KR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변수 및 함수 선언</a:t>
            </a: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a, b, x, y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sympy.symbols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('a b x y')</a:t>
            </a: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sympy.Rational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(1, 2) * (a + b * x - y)**2</a:t>
            </a:r>
          </a:p>
          <a:p>
            <a:pPr>
              <a:buNone/>
            </a:pPr>
            <a:endParaRPr lang="en-US" altLang="ko-KR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편미분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계산</a:t>
            </a:r>
          </a:p>
          <a:p>
            <a:pPr>
              <a:buNone/>
            </a:pP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grad_a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sympy.diff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(L, a) # a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 대해 </a:t>
            </a:r>
            <a:r>
              <a:rPr lang="ko-KR" altLang="en-US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편미분</a:t>
            </a:r>
            <a:endParaRPr lang="ko-KR" altLang="en-US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grad_b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sympy.diff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(L, b)   # b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 대해 </a:t>
            </a:r>
            <a:r>
              <a:rPr lang="ko-KR" altLang="en-US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편미분</a:t>
            </a:r>
            <a:b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ko-KR" altLang="en-US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결과 출력</a:t>
            </a: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f"dL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d_a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grad_a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f"dL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d_b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{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grad_b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05E17BA-79CF-6D1E-A6E3-4AA41F8938BE}"/>
              </a:ext>
            </a:extLst>
          </p:cNvPr>
          <p:cNvSpPr txBox="1"/>
          <p:nvPr/>
        </p:nvSpPr>
        <p:spPr>
          <a:xfrm>
            <a:off x="5810250" y="3249759"/>
            <a:ext cx="3705226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dL/d_a: a + b*x - y </a:t>
            </a:r>
          </a:p>
          <a:p>
            <a:endParaRPr lang="es-E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s-E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s-E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dL/d_b : x*(a + b*x - y)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195405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1F9AB3-E6B8-28DD-5097-6AFE1CE06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C51754-C061-4C8D-DF7E-CB156A83B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A65FD1D8-F992-7ABC-9406-5942C3F347FD}"/>
              </a:ext>
            </a:extLst>
          </p:cNvPr>
          <p:cNvSpPr txBox="1">
            <a:spLocks/>
          </p:cNvSpPr>
          <p:nvPr/>
        </p:nvSpPr>
        <p:spPr>
          <a:xfrm>
            <a:off x="447070" y="400132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Descending Mount Everest(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Errorest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AutoShape 4" descr="Gradient Ascent">
            <a:extLst>
              <a:ext uri="{FF2B5EF4-FFF2-40B4-BE49-F238E27FC236}">
                <a16:creationId xmlns:a16="http://schemas.microsoft.com/office/drawing/2014/main" id="{A5361D08-032E-C069-60DE-3ECECBDA58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54D3919-B9A5-4428-552C-028371B403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819" y="2527576"/>
            <a:ext cx="5644596" cy="3549946"/>
          </a:xfrm>
          <a:prstGeom prst="rect">
            <a:avLst/>
          </a:prstGeom>
        </p:spPr>
      </p:pic>
      <p:pic>
        <p:nvPicPr>
          <p:cNvPr id="9" name="Picture 2" descr="What Is Gradient Descent? | Built In">
            <a:extLst>
              <a:ext uri="{FF2B5EF4-FFF2-40B4-BE49-F238E27FC236}">
                <a16:creationId xmlns:a16="http://schemas.microsoft.com/office/drawing/2014/main" id="{98328970-324B-9F2F-1BB2-C6082D5EB9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2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66464" y="2527576"/>
            <a:ext cx="5409396" cy="35328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FBB124D-42BE-A943-8D3C-848A6685895A}"/>
              </a:ext>
            </a:extLst>
          </p:cNvPr>
          <p:cNvSpPr txBox="1"/>
          <p:nvPr/>
        </p:nvSpPr>
        <p:spPr>
          <a:xfrm>
            <a:off x="1026160" y="1276221"/>
            <a:ext cx="10353762" cy="871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그림에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 함수 형태인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SSE(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um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of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quared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Errors), d_w0, d_w1(</a:t>
            </a:r>
            <a:r>
              <a:rPr lang="ko-KR" altLang="en-US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편미분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),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기울기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0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 J(w, b)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등의 모든 용어의 의미가 무엇인지 토론하자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파이썬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사용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6BE7AED-8858-744A-5A7B-924A10F1C090}"/>
              </a:ext>
            </a:extLst>
          </p:cNvPr>
          <p:cNvSpPr txBox="1"/>
          <p:nvPr/>
        </p:nvSpPr>
        <p:spPr>
          <a:xfrm>
            <a:off x="701040" y="6082702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출처 </a:t>
            </a:r>
            <a:r>
              <a:rPr lang="en-US" altLang="ko-KR" sz="12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en-US" altLang="ko-KR" sz="12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coursera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8562906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789DC4-4AF3-EC4A-C1AC-743B8433B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E01BFB-6514-033B-616C-9C8CB0D62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91515F74-0FD2-1243-A016-EC019A90AF2D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SDG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E0527367-2BF7-B9CF-4C78-B2540D83A7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DB2DC23-4C8B-435B-8A73-504DE1E932CB}"/>
              </a:ext>
            </a:extLst>
          </p:cNvPr>
          <p:cNvSpPr txBox="1"/>
          <p:nvPr/>
        </p:nvSpPr>
        <p:spPr>
          <a:xfrm>
            <a:off x="665019" y="1843928"/>
            <a:ext cx="6685294" cy="459600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numpy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as np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pandas as pd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matplotlib.pyplot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as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</a:t>
            </a: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from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sklearn.datasets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import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y, _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n_samples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=50,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n_features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=1, noise=50, 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   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coef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=True,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random_state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=11)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X.squeeze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(),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y.squeeze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alpha, beta, data = 0, 0, []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for _ in range(50):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for row in range(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len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(X)):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alpha + beta * X[row]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error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- y[row]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alpha -= 0.01 * error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beta  -= 0.01 * error * X[row]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data.append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([alpha, beta,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y[row], error])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data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pd.DataFrame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(data, columns=['alpha', 'beta', '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', 'y', 'error'])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last_epoch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data.iloc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[-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len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(X):].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reset_index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(drop=True) 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마지막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epoch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final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last_epoch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[['y', '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', 'error']]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56586A-5C67-F31B-6E9E-7B51AC9B2FBB}"/>
              </a:ext>
            </a:extLst>
          </p:cNvPr>
          <p:cNvSpPr txBox="1"/>
          <p:nvPr/>
        </p:nvSpPr>
        <p:spPr>
          <a:xfrm>
            <a:off x="7356924" y="1843928"/>
            <a:ext cx="4170057" cy="1733808"/>
          </a:xfrm>
          <a:prstGeom prst="rect">
            <a:avLst/>
          </a:prstGeom>
          <a:solidFill>
            <a:srgbClr val="76E3FF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plt.figure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figsize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=(8, 5))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plt.scatter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(X, y, s=30, label='Actual')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plt.scatter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(X, final['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'], s=30, color='orange', label='Predicted')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plt.xlabel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("x");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plt.ylabel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("y")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plt.legend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plt.title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("Gradient Descent: Actual vs Predicted")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plt.show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03D4D55-7EC0-4818-8686-AE606713B1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56924" y="3622641"/>
            <a:ext cx="3732731" cy="24814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C10E062-9ECA-E8ED-6E94-831863833743}"/>
              </a:ext>
            </a:extLst>
          </p:cNvPr>
          <p:cNvSpPr txBox="1"/>
          <p:nvPr/>
        </p:nvSpPr>
        <p:spPr>
          <a:xfrm>
            <a:off x="638088" y="1267958"/>
            <a:ext cx="11249111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알고리즘을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파이썬으로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개발하고 몇 번의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epoch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마지막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epoch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확인하라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9494725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FD12BA-E7E9-4AD8-34D9-71875CEC4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F01046-B443-129D-1749-9AAE7647BB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21</a:t>
            </a:fld>
            <a:endParaRPr 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D46AE84-6CEB-CDA0-F1B8-7632CD8F19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9642" y="1457088"/>
            <a:ext cx="3544813" cy="2339033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FA328910-7602-C31B-29DF-E7E34E5E69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2445" y="4004787"/>
            <a:ext cx="3599209" cy="2339033"/>
          </a:xfrm>
          <a:prstGeom prst="rect">
            <a:avLst/>
          </a:prstGeom>
        </p:spPr>
      </p:pic>
      <p:sp>
        <p:nvSpPr>
          <p:cNvPr id="15" name="제목 1">
            <a:extLst>
              <a:ext uri="{FF2B5EF4-FFF2-40B4-BE49-F238E27FC236}">
                <a16:creationId xmlns:a16="http://schemas.microsoft.com/office/drawing/2014/main" id="{D715F2C9-E57D-90B9-8182-2EE006944564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scikit-learn SDG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5ABFCE8-C42A-DE33-7DBF-0CBFE36A71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D7CB008-32E0-CED4-4B8E-FFC4F76FE152}"/>
              </a:ext>
            </a:extLst>
          </p:cNvPr>
          <p:cNvSpPr txBox="1"/>
          <p:nvPr/>
        </p:nvSpPr>
        <p:spPr>
          <a:xfrm>
            <a:off x="537021" y="1457088"/>
            <a:ext cx="5702340" cy="871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/>
              </a:rPr>
              <a:t>SGDRegressor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알고리즘으로 아래 데이터의 단순회귀식을 구하라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21A7CB-429F-7722-5BD7-E4F04E6F4138}"/>
              </a:ext>
            </a:extLst>
          </p:cNvPr>
          <p:cNvSpPr txBox="1"/>
          <p:nvPr/>
        </p:nvSpPr>
        <p:spPr>
          <a:xfrm>
            <a:off x="858057" y="2721688"/>
            <a:ext cx="5237943" cy="132343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y, _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n_samples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=50,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n_features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noise=15,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coef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=True,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random_state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=11)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696060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5CC0AD-3AB3-5407-547E-AEDB97A5BE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9EACAD-2DA9-7882-C5FE-170D57459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CE437DBA-F9C0-72D0-8FCB-9F1F8774153F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tensorflow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SDG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025CD999-B5E5-C01B-A34F-FE4AC704C9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DAF72B0-F5E5-AE3C-97C3-695C729CF417}"/>
              </a:ext>
            </a:extLst>
          </p:cNvPr>
          <p:cNvSpPr txBox="1"/>
          <p:nvPr/>
        </p:nvSpPr>
        <p:spPr>
          <a:xfrm>
            <a:off x="924444" y="2313008"/>
            <a:ext cx="270138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stochastic_gradient_descent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050" name="Picture 2" descr="Fitting a line batch by batch. The loss decreases and the weights approach their true values.">
            <a:extLst>
              <a:ext uri="{FF2B5EF4-FFF2-40B4-BE49-F238E27FC236}">
                <a16:creationId xmlns:a16="http://schemas.microsoft.com/office/drawing/2014/main" id="{FFD30AC7-690D-B68B-FBDA-E352845E23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4444" y="2651562"/>
            <a:ext cx="9999532" cy="37498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E8F6135-E0C8-4ED3-386F-31501C547AA0}"/>
              </a:ext>
            </a:extLst>
          </p:cNvPr>
          <p:cNvSpPr txBox="1"/>
          <p:nvPr/>
        </p:nvSpPr>
        <p:spPr>
          <a:xfrm>
            <a:off x="537021" y="1457088"/>
            <a:ext cx="11322470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Fitted Line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여러 직선식은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epoch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마다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fitting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되는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직선식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 regression line)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897323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F3867-2510-7649-E7B5-1E72CAE61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646AB6A-240F-F6E1-0407-4133B0FC9540}"/>
              </a:ext>
            </a:extLst>
          </p:cNvPr>
          <p:cNvSpPr/>
          <p:nvPr/>
        </p:nvSpPr>
        <p:spPr>
          <a:xfrm>
            <a:off x="734002" y="252998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3E9B65AA-C3F3-147A-EBE3-ECA929015C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AA23A0F-5651-9A9E-2053-9E41643662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23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FB60CF9-92EE-44B5-F8B8-0506E0067B62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33463679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49DF67-D844-9263-578F-AEA0DDF40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슬라이드 번호 개체 틀 3">
            <a:extLst>
              <a:ext uri="{FF2B5EF4-FFF2-40B4-BE49-F238E27FC236}">
                <a16:creationId xmlns:a16="http://schemas.microsoft.com/office/drawing/2014/main" id="{751DE29D-F9D5-F4CB-637D-335343EE58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24</a:t>
            </a:fld>
            <a:endParaRPr lang="en-US" sz="2000" dirty="0"/>
          </a:p>
        </p:txBody>
      </p:sp>
      <p:pic>
        <p:nvPicPr>
          <p:cNvPr id="16386" name="Picture 2">
            <a:extLst>
              <a:ext uri="{FF2B5EF4-FFF2-40B4-BE49-F238E27FC236}">
                <a16:creationId xmlns:a16="http://schemas.microsoft.com/office/drawing/2014/main" id="{37153B1E-FE77-9A3F-9534-09E1085ED4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1881" y="3373320"/>
            <a:ext cx="4017820" cy="17739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388" name="Picture 4">
            <a:extLst>
              <a:ext uri="{FF2B5EF4-FFF2-40B4-BE49-F238E27FC236}">
                <a16:creationId xmlns:a16="http://schemas.microsoft.com/office/drawing/2014/main" id="{E35F42B8-7ECF-02CE-A7E8-685DE5B269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2674" y="2853688"/>
            <a:ext cx="4788337" cy="26057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제목 7">
            <a:extLst>
              <a:ext uri="{FF2B5EF4-FFF2-40B4-BE49-F238E27FC236}">
                <a16:creationId xmlns:a16="http://schemas.microsoft.com/office/drawing/2014/main" id="{B5E3B9F4-5DC7-A211-5F12-52F46993ED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39444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     Perceptron and Regression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4F7D34D-9AD5-1372-7BFB-314080CC09D0}"/>
              </a:ext>
            </a:extLst>
          </p:cNvPr>
          <p:cNvSpPr txBox="1"/>
          <p:nvPr/>
        </p:nvSpPr>
        <p:spPr>
          <a:xfrm>
            <a:off x="934185" y="1360938"/>
            <a:ext cx="10842179" cy="869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선형회귀식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 Regression)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구조가 동일하며 입력변수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(Features)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가중치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(Edge)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내적이 노드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(Node)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구성됨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74854B1A-872C-C293-E90F-F0D8618C7E04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8965166" y="2853688"/>
            <a:ext cx="2295845" cy="457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603443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C774A-FBC4-2837-ADCA-FEB8629CE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BE44AB-C056-17FD-C251-4668DEBBE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81D2E564-5A67-2191-8947-A738C145604F}"/>
              </a:ext>
            </a:extLst>
          </p:cNvPr>
          <p:cNvSpPr txBox="1">
            <a:spLocks/>
          </p:cNvSpPr>
          <p:nvPr/>
        </p:nvSpPr>
        <p:spPr>
          <a:xfrm>
            <a:off x="523270" y="653433"/>
            <a:ext cx="10353762" cy="5198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Perceptron with single feature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B7DCEA7-54A6-B15D-05C9-0627756675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7511" y="3104579"/>
            <a:ext cx="5805481" cy="2563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628945E9-11C3-FF31-7062-26217F2120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42647" y="1414776"/>
                <a:ext cx="10706705" cy="1092188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Single Perceptron Neural Networks = Simple Linear Regression</a:t>
                </a:r>
              </a:p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단일변수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 single input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선형변환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0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w</m:t>
                    </m:r>
                    <m:r>
                      <m:rPr>
                        <m:sty m:val="p"/>
                      </m:rPr>
                      <a:rPr lang="en-US" altLang="ko-KR" sz="1800" i="1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  <m: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+</m:t>
                    </m:r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b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</m:oMath>
                </a14:m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생성하는 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Perceptron</a:t>
                </a: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628945E9-11C3-FF31-7062-26217F2120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2647" y="1414776"/>
                <a:ext cx="10706705" cy="1092188"/>
              </a:xfrm>
              <a:blipFill>
                <a:blip r:embed="rId3"/>
                <a:stretch>
                  <a:fillRect l="-399" t="-279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>
            <a:extLst>
              <a:ext uri="{FF2B5EF4-FFF2-40B4-BE49-F238E27FC236}">
                <a16:creationId xmlns:a16="http://schemas.microsoft.com/office/drawing/2014/main" id="{AC721B09-7985-FB30-C02C-CDB0F3FFC5C8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bg1">
                <a:lumMod val="95000"/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8888379" y="3380613"/>
            <a:ext cx="1824265" cy="43564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</p:pic>
      <p:grpSp>
        <p:nvGrpSpPr>
          <p:cNvPr id="46" name="그룹 45">
            <a:extLst>
              <a:ext uri="{FF2B5EF4-FFF2-40B4-BE49-F238E27FC236}">
                <a16:creationId xmlns:a16="http://schemas.microsoft.com/office/drawing/2014/main" id="{F45D2DDE-ED31-970A-8F32-829DACE28F6E}"/>
              </a:ext>
            </a:extLst>
          </p:cNvPr>
          <p:cNvGrpSpPr/>
          <p:nvPr/>
        </p:nvGrpSpPr>
        <p:grpSpPr>
          <a:xfrm>
            <a:off x="5960736" y="2976946"/>
            <a:ext cx="5303753" cy="2942019"/>
            <a:chOff x="6513186" y="2510221"/>
            <a:chExt cx="5303753" cy="2942019"/>
          </a:xfrm>
        </p:grpSpPr>
        <p:grpSp>
          <p:nvGrpSpPr>
            <p:cNvPr id="43" name="그룹 42">
              <a:extLst>
                <a:ext uri="{FF2B5EF4-FFF2-40B4-BE49-F238E27FC236}">
                  <a16:creationId xmlns:a16="http://schemas.microsoft.com/office/drawing/2014/main" id="{2349E664-7C0D-0A6F-DA46-783EB35CA6F4}"/>
                </a:ext>
              </a:extLst>
            </p:cNvPr>
            <p:cNvGrpSpPr/>
            <p:nvPr/>
          </p:nvGrpSpPr>
          <p:grpSpPr>
            <a:xfrm>
              <a:off x="6513186" y="3349535"/>
              <a:ext cx="5288289" cy="2102705"/>
              <a:chOff x="4608186" y="4222810"/>
              <a:chExt cx="5288289" cy="2102705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9182A04B-D395-1DFA-D4A5-FA95694198F3}"/>
                  </a:ext>
                </a:extLst>
              </p:cNvPr>
              <p:cNvSpPr txBox="1"/>
              <p:nvPr/>
            </p:nvSpPr>
            <p:spPr>
              <a:xfrm>
                <a:off x="7009199" y="5986961"/>
                <a:ext cx="2887276" cy="33855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r>
                  <a:rPr lang="en-US" altLang="ko-KR" sz="1600" dirty="0">
                    <a:latin typeface="+mj-ea"/>
                  </a:rPr>
                  <a:t>(n, 1) = (n, 1) @ (1, 1) + (n,1)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  <p:grpSp>
            <p:nvGrpSpPr>
              <p:cNvPr id="42" name="그룹 41">
                <a:extLst>
                  <a:ext uri="{FF2B5EF4-FFF2-40B4-BE49-F238E27FC236}">
                    <a16:creationId xmlns:a16="http://schemas.microsoft.com/office/drawing/2014/main" id="{662C1E02-B87A-DEDD-3BC5-2C00C5141498}"/>
                  </a:ext>
                </a:extLst>
              </p:cNvPr>
              <p:cNvGrpSpPr/>
              <p:nvPr/>
            </p:nvGrpSpPr>
            <p:grpSpPr>
              <a:xfrm>
                <a:off x="4608186" y="4222810"/>
                <a:ext cx="5288289" cy="1822532"/>
                <a:chOff x="4961700" y="4115748"/>
                <a:chExt cx="4509666" cy="1554191"/>
              </a:xfrm>
            </p:grpSpPr>
            <p:pic>
              <p:nvPicPr>
                <p:cNvPr id="34" name="그림 33">
                  <a:extLst>
                    <a:ext uri="{FF2B5EF4-FFF2-40B4-BE49-F238E27FC236}">
                      <a16:creationId xmlns:a16="http://schemas.microsoft.com/office/drawing/2014/main" id="{9A6BDC3D-A4CC-D6F5-EB1A-C74E4C7B2FA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009199" y="4115748"/>
                  <a:ext cx="2462167" cy="1554191"/>
                </a:xfrm>
                <a:prstGeom prst="rect">
                  <a:avLst/>
                </a:prstGeom>
              </p:spPr>
            </p:pic>
            <p:pic>
              <p:nvPicPr>
                <p:cNvPr id="41" name="그림 40">
                  <a:extLst>
                    <a:ext uri="{FF2B5EF4-FFF2-40B4-BE49-F238E27FC236}">
                      <a16:creationId xmlns:a16="http://schemas.microsoft.com/office/drawing/2014/main" id="{8058C60F-E1F1-BF72-C7F4-F9EF89B9287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4961700" y="4636720"/>
                  <a:ext cx="1917954" cy="256124"/>
                </a:xfrm>
                <a:prstGeom prst="rect">
                  <a:avLst/>
                </a:prstGeom>
              </p:spPr>
            </p:pic>
          </p:grp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73032DFD-B8AA-1AB7-E55F-89A8F8BD220A}"/>
                </a:ext>
              </a:extLst>
            </p:cNvPr>
            <p:cNvSpPr txBox="1"/>
            <p:nvPr/>
          </p:nvSpPr>
          <p:spPr>
            <a:xfrm>
              <a:off x="9149744" y="2510221"/>
              <a:ext cx="266719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Matrix Formulation</a:t>
              </a:r>
              <a:endParaRPr lang="ko-KR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471897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9D7270-A613-BE98-819E-33BAE7981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23AD91-9546-54D2-90A5-EBC109034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DDADF338-872C-BF9C-68A7-5537D71ED3F3}"/>
              </a:ext>
            </a:extLst>
          </p:cNvPr>
          <p:cNvSpPr txBox="1">
            <a:spLocks/>
          </p:cNvSpPr>
          <p:nvPr/>
        </p:nvSpPr>
        <p:spPr>
          <a:xfrm>
            <a:off x="561370" y="615334"/>
            <a:ext cx="10353762" cy="5371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Perceptron with multiple features</a:t>
            </a:r>
            <a:endParaRPr lang="ko-KR" altLang="en-US" sz="2800" cap="none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B8A4F658-6D9D-07A5-F5AD-7783B226C84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42647" y="1427893"/>
                <a:ext cx="10706705" cy="1377273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Single Perceptron Neural Networks = </a:t>
                </a:r>
                <a:r>
                  <a:rPr lang="en-US" altLang="ko-KR" sz="1800" cap="none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Mutiple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Linear Regression</a:t>
                </a:r>
              </a:p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다중변수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(multiple input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선형변환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0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w</m:t>
                    </m:r>
                    <m:r>
                      <m:rPr>
                        <m:sty m:val="p"/>
                      </m:rPr>
                      <a:rPr lang="en-US" altLang="ko-KR" sz="1800" i="1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  <m: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+</m:t>
                    </m:r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b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</m:oMath>
                </a14:m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생성하는 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Perceptron</a:t>
                </a: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B8A4F658-6D9D-07A5-F5AD-7783B226C84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2647" y="1427893"/>
                <a:ext cx="10706705" cy="1377273"/>
              </a:xfrm>
              <a:blipFill>
                <a:blip r:embed="rId2"/>
                <a:stretch>
                  <a:fillRect l="-399" t="-221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>
            <a:extLst>
              <a:ext uri="{FF2B5EF4-FFF2-40B4-BE49-F238E27FC236}">
                <a16:creationId xmlns:a16="http://schemas.microsoft.com/office/drawing/2014/main" id="{052D6F70-4FDF-23ED-F1D3-92D182B79D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1928" y="2624259"/>
            <a:ext cx="6054374" cy="32947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그룹 7">
            <a:extLst>
              <a:ext uri="{FF2B5EF4-FFF2-40B4-BE49-F238E27FC236}">
                <a16:creationId xmlns:a16="http://schemas.microsoft.com/office/drawing/2014/main" id="{A2954695-EC8A-4B49-2BC8-B84F0379CE77}"/>
              </a:ext>
            </a:extLst>
          </p:cNvPr>
          <p:cNvGrpSpPr/>
          <p:nvPr/>
        </p:nvGrpSpPr>
        <p:grpSpPr>
          <a:xfrm>
            <a:off x="7850179" y="2624259"/>
            <a:ext cx="4172517" cy="2805848"/>
            <a:chOff x="7850179" y="2624259"/>
            <a:chExt cx="4172517" cy="2805848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5B00755-4DB1-2290-0D18-9768794AE216}"/>
                </a:ext>
              </a:extLst>
            </p:cNvPr>
            <p:cNvSpPr txBox="1"/>
            <p:nvPr/>
          </p:nvSpPr>
          <p:spPr>
            <a:xfrm>
              <a:off x="8533199" y="5091553"/>
              <a:ext cx="2887276" cy="338554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r>
                <a:rPr lang="en-US" altLang="ko-KR" sz="1600" dirty="0">
                  <a:latin typeface="+mj-ea"/>
                </a:rPr>
                <a:t>(n, 1) = (n, 3) @ (3, 1) + (n,1)</a:t>
              </a:r>
              <a:endParaRPr lang="ko-KR" altLang="en-US" sz="1600" dirty="0">
                <a:latin typeface="+mj-ea"/>
                <a:ea typeface="+mj-ea"/>
              </a:endParaRP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090AF9DB-ABDC-0C64-5932-6FEDD3D030B8}"/>
                </a:ext>
              </a:extLst>
            </p:cNvPr>
            <p:cNvSpPr txBox="1"/>
            <p:nvPr/>
          </p:nvSpPr>
          <p:spPr>
            <a:xfrm>
              <a:off x="8790862" y="2624259"/>
              <a:ext cx="247669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Matrix Formulation</a:t>
              </a:r>
              <a:endParaRPr lang="ko-KR" altLang="en-US" dirty="0"/>
            </a:p>
          </p:txBody>
        </p:sp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A45D8B4D-97A1-8C20-11EB-B9303DFACF7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850179" y="3573619"/>
              <a:ext cx="4172517" cy="1555134"/>
            </a:xfrm>
            <a:prstGeom prst="rect">
              <a:avLst/>
            </a:prstGeom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2879EF01-D57D-603E-DF74-20AFD060281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423045" y="3170262"/>
              <a:ext cx="3021634" cy="40335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728738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E2195A-C101-932F-8610-4893C4DC80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B995564-BD97-21C6-6B42-7669417E56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27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1D6D987-08B3-50BA-EA35-05B698C9BF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1299" y="66675"/>
            <a:ext cx="1619251" cy="1071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2CB4D1B1-1809-5299-176B-D944B350D241}"/>
              </a:ext>
            </a:extLst>
          </p:cNvPr>
          <p:cNvSpPr txBox="1">
            <a:spLocks/>
          </p:cNvSpPr>
          <p:nvPr/>
        </p:nvSpPr>
        <p:spPr>
          <a:xfrm>
            <a:off x="732820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Perceptron with multiple inputs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5C684B8-5B90-B3D1-01DC-60A8F11F888D}"/>
              </a:ext>
            </a:extLst>
          </p:cNvPr>
          <p:cNvSpPr/>
          <p:nvPr/>
        </p:nvSpPr>
        <p:spPr>
          <a:xfrm>
            <a:off x="9736637" y="2852488"/>
            <a:ext cx="800188" cy="95755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401503E9-78A3-7959-54FA-D30440C958FA}"/>
              </a:ext>
            </a:extLst>
          </p:cNvPr>
          <p:cNvSpPr/>
          <p:nvPr/>
        </p:nvSpPr>
        <p:spPr>
          <a:xfrm>
            <a:off x="6724650" y="3291892"/>
            <a:ext cx="359611" cy="359611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655E13F4-6625-2BB4-2662-0A9CF3F24314}"/>
              </a:ext>
            </a:extLst>
          </p:cNvPr>
          <p:cNvSpPr/>
          <p:nvPr/>
        </p:nvSpPr>
        <p:spPr>
          <a:xfrm>
            <a:off x="6724650" y="4064491"/>
            <a:ext cx="359611" cy="359611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F9928928-E5CC-DE86-013A-659A957A3EA7}"/>
              </a:ext>
            </a:extLst>
          </p:cNvPr>
          <p:cNvSpPr/>
          <p:nvPr/>
        </p:nvSpPr>
        <p:spPr>
          <a:xfrm>
            <a:off x="9928783" y="4067979"/>
            <a:ext cx="359611" cy="359611"/>
          </a:xfrm>
          <a:prstGeom prst="ellipse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7275A532-72B6-2029-79E5-D2E8FF7025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2027116"/>
              </p:ext>
            </p:extLst>
          </p:nvPr>
        </p:nvGraphicFramePr>
        <p:xfrm>
          <a:off x="9927447" y="5389203"/>
          <a:ext cx="418568" cy="36576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418568">
                  <a:extLst>
                    <a:ext uri="{9D8B030D-6E8A-4147-A177-3AD203B41FA5}">
                      <a16:colId xmlns:a16="http://schemas.microsoft.com/office/drawing/2014/main" val="1605265231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8536081"/>
                  </a:ext>
                </a:extLst>
              </a:tr>
            </a:tbl>
          </a:graphicData>
        </a:graphic>
      </p:graphicFrame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4054313C-0D5F-7F09-8047-CF7F7A791A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1539990"/>
              </p:ext>
            </p:extLst>
          </p:nvPr>
        </p:nvGraphicFramePr>
        <p:xfrm>
          <a:off x="7878670" y="4086782"/>
          <a:ext cx="1255704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8568">
                  <a:extLst>
                    <a:ext uri="{9D8B030D-6E8A-4147-A177-3AD203B41FA5}">
                      <a16:colId xmlns:a16="http://schemas.microsoft.com/office/drawing/2014/main" val="2693896945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1825580151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7419674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6663700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BAF13D76-54DA-560E-A244-0533C954BB60}"/>
              </a:ext>
            </a:extLst>
          </p:cNvPr>
          <p:cNvSpPr txBox="1"/>
          <p:nvPr/>
        </p:nvSpPr>
        <p:spPr>
          <a:xfrm>
            <a:off x="6429272" y="5805438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(1, 3)</a:t>
            </a:r>
            <a:endParaRPr lang="ko-KR" altLang="en-U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C7B811E-54E0-7F41-CFF2-65898EC5DCA0}"/>
              </a:ext>
            </a:extLst>
          </p:cNvPr>
          <p:cNvSpPr txBox="1"/>
          <p:nvPr/>
        </p:nvSpPr>
        <p:spPr>
          <a:xfrm>
            <a:off x="8054292" y="4534938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B26EEF5-2CC8-A4A8-7F98-07954DC578DF}"/>
              </a:ext>
            </a:extLst>
          </p:cNvPr>
          <p:cNvSpPr txBox="1"/>
          <p:nvPr/>
        </p:nvSpPr>
        <p:spPr>
          <a:xfrm>
            <a:off x="9672399" y="5805438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1)</a:t>
            </a:r>
            <a:endParaRPr lang="ko-KR" altLang="en-US" dirty="0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5259551B-C26A-20B9-7F5F-D4FACE392838}"/>
              </a:ext>
            </a:extLst>
          </p:cNvPr>
          <p:cNvSpPr/>
          <p:nvPr/>
        </p:nvSpPr>
        <p:spPr>
          <a:xfrm>
            <a:off x="6533544" y="2852488"/>
            <a:ext cx="4043315" cy="2424363"/>
          </a:xfrm>
          <a:prstGeom prst="rect">
            <a:avLst/>
          </a:prstGeom>
          <a:noFill/>
          <a:ln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003C2E5A-63A7-07DC-2569-69F6C578952C}"/>
              </a:ext>
            </a:extLst>
          </p:cNvPr>
          <p:cNvCxnSpPr/>
          <p:nvPr/>
        </p:nvCxnSpPr>
        <p:spPr>
          <a:xfrm>
            <a:off x="7333732" y="4248150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7CCBC0F6-F9D2-58E0-A33E-924C267BB976}"/>
              </a:ext>
            </a:extLst>
          </p:cNvPr>
          <p:cNvCxnSpPr/>
          <p:nvPr/>
        </p:nvCxnSpPr>
        <p:spPr>
          <a:xfrm>
            <a:off x="9314626" y="4248150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타원 47">
            <a:extLst>
              <a:ext uri="{FF2B5EF4-FFF2-40B4-BE49-F238E27FC236}">
                <a16:creationId xmlns:a16="http://schemas.microsoft.com/office/drawing/2014/main" id="{7A0CF3FF-E8CE-E2DB-592B-1F203F3B37EB}"/>
              </a:ext>
            </a:extLst>
          </p:cNvPr>
          <p:cNvSpPr/>
          <p:nvPr/>
        </p:nvSpPr>
        <p:spPr>
          <a:xfrm>
            <a:off x="6724649" y="4837091"/>
            <a:ext cx="359611" cy="359611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9" name="Picture 2">
            <a:extLst>
              <a:ext uri="{FF2B5EF4-FFF2-40B4-BE49-F238E27FC236}">
                <a16:creationId xmlns:a16="http://schemas.microsoft.com/office/drawing/2014/main" id="{547229B9-69F1-C4C7-90C2-33E6518175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5986" y="2874390"/>
            <a:ext cx="3730122" cy="20298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0A0352CD-D8FB-5996-8B97-248F753AB853}"/>
              </a:ext>
            </a:extLst>
          </p:cNvPr>
          <p:cNvSpPr txBox="1"/>
          <p:nvPr/>
        </p:nvSpPr>
        <p:spPr>
          <a:xfrm>
            <a:off x="552853" y="1169712"/>
            <a:ext cx="11086293" cy="115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입력값이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여러 개가 되어도 오차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기반으로 가중치를 수정한다는 본질적인 원리는 변하지 않으며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단지 이를 수학적으로 처리하기 위해 벡터 연산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(Vectorization)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도입될 뿐이다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점을 이해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개인 경우는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np.dot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함수의 사용법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브로드캐스팅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(Broadcasting)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개념을 이해하고 있는지 확인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aphicFrame>
        <p:nvGraphicFramePr>
          <p:cNvPr id="51" name="표 50">
            <a:extLst>
              <a:ext uri="{FF2B5EF4-FFF2-40B4-BE49-F238E27FC236}">
                <a16:creationId xmlns:a16="http://schemas.microsoft.com/office/drawing/2014/main" id="{9C5AA702-E091-89BA-BC12-1570CF7BC6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8063012"/>
              </p:ext>
            </p:extLst>
          </p:nvPr>
        </p:nvGraphicFramePr>
        <p:xfrm>
          <a:off x="6533544" y="5389203"/>
          <a:ext cx="1255704" cy="36576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418568">
                  <a:extLst>
                    <a:ext uri="{9D8B030D-6E8A-4147-A177-3AD203B41FA5}">
                      <a16:colId xmlns:a16="http://schemas.microsoft.com/office/drawing/2014/main" val="2939671243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2414763620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1605265231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8536081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320A0735-AEE3-886D-DA14-6E47F6196B7C}"/>
                  </a:ext>
                </a:extLst>
              </p:cNvPr>
              <p:cNvSpPr txBox="1"/>
              <p:nvPr/>
            </p:nvSpPr>
            <p:spPr>
              <a:xfrm>
                <a:off x="6690964" y="2858322"/>
                <a:ext cx="39921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200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320A0735-AEE3-886D-DA14-6E47F6196B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90964" y="2858322"/>
                <a:ext cx="399212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D9C3FF16-9362-36FF-9D84-F885DA3293FF}"/>
                  </a:ext>
                </a:extLst>
              </p:cNvPr>
              <p:cNvSpPr txBox="1"/>
              <p:nvPr/>
            </p:nvSpPr>
            <p:spPr>
              <a:xfrm>
                <a:off x="8289981" y="2858322"/>
                <a:ext cx="44678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2000" i="1" smtClean="0">
                          <a:latin typeface="Cambria Math" panose="02040503050406030204" pitchFamily="18" charset="0"/>
                        </a:rPr>
                        <m:t>𝜔</m:t>
                      </m:r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D9C3FF16-9362-36FF-9D84-F885DA3293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89981" y="2858322"/>
                <a:ext cx="446789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4E2D4F01-4FCC-6991-D0D5-A9DE9B94D7D8}"/>
                  </a:ext>
                </a:extLst>
              </p:cNvPr>
              <p:cNvSpPr txBox="1"/>
              <p:nvPr/>
            </p:nvSpPr>
            <p:spPr>
              <a:xfrm>
                <a:off x="9950583" y="2858322"/>
                <a:ext cx="403828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200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4E2D4F01-4FCC-6991-D0D5-A9DE9B94D7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0583" y="2858322"/>
                <a:ext cx="403828" cy="400110"/>
              </a:xfrm>
              <a:prstGeom prst="rect">
                <a:avLst/>
              </a:prstGeom>
              <a:blipFill>
                <a:blip r:embed="rId6"/>
                <a:stretch>
                  <a:fillRect b="-909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79157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2" grpId="0" animBg="1"/>
      <p:bldP spid="30" grpId="0"/>
      <p:bldP spid="31" grpId="0"/>
      <p:bldP spid="32" grpId="0"/>
      <p:bldP spid="4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927C81-30CB-EDE9-6212-0D942057C6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3607E33-0636-3735-D4F5-750A6D09C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8BD5731-632F-3F50-6F85-82B8C5057E0B}"/>
              </a:ext>
            </a:extLst>
          </p:cNvPr>
          <p:cNvSpPr txBox="1">
            <a:spLocks/>
          </p:cNvSpPr>
          <p:nvPr/>
        </p:nvSpPr>
        <p:spPr>
          <a:xfrm>
            <a:off x="424266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Matrix inner product computation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in a Neural net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D13FEBC-94D7-DD9B-28BB-433C56FB71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794" y="2121512"/>
            <a:ext cx="9329333" cy="373649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26582C1-F7CE-8FEA-E957-3A95C7929EFD}"/>
              </a:ext>
            </a:extLst>
          </p:cNvPr>
          <p:cNvSpPr txBox="1"/>
          <p:nvPr/>
        </p:nvSpPr>
        <p:spPr>
          <a:xfrm>
            <a:off x="6369851" y="2102077"/>
            <a:ext cx="391325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Lecture 01. Introduction to Deep Learning</a:t>
            </a:r>
            <a:endParaRPr lang="ko-KR" altLang="en-US" sz="16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C90E37-2EBD-CE68-3397-3E76743F473A}"/>
              </a:ext>
            </a:extLst>
          </p:cNvPr>
          <p:cNvSpPr txBox="1"/>
          <p:nvPr/>
        </p:nvSpPr>
        <p:spPr>
          <a:xfrm>
            <a:off x="1533998" y="5781305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(1, 8)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3F4D08A-479C-7D67-9E15-39421C53D104}"/>
              </a:ext>
            </a:extLst>
          </p:cNvPr>
          <p:cNvSpPr txBox="1"/>
          <p:nvPr/>
        </p:nvSpPr>
        <p:spPr>
          <a:xfrm>
            <a:off x="4013960" y="5781305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(1,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422C84D-83A8-13A8-D900-5E6EFBAF94A6}"/>
              </a:ext>
            </a:extLst>
          </p:cNvPr>
          <p:cNvSpPr txBox="1"/>
          <p:nvPr/>
        </p:nvSpPr>
        <p:spPr>
          <a:xfrm>
            <a:off x="2399149" y="5781305"/>
            <a:ext cx="121742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@    (8,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4736D2F-7D17-30B0-E491-1CF12BD60250}"/>
              </a:ext>
            </a:extLst>
          </p:cNvPr>
          <p:cNvSpPr txBox="1"/>
          <p:nvPr/>
        </p:nvSpPr>
        <p:spPr>
          <a:xfrm>
            <a:off x="1533998" y="5394996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(1, 8)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8AC73F7-315B-C259-3295-AD3A2092910C}"/>
              </a:ext>
            </a:extLst>
          </p:cNvPr>
          <p:cNvSpPr txBox="1"/>
          <p:nvPr/>
        </p:nvSpPr>
        <p:spPr>
          <a:xfrm>
            <a:off x="4013960" y="5394996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(1, 8)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76B441A-C44F-5EC4-74B9-3BDB0FE77125}"/>
              </a:ext>
            </a:extLst>
          </p:cNvPr>
          <p:cNvSpPr txBox="1"/>
          <p:nvPr/>
        </p:nvSpPr>
        <p:spPr>
          <a:xfrm>
            <a:off x="2426858" y="5394996"/>
            <a:ext cx="11897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@    (8,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8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  <a:endParaRPr lang="ko-KR" altLang="en-US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F96A2044-660E-10D6-EE0C-10183DDC18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0599" y="4350737"/>
            <a:ext cx="4156025" cy="152670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929EF98-EFA3-BF16-0472-A422519E267E}"/>
              </a:ext>
            </a:extLst>
          </p:cNvPr>
          <p:cNvSpPr txBox="1"/>
          <p:nvPr/>
        </p:nvSpPr>
        <p:spPr>
          <a:xfrm>
            <a:off x="488921" y="1390135"/>
            <a:ext cx="105023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딥러닝 프레임워크</a:t>
            </a:r>
            <a:r>
              <a:rPr lang="en-US" altLang="ko-KR" dirty="0"/>
              <a:t>(</a:t>
            </a:r>
            <a:r>
              <a:rPr lang="en-US" altLang="ko-KR" dirty="0" err="1"/>
              <a:t>PyTorch</a:t>
            </a:r>
            <a:r>
              <a:rPr lang="en-US" altLang="ko-KR" dirty="0"/>
              <a:t>, TensorFlow </a:t>
            </a:r>
            <a:r>
              <a:rPr lang="ko-KR" altLang="en-US" dirty="0"/>
              <a:t>등</a:t>
            </a:r>
            <a:r>
              <a:rPr lang="en-US" altLang="ko-KR" dirty="0"/>
              <a:t>)</a:t>
            </a:r>
            <a:r>
              <a:rPr lang="ko-KR" altLang="en-US" dirty="0"/>
              <a:t>에서 병렬 계산</a:t>
            </a:r>
            <a:r>
              <a:rPr lang="en-US" altLang="ko-KR" dirty="0"/>
              <a:t>(</a:t>
            </a:r>
            <a:r>
              <a:rPr lang="en-US" altLang="ko-KR" dirty="0">
                <a:hlinkClick r:id="rId5"/>
              </a:rPr>
              <a:t>GPU</a:t>
            </a:r>
            <a:r>
              <a:rPr lang="en-US" altLang="ko-KR" dirty="0"/>
              <a:t>)</a:t>
            </a:r>
            <a:r>
              <a:rPr lang="ko-KR" altLang="en-US" dirty="0"/>
              <a:t>을 수행</a:t>
            </a:r>
          </a:p>
        </p:txBody>
      </p:sp>
    </p:spTree>
    <p:extLst>
      <p:ext uri="{BB962C8B-B14F-4D97-AF65-F5344CB8AC3E}">
        <p14:creationId xmlns:p14="http://schemas.microsoft.com/office/powerpoint/2010/main" val="11024296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  <p:bldP spid="11" grpId="0"/>
      <p:bldP spid="12" grpId="0"/>
      <p:bldP spid="13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4DBFD-E35C-4B0C-7644-3EF344FF46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36122894-6B44-50FD-A9F6-BFEEEEC21321}"/>
              </a:ext>
            </a:extLst>
          </p:cNvPr>
          <p:cNvSpPr/>
          <p:nvPr/>
        </p:nvSpPr>
        <p:spPr>
          <a:xfrm>
            <a:off x="734002" y="311528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5DD6DC20-69FA-F69A-9991-1E8F8C18C0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3F105E9E-C4A3-4441-3A06-006B70370A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29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7DA969B-4A8C-CDBB-5DF9-6C3855931BB7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23243425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25FF96-AFFC-CB97-69B7-FCC1654175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타원 1">
            <a:extLst>
              <a:ext uri="{FF2B5EF4-FFF2-40B4-BE49-F238E27FC236}">
                <a16:creationId xmlns:a16="http://schemas.microsoft.com/office/drawing/2014/main" id="{52C9EC11-B3B9-FE8D-9EDF-93DAE752A596}"/>
              </a:ext>
            </a:extLst>
          </p:cNvPr>
          <p:cNvSpPr/>
          <p:nvPr/>
        </p:nvSpPr>
        <p:spPr>
          <a:xfrm>
            <a:off x="5863972" y="2883570"/>
            <a:ext cx="2818799" cy="281879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61450C-758E-5DB8-ECB4-A2C14D85B4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677AF110-24A1-8FC5-BE25-6FC4F14B084D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Artificial Neural Network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EB543BC5-EFBD-D448-8727-31DEFAAE453E}"/>
              </a:ext>
            </a:extLst>
          </p:cNvPr>
          <p:cNvGrpSpPr/>
          <p:nvPr/>
        </p:nvGrpSpPr>
        <p:grpSpPr>
          <a:xfrm>
            <a:off x="1197855" y="1981201"/>
            <a:ext cx="10316619" cy="4469792"/>
            <a:chOff x="1350255" y="2204864"/>
            <a:chExt cx="9430539" cy="415842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직사각형 2">
                  <a:extLst>
                    <a:ext uri="{FF2B5EF4-FFF2-40B4-BE49-F238E27FC236}">
                      <a16:creationId xmlns:a16="http://schemas.microsoft.com/office/drawing/2014/main" id="{0BA022F1-8FD0-4A5E-B71C-3CC805BC1E2A}"/>
                    </a:ext>
                  </a:extLst>
                </p:cNvPr>
                <p:cNvSpPr/>
                <p:nvPr/>
              </p:nvSpPr>
              <p:spPr>
                <a:xfrm>
                  <a:off x="1836737" y="2981023"/>
                  <a:ext cx="479279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3" name="직사각형 2">
                  <a:extLst>
                    <a:ext uri="{FF2B5EF4-FFF2-40B4-BE49-F238E27FC236}">
                      <a16:creationId xmlns:a16="http://schemas.microsoft.com/office/drawing/2014/main" id="{0BA022F1-8FD0-4A5E-B71C-3CC805BC1E2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36737" y="2981023"/>
                  <a:ext cx="479279" cy="372238"/>
                </a:xfrm>
                <a:prstGeom prst="rect">
                  <a:avLst/>
                </a:prstGeom>
                <a:blipFill>
                  <a:blip r:embed="rId2"/>
                  <a:stretch>
                    <a:fillRect b="-3077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직사각형 4">
                  <a:extLst>
                    <a:ext uri="{FF2B5EF4-FFF2-40B4-BE49-F238E27FC236}">
                      <a16:creationId xmlns:a16="http://schemas.microsoft.com/office/drawing/2014/main" id="{A5557686-AD94-E110-230C-C46FFBE83A57}"/>
                    </a:ext>
                  </a:extLst>
                </p:cNvPr>
                <p:cNvSpPr/>
                <p:nvPr/>
              </p:nvSpPr>
              <p:spPr>
                <a:xfrm>
                  <a:off x="1836737" y="3451964"/>
                  <a:ext cx="484729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5" name="직사각형 4">
                  <a:extLst>
                    <a:ext uri="{FF2B5EF4-FFF2-40B4-BE49-F238E27FC236}">
                      <a16:creationId xmlns:a16="http://schemas.microsoft.com/office/drawing/2014/main" id="{A5557686-AD94-E110-230C-C46FFBE83A5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36737" y="3451964"/>
                  <a:ext cx="484729" cy="372238"/>
                </a:xfrm>
                <a:prstGeom prst="rect">
                  <a:avLst/>
                </a:prstGeom>
                <a:blipFill>
                  <a:blip r:embed="rId4"/>
                  <a:stretch>
                    <a:fillRect b="-1515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직사각형 5">
                  <a:extLst>
                    <a:ext uri="{FF2B5EF4-FFF2-40B4-BE49-F238E27FC236}">
                      <a16:creationId xmlns:a16="http://schemas.microsoft.com/office/drawing/2014/main" id="{AB7E4F7F-0241-B573-E80F-D5CAAE74F6B4}"/>
                    </a:ext>
                  </a:extLst>
                </p:cNvPr>
                <p:cNvSpPr/>
                <p:nvPr/>
              </p:nvSpPr>
              <p:spPr>
                <a:xfrm>
                  <a:off x="1836737" y="5258831"/>
                  <a:ext cx="499382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6" name="직사각형 5">
                  <a:extLst>
                    <a:ext uri="{FF2B5EF4-FFF2-40B4-BE49-F238E27FC236}">
                      <a16:creationId xmlns:a16="http://schemas.microsoft.com/office/drawing/2014/main" id="{AB7E4F7F-0241-B573-E80F-D5CAAE74F6B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36737" y="5258831"/>
                  <a:ext cx="499382" cy="372238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직사각형 6">
                  <a:extLst>
                    <a:ext uri="{FF2B5EF4-FFF2-40B4-BE49-F238E27FC236}">
                      <a16:creationId xmlns:a16="http://schemas.microsoft.com/office/drawing/2014/main" id="{765127C1-AFC0-DCA5-920B-9EB79DB3402F}"/>
                    </a:ext>
                  </a:extLst>
                </p:cNvPr>
                <p:cNvSpPr/>
                <p:nvPr/>
              </p:nvSpPr>
              <p:spPr>
                <a:xfrm>
                  <a:off x="1880697" y="3769967"/>
                  <a:ext cx="363693" cy="48677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7" name="직사각형 6">
                  <a:extLst>
                    <a:ext uri="{FF2B5EF4-FFF2-40B4-BE49-F238E27FC236}">
                      <a16:creationId xmlns:a16="http://schemas.microsoft.com/office/drawing/2014/main" id="{765127C1-AFC0-DCA5-920B-9EB79DB3402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80697" y="3769967"/>
                  <a:ext cx="363693" cy="486773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직사각형 7">
                  <a:extLst>
                    <a:ext uri="{FF2B5EF4-FFF2-40B4-BE49-F238E27FC236}">
                      <a16:creationId xmlns:a16="http://schemas.microsoft.com/office/drawing/2014/main" id="{A02A834B-BF33-8BF1-8B8C-FD7D9BCB2573}"/>
                    </a:ext>
                  </a:extLst>
                </p:cNvPr>
                <p:cNvSpPr/>
                <p:nvPr/>
              </p:nvSpPr>
              <p:spPr>
                <a:xfrm>
                  <a:off x="1874834" y="4109200"/>
                  <a:ext cx="363693" cy="48677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8" name="직사각형 7">
                  <a:extLst>
                    <a:ext uri="{FF2B5EF4-FFF2-40B4-BE49-F238E27FC236}">
                      <a16:creationId xmlns:a16="http://schemas.microsoft.com/office/drawing/2014/main" id="{A02A834B-BF33-8BF1-8B8C-FD7D9BCB257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74834" y="4109200"/>
                  <a:ext cx="363693" cy="486773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직사각형 8">
                  <a:extLst>
                    <a:ext uri="{FF2B5EF4-FFF2-40B4-BE49-F238E27FC236}">
                      <a16:creationId xmlns:a16="http://schemas.microsoft.com/office/drawing/2014/main" id="{D6CD8DFA-6CD0-F1F7-488F-544797BA94D3}"/>
                    </a:ext>
                  </a:extLst>
                </p:cNvPr>
                <p:cNvSpPr/>
                <p:nvPr/>
              </p:nvSpPr>
              <p:spPr>
                <a:xfrm>
                  <a:off x="1879359" y="4838960"/>
                  <a:ext cx="363693" cy="48677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9" name="직사각형 8">
                  <a:extLst>
                    <a:ext uri="{FF2B5EF4-FFF2-40B4-BE49-F238E27FC236}">
                      <a16:creationId xmlns:a16="http://schemas.microsoft.com/office/drawing/2014/main" id="{D6CD8DFA-6CD0-F1F7-488F-544797BA94D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79359" y="4838960"/>
                  <a:ext cx="363693" cy="486773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0" name="순서도: 가산 접합 9">
              <a:extLst>
                <a:ext uri="{FF2B5EF4-FFF2-40B4-BE49-F238E27FC236}">
                  <a16:creationId xmlns:a16="http://schemas.microsoft.com/office/drawing/2014/main" id="{0F64D008-769D-7306-6D0B-03CB6D1A5CF2}"/>
                </a:ext>
              </a:extLst>
            </p:cNvPr>
            <p:cNvSpPr/>
            <p:nvPr/>
          </p:nvSpPr>
          <p:spPr bwMode="auto">
            <a:xfrm>
              <a:off x="3721080" y="3196809"/>
              <a:ext cx="239660" cy="239660"/>
            </a:xfrm>
            <a:prstGeom prst="flowChartSummingJunction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11" name="순서도: 가산 접합 10">
              <a:extLst>
                <a:ext uri="{FF2B5EF4-FFF2-40B4-BE49-F238E27FC236}">
                  <a16:creationId xmlns:a16="http://schemas.microsoft.com/office/drawing/2014/main" id="{00BA48F0-4BB3-0BA3-DA8E-666758CAB44F}"/>
                </a:ext>
              </a:extLst>
            </p:cNvPr>
            <p:cNvSpPr/>
            <p:nvPr/>
          </p:nvSpPr>
          <p:spPr bwMode="auto">
            <a:xfrm>
              <a:off x="3721080" y="3731768"/>
              <a:ext cx="239660" cy="239660"/>
            </a:xfrm>
            <a:prstGeom prst="flowChartSummingJunction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12" name="순서도: 가산 접합 11">
              <a:extLst>
                <a:ext uri="{FF2B5EF4-FFF2-40B4-BE49-F238E27FC236}">
                  <a16:creationId xmlns:a16="http://schemas.microsoft.com/office/drawing/2014/main" id="{E3C9CA5A-281B-B879-F18C-A775762C250F}"/>
                </a:ext>
              </a:extLst>
            </p:cNvPr>
            <p:cNvSpPr/>
            <p:nvPr/>
          </p:nvSpPr>
          <p:spPr bwMode="auto">
            <a:xfrm>
              <a:off x="3721080" y="5189069"/>
              <a:ext cx="239660" cy="239660"/>
            </a:xfrm>
            <a:prstGeom prst="flowChartSummingJunction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cxnSp>
          <p:nvCxnSpPr>
            <p:cNvPr id="13" name="구부러진 연결선 42">
              <a:extLst>
                <a:ext uri="{FF2B5EF4-FFF2-40B4-BE49-F238E27FC236}">
                  <a16:creationId xmlns:a16="http://schemas.microsoft.com/office/drawing/2014/main" id="{50841188-01D3-E4E6-137B-CFB73F38D28A}"/>
                </a:ext>
              </a:extLst>
            </p:cNvPr>
            <p:cNvCxnSpPr>
              <a:stCxn id="3" idx="3"/>
              <a:endCxn id="10" idx="3"/>
            </p:cNvCxnSpPr>
            <p:nvPr/>
          </p:nvCxnSpPr>
          <p:spPr bwMode="auto">
            <a:xfrm>
              <a:off x="2316016" y="3167142"/>
              <a:ext cx="1440161" cy="234231"/>
            </a:xfrm>
            <a:prstGeom prst="curvedConnector4">
              <a:avLst>
                <a:gd name="adj1" fmla="val 48781"/>
                <a:gd name="adj2" fmla="val 190798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14" name="구부러진 연결선 43">
              <a:extLst>
                <a:ext uri="{FF2B5EF4-FFF2-40B4-BE49-F238E27FC236}">
                  <a16:creationId xmlns:a16="http://schemas.microsoft.com/office/drawing/2014/main" id="{3FF70D99-D749-9F13-5511-F2A78F86D774}"/>
                </a:ext>
              </a:extLst>
            </p:cNvPr>
            <p:cNvCxnSpPr>
              <a:stCxn id="5" idx="3"/>
              <a:endCxn id="11" idx="3"/>
            </p:cNvCxnSpPr>
            <p:nvPr/>
          </p:nvCxnSpPr>
          <p:spPr bwMode="auto">
            <a:xfrm>
              <a:off x="2321465" y="3638084"/>
              <a:ext cx="1434712" cy="298247"/>
            </a:xfrm>
            <a:prstGeom prst="curvedConnector4">
              <a:avLst>
                <a:gd name="adj1" fmla="val 48777"/>
                <a:gd name="adj2" fmla="val 171308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15" name="구부러진 연결선 44">
              <a:extLst>
                <a:ext uri="{FF2B5EF4-FFF2-40B4-BE49-F238E27FC236}">
                  <a16:creationId xmlns:a16="http://schemas.microsoft.com/office/drawing/2014/main" id="{F929EBCB-93A1-CCC5-C4E9-762F65D233D6}"/>
                </a:ext>
              </a:extLst>
            </p:cNvPr>
            <p:cNvCxnSpPr>
              <a:stCxn id="6" idx="3"/>
              <a:endCxn id="12" idx="1"/>
            </p:cNvCxnSpPr>
            <p:nvPr/>
          </p:nvCxnSpPr>
          <p:spPr bwMode="auto">
            <a:xfrm flipV="1">
              <a:off x="2336119" y="5224166"/>
              <a:ext cx="1420058" cy="220785"/>
            </a:xfrm>
            <a:prstGeom prst="curvedConnector4">
              <a:avLst>
                <a:gd name="adj1" fmla="val 48764"/>
                <a:gd name="adj2" fmla="val 212224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직사각형 15">
                  <a:extLst>
                    <a:ext uri="{FF2B5EF4-FFF2-40B4-BE49-F238E27FC236}">
                      <a16:creationId xmlns:a16="http://schemas.microsoft.com/office/drawing/2014/main" id="{CA988A9C-97DC-CF1F-008D-2B82CB1E30B1}"/>
                    </a:ext>
                  </a:extLst>
                </p:cNvPr>
                <p:cNvSpPr/>
                <p:nvPr/>
              </p:nvSpPr>
              <p:spPr>
                <a:xfrm>
                  <a:off x="3683433" y="4085735"/>
                  <a:ext cx="335852" cy="429505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16" name="직사각형 15">
                  <a:extLst>
                    <a:ext uri="{FF2B5EF4-FFF2-40B4-BE49-F238E27FC236}">
                      <a16:creationId xmlns:a16="http://schemas.microsoft.com/office/drawing/2014/main" id="{CA988A9C-97DC-CF1F-008D-2B82CB1E30B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83433" y="4085735"/>
                  <a:ext cx="335852" cy="429505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직사각형 16">
                  <a:extLst>
                    <a:ext uri="{FF2B5EF4-FFF2-40B4-BE49-F238E27FC236}">
                      <a16:creationId xmlns:a16="http://schemas.microsoft.com/office/drawing/2014/main" id="{3FC42BDE-F8D7-BA93-7AC7-498EA4FE4FDF}"/>
                    </a:ext>
                  </a:extLst>
                </p:cNvPr>
                <p:cNvSpPr/>
                <p:nvPr/>
              </p:nvSpPr>
              <p:spPr>
                <a:xfrm>
                  <a:off x="3687958" y="4815495"/>
                  <a:ext cx="335852" cy="429505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17" name="직사각형 16">
                  <a:extLst>
                    <a:ext uri="{FF2B5EF4-FFF2-40B4-BE49-F238E27FC236}">
                      <a16:creationId xmlns:a16="http://schemas.microsoft.com/office/drawing/2014/main" id="{3FC42BDE-F8D7-BA93-7AC7-498EA4FE4FD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87958" y="4815495"/>
                  <a:ext cx="335852" cy="429505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구부러진 연결선 48">
              <a:extLst>
                <a:ext uri="{FF2B5EF4-FFF2-40B4-BE49-F238E27FC236}">
                  <a16:creationId xmlns:a16="http://schemas.microsoft.com/office/drawing/2014/main" id="{3EE8D7C1-70B2-DCD2-5375-E1D2B0D1C102}"/>
                </a:ext>
              </a:extLst>
            </p:cNvPr>
            <p:cNvCxnSpPr>
              <a:cxnSpLocks/>
              <a:stCxn id="10" idx="6"/>
            </p:cNvCxnSpPr>
            <p:nvPr/>
          </p:nvCxnSpPr>
          <p:spPr bwMode="auto">
            <a:xfrm>
              <a:off x="3960740" y="3316640"/>
              <a:ext cx="1503451" cy="826867"/>
            </a:xfrm>
            <a:prstGeom prst="curvedConnector3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19" name="구부러진 연결선 49">
              <a:extLst>
                <a:ext uri="{FF2B5EF4-FFF2-40B4-BE49-F238E27FC236}">
                  <a16:creationId xmlns:a16="http://schemas.microsoft.com/office/drawing/2014/main" id="{FDD4B62A-0F4E-E32A-3047-FF2D47788CE3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018232" y="3931168"/>
              <a:ext cx="1477742" cy="394206"/>
            </a:xfrm>
            <a:prstGeom prst="curvedConnector3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20" name="구부러진 연결선 50">
              <a:extLst>
                <a:ext uri="{FF2B5EF4-FFF2-40B4-BE49-F238E27FC236}">
                  <a16:creationId xmlns:a16="http://schemas.microsoft.com/office/drawing/2014/main" id="{3FCB277F-BE1B-CF65-D449-699DF35B2C00}"/>
                </a:ext>
              </a:extLst>
            </p:cNvPr>
            <p:cNvCxnSpPr>
              <a:cxnSpLocks/>
              <a:stCxn id="12" idx="6"/>
            </p:cNvCxnSpPr>
            <p:nvPr/>
          </p:nvCxnSpPr>
          <p:spPr bwMode="auto">
            <a:xfrm flipV="1">
              <a:off x="3960740" y="4515239"/>
              <a:ext cx="1535235" cy="793660"/>
            </a:xfrm>
            <a:prstGeom prst="curvedConnector3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74D2B819-BF22-6A6D-06CA-3078CBC06CAF}"/>
                </a:ext>
              </a:extLst>
            </p:cNvPr>
            <p:cNvSpPr/>
            <p:nvPr/>
          </p:nvSpPr>
          <p:spPr>
            <a:xfrm>
              <a:off x="3683433" y="4517878"/>
              <a:ext cx="857507" cy="31497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6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rPr>
                <a:t>multiply</a:t>
              </a:r>
              <a:endPara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590E1639-7D7E-6712-FF30-CB83F617C535}"/>
                </a:ext>
              </a:extLst>
            </p:cNvPr>
            <p:cNvSpPr/>
            <p:nvPr/>
          </p:nvSpPr>
          <p:spPr bwMode="auto">
            <a:xfrm>
              <a:off x="5762272" y="3847869"/>
              <a:ext cx="1143001" cy="955008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dash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직사각형 22">
                  <a:extLst>
                    <a:ext uri="{FF2B5EF4-FFF2-40B4-BE49-F238E27FC236}">
                      <a16:creationId xmlns:a16="http://schemas.microsoft.com/office/drawing/2014/main" id="{5A50B49F-C157-0126-A490-361220004B5D}"/>
                    </a:ext>
                  </a:extLst>
                </p:cNvPr>
                <p:cNvSpPr/>
                <p:nvPr/>
              </p:nvSpPr>
              <p:spPr>
                <a:xfrm>
                  <a:off x="4431276" y="3167142"/>
                  <a:ext cx="729965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3" name="직사각형 22">
                  <a:extLst>
                    <a:ext uri="{FF2B5EF4-FFF2-40B4-BE49-F238E27FC236}">
                      <a16:creationId xmlns:a16="http://schemas.microsoft.com/office/drawing/2014/main" id="{5A50B49F-C157-0126-A490-361220004B5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1276" y="3167142"/>
                  <a:ext cx="729965" cy="372238"/>
                </a:xfrm>
                <a:prstGeom prst="rect">
                  <a:avLst/>
                </a:prstGeom>
                <a:blipFill>
                  <a:blip r:embed="rId11"/>
                  <a:stretch>
                    <a:fillRect b="-3077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8673C766-9F9B-C9AA-47F6-429BFD243E1C}"/>
                    </a:ext>
                  </a:extLst>
                </p:cNvPr>
                <p:cNvSpPr txBox="1"/>
                <p:nvPr/>
              </p:nvSpPr>
              <p:spPr>
                <a:xfrm>
                  <a:off x="5943122" y="3933683"/>
                  <a:ext cx="781286" cy="78176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nary>
                          <m:naryPr>
                            <m:chr m:val="∑"/>
                            <m:ctrlPr>
                              <a:rPr kumimoji="0" lang="pt-BR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kumimoji="0" lang="pt-BR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  <m:e>
                            <m:sSub>
                              <m:sSubPr>
                                <m:ctrlP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kumimoji="0" lang="en-US" altLang="ko-KR" sz="20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0" lang="en-US" altLang="ko-KR" sz="20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nary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8673C766-9F9B-C9AA-47F6-429BFD243E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43122" y="3933683"/>
                  <a:ext cx="781286" cy="781760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직사각형 24">
                  <a:extLst>
                    <a:ext uri="{FF2B5EF4-FFF2-40B4-BE49-F238E27FC236}">
                      <a16:creationId xmlns:a16="http://schemas.microsoft.com/office/drawing/2014/main" id="{D31C287D-8A01-9D77-04EF-C7AD720660CD}"/>
                    </a:ext>
                  </a:extLst>
                </p:cNvPr>
                <p:cNvSpPr/>
                <p:nvPr/>
              </p:nvSpPr>
              <p:spPr>
                <a:xfrm>
                  <a:off x="3228015" y="2858255"/>
                  <a:ext cx="308435" cy="372238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5" name="직사각형 24">
                  <a:extLst>
                    <a:ext uri="{FF2B5EF4-FFF2-40B4-BE49-F238E27FC236}">
                      <a16:creationId xmlns:a16="http://schemas.microsoft.com/office/drawing/2014/main" id="{D31C287D-8A01-9D77-04EF-C7AD720660C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28015" y="2858255"/>
                  <a:ext cx="308435" cy="372238"/>
                </a:xfrm>
                <a:prstGeom prst="rect">
                  <a:avLst/>
                </a:prstGeom>
                <a:blipFill>
                  <a:blip r:embed="rId13"/>
                  <a:stretch>
                    <a:fillRect r="-26786" b="-303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직사각형 25">
                  <a:extLst>
                    <a:ext uri="{FF2B5EF4-FFF2-40B4-BE49-F238E27FC236}">
                      <a16:creationId xmlns:a16="http://schemas.microsoft.com/office/drawing/2014/main" id="{2D8134EE-E7DF-5E0E-831A-A504730F9ECE}"/>
                    </a:ext>
                  </a:extLst>
                </p:cNvPr>
                <p:cNvSpPr/>
                <p:nvPr/>
              </p:nvSpPr>
              <p:spPr>
                <a:xfrm>
                  <a:off x="3195530" y="5439637"/>
                  <a:ext cx="339326" cy="372238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6" name="직사각형 25">
                  <a:extLst>
                    <a:ext uri="{FF2B5EF4-FFF2-40B4-BE49-F238E27FC236}">
                      <a16:creationId xmlns:a16="http://schemas.microsoft.com/office/drawing/2014/main" id="{2D8134EE-E7DF-5E0E-831A-A504730F9EC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95530" y="5439637"/>
                  <a:ext cx="339326" cy="372238"/>
                </a:xfrm>
                <a:prstGeom prst="rect">
                  <a:avLst/>
                </a:prstGeom>
                <a:blipFill>
                  <a:blip r:embed="rId14"/>
                  <a:stretch>
                    <a:fillRect r="-14754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7" name="구부러진 연결선 57">
              <a:extLst>
                <a:ext uri="{FF2B5EF4-FFF2-40B4-BE49-F238E27FC236}">
                  <a16:creationId xmlns:a16="http://schemas.microsoft.com/office/drawing/2014/main" id="{5C4B62FE-1BB2-01D6-82B6-95D45450CA87}"/>
                </a:ext>
              </a:extLst>
            </p:cNvPr>
            <p:cNvCxnSpPr>
              <a:stCxn id="25" idx="3"/>
              <a:endCxn id="10" idx="0"/>
            </p:cNvCxnSpPr>
            <p:nvPr/>
          </p:nvCxnSpPr>
          <p:spPr bwMode="auto">
            <a:xfrm>
              <a:off x="3536450" y="3044374"/>
              <a:ext cx="304459" cy="152435"/>
            </a:xfrm>
            <a:prstGeom prst="curvedConnector2">
              <a:avLst/>
            </a:prstGeom>
            <a:ln>
              <a:headEnd type="none" w="med" len="med"/>
              <a:tailEnd type="triangle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28" name="구부러진 연결선 58">
              <a:extLst>
                <a:ext uri="{FF2B5EF4-FFF2-40B4-BE49-F238E27FC236}">
                  <a16:creationId xmlns:a16="http://schemas.microsoft.com/office/drawing/2014/main" id="{A1EF489C-9CAC-6D46-19EC-229547969917}"/>
                </a:ext>
              </a:extLst>
            </p:cNvPr>
            <p:cNvCxnSpPr>
              <a:stCxn id="26" idx="3"/>
              <a:endCxn id="12" idx="4"/>
            </p:cNvCxnSpPr>
            <p:nvPr/>
          </p:nvCxnSpPr>
          <p:spPr bwMode="auto">
            <a:xfrm flipV="1">
              <a:off x="3534856" y="5428730"/>
              <a:ext cx="306054" cy="197026"/>
            </a:xfrm>
            <a:prstGeom prst="curvedConnector2">
              <a:avLst/>
            </a:prstGeom>
            <a:ln>
              <a:headEnd type="none" w="med" len="med"/>
              <a:tailEnd type="triangle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직사각형 28">
                  <a:extLst>
                    <a:ext uri="{FF2B5EF4-FFF2-40B4-BE49-F238E27FC236}">
                      <a16:creationId xmlns:a16="http://schemas.microsoft.com/office/drawing/2014/main" id="{BB956F26-98D0-99CD-A8EA-F48BE61F0415}"/>
                    </a:ext>
                  </a:extLst>
                </p:cNvPr>
                <p:cNvSpPr/>
                <p:nvPr/>
              </p:nvSpPr>
              <p:spPr>
                <a:xfrm>
                  <a:off x="4301116" y="5142902"/>
                  <a:ext cx="763081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9" name="직사각형 28">
                  <a:extLst>
                    <a:ext uri="{FF2B5EF4-FFF2-40B4-BE49-F238E27FC236}">
                      <a16:creationId xmlns:a16="http://schemas.microsoft.com/office/drawing/2014/main" id="{BB956F26-98D0-99CD-A8EA-F48BE61F041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01116" y="5142902"/>
                  <a:ext cx="763081" cy="372238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직선 화살표 연결선 29">
              <a:extLst>
                <a:ext uri="{FF2B5EF4-FFF2-40B4-BE49-F238E27FC236}">
                  <a16:creationId xmlns:a16="http://schemas.microsoft.com/office/drawing/2014/main" id="{09B29A9B-0AD6-641A-907A-06863BC86DE1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6765962" y="4325373"/>
              <a:ext cx="418645" cy="2085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직사각형 30">
                  <a:extLst>
                    <a:ext uri="{FF2B5EF4-FFF2-40B4-BE49-F238E27FC236}">
                      <a16:creationId xmlns:a16="http://schemas.microsoft.com/office/drawing/2014/main" id="{9C5A4AE2-DDF5-F4BA-DFD0-CF0888919C7D}"/>
                    </a:ext>
                  </a:extLst>
                </p:cNvPr>
                <p:cNvSpPr/>
                <p:nvPr/>
              </p:nvSpPr>
              <p:spPr>
                <a:xfrm>
                  <a:off x="1476053" y="5819251"/>
                  <a:ext cx="1281815" cy="544040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 ~ </m:t>
                        </m:r>
                        <m:d>
                          <m:dPr>
                            <m:ctrlP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kumimoji="0" lang="en-US" altLang="ko-KR" sz="1600" b="0" i="1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𝑠𝑡𝑎𝑛𝑑𝑎𝑟𝑑</m:t>
                        </m:r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𝑠𝑐𝑎𝑙𝑖𝑛𝑔</m:t>
                        </m:r>
                      </m:oMath>
                    </m:oMathPara>
                  </a14:m>
                  <a:endParaRPr kumimoji="0" lang="ko-KR" altLang="en-US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31" name="직사각형 30">
                  <a:extLst>
                    <a:ext uri="{FF2B5EF4-FFF2-40B4-BE49-F238E27FC236}">
                      <a16:creationId xmlns:a16="http://schemas.microsoft.com/office/drawing/2014/main" id="{9C5A4AE2-DDF5-F4BA-DFD0-CF0888919C7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76053" y="5819251"/>
                  <a:ext cx="1281815" cy="544040"/>
                </a:xfrm>
                <a:prstGeom prst="rect">
                  <a:avLst/>
                </a:prstGeom>
                <a:blipFill>
                  <a:blip r:embed="rId16"/>
                  <a:stretch>
                    <a:fillRect r="-24783" b="-7292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직선 화살표 연결선 31">
              <a:extLst>
                <a:ext uri="{FF2B5EF4-FFF2-40B4-BE49-F238E27FC236}">
                  <a16:creationId xmlns:a16="http://schemas.microsoft.com/office/drawing/2014/main" id="{2EA1297B-E0B6-FD29-42F2-BB5D2AB89E92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8373152" y="4325373"/>
              <a:ext cx="303702" cy="0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078073E4-7B4A-F8DF-321C-6BAD6A17AA43}"/>
                </a:ext>
              </a:extLst>
            </p:cNvPr>
            <p:cNvSpPr/>
            <p:nvPr/>
          </p:nvSpPr>
          <p:spPr>
            <a:xfrm>
              <a:off x="6816657" y="2204864"/>
              <a:ext cx="1631596" cy="54404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R="0" lvl="0" algn="ctr" defTabSz="914400" rtl="0" eaLnBrk="1" fontAlgn="base" latinLnBrk="1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Activation </a:t>
              </a:r>
            </a:p>
            <a:p>
              <a:pPr marR="0" lvl="0" algn="ctr" defTabSz="914400" rtl="0" eaLnBrk="1" fontAlgn="base" latinLnBrk="1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function</a:t>
              </a:r>
              <a:endParaRPr lang="en-US" altLang="ko-KR" sz="1600" b="1" dirty="0">
                <a:solidFill>
                  <a:prstClr val="black"/>
                </a:solidFill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34FE26FD-6DCD-33DF-8448-274AFE6ADA09}"/>
                </a:ext>
              </a:extLst>
            </p:cNvPr>
            <p:cNvSpPr/>
            <p:nvPr/>
          </p:nvSpPr>
          <p:spPr>
            <a:xfrm>
              <a:off x="1350255" y="2695573"/>
              <a:ext cx="9430539" cy="3627474"/>
            </a:xfrm>
            <a:prstGeom prst="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>
                <a:latin typeface="NanumGothicExtraBold" pitchFamily="2" charset="-127"/>
                <a:ea typeface="NanumGothicExtraBold" pitchFamily="2" charset="-127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669BD5D-EA24-1B59-C72E-8E7D0000D900}"/>
                    </a:ext>
                  </a:extLst>
                </p:cNvPr>
                <p:cNvSpPr txBox="1"/>
                <p:nvPr/>
              </p:nvSpPr>
              <p:spPr>
                <a:xfrm>
                  <a:off x="8789768" y="2299660"/>
                  <a:ext cx="1570357" cy="22906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en-US" altLang="ko-KR" sz="1600" b="1">
                      <a:solidFill>
                        <a:prstClr val="black"/>
                      </a:solidFill>
                      <a:latin typeface="NanumGothicExtraBold" pitchFamily="2" charset="-127"/>
                      <a:ea typeface="NanumGothicExtraBold" pitchFamily="2" charset="-127"/>
                    </a:rPr>
                    <a:t>Output: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ko-KR" sz="16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𝐲</m:t>
                          </m:r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𝐡</m:t>
                          </m:r>
                        </m:e>
                        <m:sub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𝐰</m:t>
                          </m:r>
                        </m:sub>
                      </m:sSub>
                      <m:d>
                        <m:dPr>
                          <m:ctrlPr>
                            <a:rPr lang="en-US" altLang="ko-KR" sz="16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𝐱</m:t>
                          </m:r>
                        </m:e>
                      </m:d>
                    </m:oMath>
                  </a14:m>
                  <a:endParaRPr lang="ko-KR" altLang="en-US" sz="1600" b="1"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669BD5D-EA24-1B59-C72E-8E7D0000D90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89768" y="2299660"/>
                  <a:ext cx="1570357" cy="229069"/>
                </a:xfrm>
                <a:prstGeom prst="rect">
                  <a:avLst/>
                </a:prstGeom>
                <a:blipFill>
                  <a:blip r:embed="rId18"/>
                  <a:stretch>
                    <a:fillRect l="-7473" t="-25000" b="-5250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직사각형 37">
                  <a:extLst>
                    <a:ext uri="{FF2B5EF4-FFF2-40B4-BE49-F238E27FC236}">
                      <a16:creationId xmlns:a16="http://schemas.microsoft.com/office/drawing/2014/main" id="{322F38A2-BD85-521C-A046-DBF25BBD1296}"/>
                    </a:ext>
                  </a:extLst>
                </p:cNvPr>
                <p:cNvSpPr/>
                <p:nvPr/>
              </p:nvSpPr>
              <p:spPr>
                <a:xfrm>
                  <a:off x="8653437" y="4099199"/>
                  <a:ext cx="2127357" cy="34819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ko-KR" b="0" i="0" smtClean="0">
                            <a:latin typeface="Cambria Math" panose="02040503050406030204" pitchFamily="18" charset="0"/>
                          </a:rPr>
                          <m:t>y</m:t>
                        </m:r>
                        <m:r>
                          <a:rPr lang="en-US" altLang="ko-KR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</a:rPr>
                          <m:t>activation</m:t>
                        </m:r>
                        <m:r>
                          <a:rPr lang="en-US" altLang="ko-KR"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altLang="ko-K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ko-KR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en-US" altLang="ko-KR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</a:rPr>
                          <m:t>w</m:t>
                        </m:r>
                        <m:r>
                          <a:rPr lang="en-US" altLang="ko-KR">
                            <a:latin typeface="Cambria Math" panose="02040503050406030204" pitchFamily="18" charset="0"/>
                          </a:rPr>
                          <m:t>) </m:t>
                        </m:r>
                      </m:oMath>
                    </m:oMathPara>
                  </a14:m>
                  <a:endParaRPr lang="ko-KR" altLang="en-US" dirty="0"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38" name="직사각형 37">
                  <a:extLst>
                    <a:ext uri="{FF2B5EF4-FFF2-40B4-BE49-F238E27FC236}">
                      <a16:creationId xmlns:a16="http://schemas.microsoft.com/office/drawing/2014/main" id="{322F38A2-BD85-521C-A046-DBF25BBD129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53437" y="4099199"/>
                  <a:ext cx="2127357" cy="348198"/>
                </a:xfrm>
                <a:prstGeom prst="rect">
                  <a:avLst/>
                </a:prstGeom>
                <a:blipFill>
                  <a:blip r:embed="rId19"/>
                  <a:stretch>
                    <a:fillRect b="-16393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직사각형 39">
                  <a:extLst>
                    <a:ext uri="{FF2B5EF4-FFF2-40B4-BE49-F238E27FC236}">
                      <a16:creationId xmlns:a16="http://schemas.microsoft.com/office/drawing/2014/main" id="{0F4AB18C-266A-4FE9-9B99-F92C03FDDAB3}"/>
                    </a:ext>
                  </a:extLst>
                </p:cNvPr>
                <p:cNvSpPr/>
                <p:nvPr/>
              </p:nvSpPr>
              <p:spPr>
                <a:xfrm>
                  <a:off x="4595473" y="2299660"/>
                  <a:ext cx="2307357" cy="31908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r>
                    <a:rPr lang="en-US" altLang="ko-KR" sz="1600" b="1">
                      <a:solidFill>
                        <a:prstClr val="black"/>
                      </a:solidFill>
                      <a:latin typeface="NanumGothicExtraBold" pitchFamily="2" charset="-127"/>
                      <a:ea typeface="NanumGothicExtraBold" pitchFamily="2" charset="-127"/>
                    </a:rPr>
                    <a:t>Weighted sum</a:t>
                  </a:r>
                  <a:r>
                    <a:rPr lang="en-US" altLang="ko-KR" sz="1600" b="1">
                      <a:latin typeface="NanumGothicExtraBold" pitchFamily="2" charset="-127"/>
                      <a:ea typeface="NanumGothicExtraBold" pitchFamily="2" charset="-127"/>
                    </a:rPr>
                    <a:t>: </a:t>
                  </a:r>
                  <a14:m>
                    <m:oMath xmlns:m="http://schemas.openxmlformats.org/officeDocument/2006/math">
                      <m:r>
                        <a:rPr lang="en-US" altLang="ko-KR" sz="1600" b="1" i="1" smtClean="0">
                          <a:latin typeface="Cambria Math" panose="02040503050406030204" pitchFamily="18" charset="0"/>
                        </a:rPr>
                        <m:t>𝒛</m:t>
                      </m:r>
                      <m:r>
                        <a:rPr lang="en-US" altLang="ko-KR" sz="1600" b="1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ko-KR" sz="1600" b="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600" b="1" i="1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en-US" altLang="ko-KR" sz="1600" b="1" i="1">
                              <a:latin typeface="Cambria Math" panose="02040503050406030204" pitchFamily="18" charset="0"/>
                            </a:rPr>
                            <m:t>𝑻</m:t>
                          </m:r>
                        </m:sup>
                      </m:sSup>
                      <m:r>
                        <a:rPr lang="en-US" altLang="ko-KR" sz="1600" b="1" i="1">
                          <a:latin typeface="Cambria Math" panose="02040503050406030204" pitchFamily="18" charset="0"/>
                        </a:rPr>
                        <m:t>𝐰</m:t>
                      </m:r>
                      <m:r>
                        <a:rPr lang="en-US" altLang="ko-KR" sz="1600" b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endParaRPr lang="ko-KR" altLang="en-US" sz="1600" b="1"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40" name="직사각형 39">
                  <a:extLst>
                    <a:ext uri="{FF2B5EF4-FFF2-40B4-BE49-F238E27FC236}">
                      <a16:creationId xmlns:a16="http://schemas.microsoft.com/office/drawing/2014/main" id="{0F4AB18C-266A-4FE9-9B99-F92C03FDDAB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95473" y="2299660"/>
                  <a:ext cx="2307357" cy="319087"/>
                </a:xfrm>
                <a:prstGeom prst="rect">
                  <a:avLst/>
                </a:prstGeom>
                <a:blipFill>
                  <a:blip r:embed="rId20"/>
                  <a:stretch>
                    <a:fillRect l="-1449" t="-3571" b="-23214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9A4CFD56-4840-D304-AFC4-6A63FA5A86CD}"/>
                </a:ext>
              </a:extLst>
            </p:cNvPr>
            <p:cNvSpPr/>
            <p:nvPr/>
          </p:nvSpPr>
          <p:spPr>
            <a:xfrm>
              <a:off x="3095195" y="2299660"/>
              <a:ext cx="885349" cy="31497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Weights</a:t>
              </a:r>
              <a:endParaRPr lang="ko-KR" altLang="en-US" sz="1600" b="1"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46B89BC8-2606-8C67-C7C7-D25251028FC1}"/>
                </a:ext>
              </a:extLst>
            </p:cNvPr>
            <p:cNvSpPr/>
            <p:nvPr/>
          </p:nvSpPr>
          <p:spPr>
            <a:xfrm>
              <a:off x="1657531" y="2299660"/>
              <a:ext cx="624521" cy="31497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Input</a:t>
              </a:r>
              <a:endParaRPr lang="ko-KR" altLang="en-US" sz="1600" b="1">
                <a:latin typeface="NanumGothicExtraBold" pitchFamily="2" charset="-127"/>
                <a:ea typeface="NanumGothicExtraBold" pitchFamily="2" charset="-127"/>
              </a:endParaRPr>
            </a:p>
          </p:txBody>
        </p:sp>
      </p:grpSp>
      <p:sp>
        <p:nvSpPr>
          <p:cNvPr id="44" name="내용 개체 틀 2">
            <a:extLst>
              <a:ext uri="{FF2B5EF4-FFF2-40B4-BE49-F238E27FC236}">
                <a16:creationId xmlns:a16="http://schemas.microsoft.com/office/drawing/2014/main" id="{559855AA-45D0-1CBE-CF10-7BE857C500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242481"/>
            <a:ext cx="11034365" cy="746738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단일 뉴런의 수학식은 다중회귀분석의 함수식과 동일하다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75E7DBC0-1237-2AB2-9E23-A273F09464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03371" y="3854272"/>
            <a:ext cx="1015319" cy="8210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7" name="직사각형 46">
                <a:extLst>
                  <a:ext uri="{FF2B5EF4-FFF2-40B4-BE49-F238E27FC236}">
                    <a16:creationId xmlns:a16="http://schemas.microsoft.com/office/drawing/2014/main" id="{896C8EB5-4E6C-4DEE-9CCB-0CEDC90DDF0A}"/>
                  </a:ext>
                </a:extLst>
              </p:cNvPr>
              <p:cNvSpPr/>
              <p:nvPr/>
            </p:nvSpPr>
            <p:spPr>
              <a:xfrm>
                <a:off x="4137934" y="3509828"/>
                <a:ext cx="810478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47" name="직사각형 46">
                <a:extLst>
                  <a:ext uri="{FF2B5EF4-FFF2-40B4-BE49-F238E27FC236}">
                    <a16:creationId xmlns:a16="http://schemas.microsoft.com/office/drawing/2014/main" id="{896C8EB5-4E6C-4DEE-9CCB-0CEDC90DDF0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7934" y="3509828"/>
                <a:ext cx="810478" cy="400110"/>
              </a:xfrm>
              <a:prstGeom prst="rect">
                <a:avLst/>
              </a:prstGeom>
              <a:blipFill>
                <a:blip r:embed="rId22"/>
                <a:stretch>
                  <a:fillRect b="-30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타원 47">
            <a:extLst>
              <a:ext uri="{FF2B5EF4-FFF2-40B4-BE49-F238E27FC236}">
                <a16:creationId xmlns:a16="http://schemas.microsoft.com/office/drawing/2014/main" id="{E2CBA942-DBAD-D7C2-A410-B461659574BD}"/>
              </a:ext>
            </a:extLst>
          </p:cNvPr>
          <p:cNvSpPr/>
          <p:nvPr/>
        </p:nvSpPr>
        <p:spPr>
          <a:xfrm>
            <a:off x="2135359" y="2767559"/>
            <a:ext cx="499740" cy="49974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531EF8E5-282D-9DD2-6E44-F084763F2650}"/>
              </a:ext>
            </a:extLst>
          </p:cNvPr>
          <p:cNvSpPr/>
          <p:nvPr/>
        </p:nvSpPr>
        <p:spPr>
          <a:xfrm>
            <a:off x="2135359" y="3388245"/>
            <a:ext cx="499740" cy="49974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0" name="타원 49">
            <a:extLst>
              <a:ext uri="{FF2B5EF4-FFF2-40B4-BE49-F238E27FC236}">
                <a16:creationId xmlns:a16="http://schemas.microsoft.com/office/drawing/2014/main" id="{EA3BB0D4-F032-9904-EE63-B6AFD6D9BA06}"/>
              </a:ext>
            </a:extLst>
          </p:cNvPr>
          <p:cNvSpPr/>
          <p:nvPr/>
        </p:nvSpPr>
        <p:spPr>
          <a:xfrm>
            <a:off x="2163759" y="5158494"/>
            <a:ext cx="499740" cy="49974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5635595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5119D5-9F23-8555-D59C-C41F08314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F6CB72-5B48-1EA8-DAE7-36CBC37D4F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5E39D3E-B93A-FFDE-BB36-30AD59B0C59F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Functions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44" name="내용 개체 틀 2">
            <a:extLst>
              <a:ext uri="{FF2B5EF4-FFF2-40B4-BE49-F238E27FC236}">
                <a16:creationId xmlns:a16="http://schemas.microsoft.com/office/drawing/2014/main" id="{94B26EBA-7806-CC17-6CCE-79B909B813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8817" y="1321328"/>
            <a:ext cx="11034365" cy="1065340"/>
          </a:xfrm>
        </p:spPr>
        <p:txBody>
          <a:bodyPr>
            <a:normAutofit fontScale="85000" lnSpcReduction="20000"/>
          </a:bodyPr>
          <a:lstStyle/>
          <a:p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단일 뉴런의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활성화 함수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(Activation Function)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인공 신경망의 각 노드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뉴런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</a:t>
            </a:r>
            <a:r>
              <a:rPr lang="ko-KR" altLang="en-US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입력받은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신호의 총합을 출력 신호로 변환해주는 수학적 함수로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쉽게 비유하자면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우리 뇌의 뉴런이 일정 수준 이상의 자극을 받았을 때만 다음 뉴런으로 전기 신호를 보내는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전달 통로의 문지기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역할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1F3FF02D-180D-5387-8B13-D095DDC148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18081" y="2386668"/>
            <a:ext cx="5662319" cy="40147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3A204A54-9B4D-9FE8-6DBD-2FC79DE2C40B}"/>
              </a:ext>
            </a:extLst>
          </p:cNvPr>
          <p:cNvSpPr txBox="1"/>
          <p:nvPr/>
        </p:nvSpPr>
        <p:spPr>
          <a:xfrm>
            <a:off x="578817" y="3362236"/>
            <a:ext cx="3805653" cy="12868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8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 활성화 함수가 필요한가</a:t>
            </a:r>
            <a:r>
              <a:rPr lang="en-US" altLang="ko-KR" sz="18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모델에 비선형성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(Non-linearity)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추가하기 위해서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8723635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73F17-1E7F-1F54-F339-B4732F93FD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173D9F-BF62-5D55-502F-D6EED82808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1573C32F-78A2-7E69-33F7-E702D4CAB44A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6211AE7D-3714-5E7A-9A0E-90FC32B3E650}"/>
              </a:ext>
            </a:extLst>
          </p:cNvPr>
          <p:cNvSpPr txBox="1">
            <a:spLocks/>
          </p:cNvSpPr>
          <p:nvPr/>
        </p:nvSpPr>
        <p:spPr>
          <a:xfrm>
            <a:off x="632271" y="5670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Cells that fire together, wire together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3074" name="Picture 2" descr="In the top row, neurons are labeled with a fluorescent probe that reveals electrical activity. In the bottom row, neurons are labeled with a variant of the probe that accumulates specifically in the neuron cell bodies, preventing interference from axons of neighboring neurons.  ">
            <a:extLst>
              <a:ext uri="{FF2B5EF4-FFF2-40B4-BE49-F238E27FC236}">
                <a16:creationId xmlns:a16="http://schemas.microsoft.com/office/drawing/2014/main" id="{94F3BD26-41A8-1CF7-C13C-606448C735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13464" y="1447788"/>
            <a:ext cx="7000875" cy="4667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8194255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9988F4-6748-E841-E0E3-483933AD2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EE7AD4-7BCA-95C3-7C88-BC8155EAAF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33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3B515A5C-DA20-BC13-5438-4B1150B646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1299" y="66675"/>
            <a:ext cx="1619251" cy="1071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E924BA77-E126-365B-1D98-17E2D890614A}"/>
              </a:ext>
            </a:extLst>
          </p:cNvPr>
          <p:cNvSpPr txBox="1">
            <a:spLocks/>
          </p:cNvSpPr>
          <p:nvPr/>
        </p:nvSpPr>
        <p:spPr>
          <a:xfrm>
            <a:off x="732820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deep learning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5" name="AutoShape 2" descr=", AI generated">
            <a:extLst>
              <a:ext uri="{FF2B5EF4-FFF2-40B4-BE49-F238E27FC236}">
                <a16:creationId xmlns:a16="http://schemas.microsoft.com/office/drawing/2014/main" id="{82618558-9150-3E19-1792-361A6085A70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829425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F70EA1D-911F-24B8-8E6F-96DA98BB8C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5114" y="1428036"/>
            <a:ext cx="8103909" cy="4420314"/>
          </a:xfrm>
          <a:prstGeom prst="rect">
            <a:avLst/>
          </a:prstGeom>
        </p:spPr>
      </p:pic>
      <p:sp>
        <p:nvSpPr>
          <p:cNvPr id="12" name="타원 11">
            <a:extLst>
              <a:ext uri="{FF2B5EF4-FFF2-40B4-BE49-F238E27FC236}">
                <a16:creationId xmlns:a16="http://schemas.microsoft.com/office/drawing/2014/main" id="{9447872B-B3C5-94D3-7C72-301489D8F589}"/>
              </a:ext>
            </a:extLst>
          </p:cNvPr>
          <p:cNvSpPr/>
          <p:nvPr/>
        </p:nvSpPr>
        <p:spPr>
          <a:xfrm>
            <a:off x="5151121" y="2125611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FDDFE2DA-C3BD-251B-198F-2B1990842850}"/>
              </a:ext>
            </a:extLst>
          </p:cNvPr>
          <p:cNvSpPr/>
          <p:nvPr/>
        </p:nvSpPr>
        <p:spPr>
          <a:xfrm>
            <a:off x="2477136" y="1908187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3FC9D2F0-B4E0-EC80-CF75-E660D41D3532}"/>
              </a:ext>
            </a:extLst>
          </p:cNvPr>
          <p:cNvSpPr/>
          <p:nvPr/>
        </p:nvSpPr>
        <p:spPr>
          <a:xfrm>
            <a:off x="2473072" y="2195715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3B7EBFA9-E6D4-E650-A98E-7740DF72FB9D}"/>
              </a:ext>
            </a:extLst>
          </p:cNvPr>
          <p:cNvSpPr/>
          <p:nvPr/>
        </p:nvSpPr>
        <p:spPr>
          <a:xfrm>
            <a:off x="2472056" y="2458351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7E08BE5-1402-7A84-2942-DE3F8A5E5406}"/>
              </a:ext>
            </a:extLst>
          </p:cNvPr>
          <p:cNvSpPr txBox="1"/>
          <p:nvPr/>
        </p:nvSpPr>
        <p:spPr>
          <a:xfrm>
            <a:off x="2230075" y="5959169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(64,1)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49BCBBB-7271-38B8-8212-7FBBFDFE103B}"/>
              </a:ext>
            </a:extLst>
          </p:cNvPr>
          <p:cNvSpPr txBox="1"/>
          <p:nvPr/>
        </p:nvSpPr>
        <p:spPr>
          <a:xfrm>
            <a:off x="4909140" y="5959169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(10,1)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935A2DD-ED2E-AF9A-0043-6F6B40CF4801}"/>
              </a:ext>
            </a:extLst>
          </p:cNvPr>
          <p:cNvSpPr txBox="1"/>
          <p:nvPr/>
        </p:nvSpPr>
        <p:spPr>
          <a:xfrm>
            <a:off x="7339103" y="5959169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(15,1)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2FA1407-8DBE-204F-4F08-DABAE4BD3137}"/>
              </a:ext>
            </a:extLst>
          </p:cNvPr>
          <p:cNvSpPr txBox="1"/>
          <p:nvPr/>
        </p:nvSpPr>
        <p:spPr>
          <a:xfrm>
            <a:off x="9110753" y="5959169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(9,1)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7815398-2B94-0D7E-99AA-75C0407E8C3A}"/>
              </a:ext>
            </a:extLst>
          </p:cNvPr>
          <p:cNvSpPr txBox="1"/>
          <p:nvPr/>
        </p:nvSpPr>
        <p:spPr>
          <a:xfrm>
            <a:off x="3505435" y="5959169"/>
            <a:ext cx="11079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@(64,10)=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A1D6A35-1376-424B-B677-B4EA4E6E0DE2}"/>
              </a:ext>
            </a:extLst>
          </p:cNvPr>
          <p:cNvSpPr txBox="1"/>
          <p:nvPr/>
        </p:nvSpPr>
        <p:spPr>
          <a:xfrm>
            <a:off x="6030100" y="5959169"/>
            <a:ext cx="11079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@(10,15)=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F2E4FFF-8581-2131-CF06-3882FD7FD06F}"/>
              </a:ext>
            </a:extLst>
          </p:cNvPr>
          <p:cNvSpPr txBox="1"/>
          <p:nvPr/>
        </p:nvSpPr>
        <p:spPr>
          <a:xfrm>
            <a:off x="8159116" y="5959169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@(15,9)=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C67266E-49A9-B43B-F9B1-5E459EB7BBE1}"/>
              </a:ext>
            </a:extLst>
          </p:cNvPr>
          <p:cNvSpPr txBox="1"/>
          <p:nvPr/>
        </p:nvSpPr>
        <p:spPr>
          <a:xfrm>
            <a:off x="2794899" y="5827992"/>
            <a:ext cx="25519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T</a:t>
            </a:r>
            <a:endParaRPr lang="ko-KR" altLang="en-US" sz="1600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9C92AA3-36BF-6BF9-B680-42E31DF11212}"/>
              </a:ext>
            </a:extLst>
          </p:cNvPr>
          <p:cNvSpPr txBox="1"/>
          <p:nvPr/>
        </p:nvSpPr>
        <p:spPr>
          <a:xfrm>
            <a:off x="5486514" y="5827992"/>
            <a:ext cx="25519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T</a:t>
            </a:r>
            <a:endParaRPr lang="ko-KR" altLang="en-US" sz="1600" b="1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00E7D32-571C-3FBE-BBF0-59D88B5928BE}"/>
              </a:ext>
            </a:extLst>
          </p:cNvPr>
          <p:cNvSpPr txBox="1"/>
          <p:nvPr/>
        </p:nvSpPr>
        <p:spPr>
          <a:xfrm>
            <a:off x="7935151" y="5827992"/>
            <a:ext cx="25519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T</a:t>
            </a:r>
            <a:endParaRPr lang="ko-KR" altLang="en-US" sz="1600" b="1" dirty="0"/>
          </a:p>
        </p:txBody>
      </p:sp>
    </p:spTree>
    <p:extLst>
      <p:ext uri="{BB962C8B-B14F-4D97-AF65-F5344CB8AC3E}">
        <p14:creationId xmlns:p14="http://schemas.microsoft.com/office/powerpoint/2010/main" val="4065655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/>
      <p:bldP spid="17" grpId="0"/>
      <p:bldP spid="18" grpId="0"/>
      <p:bldP spid="19" grpId="0"/>
      <p:bldP spid="20" grpId="0"/>
      <p:bldP spid="21" grpId="0"/>
      <p:bldP spid="22" grpId="0"/>
      <p:bldP spid="24" grpId="0"/>
      <p:bldP spid="25" grpId="0"/>
      <p:bldP spid="26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078076-D70D-47AD-1AED-75E19C2BD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89B271-5192-2F15-5D59-382800A9A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34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22ABE30C-8E3D-1211-EEE6-CFC56729DE3B}"/>
              </a:ext>
            </a:extLst>
          </p:cNvPr>
          <p:cNvSpPr txBox="1">
            <a:spLocks/>
          </p:cNvSpPr>
          <p:nvPr/>
        </p:nvSpPr>
        <p:spPr>
          <a:xfrm>
            <a:off x="537021" y="477852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Artificial Neural Network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11266" name="Picture 2" descr="Artificial Neural Network Architecture">
            <a:extLst>
              <a:ext uri="{FF2B5EF4-FFF2-40B4-BE49-F238E27FC236}">
                <a16:creationId xmlns:a16="http://schemas.microsoft.com/office/drawing/2014/main" id="{0559266C-556E-C20E-726A-EF66A638682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26399" y="1772883"/>
            <a:ext cx="6203101" cy="47175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169EBA6B-BE2D-894D-8A52-21457E8B9BC5}"/>
              </a:ext>
            </a:extLst>
          </p:cNvPr>
          <p:cNvSpPr txBox="1">
            <a:spLocks/>
          </p:cNvSpPr>
          <p:nvPr/>
        </p:nvSpPr>
        <p:spPr>
          <a:xfrm>
            <a:off x="8425528" y="2791472"/>
            <a:ext cx="3375947" cy="2332978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Regression,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Classification, dimension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reduction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모델의 </a:t>
            </a:r>
            <a:r>
              <a:rPr lang="en-US" altLang="ko-KR" sz="21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 layer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어떻게 생겼는가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고민해보고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다음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슬라이드를 실습하여 체험하라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3226979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7AEA1B-A0FA-5534-230F-40BF4FB6CE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59A6CEE-8B03-8434-BA64-2B488CE146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35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B97EA6D6-8D0D-66DB-6F02-6DCE59D1B2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8995" y="1248067"/>
            <a:ext cx="11182955" cy="766439"/>
          </a:xfrm>
        </p:spPr>
        <p:txBody>
          <a:bodyPr>
            <a:normAutofit fontScale="92500" lnSpcReduction="20000"/>
          </a:bodyPr>
          <a:lstStyle/>
          <a:p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Feed Forward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한 후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Propagate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반복적으로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epoch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늘려가면서 학습하는 과정을 통해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Backpropagation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이해하고 실습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(SGD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엑셀실습파일 알고리즘과 동일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9CC69B6-865A-9308-9FC3-96B0A1E5CA4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OR gate : Backpropagation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14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A48D627-DB6B-37D0-763C-BD40D9FFFD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89309" y="66675"/>
            <a:ext cx="1731242" cy="1145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BAF37F2D-2B7E-F7AC-7A87-EE51558AE7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62679" y="2052606"/>
            <a:ext cx="7967121" cy="44823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287172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2607F8-6787-3B4A-9387-086BCC7749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3ABFC7-3ACD-D1C0-1ADB-44167C6C7A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E223884-9077-EF82-4087-A44BAFE1468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OR gate code with Single-layer Perceptron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E4E17376-2845-B069-14A3-C29EFED1089B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643753" y="1338340"/>
            <a:ext cx="4437990" cy="5056866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2A6619DA-045E-D28E-DD7B-89FAE98DC153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5593394" y="1338340"/>
            <a:ext cx="5236013" cy="4869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915716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AE6570-589B-A337-6EE1-9AD175ABB1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97639DC-E391-B13B-11DA-E6289741E1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A3BE1F4-1867-662D-EA9F-58099683EA4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OR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gate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: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Backpropagation with python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14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97ECC749-A31B-0A90-68E3-DDEF0CA539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46645" y="66676"/>
            <a:ext cx="1673906" cy="1107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9445CEC-44B6-F043-B403-61EABE53CDAF}"/>
              </a:ext>
            </a:extLst>
          </p:cNvPr>
          <p:cNvSpPr txBox="1"/>
          <p:nvPr/>
        </p:nvSpPr>
        <p:spPr>
          <a:xfrm>
            <a:off x="5718418" y="1244090"/>
            <a:ext cx="4535863" cy="5047536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define input and output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np.array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([[0,0],[0,1],[1,0],[1,1]])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np.array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([[0],[1],[1],[1]])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define weights and biases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w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np.array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([[1.5], [1.5]])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b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np.array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([-1.5])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epochs = 1000   # 1000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learning_rate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0.1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train the network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for epoch in range(epochs):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sum, pred = feedforward(X, w, b)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w, b = backpropagation(X, y, sum, pred, w, b)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print("w:", w)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print("b:", b)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print the final output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sum, pred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np.round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(feedforward(X, w, b))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print(pred)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print("Accuracy:",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np.mean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(y == pred))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DA07332-D2C3-0C9A-F95B-CC0D41CD940D}"/>
              </a:ext>
            </a:extLst>
          </p:cNvPr>
          <p:cNvSpPr txBox="1"/>
          <p:nvPr/>
        </p:nvSpPr>
        <p:spPr>
          <a:xfrm>
            <a:off x="757380" y="1244090"/>
            <a:ext cx="4535863" cy="5478423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numpy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as np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def sigmoid(x):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return 1 / (1 +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np.exp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(-x))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def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sigmoid_derivative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return sigmoid(x) * (1 - sigmoid(x))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def feedforward(X, w, b):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sum = np.dot(X, w) + b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pred = sigmoid(sum)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return sum, pred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def backpropagation(X, y, sum, pred, w, b):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dsum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(pred - y) *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sigmoid_derivative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(sum)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np.dot(X.T,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dsum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db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np.sum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dsum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axis=0)</a:t>
            </a:r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</a:b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loss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np.mean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((y - pred) ** 2)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if (epoch + 1) % 100 == 0: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print("loss: ", loss)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w = w -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learning_rate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*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dw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b = b -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learning_rate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*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db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return w, b</a:t>
            </a:r>
          </a:p>
        </p:txBody>
      </p:sp>
    </p:spTree>
    <p:extLst>
      <p:ext uri="{BB962C8B-B14F-4D97-AF65-F5344CB8AC3E}">
        <p14:creationId xmlns:p14="http://schemas.microsoft.com/office/powerpoint/2010/main" val="395187246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FFB53F-5797-0BB2-9323-F166DE5B6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FB5B3E-2733-6F10-C433-7C314850C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56A9490-8D65-6528-22C1-98B7D508091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E24E00A9-B7BD-84B1-C8C9-4379A44B71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196" y="2796363"/>
            <a:ext cx="4492179" cy="237472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E2B39FB3-BDC3-5CE1-2660-D71F27A4AC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7695" y="2796363"/>
            <a:ext cx="4737003" cy="306355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000331E-189C-7790-90B5-D620BD0EBE3F}"/>
              </a:ext>
            </a:extLst>
          </p:cNvPr>
          <p:cNvSpPr txBox="1"/>
          <p:nvPr/>
        </p:nvSpPr>
        <p:spPr>
          <a:xfrm>
            <a:off x="2177634" y="5497523"/>
            <a:ext cx="31662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Forward, </a:t>
            </a: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Backward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B747EDD-F717-2F86-B83C-CA5F3D943427}"/>
              </a:ext>
            </a:extLst>
          </p:cNvPr>
          <p:cNvSpPr txBox="1"/>
          <p:nvPr/>
        </p:nvSpPr>
        <p:spPr>
          <a:xfrm>
            <a:off x="561974" y="1265090"/>
            <a:ext cx="10835829" cy="115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Forward: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시험 문제를 풀고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네크워크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구조 설정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계산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채점을 해서 몇 점 틀렸는지 확인한 후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Backward: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틀린 문제의 해설지를 보며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어떤 개념이 부족했는지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파악하여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Optimization: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부족했던 개념을 새로 공부해서 머릿속 지식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가중치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고쳐가는 과정을 수천 번 반복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(Epoch)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하면 모델은 점점 정답에 가까워지게 학습</a:t>
            </a:r>
          </a:p>
        </p:txBody>
      </p:sp>
    </p:spTree>
    <p:extLst>
      <p:ext uri="{BB962C8B-B14F-4D97-AF65-F5344CB8AC3E}">
        <p14:creationId xmlns:p14="http://schemas.microsoft.com/office/powerpoint/2010/main" val="215336004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071F35-8C4C-4F00-48DE-2BB610110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ED8FB9-E995-C351-50A4-21CB273CB3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39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A792CE88-920B-B9FD-AFAF-2A44541C1D43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Autograd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accent6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Forward pass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1AEA3D4-B2E7-81BF-4EC0-71283B1608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1E0A323-CDF3-5091-9096-CEF8B5996E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96" y="3073075"/>
            <a:ext cx="4492179" cy="237472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2590370B-53E0-61CC-7F18-218A76E249D3}"/>
              </a:ext>
            </a:extLst>
          </p:cNvPr>
          <p:cNvSpPr txBox="1"/>
          <p:nvPr/>
        </p:nvSpPr>
        <p:spPr>
          <a:xfrm>
            <a:off x="537021" y="1245750"/>
            <a:ext cx="10902504" cy="1522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Forward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Pass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(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순전파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수학적 연산이 수행되는 순방향 과정을 나타내며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연산의 구성은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입력값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숫자 2가 '더하기(+)' 노드로 들어가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결과값(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)은 이 노드를 거쳐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+ 2라는 결과가 도출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PyTorch에서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+ 2라고 쓰는 순간, 내부적으로는 이런 연산그래프 노드가 생성되며 이때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y는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단순한 숫자 값이 아니라, 어떤 연산을 통해 만들어졌는지에 대한 정보를 함께 가지게 됨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234B6B8-49C6-CCD9-83EC-AFA53128D93F}"/>
              </a:ext>
            </a:extLst>
          </p:cNvPr>
          <p:cNvSpPr txBox="1"/>
          <p:nvPr/>
        </p:nvSpPr>
        <p:spPr>
          <a:xfrm>
            <a:off x="5534025" y="3073075"/>
            <a:ext cx="6096000" cy="286232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</a:t>
            </a:r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입력값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(기울기를 계산하도록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설정)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(1.0,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Forward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순전파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): 그림의 초록색 화살표 과정</a:t>
            </a: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+ 2 연산 수행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+ 2</a:t>
            </a:r>
          </a:p>
          <a:p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f"Forward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결과 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y.item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()}")</a:t>
            </a: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이미지의 '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AddBackward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' 확인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f"연산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식별자 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grad_fn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y.grad_fn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}") </a:t>
            </a:r>
          </a:p>
        </p:txBody>
      </p:sp>
    </p:spTree>
    <p:extLst>
      <p:ext uri="{BB962C8B-B14F-4D97-AF65-F5344CB8AC3E}">
        <p14:creationId xmlns:p14="http://schemas.microsoft.com/office/powerpoint/2010/main" val="355929459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CEC2DF-39AA-EAFD-BC6B-0B41748ECF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792FEE9-46F5-EA57-68C2-427AFE42EE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40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01F5082A-5927-C6E1-DA4F-5F71251E9A7A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Autograd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Backward Pass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34D307B3-1256-BA92-853B-52BFE54F9A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401D5DF3-B10F-E653-EEF7-4FEF832900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7545" y="3175319"/>
            <a:ext cx="4737003" cy="306355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15F44A6-312B-CF7E-D95F-868985B25DBA}"/>
              </a:ext>
            </a:extLst>
          </p:cNvPr>
          <p:cNvSpPr txBox="1"/>
          <p:nvPr/>
        </p:nvSpPr>
        <p:spPr>
          <a:xfrm>
            <a:off x="537021" y="1259068"/>
            <a:ext cx="11410028" cy="16114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Backward Pass(</a:t>
            </a:r>
            <a:r>
              <a:rPr lang="ko-KR" altLang="en-US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역전파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미분 계수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기울기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계산하는 역방향 연산 결과로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y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en-US" altLang="ko-KR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grad_fn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속성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즉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더하기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연산으로 만들어졌기 때문에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y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에는 </a:t>
            </a:r>
            <a:r>
              <a:rPr lang="en-US" altLang="ko-KR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AddBackward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미분용 함수가 자동으로 </a:t>
            </a:r>
            <a:r>
              <a:rPr lang="ko-KR" altLang="en-US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태깅</a:t>
            </a:r>
            <a:endParaRPr lang="en-US" altLang="ko-KR" sz="17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나중에 </a:t>
            </a:r>
            <a:r>
              <a:rPr lang="ko-KR" altLang="en-US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역전파할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때 이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더하기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규칙에 맞춰 미분해라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메모지로 학습 시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y.backward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()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호출하면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화살표가 반대 방향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빨간색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흐르면서 미분을 하여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결과값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미치는 영향력을 계산하여 뒤로 전달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A9DFD6F-F034-68FF-258C-3F04261064E7}"/>
              </a:ext>
            </a:extLst>
          </p:cNvPr>
          <p:cNvSpPr txBox="1"/>
          <p:nvPr/>
        </p:nvSpPr>
        <p:spPr>
          <a:xfrm>
            <a:off x="5713902" y="3175319"/>
            <a:ext cx="6096000" cy="181588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Backward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역전파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 그림의 빨간색 화살표 과정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dx를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미분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(gradient)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계산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y.backward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4. 결과 확인 (기울기)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+ 2 이므로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1이 생성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f"x의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기울기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x.grad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</p:txBody>
      </p:sp>
    </p:spTree>
    <p:extLst>
      <p:ext uri="{BB962C8B-B14F-4D97-AF65-F5344CB8AC3E}">
        <p14:creationId xmlns:p14="http://schemas.microsoft.com/office/powerpoint/2010/main" val="81953426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312D0A-5D07-F026-511C-2A5BFC23F3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D750F38-937E-F755-580F-AE17EBFCC3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41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3C91F776-8B9B-98BC-8E11-9635E9A04D0A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AD69CF31-4A39-9AB8-FCC2-916BEE125D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5DD5DA5-375F-BBD5-5460-D40A69A58F64}"/>
              </a:ext>
            </a:extLst>
          </p:cNvPr>
          <p:cNvSpPr txBox="1"/>
          <p:nvPr/>
        </p:nvSpPr>
        <p:spPr>
          <a:xfrm>
            <a:off x="638982" y="1346628"/>
            <a:ext cx="10628574" cy="4560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PyTorch의</a:t>
            </a:r>
            <a:r>
              <a:rPr lang="ko-KR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backward</a:t>
            </a:r>
            <a:r>
              <a:rPr lang="ko-KR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기능을 통해 </a:t>
            </a:r>
            <a:r>
              <a:rPr lang="ko-KR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a와</a:t>
            </a:r>
            <a:r>
              <a:rPr lang="ko-KR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b를</a:t>
            </a:r>
            <a:r>
              <a:rPr lang="ko-KR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학습(최적화)하는 전체 코드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E9CB94-5A27-0BFD-6BB8-559463C11FAD}"/>
              </a:ext>
            </a:extLst>
          </p:cNvPr>
          <p:cNvSpPr txBox="1"/>
          <p:nvPr/>
        </p:nvSpPr>
        <p:spPr>
          <a:xfrm>
            <a:off x="715326" y="1926290"/>
            <a:ext cx="4656774" cy="4370427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torch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 생성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y, w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n_samples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=50,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400" b="1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n_features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=3,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noise=15,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coef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=True,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random_state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=11)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PyTorch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Tensor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로 변환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X_np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(50, 1)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형태이므로 그대로 사용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y_np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(50,)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이므로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(50, 1)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로 변환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torch.FloatTensor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(X)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y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torch.FloatTensor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(y).view(-1, 1)</a:t>
            </a:r>
            <a:b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파라미터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a, b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정의 및 초기화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미분 가능하도록 설정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 =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(1,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=True)</a:t>
            </a:r>
          </a:p>
          <a:p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 =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(1,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=True)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4.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하이퍼파라미터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설정</a:t>
            </a: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= 0.01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epochs = 1000</a:t>
            </a:r>
            <a:endParaRPr lang="ko-KR" altLang="en-US" sz="13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B556DF-C93B-5239-CCDC-23DA6FDC6BBE}"/>
              </a:ext>
            </a:extLst>
          </p:cNvPr>
          <p:cNvSpPr txBox="1"/>
          <p:nvPr/>
        </p:nvSpPr>
        <p:spPr>
          <a:xfrm>
            <a:off x="5538683" y="1926290"/>
            <a:ext cx="5352099" cy="449353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5.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학습 루프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for epoch in range(epochs):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예측값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계산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(Forward Pass)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a + b * X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손실 함수 계산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(MSE)</a:t>
            </a:r>
            <a:endParaRPr lang="ko-KR" altLang="en-US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loss =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torch.mean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((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- y)**2)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역전파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(Backward Pass): dL/da, dL/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자동 계산</a:t>
            </a:r>
          </a:p>
          <a:p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loss.backward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파라미터 업데이트 및 기울기 초기화</a:t>
            </a:r>
          </a:p>
          <a:p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with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torch.no_grad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a -=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a.grad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b -=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b.grad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#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가중치 업데이트 후에는 반드시 기울기를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으로 초기화</a:t>
            </a:r>
          </a:p>
          <a:p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a.grad.zero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_()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b.grad.zero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_()</a:t>
            </a:r>
            <a:b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print("-" * 30)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실제 계수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coef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): {coef:.4f}")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학습된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b (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기울기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b.item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():.4f}")</a:t>
            </a:r>
          </a:p>
        </p:txBody>
      </p:sp>
    </p:spTree>
    <p:extLst>
      <p:ext uri="{BB962C8B-B14F-4D97-AF65-F5344CB8AC3E}">
        <p14:creationId xmlns:p14="http://schemas.microsoft.com/office/powerpoint/2010/main" val="129990348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33545-2B0E-A249-D80C-9F7679C59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직사각형 56">
            <a:extLst>
              <a:ext uri="{FF2B5EF4-FFF2-40B4-BE49-F238E27FC236}">
                <a16:creationId xmlns:a16="http://schemas.microsoft.com/office/drawing/2014/main" id="{ABCEC355-4532-C994-A3FD-57D5B514B728}"/>
              </a:ext>
            </a:extLst>
          </p:cNvPr>
          <p:cNvSpPr/>
          <p:nvPr/>
        </p:nvSpPr>
        <p:spPr>
          <a:xfrm>
            <a:off x="7330819" y="1928563"/>
            <a:ext cx="800188" cy="28113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34082105-B0E0-25B4-F0AA-982C2E099761}"/>
              </a:ext>
            </a:extLst>
          </p:cNvPr>
          <p:cNvSpPr/>
          <p:nvPr/>
        </p:nvSpPr>
        <p:spPr>
          <a:xfrm>
            <a:off x="4116887" y="1928563"/>
            <a:ext cx="800188" cy="28113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CE8608-C2CE-46D1-90F0-F1280F959A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42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0870C28-593A-45A8-E777-9FCA0A33F057}"/>
              </a:ext>
            </a:extLst>
          </p:cNvPr>
          <p:cNvSpPr txBox="1">
            <a:spLocks/>
          </p:cNvSpPr>
          <p:nvPr/>
        </p:nvSpPr>
        <p:spPr>
          <a:xfrm>
            <a:off x="913794" y="3873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Matrix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Formulation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0312DEB9-2540-E23E-AC49-D83D2A7956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194140"/>
            <a:ext cx="10706705" cy="766440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네트워크 구조를 행렬식으로 표현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968F6BA9-1AD0-FF0D-E49C-0A6F0029F512}"/>
              </a:ext>
            </a:extLst>
          </p:cNvPr>
          <p:cNvGrpSpPr/>
          <p:nvPr/>
        </p:nvGrpSpPr>
        <p:grpSpPr>
          <a:xfrm>
            <a:off x="1104900" y="2777542"/>
            <a:ext cx="359611" cy="1195090"/>
            <a:chOff x="1847850" y="2436106"/>
            <a:chExt cx="359611" cy="1195090"/>
          </a:xfrm>
        </p:grpSpPr>
        <p:sp>
          <p:nvSpPr>
            <p:cNvPr id="2" name="타원 1">
              <a:extLst>
                <a:ext uri="{FF2B5EF4-FFF2-40B4-BE49-F238E27FC236}">
                  <a16:creationId xmlns:a16="http://schemas.microsoft.com/office/drawing/2014/main" id="{36CA5553-4E01-04D5-0F73-87D04CAACDEF}"/>
                </a:ext>
              </a:extLst>
            </p:cNvPr>
            <p:cNvSpPr/>
            <p:nvPr/>
          </p:nvSpPr>
          <p:spPr>
            <a:xfrm>
              <a:off x="1847850" y="2436106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" name="타원 2">
              <a:extLst>
                <a:ext uri="{FF2B5EF4-FFF2-40B4-BE49-F238E27FC236}">
                  <a16:creationId xmlns:a16="http://schemas.microsoft.com/office/drawing/2014/main" id="{ECEF51E4-E843-BB8D-3B50-CD68A38D33DF}"/>
                </a:ext>
              </a:extLst>
            </p:cNvPr>
            <p:cNvSpPr/>
            <p:nvPr/>
          </p:nvSpPr>
          <p:spPr>
            <a:xfrm>
              <a:off x="1847850" y="3271585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08EDB37-7360-D473-E49F-83BC099F27E2}"/>
              </a:ext>
            </a:extLst>
          </p:cNvPr>
          <p:cNvGrpSpPr/>
          <p:nvPr/>
        </p:nvGrpSpPr>
        <p:grpSpPr>
          <a:xfrm>
            <a:off x="4325074" y="2247628"/>
            <a:ext cx="359611" cy="2254919"/>
            <a:chOff x="4562921" y="2019028"/>
            <a:chExt cx="359611" cy="2254919"/>
          </a:xfrm>
        </p:grpSpPr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EB783135-C882-4DAA-AE08-7C417401323F}"/>
                </a:ext>
              </a:extLst>
            </p:cNvPr>
            <p:cNvSpPr/>
            <p:nvPr/>
          </p:nvSpPr>
          <p:spPr>
            <a:xfrm>
              <a:off x="4562921" y="2019028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CE4468BB-2600-85EC-06B0-8C1611999753}"/>
                </a:ext>
              </a:extLst>
            </p:cNvPr>
            <p:cNvSpPr/>
            <p:nvPr/>
          </p:nvSpPr>
          <p:spPr>
            <a:xfrm>
              <a:off x="4562921" y="2966682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2A113F6A-F51D-9F1F-2E7B-ED7F22CA9DA9}"/>
                </a:ext>
              </a:extLst>
            </p:cNvPr>
            <p:cNvSpPr/>
            <p:nvPr/>
          </p:nvSpPr>
          <p:spPr>
            <a:xfrm>
              <a:off x="4562921" y="3914336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9CAAE21E-89F3-723F-ED8C-4B384E0173B1}"/>
              </a:ext>
            </a:extLst>
          </p:cNvPr>
          <p:cNvGrpSpPr/>
          <p:nvPr/>
        </p:nvGrpSpPr>
        <p:grpSpPr>
          <a:xfrm>
            <a:off x="7545248" y="2247628"/>
            <a:ext cx="367633" cy="2254919"/>
            <a:chOff x="7478016" y="2019028"/>
            <a:chExt cx="367633" cy="2254919"/>
          </a:xfrm>
        </p:grpSpPr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A9C24CB1-536C-3F52-651C-A017E898A879}"/>
                </a:ext>
              </a:extLst>
            </p:cNvPr>
            <p:cNvSpPr/>
            <p:nvPr/>
          </p:nvSpPr>
          <p:spPr>
            <a:xfrm>
              <a:off x="7478016" y="2650797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37C0FCED-4886-7D86-A314-DEF940409413}"/>
                </a:ext>
              </a:extLst>
            </p:cNvPr>
            <p:cNvSpPr/>
            <p:nvPr/>
          </p:nvSpPr>
          <p:spPr>
            <a:xfrm>
              <a:off x="7486038" y="328256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D3F6B6C6-4080-9D15-2811-714BB8B2560F}"/>
                </a:ext>
              </a:extLst>
            </p:cNvPr>
            <p:cNvSpPr/>
            <p:nvPr/>
          </p:nvSpPr>
          <p:spPr>
            <a:xfrm>
              <a:off x="7486038" y="391433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F9057C09-D53B-721C-3FFC-325CC3C294B3}"/>
                </a:ext>
              </a:extLst>
            </p:cNvPr>
            <p:cNvSpPr/>
            <p:nvPr/>
          </p:nvSpPr>
          <p:spPr>
            <a:xfrm>
              <a:off x="7478017" y="2019028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3D9C08F2-1574-209F-65D6-723769045731}"/>
              </a:ext>
            </a:extLst>
          </p:cNvPr>
          <p:cNvGrpSpPr/>
          <p:nvPr/>
        </p:nvGrpSpPr>
        <p:grpSpPr>
          <a:xfrm>
            <a:off x="10773443" y="2777542"/>
            <a:ext cx="367632" cy="1195090"/>
            <a:chOff x="10033668" y="2436106"/>
            <a:chExt cx="367632" cy="1195090"/>
          </a:xfrm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CD7420D1-4A5A-4997-8F38-B6D1B95E3FAE}"/>
                </a:ext>
              </a:extLst>
            </p:cNvPr>
            <p:cNvSpPr/>
            <p:nvPr/>
          </p:nvSpPr>
          <p:spPr>
            <a:xfrm>
              <a:off x="10041689" y="3271585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C4D5F89C-18F2-0C39-E6CC-6E7984ED407A}"/>
                </a:ext>
              </a:extLst>
            </p:cNvPr>
            <p:cNvSpPr/>
            <p:nvPr/>
          </p:nvSpPr>
          <p:spPr>
            <a:xfrm>
              <a:off x="10033668" y="2436106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aphicFrame>
        <p:nvGraphicFramePr>
          <p:cNvPr id="38" name="표 37">
            <a:extLst>
              <a:ext uri="{FF2B5EF4-FFF2-40B4-BE49-F238E27FC236}">
                <a16:creationId xmlns:a16="http://schemas.microsoft.com/office/drawing/2014/main" id="{FD888255-4994-1FCA-F8EA-3F0CDC1C85F3}"/>
              </a:ext>
            </a:extLst>
          </p:cNvPr>
          <p:cNvGraphicFramePr>
            <a:graphicFrameLocks noGrp="1"/>
          </p:cNvGraphicFramePr>
          <p:nvPr/>
        </p:nvGraphicFramePr>
        <p:xfrm>
          <a:off x="889000" y="5153236"/>
          <a:ext cx="824982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2491">
                  <a:extLst>
                    <a:ext uri="{9D8B030D-6E8A-4147-A177-3AD203B41FA5}">
                      <a16:colId xmlns:a16="http://schemas.microsoft.com/office/drawing/2014/main" val="3159189123"/>
                    </a:ext>
                  </a:extLst>
                </a:gridCol>
                <a:gridCol w="412491">
                  <a:extLst>
                    <a:ext uri="{9D8B030D-6E8A-4147-A177-3AD203B41FA5}">
                      <a16:colId xmlns:a16="http://schemas.microsoft.com/office/drawing/2014/main" val="3158959229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395207"/>
                  </a:ext>
                </a:extLst>
              </a:tr>
            </a:tbl>
          </a:graphicData>
        </a:graphic>
      </p:graphicFrame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2B68121E-F8B7-620D-EABC-307022609FD5}"/>
              </a:ext>
            </a:extLst>
          </p:cNvPr>
          <p:cNvGraphicFramePr>
            <a:graphicFrameLocks noGrp="1"/>
          </p:cNvGraphicFramePr>
          <p:nvPr/>
        </p:nvGraphicFramePr>
        <p:xfrm>
          <a:off x="3895419" y="5153236"/>
          <a:ext cx="1255704" cy="36576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418568">
                  <a:extLst>
                    <a:ext uri="{9D8B030D-6E8A-4147-A177-3AD203B41FA5}">
                      <a16:colId xmlns:a16="http://schemas.microsoft.com/office/drawing/2014/main" val="2939671243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2414763620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1605265231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8536081"/>
                  </a:ext>
                </a:extLst>
              </a:tr>
            </a:tbl>
          </a:graphicData>
        </a:graphic>
      </p:graphicFrame>
      <p:graphicFrame>
        <p:nvGraphicFramePr>
          <p:cNvPr id="43" name="표 42">
            <a:extLst>
              <a:ext uri="{FF2B5EF4-FFF2-40B4-BE49-F238E27FC236}">
                <a16:creationId xmlns:a16="http://schemas.microsoft.com/office/drawing/2014/main" id="{D8DC5B0A-15AE-B264-F684-117D8D903ACE}"/>
              </a:ext>
            </a:extLst>
          </p:cNvPr>
          <p:cNvGraphicFramePr>
            <a:graphicFrameLocks noGrp="1"/>
          </p:cNvGraphicFramePr>
          <p:nvPr/>
        </p:nvGraphicFramePr>
        <p:xfrm>
          <a:off x="10537825" y="5153236"/>
          <a:ext cx="824982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2491">
                  <a:extLst>
                    <a:ext uri="{9D8B030D-6E8A-4147-A177-3AD203B41FA5}">
                      <a16:colId xmlns:a16="http://schemas.microsoft.com/office/drawing/2014/main" val="3349704126"/>
                    </a:ext>
                  </a:extLst>
                </a:gridCol>
                <a:gridCol w="412491">
                  <a:extLst>
                    <a:ext uri="{9D8B030D-6E8A-4147-A177-3AD203B41FA5}">
                      <a16:colId xmlns:a16="http://schemas.microsoft.com/office/drawing/2014/main" val="2808135352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8827078"/>
                  </a:ext>
                </a:extLst>
              </a:tr>
            </a:tbl>
          </a:graphicData>
        </a:graphic>
      </p:graphicFrame>
      <p:graphicFrame>
        <p:nvGraphicFramePr>
          <p:cNvPr id="44" name="표 43">
            <a:extLst>
              <a:ext uri="{FF2B5EF4-FFF2-40B4-BE49-F238E27FC236}">
                <a16:creationId xmlns:a16="http://schemas.microsoft.com/office/drawing/2014/main" id="{F38EAA0B-A059-9FCB-EA7B-949345116397}"/>
              </a:ext>
            </a:extLst>
          </p:cNvPr>
          <p:cNvGraphicFramePr>
            <a:graphicFrameLocks noGrp="1"/>
          </p:cNvGraphicFramePr>
          <p:nvPr/>
        </p:nvGraphicFramePr>
        <p:xfrm>
          <a:off x="6905522" y="5153236"/>
          <a:ext cx="1768476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2119">
                  <a:extLst>
                    <a:ext uri="{9D8B030D-6E8A-4147-A177-3AD203B41FA5}">
                      <a16:colId xmlns:a16="http://schemas.microsoft.com/office/drawing/2014/main" val="3408541164"/>
                    </a:ext>
                  </a:extLst>
                </a:gridCol>
                <a:gridCol w="442119">
                  <a:extLst>
                    <a:ext uri="{9D8B030D-6E8A-4147-A177-3AD203B41FA5}">
                      <a16:colId xmlns:a16="http://schemas.microsoft.com/office/drawing/2014/main" val="771415720"/>
                    </a:ext>
                  </a:extLst>
                </a:gridCol>
                <a:gridCol w="442119">
                  <a:extLst>
                    <a:ext uri="{9D8B030D-6E8A-4147-A177-3AD203B41FA5}">
                      <a16:colId xmlns:a16="http://schemas.microsoft.com/office/drawing/2014/main" val="4212758754"/>
                    </a:ext>
                  </a:extLst>
                </a:gridCol>
                <a:gridCol w="442119">
                  <a:extLst>
                    <a:ext uri="{9D8B030D-6E8A-4147-A177-3AD203B41FA5}">
                      <a16:colId xmlns:a16="http://schemas.microsoft.com/office/drawing/2014/main" val="238908926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7820539"/>
                  </a:ext>
                </a:extLst>
              </a:tr>
            </a:tbl>
          </a:graphicData>
        </a:graphic>
      </p:graphicFrame>
      <p:graphicFrame>
        <p:nvGraphicFramePr>
          <p:cNvPr id="45" name="표 44">
            <a:extLst>
              <a:ext uri="{FF2B5EF4-FFF2-40B4-BE49-F238E27FC236}">
                <a16:creationId xmlns:a16="http://schemas.microsoft.com/office/drawing/2014/main" id="{43851069-C2D2-B638-1BE7-61FE12E7317F}"/>
              </a:ext>
            </a:extLst>
          </p:cNvPr>
          <p:cNvGraphicFramePr>
            <a:graphicFrameLocks noGrp="1"/>
          </p:cNvGraphicFramePr>
          <p:nvPr/>
        </p:nvGraphicFramePr>
        <p:xfrm>
          <a:off x="2258920" y="3039032"/>
          <a:ext cx="1255704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8568">
                  <a:extLst>
                    <a:ext uri="{9D8B030D-6E8A-4147-A177-3AD203B41FA5}">
                      <a16:colId xmlns:a16="http://schemas.microsoft.com/office/drawing/2014/main" val="2693896945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1825580151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7419674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66637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4978202"/>
                  </a:ext>
                </a:extLst>
              </a:tr>
            </a:tbl>
          </a:graphicData>
        </a:graphic>
      </p:graphicFrame>
      <p:graphicFrame>
        <p:nvGraphicFramePr>
          <p:cNvPr id="46" name="표 45">
            <a:extLst>
              <a:ext uri="{FF2B5EF4-FFF2-40B4-BE49-F238E27FC236}">
                <a16:creationId xmlns:a16="http://schemas.microsoft.com/office/drawing/2014/main" id="{231033F0-706B-415C-BB2D-F30BAA42D801}"/>
              </a:ext>
            </a:extLst>
          </p:cNvPr>
          <p:cNvGraphicFramePr>
            <a:graphicFrameLocks noGrp="1"/>
          </p:cNvGraphicFramePr>
          <p:nvPr/>
        </p:nvGraphicFramePr>
        <p:xfrm>
          <a:off x="5258243" y="2867063"/>
          <a:ext cx="1770156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2539">
                  <a:extLst>
                    <a:ext uri="{9D8B030D-6E8A-4147-A177-3AD203B41FA5}">
                      <a16:colId xmlns:a16="http://schemas.microsoft.com/office/drawing/2014/main" val="3464882294"/>
                    </a:ext>
                  </a:extLst>
                </a:gridCol>
                <a:gridCol w="442539">
                  <a:extLst>
                    <a:ext uri="{9D8B030D-6E8A-4147-A177-3AD203B41FA5}">
                      <a16:colId xmlns:a16="http://schemas.microsoft.com/office/drawing/2014/main" val="3109326110"/>
                    </a:ext>
                  </a:extLst>
                </a:gridCol>
                <a:gridCol w="442539">
                  <a:extLst>
                    <a:ext uri="{9D8B030D-6E8A-4147-A177-3AD203B41FA5}">
                      <a16:colId xmlns:a16="http://schemas.microsoft.com/office/drawing/2014/main" val="3213285567"/>
                    </a:ext>
                  </a:extLst>
                </a:gridCol>
                <a:gridCol w="442539">
                  <a:extLst>
                    <a:ext uri="{9D8B030D-6E8A-4147-A177-3AD203B41FA5}">
                      <a16:colId xmlns:a16="http://schemas.microsoft.com/office/drawing/2014/main" val="19113552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02912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1050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1729911"/>
                  </a:ext>
                </a:extLst>
              </a:tr>
            </a:tbl>
          </a:graphicData>
        </a:graphic>
      </p:graphicFrame>
      <p:graphicFrame>
        <p:nvGraphicFramePr>
          <p:cNvPr id="47" name="표 46">
            <a:extLst>
              <a:ext uri="{FF2B5EF4-FFF2-40B4-BE49-F238E27FC236}">
                <a16:creationId xmlns:a16="http://schemas.microsoft.com/office/drawing/2014/main" id="{4C14BC51-A89C-0C08-BCBF-38E35CDB74A1}"/>
              </a:ext>
            </a:extLst>
          </p:cNvPr>
          <p:cNvGraphicFramePr>
            <a:graphicFrameLocks noGrp="1"/>
          </p:cNvGraphicFramePr>
          <p:nvPr/>
        </p:nvGraphicFramePr>
        <p:xfrm>
          <a:off x="9019668" y="2607239"/>
          <a:ext cx="888688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4344">
                  <a:extLst>
                    <a:ext uri="{9D8B030D-6E8A-4147-A177-3AD203B41FA5}">
                      <a16:colId xmlns:a16="http://schemas.microsoft.com/office/drawing/2014/main" val="456541388"/>
                    </a:ext>
                  </a:extLst>
                </a:gridCol>
                <a:gridCol w="444344">
                  <a:extLst>
                    <a:ext uri="{9D8B030D-6E8A-4147-A177-3AD203B41FA5}">
                      <a16:colId xmlns:a16="http://schemas.microsoft.com/office/drawing/2014/main" val="17753490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55013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73734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918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7708776"/>
                  </a:ext>
                </a:extLst>
              </a:tr>
            </a:tbl>
          </a:graphicData>
        </a:graphic>
      </p:graphicFrame>
      <p:sp>
        <p:nvSpPr>
          <p:cNvPr id="49" name="TextBox 48">
            <a:extLst>
              <a:ext uri="{FF2B5EF4-FFF2-40B4-BE49-F238E27FC236}">
                <a16:creationId xmlns:a16="http://schemas.microsoft.com/office/drawing/2014/main" id="{CB9E2FD1-E9A9-09A9-6394-CF8EFB867B8D}"/>
              </a:ext>
            </a:extLst>
          </p:cNvPr>
          <p:cNvSpPr txBox="1"/>
          <p:nvPr/>
        </p:nvSpPr>
        <p:spPr>
          <a:xfrm>
            <a:off x="809522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CD39B9D-5C5C-9A76-9FA3-B7D5F2A9FCF4}"/>
              </a:ext>
            </a:extLst>
          </p:cNvPr>
          <p:cNvSpPr txBox="1"/>
          <p:nvPr/>
        </p:nvSpPr>
        <p:spPr>
          <a:xfrm>
            <a:off x="2427495" y="3868188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(2, 3)</a:t>
            </a:r>
            <a:endParaRPr lang="ko-KR" alt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013415D-8214-9522-94DE-1F6323A05771}"/>
              </a:ext>
            </a:extLst>
          </p:cNvPr>
          <p:cNvSpPr txBox="1"/>
          <p:nvPr/>
        </p:nvSpPr>
        <p:spPr>
          <a:xfrm>
            <a:off x="4052649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(1, 3)</a:t>
            </a:r>
            <a:endParaRPr lang="ko-KR" altLang="en-US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26D194A-8ED8-A222-57D7-0A72C366118F}"/>
              </a:ext>
            </a:extLst>
          </p:cNvPr>
          <p:cNvSpPr txBox="1"/>
          <p:nvPr/>
        </p:nvSpPr>
        <p:spPr>
          <a:xfrm>
            <a:off x="5691091" y="4116751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(3, 4)</a:t>
            </a:r>
            <a:endParaRPr lang="ko-KR" altLang="en-US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A6946AC-A922-C213-AF08-FE45C68B701C}"/>
              </a:ext>
            </a:extLst>
          </p:cNvPr>
          <p:cNvSpPr txBox="1"/>
          <p:nvPr/>
        </p:nvSpPr>
        <p:spPr>
          <a:xfrm>
            <a:off x="7337530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(1, 4)</a:t>
            </a:r>
            <a:endParaRPr lang="ko-KR" altLang="en-US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F75D844-D316-B0C0-42BB-5BF05177F0D7}"/>
              </a:ext>
            </a:extLst>
          </p:cNvPr>
          <p:cNvSpPr txBox="1"/>
          <p:nvPr/>
        </p:nvSpPr>
        <p:spPr>
          <a:xfrm>
            <a:off x="9019668" y="4237520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(4,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85A9622-072E-EF32-6CFA-DA442C3FEFEA}"/>
              </a:ext>
            </a:extLst>
          </p:cNvPr>
          <p:cNvSpPr txBox="1"/>
          <p:nvPr/>
        </p:nvSpPr>
        <p:spPr>
          <a:xfrm>
            <a:off x="10559338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(1, 4)</a:t>
            </a:r>
            <a:endParaRPr lang="ko-KR" altLang="en-US" dirty="0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3110BF7A-D40A-9C35-D312-56455BF7A289}"/>
              </a:ext>
            </a:extLst>
          </p:cNvPr>
          <p:cNvSpPr/>
          <p:nvPr/>
        </p:nvSpPr>
        <p:spPr>
          <a:xfrm>
            <a:off x="913794" y="1971398"/>
            <a:ext cx="778433" cy="2940006"/>
          </a:xfrm>
          <a:prstGeom prst="rect">
            <a:avLst/>
          </a:prstGeom>
          <a:noFill/>
          <a:ln w="19050"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694B855F-902F-2FDD-C505-F5F030704E5E}"/>
              </a:ext>
            </a:extLst>
          </p:cNvPr>
          <p:cNvCxnSpPr/>
          <p:nvPr/>
        </p:nvCxnSpPr>
        <p:spPr>
          <a:xfrm>
            <a:off x="1713982" y="3324225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28B3C84C-B20A-83DC-F853-78C3947A6CA1}"/>
              </a:ext>
            </a:extLst>
          </p:cNvPr>
          <p:cNvCxnSpPr/>
          <p:nvPr/>
        </p:nvCxnSpPr>
        <p:spPr>
          <a:xfrm>
            <a:off x="3694876" y="3324225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EDDD5ADB-7D3B-8096-3E2E-A658A91911DE}"/>
              </a:ext>
            </a:extLst>
          </p:cNvPr>
          <p:cNvCxnSpPr/>
          <p:nvPr/>
        </p:nvCxnSpPr>
        <p:spPr>
          <a:xfrm>
            <a:off x="8511249" y="3409950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9FDC7CE7-DBED-ADBA-B928-DA0594621939}"/>
              </a:ext>
            </a:extLst>
          </p:cNvPr>
          <p:cNvCxnSpPr/>
          <p:nvPr/>
        </p:nvCxnSpPr>
        <p:spPr>
          <a:xfrm>
            <a:off x="10199168" y="3390900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217" name="그림 9216">
            <a:extLst>
              <a:ext uri="{FF2B5EF4-FFF2-40B4-BE49-F238E27FC236}">
                <a16:creationId xmlns:a16="http://schemas.microsoft.com/office/drawing/2014/main" id="{A06CB6E9-29F6-DB9B-673B-41CB5F5F75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2981" y="2454826"/>
            <a:ext cx="341640" cy="297078"/>
          </a:xfrm>
          <a:prstGeom prst="rect">
            <a:avLst/>
          </a:prstGeom>
        </p:spPr>
      </p:pic>
      <p:pic>
        <p:nvPicPr>
          <p:cNvPr id="9223" name="그림 9222">
            <a:extLst>
              <a:ext uri="{FF2B5EF4-FFF2-40B4-BE49-F238E27FC236}">
                <a16:creationId xmlns:a16="http://schemas.microsoft.com/office/drawing/2014/main" id="{E005E7C0-EB6C-7392-B2B4-4CF9435177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9300" y="2436482"/>
            <a:ext cx="350550" cy="289585"/>
          </a:xfrm>
          <a:prstGeom prst="rect">
            <a:avLst/>
          </a:prstGeom>
        </p:spPr>
      </p:pic>
      <p:pic>
        <p:nvPicPr>
          <p:cNvPr id="9225" name="그림 9224">
            <a:extLst>
              <a:ext uri="{FF2B5EF4-FFF2-40B4-BE49-F238E27FC236}">
                <a16:creationId xmlns:a16="http://schemas.microsoft.com/office/drawing/2014/main" id="{F25A77D9-6CA8-EBB1-32C2-CE60ED807B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7341" y="2230741"/>
            <a:ext cx="320068" cy="320068"/>
          </a:xfrm>
          <a:prstGeom prst="rect">
            <a:avLst/>
          </a:prstGeom>
        </p:spPr>
      </p:pic>
      <p:pic>
        <p:nvPicPr>
          <p:cNvPr id="9231" name="그림 9230">
            <a:extLst>
              <a:ext uri="{FF2B5EF4-FFF2-40B4-BE49-F238E27FC236}">
                <a16:creationId xmlns:a16="http://schemas.microsoft.com/office/drawing/2014/main" id="{94B2481D-E98C-DA55-0841-B1DD319519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23154" y="2299322"/>
            <a:ext cx="1524132" cy="586791"/>
          </a:xfrm>
          <a:prstGeom prst="rect">
            <a:avLst/>
          </a:prstGeom>
        </p:spPr>
      </p:pic>
      <p:sp>
        <p:nvSpPr>
          <p:cNvPr id="14" name="직사각형 13">
            <a:extLst>
              <a:ext uri="{FF2B5EF4-FFF2-40B4-BE49-F238E27FC236}">
                <a16:creationId xmlns:a16="http://schemas.microsoft.com/office/drawing/2014/main" id="{5F9B3AE1-C969-CAA6-8312-BE814E0019F4}"/>
              </a:ext>
            </a:extLst>
          </p:cNvPr>
          <p:cNvSpPr/>
          <p:nvPr/>
        </p:nvSpPr>
        <p:spPr>
          <a:xfrm>
            <a:off x="4105971" y="1971398"/>
            <a:ext cx="778433" cy="2940006"/>
          </a:xfrm>
          <a:prstGeom prst="rect">
            <a:avLst/>
          </a:prstGeom>
          <a:noFill/>
          <a:ln w="19050"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A3253393-32CF-83C8-BD7B-7C6A5C120799}"/>
              </a:ext>
            </a:extLst>
          </p:cNvPr>
          <p:cNvSpPr/>
          <p:nvPr/>
        </p:nvSpPr>
        <p:spPr>
          <a:xfrm>
            <a:off x="7322779" y="1971398"/>
            <a:ext cx="778433" cy="2940006"/>
          </a:xfrm>
          <a:prstGeom prst="rect">
            <a:avLst/>
          </a:prstGeom>
          <a:noFill/>
          <a:ln w="19050"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D86CCC4-F4A6-3CED-8E1F-6D8BBD3EEB1B}"/>
              </a:ext>
            </a:extLst>
          </p:cNvPr>
          <p:cNvSpPr/>
          <p:nvPr/>
        </p:nvSpPr>
        <p:spPr>
          <a:xfrm>
            <a:off x="10572052" y="1971398"/>
            <a:ext cx="778433" cy="2940006"/>
          </a:xfrm>
          <a:prstGeom prst="rect">
            <a:avLst/>
          </a:prstGeom>
          <a:noFill/>
          <a:ln w="19050"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8174451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98F57-6188-E26B-9396-E0B2A453F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A059C10-D295-2336-F094-4C2FF4396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43</a:t>
            </a:fld>
            <a:endParaRPr lang="en-US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A589D1AB-A7EA-A13D-A66C-047538B0B3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66120" y="1486726"/>
            <a:ext cx="6576630" cy="1196444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792EDE67-B548-74E9-CEEB-1E466EB7A99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66120" y="3331796"/>
            <a:ext cx="7430144" cy="1127858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1C075147-3363-0723-E9A2-DBEB1EC07F0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66120" y="3049832"/>
            <a:ext cx="1524132" cy="281964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F6B102B5-B19B-355D-6B62-8B58AE6BDB4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rightnessContrast bright="-20000"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76769" y="4935803"/>
            <a:ext cx="5342083" cy="1432684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81A2A448-85FB-B47B-1612-8A4222CE382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rightnessContrast bright="-20000"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66120" y="4718619"/>
            <a:ext cx="1539373" cy="320068"/>
          </a:xfrm>
          <a:prstGeom prst="rect">
            <a:avLst/>
          </a:prstGeom>
        </p:spPr>
      </p:pic>
      <p:pic>
        <p:nvPicPr>
          <p:cNvPr id="9242" name="그림 9241">
            <a:extLst>
              <a:ext uri="{FF2B5EF4-FFF2-40B4-BE49-F238E27FC236}">
                <a16:creationId xmlns:a16="http://schemas.microsoft.com/office/drawing/2014/main" id="{389C9D37-088D-D449-A58A-7D41E06759E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953414" y="3350845"/>
            <a:ext cx="3809323" cy="1002079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6F25AFFB-DA44-EBB1-6C12-4AE1F199DDD3}"/>
              </a:ext>
            </a:extLst>
          </p:cNvPr>
          <p:cNvSpPr txBox="1">
            <a:spLocks/>
          </p:cNvSpPr>
          <p:nvPr/>
        </p:nvSpPr>
        <p:spPr>
          <a:xfrm>
            <a:off x="913794" y="3873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Matrix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Formulation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34CBFE7-41C2-4340-A871-5DB4C98117CD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953414" y="5066541"/>
            <a:ext cx="3809323" cy="1002079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318C7BBF-4EBF-1D43-916A-B6773502A62D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953414" y="1583297"/>
            <a:ext cx="3809323" cy="1002079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451B6456-9217-004F-90F8-CB7C0AD1B6B6}"/>
              </a:ext>
            </a:extLst>
          </p:cNvPr>
          <p:cNvSpPr/>
          <p:nvPr/>
        </p:nvSpPr>
        <p:spPr>
          <a:xfrm>
            <a:off x="9000520" y="1454855"/>
            <a:ext cx="438756" cy="1228315"/>
          </a:xfrm>
          <a:prstGeom prst="rect">
            <a:avLst/>
          </a:prstGeom>
          <a:noFill/>
          <a:ln w="19050"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F3F7253-2B9A-656E-560B-82BBC8869D7F}"/>
              </a:ext>
            </a:extLst>
          </p:cNvPr>
          <p:cNvSpPr/>
          <p:nvPr/>
        </p:nvSpPr>
        <p:spPr>
          <a:xfrm>
            <a:off x="10191136" y="3237984"/>
            <a:ext cx="438756" cy="1228315"/>
          </a:xfrm>
          <a:prstGeom prst="rect">
            <a:avLst/>
          </a:prstGeom>
          <a:noFill/>
          <a:ln w="19050"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A151B3C-2B6A-511E-CAD5-86580F6909E9}"/>
              </a:ext>
            </a:extLst>
          </p:cNvPr>
          <p:cNvSpPr/>
          <p:nvPr/>
        </p:nvSpPr>
        <p:spPr>
          <a:xfrm>
            <a:off x="11476803" y="4953422"/>
            <a:ext cx="438756" cy="1228315"/>
          </a:xfrm>
          <a:prstGeom prst="rect">
            <a:avLst/>
          </a:prstGeom>
          <a:noFill/>
          <a:ln w="19050"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6935690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862381-3972-869E-B311-851346C881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742E03F-B582-8FE9-524B-E033E8675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44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0F2F0F76-653C-E126-EB6E-A7E4FC7B99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53677" y="109568"/>
            <a:ext cx="1590674" cy="10524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07623FCE-2234-98BA-A6C8-AB07B6BDF561}"/>
              </a:ext>
            </a:extLst>
          </p:cNvPr>
          <p:cNvSpPr txBox="1">
            <a:spLocks/>
          </p:cNvSpPr>
          <p:nvPr/>
        </p:nvSpPr>
        <p:spPr>
          <a:xfrm>
            <a:off x="590464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73E8ACEE-D388-F7CA-6A08-DE923D42AC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7550" y="1480521"/>
            <a:ext cx="3592964" cy="3734398"/>
          </a:xfrm>
        </p:spPr>
        <p:txBody>
          <a:bodyPr>
            <a:normAutofit fontScale="85000" lnSpcReduction="10000"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Tutorial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배우고 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sym typeface="Wingdings" panose="05000000000000000000" pitchFamily="2" charset="2"/>
            </a:endParaRP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오른쪽 그림을 바탕으로 입력과 출력데이터를 생성하고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sym typeface="Wingdings" panose="05000000000000000000" pitchFamily="2" charset="2"/>
            </a:endParaRP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Pytorch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로 </a:t>
            </a:r>
            <a:r>
              <a:rPr lang="ko-KR" altLang="en-US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네크워크를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구성하고 학습한 후 예측하라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. 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예측하여야 하는 총 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parameters(w,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b)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는 몇 개인가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?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5DB4939-FECE-E50C-F0C1-06C4C44245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00514" y="1448109"/>
            <a:ext cx="7505700" cy="443187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960D858-72FF-9996-DDB4-58889C397859}"/>
              </a:ext>
            </a:extLst>
          </p:cNvPr>
          <p:cNvSpPr txBox="1"/>
          <p:nvPr/>
        </p:nvSpPr>
        <p:spPr>
          <a:xfrm>
            <a:off x="2600325" y="634753"/>
            <a:ext cx="30827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solidFill>
                  <a:schemeClr val="accent1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w4_pytorch_tutorial.ipynb</a:t>
            </a:r>
            <a:endParaRPr lang="ko-KR" altLang="en-US" sz="2000" dirty="0">
              <a:solidFill>
                <a:schemeClr val="accent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BEDEB4-CC20-F660-9DB2-96EED65201AC}"/>
              </a:ext>
            </a:extLst>
          </p:cNvPr>
          <p:cNvSpPr txBox="1"/>
          <p:nvPr/>
        </p:nvSpPr>
        <p:spPr>
          <a:xfrm>
            <a:off x="4100514" y="5880269"/>
            <a:ext cx="13596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source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utube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5536409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E42FB-EF10-31D4-2362-600F33B967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B60F8C-DF3A-97BB-52A4-40A63FF31B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45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C65B004C-C66E-88A0-8CF7-33281CA27F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3816" y="68913"/>
            <a:ext cx="1667479" cy="1103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C3230382-766E-AADE-75F1-79B0E6571958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Pytorch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Hands-on : regression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018FF01-38B3-F700-A018-83D7C481856C}"/>
              </a:ext>
            </a:extLst>
          </p:cNvPr>
          <p:cNvSpPr txBox="1"/>
          <p:nvPr/>
        </p:nvSpPr>
        <p:spPr>
          <a:xfrm>
            <a:off x="610995" y="2214901"/>
            <a:ext cx="5061079" cy="353943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torch.nn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torch.optim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1. 데이터 생성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2x + 1)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([[1.0], [2.0], [3.0], [4.0]],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dtype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=torch.float32)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([[3.0], [5.0], [7.0], [9.0]],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dtype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=torch.float32)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2. 모델 정의 (입력 1개, 출력 1개인 선형 회귀)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nn.Linear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(1, 1)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3. 손실 함수와 최적화 도구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criterion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nn.MSELoss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optim.SGD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model_reg.parameters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=0.01)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0D652D-4259-A877-8EEC-8F95CA0DF5C9}"/>
              </a:ext>
            </a:extLst>
          </p:cNvPr>
          <p:cNvSpPr txBox="1"/>
          <p:nvPr/>
        </p:nvSpPr>
        <p:spPr>
          <a:xfrm>
            <a:off x="5886450" y="2207588"/>
            <a:ext cx="5981075" cy="267765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4. 학습 (1000번 반복)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epoch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range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(1000):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prediction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loss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criterion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prediction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optimizer.zero_grad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loss.backward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          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backpropagation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optimizer.step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5. 예측 (5를 넣었을 때 11에 가까운 값이 나와야 함)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test_val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([[5.0]])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print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f"회귀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예측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input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5.0): {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test_val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).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item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():.4f}")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2691556-285E-295F-7E36-82C5AF7FF87A}"/>
              </a:ext>
            </a:extLst>
          </p:cNvPr>
          <p:cNvSpPr txBox="1"/>
          <p:nvPr/>
        </p:nvSpPr>
        <p:spPr>
          <a:xfrm>
            <a:off x="525270" y="1361159"/>
            <a:ext cx="11392317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회귀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(Regression)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연속적인 숫자 값을 예측하는 작업으로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y = 2x + 1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이라는 선형 관계를 학습</a:t>
            </a:r>
          </a:p>
        </p:txBody>
      </p:sp>
    </p:spTree>
    <p:extLst>
      <p:ext uri="{BB962C8B-B14F-4D97-AF65-F5344CB8AC3E}">
        <p14:creationId xmlns:p14="http://schemas.microsoft.com/office/powerpoint/2010/main" val="390159101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4ED1E5-5843-DBEB-50F5-1EA7E7C76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55FF74-5477-22AB-43FD-DF01874821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46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BAE8BB7F-4374-94A4-96E2-5D2F81230A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3816" y="68913"/>
            <a:ext cx="1667479" cy="1103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8332F086-37CC-9131-0AB6-DC91842D5818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Pytorch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Hands-on : classification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A3DFB2-48BA-7EB0-99DE-16C02139227D}"/>
              </a:ext>
            </a:extLst>
          </p:cNvPr>
          <p:cNvSpPr txBox="1"/>
          <p:nvPr/>
        </p:nvSpPr>
        <p:spPr>
          <a:xfrm>
            <a:off x="677670" y="1883738"/>
            <a:ext cx="5199255" cy="461664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1.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데이터 생성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([[-2.0], [-1.0], [1.0], [2.0]],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dtype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=torch.float32)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([[0.0], [0.0], [1.0], [1.0]],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dtype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=torch.float32)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2.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모델 정의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(Sigmoid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를 사용하여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0~1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사이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확률값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출력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class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SimpleClassifier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nn.Module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def __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init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__(self):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super().__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init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__()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self.linear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(1, 1)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self.sigmoid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nn.Sigmoid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def forward(self, x):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return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self.sigmoid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self.linear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(x))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SimpleClassifier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3.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손실 함수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이진 교차 엔트로피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와 최적화 도구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criterion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nn.BCELoss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optim.SGD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model_cls.parameters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=0.1)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0191A9-AF39-DFA2-DD6E-A46ACD670F8A}"/>
              </a:ext>
            </a:extLst>
          </p:cNvPr>
          <p:cNvSpPr txBox="1"/>
          <p:nvPr/>
        </p:nvSpPr>
        <p:spPr>
          <a:xfrm>
            <a:off x="6210991" y="1883738"/>
            <a:ext cx="5314260" cy="353943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4.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학습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for epoch in range(500):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out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loss = criterion(out,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optimizer.zero_grad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loss.backward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optimizer.step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5.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예측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test_neg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([[-5.0]])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test_pos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([[5.0]])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분류 예측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(-5.0):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test_neg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).item():.4f} (0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에 가까움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분류 예측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(+5.0):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test_pos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).item():.4f} (1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에 가까움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)"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E7D529-0B99-F34C-9456-A4BCF215413E}"/>
              </a:ext>
            </a:extLst>
          </p:cNvPr>
          <p:cNvSpPr txBox="1"/>
          <p:nvPr/>
        </p:nvSpPr>
        <p:spPr>
          <a:xfrm>
            <a:off x="525270" y="1265909"/>
            <a:ext cx="11576025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분류는 입력 데이터가 어느 그룹에 속하는지 판단하는 작업으로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보다 작으면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0, 0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보다 크면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분류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이진 분류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E43C82E-B978-5041-E3A6-54E38B1E57E2}"/>
              </a:ext>
            </a:extLst>
          </p:cNvPr>
          <p:cNvSpPr txBox="1"/>
          <p:nvPr/>
        </p:nvSpPr>
        <p:spPr>
          <a:xfrm>
            <a:off x="5876925" y="5880269"/>
            <a:ext cx="18721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b="1" dirty="0" err="1">
                <a:solidFill>
                  <a:srgbClr val="C0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loss_function</a:t>
            </a:r>
            <a:endParaRPr lang="ko-KR" altLang="en-US" sz="1600" b="1" dirty="0">
              <a:solidFill>
                <a:srgbClr val="C00000"/>
              </a:solidFill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4430063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6374E8-82B3-D847-F7E8-EF04D487C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61781C-D05A-B519-20BE-DBE65D41BB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47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EBBEECA-7208-58A6-BAAE-4D2303EBA9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63199" y="66676"/>
            <a:ext cx="1657351" cy="10966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F2C9450F-B441-3F20-44D9-4580F732A108}"/>
              </a:ext>
            </a:extLst>
          </p:cNvPr>
          <p:cNvSpPr txBox="1">
            <a:spLocks/>
          </p:cNvSpPr>
          <p:nvPr/>
        </p:nvSpPr>
        <p:spPr>
          <a:xfrm>
            <a:off x="437545" y="502356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Backpropagation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716D3317-9D82-5C29-5B4D-23A68081DE1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791856" y="2346102"/>
            <a:ext cx="10516592" cy="369015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01DA442-0A02-35E1-5924-E2BF51A7DDF7}"/>
              </a:ext>
            </a:extLst>
          </p:cNvPr>
          <p:cNvSpPr txBox="1"/>
          <p:nvPr/>
        </p:nvSpPr>
        <p:spPr>
          <a:xfrm>
            <a:off x="791856" y="6201755"/>
            <a:ext cx="9193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 Tube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67FD12-73D2-3353-A8C4-7E7C0383DD21}"/>
              </a:ext>
            </a:extLst>
          </p:cNvPr>
          <p:cNvSpPr txBox="1"/>
          <p:nvPr/>
        </p:nvSpPr>
        <p:spPr>
          <a:xfrm>
            <a:off x="544946" y="1415177"/>
            <a:ext cx="1114829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력변수가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개인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XOR 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문제를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단층구조 네트워크로 만들고 엑셀로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parameter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 propagation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구하라</a:t>
            </a:r>
            <a:endParaRPr lang="ko-KR" alt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B0F3AF9-A173-B593-4230-2FE3E7921A68}"/>
              </a:ext>
            </a:extLst>
          </p:cNvPr>
          <p:cNvSpPr txBox="1"/>
          <p:nvPr/>
        </p:nvSpPr>
        <p:spPr>
          <a:xfrm>
            <a:off x="704850" y="2082568"/>
            <a:ext cx="516173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XOR_perceptron_optimization_backprpagation_sgd.xlsx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2399054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D1D66E-3002-A56F-DF76-AA82152EA7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D61D28-EFC5-6097-DEE8-D30506D427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Deep Learning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C72781A-2383-4E2D-7B76-619F7FA06A3A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1137793"/>
          </a:xfrm>
        </p:spPr>
        <p:txBody>
          <a:bodyPr rtlCol="0">
            <a:normAutofit/>
          </a:bodyPr>
          <a:lstStyle/>
          <a:p>
            <a:r>
              <a:rPr lang="en-US" altLang="ko-KR" sz="2400" dirty="0" err="1">
                <a:solidFill>
                  <a:schemeClr val="bg1"/>
                </a:solidFill>
              </a:rPr>
              <a:t>Pytorch</a:t>
            </a:r>
            <a:r>
              <a:rPr lang="ko-KR" altLang="en-US" sz="2400" dirty="0">
                <a:solidFill>
                  <a:schemeClr val="bg1"/>
                </a:solidFill>
              </a:rPr>
              <a:t> </a:t>
            </a:r>
            <a:r>
              <a:rPr lang="en-US" altLang="ko-KR" sz="2400" dirty="0">
                <a:solidFill>
                  <a:schemeClr val="bg1"/>
                </a:solidFill>
              </a:rPr>
              <a:t>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3545019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3ECCFD-463F-7127-518A-5DC5407A9C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99266F11-C291-BAA9-5735-0A5A7CFF4F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 err="1">
                <a:cs typeface="Segoe UI Light" panose="020B0502040204020203" pitchFamily="34" charset="0"/>
              </a:rPr>
              <a:t>pytorch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tutorial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5D2A3FE8-AC2B-31B3-C63B-4CF02B6CB59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49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DBC71BA-4391-0FA8-6E62-1CDC58F5E7DD}"/>
              </a:ext>
            </a:extLst>
          </p:cNvPr>
          <p:cNvSpPr txBox="1"/>
          <p:nvPr/>
        </p:nvSpPr>
        <p:spPr>
          <a:xfrm>
            <a:off x="950697" y="1402638"/>
            <a:ext cx="10553194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Installation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Tensor Basics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Autograd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Backpropagation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Gradient Descent With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and Backpropagation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Training Pipeline: Model, Loss, and Optimizer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Logistic Regression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Dataset and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DataLoader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Dataset Transforms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Softmax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And Cross Entropy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Activation Functions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Feed-Forward Neural Net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Convolutional Neural Net (CNN)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Transfer Learning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Tensorboard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Save and Load Models</a:t>
            </a:r>
          </a:p>
          <a:p>
            <a:pPr marL="342900" indent="-342900">
              <a:buFont typeface="+mj-lt"/>
              <a:buAutoNum type="arabicPeriod"/>
            </a:pP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610900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1763</TotalTime>
  <Words>4201</Words>
  <Application>Microsoft Office PowerPoint</Application>
  <PresentationFormat>와이드스크린</PresentationFormat>
  <Paragraphs>539</Paragraphs>
  <Slides>49</Slides>
  <Notes>11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49</vt:i4>
      </vt:variant>
    </vt:vector>
  </HeadingPairs>
  <TitlesOfParts>
    <vt:vector size="61" baseType="lpstr">
      <vt:lpstr>D2Coding</vt:lpstr>
      <vt:lpstr>NanumGothicExtraBold</vt:lpstr>
      <vt:lpstr>맑은 고딕</vt:lpstr>
      <vt:lpstr>맑은 고딕 Semilight</vt:lpstr>
      <vt:lpstr>Batang</vt:lpstr>
      <vt:lpstr>ADLaM Display</vt:lpstr>
      <vt:lpstr>Arial</vt:lpstr>
      <vt:lpstr>Arial Narrow</vt:lpstr>
      <vt:lpstr>Cambria Math</vt:lpstr>
      <vt:lpstr>Segoe UI Light</vt:lpstr>
      <vt:lpstr>Wingdings</vt:lpstr>
      <vt:lpstr>WelcomeDoc</vt:lpstr>
      <vt:lpstr>Deep Learning</vt:lpstr>
      <vt:lpstr>Goals</vt:lpstr>
      <vt:lpstr>Motivation</vt:lpstr>
      <vt:lpstr>Henrietta_Swan_Leavitt</vt:lpstr>
      <vt:lpstr>Terminology</vt:lpstr>
      <vt:lpstr>Contents</vt:lpstr>
      <vt:lpstr>Linear Regression</vt:lpstr>
      <vt:lpstr>Linear Regression as dot product form</vt:lpstr>
      <vt:lpstr>Linear Regression as dot product form</vt:lpstr>
      <vt:lpstr>Fitting a line to data</vt:lpstr>
      <vt:lpstr>Matrix Formulation</vt:lpstr>
      <vt:lpstr>Ordinary Least Squares</vt:lpstr>
      <vt:lpstr>PowerPoint 프레젠테이션</vt:lpstr>
      <vt:lpstr>PowerPoint 프레젠테이션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Contents</vt:lpstr>
      <vt:lpstr>     Perceptron and Regression</vt:lpstr>
      <vt:lpstr>PowerPoint 프레젠테이션</vt:lpstr>
      <vt:lpstr>PowerPoint 프레젠테이션</vt:lpstr>
      <vt:lpstr>PowerPoint 프레젠테이션</vt:lpstr>
      <vt:lpstr>PowerPoint 프레젠테이션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Deep Learning</vt:lpstr>
      <vt:lpstr>pytorch tutorial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57</cp:revision>
  <dcterms:created xsi:type="dcterms:W3CDTF">2026-04-06T01:00:39Z</dcterms:created>
  <dcterms:modified xsi:type="dcterms:W3CDTF">2026-04-22T15:39:04Z</dcterms:modified>
  <cp:version/>
</cp:coreProperties>
</file>