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985" r:id="rId29"/>
    <p:sldId id="984" r:id="rId30"/>
    <p:sldId id="852" r:id="rId31"/>
    <p:sldId id="969" r:id="rId32"/>
    <p:sldId id="937" r:id="rId33"/>
    <p:sldId id="883" r:id="rId34"/>
    <p:sldId id="988" r:id="rId35"/>
    <p:sldId id="974" r:id="rId36"/>
    <p:sldId id="997" r:id="rId37"/>
    <p:sldId id="989" r:id="rId38"/>
    <p:sldId id="975" r:id="rId39"/>
    <p:sldId id="954" r:id="rId40"/>
    <p:sldId id="882" r:id="rId41"/>
    <p:sldId id="1003" r:id="rId42"/>
    <p:sldId id="1002" r:id="rId43"/>
    <p:sldId id="932" r:id="rId44"/>
    <p:sldId id="993" r:id="rId45"/>
    <p:sldId id="998" r:id="rId4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74"/>
            <p14:sldId id="997"/>
            <p14:sldId id="989"/>
            <p14:sldId id="975"/>
            <p14:sldId id="954"/>
            <p14:sldId id="882"/>
            <p14:sldId id="1003"/>
            <p14:sldId id="1002"/>
            <p14:sldId id="932"/>
            <p14:sldId id="993"/>
            <p14:sldId id="99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60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5.sv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12" Type="http://schemas.openxmlformats.org/officeDocument/2006/relationships/image" Target="../media/image89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5" Type="http://schemas.openxmlformats.org/officeDocument/2006/relationships/image" Target="../media/image99.png"/><Relationship Id="rId10" Type="http://schemas.openxmlformats.org/officeDocument/2006/relationships/image" Target="../media/image104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96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5263926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5684069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9FEEF38-324F-0593-546E-CDFA90C60E5E}"/>
              </a:ext>
            </a:extLst>
          </p:cNvPr>
          <p:cNvGrpSpPr/>
          <p:nvPr/>
        </p:nvGrpSpPr>
        <p:grpSpPr>
          <a:xfrm>
            <a:off x="2962544" y="2386853"/>
            <a:ext cx="2376814" cy="3330552"/>
            <a:chOff x="3305444" y="2386853"/>
            <a:chExt cx="2376814" cy="333055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E5B0194-4379-CEFE-15AC-E1CC9C7CDA34}"/>
                </a:ext>
              </a:extLst>
            </p:cNvPr>
            <p:cNvCxnSpPr>
              <a:cxnSpLocks/>
              <a:stCxn id="3" idx="6"/>
              <a:endCxn id="19" idx="2"/>
            </p:cNvCxnSpPr>
            <p:nvPr/>
          </p:nvCxnSpPr>
          <p:spPr>
            <a:xfrm>
              <a:off x="3383459" y="3924230"/>
              <a:ext cx="2223367" cy="1115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B41539A-E268-F490-CC02-5C475E24698F}"/>
                </a:ext>
              </a:extLst>
            </p:cNvPr>
            <p:cNvSpPr/>
            <p:nvPr/>
          </p:nvSpPr>
          <p:spPr>
            <a:xfrm>
              <a:off x="3905777" y="4899425"/>
              <a:ext cx="840284" cy="8179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endParaRPr lang="ko-KR" altLang="en-US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123B24C2-28A6-4D10-0B3A-B029DC9411F4}"/>
                </a:ext>
              </a:extLst>
            </p:cNvPr>
            <p:cNvCxnSpPr>
              <a:cxnSpLocks/>
              <a:stCxn id="10" idx="7"/>
              <a:endCxn id="19" idx="3"/>
            </p:cNvCxnSpPr>
            <p:nvPr/>
          </p:nvCxnSpPr>
          <p:spPr>
            <a:xfrm flipV="1">
              <a:off x="4623004" y="4232469"/>
              <a:ext cx="1059254" cy="786746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/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6667" r="-3333" b="-176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/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6557" r="-3279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F0D505-7E90-D3A5-3CAD-21E3C3F5D99F}"/>
                </a:ext>
              </a:extLst>
            </p:cNvPr>
            <p:cNvSpPr/>
            <p:nvPr/>
          </p:nvSpPr>
          <p:spPr>
            <a:xfrm>
              <a:off x="3305444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Weights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4655660" y="2387418"/>
            <a:ext cx="22499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318552" y="2716823"/>
            <a:ext cx="4744428" cy="311247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  <a:blipFill>
                <a:blip r:embed="rId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1772D94C-741B-EBFA-3B29-5FA5D231070E}"/>
              </a:ext>
            </a:extLst>
          </p:cNvPr>
          <p:cNvGrpSpPr/>
          <p:nvPr/>
        </p:nvGrpSpPr>
        <p:grpSpPr>
          <a:xfrm>
            <a:off x="1728509" y="2386853"/>
            <a:ext cx="1780186" cy="3372848"/>
            <a:chOff x="2071409" y="2386853"/>
            <a:chExt cx="1780186" cy="337284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/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1C87C6D-B6F7-E7F9-521E-3D2F40D3D3F4}"/>
                </a:ext>
              </a:extLst>
            </p:cNvPr>
            <p:cNvSpPr/>
            <p:nvPr/>
          </p:nvSpPr>
          <p:spPr>
            <a:xfrm>
              <a:off x="2071409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Input</a:t>
              </a:r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5E615629-25CC-350E-7711-C87E5ED90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20336" y="4506459"/>
              <a:ext cx="1214595" cy="1253242"/>
            </a:xfrm>
            <a:prstGeom prst="rect">
              <a:avLst/>
            </a:pr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D8550AB-9C20-98FE-6676-60C812652640}"/>
              </a:ext>
            </a:extLst>
          </p:cNvPr>
          <p:cNvGrpSpPr/>
          <p:nvPr/>
        </p:nvGrpSpPr>
        <p:grpSpPr>
          <a:xfrm>
            <a:off x="8730552" y="2379460"/>
            <a:ext cx="1780186" cy="3385071"/>
            <a:chOff x="8921052" y="2379460"/>
            <a:chExt cx="1780186" cy="3385071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E48D8F8-98D4-7429-88BE-455A8189E92F}"/>
                </a:ext>
              </a:extLst>
            </p:cNvPr>
            <p:cNvSpPr/>
            <p:nvPr/>
          </p:nvSpPr>
          <p:spPr>
            <a:xfrm>
              <a:off x="8921052" y="2379460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Actual y</a:t>
              </a: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E3D4FDAA-A454-51E2-EB7C-210D15852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37802" y="4506343"/>
              <a:ext cx="1020153" cy="1258188"/>
            </a:xfrm>
            <a:prstGeom prst="rect">
              <a:avLst/>
            </a:prstGeom>
          </p:spPr>
        </p:pic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  <a:endCxn id="68" idx="1"/>
          </p:cNvCxnSpPr>
          <p:nvPr/>
        </p:nvCxnSpPr>
        <p:spPr>
          <a:xfrm flipV="1">
            <a:off x="6104212" y="3924230"/>
            <a:ext cx="2411138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  <a:blipFill>
                <a:blip r:embed="rId10"/>
                <a:stretch>
                  <a:fillRect r="-6931"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7861821" y="2386853"/>
            <a:ext cx="16868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4A0F54-2BAF-349B-5B5D-97E3FA6EE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5481" y="4490956"/>
            <a:ext cx="516826" cy="1284248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CBD519E3-12B3-F187-F1F2-55669C9B7DD2}"/>
              </a:ext>
            </a:extLst>
          </p:cNvPr>
          <p:cNvGrpSpPr/>
          <p:nvPr/>
        </p:nvGrpSpPr>
        <p:grpSpPr>
          <a:xfrm>
            <a:off x="9876865" y="2386853"/>
            <a:ext cx="1780186" cy="1706654"/>
            <a:chOff x="10000690" y="2386853"/>
            <a:chExt cx="1780186" cy="170665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/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sty m:val="p"/>
                              </m:r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ko-KR" altLang="en-US" sz="1600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621"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08F5C12-BAAE-4ECE-8B92-DFE290463671}"/>
                </a:ext>
              </a:extLst>
            </p:cNvPr>
            <p:cNvSpPr/>
            <p:nvPr/>
          </p:nvSpPr>
          <p:spPr>
            <a:xfrm>
              <a:off x="10000690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Squared error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49CE807-98D0-88FD-70A1-D6FBDF4D41CB}"/>
              </a:ext>
            </a:extLst>
          </p:cNvPr>
          <p:cNvGrpSpPr/>
          <p:nvPr/>
        </p:nvGrpSpPr>
        <p:grpSpPr>
          <a:xfrm>
            <a:off x="6610349" y="2243978"/>
            <a:ext cx="1282281" cy="1988491"/>
            <a:chOff x="6610349" y="2243978"/>
            <a:chExt cx="1282281" cy="198849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BE57420-61E3-16F4-35BB-8FC03FD12D2C}"/>
                </a:ext>
              </a:extLst>
            </p:cNvPr>
            <p:cNvGrpSpPr/>
            <p:nvPr/>
          </p:nvGrpSpPr>
          <p:grpSpPr>
            <a:xfrm>
              <a:off x="6610349" y="2243978"/>
              <a:ext cx="1282281" cy="1061583"/>
              <a:chOff x="6953249" y="2243978"/>
              <a:chExt cx="1282281" cy="106158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/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oMath>
                      </m:oMathPara>
                    </a14:m>
                    <a:endParaRPr lang="ko-KR" altLang="en-US" sz="1600" dirty="0"/>
                  </a:p>
                </p:txBody>
              </p:sp>
            </mc:Choice>
            <mc:Fallback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5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E9C596E4-1E62-4B84-87BB-5BB08482914A}"/>
                  </a:ext>
                </a:extLst>
              </p:cNvPr>
              <p:cNvSpPr/>
              <p:nvPr/>
            </p:nvSpPr>
            <p:spPr>
              <a:xfrm>
                <a:off x="6964841" y="2243978"/>
                <a:ext cx="122475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base" latinLnBrk="1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en-US" altLang="ko-KR" sz="1200" dirty="0">
                    <a:solidFill>
                      <a:prstClr val="black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Activation function</a:t>
                </a:r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AFF570E8-BCAB-F313-5B67-FE98143CB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05624" y="3643485"/>
              <a:ext cx="803628" cy="5889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6" grpId="0"/>
      <p:bldP spid="13" grpId="0" animBg="1"/>
      <p:bldP spid="20" grpId="0"/>
      <p:bldP spid="68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97C5A6A-3B6B-A2D6-548B-71FA1CC02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835" y="3242033"/>
            <a:ext cx="725689" cy="18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Networks(NN)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4" y="2353148"/>
            <a:ext cx="4421460" cy="3038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1712439" y="5702801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353148"/>
            <a:ext cx="5366818" cy="303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376343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ED28658-A522-AA22-81E7-3090678D3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338" y="1489682"/>
            <a:ext cx="2004787" cy="85400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A8B69D3-9DCC-6057-CA7E-8D8CB8816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2314" y="1489682"/>
            <a:ext cx="5746955" cy="211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487C6-B131-6F99-3CB6-1EFAD0C3F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2E13D3-6AA1-039B-EEC2-5863D165D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F9051B-FB83-6946-EA0E-6B1F2ED5F4AC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C3E89A4-F940-0CB9-BF38-8AC3E1DEC845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DL: Chain of Affine and Activation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4C3E29-A3BD-8459-2D91-0CBC5BF12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412" y="1816426"/>
            <a:ext cx="8890185" cy="5937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C0F2615-BF1A-F9E1-DC36-7853B9EB0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667" y="2580448"/>
            <a:ext cx="1984227" cy="11905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00EA6DA-B79A-FDB2-4E36-184948C01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350" y="2628073"/>
            <a:ext cx="1959930" cy="11581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43BA7B6-84AB-05B0-0D04-21350AF97E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9438" y="4790521"/>
            <a:ext cx="5472713" cy="6762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E4A979C-8E30-172F-D9F6-ED6699AF6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810" y="4066058"/>
            <a:ext cx="1967769" cy="52708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17CF5735-E9E7-8875-F206-7EC93EDB92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7377" y="4066056"/>
            <a:ext cx="1892473" cy="517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E419BC3-2957-9E0C-BAD3-12B8FFBD2CD5}"/>
              </a:ext>
            </a:extLst>
          </p:cNvPr>
          <p:cNvSpPr txBox="1"/>
          <p:nvPr/>
        </p:nvSpPr>
        <p:spPr>
          <a:xfrm>
            <a:off x="4210353" y="1487965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1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CAA532-39F8-C971-0110-F2383E66922A}"/>
              </a:ext>
            </a:extLst>
          </p:cNvPr>
          <p:cNvSpPr txBox="1"/>
          <p:nvPr/>
        </p:nvSpPr>
        <p:spPr>
          <a:xfrm>
            <a:off x="6532500" y="1487965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6E1082-22DE-2A11-15A0-0FF3EA57E8EF}"/>
              </a:ext>
            </a:extLst>
          </p:cNvPr>
          <p:cNvSpPr txBox="1"/>
          <p:nvPr/>
        </p:nvSpPr>
        <p:spPr>
          <a:xfrm>
            <a:off x="8873441" y="1487965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E983CD7-9B48-8754-389F-F4BEA2622B1A}"/>
              </a:ext>
            </a:extLst>
          </p:cNvPr>
          <p:cNvGrpSpPr/>
          <p:nvPr/>
        </p:nvGrpSpPr>
        <p:grpSpPr>
          <a:xfrm>
            <a:off x="429606" y="2575805"/>
            <a:ext cx="10698696" cy="3417854"/>
            <a:chOff x="429606" y="2575805"/>
            <a:chExt cx="10698696" cy="341785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/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참고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: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입력변수가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단병량이면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ko-KR" alt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=1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로 놓으면 이전 벡터 표현과 동일하고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ko-KR" altLang="en-US" sz="1400" b="0" i="1">
                          <a:latin typeface="Cambria Math" panose="02040503050406030204" pitchFamily="18" charset="0"/>
                        </a:rPr>
                        <m:t>b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는 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broadcasting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으로 </a:t>
                  </a:r>
                  <a14:m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m:rPr>
                              <m:nor/>
                            </m:rPr>
                            <a:rPr lang="ko-KR" altLang="en-US" sz="1400" i="1"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 </m:t>
                          </m:r>
                          <m:sSub>
                            <m:sSubPr>
                              <m:ctrlPr>
                                <a:rPr lang="ko-KR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형태로 각 행에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더해짐</a:t>
                  </a:r>
                  <a:endPara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174" t="-4000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0F91C10D-1C9F-5E76-65B2-150BAEAB4257}"/>
                </a:ext>
              </a:extLst>
            </p:cNvPr>
            <p:cNvGrpSpPr/>
            <p:nvPr/>
          </p:nvGrpSpPr>
          <p:grpSpPr>
            <a:xfrm>
              <a:off x="429606" y="2575805"/>
              <a:ext cx="5151256" cy="1972154"/>
              <a:chOff x="429606" y="2575805"/>
              <a:chExt cx="5151256" cy="1972154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5C620087-FFDA-ED60-268F-D8EE9B4414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49901" y="2675698"/>
                <a:ext cx="1919436" cy="1069053"/>
              </a:xfrm>
              <a:prstGeom prst="rect">
                <a:avLst/>
              </a:prstGeom>
            </p:spPr>
          </p:pic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0D9F089C-1010-6EAC-E24B-FB6CA5CB6D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3725" y="4066056"/>
                <a:ext cx="1807137" cy="481903"/>
              </a:xfrm>
              <a:prstGeom prst="rect">
                <a:avLst/>
              </a:prstGeom>
            </p:spPr>
          </p:pic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3A85ED2-EB4E-7273-26B9-21A8C89BB160}"/>
                  </a:ext>
                </a:extLst>
              </p:cNvPr>
              <p:cNvGrpSpPr/>
              <p:nvPr/>
            </p:nvGrpSpPr>
            <p:grpSpPr>
              <a:xfrm>
                <a:off x="429606" y="2575805"/>
                <a:ext cx="2399319" cy="1871991"/>
                <a:chOff x="239106" y="2338059"/>
                <a:chExt cx="3380526" cy="2491956"/>
              </a:xfrm>
            </p:grpSpPr>
            <p:pic>
              <p:nvPicPr>
                <p:cNvPr id="29" name="그림 28">
                  <a:extLst>
                    <a:ext uri="{FF2B5EF4-FFF2-40B4-BE49-F238E27FC236}">
                      <a16:creationId xmlns:a16="http://schemas.microsoft.com/office/drawing/2014/main" id="{D238A721-664E-AC3F-E730-9F82A92E18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9106" y="2357111"/>
                  <a:ext cx="1806097" cy="2453853"/>
                </a:xfrm>
                <a:prstGeom prst="rect">
                  <a:avLst/>
                </a:prstGeom>
              </p:spPr>
            </p:pic>
            <p:pic>
              <p:nvPicPr>
                <p:cNvPr id="31" name="그림 30">
                  <a:extLst>
                    <a:ext uri="{FF2B5EF4-FFF2-40B4-BE49-F238E27FC236}">
                      <a16:creationId xmlns:a16="http://schemas.microsoft.com/office/drawing/2014/main" id="{B6626E91-25E1-CBB7-CA3E-FB45F228C7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33434" y="2338059"/>
                  <a:ext cx="2286198" cy="2491956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2184111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 xmlns="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2828</TotalTime>
  <Words>2780</Words>
  <Application>Microsoft Office PowerPoint</Application>
  <PresentationFormat>와이드스크린</PresentationFormat>
  <Paragraphs>335</Paragraphs>
  <Slides>45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8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83</cp:revision>
  <dcterms:created xsi:type="dcterms:W3CDTF">2026-04-06T01:00:39Z</dcterms:created>
  <dcterms:modified xsi:type="dcterms:W3CDTF">2026-04-28T20:13:29Z</dcterms:modified>
  <cp:version/>
</cp:coreProperties>
</file>