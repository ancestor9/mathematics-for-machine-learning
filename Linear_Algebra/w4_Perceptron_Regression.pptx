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0"/>
  </p:notesMasterIdLst>
  <p:handoutMasterIdLst>
    <p:handoutMasterId r:id="rId61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335" r:id="rId11"/>
    <p:sldId id="938" r:id="rId12"/>
    <p:sldId id="871" r:id="rId13"/>
    <p:sldId id="872" r:id="rId14"/>
    <p:sldId id="947" r:id="rId15"/>
    <p:sldId id="931" r:id="rId16"/>
    <p:sldId id="958" r:id="rId17"/>
    <p:sldId id="970" r:id="rId18"/>
    <p:sldId id="971" r:id="rId19"/>
    <p:sldId id="873" r:id="rId20"/>
    <p:sldId id="907" r:id="rId21"/>
    <p:sldId id="945" r:id="rId22"/>
    <p:sldId id="946" r:id="rId23"/>
    <p:sldId id="930" r:id="rId24"/>
    <p:sldId id="851" r:id="rId25"/>
    <p:sldId id="985" r:id="rId26"/>
    <p:sldId id="984" r:id="rId27"/>
    <p:sldId id="852" r:id="rId28"/>
    <p:sldId id="969" r:id="rId29"/>
    <p:sldId id="937" r:id="rId30"/>
    <p:sldId id="883" r:id="rId31"/>
    <p:sldId id="988" r:id="rId32"/>
    <p:sldId id="989" r:id="rId33"/>
    <p:sldId id="981" r:id="rId34"/>
    <p:sldId id="974" r:id="rId35"/>
    <p:sldId id="975" r:id="rId36"/>
    <p:sldId id="954" r:id="rId37"/>
    <p:sldId id="882" r:id="rId38"/>
    <p:sldId id="932" r:id="rId39"/>
    <p:sldId id="993" r:id="rId40"/>
    <p:sldId id="978" r:id="rId41"/>
    <p:sldId id="973" r:id="rId42"/>
    <p:sldId id="977" r:id="rId43"/>
    <p:sldId id="986" r:id="rId44"/>
    <p:sldId id="976" r:id="rId45"/>
    <p:sldId id="886" r:id="rId46"/>
    <p:sldId id="949" r:id="rId47"/>
    <p:sldId id="991" r:id="rId48"/>
    <p:sldId id="990" r:id="rId49"/>
    <p:sldId id="992" r:id="rId50"/>
    <p:sldId id="987" r:id="rId51"/>
    <p:sldId id="982" r:id="rId52"/>
    <p:sldId id="983" r:id="rId53"/>
    <p:sldId id="968" r:id="rId54"/>
    <p:sldId id="994" r:id="rId55"/>
    <p:sldId id="908" r:id="rId56"/>
    <p:sldId id="885" r:id="rId57"/>
    <p:sldId id="979" r:id="rId58"/>
    <p:sldId id="980" r:id="rId5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58"/>
            <p14:sldId id="970"/>
            <p14:sldId id="971"/>
            <p14:sldId id="873"/>
            <p14:sldId id="907"/>
            <p14:sldId id="945"/>
            <p14:sldId id="946"/>
            <p14:sldId id="930"/>
            <p14:sldId id="851"/>
            <p14:sldId id="985"/>
            <p14:sldId id="984"/>
            <p14:sldId id="852"/>
            <p14:sldId id="969"/>
            <p14:sldId id="937"/>
            <p14:sldId id="883"/>
            <p14:sldId id="988"/>
            <p14:sldId id="989"/>
            <p14:sldId id="981"/>
            <p14:sldId id="974"/>
            <p14:sldId id="975"/>
            <p14:sldId id="954"/>
            <p14:sldId id="882"/>
            <p14:sldId id="932"/>
            <p14:sldId id="993"/>
            <p14:sldId id="978"/>
            <p14:sldId id="973"/>
            <p14:sldId id="977"/>
            <p14:sldId id="986"/>
            <p14:sldId id="976"/>
            <p14:sldId id="886"/>
            <p14:sldId id="949"/>
            <p14:sldId id="991"/>
            <p14:sldId id="990"/>
            <p14:sldId id="992"/>
            <p14:sldId id="987"/>
            <p14:sldId id="982"/>
            <p14:sldId id="983"/>
            <p14:sldId id="968"/>
            <p14:sldId id="994"/>
            <p14:sldId id="908"/>
            <p14:sldId id="885"/>
            <p14:sldId id="979"/>
            <p14:sldId id="98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DD462F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-63648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handoutMaster" Target="handoutMasters/handout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C12CA-9D2F-F288-FA76-3143D6F94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E904F3-3AB1-ACD5-18C2-8CD568856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20EC024-0D98-D39D-2E50-BDA85B9AAF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811EF2-08FC-31B3-3B73-F3AB562559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60619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3F987-F2FF-8FE5-C93A-60FA8597F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FE57C7-7F72-B9F3-D10C-DF821448FC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A86459-E845-2D50-AAA1-9332006DD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1FD7CA-87C4-81E5-E6F3-143D2EFED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9961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sv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20.jpe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gi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numpy.org/doc/stable/user/absolute_beginners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youtube.com/shorts/E4VGh3CthvA" TargetMode="External"/><Relationship Id="rId4" Type="http://schemas.openxmlformats.org/officeDocument/2006/relationships/image" Target="../media/image5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58.png"/><Relationship Id="rId10" Type="http://schemas.openxmlformats.org/officeDocument/2006/relationships/image" Target="../media/image63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stochasti%20gradient%20descent.xlsx" TargetMode="External"/><Relationship Id="rId4" Type="http://schemas.openxmlformats.org/officeDocument/2006/relationships/image" Target="../media/image67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0.png"/><Relationship Id="rId13" Type="http://schemas.openxmlformats.org/officeDocument/2006/relationships/image" Target="../media/image69.png"/><Relationship Id="rId3" Type="http://schemas.openxmlformats.org/officeDocument/2006/relationships/image" Target="../media/image530.png"/><Relationship Id="rId7" Type="http://schemas.openxmlformats.org/officeDocument/2006/relationships/image" Target="../media/image570.png"/><Relationship Id="rId12" Type="http://schemas.openxmlformats.org/officeDocument/2006/relationships/image" Target="../media/image68.png"/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0.png"/><Relationship Id="rId11" Type="http://schemas.openxmlformats.org/officeDocument/2006/relationships/image" Target="../media/image610.png"/><Relationship Id="rId5" Type="http://schemas.openxmlformats.org/officeDocument/2006/relationships/image" Target="../media/image550.png"/><Relationship Id="rId10" Type="http://schemas.openxmlformats.org/officeDocument/2006/relationships/image" Target="../media/image600.png"/><Relationship Id="rId4" Type="http://schemas.openxmlformats.org/officeDocument/2006/relationships/image" Target="../media/image540.png"/><Relationship Id="rId9" Type="http://schemas.openxmlformats.org/officeDocument/2006/relationships/image" Target="../media/image590.png"/><Relationship Id="rId14" Type="http://schemas.openxmlformats.org/officeDocument/2006/relationships/image" Target="../media/image64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jpe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7" Type="http://schemas.openxmlformats.org/officeDocument/2006/relationships/image" Target="../media/image80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stochasti%20gradient%20descent.xlsx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2.wdp"/><Relationship Id="rId4" Type="http://schemas.openxmlformats.org/officeDocument/2006/relationships/image" Target="../media/image84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hyperlink" Target="https://github.com/ancestor9/mathematics-for-machine-learning/blob/main/excel/loss_functions.xlsx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hyperlink" Target="https://github.com/ancestor9/mathematics-for-machine-learning/blob/main/pytorch/08_odds_ratio_logit_sigmoid.ipynb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XOR_perceptron_optimization_backprpagation_sgd.xlsx" TargetMode="External"/><Relationship Id="rId4" Type="http://schemas.openxmlformats.org/officeDocument/2006/relationships/hyperlink" Target="https://www.youtube.com/watch?v=t3VBY9OisCo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102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tree/main/pytorch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4107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 Loss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00" y="2157976"/>
            <a:ext cx="5703442" cy="1809613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087458C-A8A4-997D-69D5-0962A19E1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500" y="4070130"/>
            <a:ext cx="6778766" cy="2102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238560"/>
            <a:ext cx="5542552" cy="1020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>
            <a:cxnSpLocks/>
          </p:cNvCxnSpPr>
          <p:nvPr/>
        </p:nvCxnSpPr>
        <p:spPr>
          <a:xfrm>
            <a:off x="8807805" y="3512402"/>
            <a:ext cx="0" cy="554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244402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611334" y="4683312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2B217FE-4AAB-2DE3-6FEB-8B890599A97C}"/>
              </a:ext>
            </a:extLst>
          </p:cNvPr>
          <p:cNvCxnSpPr>
            <a:cxnSpLocks/>
          </p:cNvCxnSpPr>
          <p:nvPr/>
        </p:nvCxnSpPr>
        <p:spPr>
          <a:xfrm flipV="1">
            <a:off x="2219325" y="5301082"/>
            <a:ext cx="517779" cy="48326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6BE8122-76D2-1D02-31B8-0967BE072EDE}"/>
              </a:ext>
            </a:extLst>
          </p:cNvPr>
          <p:cNvCxnSpPr>
            <a:cxnSpLocks/>
          </p:cNvCxnSpPr>
          <p:nvPr/>
        </p:nvCxnSpPr>
        <p:spPr>
          <a:xfrm>
            <a:off x="2737104" y="5294751"/>
            <a:ext cx="1142046" cy="350145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래픽 22" descr="반시계 방향으로 굽은 화살표">
            <a:extLst>
              <a:ext uri="{FF2B5EF4-FFF2-40B4-BE49-F238E27FC236}">
                <a16:creationId xmlns:a16="http://schemas.microsoft.com/office/drawing/2014/main" id="{1BDA7337-425F-34F8-7ED3-63E9850FE5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88336" y="5372968"/>
            <a:ext cx="312016" cy="312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Algorithm(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2"/>
              </a:rPr>
              <a:t>sgd.xlsx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B7E8-B3A7-FF21-5480-DC3A3EAB1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D2BC70-D57D-EEF5-DC69-826FD9B8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CE7DD-C1AA-1B94-76C5-A133AAA325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787A7674-55ED-543D-BF8F-53D8B60B4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E0C0C27-BF30-17B6-8611-0466BFA80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666" y="2617573"/>
            <a:ext cx="5524466" cy="36421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AD90B98-B534-CE1E-4664-22109CC86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964" y="2617573"/>
            <a:ext cx="3010047" cy="20495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4BF5BD5-920A-1FD2-1CB3-E878BBAE3D97}"/>
              </a:ext>
            </a:extLst>
          </p:cNvPr>
          <p:cNvSpPr txBox="1"/>
          <p:nvPr/>
        </p:nvSpPr>
        <p:spPr>
          <a:xfrm>
            <a:off x="561974" y="1248422"/>
            <a:ext cx="11334751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 값은 어느 방향으로 갈지 알려주고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 rate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얼마나 갈지 조절하여 주며 오차가 줄어드는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반대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빼기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이동하는 것을 데이터 샘플마다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반복하면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점점 최적 값에 수렴</a:t>
            </a:r>
          </a:p>
        </p:txBody>
      </p:sp>
    </p:spTree>
    <p:extLst>
      <p:ext uri="{BB962C8B-B14F-4D97-AF65-F5344CB8AC3E}">
        <p14:creationId xmlns:p14="http://schemas.microsoft.com/office/powerpoint/2010/main" val="2444526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72C89-E962-AFB4-EA83-6DF916F7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DB6C60-BD48-B0C2-F448-471EBA07E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EE271DA-4B51-B1C5-29C9-886DF6D382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C16006-D0A7-2B57-EF1A-9498ABB73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3B124D7-D9A2-F644-7F5F-D2078513C01A}"/>
              </a:ext>
            </a:extLst>
          </p:cNvPr>
          <p:cNvSpPr txBox="1"/>
          <p:nvPr/>
        </p:nvSpPr>
        <p:spPr>
          <a:xfrm>
            <a:off x="561974" y="1296047"/>
            <a:ext cx="1133475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 symbolic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손실함수를 각각 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엑셀파일의 수식과 동일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DF9674-2C88-B5B8-7E8A-FA04E8A85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1575" y="3094888"/>
            <a:ext cx="2651990" cy="13869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01E274-6BFD-1DC2-F4E3-5867BCBF5E20}"/>
              </a:ext>
            </a:extLst>
          </p:cNvPr>
          <p:cNvSpPr txBox="1"/>
          <p:nvPr/>
        </p:nvSpPr>
        <p:spPr>
          <a:xfrm>
            <a:off x="609599" y="2469153"/>
            <a:ext cx="4857751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및 함수 선언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a, b, x, y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sympy.symbols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('a b x y')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sympy.Rational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2) * (a + b * x - y)**2</a:t>
            </a: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a) # a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b)   # 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b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출력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5E17BA-79CF-6D1E-A6E3-4AA41F8938BE}"/>
              </a:ext>
            </a:extLst>
          </p:cNvPr>
          <p:cNvSpPr txBox="1"/>
          <p:nvPr/>
        </p:nvSpPr>
        <p:spPr>
          <a:xfrm>
            <a:off x="5810250" y="3249759"/>
            <a:ext cx="37052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dL/d_a: a + b*x - y </a:t>
            </a:r>
          </a:p>
          <a:p>
            <a:endParaRPr lang="es-E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s-E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dL/d_b : x*(a + b*x - y)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9540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537021" y="1315240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5960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Multiplication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F2F399-986E-08AD-2FCF-E462E636B25E}"/>
              </a:ext>
            </a:extLst>
          </p:cNvPr>
          <p:cNvSpPr txBox="1"/>
          <p:nvPr/>
        </p:nvSpPr>
        <p:spPr>
          <a:xfrm>
            <a:off x="682906" y="222571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2, 3])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([4, 5, 6])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32 (1*4 + 2*5 + 3*6)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BB518C-633A-673B-41F0-BA4EEAC59452}"/>
              </a:ext>
            </a:extLst>
          </p:cNvPr>
          <p:cNvSpPr txBox="1"/>
          <p:nvPr/>
        </p:nvSpPr>
        <p:spPr>
          <a:xfrm>
            <a:off x="682906" y="4830208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([5, 6])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[17, 39]  -&gt; (1*5 + 2*6), (3*5 + 4*6)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6E929F-7FCC-43E7-604C-4CD3B88B20DD}"/>
              </a:ext>
            </a:extLst>
          </p:cNvPr>
          <p:cNvSpPr txBox="1"/>
          <p:nvPr/>
        </p:nvSpPr>
        <p:spPr>
          <a:xfrm>
            <a:off x="523269" y="1804226"/>
            <a:ext cx="70812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내적은 각 요소의 곱을 모두 더한 스칼라 값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AA8D6C6-DCDE-9891-741B-62695F35A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814" y="2230987"/>
            <a:ext cx="3444538" cy="69348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4DABCB4-1F9B-A797-8036-699B048035FA}"/>
              </a:ext>
            </a:extLst>
          </p:cNvPr>
          <p:cNvSpPr txBox="1"/>
          <p:nvPr/>
        </p:nvSpPr>
        <p:spPr>
          <a:xfrm>
            <a:off x="655898" y="4063641"/>
            <a:ext cx="6094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행과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내적의 결과는 벡터의 요소가 되며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열 개수와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차원이 같아야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94F38839-7FB8-6C62-A537-62572C7605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8814" y="4830208"/>
            <a:ext cx="1386960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2897B-5850-8324-3C0D-618D465E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4CB9C6-E741-2A9E-32EA-83869EA25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0F7A888-1B54-6169-3254-125CD43F8C58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Matrix &amp; vectors multiplication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0EFFDF-9AC1-3D29-415F-A4BAF9D85B9C}"/>
              </a:ext>
            </a:extLst>
          </p:cNvPr>
          <p:cNvSpPr txBox="1"/>
          <p:nvPr/>
        </p:nvSpPr>
        <p:spPr>
          <a:xfrm>
            <a:off x="657828" y="213965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([[3, 4], [5, 6]])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[13, 16] -&gt; (1*3 + 2*5), (1*4 + 2*6)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71D8D4-2F0F-5261-3B64-C80B5D8B1936}"/>
              </a:ext>
            </a:extLst>
          </p:cNvPr>
          <p:cNvSpPr txBox="1"/>
          <p:nvPr/>
        </p:nvSpPr>
        <p:spPr>
          <a:xfrm>
            <a:off x="657828" y="4659459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([[5, 6], [7, 8]])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[[19, 22], [43, 50]]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D1DE77-E6B6-7BC7-930F-2E7AD3BDE5B2}"/>
              </a:ext>
            </a:extLst>
          </p:cNvPr>
          <p:cNvSpPr txBox="1"/>
          <p:nvPr/>
        </p:nvSpPr>
        <p:spPr>
          <a:xfrm>
            <a:off x="657827" y="1651181"/>
            <a:ext cx="10353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벡터가 앞에 올 경우, 벡터를 행 벡터(1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)로 간주하여 연산하여 결과는 행 벡터 형태가 됨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38623C2-5E9F-22C3-E93E-1980B0962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840" y="2139657"/>
            <a:ext cx="1409822" cy="7239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319949-DED4-D938-BB73-D0199B12EACD}"/>
              </a:ext>
            </a:extLst>
          </p:cNvPr>
          <p:cNvSpPr txBox="1"/>
          <p:nvPr/>
        </p:nvSpPr>
        <p:spPr>
          <a:xfrm>
            <a:off x="657827" y="3986317"/>
            <a:ext cx="11113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곱은 행렬 C(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)가 되며 앞 행렬의 열과 뒤 행렬의 행 크기가 반드시 일치해야 함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D34EC6D-DBD8-CE6C-BD65-278DC9695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5771" y="4886210"/>
            <a:ext cx="1607959" cy="74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79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82FAC-8B02-DA13-DAE8-966A3227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EC2E-5196-074D-322B-509B171E0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2D5A94B-E061-E099-9B4C-9E9A6E951E3C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856092-EDD6-EC9C-D886-71ADC1243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C2383A87-F863-3AFA-D1FB-6DEE15280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B4876512-3D48-91AA-A13B-93244032FAB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58EB2E36-0D6F-AB9C-80C5-D24974DE3DB1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A3C12CD5-543E-BB21-54C6-DCE133E172FE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222CDF3-5DD6-F66C-C35A-EAE2B1C39BC7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99E39E23-5161-FCAB-8AA6-8E20DB1ECC0F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23D3747-96E8-F6F2-6F50-C27559716D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5C5C93A0-F36E-96AC-940F-DD74C468C3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6DF7F2-12DB-7355-3986-58EFD56012A5}"/>
                </a:ext>
              </a:extLst>
            </p:cNvPr>
            <p:cNvSpPr txBox="1"/>
            <p:nvPr/>
          </p:nvSpPr>
          <p:spPr>
            <a:xfrm>
              <a:off x="9515475" y="2510221"/>
              <a:ext cx="23014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dirty="0"/>
                <a:t>Matrix Formulation</a:t>
              </a:r>
              <a:endParaRPr lang="ko-KR" alt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802007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5B00755-4DB1-2290-0D18-9768794AE216}"/>
              </a:ext>
            </a:extLst>
          </p:cNvPr>
          <p:cNvSpPr txBox="1"/>
          <p:nvPr/>
        </p:nvSpPr>
        <p:spPr>
          <a:xfrm>
            <a:off x="7944345" y="5243953"/>
            <a:ext cx="3979034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휴먼옛체" panose="02030504000101010101" pitchFamily="18" charset="-127"/>
                <a:ea typeface="휴먼옛체" panose="02030504000101010101" pitchFamily="18" charset="-127"/>
                <a:cs typeface="맑은 고딕 Semilight" panose="020B0502040204020203" pitchFamily="50" charset="-127"/>
              </a:rPr>
              <a:t>(n, 1)   =   (n, 3) @ (3, 1)       +  (n,1)</a:t>
            </a:r>
            <a:endParaRPr lang="ko-KR" altLang="en-US" sz="1600" dirty="0">
              <a:latin typeface="휴먼옛체" panose="02030504000101010101" pitchFamily="18" charset="-127"/>
              <a:ea typeface="휴먼옛체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0AF9DB-ABDC-0C64-5932-6FEDD3D030B8}"/>
              </a:ext>
            </a:extLst>
          </p:cNvPr>
          <p:cNvSpPr txBox="1"/>
          <p:nvPr/>
        </p:nvSpPr>
        <p:spPr>
          <a:xfrm>
            <a:off x="8667037" y="2624259"/>
            <a:ext cx="2476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Matrix Formulation</a:t>
            </a:r>
            <a:endParaRPr lang="ko-KR" altLang="en-US" sz="16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45D8B4D-97A1-8C20-11EB-B9303DFAC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354" y="3573619"/>
            <a:ext cx="4172517" cy="15551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879EF01-D57D-603E-DF74-20AFD06028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9220" y="3170262"/>
            <a:ext cx="3021634" cy="403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2121512"/>
            <a:ext cx="9329333" cy="37364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6369851" y="2102077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90E37-2EBD-CE68-3397-3E76743F473A}"/>
              </a:ext>
            </a:extLst>
          </p:cNvPr>
          <p:cNvSpPr txBox="1"/>
          <p:nvPr/>
        </p:nvSpPr>
        <p:spPr>
          <a:xfrm>
            <a:off x="1476848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4D08A-479C-7D67-9E15-39421C53D104}"/>
              </a:ext>
            </a:extLst>
          </p:cNvPr>
          <p:cNvSpPr txBox="1"/>
          <p:nvPr/>
        </p:nvSpPr>
        <p:spPr>
          <a:xfrm>
            <a:off x="3766310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2C84D-83A8-13A8-D900-5E6EFBAF94A6}"/>
              </a:ext>
            </a:extLst>
          </p:cNvPr>
          <p:cNvSpPr txBox="1"/>
          <p:nvPr/>
        </p:nvSpPr>
        <p:spPr>
          <a:xfrm>
            <a:off x="2341999" y="5105030"/>
            <a:ext cx="1217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36D2F-7D17-30B0-E491-1CF12BD60250}"/>
              </a:ext>
            </a:extLst>
          </p:cNvPr>
          <p:cNvSpPr txBox="1"/>
          <p:nvPr/>
        </p:nvSpPr>
        <p:spPr>
          <a:xfrm>
            <a:off x="7178711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C73F7-315B-C259-3295-AD3A2092910C}"/>
              </a:ext>
            </a:extLst>
          </p:cNvPr>
          <p:cNvSpPr txBox="1"/>
          <p:nvPr/>
        </p:nvSpPr>
        <p:spPr>
          <a:xfrm>
            <a:off x="6029648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 =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6B441A-C44F-5EC4-74B9-3BDB0FE77125}"/>
              </a:ext>
            </a:extLst>
          </p:cNvPr>
          <p:cNvSpPr txBox="1"/>
          <p:nvPr/>
        </p:nvSpPr>
        <p:spPr>
          <a:xfrm>
            <a:off x="8071571" y="5851595"/>
            <a:ext cx="1189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599" y="4350737"/>
            <a:ext cx="4156025" cy="15267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29EF98-EFA3-BF16-0472-A422519E267E}"/>
              </a:ext>
            </a:extLst>
          </p:cNvPr>
          <p:cNvSpPr txBox="1"/>
          <p:nvPr/>
        </p:nvSpPr>
        <p:spPr>
          <a:xfrm>
            <a:off x="488921" y="1390135"/>
            <a:ext cx="105023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딥러닝 프레임워크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, TensorFlow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에서 병렬 계산</a:t>
            </a:r>
            <a:r>
              <a:rPr lang="en-US" altLang="ko-KR" dirty="0"/>
              <a:t>(</a:t>
            </a:r>
            <a:r>
              <a:rPr lang="en-US" altLang="ko-KR" dirty="0">
                <a:hlinkClick r:id="rId5"/>
              </a:rPr>
              <a:t>GPU</a:t>
            </a:r>
            <a:r>
              <a:rPr lang="en-US" altLang="ko-KR" dirty="0"/>
              <a:t>)</a:t>
            </a:r>
            <a:r>
              <a:rPr lang="ko-KR" altLang="en-US" dirty="0"/>
              <a:t>을 수행</a:t>
            </a:r>
          </a:p>
        </p:txBody>
      </p:sp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2EACEF-AECA-904D-E6D9-8316CA45A2A3}"/>
              </a:ext>
            </a:extLst>
          </p:cNvPr>
          <p:cNvSpPr txBox="1"/>
          <p:nvPr/>
        </p:nvSpPr>
        <p:spPr>
          <a:xfrm>
            <a:off x="537021" y="1412240"/>
            <a:ext cx="6979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But what is a neural network? | Deep learning chapter 1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유튜브 동영상 보기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D80E86D-5AED-94C3-6A24-06D296329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3680" y="1943846"/>
            <a:ext cx="6308709" cy="4467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3559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99BFE-49D7-574E-C129-957F2C23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5DC6CD-EBCB-D35A-A7AE-7294F7D1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FF0B4B-7793-E514-358D-D1BA70DA9969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C5D0CF-AE7B-3A3F-7E3A-A8B2970A10DB}"/>
              </a:ext>
            </a:extLst>
          </p:cNvPr>
          <p:cNvSpPr txBox="1"/>
          <p:nvPr/>
        </p:nvSpPr>
        <p:spPr>
          <a:xfrm>
            <a:off x="544320" y="1224192"/>
            <a:ext cx="11392317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sgd.xlsx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입력변수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(5,1)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구조로 아래와 같이 설정하고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데이터를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입력하여 최종 예측 결과인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실제 값의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차이의 제곱을 최소화하는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a, b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과정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9425AEA0-D31F-45C0-DF21-5BF14AF47300}"/>
              </a:ext>
            </a:extLst>
          </p:cNvPr>
          <p:cNvSpPr/>
          <p:nvPr/>
        </p:nvSpPr>
        <p:spPr>
          <a:xfrm>
            <a:off x="2543175" y="3515240"/>
            <a:ext cx="840284" cy="81798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X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E5B0194-4379-CEFE-15AC-E1CC9C7CDA34}"/>
              </a:ext>
            </a:extLst>
          </p:cNvPr>
          <p:cNvCxnSpPr>
            <a:cxnSpLocks/>
            <a:stCxn id="3" idx="6"/>
            <a:endCxn id="19" idx="2"/>
          </p:cNvCxnSpPr>
          <p:nvPr/>
        </p:nvCxnSpPr>
        <p:spPr>
          <a:xfrm>
            <a:off x="3383459" y="3924230"/>
            <a:ext cx="3452092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타원 9">
            <a:extLst>
              <a:ext uri="{FF2B5EF4-FFF2-40B4-BE49-F238E27FC236}">
                <a16:creationId xmlns:a16="http://schemas.microsoft.com/office/drawing/2014/main" id="{2B41539A-E268-F490-CC02-5C475E24698F}"/>
              </a:ext>
            </a:extLst>
          </p:cNvPr>
          <p:cNvSpPr/>
          <p:nvPr/>
        </p:nvSpPr>
        <p:spPr>
          <a:xfrm>
            <a:off x="5134739" y="4913157"/>
            <a:ext cx="840284" cy="81798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b(bias)</a:t>
            </a:r>
            <a:endParaRPr lang="ko-KR" altLang="en-US" sz="12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23B24C2-28A6-4D10-0B3A-B029DC9411F4}"/>
              </a:ext>
            </a:extLst>
          </p:cNvPr>
          <p:cNvCxnSpPr>
            <a:cxnSpLocks/>
            <a:stCxn id="10" idx="7"/>
            <a:endCxn id="19" idx="3"/>
          </p:cNvCxnSpPr>
          <p:nvPr/>
        </p:nvCxnSpPr>
        <p:spPr>
          <a:xfrm flipV="1">
            <a:off x="5851966" y="4232469"/>
            <a:ext cx="1106642" cy="8004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CB086C-2BAF-4A22-FB82-6AC8CAD9716F}"/>
                  </a:ext>
                </a:extLst>
              </p:cNvPr>
              <p:cNvSpPr txBox="1"/>
              <p:nvPr/>
            </p:nvSpPr>
            <p:spPr>
              <a:xfrm>
                <a:off x="4649844" y="3567293"/>
                <a:ext cx="4261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ko-KR" altLang="en-US" i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CB086C-2BAF-4A22-FB82-6AC8CAD97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844" y="3567293"/>
                <a:ext cx="426142" cy="276999"/>
              </a:xfrm>
              <a:prstGeom prst="rect">
                <a:avLst/>
              </a:prstGeom>
              <a:blipFill>
                <a:blip r:embed="rId3"/>
                <a:stretch>
                  <a:fillRect l="-7143" r="-2857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01D02E-6AC5-B238-E1BB-D925EE1B5A4D}"/>
                  </a:ext>
                </a:extLst>
              </p:cNvPr>
              <p:cNvSpPr txBox="1"/>
              <p:nvPr/>
            </p:nvSpPr>
            <p:spPr>
              <a:xfrm>
                <a:off x="5187464" y="4417083"/>
                <a:ext cx="8610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01D02E-6AC5-B238-E1BB-D925EE1B5A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7464" y="4417083"/>
                <a:ext cx="861069" cy="276999"/>
              </a:xfrm>
              <a:prstGeom prst="rect">
                <a:avLst/>
              </a:prstGeom>
              <a:blipFill>
                <a:blip r:embed="rId4"/>
                <a:stretch>
                  <a:fillRect l="-2837" r="-4965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타원 18">
            <a:extLst>
              <a:ext uri="{FF2B5EF4-FFF2-40B4-BE49-F238E27FC236}">
                <a16:creationId xmlns:a16="http://schemas.microsoft.com/office/drawing/2014/main" id="{45217D06-30A4-CE06-3738-BF261C5E2678}"/>
              </a:ext>
            </a:extLst>
          </p:cNvPr>
          <p:cNvSpPr/>
          <p:nvPr/>
        </p:nvSpPr>
        <p:spPr>
          <a:xfrm>
            <a:off x="6835551" y="3515240"/>
            <a:ext cx="840286" cy="8402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/>
              <p:nvPr/>
            </p:nvSpPr>
            <p:spPr>
              <a:xfrm>
                <a:off x="5704358" y="2999954"/>
                <a:ext cx="1706399" cy="5881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r>
                            <m:rPr>
                              <m:sty m:val="p"/>
                            </m:r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</m:nary>
                    </m:oMath>
                  </m:oMathPara>
                </a14:m>
                <a:endParaRPr kumimoji="0" lang="ko-KR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358" y="2999954"/>
                <a:ext cx="1706399" cy="5881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D423EE6-C918-F311-380F-E9FA1D062375}"/>
              </a:ext>
            </a:extLst>
          </p:cNvPr>
          <p:cNvCxnSpPr>
            <a:cxnSpLocks/>
            <a:stCxn id="19" idx="0"/>
            <a:endCxn id="19" idx="4"/>
          </p:cNvCxnSpPr>
          <p:nvPr/>
        </p:nvCxnSpPr>
        <p:spPr>
          <a:xfrm>
            <a:off x="7255694" y="3515240"/>
            <a:ext cx="0" cy="8402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683254E-05B3-69DB-03AA-78002D833ED4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7675837" y="3924230"/>
            <a:ext cx="1131193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2899664-0529-7DFF-D057-7CA68DD92522}"/>
                  </a:ext>
                </a:extLst>
              </p:cNvPr>
              <p:cNvSpPr txBox="1"/>
              <p:nvPr/>
            </p:nvSpPr>
            <p:spPr>
              <a:xfrm>
                <a:off x="7524749" y="3128932"/>
                <a:ext cx="65402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400" i="1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2899664-0529-7DFF-D057-7CA68DD92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4749" y="3128932"/>
                <a:ext cx="654027" cy="307777"/>
              </a:xfrm>
              <a:prstGeom prst="rect">
                <a:avLst/>
              </a:prstGeom>
              <a:blipFill>
                <a:blip r:embed="rId6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직사각형 66">
            <a:extLst>
              <a:ext uri="{FF2B5EF4-FFF2-40B4-BE49-F238E27FC236}">
                <a16:creationId xmlns:a16="http://schemas.microsoft.com/office/drawing/2014/main" id="{E9C596E4-1E62-4B84-87BB-5BB08482914A}"/>
              </a:ext>
            </a:extLst>
          </p:cNvPr>
          <p:cNvSpPr/>
          <p:nvPr/>
        </p:nvSpPr>
        <p:spPr>
          <a:xfrm>
            <a:off x="7195346" y="2386853"/>
            <a:ext cx="12247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/>
              <p:nvPr/>
            </p:nvSpPr>
            <p:spPr>
              <a:xfrm>
                <a:off x="8659422" y="3754953"/>
                <a:ext cx="212688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lang="en-US" altLang="ko-KR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1600">
                          <a:latin typeface="Cambria Math" panose="02040503050406030204" pitchFamily="18" charset="0"/>
                        </a:rPr>
                        <m:t>activation</m:t>
                      </m:r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sz="1600" b="1" i="1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9422" y="3754953"/>
                <a:ext cx="2126880" cy="338554"/>
              </a:xfrm>
              <a:prstGeom prst="rect">
                <a:avLst/>
              </a:prstGeom>
              <a:blipFill>
                <a:blip r:embed="rId7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직사각형 1">
            <a:extLst>
              <a:ext uri="{FF2B5EF4-FFF2-40B4-BE49-F238E27FC236}">
                <a16:creationId xmlns:a16="http://schemas.microsoft.com/office/drawing/2014/main" id="{D1C87C6D-B6F7-E7F9-521E-3D2F40D3D3F4}"/>
              </a:ext>
            </a:extLst>
          </p:cNvPr>
          <p:cNvSpPr/>
          <p:nvPr/>
        </p:nvSpPr>
        <p:spPr>
          <a:xfrm>
            <a:off x="2071409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AF0D505-7E90-D3A5-3CAD-21E3C3F5D99F}"/>
              </a:ext>
            </a:extLst>
          </p:cNvPr>
          <p:cNvSpPr/>
          <p:nvPr/>
        </p:nvSpPr>
        <p:spPr>
          <a:xfrm>
            <a:off x="4000769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19BC54-88B7-DDEC-9A83-7D18D33813FB}"/>
              </a:ext>
            </a:extLst>
          </p:cNvPr>
          <p:cNvSpPr/>
          <p:nvPr/>
        </p:nvSpPr>
        <p:spPr>
          <a:xfrm>
            <a:off x="5614748" y="2379460"/>
            <a:ext cx="169489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 : inner</a:t>
            </a:r>
            <a:r>
              <a:rPr lang="ko-KR" altLang="en-US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product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8BC853E-83A7-748B-1018-8D4A0AEE5605}"/>
              </a:ext>
            </a:extLst>
          </p:cNvPr>
          <p:cNvSpPr/>
          <p:nvPr/>
        </p:nvSpPr>
        <p:spPr>
          <a:xfrm>
            <a:off x="8654352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Output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AB84292-048D-CC2D-611C-4D849A0875F8}"/>
              </a:ext>
            </a:extLst>
          </p:cNvPr>
          <p:cNvSpPr/>
          <p:nvPr/>
        </p:nvSpPr>
        <p:spPr>
          <a:xfrm>
            <a:off x="3661452" y="2896271"/>
            <a:ext cx="5006298" cy="3041623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E48D8F8-98D4-7429-88BE-455A8189E92F}"/>
              </a:ext>
            </a:extLst>
          </p:cNvPr>
          <p:cNvSpPr/>
          <p:nvPr/>
        </p:nvSpPr>
        <p:spPr>
          <a:xfrm>
            <a:off x="10283127" y="2379460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Actual 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/>
              <p:nvPr/>
            </p:nvSpPr>
            <p:spPr>
              <a:xfrm>
                <a:off x="10849936" y="3754953"/>
                <a:ext cx="60117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49936" y="3754953"/>
                <a:ext cx="601170" cy="338554"/>
              </a:xfrm>
              <a:prstGeom prst="rect">
                <a:avLst/>
              </a:prstGeom>
              <a:blipFill>
                <a:blip r:embed="rId8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그림 25">
            <a:extLst>
              <a:ext uri="{FF2B5EF4-FFF2-40B4-BE49-F238E27FC236}">
                <a16:creationId xmlns:a16="http://schemas.microsoft.com/office/drawing/2014/main" id="{5E615629-25CC-350E-7711-C87E5ED9069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6914" y="4331477"/>
            <a:ext cx="1214595" cy="1253242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E3D4FDAA-A454-51E2-EB7C-210D158527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14011" y="4232469"/>
            <a:ext cx="996643" cy="12291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2B98FF0-1326-357A-5E2C-BF0E9BF44DE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84161" y="4232470"/>
            <a:ext cx="1256876" cy="122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836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FD66B-342A-6D55-DED5-4B908E279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7381D7-0B8E-8DA1-09EA-C155D5BFD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8D1FBA-0F36-8335-6120-E2768DBFA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713" y="1387105"/>
            <a:ext cx="2994574" cy="2217136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0F441928-D24A-BE6F-9B13-371458794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4486" y="1286625"/>
            <a:ext cx="2336456" cy="248853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07B7AFC-8546-F672-09CC-7E0D55C0A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3288" y="3718644"/>
            <a:ext cx="9167654" cy="2903472"/>
          </a:xfrm>
          <a:prstGeom prst="rect">
            <a:avLst/>
          </a:prstGeom>
        </p:spPr>
      </p:pic>
      <p:sp>
        <p:nvSpPr>
          <p:cNvPr id="31" name="제목 1">
            <a:extLst>
              <a:ext uri="{FF2B5EF4-FFF2-40B4-BE49-F238E27FC236}">
                <a16:creationId xmlns:a16="http://schemas.microsoft.com/office/drawing/2014/main" id="{0AA65A2D-0A54-B71F-1012-675AB3E5993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C4926A-290F-6417-8297-FE889C7E9708}"/>
              </a:ext>
            </a:extLst>
          </p:cNvPr>
          <p:cNvSpPr txBox="1"/>
          <p:nvPr/>
        </p:nvSpPr>
        <p:spPr>
          <a:xfrm>
            <a:off x="523875" y="1557318"/>
            <a:ext cx="3729263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sgd.xlsx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recap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1443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076B-271E-F396-1E87-506FB3DF0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75B5A308-045A-11C6-CE52-5425D8AE1479}"/>
              </a:ext>
            </a:extLst>
          </p:cNvPr>
          <p:cNvSpPr/>
          <p:nvPr/>
        </p:nvSpPr>
        <p:spPr>
          <a:xfrm>
            <a:off x="5473138" y="3207102"/>
            <a:ext cx="2033870" cy="2033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D14F32-CD11-71F2-8B85-9981541A4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A2CB347-45E3-9BD7-AE94-850A009BEEC3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/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  <a:blipFill>
                <a:blip r:embed="rId2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/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  <a:blipFill>
                <a:blip r:embed="rId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/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/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/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/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구부러진 연결선 42">
            <a:extLst>
              <a:ext uri="{FF2B5EF4-FFF2-40B4-BE49-F238E27FC236}">
                <a16:creationId xmlns:a16="http://schemas.microsoft.com/office/drawing/2014/main" id="{CEC9145E-6BE3-3522-46BA-A1F8DFE27389}"/>
              </a:ext>
            </a:extLst>
          </p:cNvPr>
          <p:cNvCxnSpPr>
            <a:cxnSpLocks/>
            <a:stCxn id="48" idx="6"/>
          </p:cNvCxnSpPr>
          <p:nvPr/>
        </p:nvCxnSpPr>
        <p:spPr bwMode="auto">
          <a:xfrm>
            <a:off x="2365859" y="3017429"/>
            <a:ext cx="2960764" cy="769000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4" name="구부러진 연결선 43">
            <a:extLst>
              <a:ext uri="{FF2B5EF4-FFF2-40B4-BE49-F238E27FC236}">
                <a16:creationId xmlns:a16="http://schemas.microsoft.com/office/drawing/2014/main" id="{405150CF-C762-F04C-6232-F9EA8828B66B}"/>
              </a:ext>
            </a:extLst>
          </p:cNvPr>
          <p:cNvCxnSpPr>
            <a:cxnSpLocks/>
            <a:stCxn id="49" idx="6"/>
          </p:cNvCxnSpPr>
          <p:nvPr/>
        </p:nvCxnSpPr>
        <p:spPr bwMode="auto">
          <a:xfrm>
            <a:off x="2365859" y="3638115"/>
            <a:ext cx="2973221" cy="5485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5" name="구부러진 연결선 44">
            <a:extLst>
              <a:ext uri="{FF2B5EF4-FFF2-40B4-BE49-F238E27FC236}">
                <a16:creationId xmlns:a16="http://schemas.microsoft.com/office/drawing/2014/main" id="{2E2FEB6B-E706-ADAD-A05B-FF897D578B27}"/>
              </a:ext>
            </a:extLst>
          </p:cNvPr>
          <p:cNvCxnSpPr>
            <a:cxnSpLocks/>
            <a:stCxn id="50" idx="6"/>
          </p:cNvCxnSpPr>
          <p:nvPr/>
        </p:nvCxnSpPr>
        <p:spPr bwMode="auto">
          <a:xfrm flipV="1">
            <a:off x="2394259" y="4464567"/>
            <a:ext cx="2944821" cy="9437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/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  <a:blipFill>
                <a:blip r:embed="rId8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/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/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B919A0C-13B1-E652-5D73-08324B063105}"/>
              </a:ext>
            </a:extLst>
          </p:cNvPr>
          <p:cNvCxnSpPr>
            <a:cxnSpLocks/>
          </p:cNvCxnSpPr>
          <p:nvPr/>
        </p:nvCxnSpPr>
        <p:spPr bwMode="auto">
          <a:xfrm>
            <a:off x="8128000" y="4193917"/>
            <a:ext cx="662994" cy="1059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AD86961-E53D-74BC-169C-6DAC650877E4}"/>
              </a:ext>
            </a:extLst>
          </p:cNvPr>
          <p:cNvSpPr/>
          <p:nvPr/>
        </p:nvSpPr>
        <p:spPr>
          <a:xfrm>
            <a:off x="6904514" y="3078717"/>
            <a:ext cx="178489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Activation 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function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B74A92C7-5CA5-C7C6-5D4B-C2B781294039}"/>
              </a:ext>
            </a:extLst>
          </p:cNvPr>
          <p:cNvSpPr/>
          <p:nvPr/>
        </p:nvSpPr>
        <p:spPr>
          <a:xfrm>
            <a:off x="1340095" y="2508652"/>
            <a:ext cx="9764785" cy="3373988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92BE65-16E1-79AB-D58C-3B8B3F7C71A4}"/>
              </a:ext>
            </a:extLst>
          </p:cNvPr>
          <p:cNvSpPr txBox="1"/>
          <p:nvPr/>
        </p:nvSpPr>
        <p:spPr>
          <a:xfrm>
            <a:off x="9478614" y="2083095"/>
            <a:ext cx="74860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Output:</a:t>
            </a:r>
            <a:endParaRPr lang="ko-KR" altLang="en-US" sz="1600" b="1" dirty="0">
              <a:latin typeface="NanumGothicExtraBold" pitchFamily="2" charset="-127"/>
              <a:ea typeface="NanumGothicExtraBold" pitchFamily="2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/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0" i="0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>
                          <a:latin typeface="Cambria Math" panose="02040503050406030204" pitchFamily="18" charset="0"/>
                        </a:rPr>
                        <m:t>activation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b="1" i="1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  <a:blipFill>
                <a:blip r:embed="rId11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/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ko-KR" sz="1600" b="1" dirty="0">
                    <a:solidFill>
                      <a:prstClr val="black"/>
                    </a:solidFill>
                    <a:latin typeface="NanumGothicExtraBold" pitchFamily="2" charset="-127"/>
                    <a:ea typeface="NanumGothicExtraBold" pitchFamily="2" charset="-127"/>
                  </a:rPr>
                  <a:t>Weighted sum</a:t>
                </a:r>
                <a:r>
                  <a:rPr lang="en-US" altLang="ko-KR" sz="1600" b="1" dirty="0">
                    <a:latin typeface="NanumGothicExtraBold" pitchFamily="2" charset="-127"/>
                    <a:ea typeface="NanumGothicExtraBold" pitchFamily="2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US" altLang="ko-KR" sz="1600" b="1" i="1">
                        <a:latin typeface="Cambria Math" panose="02040503050406030204" pitchFamily="18" charset="0"/>
                      </a:rPr>
                      <m:t>𝐰</m:t>
                    </m:r>
                    <m:r>
                      <a:rPr lang="en-US" altLang="ko-KR" sz="1600" b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ko-KR" altLang="en-US" sz="1600" b="1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  <a:blipFill>
                <a:blip r:embed="rId12"/>
                <a:stretch>
                  <a:fillRect l="-1208" t="-3571" b="-232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직사각형 40">
            <a:extLst>
              <a:ext uri="{FF2B5EF4-FFF2-40B4-BE49-F238E27FC236}">
                <a16:creationId xmlns:a16="http://schemas.microsoft.com/office/drawing/2014/main" id="{BA7FF963-6D65-A369-12AE-0026E2114155}"/>
              </a:ext>
            </a:extLst>
          </p:cNvPr>
          <p:cNvSpPr/>
          <p:nvPr/>
        </p:nvSpPr>
        <p:spPr>
          <a:xfrm>
            <a:off x="3248987" y="2083095"/>
            <a:ext cx="9685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Weights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EE9A40A-EA84-6616-C52A-048653517572}"/>
              </a:ext>
            </a:extLst>
          </p:cNvPr>
          <p:cNvSpPr/>
          <p:nvPr/>
        </p:nvSpPr>
        <p:spPr>
          <a:xfrm>
            <a:off x="1676242" y="2083095"/>
            <a:ext cx="6832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Input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BE7EA826-D1DC-DA83-EFA1-66CB24AA4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2882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17166F0-759F-CE48-9450-E2B6C82896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9630" y="3828165"/>
            <a:ext cx="930838" cy="752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/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  <a:blipFill>
                <a:blip r:embed="rId14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타원 47">
            <a:extLst>
              <a:ext uri="{FF2B5EF4-FFF2-40B4-BE49-F238E27FC236}">
                <a16:creationId xmlns:a16="http://schemas.microsoft.com/office/drawing/2014/main" id="{16ACF432-A2AA-96B1-F14D-49646C09F552}"/>
              </a:ext>
            </a:extLst>
          </p:cNvPr>
          <p:cNvSpPr/>
          <p:nvPr/>
        </p:nvSpPr>
        <p:spPr>
          <a:xfrm>
            <a:off x="1866119" y="2767559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CAB7B84C-2B17-22C5-0FEB-C9DCB4B7188F}"/>
              </a:ext>
            </a:extLst>
          </p:cNvPr>
          <p:cNvSpPr/>
          <p:nvPr/>
        </p:nvSpPr>
        <p:spPr>
          <a:xfrm>
            <a:off x="1866119" y="3388245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D831CB37-F93A-2ACA-6F30-0A2AB5F2B8D9}"/>
              </a:ext>
            </a:extLst>
          </p:cNvPr>
          <p:cNvSpPr/>
          <p:nvPr/>
        </p:nvSpPr>
        <p:spPr>
          <a:xfrm>
            <a:off x="1894519" y="5158494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4F81C9D0-32B1-3563-5DCB-C8E28199B78C}"/>
              </a:ext>
            </a:extLst>
          </p:cNvPr>
          <p:cNvCxnSpPr>
            <a:cxnSpLocks/>
            <a:stCxn id="2" idx="0"/>
            <a:endCxn id="2" idx="4"/>
          </p:cNvCxnSpPr>
          <p:nvPr/>
        </p:nvCxnSpPr>
        <p:spPr>
          <a:xfrm>
            <a:off x="6490073" y="3207102"/>
            <a:ext cx="0" cy="20338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6654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5" grpId="0"/>
      <p:bldP spid="6" grpId="0"/>
      <p:bldP spid="7" grpId="0"/>
      <p:bldP spid="8" grpId="0"/>
      <p:bldP spid="9" grpId="0"/>
      <p:bldP spid="23" grpId="0"/>
      <p:bldP spid="24" grpId="0"/>
      <p:bldP spid="29" grpId="0"/>
      <p:bldP spid="35" grpId="0"/>
      <p:bldP spid="37" grpId="0"/>
      <p:bldP spid="38" grpId="0"/>
      <p:bldP spid="40" grpId="0"/>
      <p:bldP spid="41" grpId="0"/>
      <p:bldP spid="42" grpId="0"/>
      <p:bldP spid="47" grpId="0"/>
      <p:bldP spid="48" grpId="0" animBg="1"/>
      <p:bldP spid="49" grpId="0" animBg="1"/>
      <p:bldP spid="5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19D5-9F23-8555-D59C-C41F0831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6CB72-5B48-1EA8-DAE7-36CBC37D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E39D3E-B93A-FFDE-BB36-30AD59B0C59F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94B26EBA-7806-CC17-6CCE-79B909B81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34365" cy="1065340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인공 신경망의 각 노드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뉴런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입력받은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신호의 총합을 출력 신호로 변환해주는 수학적 함수로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쉽게 비유하자면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우리 뇌의 뉴런이 일정 수준 이상의 자극을 받았을 때만 다음 뉴런으로 전기 신호를 보내는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전달 통로의 문지기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역할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204A54-9B4D-9FE8-6DBD-2FC79DE2C40B}"/>
              </a:ext>
            </a:extLst>
          </p:cNvPr>
          <p:cNvSpPr txBox="1"/>
          <p:nvPr/>
        </p:nvSpPr>
        <p:spPr>
          <a:xfrm>
            <a:off x="578817" y="3362236"/>
            <a:ext cx="3805653" cy="128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활성화 함수가 필요한가</a:t>
            </a:r>
            <a:r>
              <a:rPr lang="en-US" altLang="ko-KR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모델에 비선형성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(Non-linearity)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추가하기 위해서</a:t>
            </a:r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6DE9A7-791E-7489-EBC3-BDF9C1EAC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755" y="2488808"/>
            <a:ext cx="5216525" cy="4002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72363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3F17-1E7F-1F54-F339-B4732F93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173D9F-BF62-5D55-502F-D6EED8280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573C32F-78A2-7E69-33F7-E702D4CAB44A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211AE7D-3714-5E7A-9A0E-90FC32B3E650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Cells that fire together, wire together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In the top row, neurons are labeled with a fluorescent probe that reveals electrical activity. In the bottom row, neurons are labeled with a variant of the probe that accumulates specifically in the neuron cell bodies, preventing interference from axons of neighboring neurons.  ">
            <a:extLst>
              <a:ext uri="{FF2B5EF4-FFF2-40B4-BE49-F238E27FC236}">
                <a16:creationId xmlns:a16="http://schemas.microsoft.com/office/drawing/2014/main" id="{94F3BD26-41A8-1CF7-C13C-606448C7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464" y="1447788"/>
            <a:ext cx="7000875" cy="466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19425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31162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2736862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9958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(1,64)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(1,10)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(1, 15)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(1, 9)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200635" y="5959169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 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5915800" y="59591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565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96" y="2528301"/>
            <a:ext cx="5387529" cy="409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279032" y="3508747"/>
            <a:ext cx="3375947" cy="143878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CFF5A5E1-CCFD-6B34-F29C-C8D92D21275C}"/>
              </a:ext>
            </a:extLst>
          </p:cNvPr>
          <p:cNvSpPr/>
          <p:nvPr/>
        </p:nvSpPr>
        <p:spPr>
          <a:xfrm>
            <a:off x="7354354" y="403505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583CCFBA-E216-2015-6715-EBC28686CDD6}"/>
              </a:ext>
            </a:extLst>
          </p:cNvPr>
          <p:cNvSpPr/>
          <p:nvPr/>
        </p:nvSpPr>
        <p:spPr>
          <a:xfrm>
            <a:off x="7354354" y="441027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BF8BD44-F5E6-FCBF-93AE-D7F808A38E12}"/>
              </a:ext>
            </a:extLst>
          </p:cNvPr>
          <p:cNvSpPr/>
          <p:nvPr/>
        </p:nvSpPr>
        <p:spPr>
          <a:xfrm>
            <a:off x="7354354" y="478549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39965D-4EBA-D4E6-7578-064A4D91EE9F}"/>
              </a:ext>
            </a:extLst>
          </p:cNvPr>
          <p:cNvSpPr/>
          <p:nvPr/>
        </p:nvSpPr>
        <p:spPr>
          <a:xfrm>
            <a:off x="7354354" y="5160713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AA6574-C2E1-9D1E-C444-A4A96DB447BA}"/>
              </a:ext>
            </a:extLst>
          </p:cNvPr>
          <p:cNvSpPr txBox="1"/>
          <p:nvPr/>
        </p:nvSpPr>
        <p:spPr>
          <a:xfrm>
            <a:off x="7091650" y="3664205"/>
            <a:ext cx="10443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</a:t>
            </a:r>
            <a:endParaRPr lang="ko-KR" altLang="en-US" sz="1100" dirty="0"/>
          </a:p>
        </p:txBody>
      </p:sp>
      <p:sp>
        <p:nvSpPr>
          <p:cNvPr id="10" name="오른쪽 중괄호 9">
            <a:extLst>
              <a:ext uri="{FF2B5EF4-FFF2-40B4-BE49-F238E27FC236}">
                <a16:creationId xmlns:a16="http://schemas.microsoft.com/office/drawing/2014/main" id="{1114997C-232C-A35A-FA82-3229E992C608}"/>
              </a:ext>
            </a:extLst>
          </p:cNvPr>
          <p:cNvSpPr/>
          <p:nvPr/>
        </p:nvSpPr>
        <p:spPr>
          <a:xfrm rot="16200000">
            <a:off x="6243861" y="2361263"/>
            <a:ext cx="342900" cy="2125953"/>
          </a:xfrm>
          <a:prstGeom prst="rightBrace">
            <a:avLst>
              <a:gd name="adj1" fmla="val 50555"/>
              <a:gd name="adj2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93A587-DD26-0ADC-554C-6E07EC680F43}"/>
              </a:ext>
            </a:extLst>
          </p:cNvPr>
          <p:cNvSpPr txBox="1"/>
          <p:nvPr/>
        </p:nvSpPr>
        <p:spPr>
          <a:xfrm>
            <a:off x="6135299" y="2942448"/>
            <a:ext cx="21259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(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/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Forward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입력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가중치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편향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예측 값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만들고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비교해 손실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계산한 다음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연쇄법칙으로 각 파라미터의 기울기를 계산하고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Optimization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단계에서는 기울기를 반영해 파라미터를 업데이트하며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과정을 반복해 모델 성능을 개선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blipFill>
                <a:blip r:embed="rId3"/>
                <a:stretch>
                  <a:fillRect l="-335"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C89F8B0-3F83-559E-AD1B-88D425554888}"/>
              </a:ext>
            </a:extLst>
          </p:cNvPr>
          <p:cNvCxnSpPr/>
          <p:nvPr/>
        </p:nvCxnSpPr>
        <p:spPr>
          <a:xfrm>
            <a:off x="1152525" y="2676525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A3AAA1E-813F-45CC-D23E-EF63A3CD92DE}"/>
              </a:ext>
            </a:extLst>
          </p:cNvPr>
          <p:cNvCxnSpPr>
            <a:cxnSpLocks/>
          </p:cNvCxnSpPr>
          <p:nvPr/>
        </p:nvCxnSpPr>
        <p:spPr>
          <a:xfrm flipH="1">
            <a:off x="1104900" y="6363286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A07C6B-0744-E350-2486-24F68E111E5E}"/>
              </a:ext>
            </a:extLst>
          </p:cNvPr>
          <p:cNvSpPr txBox="1"/>
          <p:nvPr/>
        </p:nvSpPr>
        <p:spPr>
          <a:xfrm>
            <a:off x="1032321" y="2721708"/>
            <a:ext cx="1221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8E19B0-C9EC-E3F7-B1BE-1DBA278F3D77}"/>
              </a:ext>
            </a:extLst>
          </p:cNvPr>
          <p:cNvSpPr txBox="1"/>
          <p:nvPr/>
        </p:nvSpPr>
        <p:spPr>
          <a:xfrm>
            <a:off x="4938937" y="5979550"/>
            <a:ext cx="11570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by Chain Rule of Derivatives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39ACDE8-F59C-CDD3-B11E-4B8FF9B41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95" y="1405799"/>
            <a:ext cx="9114310" cy="99068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8AACC0A-6245-58F3-ECC0-6815BD10B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295" y="2525287"/>
            <a:ext cx="1666758" cy="244404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D8ECA170-DD4D-1F30-3218-C6E0EDE5E4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8291" y="2525287"/>
            <a:ext cx="5609284" cy="2644377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0CE55BE3-2773-A0A0-42DC-B28F901A6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0178" y="2525287"/>
            <a:ext cx="1891131" cy="2227688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F9CCFDF4-ECDD-62F9-246F-771739C9B2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0503" y="5388739"/>
            <a:ext cx="8645102" cy="1195217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0038C66A-0911-EB2F-2FDC-2073B07828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1352" y="1405799"/>
            <a:ext cx="2010184" cy="159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87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70770-A5A1-D8F7-701A-E2146CB1D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702CB-7775-B97C-29D2-156382559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43CFD4-FEB4-426A-D021-E60D6B6D5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995" y="1248067"/>
            <a:ext cx="11182955" cy="766439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 Forward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후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Propagate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반복적으로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epoch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늘려가면서 학습하는 과정을 통해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이해하고 실습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엑셀실습파일 알고리즘과 동일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5849E8-EADB-BBF5-4F28-29C7483880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: 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86ECCEC-F4F8-7DCE-BAC1-50ED6FBD8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96D46D0-9007-D678-35D0-23122E89D4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679" y="2052606"/>
            <a:ext cx="7967121" cy="448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59736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24E00A9-B7BD-84B1-C8C9-4379A44B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96" y="2796363"/>
            <a:ext cx="4492179" cy="23747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39FB3-BDC3-5CE1-2660-D71F27A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95" y="2796363"/>
            <a:ext cx="4737003" cy="3063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0331E-189C-7790-90B5-D620BD0EBE3F}"/>
              </a:ext>
            </a:extLst>
          </p:cNvPr>
          <p:cNvSpPr txBox="1"/>
          <p:nvPr/>
        </p:nvSpPr>
        <p:spPr>
          <a:xfrm>
            <a:off x="2177634" y="5497523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시험 문제를 풀고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네크워크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 설정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채점을 해서 몇 점 틀렸는지 확인한 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문제의 해설지를 보며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개념이 부족했는지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파악하여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부족했던 개념을 새로 공부해서 머릿속 지식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고쳐가는 과정을 수천 번 반복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모델은 점점 정답에 가까워지게 학습</a:t>
            </a:r>
          </a:p>
        </p:txBody>
      </p:sp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35592945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59068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81953426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02DA-20F1-737B-D0B0-2E568ECD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2C83A0-3BE3-EEE2-FFEA-0272A1C8A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DB8FDAC1-BF69-9FDB-D572-0A0F2FD47949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6FAD018-9242-05E9-922B-D4A1BE8DB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599F50-01FB-2B8F-FDD0-55673AF023E0}"/>
              </a:ext>
            </a:extLst>
          </p:cNvPr>
          <p:cNvSpPr txBox="1"/>
          <p:nvPr/>
        </p:nvSpPr>
        <p:spPr>
          <a:xfrm>
            <a:off x="613223" y="1956990"/>
            <a:ext cx="4644578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정의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속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 x,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2.0, 4.0, 3.0, 5.0])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3.0, 3.0, 2.0, 5.0])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파라미터 초기화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초기 설정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α=β=0)</a:t>
            </a:r>
          </a:p>
          <a:p>
            <a:pPr>
              <a:lnSpc>
                <a:spcPts val="1575"/>
              </a:lnSpc>
              <a:buNone/>
            </a:pP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절편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(alpha)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 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(beta)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 설정하고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epochs = 4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alpha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beta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():.4f}\n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시작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(Recursive iterations)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iteration = 0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5646A4-8B9E-6FA2-816C-B833DF47B5F4}"/>
              </a:ext>
            </a:extLst>
          </p:cNvPr>
          <p:cNvSpPr txBox="1"/>
          <p:nvPr/>
        </p:nvSpPr>
        <p:spPr>
          <a:xfrm>
            <a:off x="5460214" y="1332705"/>
            <a:ext cx="6023314" cy="480118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epoch in range(1, epochs + 1):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print(f"--- {epoch} epoch ---")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엑셀처럼 각 데이터 샘플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(instance)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마다 업데이트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(SGD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x, y in zip(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 + β *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alpha + beta * x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 = (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 ** 2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/2  #(y_hat-y)^2/2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미분하면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-y)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됨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(Gradient)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기록을 건드리지 않기 위해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alpha_j+1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alpha_j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beta_j+1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beta_j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x * 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beta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다음 반복을 위해 기울기 초기화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f"Iteration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{iteration}: alpha={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\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beta={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error={(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y).item():.4f}")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iteration += 1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595D80-1965-E9EF-FD9B-071FD52325B3}"/>
              </a:ext>
            </a:extLst>
          </p:cNvPr>
          <p:cNvSpPr txBox="1"/>
          <p:nvPr/>
        </p:nvSpPr>
        <p:spPr>
          <a:xfrm>
            <a:off x="613223" y="1314829"/>
            <a:ext cx="3577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3"/>
              </a:rPr>
              <a:t>sgd.xlsx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예제를 </a:t>
            </a:r>
            <a:r>
              <a:rPr lang="en-US" altLang="ko-KR" dirty="0" err="1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12287B-57AD-1713-2D34-689C3872A1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30138" y="3015581"/>
            <a:ext cx="1702369" cy="622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95178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12D0A-5D07-F026-511C-2A5BFC23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750F38-937E-F755-580F-AE17EBFCC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3C91F776-8B9B-98BC-8E11-9635E9A04D0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D69CF31-4A39-9AB8-FCC2-916BEE125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DD5DA5-375F-BBD5-5460-D40A69A58F64}"/>
              </a:ext>
            </a:extLst>
          </p:cNvPr>
          <p:cNvSpPr txBox="1"/>
          <p:nvPr/>
        </p:nvSpPr>
        <p:spPr>
          <a:xfrm>
            <a:off x="638982" y="1346628"/>
            <a:ext cx="10628574" cy="456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PyTorch의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기능을 통해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b를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학습(최적화)하는 전체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9CB94-5A27-0BFD-6BB8-559463C11FAD}"/>
              </a:ext>
            </a:extLst>
          </p:cNvPr>
          <p:cNvSpPr txBox="1"/>
          <p:nvPr/>
        </p:nvSpPr>
        <p:spPr>
          <a:xfrm>
            <a:off x="715326" y="1926290"/>
            <a:ext cx="4656774" cy="437042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Tensor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형태이므로 그대로 사용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이므로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(y).view(-1, 1)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a, b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정의 및 초기화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미분 가능하도록 설정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epochs = 1000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56DF-C93B-5239-CCDC-23DA6FDC6BBE}"/>
              </a:ext>
            </a:extLst>
          </p:cNvPr>
          <p:cNvSpPr txBox="1"/>
          <p:nvPr/>
        </p:nvSpPr>
        <p:spPr>
          <a:xfrm>
            <a:off x="5538683" y="1926290"/>
            <a:ext cx="5352099" cy="44935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(Forward Pass)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a + b * X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(MSE)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 y)**2)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 Pass): dL/da, dL/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자동 계산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및 기울기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b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업데이트 후에는 반드시 기울기를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print("-" * 30)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실제 계수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coef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{coef:.4f}")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 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():.4f}")</a:t>
            </a:r>
          </a:p>
        </p:txBody>
      </p:sp>
    </p:spTree>
    <p:extLst>
      <p:ext uri="{BB962C8B-B14F-4D97-AF65-F5344CB8AC3E}">
        <p14:creationId xmlns:p14="http://schemas.microsoft.com/office/powerpoint/2010/main" val="12999034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1BCD33C-36A8-2406-5A3F-36994C0AE701}"/>
              </a:ext>
            </a:extLst>
          </p:cNvPr>
          <p:cNvSpPr txBox="1"/>
          <p:nvPr/>
        </p:nvSpPr>
        <p:spPr>
          <a:xfrm>
            <a:off x="500606" y="1304253"/>
            <a:ext cx="1101620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형태의 데이터는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선형결합식의 어떠한 조합으로도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Positive(1)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Negative(0)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하지 못하기 때문에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각 노드마다 도입하여 비선형으로 인공지능을 구성하여 예측 분류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그림 1025">
            <a:extLst>
              <a:ext uri="{FF2B5EF4-FFF2-40B4-BE49-F238E27FC236}">
                <a16:creationId xmlns:a16="http://schemas.microsoft.com/office/drawing/2014/main" id="{FC96B868-5D45-9DB3-23EC-345A8DAFC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236" y="4494029"/>
            <a:ext cx="2582775" cy="2119435"/>
          </a:xfrm>
          <a:prstGeom prst="rect">
            <a:avLst/>
          </a:prstGeom>
        </p:spPr>
      </p:pic>
      <p:pic>
        <p:nvPicPr>
          <p:cNvPr id="1029" name="그림 1028">
            <a:extLst>
              <a:ext uri="{FF2B5EF4-FFF2-40B4-BE49-F238E27FC236}">
                <a16:creationId xmlns:a16="http://schemas.microsoft.com/office/drawing/2014/main" id="{10E9D52F-1AD9-729A-CF4D-AB9697B6C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235" y="2320793"/>
            <a:ext cx="2582775" cy="2026485"/>
          </a:xfrm>
          <a:prstGeom prst="rect">
            <a:avLst/>
          </a:prstGeom>
        </p:spPr>
      </p:pic>
      <p:cxnSp>
        <p:nvCxnSpPr>
          <p:cNvPr id="1031" name="직선 화살표 연결선 1030">
            <a:extLst>
              <a:ext uri="{FF2B5EF4-FFF2-40B4-BE49-F238E27FC236}">
                <a16:creationId xmlns:a16="http://schemas.microsoft.com/office/drawing/2014/main" id="{D18E881C-469B-AC71-8FD8-B021F8E80BA3}"/>
              </a:ext>
            </a:extLst>
          </p:cNvPr>
          <p:cNvCxnSpPr>
            <a:stCxn id="57" idx="3"/>
            <a:endCxn id="1029" idx="1"/>
          </p:cNvCxnSpPr>
          <p:nvPr/>
        </p:nvCxnSpPr>
        <p:spPr>
          <a:xfrm flipV="1">
            <a:off x="4550953" y="3334036"/>
            <a:ext cx="3380282" cy="1159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직선 화살표 연결선 1031">
            <a:extLst>
              <a:ext uri="{FF2B5EF4-FFF2-40B4-BE49-F238E27FC236}">
                <a16:creationId xmlns:a16="http://schemas.microsoft.com/office/drawing/2014/main" id="{8B8FA355-D964-8286-2084-CB01783B4E7D}"/>
              </a:ext>
            </a:extLst>
          </p:cNvPr>
          <p:cNvCxnSpPr>
            <a:cxnSpLocks/>
            <a:stCxn id="57" idx="3"/>
            <a:endCxn id="1026" idx="1"/>
          </p:cNvCxnSpPr>
          <p:nvPr/>
        </p:nvCxnSpPr>
        <p:spPr>
          <a:xfrm>
            <a:off x="4550953" y="4494029"/>
            <a:ext cx="3380283" cy="1059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6" name="TextBox 1035">
            <a:extLst>
              <a:ext uri="{FF2B5EF4-FFF2-40B4-BE49-F238E27FC236}">
                <a16:creationId xmlns:a16="http://schemas.microsoft.com/office/drawing/2014/main" id="{0C0A2111-AA3F-1327-DD5D-7EF1098835CF}"/>
              </a:ext>
            </a:extLst>
          </p:cNvPr>
          <p:cNvSpPr txBox="1"/>
          <p:nvPr/>
        </p:nvSpPr>
        <p:spPr>
          <a:xfrm rot="20482373">
            <a:off x="5048332" y="3067854"/>
            <a:ext cx="24876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데이터자체를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차원으로 공간이동 후 선형식으로 분류</a:t>
            </a:r>
          </a:p>
        </p:txBody>
      </p:sp>
      <p:sp>
        <p:nvSpPr>
          <p:cNvPr id="1039" name="TextBox 1038">
            <a:extLst>
              <a:ext uri="{FF2B5EF4-FFF2-40B4-BE49-F238E27FC236}">
                <a16:creationId xmlns:a16="http://schemas.microsoft.com/office/drawing/2014/main" id="{4461D5D0-9910-5322-B982-450A79839777}"/>
              </a:ext>
            </a:extLst>
          </p:cNvPr>
          <p:cNvSpPr txBox="1"/>
          <p:nvPr/>
        </p:nvSpPr>
        <p:spPr>
          <a:xfrm rot="1145019">
            <a:off x="5026856" y="5123938"/>
            <a:ext cx="24529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 알고리즘을 데이터에 적용하여 분류</a:t>
            </a:r>
          </a:p>
        </p:txBody>
      </p:sp>
      <p:pic>
        <p:nvPicPr>
          <p:cNvPr id="1041" name="Picture 8">
            <a:extLst>
              <a:ext uri="{FF2B5EF4-FFF2-40B4-BE49-F238E27FC236}">
                <a16:creationId xmlns:a16="http://schemas.microsoft.com/office/drawing/2014/main" id="{0CCA9A08-B7BD-63D8-5E03-A729AA377C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2" y="2767387"/>
            <a:ext cx="3606501" cy="3451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7A20783F-30F0-D4B7-012A-63D6D5CC1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44" y="2768311"/>
            <a:ext cx="3626509" cy="345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6" grpId="0"/>
      <p:bldP spid="1039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188A6-C9D4-C594-7386-21D381B9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08292C-48F8-5B5D-EC3D-7872AF78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26D9EC8-2573-34A0-2202-68309B0D1117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Neural Network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315B8025-02B8-A5E7-B976-C2C15FDBD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560" y="1693518"/>
            <a:ext cx="8782050" cy="447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022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C1462-6263-5D7F-4E6C-449689AB9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9AEE1-E36A-FAAA-E19F-3BCB49A5D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722EA60-9816-0D47-A0DC-38408052C222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3A48CA-FBC3-2463-86B0-7EDF7679084B}"/>
              </a:ext>
            </a:extLst>
          </p:cNvPr>
          <p:cNvSpPr txBox="1"/>
          <p:nvPr/>
        </p:nvSpPr>
        <p:spPr>
          <a:xfrm>
            <a:off x="656620" y="1764051"/>
            <a:ext cx="4687023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XOR 데이터 정의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([[0.0, 0.0], [0.0, 1.0],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	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[1.0, 0.0], [1.0, 1.0]])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([[0.0], [1.0], [1.0], [0.0]])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파라미터 설정 (노드 2개)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입력(2)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2),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1),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0.5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10000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FD8D79-0BBE-25BC-5DB0-838980C0289D}"/>
              </a:ext>
            </a:extLst>
          </p:cNvPr>
          <p:cNvSpPr txBox="1"/>
          <p:nvPr/>
        </p:nvSpPr>
        <p:spPr>
          <a:xfrm>
            <a:off x="5459391" y="1764051"/>
            <a:ext cx="6323637" cy="440120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4. 학습 루프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W1) + b1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(a1, W2) + b2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손실 함수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Binary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Entropy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-(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 + 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 계산)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파라미터 업데이트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W1.grad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b1.grad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W2.grad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b2.grad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b1.grad.zero_()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b2.grad.zero_()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441044D-4B58-E474-EB53-A0C083248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437890"/>
          </a:xfrm>
        </p:spPr>
        <p:txBody>
          <a:bodyPr>
            <a:normAutofit lnSpcReduction="10000"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노드 개수를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3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Hidden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 등 인공지능망 구조를 변경하면서 실습하라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73BBA46-E25C-D9B7-3D3C-55DB5924DF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60006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173F-0EA7-5332-5B71-1F1948786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AF317-7A4D-0EDB-C867-141D167C2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E10A7B3-6DA7-9C2C-93C6-819876A0FA91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neural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network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&amp;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scikit-learn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estimator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API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0290014-81CE-C841-AC7E-9067310A1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7326" y="1313348"/>
            <a:ext cx="6287545" cy="53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5FA6556-DBA7-499A-3D0C-10C7A8D42BEF}"/>
              </a:ext>
            </a:extLst>
          </p:cNvPr>
          <p:cNvSpPr/>
          <p:nvPr/>
        </p:nvSpPr>
        <p:spPr>
          <a:xfrm>
            <a:off x="4747326" y="1313348"/>
            <a:ext cx="3250781" cy="26220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10C32B9-3EFB-57B4-4B81-7A55193A56D0}"/>
              </a:ext>
            </a:extLst>
          </p:cNvPr>
          <p:cNvSpPr/>
          <p:nvPr/>
        </p:nvSpPr>
        <p:spPr>
          <a:xfrm>
            <a:off x="4737678" y="3965880"/>
            <a:ext cx="3250781" cy="2622044"/>
          </a:xfrm>
          <a:prstGeom prst="rect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1FA820-AD5A-168F-D412-57DCC3958699}"/>
              </a:ext>
            </a:extLst>
          </p:cNvPr>
          <p:cNvSpPr txBox="1"/>
          <p:nvPr/>
        </p:nvSpPr>
        <p:spPr>
          <a:xfrm>
            <a:off x="656619" y="1313348"/>
            <a:ext cx="3848374" cy="3738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바탕으로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인공지능망과 다른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머신러닝과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분류한 결과를 의사결정경계선을 시각화한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 구조인 로지스틱 회귀식은 분류를 못함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텍스트 데이터와 같이 고차원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비선형을 가진 데이터는 인공지능망의 성능이 높음</a:t>
            </a:r>
          </a:p>
        </p:txBody>
      </p:sp>
    </p:spTree>
    <p:extLst>
      <p:ext uri="{BB962C8B-B14F-4D97-AF65-F5344CB8AC3E}">
        <p14:creationId xmlns:p14="http://schemas.microsoft.com/office/powerpoint/2010/main" val="15345555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9CD14-C5EB-9287-8D73-F9F1BB288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1B0587-D91B-8580-6E0F-BD875D1A8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B9D7CF7-62C2-EF58-A712-6F1CA1C6E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DE5B218-DB00-6927-3154-13E34DC8DC40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BB3273-5808-C357-A26E-D8D5B7FC9953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439E4D-3AB5-541E-8D0B-A6AC490A60A2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67791B-4972-60A0-42AF-E11FBE129692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227774668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76907-6B9A-B691-FA60-CB5742F0C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BF6028-E971-D2D2-A37C-A4B681D38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F6427EA-47CE-DD8E-2ECD-17D2CF70C816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 functions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5514FD8-2DC4-4FAB-2375-F50B8E928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01" y="2174702"/>
            <a:ext cx="6005080" cy="39398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8A7B801-0A51-4A98-B12E-63322EDDAD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3866" y="2624079"/>
            <a:ext cx="4587433" cy="4784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2537F47-2CF7-D84F-42A1-EB257E1F5295}"/>
              </a:ext>
            </a:extLst>
          </p:cNvPr>
          <p:cNvSpPr txBox="1"/>
          <p:nvPr/>
        </p:nvSpPr>
        <p:spPr>
          <a:xfrm>
            <a:off x="512180" y="1348385"/>
            <a:ext cx="112129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남는다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6708720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C948-29E9-8735-2FB6-BC7071233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C201F9-D791-B84F-532F-E5201113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046C5C9-7FC9-878D-B677-5BF98F4B925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loss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1E7BB11-E633-A94D-2501-F36DA50C0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820" y="2029703"/>
            <a:ext cx="5713174" cy="437168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AD74360-CCF4-B8C7-480C-D7341F47A02F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656620" y="2691805"/>
            <a:ext cx="3240913" cy="8447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620762F-5B79-568D-9980-2E386885B9C5}"/>
              </a:ext>
            </a:extLst>
          </p:cNvPr>
          <p:cNvSpPr txBox="1"/>
          <p:nvPr/>
        </p:nvSpPr>
        <p:spPr>
          <a:xfrm>
            <a:off x="543286" y="1280721"/>
            <a:ext cx="10992093" cy="87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남으며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Log-loss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Cross-Entropy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이진분류의 특수한 경우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1005792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8833C-0702-7FB9-CA68-E9F604F95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5EBE41-3AF7-AB83-DEB8-CFAA6D3B7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A6AC6CE-12FA-975E-AED0-B7F1423238C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Logistic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55E958-F0D6-D564-FD8F-0ABCBD009E33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분류모델인 로지스틱 회귀는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/08_odds_ratio_logit_sigmoid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 참고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223FD0-ADC8-B76A-10E9-7FF52DAE6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9596" y="2038228"/>
            <a:ext cx="3976808" cy="2994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72A7111D-DEE6-F645-A881-641D0B0B8098}"/>
              </a:ext>
            </a:extLst>
          </p:cNvPr>
          <p:cNvGrpSpPr/>
          <p:nvPr/>
        </p:nvGrpSpPr>
        <p:grpSpPr>
          <a:xfrm>
            <a:off x="656620" y="2038228"/>
            <a:ext cx="7087128" cy="3638672"/>
            <a:chOff x="656620" y="2038228"/>
            <a:chExt cx="7087128" cy="3638672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4A3668DD-F69F-352A-2678-065F4B07A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656620" y="2038228"/>
              <a:ext cx="7087128" cy="3638672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9CC41A3-5878-CDD8-C521-016FE5C04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3916084" y="5032462"/>
              <a:ext cx="2672452" cy="6444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077135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346102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6201755"/>
            <a:ext cx="9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Tube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0F3AF9-A173-B593-4230-2FE3E7921A68}"/>
              </a:ext>
            </a:extLst>
          </p:cNvPr>
          <p:cNvSpPr txBox="1"/>
          <p:nvPr/>
        </p:nvSpPr>
        <p:spPr>
          <a:xfrm>
            <a:off x="704850" y="2082568"/>
            <a:ext cx="51617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399054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3082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2000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1D66E-3002-A56F-DF76-AA82152EA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D61D28-EFC5-6097-DEE8-D30506D427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2781A-2383-4E2D-7B76-619F7FA06A3A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545019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CCFD-463F-7127-518A-5DC5407A9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9266F11-C291-BAA9-5735-0A5A7CFF4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 err="1">
                <a:cs typeface="Segoe UI Light" panose="020B0502040204020203" pitchFamily="34" charset="0"/>
              </a:rPr>
              <a:t>pytorch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tutorial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2A3FE8-AC2B-31B3-C63B-4CF02B6CB5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58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BC71BA-4391-0FA8-6E62-1CDC58F5E7DD}"/>
              </a:ext>
            </a:extLst>
          </p:cNvPr>
          <p:cNvSpPr txBox="1"/>
          <p:nvPr/>
        </p:nvSpPr>
        <p:spPr>
          <a:xfrm>
            <a:off x="950697" y="1402638"/>
            <a:ext cx="1055319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Installation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 Basics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With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Training Pipeline: Model, Loss, and Optimizer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Logistic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and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DataLoader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Transforms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Softmax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Cross Entropy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 Functions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Feed-Forward Neural Net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Convolutional Neural Net (CNN)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Transfer Learning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Tensorboard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Save and Load Models</a:t>
            </a: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1090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2356</TotalTime>
  <Words>5231</Words>
  <Application>Microsoft Office PowerPoint</Application>
  <PresentationFormat>와이드스크린</PresentationFormat>
  <Paragraphs>620</Paragraphs>
  <Slides>58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71" baseType="lpstr">
      <vt:lpstr>D2Coding</vt:lpstr>
      <vt:lpstr>NanumGothicExtraBold</vt:lpstr>
      <vt:lpstr>맑은 고딕</vt:lpstr>
      <vt:lpstr>맑은 고딕 Semilight</vt:lpstr>
      <vt:lpstr>Batang</vt:lpstr>
      <vt:lpstr>휴먼옛체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</vt:lpstr>
      <vt:lpstr>pytorch tutorial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69</cp:revision>
  <dcterms:created xsi:type="dcterms:W3CDTF">2026-04-06T01:00:39Z</dcterms:created>
  <dcterms:modified xsi:type="dcterms:W3CDTF">2026-04-26T13:57:16Z</dcterms:modified>
  <cp:version/>
</cp:coreProperties>
</file>