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3"/>
  </p:notesMasterIdLst>
  <p:handoutMasterIdLst>
    <p:handoutMasterId r:id="rId64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873" r:id="rId18"/>
    <p:sldId id="907" r:id="rId19"/>
    <p:sldId id="945" r:id="rId20"/>
    <p:sldId id="946" r:id="rId21"/>
    <p:sldId id="936" r:id="rId22"/>
    <p:sldId id="959" r:id="rId23"/>
    <p:sldId id="930" r:id="rId24"/>
    <p:sldId id="928" r:id="rId25"/>
    <p:sldId id="851" r:id="rId26"/>
    <p:sldId id="852" r:id="rId27"/>
    <p:sldId id="883" r:id="rId28"/>
    <p:sldId id="932" r:id="rId29"/>
    <p:sldId id="956" r:id="rId30"/>
    <p:sldId id="957" r:id="rId31"/>
    <p:sldId id="908" r:id="rId32"/>
    <p:sldId id="880" r:id="rId33"/>
    <p:sldId id="929" r:id="rId34"/>
    <p:sldId id="846" r:id="rId35"/>
    <p:sldId id="950" r:id="rId36"/>
    <p:sldId id="951" r:id="rId37"/>
    <p:sldId id="952" r:id="rId38"/>
    <p:sldId id="969" r:id="rId39"/>
    <p:sldId id="953" r:id="rId40"/>
    <p:sldId id="955" r:id="rId41"/>
    <p:sldId id="954" r:id="rId42"/>
    <p:sldId id="927" r:id="rId43"/>
    <p:sldId id="937" r:id="rId44"/>
    <p:sldId id="879" r:id="rId45"/>
    <p:sldId id="881" r:id="rId46"/>
    <p:sldId id="882" r:id="rId47"/>
    <p:sldId id="884" r:id="rId48"/>
    <p:sldId id="919" r:id="rId49"/>
    <p:sldId id="886" r:id="rId50"/>
    <p:sldId id="887" r:id="rId51"/>
    <p:sldId id="885" r:id="rId52"/>
    <p:sldId id="285" r:id="rId53"/>
    <p:sldId id="961" r:id="rId54"/>
    <p:sldId id="963" r:id="rId55"/>
    <p:sldId id="964" r:id="rId56"/>
    <p:sldId id="960" r:id="rId57"/>
    <p:sldId id="284" r:id="rId58"/>
    <p:sldId id="949" r:id="rId59"/>
    <p:sldId id="968" r:id="rId60"/>
    <p:sldId id="967" r:id="rId61"/>
    <p:sldId id="965" r:id="rId6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873"/>
            <p14:sldId id="907"/>
            <p14:sldId id="945"/>
            <p14:sldId id="946"/>
            <p14:sldId id="936"/>
            <p14:sldId id="959"/>
            <p14:sldId id="930"/>
            <p14:sldId id="928"/>
            <p14:sldId id="851"/>
            <p14:sldId id="852"/>
            <p14:sldId id="883"/>
            <p14:sldId id="932"/>
            <p14:sldId id="956"/>
            <p14:sldId id="957"/>
            <p14:sldId id="908"/>
            <p14:sldId id="880"/>
            <p14:sldId id="929"/>
            <p14:sldId id="846"/>
            <p14:sldId id="950"/>
            <p14:sldId id="951"/>
            <p14:sldId id="952"/>
            <p14:sldId id="969"/>
            <p14:sldId id="953"/>
            <p14:sldId id="955"/>
            <p14:sldId id="954"/>
            <p14:sldId id="927"/>
            <p14:sldId id="937"/>
            <p14:sldId id="879"/>
            <p14:sldId id="881"/>
            <p14:sldId id="882"/>
            <p14:sldId id="884"/>
            <p14:sldId id="919"/>
            <p14:sldId id="886"/>
            <p14:sldId id="887"/>
            <p14:sldId id="885"/>
            <p14:sldId id="285"/>
            <p14:sldId id="961"/>
            <p14:sldId id="963"/>
            <p14:sldId id="964"/>
            <p14:sldId id="960"/>
            <p14:sldId id="284"/>
            <p14:sldId id="949"/>
            <p14:sldId id="968"/>
            <p14:sldId id="967"/>
            <p14:sldId id="9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78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F507C-BA73-0296-1560-0D6E6528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F92A62-51B3-FF1D-77E7-6AD650CF9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DB0CC6-CB9F-75A3-4C0F-E66F832C1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DE6D86-E768-4834-B1EA-15EDB3E61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74106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0B04-BC6B-73DB-CB34-9FB2B160C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07A9F1-8C0F-ED62-70FD-E6320A3A2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90E080-742D-511C-B18C-9CE1092A8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54B272-1F00-EEED-A8CA-37F03D41B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860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53290-4752-B461-8C50-7FB709AF1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A28231-6644-CE06-770D-EEEEEB942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3924C9-593C-A72D-1208-398660B2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B6E30B-0E85-4ABC-8EB4-A53026412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74132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DA309-09D2-81A3-6915-2295BFD4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E5C08A-46A9-FB9C-8EE1-878B003A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C2008-4D8E-1EC4-83D5-1DD3A60E0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47772B-DF82-251C-E1EE-2AD8FA855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16965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gi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ai.net/nnet/multi-layer" TargetMode="External"/><Relationship Id="rId3" Type="http://schemas.openxmlformats.org/officeDocument/2006/relationships/image" Target="../media/image36.png"/><Relationship Id="rId7" Type="http://schemas.openxmlformats.org/officeDocument/2006/relationships/hyperlink" Target="https://www.101ai.net/nnet/backprop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nnet/perceptron" TargetMode="External"/><Relationship Id="rId5" Type="http://schemas.openxmlformats.org/officeDocument/2006/relationships/hyperlink" Target="https://www.101ai.net/basics/st-gradient-descent" TargetMode="External"/><Relationship Id="rId10" Type="http://schemas.openxmlformats.org/officeDocument/2006/relationships/hyperlink" Target="https://www.101ai.net/" TargetMode="External"/><Relationship Id="rId4" Type="http://schemas.openxmlformats.org/officeDocument/2006/relationships/hyperlink" Target="https://www.101ai.net/basics/gradient-descent" TargetMode="External"/><Relationship Id="rId9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7" Type="http://schemas.openxmlformats.org/officeDocument/2006/relationships/hyperlink" Target="https://www.101ai.net/deeplearn/visdemo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deeplearn/activation" TargetMode="Externa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4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1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2.png"/><Relationship Id="rId4" Type="http://schemas.openxmlformats.org/officeDocument/2006/relationships/image" Target="../media/image6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ncestor9/mathematics-for-machine-learning/blob/main/excel/loss_functions.xlsx" TargetMode="External"/><Relationship Id="rId3" Type="http://schemas.openxmlformats.org/officeDocument/2006/relationships/hyperlink" Target="https://github.com/ancestor9/mathematics-for-machine-learning/blob/main/scripts/Introduction_to_Machine_learning.ipynb" TargetMode="External"/><Relationship Id="rId7" Type="http://schemas.openxmlformats.org/officeDocument/2006/relationships/hyperlink" Target="https://github.com/ancestor9/mathematics-for-machine-learning/blob/main/excel/XOR_perceptron_optimization_backprpagation_sgd.xlsx" TargetMode="External"/><Relationship Id="rId2" Type="http://schemas.openxmlformats.org/officeDocument/2006/relationships/hyperlink" Target="https://github.com/ancestor9/mathematics-for-machine-learning/blob/main/scripts/Image_representation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machine-learning/blob/main/scripts/w4_pytorch_tutorial.ipynb" TargetMode="External"/><Relationship Id="rId5" Type="http://schemas.openxmlformats.org/officeDocument/2006/relationships/hyperlink" Target="https://github.com/ancestor9/mathematics-for-machine-learning/blob/main/scripts/Matrix_vectors_01.ipynb" TargetMode="External"/><Relationship Id="rId10" Type="http://schemas.openxmlformats.org/officeDocument/2006/relationships/hyperlink" Target="https://github.com/ancestor9/mathematics-for-machine-learning/tree/main" TargetMode="External"/><Relationship Id="rId4" Type="http://schemas.openxmlformats.org/officeDocument/2006/relationships/hyperlink" Target="https://github.com/ancestor9/mathematics-for-machine-learning/blob/main/scripts/Introduction_to_deep_learning.ipynb" TargetMode="External"/><Relationship Id="rId9" Type="http://schemas.openxmlformats.org/officeDocument/2006/relationships/hyperlink" Target="https://github.com/ancestor9/mathematics-for-machine-learning/blob/main/excel/stochasti%20gradient%20descent.xlsx" TargetMode="Externa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3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76.png"/><Relationship Id="rId4" Type="http://schemas.openxmlformats.org/officeDocument/2006/relationships/image" Target="../media/image73.png"/><Relationship Id="rId9" Type="http://schemas.microsoft.com/office/2007/relationships/hdphoto" Target="../media/hdphoto6.wdp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8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rojector.tensorflow.org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jpeg"/><Relationship Id="rId4" Type="http://schemas.openxmlformats.org/officeDocument/2006/relationships/image" Target="../media/image94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loss_functions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www.tensorflow.org/?hl=ko" TargetMode="External"/><Relationship Id="rId4" Type="http://schemas.openxmlformats.org/officeDocument/2006/relationships/hyperlink" Target="https://keras.io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Introduction_to_deep_learning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mathematics-for-machine-learning/blob/main/scripts/Introduction_to_Machine_learning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882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손실함수를 최적화하는 알고리즘을 이해하고 파이썬 코딩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구조와 손실함수를 최소화하는 알고리즘을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순전파와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구글 시트의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Master AI Concepts with Interactive Learning!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C6E6DC6-F763-F831-5B94-C4EF2B5B9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55" y="2125626"/>
            <a:ext cx="5758901" cy="39960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4F23CA-E282-86AC-37CE-C54A91DF6A09}"/>
              </a:ext>
            </a:extLst>
          </p:cNvPr>
          <p:cNvSpPr txBox="1"/>
          <p:nvPr/>
        </p:nvSpPr>
        <p:spPr>
          <a:xfrm>
            <a:off x="596643" y="2116740"/>
            <a:ext cx="4747263" cy="299934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gradient-descent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Stochastic-gradient-descent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Perceptron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Backpropagation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Multi-layer Network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순차적으로 직접 실습하여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Feedfoward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(Backpropagation),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활성화함수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등을 이해 하자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C2DD7B0-91FE-3C6E-4F40-3614B8F7C6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9993" y="3220022"/>
            <a:ext cx="4934594" cy="28162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49BB29-E803-553B-C36C-19A4CC0EC018}"/>
              </a:ext>
            </a:extLst>
          </p:cNvPr>
          <p:cNvSpPr txBox="1"/>
          <p:nvPr/>
        </p:nvSpPr>
        <p:spPr>
          <a:xfrm>
            <a:off x="596643" y="1341879"/>
            <a:ext cx="10848136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Shallow learning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부터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deep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Learning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까지 시각화로 개념을 익힐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수있는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요기 클릭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https://www.101ai.net/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F56B-9B1A-9F82-BFC3-CB89ED05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14F611-AE77-5A84-D981-3A675C9E4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CB56FF0-5D49-DE0E-D05C-0BDB0D506770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Master AI Concepts with Interactive Learning!</a:t>
            </a: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F8F10599-091C-AEFC-FCE3-4A047EAAFC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0D5FBC3-269E-E99E-8323-CF594C3D8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412" y="2105645"/>
            <a:ext cx="2636982" cy="40860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CF10F4-8DF8-F7E6-A038-24D29475AAAB}"/>
              </a:ext>
            </a:extLst>
          </p:cNvPr>
          <p:cNvSpPr txBox="1"/>
          <p:nvPr/>
        </p:nvSpPr>
        <p:spPr>
          <a:xfrm>
            <a:off x="4333718" y="173619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optimizer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180024-E6DB-663E-2BE4-3D8EE012E3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72" y="2105645"/>
            <a:ext cx="3196182" cy="382903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E93ED24-CBEA-3D66-76BC-E8BC8DDF28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457" y="2105645"/>
            <a:ext cx="3102375" cy="40409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8891A74-BA3E-1907-D9CC-390D78CD9200}"/>
              </a:ext>
            </a:extLst>
          </p:cNvPr>
          <p:cNvSpPr txBox="1"/>
          <p:nvPr/>
        </p:nvSpPr>
        <p:spPr>
          <a:xfrm>
            <a:off x="447070" y="1736190"/>
            <a:ext cx="1166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2CF437-6079-B7D1-C4CB-EC516A08B1A7}"/>
              </a:ext>
            </a:extLst>
          </p:cNvPr>
          <p:cNvSpPr txBox="1"/>
          <p:nvPr/>
        </p:nvSpPr>
        <p:spPr>
          <a:xfrm>
            <a:off x="7684161" y="173619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visdemo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9037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1997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11192480" cy="766439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39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386965"/>
            <a:ext cx="4535863" cy="46935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3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386965"/>
            <a:ext cx="4535863" cy="5093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6348605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082568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5870731"/>
            <a:ext cx="23407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68967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048942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54292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30" grpId="0"/>
      <p:bldP spid="31" grpId="0"/>
      <p:bldP spid="32" grpId="0"/>
      <p:bldP spid="4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781305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394996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42</a:t>
            </a:fld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51D627-41E9-D33A-A72C-D38EF5B9F8AF}"/>
              </a:ext>
            </a:extLst>
          </p:cNvPr>
          <p:cNvSpPr txBox="1"/>
          <p:nvPr/>
        </p:nvSpPr>
        <p:spPr>
          <a:xfrm>
            <a:off x="565118" y="2021258"/>
            <a:ext cx="497584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u="sng" dirty="0" err="1"/>
              <a:t>Linear_Algebra</a:t>
            </a:r>
            <a:r>
              <a:rPr lang="en-US" altLang="ko-KR" sz="1600" b="1" u="sng" dirty="0"/>
              <a:t> </a:t>
            </a:r>
          </a:p>
          <a:p>
            <a:pPr lvl="2"/>
            <a:r>
              <a:rPr lang="en-US" altLang="ko-KR" sz="1600" b="1" u="sng" dirty="0"/>
              <a:t>w1</a:t>
            </a:r>
          </a:p>
          <a:p>
            <a:pPr lvl="2"/>
            <a:r>
              <a:rPr lang="en-US" altLang="ko-KR" sz="1600" b="1" u="sng" dirty="0"/>
              <a:t>w2</a:t>
            </a:r>
          </a:p>
          <a:p>
            <a:pPr lvl="2"/>
            <a:r>
              <a:rPr lang="en-US" altLang="ko-KR" sz="1600" b="1" u="sng" dirty="0"/>
              <a:t>w3</a:t>
            </a:r>
          </a:p>
          <a:p>
            <a:r>
              <a:rPr lang="en-US" altLang="ko-KR" sz="1600" dirty="0"/>
              <a:t>	</a:t>
            </a:r>
            <a:r>
              <a:rPr lang="en-US" altLang="ko-KR" sz="1600" b="1" u="sng" dirty="0"/>
              <a:t>w4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/>
              <a:t>	C1_W4_Assignment_Perceptron_MSE.ipynb</a:t>
            </a:r>
          </a:p>
          <a:p>
            <a:r>
              <a:rPr lang="en-US" altLang="ko-KR" sz="1600" dirty="0"/>
              <a:t>	C1_W4_Assignment_perceptron.ipynb</a:t>
            </a:r>
          </a:p>
          <a:p>
            <a:endParaRPr lang="en-US" altLang="ko-KR" sz="1600" dirty="0"/>
          </a:p>
          <a:p>
            <a:r>
              <a:rPr lang="en-US" altLang="ko-KR" sz="1600" b="1" u="sng" dirty="0"/>
              <a:t>Scripts</a:t>
            </a:r>
          </a:p>
          <a:p>
            <a:pPr lvl="2"/>
            <a:r>
              <a:rPr lang="en-US" altLang="ko-KR" sz="1600" dirty="0" err="1">
                <a:hlinkClick r:id="rId2" tooltip="Image_representation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Image_representation.ipynb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3" tooltip="Introduction_to_Machine_learning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Introduction_to_Machine_learning.ipynb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4" tooltip="Introduction_to_deep_learning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Introduction_to_deep_learning.ipynb</a:t>
            </a:r>
            <a:endParaRPr lang="en-US" altLang="ko-KR" sz="1600" dirty="0"/>
          </a:p>
          <a:p>
            <a:pPr lvl="2"/>
            <a:r>
              <a:rPr lang="en-US" altLang="ko-KR" sz="1600" dirty="0">
                <a:hlinkClick r:id="rId5" tooltip="Matrix_vectors_01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Matrix_vectors_01.ipynb</a:t>
            </a:r>
            <a:endParaRPr lang="en-US" altLang="ko-KR" sz="1600" dirty="0"/>
          </a:p>
          <a:p>
            <a:pPr lvl="2"/>
            <a:r>
              <a:rPr lang="en-US" altLang="ko-KR" sz="1600" dirty="0"/>
              <a:t>w3_linear_transformation_image</a:t>
            </a:r>
          </a:p>
          <a:p>
            <a:pPr lvl="2"/>
            <a:r>
              <a:rPr lang="en-US" altLang="ko-KR" sz="1600" dirty="0"/>
              <a:t>w4_loss_function.ipynb</a:t>
            </a:r>
            <a:br>
              <a:rPr lang="en-US" altLang="ko-KR" sz="1600" dirty="0"/>
            </a:br>
            <a:r>
              <a:rPr lang="en-US" altLang="ko-KR" sz="1600" dirty="0"/>
              <a:t>w4_stochastic_gradient_descent .</a:t>
            </a:r>
            <a:r>
              <a:rPr lang="en-US" altLang="ko-KR" sz="1600" dirty="0" err="1"/>
              <a:t>ipynb</a:t>
            </a:r>
            <a:br>
              <a:rPr lang="en-US" altLang="ko-KR" sz="1600" dirty="0"/>
            </a:br>
            <a:r>
              <a:rPr lang="en-US" altLang="ko-KR" sz="1600" dirty="0"/>
              <a:t>w4_perceptron_wt_inputs.ipynb</a:t>
            </a:r>
          </a:p>
          <a:p>
            <a:pPr lvl="2"/>
            <a:r>
              <a:rPr lang="en-US" altLang="ko-KR" sz="1600" dirty="0">
                <a:hlinkClick r:id="rId6" tooltip="w4_pytorch_tutorial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r>
              <a:rPr lang="en-US" altLang="ko-KR" sz="1600" dirty="0"/>
              <a:t> 	</a:t>
            </a:r>
            <a:endParaRPr lang="ko-KR" altLang="en-US" sz="1600" dirty="0"/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Home Work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0377FD-1E7D-BE6D-C8D8-0B0E89832ED4}"/>
              </a:ext>
            </a:extLst>
          </p:cNvPr>
          <p:cNvSpPr txBox="1"/>
          <p:nvPr/>
        </p:nvSpPr>
        <p:spPr>
          <a:xfrm>
            <a:off x="5651804" y="2021258"/>
            <a:ext cx="608506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u="sng" dirty="0"/>
              <a:t>Excel</a:t>
            </a:r>
          </a:p>
          <a:p>
            <a:pPr lvl="2"/>
            <a:r>
              <a:rPr lang="en-US" altLang="ko-KR" sz="1600" dirty="0">
                <a:hlinkClick r:id="rId7" tooltip="XOR_perceptron_optimization_backprpagation_sgd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en-US" altLang="ko-KR" sz="1600" dirty="0"/>
          </a:p>
          <a:p>
            <a:pPr lvl="2"/>
            <a:r>
              <a:rPr lang="en-US" altLang="ko-KR" sz="1600" dirty="0">
                <a:hlinkClick r:id="rId8" tooltip="loss_functions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loss_functions.xlsx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9" tooltip="stochasti gradient descent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</a:t>
            </a:r>
            <a:r>
              <a:rPr lang="en-US" altLang="ko-KR" sz="1600" dirty="0">
                <a:hlinkClick r:id="rId9" tooltip="stochasti gradient descent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gradient descent.xlsx</a:t>
            </a:r>
            <a:endParaRPr lang="en-US" altLang="ko-KR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905AF4-17DC-6B2A-1B48-95CDF4DCAD4D}"/>
              </a:ext>
            </a:extLst>
          </p:cNvPr>
          <p:cNvSpPr txBox="1"/>
          <p:nvPr/>
        </p:nvSpPr>
        <p:spPr>
          <a:xfrm>
            <a:off x="565118" y="1394691"/>
            <a:ext cx="1143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mathematics-for-machine-learning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깃허브의디렉토리에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관련 코드 및 엑셀파일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기말고사 시험문제 범위</a:t>
            </a: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48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2498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52</a:t>
            </a:fld>
            <a:endParaRPr lang="ko-KR" altLang="en-US" noProof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4FDA77C-2F88-58B9-4201-5FF6DA4DC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491" y="2275470"/>
            <a:ext cx="10104582" cy="4104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F5668E-72EC-BB26-780E-B8C4648682DA}"/>
              </a:ext>
            </a:extLst>
          </p:cNvPr>
          <p:cNvSpPr txBox="1"/>
          <p:nvPr/>
        </p:nvSpPr>
        <p:spPr>
          <a:xfrm>
            <a:off x="609600" y="1246908"/>
            <a:ext cx="10963564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(tabular, audio, image, video, text)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기계가 인식할 수 있도록 처리하여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속에 숨겨진 복잡한 패턴을 학습하고 이를 통해 새로운 상황에 대한 예측을 수행하는 것  </a:t>
            </a:r>
          </a:p>
        </p:txBody>
      </p:sp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2C2B7-9817-9CFB-9626-246C96FC2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FEBC4C7-0E7F-B62F-0CFE-B55052B69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E25462B-D323-5AFA-E486-E7CB024BB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53</a:t>
            </a:fld>
            <a:endParaRPr lang="ko-KR" altLang="en-US" noProof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E7C8C46-12B6-23BC-75AF-0B6460198A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207" y="2206632"/>
            <a:ext cx="11199738" cy="303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3843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E287-8CE1-E8EF-4AE4-AADFE41C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05D45E4-3481-1953-0294-4BA607412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F3DEB4F-A905-1B2B-250D-209D437A4A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54</a:t>
            </a:fld>
            <a:endParaRPr lang="ko-KR" altLang="en-US" noProof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69B56FD2-343A-098B-D486-94EF7A4F7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24" y="1846549"/>
            <a:ext cx="9174665" cy="3475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DC7F29DA-55D2-21B8-3AD4-5E31DCF0A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24" y="1930815"/>
            <a:ext cx="10268459" cy="4354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5007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DB2A4-20B7-A30B-E166-58CEDD02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D08395E-55D6-2316-9AE9-DFB724040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28CE6AF-C5BE-9B6F-C2C1-3097A5E8F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55</a:t>
            </a:fld>
            <a:endParaRPr lang="ko-KR" altLang="en-US" noProof="0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BC17E2D0-B63D-E170-9E12-9445DF74D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91" y="1464679"/>
            <a:ext cx="10041412" cy="1881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4B50DF57-50E5-5EED-260C-767B5E569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970" y="3477276"/>
            <a:ext cx="10041412" cy="293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436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CFF9-9A63-3708-C21E-949C269B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5C36D8A-8268-E042-90DC-DB99F951C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A52F98-7A1B-5DA4-7AD3-35E339A13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590205B-E8A3-5BFF-349D-D16293D0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776" y="1660496"/>
            <a:ext cx="6066299" cy="43205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2DB9F-0B09-FC89-E1AF-058C2DBAD9F8}"/>
              </a:ext>
            </a:extLst>
          </p:cNvPr>
          <p:cNvSpPr txBox="1"/>
          <p:nvPr/>
        </p:nvSpPr>
        <p:spPr>
          <a:xfrm>
            <a:off x="521207" y="1618358"/>
            <a:ext cx="4435098" cy="4107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개의 단어 데이터를 200차원 이상의 벡터로 표현한 Word2Vec 시각화 내용인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 차원을 핵심 특징만 추출하여 2D나 3D 공간으로 투영한 차원 축소(PCA)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사용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단어간 의미적 유사성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(cosine similarity)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그래프에서 가깝게 모여 있는 점들은 서로 의미가 유사한 단어들(예: '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heavier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bigger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등 형용사끼리 뭉침)</a:t>
            </a:r>
          </a:p>
        </p:txBody>
      </p:sp>
    </p:spTree>
    <p:extLst>
      <p:ext uri="{BB962C8B-B14F-4D97-AF65-F5344CB8AC3E}">
        <p14:creationId xmlns:p14="http://schemas.microsoft.com/office/powerpoint/2010/main" val="2047155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525270" y="2207588"/>
            <a:ext cx="5551055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6210990" y="2207588"/>
            <a:ext cx="5656535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                 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525270" y="2207588"/>
            <a:ext cx="5551055" cy="418576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0" y="2207588"/>
            <a:ext cx="5656535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36115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43C82E-B978-5041-E3A6-54E38B1E57E2}"/>
              </a:ext>
            </a:extLst>
          </p:cNvPr>
          <p:cNvSpPr txBox="1"/>
          <p:nvPr/>
        </p:nvSpPr>
        <p:spPr>
          <a:xfrm>
            <a:off x="6833707" y="5839276"/>
            <a:ext cx="18338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4FCE0FC-8771-3D30-ACF1-FC43607907C8}"/>
              </a:ext>
            </a:extLst>
          </p:cNvPr>
          <p:cNvCxnSpPr/>
          <p:nvPr/>
        </p:nvCxnSpPr>
        <p:spPr>
          <a:xfrm>
            <a:off x="3517853" y="6008553"/>
            <a:ext cx="3315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99B9C-7A1A-8C17-3155-670B4970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F41C24-B7B3-DBDA-1F9C-5A9455E1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E9405CB-FE7A-8C6D-8C33-78F8CFF8D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4DE1BA-49C6-421E-D39E-F16ABCA95A5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D4115808-47B2-67CA-8E58-2A1CB086E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770206" cy="4575176"/>
          </a:xfrm>
        </p:spPr>
        <p:txBody>
          <a:bodyPr>
            <a:no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훈련과 검증데이터로 구분하여 훈련 데이터로 학습하여 모델을 만들고 검증데이터의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 3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경우에 대하여 학습하고 예측하라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6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optional : </a:t>
            </a:r>
            <a:r>
              <a:rPr lang="en-US" altLang="ko-KR" sz="16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,)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57241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BBD1E-DDB5-04B5-A7D8-9B1F40E38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D8EA6F-FB52-9B20-9B8F-996A36DFE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0DB8192-D6D7-4204-4F7B-8DB97927E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6F190981-4C0C-959A-2B31-5F4C6424BA53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5C4D6799-6877-BA61-F2D4-5C1B6665B5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713" y="3529445"/>
            <a:ext cx="10353762" cy="494495"/>
          </a:xfrm>
        </p:spPr>
        <p:txBody>
          <a:bodyPr>
            <a:no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en-US" altLang="ko-KR" sz="1800" b="1" dirty="0" err="1">
                <a:latin typeface="+mn-lt"/>
                <a:ea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Introduction_to_deep_learning.ipynb</a:t>
            </a:r>
            <a:endParaRPr lang="en-US" altLang="ko-KR" sz="1800" b="1" dirty="0">
              <a:latin typeface="+mn-lt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E244EB-1565-411F-AB2B-EA3F7E3027E2}"/>
              </a:ext>
            </a:extLst>
          </p:cNvPr>
          <p:cNvSpPr txBox="1"/>
          <p:nvPr/>
        </p:nvSpPr>
        <p:spPr>
          <a:xfrm>
            <a:off x="706713" y="2716706"/>
            <a:ext cx="5126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Introduction_to_Machine_learning.ipynb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F03A5-187B-CBE6-18A6-41E23BA03968}"/>
              </a:ext>
            </a:extLst>
          </p:cNvPr>
          <p:cNvSpPr txBox="1"/>
          <p:nvPr/>
        </p:nvSpPr>
        <p:spPr>
          <a:xfrm>
            <a:off x="656619" y="1491004"/>
            <a:ext cx="11363931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코드로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Machine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Learning(scikit-learn)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관련 파이썬 코드를 경험하라</a:t>
            </a:r>
          </a:p>
        </p:txBody>
      </p:sp>
    </p:spTree>
    <p:extLst>
      <p:ext uri="{BB962C8B-B14F-4D97-AF65-F5344CB8AC3E}">
        <p14:creationId xmlns:p14="http://schemas.microsoft.com/office/powerpoint/2010/main" val="193577769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1577</TotalTime>
  <Words>4262</Words>
  <Application>Microsoft Office PowerPoint</Application>
  <PresentationFormat>와이드스크린</PresentationFormat>
  <Paragraphs>560</Paragraphs>
  <Slides>61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3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Home Work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AI : Machine Learning, Deep Learning</vt:lpstr>
      <vt:lpstr>AI : Machine Learning, Deep Learning</vt:lpstr>
      <vt:lpstr>AI : Machine Learning, Deep Learning</vt:lpstr>
      <vt:lpstr>AI : Machine Learning, Deep Learning</vt:lpstr>
      <vt:lpstr>Neural Networks – text recognition</vt:lpstr>
      <vt:lpstr>Neural Networks – tensorflow playground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51</cp:revision>
  <dcterms:created xsi:type="dcterms:W3CDTF">2026-04-06T01:00:39Z</dcterms:created>
  <dcterms:modified xsi:type="dcterms:W3CDTF">2026-04-22T02:08:57Z</dcterms:modified>
  <cp:version/>
</cp:coreProperties>
</file>