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1"/>
  </p:notesMasterIdLst>
  <p:handoutMasterIdLst>
    <p:handoutMasterId r:id="rId52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928" r:id="rId25"/>
    <p:sldId id="851" r:id="rId26"/>
    <p:sldId id="852" r:id="rId27"/>
    <p:sldId id="952" r:id="rId28"/>
    <p:sldId id="969" r:id="rId29"/>
    <p:sldId id="937" r:id="rId30"/>
    <p:sldId id="883" r:id="rId31"/>
    <p:sldId id="974" r:id="rId32"/>
    <p:sldId id="975" r:id="rId33"/>
    <p:sldId id="954" r:id="rId34"/>
    <p:sldId id="882" r:id="rId35"/>
    <p:sldId id="932" r:id="rId36"/>
    <p:sldId id="956" r:id="rId37"/>
    <p:sldId id="957" r:id="rId38"/>
    <p:sldId id="978" r:id="rId39"/>
    <p:sldId id="973" r:id="rId40"/>
    <p:sldId id="977" r:id="rId41"/>
    <p:sldId id="976" r:id="rId42"/>
    <p:sldId id="886" r:id="rId43"/>
    <p:sldId id="887" r:id="rId44"/>
    <p:sldId id="885" r:id="rId45"/>
    <p:sldId id="949" r:id="rId46"/>
    <p:sldId id="968" r:id="rId47"/>
    <p:sldId id="908" r:id="rId48"/>
    <p:sldId id="979" r:id="rId49"/>
    <p:sldId id="980" r:id="rId5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52"/>
            <p14:sldId id="969"/>
            <p14:sldId id="937"/>
            <p14:sldId id="883"/>
            <p14:sldId id="974"/>
            <p14:sldId id="975"/>
            <p14:sldId id="954"/>
            <p14:sldId id="882"/>
            <p14:sldId id="932"/>
            <p14:sldId id="956"/>
            <p14:sldId id="957"/>
            <p14:sldId id="978"/>
            <p14:sldId id="973"/>
            <p14:sldId id="977"/>
            <p14:sldId id="976"/>
            <p14:sldId id="886"/>
            <p14:sldId id="887"/>
            <p14:sldId id="885"/>
            <p14:sldId id="949"/>
            <p14:sldId id="968"/>
            <p14:sldId id="908"/>
            <p14:sldId id="979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100" d="100"/>
          <a:sy n="100" d="100"/>
        </p:scale>
        <p:origin x="1104" y="17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12CA-9D2F-F288-FA76-3143D6F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E904F3-3AB1-ACD5-18C2-8CD56885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0EC024-0D98-D39D-2E50-BDA85B9AA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811EF2-08FC-31B3-3B73-F3AB56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061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2.png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18" Type="http://schemas.openxmlformats.org/officeDocument/2006/relationships/image" Target="../media/image6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17" Type="http://schemas.openxmlformats.org/officeDocument/2006/relationships/image" Target="../media/image66.png"/><Relationship Id="rId2" Type="http://schemas.openxmlformats.org/officeDocument/2006/relationships/image" Target="../media/image51.png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19" Type="http://schemas.openxmlformats.org/officeDocument/2006/relationships/image" Target="../media/image68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Relationship Id="rId22" Type="http://schemas.openxmlformats.org/officeDocument/2006/relationships/image" Target="../media/image59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8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4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86.png"/><Relationship Id="rId4" Type="http://schemas.openxmlformats.org/officeDocument/2006/relationships/image" Target="../media/image83.png"/><Relationship Id="rId9" Type="http://schemas.microsoft.com/office/2007/relationships/hdphoto" Target="../media/hdphoto6.wdp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88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loss_functions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24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3373320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74" y="2853688"/>
            <a:ext cx="4788337" cy="2605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     Perceptron and Regression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F7D34D-9AD5-1372-7BFB-314080CC09D0}"/>
              </a:ext>
            </a:extLst>
          </p:cNvPr>
          <p:cNvSpPr txBox="1"/>
          <p:nvPr/>
        </p:nvSpPr>
        <p:spPr>
          <a:xfrm>
            <a:off x="934185" y="1360938"/>
            <a:ext cx="1084217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선형회귀식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구조가 동일하며 입력변수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가중치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내적이 노드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구성됨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854B1A-872C-C293-E90F-F0D8618C7E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65166" y="2853688"/>
            <a:ext cx="229584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54292" y="45349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30" grpId="0"/>
      <p:bldP spid="31" grpId="0"/>
      <p:bldP spid="32" grpId="0"/>
      <p:bldP spid="4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533998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4013960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99149" y="5781305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1533998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4013960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8)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2426858" y="5394996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52C9EC11-B3B9-FE8D-9EDF-93DAE752A596}"/>
              </a:ext>
            </a:extLst>
          </p:cNvPr>
          <p:cNvSpPr/>
          <p:nvPr/>
        </p:nvSpPr>
        <p:spPr>
          <a:xfrm>
            <a:off x="5863972" y="2883570"/>
            <a:ext cx="2818799" cy="28187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0BA022F1-8FD0-4A5E-B71C-3CC805BC1E2A}"/>
                  </a:ext>
                </a:extLst>
              </p:cNvPr>
              <p:cNvSpPr/>
              <p:nvPr/>
            </p:nvSpPr>
            <p:spPr>
              <a:xfrm>
                <a:off x="173004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0BA022F1-8FD0-4A5E-B71C-3CC805BC1E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04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5557686-AD94-E110-230C-C46FFBE83A57}"/>
                  </a:ext>
                </a:extLst>
              </p:cNvPr>
              <p:cNvSpPr/>
              <p:nvPr/>
            </p:nvSpPr>
            <p:spPr>
              <a:xfrm>
                <a:off x="173004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5557686-AD94-E110-230C-C46FFBE83A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04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AB7E4F7F-0241-B573-E80F-D5CAAE74F6B4}"/>
                  </a:ext>
                </a:extLst>
              </p:cNvPr>
              <p:cNvSpPr/>
              <p:nvPr/>
            </p:nvSpPr>
            <p:spPr>
              <a:xfrm>
                <a:off x="173004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AB7E4F7F-0241-B573-E80F-D5CAAE74F6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04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765127C1-AFC0-DCA5-920B-9EB79DB3402F}"/>
                  </a:ext>
                </a:extLst>
              </p:cNvPr>
              <p:cNvSpPr/>
              <p:nvPr/>
            </p:nvSpPr>
            <p:spPr>
              <a:xfrm>
                <a:off x="177813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765127C1-AFC0-DCA5-920B-9EB79DB340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813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A02A834B-BF33-8BF1-8B8C-FD7D9BCB2573}"/>
                  </a:ext>
                </a:extLst>
              </p:cNvPr>
              <p:cNvSpPr/>
              <p:nvPr/>
            </p:nvSpPr>
            <p:spPr>
              <a:xfrm>
                <a:off x="177172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A02A834B-BF33-8BF1-8B8C-FD7D9BCB25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72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D6CD8DFA-6CD0-F1F7-488F-544797BA94D3}"/>
                  </a:ext>
                </a:extLst>
              </p:cNvPr>
              <p:cNvSpPr/>
              <p:nvPr/>
            </p:nvSpPr>
            <p:spPr>
              <a:xfrm>
                <a:off x="177667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D6CD8DFA-6CD0-F1F7-488F-544797BA94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667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순서도: 가산 접합 9">
            <a:extLst>
              <a:ext uri="{FF2B5EF4-FFF2-40B4-BE49-F238E27FC236}">
                <a16:creationId xmlns:a16="http://schemas.microsoft.com/office/drawing/2014/main" id="{0F64D008-769D-7306-6D0B-03CB6D1A5CF2}"/>
              </a:ext>
            </a:extLst>
          </p:cNvPr>
          <p:cNvSpPr/>
          <p:nvPr/>
        </p:nvSpPr>
        <p:spPr bwMode="auto">
          <a:xfrm>
            <a:off x="3791439" y="3047419"/>
            <a:ext cx="262178" cy="257605"/>
          </a:xfrm>
          <a:prstGeom prst="flowChartSummingJunction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1" name="순서도: 가산 접합 10">
            <a:extLst>
              <a:ext uri="{FF2B5EF4-FFF2-40B4-BE49-F238E27FC236}">
                <a16:creationId xmlns:a16="http://schemas.microsoft.com/office/drawing/2014/main" id="{00BA48F0-4BB3-0BA3-DA8E-666758CAB44F}"/>
              </a:ext>
            </a:extLst>
          </p:cNvPr>
          <p:cNvSpPr/>
          <p:nvPr/>
        </p:nvSpPr>
        <p:spPr bwMode="auto">
          <a:xfrm>
            <a:off x="3791439" y="3622433"/>
            <a:ext cx="262178" cy="257605"/>
          </a:xfrm>
          <a:prstGeom prst="flowChartSummingJunction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2" name="순서도: 가산 접합 11">
            <a:extLst>
              <a:ext uri="{FF2B5EF4-FFF2-40B4-BE49-F238E27FC236}">
                <a16:creationId xmlns:a16="http://schemas.microsoft.com/office/drawing/2014/main" id="{E3C9CA5A-281B-B879-F18C-A775762C250F}"/>
              </a:ext>
            </a:extLst>
          </p:cNvPr>
          <p:cNvSpPr/>
          <p:nvPr/>
        </p:nvSpPr>
        <p:spPr bwMode="auto">
          <a:xfrm>
            <a:off x="3791439" y="5188850"/>
            <a:ext cx="262178" cy="257605"/>
          </a:xfrm>
          <a:prstGeom prst="flowChartSummingJunction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ExtraBold" pitchFamily="2" charset="-127"/>
              <a:ea typeface="NanumGothicExtraBold" pitchFamily="2" charset="-127"/>
            </a:endParaRPr>
          </a:p>
        </p:txBody>
      </p:sp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50841188-01D3-E4E6-137B-CFB73F38D28A}"/>
              </a:ext>
            </a:extLst>
          </p:cNvPr>
          <p:cNvCxnSpPr>
            <a:cxnSpLocks/>
            <a:stCxn id="48" idx="6"/>
            <a:endCxn id="10" idx="3"/>
          </p:cNvCxnSpPr>
          <p:nvPr/>
        </p:nvCxnSpPr>
        <p:spPr bwMode="auto">
          <a:xfrm>
            <a:off x="2635099" y="3017429"/>
            <a:ext cx="1194735" cy="249870"/>
          </a:xfrm>
          <a:prstGeom prst="curvedConnector4">
            <a:avLst>
              <a:gd name="adj1" fmla="val 48393"/>
              <a:gd name="adj2" fmla="val 191488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3FF70D99-D749-9F13-5511-F2A78F86D774}"/>
              </a:ext>
            </a:extLst>
          </p:cNvPr>
          <p:cNvCxnSpPr>
            <a:cxnSpLocks/>
            <a:stCxn id="49" idx="6"/>
            <a:endCxn id="11" idx="3"/>
          </p:cNvCxnSpPr>
          <p:nvPr/>
        </p:nvCxnSpPr>
        <p:spPr bwMode="auto">
          <a:xfrm>
            <a:off x="2635099" y="3638115"/>
            <a:ext cx="1194735" cy="204198"/>
          </a:xfrm>
          <a:prstGeom prst="curvedConnector4">
            <a:avLst>
              <a:gd name="adj1" fmla="val 48393"/>
              <a:gd name="adj2" fmla="val 21195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F929EBCB-93A1-CCC5-C4E9-762F65D233D6}"/>
              </a:ext>
            </a:extLst>
          </p:cNvPr>
          <p:cNvCxnSpPr>
            <a:cxnSpLocks/>
            <a:stCxn id="50" idx="6"/>
            <a:endCxn id="12" idx="1"/>
          </p:cNvCxnSpPr>
          <p:nvPr/>
        </p:nvCxnSpPr>
        <p:spPr bwMode="auto">
          <a:xfrm flipV="1">
            <a:off x="2663499" y="5226575"/>
            <a:ext cx="1166335" cy="181789"/>
          </a:xfrm>
          <a:prstGeom prst="curvedConnector4">
            <a:avLst>
              <a:gd name="adj1" fmla="val 48354"/>
              <a:gd name="adj2" fmla="val 263201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CA988A9C-97DC-CF1F-008D-2B82CB1E30B1}"/>
                  </a:ext>
                </a:extLst>
              </p:cNvPr>
              <p:cNvSpPr/>
              <p:nvPr/>
            </p:nvSpPr>
            <p:spPr>
              <a:xfrm>
                <a:off x="3750255" y="4002903"/>
                <a:ext cx="367408" cy="4616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CA988A9C-97DC-CF1F-008D-2B82CB1E30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0255" y="4002903"/>
                <a:ext cx="367408" cy="46166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3FC42BDE-F8D7-BA93-7AC7-498EA4FE4FDF}"/>
                  </a:ext>
                </a:extLst>
              </p:cNvPr>
              <p:cNvSpPr/>
              <p:nvPr/>
            </p:nvSpPr>
            <p:spPr>
              <a:xfrm>
                <a:off x="3755205" y="4787305"/>
                <a:ext cx="367408" cy="4616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3FC42BDE-F8D7-BA93-7AC7-498EA4FE4F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5205" y="4787305"/>
                <a:ext cx="367408" cy="46166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구부러진 연결선 48">
            <a:extLst>
              <a:ext uri="{FF2B5EF4-FFF2-40B4-BE49-F238E27FC236}">
                <a16:creationId xmlns:a16="http://schemas.microsoft.com/office/drawing/2014/main" id="{3EE8D7C1-70B2-DCD2-5375-E1D2B0D1C102}"/>
              </a:ext>
            </a:extLst>
          </p:cNvPr>
          <p:cNvCxnSpPr>
            <a:cxnSpLocks/>
            <a:stCxn id="10" idx="6"/>
          </p:cNvCxnSpPr>
          <p:nvPr/>
        </p:nvCxnSpPr>
        <p:spPr bwMode="auto">
          <a:xfrm>
            <a:off x="4053617" y="3176222"/>
            <a:ext cx="1644713" cy="888779"/>
          </a:xfrm>
          <a:prstGeom prst="curvedConnector3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9" name="구부러진 연결선 49">
            <a:extLst>
              <a:ext uri="{FF2B5EF4-FFF2-40B4-BE49-F238E27FC236}">
                <a16:creationId xmlns:a16="http://schemas.microsoft.com/office/drawing/2014/main" id="{FDD4B62A-0F4E-E32A-3047-FF2D47788CE3}"/>
              </a:ext>
            </a:extLst>
          </p:cNvPr>
          <p:cNvCxnSpPr>
            <a:cxnSpLocks/>
          </p:cNvCxnSpPr>
          <p:nvPr/>
        </p:nvCxnSpPr>
        <p:spPr bwMode="auto">
          <a:xfrm>
            <a:off x="4116511" y="3836763"/>
            <a:ext cx="1616589" cy="423722"/>
          </a:xfrm>
          <a:prstGeom prst="curvedConnector3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20" name="구부러진 연결선 50">
            <a:extLst>
              <a:ext uri="{FF2B5EF4-FFF2-40B4-BE49-F238E27FC236}">
                <a16:creationId xmlns:a16="http://schemas.microsoft.com/office/drawing/2014/main" id="{3FCB277F-BE1B-CF65-D449-699DF35B2C00}"/>
              </a:ext>
            </a:extLst>
          </p:cNvPr>
          <p:cNvCxnSpPr>
            <a:cxnSpLocks/>
            <a:stCxn id="12" idx="6"/>
          </p:cNvCxnSpPr>
          <p:nvPr/>
        </p:nvCxnSpPr>
        <p:spPr bwMode="auto">
          <a:xfrm flipV="1">
            <a:off x="4053617" y="4464567"/>
            <a:ext cx="1679483" cy="853086"/>
          </a:xfrm>
          <a:prstGeom prst="curvedConnector3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4D2B819-BF22-6A6D-06CA-3078CBC06CAF}"/>
              </a:ext>
            </a:extLst>
          </p:cNvPr>
          <p:cNvSpPr/>
          <p:nvPr/>
        </p:nvSpPr>
        <p:spPr>
          <a:xfrm>
            <a:off x="3750255" y="4467403"/>
            <a:ext cx="9380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rPr>
              <a:t>multiply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90E1639-7D7E-6712-FF30-CB83F617C535}"/>
              </a:ext>
            </a:extLst>
          </p:cNvPr>
          <p:cNvSpPr/>
          <p:nvPr/>
        </p:nvSpPr>
        <p:spPr bwMode="auto">
          <a:xfrm>
            <a:off x="6024419" y="3747227"/>
            <a:ext cx="1250396" cy="1026515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5A50B49F-C157-0126-A490-361220004B5D}"/>
                  </a:ext>
                </a:extLst>
              </p:cNvPr>
              <p:cNvSpPr/>
              <p:nvPr/>
            </p:nvSpPr>
            <p:spPr>
              <a:xfrm>
                <a:off x="4568364" y="3015530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5A50B49F-C157-0126-A490-361220004B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8364" y="3015530"/>
                <a:ext cx="798551" cy="400110"/>
              </a:xfrm>
              <a:prstGeom prst="rect">
                <a:avLst/>
              </a:prstGeom>
              <a:blipFill>
                <a:blip r:embed="rId10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673C766-9F9B-C9AA-47F6-429BFD243E1C}"/>
                  </a:ext>
                </a:extLst>
              </p:cNvPr>
              <p:cNvSpPr txBox="1"/>
              <p:nvPr/>
            </p:nvSpPr>
            <p:spPr>
              <a:xfrm>
                <a:off x="6222261" y="383946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673C766-9F9B-C9AA-47F6-429BFD243E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2261" y="3839466"/>
                <a:ext cx="854695" cy="84029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D31C287D-8A01-9D77-04EF-C7AD720660CD}"/>
                  </a:ext>
                </a:extLst>
              </p:cNvPr>
              <p:cNvSpPr/>
              <p:nvPr/>
            </p:nvSpPr>
            <p:spPr>
              <a:xfrm>
                <a:off x="3252047" y="2683515"/>
                <a:ext cx="337415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D31C287D-8A01-9D77-04EF-C7AD720660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2047" y="2683515"/>
                <a:ext cx="337415" cy="400110"/>
              </a:xfrm>
              <a:prstGeom prst="rect">
                <a:avLst/>
              </a:prstGeom>
              <a:blipFill>
                <a:blip r:embed="rId12"/>
                <a:stretch>
                  <a:fillRect r="-26786" b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2D8134EE-E7DF-5E0E-831A-A504730F9ECE}"/>
                  </a:ext>
                </a:extLst>
              </p:cNvPr>
              <p:cNvSpPr/>
              <p:nvPr/>
            </p:nvSpPr>
            <p:spPr>
              <a:xfrm>
                <a:off x="3216509" y="5458180"/>
                <a:ext cx="3712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2D8134EE-E7DF-5E0E-831A-A504730F9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09" y="5458180"/>
                <a:ext cx="371209" cy="400110"/>
              </a:xfrm>
              <a:prstGeom prst="rect">
                <a:avLst/>
              </a:prstGeom>
              <a:blipFill>
                <a:blip r:embed="rId13"/>
                <a:stretch>
                  <a:fillRect r="-14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구부러진 연결선 57">
            <a:extLst>
              <a:ext uri="{FF2B5EF4-FFF2-40B4-BE49-F238E27FC236}">
                <a16:creationId xmlns:a16="http://schemas.microsoft.com/office/drawing/2014/main" id="{5C4B62FE-1BB2-01D6-82B6-95D45450CA87}"/>
              </a:ext>
            </a:extLst>
          </p:cNvPr>
          <p:cNvCxnSpPr>
            <a:stCxn id="25" idx="3"/>
            <a:endCxn id="10" idx="0"/>
          </p:cNvCxnSpPr>
          <p:nvPr/>
        </p:nvCxnSpPr>
        <p:spPr bwMode="auto">
          <a:xfrm>
            <a:off x="3589462" y="2883570"/>
            <a:ext cx="333066" cy="163849"/>
          </a:xfrm>
          <a:prstGeom prst="curvedConnector2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8" name="구부러진 연결선 58">
            <a:extLst>
              <a:ext uri="{FF2B5EF4-FFF2-40B4-BE49-F238E27FC236}">
                <a16:creationId xmlns:a16="http://schemas.microsoft.com/office/drawing/2014/main" id="{A1EF489C-9CAC-6D46-19EC-229547969917}"/>
              </a:ext>
            </a:extLst>
          </p:cNvPr>
          <p:cNvCxnSpPr>
            <a:stCxn id="26" idx="3"/>
            <a:endCxn id="12" idx="4"/>
          </p:cNvCxnSpPr>
          <p:nvPr/>
        </p:nvCxnSpPr>
        <p:spPr bwMode="auto">
          <a:xfrm flipV="1">
            <a:off x="3587718" y="5446456"/>
            <a:ext cx="334810" cy="211778"/>
          </a:xfrm>
          <a:prstGeom prst="curvedConnector2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BB956F26-98D0-99CD-A8EA-F48BE61F0415}"/>
                  </a:ext>
                </a:extLst>
              </p:cNvPr>
              <p:cNvSpPr/>
              <p:nvPr/>
            </p:nvSpPr>
            <p:spPr>
              <a:xfrm>
                <a:off x="4425975" y="5139227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BB956F26-98D0-99CD-A8EA-F48BE61F04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5975" y="5139227"/>
                <a:ext cx="834779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9B29A9B-0AD6-641A-907A-06863BC86DE1}"/>
              </a:ext>
            </a:extLst>
          </p:cNvPr>
          <p:cNvCxnSpPr>
            <a:cxnSpLocks/>
          </p:cNvCxnSpPr>
          <p:nvPr/>
        </p:nvCxnSpPr>
        <p:spPr bwMode="auto">
          <a:xfrm>
            <a:off x="7122414" y="4260485"/>
            <a:ext cx="457980" cy="22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9C5A4AE2-DDF5-F4BA-DFD0-CF0888919C7D}"/>
                  </a:ext>
                </a:extLst>
              </p:cNvPr>
              <p:cNvSpPr/>
              <p:nvPr/>
            </p:nvSpPr>
            <p:spPr>
              <a:xfrm>
                <a:off x="1335473" y="5866218"/>
                <a:ext cx="1402253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~ 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kumimoji="0" lang="en-US" altLang="ko-KR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𝑠𝑡𝑎𝑛𝑑𝑎𝑟𝑑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𝑠𝑐𝑎𝑙𝑖𝑛𝑔</m:t>
                      </m:r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9C5A4AE2-DDF5-F4BA-DFD0-CF0888919C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5473" y="5866218"/>
                <a:ext cx="1402253" cy="584775"/>
              </a:xfrm>
              <a:prstGeom prst="rect">
                <a:avLst/>
              </a:prstGeom>
              <a:blipFill>
                <a:blip r:embed="rId15"/>
                <a:stretch>
                  <a:fillRect r="-24783" b="-72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2EA1297B-E0B6-FD29-42F2-BB5D2AB89E92}"/>
              </a:ext>
            </a:extLst>
          </p:cNvPr>
          <p:cNvCxnSpPr>
            <a:cxnSpLocks/>
          </p:cNvCxnSpPr>
          <p:nvPr/>
        </p:nvCxnSpPr>
        <p:spPr bwMode="auto">
          <a:xfrm>
            <a:off x="8880613" y="4260485"/>
            <a:ext cx="332237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78073E4-7B4A-F8DF-321C-6BAD6A17AA43}"/>
              </a:ext>
            </a:extLst>
          </p:cNvPr>
          <p:cNvSpPr/>
          <p:nvPr/>
        </p:nvSpPr>
        <p:spPr>
          <a:xfrm>
            <a:off x="7177872" y="1981201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  <a:endParaRPr lang="en-US" altLang="ko-KR" sz="1600" b="1" dirty="0">
              <a:solidFill>
                <a:prstClr val="black"/>
              </a:solidFill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4FE26FD-6DCD-33DF-8448-274AFE6ADA09}"/>
              </a:ext>
            </a:extLst>
          </p:cNvPr>
          <p:cNvSpPr/>
          <p:nvPr/>
        </p:nvSpPr>
        <p:spPr>
          <a:xfrm>
            <a:off x="1197855" y="2508652"/>
            <a:ext cx="10316619" cy="3899084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669BD5D-EA24-1B59-C72E-8E7D0000D900}"/>
                  </a:ext>
                </a:extLst>
              </p:cNvPr>
              <p:cNvSpPr txBox="1"/>
              <p:nvPr/>
            </p:nvSpPr>
            <p:spPr>
              <a:xfrm>
                <a:off x="9336374" y="2083095"/>
                <a:ext cx="171790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ko-KR" sz="1600" b="1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altLang="ko-KR" sz="1600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sub>
                    </m:sSub>
                    <m:d>
                      <m:dPr>
                        <m:ctrlPr>
                          <a:rPr lang="en-US" altLang="ko-KR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669BD5D-EA24-1B59-C72E-8E7D0000D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6374" y="2083095"/>
                <a:ext cx="1717906" cy="246221"/>
              </a:xfrm>
              <a:prstGeom prst="rect">
                <a:avLst/>
              </a:prstGeom>
              <a:blipFill>
                <a:blip r:embed="rId16"/>
                <a:stretch>
                  <a:fillRect l="-7473" t="-25000" b="-5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322F38A2-BD85-521C-A046-DBF25BBD1296}"/>
                  </a:ext>
                </a:extLst>
              </p:cNvPr>
              <p:cNvSpPr/>
              <p:nvPr/>
            </p:nvSpPr>
            <p:spPr>
              <a:xfrm>
                <a:off x="9187234" y="4017376"/>
                <a:ext cx="2327240" cy="37427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322F38A2-BD85-521C-A046-DBF25BBD12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7234" y="4017376"/>
                <a:ext cx="2327240" cy="374270"/>
              </a:xfrm>
              <a:prstGeom prst="rect">
                <a:avLst/>
              </a:prstGeom>
              <a:blipFill>
                <a:blip r:embed="rId1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0F4AB18C-266A-4FE9-9B99-F92C03FDDAB3}"/>
                  </a:ext>
                </a:extLst>
              </p:cNvPr>
              <p:cNvSpPr/>
              <p:nvPr/>
            </p:nvSpPr>
            <p:spPr>
              <a:xfrm>
                <a:off x="474798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0F4AB18C-266A-4FE9-9B99-F92C03FDDA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989" y="2083095"/>
                <a:ext cx="2524153" cy="342979"/>
              </a:xfrm>
              <a:prstGeom prst="rect">
                <a:avLst/>
              </a:prstGeom>
              <a:blipFill>
                <a:blip r:embed="rId18"/>
                <a:stretch>
                  <a:fillRect l="-1449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9A4CFD56-4840-D304-AFC4-6A63FA5A86CD}"/>
              </a:ext>
            </a:extLst>
          </p:cNvPr>
          <p:cNvSpPr/>
          <p:nvPr/>
        </p:nvSpPr>
        <p:spPr>
          <a:xfrm>
            <a:off x="310674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89BC8-2606-8C67-C7C7-D25251028FC1}"/>
              </a:ext>
            </a:extLst>
          </p:cNvPr>
          <p:cNvSpPr/>
          <p:nvPr/>
        </p:nvSpPr>
        <p:spPr>
          <a:xfrm>
            <a:off x="153400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5E7DBC0-1237-2AB2-9E23-A273F0946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3371" y="3854272"/>
            <a:ext cx="1015319" cy="821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896C8EB5-4E6C-4DEE-9CCB-0CEDC90DDF0A}"/>
                  </a:ext>
                </a:extLst>
              </p:cNvPr>
              <p:cNvSpPr/>
              <p:nvPr/>
            </p:nvSpPr>
            <p:spPr>
              <a:xfrm>
                <a:off x="4137934" y="3509828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896C8EB5-4E6C-4DEE-9CCB-0CEDC90DDF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934" y="3509828"/>
                <a:ext cx="810478" cy="400110"/>
              </a:xfrm>
              <a:prstGeom prst="rect">
                <a:avLst/>
              </a:prstGeom>
              <a:blipFill>
                <a:blip r:embed="rId2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E2CBA942-DBAD-D7C2-A410-B461659574BD}"/>
              </a:ext>
            </a:extLst>
          </p:cNvPr>
          <p:cNvSpPr/>
          <p:nvPr/>
        </p:nvSpPr>
        <p:spPr>
          <a:xfrm>
            <a:off x="213535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531EF8E5-282D-9DD2-6E44-F084763F2650}"/>
              </a:ext>
            </a:extLst>
          </p:cNvPr>
          <p:cNvSpPr/>
          <p:nvPr/>
        </p:nvSpPr>
        <p:spPr>
          <a:xfrm>
            <a:off x="213535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EA3BB0D4-F032-9904-EE63-B6AFD6D9BA06}"/>
              </a:ext>
            </a:extLst>
          </p:cNvPr>
          <p:cNvSpPr/>
          <p:nvPr/>
        </p:nvSpPr>
        <p:spPr>
          <a:xfrm>
            <a:off x="216375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  <p:bldP spid="12" grpId="0" animBg="1"/>
      <p:bldP spid="16" grpId="0"/>
      <p:bldP spid="17" grpId="0"/>
      <p:bldP spid="21" grpId="0"/>
      <p:bldP spid="22" grpId="0" animBg="1"/>
      <p:bldP spid="23" grpId="0"/>
      <p:bldP spid="24" grpId="0"/>
      <p:bldP spid="25" grpId="0"/>
      <p:bldP spid="26" grpId="0"/>
      <p:bldP spid="29" grpId="0"/>
      <p:bldP spid="31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F3FF02D-180D-5387-8B13-D095DDC14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8081" y="2386668"/>
            <a:ext cx="5662319" cy="4014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021" y="2194926"/>
            <a:ext cx="5945428" cy="4521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42772" y="3828764"/>
            <a:ext cx="271030" cy="271030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42772" y="4260880"/>
            <a:ext cx="271030" cy="271030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42772" y="4692996"/>
            <a:ext cx="271030" cy="271030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42772" y="5125113"/>
            <a:ext cx="271030" cy="271030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464180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399346" y="2316724"/>
            <a:ext cx="342900" cy="1814982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5750192" y="2728365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244291"/>
                <a:ext cx="10912028" cy="1020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400" b="0" i="1"/>
                      <m:t>𝑥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400" b="0" i="1"/>
                      <m:t>𝑊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400" b="0" i="1"/>
                      <m:t>𝑏</m:t>
                    </m:r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400"/>
                        </m:ctrlPr>
                      </m:accPr>
                      <m:e>
                        <m:r>
                          <a:rPr lang="ko-KR" altLang="en-US" sz="1400" b="0" i="1"/>
                          <m:t>𝑦</m:t>
                        </m:r>
                      </m:e>
                    </m:acc>
                  </m:oMath>
                </a14:m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244291"/>
                <a:ext cx="10912028" cy="1020216"/>
              </a:xfrm>
              <a:prstGeom prst="rect">
                <a:avLst/>
              </a:prstGeom>
              <a:blipFill>
                <a:blip r:embed="rId3"/>
                <a:stretch>
                  <a:fillRect l="-168" b="-53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933450" y="2438400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933450" y="6506161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537021" y="2496219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5166178" y="6104479"/>
            <a:ext cx="14763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AF37F2D-2B7E-F7AC-7A87-EE51558AE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07F8-6787-3B4A-9387-086BCC77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3ABFC7-3ACD-D1C0-1ADB-44167C6C7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223884-9077-EF82-4087-A44BAFE146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code with Single-layer Perceptron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E4E17376-2845-B069-14A3-C29EFED108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3753" y="1338340"/>
            <a:ext cx="4437990" cy="505686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A6619DA-045E-D28E-DD7B-89FAE98DC1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93394" y="1338340"/>
            <a:ext cx="5236013" cy="486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1571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E6570-589B-A337-6EE1-9AD175ABB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639DC-E391-B13B-11DA-E6289741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BE1F4-1867-662D-EA9F-58099683EA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gate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: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with python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7ECC749-A31B-0A90-68E3-DDEF0CA53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645" y="66676"/>
            <a:ext cx="1673906" cy="110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445CEC-44B6-F043-B403-61EABE53CDAF}"/>
              </a:ext>
            </a:extLst>
          </p:cNvPr>
          <p:cNvSpPr txBox="1"/>
          <p:nvPr/>
        </p:nvSpPr>
        <p:spPr>
          <a:xfrm>
            <a:off x="5718418" y="1244090"/>
            <a:ext cx="4535863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define input and output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([[0,0],[0,1],[1,0],[1,1]])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([[0],[1],[1],[1]])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define weights and biases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([[1.5], [1.5]])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([-1.5])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epochs = 1000   # 1000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0.1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train the network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sum, pred = feedforward(X, w,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w, b = backpropagation(X, y, sum, pred, w,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print("w:", w)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print("b:",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print the final output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sum, pred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np.round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(feedforward(X, w, b))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print(pred)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print("Accuracy:",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(y == pred))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A07332-D2C3-0C9A-F95B-CC0D41CD940D}"/>
              </a:ext>
            </a:extLst>
          </p:cNvPr>
          <p:cNvSpPr txBox="1"/>
          <p:nvPr/>
        </p:nvSpPr>
        <p:spPr>
          <a:xfrm>
            <a:off x="757380" y="1244090"/>
            <a:ext cx="4535863" cy="54784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sigmoid(x):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1 / (1 +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np.exp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sigmoid(x) * (1 - sigmoid(x))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feedforward(X, w, b):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sum = np.dot(X, w)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pred = sigmoid(sum)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sum, pred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def backpropagation(X, y, sum, pred, w, b):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(pred - y)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(sum)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np.dot(X.T,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axis=0)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loss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((y - pred) ** 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if (epoch + 1) % 100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print("loss: ", loss)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w = w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b = b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db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return w, b</a:t>
            </a:r>
          </a:p>
        </p:txBody>
      </p:sp>
    </p:spTree>
    <p:extLst>
      <p:ext uri="{BB962C8B-B14F-4D97-AF65-F5344CB8AC3E}">
        <p14:creationId xmlns:p14="http://schemas.microsoft.com/office/powerpoint/2010/main" val="39518724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5F9B3AE1-C969-CAA6-8312-BE814E0019F4}"/>
              </a:ext>
            </a:extLst>
          </p:cNvPr>
          <p:cNvSpPr/>
          <p:nvPr/>
        </p:nvSpPr>
        <p:spPr>
          <a:xfrm>
            <a:off x="4105971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3253393-32CF-83C8-BD7B-7C6A5C120799}"/>
              </a:ext>
            </a:extLst>
          </p:cNvPr>
          <p:cNvSpPr/>
          <p:nvPr/>
        </p:nvSpPr>
        <p:spPr>
          <a:xfrm>
            <a:off x="7322779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D86CCC4-F4A6-3CED-8E1F-6D8BBD3EEB1B}"/>
              </a:ext>
            </a:extLst>
          </p:cNvPr>
          <p:cNvSpPr/>
          <p:nvPr/>
        </p:nvSpPr>
        <p:spPr>
          <a:xfrm>
            <a:off x="10572052" y="1971398"/>
            <a:ext cx="778433" cy="2940006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14867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33317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30498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6769" y="49358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120" y="47186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3350845"/>
            <a:ext cx="3809323" cy="100207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4CBFE7-41C2-4340-A871-5DB4C98117C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5066541"/>
            <a:ext cx="3809323" cy="100207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18C7BBF-4EBF-1D43-916A-B6773502A62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3414" y="1583297"/>
            <a:ext cx="3809323" cy="1002079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451B6456-9217-004F-90F8-CB7C0AD1B6B6}"/>
              </a:ext>
            </a:extLst>
          </p:cNvPr>
          <p:cNvSpPr/>
          <p:nvPr/>
        </p:nvSpPr>
        <p:spPr>
          <a:xfrm>
            <a:off x="9000520" y="1454855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3F7253-2B9A-656E-560B-82BBC8869D7F}"/>
              </a:ext>
            </a:extLst>
          </p:cNvPr>
          <p:cNvSpPr/>
          <p:nvPr/>
        </p:nvSpPr>
        <p:spPr>
          <a:xfrm>
            <a:off x="10191136" y="3237984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A151B3C-2B6A-511E-CAD5-86580F6909E9}"/>
              </a:ext>
            </a:extLst>
          </p:cNvPr>
          <p:cNvSpPr/>
          <p:nvPr/>
        </p:nvSpPr>
        <p:spPr>
          <a:xfrm>
            <a:off x="11476803" y="4953422"/>
            <a:ext cx="438756" cy="1228315"/>
          </a:xfrm>
          <a:prstGeom prst="rect">
            <a:avLst/>
          </a:prstGeom>
          <a:noFill/>
          <a:ln w="1905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8FF01-38B3-F700-A018-83D7C481856C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D652D-4259-A877-8EEC-8F95CA0DF5C9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91556-285E-295F-7E36-82C5AF7FF87A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43C82E-B978-5041-E3A6-54E38B1E57E2}"/>
              </a:ext>
            </a:extLst>
          </p:cNvPr>
          <p:cNvSpPr txBox="1"/>
          <p:nvPr/>
        </p:nvSpPr>
        <p:spPr>
          <a:xfrm>
            <a:off x="5876925" y="5880269"/>
            <a:ext cx="1872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err="1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</a:t>
            </a:r>
            <a:endParaRPr lang="ko-KR" altLang="en-US" sz="1600" b="1" dirty="0">
              <a:solidFill>
                <a:srgbClr val="C0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D66E-3002-A56F-DF76-AA82152E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61D28-EFC5-6097-DEE8-D30506D42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2781A-2383-4E2D-7B76-619F7FA06A3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4501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1981</TotalTime>
  <Words>4252</Words>
  <Application>Microsoft Office PowerPoint</Application>
  <PresentationFormat>와이드스크린</PresentationFormat>
  <Paragraphs>542</Paragraphs>
  <Slides>49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1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     Perceptron and Regression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59</cp:revision>
  <dcterms:created xsi:type="dcterms:W3CDTF">2026-04-06T01:00:39Z</dcterms:created>
  <dcterms:modified xsi:type="dcterms:W3CDTF">2026-04-23T06:18:31Z</dcterms:modified>
  <cp:version/>
</cp:coreProperties>
</file>