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4"/>
  </p:notesMasterIdLst>
  <p:handoutMasterIdLst>
    <p:handoutMasterId r:id="rId55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999" r:id="rId11"/>
    <p:sldId id="1000" r:id="rId12"/>
    <p:sldId id="1001" r:id="rId13"/>
    <p:sldId id="335" r:id="rId14"/>
    <p:sldId id="938" r:id="rId15"/>
    <p:sldId id="871" r:id="rId16"/>
    <p:sldId id="872" r:id="rId17"/>
    <p:sldId id="947" r:id="rId18"/>
    <p:sldId id="931" r:id="rId19"/>
    <p:sldId id="958" r:id="rId20"/>
    <p:sldId id="970" r:id="rId21"/>
    <p:sldId id="971" r:id="rId22"/>
    <p:sldId id="873" r:id="rId23"/>
    <p:sldId id="907" r:id="rId24"/>
    <p:sldId id="945" r:id="rId25"/>
    <p:sldId id="946" r:id="rId26"/>
    <p:sldId id="930" r:id="rId27"/>
    <p:sldId id="851" r:id="rId28"/>
    <p:sldId id="1005" r:id="rId29"/>
    <p:sldId id="985" r:id="rId30"/>
    <p:sldId id="1006" r:id="rId31"/>
    <p:sldId id="1008" r:id="rId32"/>
    <p:sldId id="1009" r:id="rId33"/>
    <p:sldId id="1007" r:id="rId34"/>
    <p:sldId id="1011" r:id="rId35"/>
    <p:sldId id="1010" r:id="rId36"/>
    <p:sldId id="984" r:id="rId37"/>
    <p:sldId id="852" r:id="rId38"/>
    <p:sldId id="969" r:id="rId39"/>
    <p:sldId id="937" r:id="rId40"/>
    <p:sldId id="883" r:id="rId41"/>
    <p:sldId id="988" r:id="rId42"/>
    <p:sldId id="974" r:id="rId43"/>
    <p:sldId id="997" r:id="rId44"/>
    <p:sldId id="989" r:id="rId45"/>
    <p:sldId id="975" r:id="rId46"/>
    <p:sldId id="954" r:id="rId47"/>
    <p:sldId id="882" r:id="rId48"/>
    <p:sldId id="1002" r:id="rId49"/>
    <p:sldId id="932" r:id="rId50"/>
    <p:sldId id="993" r:id="rId51"/>
    <p:sldId id="998" r:id="rId52"/>
    <p:sldId id="1003" r:id="rId5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999"/>
            <p14:sldId id="1000"/>
            <p14:sldId id="1001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851"/>
            <p14:sldId id="1005"/>
            <p14:sldId id="985"/>
            <p14:sldId id="1006"/>
            <p14:sldId id="1008"/>
            <p14:sldId id="1009"/>
            <p14:sldId id="1007"/>
            <p14:sldId id="1011"/>
            <p14:sldId id="1010"/>
            <p14:sldId id="984"/>
            <p14:sldId id="852"/>
            <p14:sldId id="969"/>
            <p14:sldId id="937"/>
            <p14:sldId id="883"/>
            <p14:sldId id="988"/>
            <p14:sldId id="974"/>
            <p14:sldId id="997"/>
            <p14:sldId id="989"/>
            <p14:sldId id="975"/>
            <p14:sldId id="954"/>
            <p14:sldId id="882"/>
            <p14:sldId id="1002"/>
            <p14:sldId id="932"/>
            <p14:sldId id="993"/>
            <p14:sldId id="998"/>
          </p14:sldIdLst>
        </p14:section>
        <p14:section name="자세한 정보" id="{2CC34DB2-6590-42C0-AD4B-A04C6060184E}">
          <p14:sldIdLst>
            <p14:sldId id="100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125" d="100"/>
          <a:sy n="125" d="100"/>
        </p:scale>
        <p:origin x="144" y="9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-6" y="-18"/>
    </p:cViewPr>
  </p:notesTextViewPr>
  <p:sorterViewPr>
    <p:cViewPr>
      <p:scale>
        <a:sx n="125" d="100"/>
        <a:sy n="125" d="100"/>
      </p:scale>
      <p:origin x="0" y="-2070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microsoft.com/office/2007/relationships/hdphoto" Target="../media/hdphoto3.wdp"/><Relationship Id="rId7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9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28.jpe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6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microsoft.com/office/2007/relationships/hdphoto" Target="../media/hdphoto4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8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gi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71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7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2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41.png"/><Relationship Id="rId3" Type="http://schemas.openxmlformats.org/officeDocument/2006/relationships/image" Target="../media/image640.png"/><Relationship Id="rId7" Type="http://schemas.openxmlformats.org/officeDocument/2006/relationships/image" Target="../media/image680.png"/><Relationship Id="rId12" Type="http://schemas.openxmlformats.org/officeDocument/2006/relationships/image" Target="../media/image730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70.png"/><Relationship Id="rId11" Type="http://schemas.openxmlformats.org/officeDocument/2006/relationships/image" Target="../media/image75.png"/><Relationship Id="rId5" Type="http://schemas.openxmlformats.org/officeDocument/2006/relationships/image" Target="../media/image660.png"/><Relationship Id="rId10" Type="http://schemas.openxmlformats.org/officeDocument/2006/relationships/image" Target="../media/image710.png"/><Relationship Id="rId4" Type="http://schemas.openxmlformats.org/officeDocument/2006/relationships/image" Target="../media/image650.png"/><Relationship Id="rId9" Type="http://schemas.openxmlformats.org/officeDocument/2006/relationships/image" Target="../media/image74.png"/><Relationship Id="rId14" Type="http://schemas.openxmlformats.org/officeDocument/2006/relationships/image" Target="../media/image7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jpe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13" Type="http://schemas.openxmlformats.org/officeDocument/2006/relationships/image" Target="../media/image96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12" Type="http://schemas.openxmlformats.org/officeDocument/2006/relationships/image" Target="../media/image89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0.png"/><Relationship Id="rId11" Type="http://schemas.openxmlformats.org/officeDocument/2006/relationships/image" Target="../media/image95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8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0.png"/><Relationship Id="rId13" Type="http://schemas.openxmlformats.org/officeDocument/2006/relationships/image" Target="../media/image116.png"/><Relationship Id="rId3" Type="http://schemas.openxmlformats.org/officeDocument/2006/relationships/image" Target="../media/image107.png"/><Relationship Id="rId7" Type="http://schemas.openxmlformats.org/officeDocument/2006/relationships/image" Target="../media/image111.png"/><Relationship Id="rId12" Type="http://schemas.openxmlformats.org/officeDocument/2006/relationships/image" Target="../media/image115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0.png"/><Relationship Id="rId11" Type="http://schemas.openxmlformats.org/officeDocument/2006/relationships/image" Target="../media/image114.png"/><Relationship Id="rId5" Type="http://schemas.openxmlformats.org/officeDocument/2006/relationships/image" Target="../media/image109.png"/><Relationship Id="rId10" Type="http://schemas.openxmlformats.org/officeDocument/2006/relationships/image" Target="../media/image113.png"/><Relationship Id="rId4" Type="http://schemas.openxmlformats.org/officeDocument/2006/relationships/image" Target="../media/image108.png"/><Relationship Id="rId9" Type="http://schemas.openxmlformats.org/officeDocument/2006/relationships/image" Target="../media/image1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56D5-74B5-809A-ADA5-C1580B8C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F88730-A6FC-946C-9F9D-BB8049D3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2A74EC82-794F-0922-127E-BA2271751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Use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 to predict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94C59-2D23-47E6-37A0-2DF4EEDDDF68}"/>
              </a:ext>
            </a:extLst>
          </p:cNvPr>
          <p:cNvSpPr txBox="1"/>
          <p:nvPr/>
        </p:nvSpPr>
        <p:spPr>
          <a:xfrm>
            <a:off x="521206" y="1450999"/>
            <a:ext cx="11127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위해 선형회귀식 모델을 가정하고 입력과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출력변수를 모델에 투입함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3E0E43-E756-C07D-22AD-DF4FED83F1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793839" y="3036518"/>
            <a:ext cx="6568492" cy="137292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D606CEA-CCD8-24FD-3A39-C95C22A98FD8}"/>
              </a:ext>
            </a:extLst>
          </p:cNvPr>
          <p:cNvSpPr/>
          <p:nvPr/>
        </p:nvSpPr>
        <p:spPr>
          <a:xfrm>
            <a:off x="6397772" y="3258887"/>
            <a:ext cx="626923" cy="9383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93372C1A-63FD-65F4-5DD8-0C2DC1F1BD11}"/>
              </a:ext>
            </a:extLst>
          </p:cNvPr>
          <p:cNvSpPr/>
          <p:nvPr/>
        </p:nvSpPr>
        <p:spPr>
          <a:xfrm>
            <a:off x="7467600" y="2476825"/>
            <a:ext cx="1405077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747"/>
              <a:gd name="adj6" fmla="val -4686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313A4B-EBC7-DA80-CF72-A3BCFFF55493}"/>
              </a:ext>
            </a:extLst>
          </p:cNvPr>
          <p:cNvSpPr/>
          <p:nvPr/>
        </p:nvSpPr>
        <p:spPr>
          <a:xfrm>
            <a:off x="3326425" y="3054536"/>
            <a:ext cx="808695" cy="12431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0CEDE636-7AC3-F646-12D9-4018C6A722B8}"/>
              </a:ext>
            </a:extLst>
          </p:cNvPr>
          <p:cNvSpPr/>
          <p:nvPr/>
        </p:nvSpPr>
        <p:spPr>
          <a:xfrm>
            <a:off x="4284524" y="2226906"/>
            <a:ext cx="1689556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747"/>
              <a:gd name="adj6" fmla="val -4686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Prediction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76400D-A06D-BF22-DB41-6D63213D0F59}"/>
              </a:ext>
            </a:extLst>
          </p:cNvPr>
          <p:cNvSpPr/>
          <p:nvPr/>
        </p:nvSpPr>
        <p:spPr>
          <a:xfrm>
            <a:off x="5480767" y="3258887"/>
            <a:ext cx="917005" cy="938344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6E3C0FC-1083-DB74-C942-802D6465BE5B}"/>
              </a:ext>
            </a:extLst>
          </p:cNvPr>
          <p:cNvSpPr/>
          <p:nvPr/>
        </p:nvSpPr>
        <p:spPr>
          <a:xfrm>
            <a:off x="8170138" y="3054535"/>
            <a:ext cx="917005" cy="1243143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6B842E22-7471-7C80-7881-D7AA85BD0B62}"/>
              </a:ext>
            </a:extLst>
          </p:cNvPr>
          <p:cNvSpPr/>
          <p:nvPr/>
        </p:nvSpPr>
        <p:spPr>
          <a:xfrm>
            <a:off x="7191781" y="5125790"/>
            <a:ext cx="181047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87871"/>
              <a:gd name="adj6" fmla="val -83019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442F4CD0-52F6-14E0-C3CA-CABA3C2DE43C}"/>
              </a:ext>
            </a:extLst>
          </p:cNvPr>
          <p:cNvSpPr/>
          <p:nvPr/>
        </p:nvSpPr>
        <p:spPr>
          <a:xfrm>
            <a:off x="9721383" y="4787751"/>
            <a:ext cx="181047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94369"/>
              <a:gd name="adj6" fmla="val -58888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6583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DB6A-964F-B733-4519-2ABFA270A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070DD8-C3FC-4D5E-4793-0F0885C38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BED262CE-AFCC-DC28-EF29-D4778D9A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Fit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model’s prediction to reality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7090F-2A99-4CDA-7A5E-55CB4C74254A}"/>
              </a:ext>
            </a:extLst>
          </p:cNvPr>
          <p:cNvSpPr txBox="1"/>
          <p:nvPr/>
        </p:nvSpPr>
        <p:spPr>
          <a:xfrm>
            <a:off x="521206" y="1450999"/>
            <a:ext cx="11127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값과 예측 값의 차이의 제곱을 최소화 하는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찾아내야 함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53E7719-68F6-6683-8817-A76B058731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91427" y="2278280"/>
            <a:ext cx="7209145" cy="2301439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6F3D8D4-E9CA-3B4C-7B2A-4F19B2827297}"/>
              </a:ext>
            </a:extLst>
          </p:cNvPr>
          <p:cNvSpPr/>
          <p:nvPr/>
        </p:nvSpPr>
        <p:spPr>
          <a:xfrm>
            <a:off x="4505407" y="2124674"/>
            <a:ext cx="917005" cy="26403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FD85D9D1-BE37-93E6-79A8-86837AABE407}"/>
              </a:ext>
            </a:extLst>
          </p:cNvPr>
          <p:cNvSpPr/>
          <p:nvPr/>
        </p:nvSpPr>
        <p:spPr>
          <a:xfrm>
            <a:off x="6084865" y="5407001"/>
            <a:ext cx="204365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22826"/>
              <a:gd name="adj6" fmla="val -65623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values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설명선: 굽은 선 18">
            <a:extLst>
              <a:ext uri="{FF2B5EF4-FFF2-40B4-BE49-F238E27FC236}">
                <a16:creationId xmlns:a16="http://schemas.microsoft.com/office/drawing/2014/main" id="{C1D3FD06-613B-A872-146B-CF7B4777B7EB}"/>
              </a:ext>
            </a:extLst>
          </p:cNvPr>
          <p:cNvSpPr/>
          <p:nvPr/>
        </p:nvSpPr>
        <p:spPr>
          <a:xfrm>
            <a:off x="9080304" y="5407000"/>
            <a:ext cx="2568221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23879"/>
              <a:gd name="adj6" fmla="val -45889"/>
            </a:avLst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predicted values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양쪽 대괄호 19">
            <a:extLst>
              <a:ext uri="{FF2B5EF4-FFF2-40B4-BE49-F238E27FC236}">
                <a16:creationId xmlns:a16="http://schemas.microsoft.com/office/drawing/2014/main" id="{B9B86263-A6E9-99E1-6677-72536E81AE26}"/>
              </a:ext>
            </a:extLst>
          </p:cNvPr>
          <p:cNvSpPr/>
          <p:nvPr/>
        </p:nvSpPr>
        <p:spPr>
          <a:xfrm rot="5400000">
            <a:off x="5928360" y="1935480"/>
            <a:ext cx="2656840" cy="3002280"/>
          </a:xfrm>
          <a:prstGeom prst="bracketPair">
            <a:avLst>
              <a:gd name="adj" fmla="val 4430"/>
            </a:avLst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8F560AC-4ECB-2065-F1E1-3047DF349403}"/>
              </a:ext>
            </a:extLst>
          </p:cNvPr>
          <p:cNvSpPr/>
          <p:nvPr/>
        </p:nvSpPr>
        <p:spPr>
          <a:xfrm>
            <a:off x="2656846" y="2926080"/>
            <a:ext cx="1142994" cy="93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설명선: 굽은 선 23">
            <a:extLst>
              <a:ext uri="{FF2B5EF4-FFF2-40B4-BE49-F238E27FC236}">
                <a16:creationId xmlns:a16="http://schemas.microsoft.com/office/drawing/2014/main" id="{4C2A70CD-A574-B047-2CFE-347064D7C3BF}"/>
              </a:ext>
            </a:extLst>
          </p:cNvPr>
          <p:cNvSpPr/>
          <p:nvPr/>
        </p:nvSpPr>
        <p:spPr>
          <a:xfrm>
            <a:off x="1454758" y="4579719"/>
            <a:ext cx="204365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69178"/>
              <a:gd name="adj6" fmla="val 58664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3252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9" grpId="0" animBg="1"/>
      <p:bldP spid="20" grpId="0" animBg="1"/>
      <p:bldP spid="22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BF8BE-9062-4844-5CEB-F0DA1CB28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03DF96-69E8-08CD-5143-8BC51A6DC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A5B2E967-9608-2F1C-35D5-A151B36CC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Fit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model’s prediction to reality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B1BF4BE-82DB-5425-FC1E-7F8FA174E5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30574" y="1404528"/>
            <a:ext cx="8900931" cy="211854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26B163F-8F4E-37BC-1D25-A5FEF60D9B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331" y="3742147"/>
            <a:ext cx="6101469" cy="66229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A9CAC1F-66C6-0BB9-901D-3F80EA593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5331" y="5238746"/>
            <a:ext cx="6101469" cy="358849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A70CC70D-B9E8-98B4-2D96-97962985C6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5331" y="5746723"/>
            <a:ext cx="6101469" cy="537574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5FDB75B9-8474-DA2F-ADAA-ED0E81A62D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5332" y="4615241"/>
            <a:ext cx="6101468" cy="45486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AF78BCF-FE82-B388-2B9F-92621CB5B4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6426" y="4117523"/>
            <a:ext cx="3314987" cy="95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985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0" y="2157976"/>
            <a:ext cx="5703442" cy="1809613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087458C-A8A4-997D-69D5-0962A19E1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500" y="4070130"/>
            <a:ext cx="6778766" cy="210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6059" y="66676"/>
            <a:ext cx="1634491" cy="1081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238560"/>
            <a:ext cx="5542552" cy="1020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>
            <a:cxnSpLocks/>
          </p:cNvCxnSpPr>
          <p:nvPr/>
        </p:nvCxnSpPr>
        <p:spPr>
          <a:xfrm>
            <a:off x="8807805" y="3512402"/>
            <a:ext cx="0" cy="554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244402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11334" y="4683312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2B217FE-4AAB-2DE3-6FEB-8B890599A97C}"/>
              </a:ext>
            </a:extLst>
          </p:cNvPr>
          <p:cNvCxnSpPr>
            <a:cxnSpLocks/>
          </p:cNvCxnSpPr>
          <p:nvPr/>
        </p:nvCxnSpPr>
        <p:spPr>
          <a:xfrm flipV="1">
            <a:off x="2219325" y="5301082"/>
            <a:ext cx="517779" cy="48326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6BE8122-76D2-1D02-31B8-0967BE072EDE}"/>
              </a:ext>
            </a:extLst>
          </p:cNvPr>
          <p:cNvCxnSpPr>
            <a:cxnSpLocks/>
          </p:cNvCxnSpPr>
          <p:nvPr/>
        </p:nvCxnSpPr>
        <p:spPr>
          <a:xfrm>
            <a:off x="2737104" y="5294751"/>
            <a:ext cx="1142046" cy="35014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래픽 22" descr="반시계 방향으로 굽은 화살표">
            <a:extLst>
              <a:ext uri="{FF2B5EF4-FFF2-40B4-BE49-F238E27FC236}">
                <a16:creationId xmlns:a16="http://schemas.microsoft.com/office/drawing/2014/main" id="{1BDA7337-425F-34F8-7ED3-63E9850FE5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88336" y="5372968"/>
            <a:ext cx="312016" cy="31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537021" y="1315240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F2F399-986E-08AD-2FCF-E462E636B25E}"/>
              </a:ext>
            </a:extLst>
          </p:cNvPr>
          <p:cNvSpPr txBox="1"/>
          <p:nvPr/>
        </p:nvSpPr>
        <p:spPr>
          <a:xfrm>
            <a:off x="682905" y="2362971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2, 3])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([4, 5, 6])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32 (1*4 + 2*5 + 3*6)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E929F-7FCC-43E7-604C-4CD3B88B20DD}"/>
              </a:ext>
            </a:extLst>
          </p:cNvPr>
          <p:cNvSpPr txBox="1"/>
          <p:nvPr/>
        </p:nvSpPr>
        <p:spPr>
          <a:xfrm>
            <a:off x="523268" y="1941480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내적은 각 요소의 곱을 모두 더한 스칼라 값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A8D6C6-DCDE-9891-741B-62695F35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3" y="2368241"/>
            <a:ext cx="3444538" cy="6934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28F92C-B328-50CB-32F3-4A7552238304}"/>
              </a:ext>
            </a:extLst>
          </p:cNvPr>
          <p:cNvSpPr txBox="1"/>
          <p:nvPr/>
        </p:nvSpPr>
        <p:spPr>
          <a:xfrm>
            <a:off x="523268" y="1338970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벡터의 내적연산에 대해 학습하기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92AE6B-13A6-426B-E204-47B8570E3E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1221" y="3718637"/>
            <a:ext cx="7783011" cy="221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05FA3-3703-156D-8DDB-9BE5BF49D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A236E6-F24E-ED69-731A-E2EAEB502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0A6D50-68BB-AE0B-AC22-280330A068D5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5BE2E4-11F6-3428-49AD-5BBB761CD74A}"/>
              </a:ext>
            </a:extLst>
          </p:cNvPr>
          <p:cNvSpPr txBox="1"/>
          <p:nvPr/>
        </p:nvSpPr>
        <p:spPr>
          <a:xfrm>
            <a:off x="682906" y="188380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([5, 6])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[17, 39]  -&gt; (1*5 + 2*6), (3*5 + 4*6)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A45125E-37E8-EAD8-14D0-1084C424434A}"/>
              </a:ext>
            </a:extLst>
          </p:cNvPr>
          <p:cNvSpPr txBox="1"/>
          <p:nvPr/>
        </p:nvSpPr>
        <p:spPr>
          <a:xfrm>
            <a:off x="523268" y="1439657"/>
            <a:ext cx="107694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행과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내적의 결과는 벡터의 요소가 되며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열 개수와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차원이 같아야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6D31B10-85EA-7381-421A-8C8A8432B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3" y="2056960"/>
            <a:ext cx="1386960" cy="78492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3975477-D612-98A9-A25D-FA7C49FA27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9984" y="3616457"/>
            <a:ext cx="7763958" cy="2248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3762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897B-5850-8324-3C0D-618D465E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CB9C6-E741-2A9E-32EA-83869EA2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0F7A888-1B54-6169-3254-125CD43F8C58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EFFDF-9AC1-3D29-415F-A4BAF9D85B9C}"/>
              </a:ext>
            </a:extLst>
          </p:cNvPr>
          <p:cNvSpPr txBox="1"/>
          <p:nvPr/>
        </p:nvSpPr>
        <p:spPr>
          <a:xfrm>
            <a:off x="657828" y="1871805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([[3, 4], [5, 6]])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[13, 16] -&gt; (1*3 + 2*5), (1*4 + 2*6)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1DE77-E6B6-7BC7-930F-2E7AD3BDE5B2}"/>
              </a:ext>
            </a:extLst>
          </p:cNvPr>
          <p:cNvSpPr txBox="1"/>
          <p:nvPr/>
        </p:nvSpPr>
        <p:spPr>
          <a:xfrm>
            <a:off x="657827" y="1383329"/>
            <a:ext cx="10353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벡터가 앞에 올 경우, 벡터를 행 벡터(1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)로 간주하여 연산하여 결과는 행 벡터 형태가 됨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8623C2-5E9F-22C3-E93E-1980B0962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40" y="1871805"/>
            <a:ext cx="1409822" cy="72396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6D5E107-EA32-2B5B-D46A-897930892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003" y="3429000"/>
            <a:ext cx="7783011" cy="227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799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98861-9FE4-690E-57B1-11C05F4DC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DD4748-9361-390D-6DD7-E819BC2A2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5624E22-2C86-A754-FEC4-DECE9DFC8609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D592F5-BA1D-00AB-74F8-FDED9CA1CE80}"/>
              </a:ext>
            </a:extLst>
          </p:cNvPr>
          <p:cNvSpPr txBox="1"/>
          <p:nvPr/>
        </p:nvSpPr>
        <p:spPr>
          <a:xfrm>
            <a:off x="523271" y="1929352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([[5, 6], [7, 8]])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[[19, 22], [43, 50]]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83E407-245F-3734-1736-70A6632E4C97}"/>
              </a:ext>
            </a:extLst>
          </p:cNvPr>
          <p:cNvSpPr txBox="1"/>
          <p:nvPr/>
        </p:nvSpPr>
        <p:spPr>
          <a:xfrm>
            <a:off x="523270" y="1496352"/>
            <a:ext cx="11113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곱은 행렬 C(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되며 앞 행렬의 열과 뒤 행렬의 행 크기가 반드시 일치해야 함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0A5B27ED-FDFE-2449-E44A-3181F1F81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14" y="2156103"/>
            <a:ext cx="1607959" cy="7468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C4774CF-9A94-971C-1FE2-EEB13313F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9659" y="3521698"/>
            <a:ext cx="7792537" cy="24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521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9CEB2-DCA9-5FA3-0F39-27354096F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09A6EE-CC55-2B47-A18F-A74DD858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D865340-B0FB-4033-4024-4285CE7088BD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Broadcasting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452D2DD-31BB-960C-33AB-1581825ED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278" y="2565005"/>
            <a:ext cx="4829849" cy="16189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770535-E378-9DCC-132F-841BC20F1796}"/>
              </a:ext>
            </a:extLst>
          </p:cNvPr>
          <p:cNvSpPr txBox="1"/>
          <p:nvPr/>
        </p:nvSpPr>
        <p:spPr>
          <a:xfrm>
            <a:off x="6237746" y="2565005"/>
            <a:ext cx="5415139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([1.0, 2.0, 3.0])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b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([2.0, 2.0, 2.0])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2.0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55596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E8E24-8EA1-C738-DD14-E87CC1A5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031EFC-5510-3ECE-255C-14ECE54FB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48B991E-78FD-7A0C-3A9E-AEEA8544DB15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Broadcasting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76D743-0A61-7DCF-E85D-7BDB3797D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86" y="1718276"/>
            <a:ext cx="4829849" cy="19719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EBD0C33-52F0-C792-B2E9-E8A5957AF2B7}"/>
              </a:ext>
            </a:extLst>
          </p:cNvPr>
          <p:cNvSpPr txBox="1"/>
          <p:nvPr/>
        </p:nvSpPr>
        <p:spPr>
          <a:xfrm>
            <a:off x="6096000" y="1718276"/>
            <a:ext cx="5415139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([[ 0.0,  0.0,  0.0],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[10.0, 10.0, 10.0],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[20.0, 20.0, 20.0],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[30.0, 30.0, 30.0]])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([1.0, 2.0, 3.0])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+ b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([1.0, 2.0, 3.0, 4.0])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+ b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25ED113-5527-CF04-D9DD-A2A2B7639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586" y="4008648"/>
            <a:ext cx="3427930" cy="230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2851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6849C-200D-2283-4D60-916657630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AFAEC6-FC08-0BCD-1EB9-59267A9DD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6AAC54E-AC84-ACAA-1FF2-2DA367448FE3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Broadcasting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B52F4DD-3A20-0D5E-DB3B-D241706CE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44" y="2272129"/>
            <a:ext cx="4862685" cy="20996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B0F18C-1B88-DE12-4D80-F26BF6342D65}"/>
              </a:ext>
            </a:extLst>
          </p:cNvPr>
          <p:cNvSpPr txBox="1"/>
          <p:nvPr/>
        </p:nvSpPr>
        <p:spPr>
          <a:xfrm>
            <a:off x="5700151" y="2272129"/>
            <a:ext cx="6096000" cy="33738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([0.0, 10.0, 20.0, 30.0])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([1.0, 2.0, 3.0])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a[:,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 + b</a:t>
            </a:r>
          </a:p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a.reshape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(-1,1) + b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+ b   # No woops!</a:t>
            </a:r>
          </a:p>
        </p:txBody>
      </p:sp>
    </p:spTree>
    <p:extLst>
      <p:ext uri="{BB962C8B-B14F-4D97-AF65-F5344CB8AC3E}">
        <p14:creationId xmlns:p14="http://schemas.microsoft.com/office/powerpoint/2010/main" val="24257145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574D9-30E0-60D1-31BE-FDD08429B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38F5D1-BC28-6E06-D21D-EA27F57F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0F5B626-1802-9A8A-BCF7-A65742B4B326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A practical example: vector quantization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C543AC-44B2-30E1-E0F1-8D8451ED1007}"/>
              </a:ext>
            </a:extLst>
          </p:cNvPr>
          <p:cNvSpPr txBox="1"/>
          <p:nvPr/>
        </p:nvSpPr>
        <p:spPr>
          <a:xfrm>
            <a:off x="620151" y="1720702"/>
            <a:ext cx="8025084" cy="258532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array,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argmin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sqrt, sum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observation = array([111.0, 188.0])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codes = array([[102.0, 203.0],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[132.0, 193.0],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[45.0, 155.0],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[57.0, 173.0]])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 = codes - observation    # the broadcast happens here</a:t>
            </a:r>
          </a:p>
          <a:p>
            <a:pPr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sqrt(sum(diff**2,axis=-1))</a:t>
            </a:r>
          </a:p>
          <a:p>
            <a:pPr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argmin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B6DC7D-DBB1-F6D8-7DF8-7CDCA892E36D}"/>
              </a:ext>
            </a:extLst>
          </p:cNvPr>
          <p:cNvSpPr txBox="1"/>
          <p:nvPr/>
        </p:nvSpPr>
        <p:spPr>
          <a:xfrm>
            <a:off x="620151" y="4753391"/>
            <a:ext cx="8025084" cy="120032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bservation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(1d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     2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odes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(2d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 4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(2d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 4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(1d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    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8108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F6326-AFD6-74BA-6E73-E8023B06E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95B901-973C-31CE-7999-17C9D0496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307237-4054-5E52-AB32-4EE9C713C6B5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A practical example: vector quantization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8A1C242C-03A2-2BF2-0028-860F282B28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7119" y="1456951"/>
            <a:ext cx="6966063" cy="4879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33862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2D65160-C9B6-110E-9ECA-B23CFE20B8CC}"/>
              </a:ext>
            </a:extLst>
          </p:cNvPr>
          <p:cNvSpPr txBox="1"/>
          <p:nvPr/>
        </p:nvSpPr>
        <p:spPr>
          <a:xfrm>
            <a:off x="2503055" y="4386166"/>
            <a:ext cx="40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1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580D25-A326-79AF-8BEB-82A610205982}"/>
              </a:ext>
            </a:extLst>
          </p:cNvPr>
          <p:cNvSpPr txBox="1"/>
          <p:nvPr/>
        </p:nvSpPr>
        <p:spPr>
          <a:xfrm>
            <a:off x="4433714" y="3043504"/>
            <a:ext cx="40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EB973A4-BB2F-89A0-144B-F1083641FB50}"/>
              </a:ext>
            </a:extLst>
          </p:cNvPr>
          <p:cNvCxnSpPr>
            <a:cxnSpLocks/>
          </p:cNvCxnSpPr>
          <p:nvPr/>
        </p:nvCxnSpPr>
        <p:spPr>
          <a:xfrm>
            <a:off x="4325015" y="3006620"/>
            <a:ext cx="115584" cy="5357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0496E7-7A1A-4360-7E78-37EC0CEDD0E3}"/>
                  </a:ext>
                </a:extLst>
              </p:cNvPr>
              <p:cNvSpPr txBox="1"/>
              <p:nvPr/>
            </p:nvSpPr>
            <p:spPr>
              <a:xfrm>
                <a:off x="3907241" y="2625449"/>
                <a:ext cx="7296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b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0496E7-7A1A-4360-7E78-37EC0CEDD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241" y="2625449"/>
                <a:ext cx="72967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2F66D95-C28F-0F80-0359-EFF38ED73A83}"/>
              </a:ext>
            </a:extLst>
          </p:cNvPr>
          <p:cNvGrpSpPr/>
          <p:nvPr/>
        </p:nvGrpSpPr>
        <p:grpSpPr>
          <a:xfrm>
            <a:off x="1476848" y="5105030"/>
            <a:ext cx="3193922" cy="369332"/>
            <a:chOff x="1476848" y="5105030"/>
            <a:chExt cx="319392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3C90E37-2EBD-CE68-3397-3E76743F473A}"/>
                </a:ext>
              </a:extLst>
            </p:cNvPr>
            <p:cNvSpPr txBox="1"/>
            <p:nvPr/>
          </p:nvSpPr>
          <p:spPr>
            <a:xfrm>
              <a:off x="1476848" y="5105030"/>
              <a:ext cx="90446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(1, 8)</a:t>
              </a:r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3F4D08A-479C-7D67-9E15-39421C53D104}"/>
                </a:ext>
              </a:extLst>
            </p:cNvPr>
            <p:cNvSpPr txBox="1"/>
            <p:nvPr/>
          </p:nvSpPr>
          <p:spPr>
            <a:xfrm>
              <a:off x="3766310" y="5105030"/>
              <a:ext cx="90446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= (</a:t>
              </a:r>
              <a:r>
                <a: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1</a:t>
              </a:r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1</a:t>
              </a:r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)</a:t>
              </a:r>
              <a:endParaRPr lang="ko-KR" alt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422C84D-83A8-13A8-D900-5E6EFBAF94A6}"/>
                </a:ext>
              </a:extLst>
            </p:cNvPr>
            <p:cNvSpPr txBox="1"/>
            <p:nvPr/>
          </p:nvSpPr>
          <p:spPr>
            <a:xfrm>
              <a:off x="2341999" y="5105030"/>
              <a:ext cx="121742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@    (8, </a:t>
              </a:r>
              <a:r>
                <a: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1</a:t>
              </a:r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)</a:t>
              </a:r>
              <a:endParaRPr lang="ko-KR" altLang="en-US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2405294-8454-B94B-255E-CA2DFAD3E5A1}"/>
              </a:ext>
            </a:extLst>
          </p:cNvPr>
          <p:cNvGrpSpPr/>
          <p:nvPr/>
        </p:nvGrpSpPr>
        <p:grpSpPr>
          <a:xfrm>
            <a:off x="5929120" y="5851595"/>
            <a:ext cx="4046153" cy="369332"/>
            <a:chOff x="5929120" y="5851595"/>
            <a:chExt cx="4046153" cy="36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AC73F7-315B-C259-3295-AD3A2092910C}"/>
                </a:ext>
              </a:extLst>
            </p:cNvPr>
            <p:cNvSpPr txBox="1"/>
            <p:nvPr/>
          </p:nvSpPr>
          <p:spPr>
            <a:xfrm>
              <a:off x="5929120" y="5851595"/>
              <a:ext cx="1189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(m, 1) =</a:t>
              </a:r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76B441A-C44F-5EC4-74B9-3BDB0FE77125}"/>
                </a:ext>
              </a:extLst>
            </p:cNvPr>
            <p:cNvSpPr txBox="1"/>
            <p:nvPr/>
          </p:nvSpPr>
          <p:spPr>
            <a:xfrm>
              <a:off x="7282063" y="5851595"/>
              <a:ext cx="269321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        (m, </a:t>
              </a:r>
              <a:r>
                <a: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n</a:t>
              </a:r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)</a:t>
              </a:r>
              <a:r>
                <a: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       @     (n, 1)</a:t>
              </a:r>
              <a:endParaRPr lang="ko-KR" altLang="en-US" dirty="0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45" y="2230173"/>
            <a:ext cx="5075557" cy="35942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3A6ED75-9CD7-26AF-BB51-C91C68A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347" y="2230173"/>
            <a:ext cx="5215970" cy="359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5263926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4785601" y="2774368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5601" y="2774368"/>
                <a:ext cx="1706399" cy="672172"/>
              </a:xfrm>
              <a:prstGeom prst="rect">
                <a:avLst/>
              </a:prstGeom>
              <a:blipFill>
                <a:blip r:embed="rId3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5684069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69FEEF38-324F-0593-546E-CDFA90C60E5E}"/>
              </a:ext>
            </a:extLst>
          </p:cNvPr>
          <p:cNvGrpSpPr/>
          <p:nvPr/>
        </p:nvGrpSpPr>
        <p:grpSpPr>
          <a:xfrm>
            <a:off x="2962544" y="2386853"/>
            <a:ext cx="2376814" cy="3330552"/>
            <a:chOff x="3305444" y="2386853"/>
            <a:chExt cx="2376814" cy="3330552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E5B0194-4379-CEFE-15AC-E1CC9C7CDA34}"/>
                </a:ext>
              </a:extLst>
            </p:cNvPr>
            <p:cNvCxnSpPr>
              <a:cxnSpLocks/>
              <a:stCxn id="3" idx="6"/>
              <a:endCxn id="19" idx="2"/>
            </p:cNvCxnSpPr>
            <p:nvPr/>
          </p:nvCxnSpPr>
          <p:spPr>
            <a:xfrm>
              <a:off x="3383459" y="3924230"/>
              <a:ext cx="2223367" cy="11153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2B41539A-E268-F490-CC02-5C475E24698F}"/>
                </a:ext>
              </a:extLst>
            </p:cNvPr>
            <p:cNvSpPr/>
            <p:nvPr/>
          </p:nvSpPr>
          <p:spPr>
            <a:xfrm>
              <a:off x="3905777" y="4899425"/>
              <a:ext cx="840284" cy="81798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1</a:t>
              </a:r>
              <a:endParaRPr lang="ko-KR" altLang="en-US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123B24C2-28A6-4D10-0B3A-B029DC9411F4}"/>
                </a:ext>
              </a:extLst>
            </p:cNvPr>
            <p:cNvCxnSpPr>
              <a:cxnSpLocks/>
              <a:stCxn id="10" idx="7"/>
              <a:endCxn id="19" idx="3"/>
            </p:cNvCxnSpPr>
            <p:nvPr/>
          </p:nvCxnSpPr>
          <p:spPr>
            <a:xfrm flipV="1">
              <a:off x="4623004" y="4232469"/>
              <a:ext cx="1059254" cy="786746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5CB086C-2BAF-4A22-FB82-6AC8CAD9716F}"/>
                    </a:ext>
                  </a:extLst>
                </p:cNvPr>
                <p:cNvSpPr txBox="1"/>
                <p:nvPr/>
              </p:nvSpPr>
              <p:spPr>
                <a:xfrm>
                  <a:off x="3897369" y="3567293"/>
                  <a:ext cx="364843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2000" i="1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5CB086C-2BAF-4A22-FB82-6AC8CAD971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7369" y="3567293"/>
                  <a:ext cx="364843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6667" r="-3333" b="-176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201D02E-6AC5-B238-E1BB-D925EE1B5A4D}"/>
                    </a:ext>
                  </a:extLst>
                </p:cNvPr>
                <p:cNvSpPr txBox="1"/>
                <p:nvPr/>
              </p:nvSpPr>
              <p:spPr>
                <a:xfrm>
                  <a:off x="4586134" y="4455259"/>
                  <a:ext cx="370806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ko-KR" altLang="en-US" sz="2000" i="1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201D02E-6AC5-B238-E1BB-D925EE1B5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6134" y="4455259"/>
                  <a:ext cx="37080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6557" r="-3279" b="-20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AF0D505-7E90-D3A5-3CAD-21E3C3F5D99F}"/>
                </a:ext>
              </a:extLst>
            </p:cNvPr>
            <p:cNvSpPr/>
            <p:nvPr/>
          </p:nvSpPr>
          <p:spPr>
            <a:xfrm>
              <a:off x="3305444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Weights</a:t>
              </a:r>
            </a:p>
          </p:txBody>
        </p:sp>
      </p:grp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4655660" y="2387418"/>
            <a:ext cx="224996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318552" y="2716823"/>
            <a:ext cx="4744428" cy="311247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9316411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6411" y="3754953"/>
                <a:ext cx="601170" cy="338554"/>
              </a:xfrm>
              <a:prstGeom prst="rect">
                <a:avLst/>
              </a:prstGeom>
              <a:blipFill>
                <a:blip r:embed="rId6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그룹 27">
            <a:extLst>
              <a:ext uri="{FF2B5EF4-FFF2-40B4-BE49-F238E27FC236}">
                <a16:creationId xmlns:a16="http://schemas.microsoft.com/office/drawing/2014/main" id="{1772D94C-741B-EBFA-3B29-5FA5D231070E}"/>
              </a:ext>
            </a:extLst>
          </p:cNvPr>
          <p:cNvGrpSpPr/>
          <p:nvPr/>
        </p:nvGrpSpPr>
        <p:grpSpPr>
          <a:xfrm>
            <a:off x="1728509" y="2386853"/>
            <a:ext cx="1780186" cy="3372848"/>
            <a:chOff x="2071409" y="2386853"/>
            <a:chExt cx="1780186" cy="33728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9425AEA0-D31F-45C0-DF21-5BF14AF47300}"/>
                    </a:ext>
                  </a:extLst>
                </p:cNvPr>
                <p:cNvSpPr/>
                <p:nvPr/>
              </p:nvSpPr>
              <p:spPr>
                <a:xfrm>
                  <a:off x="2543175" y="3515240"/>
                  <a:ext cx="840284" cy="817980"/>
                </a:xfrm>
                <a:prstGeom prst="ellipse">
                  <a:avLst/>
                </a:prstGeom>
                <a:solidFill>
                  <a:srgbClr val="00B0F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oMath>
                    </m:oMathPara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9425AEA0-D31F-45C0-DF21-5BF14AF4730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3175" y="3515240"/>
                  <a:ext cx="840284" cy="81798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D1C87C6D-B6F7-E7F9-521E-3D2F40D3D3F4}"/>
                </a:ext>
              </a:extLst>
            </p:cNvPr>
            <p:cNvSpPr/>
            <p:nvPr/>
          </p:nvSpPr>
          <p:spPr>
            <a:xfrm>
              <a:off x="2071409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Input</a:t>
              </a:r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5E615629-25CC-350E-7711-C87E5ED906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320336" y="4506459"/>
              <a:ext cx="1214595" cy="1253242"/>
            </a:xfrm>
            <a:prstGeom prst="rect">
              <a:avLst/>
            </a:prstGeom>
          </p:spPr>
        </p:pic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0D8550AB-9C20-98FE-6676-60C812652640}"/>
              </a:ext>
            </a:extLst>
          </p:cNvPr>
          <p:cNvGrpSpPr/>
          <p:nvPr/>
        </p:nvGrpSpPr>
        <p:grpSpPr>
          <a:xfrm>
            <a:off x="8730552" y="2379460"/>
            <a:ext cx="1780186" cy="3385071"/>
            <a:chOff x="8921052" y="2379460"/>
            <a:chExt cx="1780186" cy="3385071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E48D8F8-98D4-7429-88BE-455A8189E92F}"/>
                </a:ext>
              </a:extLst>
            </p:cNvPr>
            <p:cNvSpPr/>
            <p:nvPr/>
          </p:nvSpPr>
          <p:spPr>
            <a:xfrm>
              <a:off x="8921052" y="2379460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Actual y</a:t>
              </a:r>
            </a:p>
          </p:txBody>
        </p:sp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E3D4FDAA-A454-51E2-EB7C-210D158527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937802" y="4506343"/>
              <a:ext cx="1020153" cy="1258188"/>
            </a:xfrm>
            <a:prstGeom prst="rect">
              <a:avLst/>
            </a:prstGeom>
          </p:spPr>
        </p:pic>
      </p:grp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  <a:endCxn id="68" idx="1"/>
          </p:cNvCxnSpPr>
          <p:nvPr/>
        </p:nvCxnSpPr>
        <p:spPr>
          <a:xfrm flipV="1">
            <a:off x="6104212" y="3924230"/>
            <a:ext cx="2411138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515350" y="3754953"/>
                <a:ext cx="617549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5350" y="3754953"/>
                <a:ext cx="617549" cy="338554"/>
              </a:xfrm>
              <a:prstGeom prst="rect">
                <a:avLst/>
              </a:prstGeom>
              <a:blipFill>
                <a:blip r:embed="rId10"/>
                <a:stretch>
                  <a:fillRect r="-6931"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7861821" y="2386853"/>
            <a:ext cx="168689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624A0F54-2BAF-349B-5B5D-97E3FA6EEC2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85481" y="4490956"/>
            <a:ext cx="516826" cy="1284248"/>
          </a:xfrm>
          <a:prstGeom prst="rect">
            <a:avLst/>
          </a:prstGeom>
        </p:spPr>
      </p:pic>
      <p:grpSp>
        <p:nvGrpSpPr>
          <p:cNvPr id="38" name="그룹 37">
            <a:extLst>
              <a:ext uri="{FF2B5EF4-FFF2-40B4-BE49-F238E27FC236}">
                <a16:creationId xmlns:a16="http://schemas.microsoft.com/office/drawing/2014/main" id="{CBD519E3-12B3-F187-F1F2-55669C9B7DD2}"/>
              </a:ext>
            </a:extLst>
          </p:cNvPr>
          <p:cNvGrpSpPr/>
          <p:nvPr/>
        </p:nvGrpSpPr>
        <p:grpSpPr>
          <a:xfrm>
            <a:off x="9876865" y="2386853"/>
            <a:ext cx="1780186" cy="1706654"/>
            <a:chOff x="10000690" y="2386853"/>
            <a:chExt cx="1780186" cy="170665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DB1EC05C-CFA8-42F0-9ED9-E5A51104A20D}"/>
                    </a:ext>
                  </a:extLst>
                </p:cNvPr>
                <p:cNvSpPr/>
                <p:nvPr/>
              </p:nvSpPr>
              <p:spPr>
                <a:xfrm>
                  <a:off x="10472937" y="3754953"/>
                  <a:ext cx="981075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</m:acc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r>
                              <m:rPr>
                                <m:sty m:val="p"/>
                              </m:r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ko-KR" altLang="en-US" sz="1600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DB1EC05C-CFA8-42F0-9ED9-E5A51104A20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72937" y="3754953"/>
                  <a:ext cx="981075" cy="338554"/>
                </a:xfrm>
                <a:prstGeom prst="rect">
                  <a:avLst/>
                </a:prstGeom>
                <a:blipFill>
                  <a:blip r:embed="rId12"/>
                  <a:stretch>
                    <a:fillRect l="-621" b="-1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D08F5C12-BAAE-4ECE-8B92-DFE290463671}"/>
                </a:ext>
              </a:extLst>
            </p:cNvPr>
            <p:cNvSpPr/>
            <p:nvPr/>
          </p:nvSpPr>
          <p:spPr>
            <a:xfrm>
              <a:off x="10000690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Squared error</a:t>
              </a: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49CE807-98D0-88FD-70A1-D6FBDF4D41CB}"/>
              </a:ext>
            </a:extLst>
          </p:cNvPr>
          <p:cNvGrpSpPr/>
          <p:nvPr/>
        </p:nvGrpSpPr>
        <p:grpSpPr>
          <a:xfrm>
            <a:off x="6610349" y="2243978"/>
            <a:ext cx="1282281" cy="1988491"/>
            <a:chOff x="6610349" y="2243978"/>
            <a:chExt cx="1282281" cy="1988491"/>
          </a:xfrm>
        </p:grpSpPr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5BE57420-61E3-16F4-35BB-8FC03FD12D2C}"/>
                </a:ext>
              </a:extLst>
            </p:cNvPr>
            <p:cNvGrpSpPr/>
            <p:nvPr/>
          </p:nvGrpSpPr>
          <p:grpSpPr>
            <a:xfrm>
              <a:off x="6610349" y="2243978"/>
              <a:ext cx="1282281" cy="1061583"/>
              <a:chOff x="6953249" y="2243978"/>
              <a:chExt cx="1282281" cy="106158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12899664-0529-7DFF-D057-7CA68DD92522}"/>
                      </a:ext>
                    </a:extLst>
                  </p:cNvPr>
                  <p:cNvSpPr txBox="1"/>
                  <p:nvPr/>
                </p:nvSpPr>
                <p:spPr>
                  <a:xfrm>
                    <a:off x="6953249" y="2967007"/>
                    <a:ext cx="1282281" cy="33855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𝜎</m:t>
                          </m:r>
                          <m:d>
                            <m:d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oMath>
                      </m:oMathPara>
                    </a14:m>
                    <a:endParaRPr lang="ko-KR" altLang="en-US" sz="1600" dirty="0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12899664-0529-7DFF-D057-7CA68DD925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53249" y="2967007"/>
                    <a:ext cx="1282281" cy="33855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5455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7" name="직사각형 66">
                <a:extLst>
                  <a:ext uri="{FF2B5EF4-FFF2-40B4-BE49-F238E27FC236}">
                    <a16:creationId xmlns:a16="http://schemas.microsoft.com/office/drawing/2014/main" id="{E9C596E4-1E62-4B84-87BB-5BB08482914A}"/>
                  </a:ext>
                </a:extLst>
              </p:cNvPr>
              <p:cNvSpPr/>
              <p:nvPr/>
            </p:nvSpPr>
            <p:spPr>
              <a:xfrm>
                <a:off x="6964841" y="2243978"/>
                <a:ext cx="1224754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R="0" lvl="0" algn="ctr" defTabSz="914400" rtl="0" eaLnBrk="1" fontAlgn="base" latinLnBrk="1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lang="en-US" altLang="ko-KR" sz="1200" dirty="0">
                    <a:solidFill>
                      <a:prstClr val="black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Activation function</a:t>
                </a:r>
              </a:p>
            </p:txBody>
          </p:sp>
        </p:grpSp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AFF570E8-BCAB-F313-5B67-FE98143CB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905624" y="3643485"/>
              <a:ext cx="803628" cy="5889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2" grpId="0"/>
      <p:bldP spid="6" grpId="0"/>
      <p:bldP spid="13" grpId="0" animBg="1"/>
      <p:bldP spid="20" grpId="0"/>
      <p:bldP spid="68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97C5A6A-3B6B-A2D6-548B-71FA1CC02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835" y="3242033"/>
            <a:ext cx="725689" cy="1803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D0B6-A6ED-F6E5-D9BA-7D375EA25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AD31B-30C8-7B17-79C6-D1ED41A4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7167576-2A3B-AC12-A254-7AEAC9DFA3C7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A08A5927-BCE8-17F3-722E-F94816AA1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9"/>
            <a:ext cx="11064543" cy="888472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인공신경망 핵심 원리인 보편적 근사 정리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(Universal Approximation Theorem) :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신경망이 충분한 수의 노드와 적절한 활성화 함수를 가지고 있다면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이론적으로 어떤 형태의 연속 함수라도 근사할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 있음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03D2B85-BC15-4243-74EF-3794CD00BFC2}"/>
              </a:ext>
            </a:extLst>
          </p:cNvPr>
          <p:cNvSpPr txBox="1">
            <a:spLocks/>
          </p:cNvSpPr>
          <p:nvPr/>
        </p:nvSpPr>
        <p:spPr>
          <a:xfrm>
            <a:off x="689421" y="57042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Networks(NN)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F29C735-FFCB-09AC-B689-80584795B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593" y="2611764"/>
            <a:ext cx="3433309" cy="23590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3ABEBF-19DE-0F25-AD3C-A57C4D163004}"/>
              </a:ext>
            </a:extLst>
          </p:cNvPr>
          <p:cNvSpPr txBox="1"/>
          <p:nvPr/>
        </p:nvSpPr>
        <p:spPr>
          <a:xfrm>
            <a:off x="2280593" y="5502899"/>
            <a:ext cx="64960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series of operations that can approximate (practically) any function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사실상 어떤 함수도 근사할 수 있는 일련의 연산들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endParaRPr lang="ko-KR" altLang="en-US" sz="16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EACF0A5-9708-AFEA-817F-D84AEE041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902" y="2611764"/>
            <a:ext cx="4167390" cy="2359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85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D66B-342A-6D55-DED5-4B908E279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7381D7-0B8E-8DA1-09EA-C155D5BF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607B7AFC-8546-F672-09CC-7E0D55C0A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88" y="3718644"/>
            <a:ext cx="9167654" cy="2903472"/>
          </a:xfrm>
          <a:prstGeom prst="rect">
            <a:avLst/>
          </a:prstGeom>
        </p:spPr>
      </p:pic>
      <p:sp>
        <p:nvSpPr>
          <p:cNvPr id="31" name="제목 1">
            <a:extLst>
              <a:ext uri="{FF2B5EF4-FFF2-40B4-BE49-F238E27FC236}">
                <a16:creationId xmlns:a16="http://schemas.microsoft.com/office/drawing/2014/main" id="{0AA65A2D-0A54-B71F-1012-675AB3E5993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Stochastic Gradient Descent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4926A-290F-6417-8297-FE889C7E9708}"/>
              </a:ext>
            </a:extLst>
          </p:cNvPr>
          <p:cNvSpPr txBox="1"/>
          <p:nvPr/>
        </p:nvSpPr>
        <p:spPr>
          <a:xfrm>
            <a:off x="523875" y="1376343"/>
            <a:ext cx="3729263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/>
              </a:rPr>
              <a:t>sgd.xlsx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recap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ED28658-A522-AA22-81E7-3090678D3B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3338" y="1489682"/>
            <a:ext cx="2004787" cy="85400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A8B69D3-9DCC-6057-CA7E-8D8CB88165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2314" y="1489682"/>
            <a:ext cx="5746955" cy="211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44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AB932-2EF8-649B-F43A-5F5085079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F1670-BAC1-AD99-B2F9-A6E14FE6D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2A780B-E056-2441-C581-B6259A3E62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0E52C76F-F19C-8F6F-244F-7E3C63C08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" y="2224949"/>
            <a:ext cx="2010184" cy="159457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09B8A8-1F86-AACF-2635-B1936BE26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9309" y="2239279"/>
            <a:ext cx="7144108" cy="139446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82877D11-0050-8567-D7B0-AF7609B57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" y="3717564"/>
            <a:ext cx="1666758" cy="24440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4B28289-EBC5-1F5A-B55D-779F25E6CB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4807" y="4278616"/>
            <a:ext cx="3292749" cy="81117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20D63F3-67FB-5E75-9CDF-1727090D8C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8675" y="4628272"/>
            <a:ext cx="3286740" cy="78713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DB08982-871B-BAB7-43F5-367DCF863D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3389" y="4953894"/>
            <a:ext cx="3292749" cy="75108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DD44507-119A-BF6A-CA34-4F0E3FAD44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0811" y="5243464"/>
            <a:ext cx="3274723" cy="76310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9483210-42EC-B83E-1CF9-E3A73E792A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956" y="5545050"/>
            <a:ext cx="3304766" cy="793144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32D7BFF-98C4-CCA5-70D8-095757EC91B3}"/>
              </a:ext>
            </a:extLst>
          </p:cNvPr>
          <p:cNvCxnSpPr>
            <a:cxnSpLocks/>
          </p:cNvCxnSpPr>
          <p:nvPr/>
        </p:nvCxnSpPr>
        <p:spPr>
          <a:xfrm>
            <a:off x="6896828" y="3644430"/>
            <a:ext cx="0" cy="86548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0425FA68-D577-0001-59AC-3D70E1723BA6}"/>
              </a:ext>
            </a:extLst>
          </p:cNvPr>
          <p:cNvCxnSpPr>
            <a:cxnSpLocks/>
          </p:cNvCxnSpPr>
          <p:nvPr/>
        </p:nvCxnSpPr>
        <p:spPr>
          <a:xfrm>
            <a:off x="6083394" y="3644430"/>
            <a:ext cx="0" cy="116379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D8C00EF-DB26-421C-3809-E9F29274EC42}"/>
              </a:ext>
            </a:extLst>
          </p:cNvPr>
          <p:cNvCxnSpPr>
            <a:cxnSpLocks/>
          </p:cNvCxnSpPr>
          <p:nvPr/>
        </p:nvCxnSpPr>
        <p:spPr>
          <a:xfrm>
            <a:off x="5014689" y="3644430"/>
            <a:ext cx="0" cy="1396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638B7BC-0E16-7220-0B97-BD9A9E0D8C20}"/>
              </a:ext>
            </a:extLst>
          </p:cNvPr>
          <p:cNvCxnSpPr>
            <a:cxnSpLocks/>
          </p:cNvCxnSpPr>
          <p:nvPr/>
        </p:nvCxnSpPr>
        <p:spPr>
          <a:xfrm>
            <a:off x="4165014" y="3644430"/>
            <a:ext cx="0" cy="173097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BADE6ADE-7564-EE16-A685-505C23174C7D}"/>
              </a:ext>
            </a:extLst>
          </p:cNvPr>
          <p:cNvCxnSpPr>
            <a:cxnSpLocks/>
          </p:cNvCxnSpPr>
          <p:nvPr/>
        </p:nvCxnSpPr>
        <p:spPr>
          <a:xfrm>
            <a:off x="8634188" y="3644430"/>
            <a:ext cx="0" cy="5275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림 35">
            <a:extLst>
              <a:ext uri="{FF2B5EF4-FFF2-40B4-BE49-F238E27FC236}">
                <a16:creationId xmlns:a16="http://schemas.microsoft.com/office/drawing/2014/main" id="{F90924B2-067C-D55F-6207-3111E53A3C91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681189" y="3252140"/>
            <a:ext cx="3005355" cy="364051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DC42014-027B-C349-05D0-139E3B0DEE3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637125" y="3624941"/>
            <a:ext cx="3564238" cy="7631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이미지의 신경망 구조를 바탕으로, 손실 함수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0" lang="ko-KR" altLang="ko-KR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대한 가중치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편미분</a:t>
                </a:r>
                <a:r>
                  <a:rPr kumimoji="0" lang="en-US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ko-KR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과정을 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출력층에서 시작하여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입력</a:t>
                </a:r>
                <a:r>
                  <a:rPr lang="ko-KR" altLang="en-US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층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방향으로 거슬러 올라가는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Chain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Rule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(연쇄 법칙)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역전파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Backpropagation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흐름의 핵심은 각 단계의 변화율을 곱하는 것</a:t>
                </a:r>
              </a:p>
            </p:txBody>
          </p:sp>
        </mc:Choice>
        <mc:Fallback xmlns=""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blipFill>
                <a:blip r:embed="rId12"/>
                <a:stretch>
                  <a:fillRect l="-271" t="-893" b="-107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4E13A0F6-FB56-CF47-9417-5E3D1C68DF0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66021" y="4278616"/>
            <a:ext cx="1089660" cy="290576"/>
          </a:xfrm>
          <a:prstGeom prst="rect">
            <a:avLst/>
          </a:prstGeom>
        </p:spPr>
      </p:pic>
      <p:sp>
        <p:nvSpPr>
          <p:cNvPr id="44" name="타원 43">
            <a:extLst>
              <a:ext uri="{FF2B5EF4-FFF2-40B4-BE49-F238E27FC236}">
                <a16:creationId xmlns:a16="http://schemas.microsoft.com/office/drawing/2014/main" id="{E5F0B88D-BCAB-B966-9358-21476CD19836}"/>
              </a:ext>
            </a:extLst>
          </p:cNvPr>
          <p:cNvSpPr/>
          <p:nvPr/>
        </p:nvSpPr>
        <p:spPr>
          <a:xfrm rot="20476699">
            <a:off x="5668662" y="5188915"/>
            <a:ext cx="5742152" cy="622417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648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39ACDE8-F59C-CDD3-B11E-4B8FF9B41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95" y="1405799"/>
            <a:ext cx="9114310" cy="9906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8AACC0A-6245-58F3-ECC0-6815BD10B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95" y="2525287"/>
            <a:ext cx="1666758" cy="244404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D8ECA170-DD4D-1F30-3218-C6E0EDE5E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8291" y="2525287"/>
            <a:ext cx="5609284" cy="2644377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CE55BE3-2773-A0A0-42DC-B28F901A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178" y="2525287"/>
            <a:ext cx="1891131" cy="2227688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9CCFDF4-ECDD-62F9-246F-771739C9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503" y="5388739"/>
            <a:ext cx="8645102" cy="1195217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0038C66A-0911-EB2F-2FDC-2073B07828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1352" y="1405799"/>
            <a:ext cx="2010184" cy="159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2A18C4E-012D-807C-8C67-6C63AEC39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612" y="2091009"/>
            <a:ext cx="7257371" cy="413636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913EAB-BA36-16A9-AB24-CFEE9F746E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0613" y="2075770"/>
            <a:ext cx="7265694" cy="412804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C31180-20D2-3B0D-25E1-D40D042744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0452" y="2050369"/>
            <a:ext cx="7307307" cy="4144691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381A65D-316B-A000-FF90-C6D63C9BF426}"/>
              </a:ext>
            </a:extLst>
          </p:cNvPr>
          <p:cNvSpPr/>
          <p:nvPr/>
        </p:nvSpPr>
        <p:spPr>
          <a:xfrm>
            <a:off x="2000612" y="4907280"/>
            <a:ext cx="1984648" cy="1335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2BD06AB-5FDE-B384-3EBD-43406BC57E76}"/>
              </a:ext>
            </a:extLst>
          </p:cNvPr>
          <p:cNvGrpSpPr/>
          <p:nvPr/>
        </p:nvGrpSpPr>
        <p:grpSpPr>
          <a:xfrm>
            <a:off x="4660202" y="2362200"/>
            <a:ext cx="1931098" cy="2125980"/>
            <a:chOff x="4660202" y="2362200"/>
            <a:chExt cx="1931098" cy="2125980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56F2BBD8-C52D-5984-A974-6856F1852FF8}"/>
                </a:ext>
              </a:extLst>
            </p:cNvPr>
            <p:cNvSpPr/>
            <p:nvPr/>
          </p:nvSpPr>
          <p:spPr>
            <a:xfrm>
              <a:off x="4660202" y="2362200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DBFC4C29-E792-8B4F-63B9-D39685359B47}"/>
                </a:ext>
              </a:extLst>
            </p:cNvPr>
            <p:cNvSpPr/>
            <p:nvPr/>
          </p:nvSpPr>
          <p:spPr>
            <a:xfrm>
              <a:off x="4660202" y="3482634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805F8C82-8681-BCFE-A635-280F2B203808}"/>
                </a:ext>
              </a:extLst>
            </p:cNvPr>
            <p:cNvSpPr/>
            <p:nvPr/>
          </p:nvSpPr>
          <p:spPr>
            <a:xfrm>
              <a:off x="5798803" y="4159193"/>
              <a:ext cx="792497" cy="3289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21A24-772E-52A2-1347-2047E88BB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CC5D36-780A-3C37-ECB3-3C52858BF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D1F52A1-8777-EB8E-2169-4B78B61922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Deep Learning Mechanism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E987D5A-EC9B-AA0E-36C8-B023D1897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357" y="1943382"/>
            <a:ext cx="4691425" cy="297123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C21F2C9-6306-5740-6E90-DA22B46ABE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8478" y="1943382"/>
            <a:ext cx="3183467" cy="4144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735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487C6-B131-6F99-3CB6-1EFAD0C3F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2E13D3-6AA1-039B-EEC2-5863D165D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5F9051B-FB83-6946-EA0E-6B1F2ED5F4AC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C3E89A4-F940-0CB9-BF38-8AC3E1DEC845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Appendix : DL  = Chain of Affine and Activation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4C3E29-A3BD-8459-2D91-0CBC5BF12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0412" y="1997401"/>
            <a:ext cx="8890185" cy="5937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C0F2615-BF1A-F9E1-DC36-7853B9EB05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667" y="2580448"/>
            <a:ext cx="1984227" cy="119053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00EA6DA-B79A-FDB2-4E36-184948C01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3350" y="2628073"/>
            <a:ext cx="1959930" cy="11581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43BA7B6-84AB-05B0-0D04-21350AF97E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9438" y="4790521"/>
            <a:ext cx="5472713" cy="6762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E4A979C-8E30-172F-D9F6-ED6699AF61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3810" y="4066058"/>
            <a:ext cx="1967769" cy="52708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17CF5735-E9E7-8875-F206-7EC93EDB92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7377" y="4066056"/>
            <a:ext cx="1892473" cy="51704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E419BC3-2957-9E0C-BAD3-12B8FFBD2CD5}"/>
              </a:ext>
            </a:extLst>
          </p:cNvPr>
          <p:cNvSpPr txBox="1"/>
          <p:nvPr/>
        </p:nvSpPr>
        <p:spPr>
          <a:xfrm>
            <a:off x="4209058" y="1319174"/>
            <a:ext cx="9364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 1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6CAA532-39F8-C971-0110-F2383E66922A}"/>
              </a:ext>
            </a:extLst>
          </p:cNvPr>
          <p:cNvSpPr txBox="1"/>
          <p:nvPr/>
        </p:nvSpPr>
        <p:spPr>
          <a:xfrm>
            <a:off x="6532500" y="1319174"/>
            <a:ext cx="9364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 2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6E1082-22DE-2A11-15A0-0FF3EA57E8EF}"/>
              </a:ext>
            </a:extLst>
          </p:cNvPr>
          <p:cNvSpPr txBox="1"/>
          <p:nvPr/>
        </p:nvSpPr>
        <p:spPr>
          <a:xfrm>
            <a:off x="8873441" y="1319174"/>
            <a:ext cx="9364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 3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0E983CD7-9B48-8754-389F-F4BEA2622B1A}"/>
              </a:ext>
            </a:extLst>
          </p:cNvPr>
          <p:cNvGrpSpPr/>
          <p:nvPr/>
        </p:nvGrpSpPr>
        <p:grpSpPr>
          <a:xfrm>
            <a:off x="429606" y="2575805"/>
            <a:ext cx="10698696" cy="3417854"/>
            <a:chOff x="429606" y="2575805"/>
            <a:chExt cx="10698696" cy="341785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F9A49F3-F365-972B-4298-1A6B23046411}"/>
                    </a:ext>
                  </a:extLst>
                </p:cNvPr>
                <p:cNvSpPr txBox="1"/>
                <p:nvPr/>
              </p:nvSpPr>
              <p:spPr>
                <a:xfrm>
                  <a:off x="632271" y="5685882"/>
                  <a:ext cx="104960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참고</a:t>
                  </a:r>
                  <a:r>
                    <a:rPr lang="en-US" altLang="ko-KR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: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 입력변수가 </a:t>
                  </a:r>
                  <a:r>
                    <a:rPr lang="ko-KR" altLang="en-US" sz="1400" dirty="0" err="1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단병량이면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ko-KR" alt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ko-KR" sz="1400" b="0" i="0">
                          <a:latin typeface="Cambria Math" panose="02040503050406030204" pitchFamily="18" charset="0"/>
                        </a:rPr>
                        <m:t>=1</m:t>
                      </m:r>
                    </m:oMath>
                  </a14:m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로 놓으면 이전 벡터 표현과 동일하고</a:t>
                  </a:r>
                  <a:r>
                    <a:rPr lang="en-US" altLang="ko-KR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ko-KR" altLang="en-US" sz="1400" b="0" i="1">
                          <a:latin typeface="Cambria Math" panose="02040503050406030204" pitchFamily="18" charset="0"/>
                        </a:rPr>
                        <m:t>b</m:t>
                      </m:r>
                    </m:oMath>
                  </a14:m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는 </a:t>
                  </a:r>
                  <a:r>
                    <a:rPr lang="en-US" altLang="ko-KR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broadcasting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으로 </a:t>
                  </a:r>
                  <a14:m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m:rPr>
                              <m:nor/>
                            </m:rPr>
                            <a:rPr lang="ko-KR" altLang="en-US" sz="1400" i="1"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m:t> </m:t>
                          </m:r>
                          <m:sSub>
                            <m:sSubPr>
                              <m:ctrlPr>
                                <a:rPr lang="ko-KR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형태로 각 행에 </a:t>
                  </a:r>
                  <a:r>
                    <a:rPr lang="ko-KR" altLang="en-US" sz="1400" dirty="0" err="1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더해짐</a:t>
                  </a:r>
                  <a:endPara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F9A49F3-F365-972B-4298-1A6B23046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271" y="5685882"/>
                  <a:ext cx="10496031" cy="307777"/>
                </a:xfrm>
                <a:prstGeom prst="rect">
                  <a:avLst/>
                </a:prstGeom>
                <a:blipFill>
                  <a:blip r:embed="rId8"/>
                  <a:stretch>
                    <a:fillRect l="-174" t="-4000" b="-20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0F91C10D-1C9F-5E76-65B2-150BAEAB4257}"/>
                </a:ext>
              </a:extLst>
            </p:cNvPr>
            <p:cNvGrpSpPr/>
            <p:nvPr/>
          </p:nvGrpSpPr>
          <p:grpSpPr>
            <a:xfrm>
              <a:off x="429606" y="2575805"/>
              <a:ext cx="5151256" cy="1972154"/>
              <a:chOff x="429606" y="2575805"/>
              <a:chExt cx="5151256" cy="1972154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5C620087-FFDA-ED60-268F-D8EE9B4414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649901" y="2675698"/>
                <a:ext cx="1919436" cy="1069053"/>
              </a:xfrm>
              <a:prstGeom prst="rect">
                <a:avLst/>
              </a:prstGeom>
            </p:spPr>
          </p:pic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0D9F089C-1010-6EAC-E24B-FB6CA5CB6D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773725" y="4066056"/>
                <a:ext cx="1807137" cy="481903"/>
              </a:xfrm>
              <a:prstGeom prst="rect">
                <a:avLst/>
              </a:prstGeom>
            </p:spPr>
          </p:pic>
          <p:grpSp>
            <p:nvGrpSpPr>
              <p:cNvPr id="32" name="그룹 31">
                <a:extLst>
                  <a:ext uri="{FF2B5EF4-FFF2-40B4-BE49-F238E27FC236}">
                    <a16:creationId xmlns:a16="http://schemas.microsoft.com/office/drawing/2014/main" id="{D3A85ED2-EB4E-7273-26B9-21A8C89BB160}"/>
                  </a:ext>
                </a:extLst>
              </p:cNvPr>
              <p:cNvGrpSpPr/>
              <p:nvPr/>
            </p:nvGrpSpPr>
            <p:grpSpPr>
              <a:xfrm>
                <a:off x="429606" y="2575805"/>
                <a:ext cx="2399319" cy="1871991"/>
                <a:chOff x="239106" y="2338059"/>
                <a:chExt cx="3380526" cy="2491956"/>
              </a:xfrm>
            </p:grpSpPr>
            <p:pic>
              <p:nvPicPr>
                <p:cNvPr id="29" name="그림 28">
                  <a:extLst>
                    <a:ext uri="{FF2B5EF4-FFF2-40B4-BE49-F238E27FC236}">
                      <a16:creationId xmlns:a16="http://schemas.microsoft.com/office/drawing/2014/main" id="{D238A721-664E-AC3F-E730-9F82A92E18B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39106" y="2357111"/>
                  <a:ext cx="1806097" cy="2453853"/>
                </a:xfrm>
                <a:prstGeom prst="rect">
                  <a:avLst/>
                </a:prstGeom>
              </p:spPr>
            </p:pic>
            <p:pic>
              <p:nvPicPr>
                <p:cNvPr id="31" name="그림 30">
                  <a:extLst>
                    <a:ext uri="{FF2B5EF4-FFF2-40B4-BE49-F238E27FC236}">
                      <a16:creationId xmlns:a16="http://schemas.microsoft.com/office/drawing/2014/main" id="{B6626E91-25E1-CBB7-CA3E-FB45F228C7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333434" y="2338059"/>
                  <a:ext cx="2286198" cy="2491956"/>
                </a:xfrm>
                <a:prstGeom prst="rect">
                  <a:avLst/>
                </a:prstGeom>
              </p:spPr>
            </p:pic>
          </p:grpSp>
        </p:grpSp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07B4F951-EE14-53D4-EE11-2085DC11799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59456" y="1725642"/>
            <a:ext cx="1300326" cy="30783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8FABE80-6768-F4F1-C6E8-CAE624245E2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2057" y="1725642"/>
            <a:ext cx="1300326" cy="30783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DDE6CD0-5945-2CC1-7913-63E16EDE1E3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09584" y="1725642"/>
            <a:ext cx="1300326" cy="307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11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2905</TotalTime>
  <Words>3095</Words>
  <Application>Microsoft Office PowerPoint</Application>
  <PresentationFormat>와이드스크린</PresentationFormat>
  <Paragraphs>387</Paragraphs>
  <Slides>52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65" baseType="lpstr">
      <vt:lpstr>D2Coding</vt:lpstr>
      <vt:lpstr>NanumGothicExtraBold</vt:lpstr>
      <vt:lpstr>맑은 고딕</vt:lpstr>
      <vt:lpstr>맑은 고딕 Semilight</vt:lpstr>
      <vt:lpstr>Batang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Use a model to predict</vt:lpstr>
      <vt:lpstr>Fit a model’s prediction to reality</vt:lpstr>
      <vt:lpstr>Fit a model’s prediction to reality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86</cp:revision>
  <dcterms:created xsi:type="dcterms:W3CDTF">2026-04-06T01:00:39Z</dcterms:created>
  <dcterms:modified xsi:type="dcterms:W3CDTF">2026-04-29T04:55:14Z</dcterms:modified>
  <cp:version/>
</cp:coreProperties>
</file>