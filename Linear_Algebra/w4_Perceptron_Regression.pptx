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1"/>
  </p:notesMasterIdLst>
  <p:handoutMasterIdLst>
    <p:handoutMasterId r:id="rId52"/>
  </p:handoutMasterIdLst>
  <p:sldIdLst>
    <p:sldId id="256" r:id="rId2"/>
    <p:sldId id="355" r:id="rId3"/>
    <p:sldId id="966" r:id="rId4"/>
    <p:sldId id="942" r:id="rId5"/>
    <p:sldId id="941" r:id="rId6"/>
    <p:sldId id="940" r:id="rId7"/>
    <p:sldId id="847" r:id="rId8"/>
    <p:sldId id="943" r:id="rId9"/>
    <p:sldId id="944" r:id="rId10"/>
    <p:sldId id="335" r:id="rId11"/>
    <p:sldId id="938" r:id="rId12"/>
    <p:sldId id="871" r:id="rId13"/>
    <p:sldId id="872" r:id="rId14"/>
    <p:sldId id="947" r:id="rId15"/>
    <p:sldId id="931" r:id="rId16"/>
    <p:sldId id="958" r:id="rId17"/>
    <p:sldId id="970" r:id="rId18"/>
    <p:sldId id="971" r:id="rId19"/>
    <p:sldId id="972" r:id="rId20"/>
    <p:sldId id="873" r:id="rId21"/>
    <p:sldId id="907" r:id="rId22"/>
    <p:sldId id="945" r:id="rId23"/>
    <p:sldId id="973" r:id="rId24"/>
    <p:sldId id="977" r:id="rId25"/>
    <p:sldId id="976" r:id="rId26"/>
    <p:sldId id="946" r:id="rId27"/>
    <p:sldId id="930" r:id="rId28"/>
    <p:sldId id="928" r:id="rId29"/>
    <p:sldId id="851" r:id="rId30"/>
    <p:sldId id="852" r:id="rId31"/>
    <p:sldId id="950" r:id="rId32"/>
    <p:sldId id="951" r:id="rId33"/>
    <p:sldId id="952" r:id="rId34"/>
    <p:sldId id="969" r:id="rId35"/>
    <p:sldId id="937" r:id="rId36"/>
    <p:sldId id="883" r:id="rId37"/>
    <p:sldId id="974" r:id="rId38"/>
    <p:sldId id="975" r:id="rId39"/>
    <p:sldId id="954" r:id="rId40"/>
    <p:sldId id="882" r:id="rId41"/>
    <p:sldId id="932" r:id="rId42"/>
    <p:sldId id="956" r:id="rId43"/>
    <p:sldId id="957" r:id="rId44"/>
    <p:sldId id="908" r:id="rId45"/>
    <p:sldId id="886" r:id="rId46"/>
    <p:sldId id="887" r:id="rId47"/>
    <p:sldId id="885" r:id="rId48"/>
    <p:sldId id="949" r:id="rId49"/>
    <p:sldId id="968" r:id="rId50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966"/>
            <p14:sldId id="942"/>
            <p14:sldId id="941"/>
            <p14:sldId id="940"/>
            <p14:sldId id="847"/>
            <p14:sldId id="943"/>
            <p14:sldId id="944"/>
            <p14:sldId id="335"/>
            <p14:sldId id="938"/>
            <p14:sldId id="871"/>
            <p14:sldId id="872"/>
            <p14:sldId id="947"/>
            <p14:sldId id="931"/>
            <p14:sldId id="958"/>
            <p14:sldId id="970"/>
            <p14:sldId id="971"/>
            <p14:sldId id="972"/>
            <p14:sldId id="873"/>
            <p14:sldId id="907"/>
            <p14:sldId id="945"/>
            <p14:sldId id="973"/>
            <p14:sldId id="977"/>
            <p14:sldId id="976"/>
            <p14:sldId id="946"/>
            <p14:sldId id="930"/>
            <p14:sldId id="928"/>
            <p14:sldId id="851"/>
            <p14:sldId id="852"/>
            <p14:sldId id="950"/>
            <p14:sldId id="951"/>
            <p14:sldId id="952"/>
            <p14:sldId id="969"/>
            <p14:sldId id="937"/>
            <p14:sldId id="883"/>
            <p14:sldId id="974"/>
            <p14:sldId id="975"/>
            <p14:sldId id="954"/>
            <p14:sldId id="882"/>
            <p14:sldId id="932"/>
            <p14:sldId id="956"/>
            <p14:sldId id="957"/>
            <p14:sldId id="908"/>
            <p14:sldId id="886"/>
            <p14:sldId id="887"/>
            <p14:sldId id="885"/>
            <p14:sldId id="949"/>
            <p14:sldId id="968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D24726"/>
    <a:srgbClr val="404040"/>
    <a:srgbClr val="FF9B45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8352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commentAuthors" Target="commentAuthor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2026-04-22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C1D81-A265-D880-C635-EAD07AEC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DBAE91-53B6-8719-6275-1630D635A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963A6B-FD6B-A459-4A79-370C8D472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637138-DD64-C927-EE43-6A948B74F0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33568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6492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2068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2026-04-22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5980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2026-04-22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  <p:sldLayoutId id="2147483666" r:id="rId5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github.com/ancestor9/mathematics-for-machine-learning/blob/main/excel/random_distribution%26linear_regression.xlsx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hyperlink" Target="https://en.wikipedia.org/wiki/Henrietta_Swan_Leavit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e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10" Type="http://schemas.openxmlformats.org/officeDocument/2006/relationships/image" Target="../media/image21.png"/><Relationship Id="rId9" Type="http://schemas.openxmlformats.org/officeDocument/2006/relationships/hyperlink" Target="https://scikit-learn.org/stable/modules/generated/sklearn.linear_model.LinearRegression.html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loss_function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gif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jpe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scikit-learn.org/stable/modules/generated/sklearn.linear_model.SGDRegressor.html#sklearn.linear_model.SGDRegressor" TargetMode="External"/><Relationship Id="rId4" Type="http://schemas.openxmlformats.org/officeDocument/2006/relationships/image" Target="../media/image20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stochastic_gradient_descent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gif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4.png"/><Relationship Id="rId4" Type="http://schemas.microsoft.com/office/2007/relationships/hdphoto" Target="../media/hdphoto2.wdp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scripts/w4_perceptron_wt_inputs.ipynb" TargetMode="External"/><Relationship Id="rId4" Type="http://schemas.openxmlformats.org/officeDocument/2006/relationships/image" Target="../media/image42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0.png"/><Relationship Id="rId5" Type="http://schemas.openxmlformats.org/officeDocument/2006/relationships/image" Target="../media/image480.png"/><Relationship Id="rId4" Type="http://schemas.openxmlformats.org/officeDocument/2006/relationships/image" Target="../media/image47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6FkRvTtUc-o?si=U153Vros53kOdnvM&amp;t=1610" TargetMode="External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youtube.com/shorts/E4VGh3CthvA" TargetMode="External"/><Relationship Id="rId4" Type="http://schemas.openxmlformats.org/officeDocument/2006/relationships/image" Target="../media/image53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0.png"/><Relationship Id="rId13" Type="http://schemas.openxmlformats.org/officeDocument/2006/relationships/image" Target="../media/image80.png"/><Relationship Id="rId18" Type="http://schemas.openxmlformats.org/officeDocument/2006/relationships/image" Target="../media/image85.png"/><Relationship Id="rId21" Type="http://schemas.openxmlformats.org/officeDocument/2006/relationships/image" Target="../media/image58.png"/><Relationship Id="rId7" Type="http://schemas.openxmlformats.org/officeDocument/2006/relationships/image" Target="../media/image740.png"/><Relationship Id="rId12" Type="http://schemas.openxmlformats.org/officeDocument/2006/relationships/image" Target="../media/image55.png"/><Relationship Id="rId2" Type="http://schemas.openxmlformats.org/officeDocument/2006/relationships/image" Target="../media/image520.png"/><Relationship Id="rId16" Type="http://schemas.openxmlformats.org/officeDocument/2006/relationships/image" Target="../media/image83.png"/><Relationship Id="rId20" Type="http://schemas.openxmlformats.org/officeDocument/2006/relationships/image" Target="../media/image8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30.png"/><Relationship Id="rId11" Type="http://schemas.openxmlformats.org/officeDocument/2006/relationships/image" Target="../media/image54.png"/><Relationship Id="rId5" Type="http://schemas.openxmlformats.org/officeDocument/2006/relationships/image" Target="../media/image530.png"/><Relationship Id="rId15" Type="http://schemas.openxmlformats.org/officeDocument/2006/relationships/image" Target="../media/image56.png"/><Relationship Id="rId10" Type="http://schemas.openxmlformats.org/officeDocument/2006/relationships/image" Target="../media/image770.png"/><Relationship Id="rId19" Type="http://schemas.openxmlformats.org/officeDocument/2006/relationships/image" Target="../media/image57.png"/><Relationship Id="rId4" Type="http://schemas.openxmlformats.org/officeDocument/2006/relationships/image" Target="../media/image710.png"/><Relationship Id="rId9" Type="http://schemas.openxmlformats.org/officeDocument/2006/relationships/image" Target="../media/image760.png"/><Relationship Id="rId14" Type="http://schemas.openxmlformats.org/officeDocument/2006/relationships/image" Target="../media/image810.png"/><Relationship Id="rId22" Type="http://schemas.openxmlformats.org/officeDocument/2006/relationships/image" Target="../media/image59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e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e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excel/XOR_perceptron_optimization_backprpagation_sgd.xlsx" TargetMode="External"/><Relationship Id="rId4" Type="http://schemas.openxmlformats.org/officeDocument/2006/relationships/hyperlink" Target="https://www.youtube.com/watch?v=t3VBY9OisCo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microsoft.com/office/2007/relationships/hdphoto" Target="../media/hdphoto3.wdp"/><Relationship Id="rId7" Type="http://schemas.microsoft.com/office/2007/relationships/hdphoto" Target="../media/hdphoto5.wdp"/><Relationship Id="rId12" Type="http://schemas.openxmlformats.org/officeDocument/2006/relationships/image" Target="../media/image7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2.png"/><Relationship Id="rId11" Type="http://schemas.microsoft.com/office/2007/relationships/hdphoto" Target="../media/hdphoto7.wdp"/><Relationship Id="rId5" Type="http://schemas.microsoft.com/office/2007/relationships/hdphoto" Target="../media/hdphoto4.wdp"/><Relationship Id="rId10" Type="http://schemas.openxmlformats.org/officeDocument/2006/relationships/image" Target="../media/image74.png"/><Relationship Id="rId4" Type="http://schemas.openxmlformats.org/officeDocument/2006/relationships/image" Target="../media/image71.png"/><Relationship Id="rId9" Type="http://schemas.microsoft.com/office/2007/relationships/hdphoto" Target="../media/hdphoto6.wdp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youtube.com/watch?v=ILsA4nyG7I0" TargetMode="External"/><Relationship Id="rId5" Type="http://schemas.openxmlformats.org/officeDocument/2006/relationships/hyperlink" Target="https://github.com/ancestor9/mathematics-for-machine-learning/blob/main/scripts/w4_pytorch_tutorial.ipynb" TargetMode="External"/><Relationship Id="rId4" Type="http://schemas.openxmlformats.org/officeDocument/2006/relationships/image" Target="../media/image76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excel/loss_functions.xlsx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Linear Regression and Perceptron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Goals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958B0C-1BB9-A28C-623E-EB95735D9931}"/>
              </a:ext>
            </a:extLst>
          </p:cNvPr>
          <p:cNvSpPr txBox="1"/>
          <p:nvPr/>
        </p:nvSpPr>
        <p:spPr>
          <a:xfrm>
            <a:off x="798297" y="1778359"/>
            <a:ext cx="10553194" cy="38821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선형회귀분석의 손실함수를 최적화하는 알고리즘을 이해하고 파이썬 코딩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 Function)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이해 및 실습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선형대수 관점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(matrix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Formation)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이해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구조와 손실함수를 최소화하는 알고리즘을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Descent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알고리즘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(Optimizer)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미분관점에서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순전파와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(Backpropagation)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파이썬 코딩하고 예측하기</a:t>
            </a:r>
          </a:p>
        </p:txBody>
      </p:sp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3225C-7A25-9FC5-D434-0EE983F9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09595DB-0ABE-1C50-ACE6-C610EEA74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Motivation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8D34A0A-64FE-C81A-281C-D43D60FAFB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6EF07BE3-EDEE-87D9-75C4-323C2D94D3B0}"/>
              </a:ext>
            </a:extLst>
          </p:cNvPr>
          <p:cNvGrpSpPr/>
          <p:nvPr/>
        </p:nvGrpSpPr>
        <p:grpSpPr>
          <a:xfrm>
            <a:off x="5249666" y="2293299"/>
            <a:ext cx="5133814" cy="4026682"/>
            <a:chOff x="5200496" y="2438880"/>
            <a:chExt cx="5133814" cy="4026682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6EDD85FC-2735-4C7D-C8A8-7F03C55E6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00496" y="2438880"/>
              <a:ext cx="5133814" cy="402668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82E32BA-37F8-9E5F-9D54-CBD93D5342E7}"/>
                </a:ext>
              </a:extLst>
            </p:cNvPr>
            <p:cNvSpPr txBox="1"/>
            <p:nvPr/>
          </p:nvSpPr>
          <p:spPr>
            <a:xfrm>
              <a:off x="5793548" y="2438880"/>
              <a:ext cx="15055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linear_regression</a:t>
              </a:r>
              <a:endPara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A77238E-52D8-FCD0-021A-A5F1D965EF31}"/>
              </a:ext>
            </a:extLst>
          </p:cNvPr>
          <p:cNvSpPr txBox="1"/>
          <p:nvPr/>
        </p:nvSpPr>
        <p:spPr>
          <a:xfrm>
            <a:off x="521207" y="1335014"/>
            <a:ext cx="1110027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기술통계분석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추정과 검정 등은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(What)’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일어났는지 보여주는 색안경이라면 회귀분석은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(Why)'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일어났는지 보여주는 렌즈로 무질서해 보이던 데이터의 속에서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인과관계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수학적 질서와 패턴을 읽어낼 수 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63C96A-E8EF-AC4B-F20D-A1545E818AD2}"/>
              </a:ext>
            </a:extLst>
          </p:cNvPr>
          <p:cNvSpPr txBox="1"/>
          <p:nvPr/>
        </p:nvSpPr>
        <p:spPr>
          <a:xfrm>
            <a:off x="3072832" y="6365693"/>
            <a:ext cx="1083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등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CDE21E-C694-BE8C-5DF1-BBB766ED26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427" y="2257425"/>
            <a:ext cx="1083899" cy="406255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6B28F39-5BCF-B7E1-F085-FC626F0FC2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5492" y="2257426"/>
            <a:ext cx="2145613" cy="410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985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6F61B-7453-135C-8AC4-CA8A5A1E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63915"/>
            <a:ext cx="6877119" cy="640080"/>
          </a:xfrm>
        </p:spPr>
        <p:txBody>
          <a:bodyPr>
            <a:normAutofit/>
          </a:bodyPr>
          <a:lstStyle/>
          <a:p>
            <a:r>
              <a:rPr lang="en-US" altLang="ko-KR" sz="2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Henrietta_Swan_Leavitt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FC96A3-0E1D-DD20-A553-6DD267BC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B46B67-D997-B58E-788E-F3DBFA1A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8437" y="1470608"/>
            <a:ext cx="4482333" cy="473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pper body and face of Henrietta Swan Leavitt">
            <a:extLst>
              <a:ext uri="{FF2B5EF4-FFF2-40B4-BE49-F238E27FC236}">
                <a16:creationId xmlns:a16="http://schemas.microsoft.com/office/drawing/2014/main" id="{10F67AC0-8BED-4C50-0DE3-A07C56383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371" y="2070100"/>
            <a:ext cx="972845" cy="129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D83FD6-0BB3-0EE6-2BBB-6AA7B0C56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80" y="1545176"/>
            <a:ext cx="6960246" cy="4528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단변량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분석의 한계: "밝기의 분포만 관찰함 (과거의 거울)"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천문학자들은 별의 밝기(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데이터를 보며 "어떤 별은 밝고 어떤 별은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어둡다"는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Shape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평균만을 논할 수 있었습니다. 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어떤 별은 12등급이고 어떤 별은 16등급인지, 그 흩어짐(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이유를 밝힐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렌즈'가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없었기 때문입니다.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회귀분석의 도입: "변동성(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당위성을 부여함 (원인의 렌즈)"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리비트는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별의 밝기가 변하는 주기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Logarithm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period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)라는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도입했습니다.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현상의 발견: 단순히 흩어져 있던 밝기 데이터들을 주기라는 축 위에 놓자, 놀랍게도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Relationship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형태가 나타났습니다.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불확실성의 지식화: "저 별은 왜 저렇게 밝지?“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의문에 대해 "주기가 길기 때문(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영향)"이라는 수학적 당위성을 부여한 것입니다.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8283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Terminology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4107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 Loss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Optimization(minimization, maximization)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8815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021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24992-35A4-8C37-8EE5-9B0C6F751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A5E7C-7EBA-7B23-6643-670075CF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9CCB927E-B895-7B15-8ECF-2288041B2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749C635-04BC-7683-40A3-979E794A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81" y="1479008"/>
            <a:ext cx="6496708" cy="465393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247E886-7E6D-5155-217E-3B9B64C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581" y="1535318"/>
            <a:ext cx="3452742" cy="111872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EBA3757-2B28-6602-82A3-FC13934DD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026" y="3044999"/>
            <a:ext cx="2684822" cy="137585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92B8496-E773-CA04-F88C-02C76CBC1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6026" y="4804866"/>
            <a:ext cx="2006450" cy="1328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4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2F8F-A4B0-3BC9-D2B1-6376199EF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1D4E63-0F02-CB99-9D75-F5889DDC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04121093-E765-61EA-FCDD-986F5741E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3F376B3-7183-B4E1-CF4D-B0685C11C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611" y="2922919"/>
            <a:ext cx="2449526" cy="4853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4AB75CA-D344-A44D-2CC6-9FDC2D5F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22" y="2922919"/>
            <a:ext cx="4686711" cy="16077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4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4A4021B1-7EBC-E445-7862-79E9D6F13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11" y="4245012"/>
            <a:ext cx="1708943" cy="79265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3024A05-BB04-429F-B20A-E553D4D62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54" y="4267669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57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27523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291326"/>
            <a:ext cx="6624926" cy="21019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808319F-6940-D88F-0A15-5533635BD384}"/>
              </a:ext>
            </a:extLst>
          </p:cNvPr>
          <p:cNvSpPr txBox="1"/>
          <p:nvPr/>
        </p:nvSpPr>
        <p:spPr>
          <a:xfrm>
            <a:off x="7538721" y="2291326"/>
            <a:ext cx="4348479" cy="21019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 + (n,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1) – (n, 1) = (n,1) -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 = 1/n * (1, n)@(n, 1)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1CFE5D-23C1-7AB0-C7C8-BC837AA8C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6"/>
            <a:ext cx="1548244" cy="102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24E9B6-4961-D2F5-200B-7BC82C4E864F}"/>
              </a:ext>
            </a:extLst>
          </p:cNvPr>
          <p:cNvSpPr txBox="1"/>
          <p:nvPr/>
        </p:nvSpPr>
        <p:spPr>
          <a:xfrm>
            <a:off x="5401684" y="3053638"/>
            <a:ext cx="5275552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왼쪽 데이터를 사용하여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의 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hlinkClick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50000"/>
              </a:lnSpc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계수를 서로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9F24BF1-3898-6B9C-89C6-2B7B1B3ABD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96208" y="2410682"/>
            <a:ext cx="2222821" cy="417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01DCA9-D8DE-A682-34B7-BD2842C0B192}"/>
              </a:ext>
            </a:extLst>
          </p:cNvPr>
          <p:cNvSpPr txBox="1"/>
          <p:nvPr/>
        </p:nvSpPr>
        <p:spPr>
          <a:xfrm>
            <a:off x="1441896" y="2787549"/>
            <a:ext cx="4349304" cy="353943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sympy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기호 변수 및 데이터 정의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w, 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sp.symbols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('w b')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[1, 2, 3, 4, 5]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[2.1, 3.9, 6.2, 8.1, 10.1]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손실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(MSE)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수식화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0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in range(n):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prediction = w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 + b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loss += (prediction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])**2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loss / n    # MSE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print(loss)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CB4E6-E15F-62DE-AE9B-422EB6956C75}"/>
              </a:ext>
            </a:extLst>
          </p:cNvPr>
          <p:cNvSpPr txBox="1"/>
          <p:nvPr/>
        </p:nvSpPr>
        <p:spPr>
          <a:xfrm>
            <a:off x="6171058" y="2787549"/>
            <a:ext cx="5062501" cy="267765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기울기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와 절편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편미분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w)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4.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미분값이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이 되는 연립 방정식 풀이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solution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sp.solve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), (w, b))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기울기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(w): {solution[w]:.4f}")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절편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(b): {solution[b]:.4f}")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DE6C56-8C04-C821-C062-22787CF3C890}"/>
              </a:ext>
            </a:extLst>
          </p:cNvPr>
          <p:cNvSpPr txBox="1"/>
          <p:nvPr/>
        </p:nvSpPr>
        <p:spPr>
          <a:xfrm>
            <a:off x="537021" y="1396721"/>
            <a:ext cx="1126807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손실함수를 정의하고 대수학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작성한 코드이다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미분방정식은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선형연립방정식으로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될 때 손실함수가 가장 적다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선형방정식의 해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(w,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b)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행렬식으로 변환하여 역행렬을 이용하여 구하고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아래 결과와 동일한지 확인하라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w4_loss_function.ipynb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코드 참고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0F436-6053-FD89-1446-89B8C57B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A4FAE3-4AC5-2FA0-0D54-956F0333E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E53A998-A58D-FA2C-6620-C333A654B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94F579-8FE9-23E0-8239-B37344AFA494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Algebra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323F81-3CF7-4939-B4DB-0F665B131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0" y="2220089"/>
            <a:ext cx="5070493" cy="4261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2B8666-8C0D-C4C5-9352-5B1143B83C12}"/>
              </a:ext>
            </a:extLst>
          </p:cNvPr>
          <p:cNvSpPr txBox="1"/>
          <p:nvPr/>
        </p:nvSpPr>
        <p:spPr>
          <a:xfrm>
            <a:off x="6241185" y="2362385"/>
            <a:ext cx="5542552" cy="1020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Equations are at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Optimal point(w, b):</a:t>
            </a:r>
          </a:p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22*w + 6*b - 44.56 = 0  =&gt;  22*w + 6*b = 44.56</a:t>
            </a:r>
          </a:p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6*w + 2*b - 12.16 = 0  =&gt;   6*w + 2*b = 12.16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8E7B21F-0BE0-9A81-484F-6CA16EC53759}"/>
              </a:ext>
            </a:extLst>
          </p:cNvPr>
          <p:cNvCxnSpPr/>
          <p:nvPr/>
        </p:nvCxnSpPr>
        <p:spPr>
          <a:xfrm>
            <a:off x="8807805" y="3512402"/>
            <a:ext cx="0" cy="838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93F1C0D-3A98-56DD-D8A9-D5BC8F75F446}"/>
              </a:ext>
            </a:extLst>
          </p:cNvPr>
          <p:cNvSpPr txBox="1"/>
          <p:nvPr/>
        </p:nvSpPr>
        <p:spPr>
          <a:xfrm>
            <a:off x="6970858" y="4449177"/>
            <a:ext cx="44452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행렬식으로 변환하여 역행렬로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94461D9-CAE0-12A2-49C0-205DB4ED695C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516084" y="4895208"/>
            <a:ext cx="2583442" cy="132361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179F787-DAC9-EA08-04DD-063F2954CAEB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055076" y="3499036"/>
            <a:ext cx="722857" cy="3385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0B0117-09C5-4529-0376-8BA59E003D54}"/>
              </a:ext>
            </a:extLst>
          </p:cNvPr>
          <p:cNvSpPr txBox="1"/>
          <p:nvPr/>
        </p:nvSpPr>
        <p:spPr>
          <a:xfrm>
            <a:off x="537021" y="1436139"/>
            <a:ext cx="11246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실제와 예측 값의 차이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그래프를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미분하고 </a:t>
            </a:r>
            <a:r>
              <a:rPr lang="en-US" altLang="ko-KR" b="0" i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시각화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코딩하라</a:t>
            </a:r>
          </a:p>
        </p:txBody>
      </p:sp>
    </p:spTree>
    <p:extLst>
      <p:ext uri="{BB962C8B-B14F-4D97-AF65-F5344CB8AC3E}">
        <p14:creationId xmlns:p14="http://schemas.microsoft.com/office/powerpoint/2010/main" val="26940320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E2B94-E098-6BEA-3052-DD8E91F85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93BC25-A2E9-D93A-4820-90A92286B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5B770CE-C0D0-41B8-616D-4A7A95E2C6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95AA7C4-A787-42EC-8403-2ADB14EE8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C6645B1-FA5F-DFFA-7F41-0AADE5D706B0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D2E8ABF2-FD97-9482-CAB5-B0141AA2DCF4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417B34-C254-4F01-49E2-FF64AD86F2F5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4EADB233-588F-C11C-5B9E-AAE593EB7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14E7CD-C67B-3A4D-7F2F-3D06D53F15BD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4D23006-5A11-5A2D-AB80-34067D6B26BE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F7763A0-5F10-90F8-CA2D-7DCBCCC4DC68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B1489412-AE07-CA87-6810-2F75A3E329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D19B963-2A8F-570B-8ADF-E216636CC975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C9588AE1-5A12-75C5-1093-D747904B6E4F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3BDFB097-4555-EF5C-B891-91D9873249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AEBA13E-E249-B6C6-C592-9AFBAA038C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2287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9B7E8-B3A7-FF21-5480-DC3A3EAB1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D2BC70-D57D-EEF5-DC69-826FD9B8C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7CE7DD-C1AA-1B94-76C5-A133AAA325A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787A7674-55ED-543D-BF8F-53D8B60B4E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E0C0C27-BF30-17B6-8611-0466BFA805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666" y="2617573"/>
            <a:ext cx="5524466" cy="36421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2AD90B98-B534-CE1E-4664-22109CC86E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3964" y="2617573"/>
            <a:ext cx="3010047" cy="204953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4BF5BD5-920A-1FD2-1CB3-E878BBAE3D97}"/>
              </a:ext>
            </a:extLst>
          </p:cNvPr>
          <p:cNvSpPr txBox="1"/>
          <p:nvPr/>
        </p:nvSpPr>
        <p:spPr>
          <a:xfrm>
            <a:off x="561974" y="1248422"/>
            <a:ext cx="11334751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 값은 어느 방향으로 갈지 알려주고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 rate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얼마나 갈지 조절하여 주며 오차가 줄어드는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반대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빼기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이동하는 것을 데이터 샘플마다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반복하면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점점 최적 값에 수렴</a:t>
            </a:r>
          </a:p>
        </p:txBody>
      </p:sp>
    </p:spTree>
    <p:extLst>
      <p:ext uri="{BB962C8B-B14F-4D97-AF65-F5344CB8AC3E}">
        <p14:creationId xmlns:p14="http://schemas.microsoft.com/office/powerpoint/2010/main" val="24445264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72C89-E962-AFB4-EA83-6DF916F76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DB6C60-BD48-B0C2-F448-471EBA07E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EE271DA-4B51-B1C5-29C9-886DF6D382D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2C16006-D0A7-2B57-EF1A-9498ABB73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3B124D7-D9A2-F644-7F5F-D2078513C01A}"/>
              </a:ext>
            </a:extLst>
          </p:cNvPr>
          <p:cNvSpPr txBox="1"/>
          <p:nvPr/>
        </p:nvSpPr>
        <p:spPr>
          <a:xfrm>
            <a:off x="561974" y="1296047"/>
            <a:ext cx="1133475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Python symbolic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손실함수를 각각 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엑셀파일의 수식과 동일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EDF9674-2C88-B5B8-7E8A-FA04E8A85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1575" y="3094888"/>
            <a:ext cx="2651990" cy="13869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01E274-6BFD-1DC2-F4E3-5867BCBF5E20}"/>
              </a:ext>
            </a:extLst>
          </p:cNvPr>
          <p:cNvSpPr txBox="1"/>
          <p:nvPr/>
        </p:nvSpPr>
        <p:spPr>
          <a:xfrm>
            <a:off x="609599" y="2469153"/>
            <a:ext cx="4857751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및 함수 선언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a, b, x, y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sympy.symbols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('a b x y')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sympy.Rational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2) * (a + b * x - y)**2</a:t>
            </a: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a) # a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b)   # b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b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 출력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5E17BA-79CF-6D1E-A6E3-4AA41F8938BE}"/>
              </a:ext>
            </a:extLst>
          </p:cNvPr>
          <p:cNvSpPr txBox="1"/>
          <p:nvPr/>
        </p:nvSpPr>
        <p:spPr>
          <a:xfrm>
            <a:off x="5810250" y="3249759"/>
            <a:ext cx="370522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dL/d_a: a + b*x - y </a:t>
            </a:r>
          </a:p>
          <a:p>
            <a:endParaRPr lang="es-E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s-E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dL/d_b : x*(a + b*x - y)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19540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AEF11-8960-B741-D219-34134ABF4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081624-0B5E-032F-57DB-E48F72C49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48BA5B7-F337-8B20-CC04-0E4970B6F67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26F9A3B-641F-DF2F-6907-43E9154F84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2C93838-713E-D289-D28C-0200B8A3E254}"/>
              </a:ext>
            </a:extLst>
          </p:cNvPr>
          <p:cNvSpPr txBox="1"/>
          <p:nvPr/>
        </p:nvSpPr>
        <p:spPr>
          <a:xfrm>
            <a:off x="561974" y="1296047"/>
            <a:ext cx="1133475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손실함수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(backward)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a, b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각각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requires_grad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=True)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확인하면 엑셀파일의 수식과 동일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73085C-E6B3-8F2F-B32F-F52368BC6C51}"/>
              </a:ext>
            </a:extLst>
          </p:cNvPr>
          <p:cNvSpPr txBox="1"/>
          <p:nvPr/>
        </p:nvSpPr>
        <p:spPr>
          <a:xfrm>
            <a:off x="600074" y="2056715"/>
            <a:ext cx="6010276" cy="4031873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torch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정의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미분 대상이므로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(1.0,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(2.0,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정의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(3.0); y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(5.0)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손실 함수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(Forward Pass)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L = 1/2 *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y)^2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형태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a + b * x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 = 0.5 *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y)**2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수행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(Backward Pass)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L.backward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F0E3C1-A570-9D30-A000-FD3AEAC6C9CF}"/>
              </a:ext>
            </a:extLst>
          </p:cNvPr>
          <p:cNvSpPr txBox="1"/>
          <p:nvPr/>
        </p:nvSpPr>
        <p:spPr>
          <a:xfrm>
            <a:off x="6976501" y="3534042"/>
            <a:ext cx="424561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dL/d_a: a + b*x - y = 1 + 2*3.0 - 5 = 2</a:t>
            </a:r>
          </a:p>
          <a:p>
            <a:endParaRPr lang="es-E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s-E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dL/d_b : x*(a + b*x - y) = 3.0(2) = 6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04CCAD-54A7-5363-B0CC-3BA7C27D75E2}"/>
              </a:ext>
            </a:extLst>
          </p:cNvPr>
          <p:cNvSpPr txBox="1"/>
          <p:nvPr/>
        </p:nvSpPr>
        <p:spPr>
          <a:xfrm>
            <a:off x="6976501" y="2043664"/>
            <a:ext cx="4510649" cy="107721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5.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확인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손실 함수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L.item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()}")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/da (a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기울기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기울기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2571733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1026160" y="1276221"/>
            <a:ext cx="10353762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0527367-2BF7-B9CF-4C78-B2540D8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B2DC23-4C8B-435B-8A73-504DE1E932CB}"/>
              </a:ext>
            </a:extLst>
          </p:cNvPr>
          <p:cNvSpPr txBox="1"/>
          <p:nvPr/>
        </p:nvSpPr>
        <p:spPr>
          <a:xfrm>
            <a:off x="665019" y="1843928"/>
            <a:ext cx="6685294" cy="459600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pandas as pd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matplotlib.pyplot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sklearn.datasets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noise=50,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alpha, beta, data = 0, 0, []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_ in range(50):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for row in range(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alpha + beta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- y[row]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alpha -= 0.01 * error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beta  -= 0.01 * error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data.append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([alpha, beta,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y[row], error])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pd.DataFrame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(data, columns=['alpha', 'beta',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'y', 'error'])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data.iloc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[-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(X):].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reset_index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(drop=True)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마지막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final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[['y',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'error']]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56586A-5C67-F31B-6E9E-7B51AC9B2FBB}"/>
              </a:ext>
            </a:extLst>
          </p:cNvPr>
          <p:cNvSpPr txBox="1"/>
          <p:nvPr/>
        </p:nvSpPr>
        <p:spPr>
          <a:xfrm>
            <a:off x="7356924" y="1843928"/>
            <a:ext cx="4170057" cy="1733808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plt.figure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figsize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=(8, 5))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y, s=30, label='Actual')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final['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'], s=30, color='orange', label='Predicted')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plt.xlabel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("x");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plt.ylabel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("y")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plt.legend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plt.title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("Gradient Descent: Actual vs Predicted")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plt.show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3D4D55-7EC0-4818-8686-AE606713B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6924" y="3622641"/>
            <a:ext cx="3732731" cy="2481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10E062-9ECA-E8ED-6E94-831863833743}"/>
              </a:ext>
            </a:extLst>
          </p:cNvPr>
          <p:cNvSpPr txBox="1"/>
          <p:nvPr/>
        </p:nvSpPr>
        <p:spPr>
          <a:xfrm>
            <a:off x="638088" y="1267958"/>
            <a:ext cx="112491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알고리즘을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개발하고 몇 번의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확인하라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D12BA-E7E9-4AD8-34D9-71875CEC4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01046-B443-129D-1749-9AAE7647B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46AE84-6CEB-CDA0-F1B8-7632CD8F1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642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328910-7602-C31B-29DF-E7E34E5E6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45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D715F2C9-E57D-90B9-8182-2EE006944564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scikit-learn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5ABFCE8-C42A-DE33-7DBF-0CBFE36A7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7CB008-32E0-CED4-4B8E-FFC4F76FE152}"/>
              </a:ext>
            </a:extLst>
          </p:cNvPr>
          <p:cNvSpPr txBox="1"/>
          <p:nvPr/>
        </p:nvSpPr>
        <p:spPr>
          <a:xfrm>
            <a:off x="537021" y="1457088"/>
            <a:ext cx="5702340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SGDRegressor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알고리즘으로 아래 데이터의 단순회귀식을 구하라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21A7CB-429F-7722-5BD7-E4F04E6F4138}"/>
              </a:ext>
            </a:extLst>
          </p:cNvPr>
          <p:cNvSpPr txBox="1"/>
          <p:nvPr/>
        </p:nvSpPr>
        <p:spPr>
          <a:xfrm>
            <a:off x="858057" y="2721688"/>
            <a:ext cx="5237943" cy="132343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69606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71F35-8C4C-4F00-48DE-2BB610110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ED8FB9-E995-C351-50A4-21CB273CB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A792CE88-920B-B9FD-AFAF-2A44541C1D43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accent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Forward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1AEA3D4-B2E7-81BF-4EC0-71283B160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1E0A323-CDF3-5091-9096-CEF8B5996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96" y="3073075"/>
            <a:ext cx="4492179" cy="237472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590370B-53E0-61CC-7F18-218A76E249D3}"/>
              </a:ext>
            </a:extLst>
          </p:cNvPr>
          <p:cNvSpPr txBox="1"/>
          <p:nvPr/>
        </p:nvSpPr>
        <p:spPr>
          <a:xfrm>
            <a:off x="537021" y="1245750"/>
            <a:ext cx="10902504" cy="17007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Pass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수학적 연산이 수행되는 순방향 과정을 나타내며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연산의 구성은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숫자 2가 '더하기(+)' 노드로 들어가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결과값(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)은 이 노드를 거쳐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+ 2라는 결과가 도출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PyTorch에서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+ 2라고 쓰는 순간, 내부적으로는 이런 연산그래프 노드가 생성되며 이때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y는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단순한 숫자 값이 아니라, 어떤 연산을 통해 만들어졌는지에 대한 정보를 함께 가지게 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34B6B8-49C6-CCD9-83EC-AFA53128D93F}"/>
              </a:ext>
            </a:extLst>
          </p:cNvPr>
          <p:cNvSpPr txBox="1"/>
          <p:nvPr/>
        </p:nvSpPr>
        <p:spPr>
          <a:xfrm>
            <a:off x="5534025" y="3073075"/>
            <a:ext cx="6096000" cy="286232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(기울기를 계산하도록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(1.0,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순전파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초록색 화살표 과정</a:t>
            </a: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 연산 수행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결과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y.item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()}")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이미지의 '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AddBackward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' 확인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f"연산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식별자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}") </a:t>
            </a:r>
          </a:p>
        </p:txBody>
      </p:sp>
    </p:spTree>
    <p:extLst>
      <p:ext uri="{BB962C8B-B14F-4D97-AF65-F5344CB8AC3E}">
        <p14:creationId xmlns:p14="http://schemas.microsoft.com/office/powerpoint/2010/main" val="42003687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EC2DF-39AA-EAFD-BC6B-0B41748EC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92FEE9-46F5-EA57-68C2-427AFE42E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01F5082A-5927-C6E1-DA4F-5F71251E9A7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4D307B3-1256-BA92-853B-52BFE54F9A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01D5DF3-B10F-E653-EEF7-4FEF83290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545" y="3175319"/>
            <a:ext cx="4737003" cy="30635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5F44A6-312B-CF7E-D95F-868985B25DBA}"/>
              </a:ext>
            </a:extLst>
          </p:cNvPr>
          <p:cNvSpPr txBox="1"/>
          <p:nvPr/>
        </p:nvSpPr>
        <p:spPr>
          <a:xfrm>
            <a:off x="537021" y="1287643"/>
            <a:ext cx="11410028" cy="1611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 Pass(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 계수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계산하는 역방향 연산 결과로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grad_fn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속성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즉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연산으로 만들어졌기 때문에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AddBackward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미분용 함수가 자동으로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태깅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나중에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역전파할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때 이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규칙에 맞춰 미분해라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메모지로 학습 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y.backward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호출하면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화살표가 반대 방향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빨간색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흐르면서 미분을 하여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결과값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미치는 영향력을 계산하여 뒤로 전달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9DFD6F-F034-68FF-258C-3F04261064E7}"/>
              </a:ext>
            </a:extLst>
          </p:cNvPr>
          <p:cNvSpPr txBox="1"/>
          <p:nvPr/>
        </p:nvSpPr>
        <p:spPr>
          <a:xfrm>
            <a:off x="5713902" y="3175319"/>
            <a:ext cx="6096000" cy="181588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빨간색 화살표 과정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미분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계산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4. 결과 확인 (기울기)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+ 2 이므로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1이 생성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f"x의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기울기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</p:spTree>
    <p:extLst>
      <p:ext uri="{BB962C8B-B14F-4D97-AF65-F5344CB8AC3E}">
        <p14:creationId xmlns:p14="http://schemas.microsoft.com/office/powerpoint/2010/main" val="23959493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12D0A-5D07-F026-511C-2A5BFC23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750F38-937E-F755-580F-AE17EBFCC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3C91F776-8B9B-98BC-8E11-9635E9A04D0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D69CF31-4A39-9AB8-FCC2-916BEE125D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DD5DA5-375F-BBD5-5460-D40A69A58F64}"/>
              </a:ext>
            </a:extLst>
          </p:cNvPr>
          <p:cNvSpPr txBox="1"/>
          <p:nvPr/>
        </p:nvSpPr>
        <p:spPr>
          <a:xfrm>
            <a:off x="638982" y="1346628"/>
            <a:ext cx="10628574" cy="456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PyTorch의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기능을 통해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b를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학습(최적화)하는 전체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E9CB94-5A27-0BFD-6BB8-559463C11FAD}"/>
              </a:ext>
            </a:extLst>
          </p:cNvPr>
          <p:cNvSpPr txBox="1"/>
          <p:nvPr/>
        </p:nvSpPr>
        <p:spPr>
          <a:xfrm>
            <a:off x="715326" y="1926290"/>
            <a:ext cx="4656774" cy="28931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Tensor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형태이므로 그대로 사용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이므로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(y).view(-1, 1)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a, b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정의 및 초기화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미분 가능하도록 설정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epochs = 1000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B556DF-C93B-5239-CCDC-23DA6FDC6BBE}"/>
              </a:ext>
            </a:extLst>
          </p:cNvPr>
          <p:cNvSpPr txBox="1"/>
          <p:nvPr/>
        </p:nvSpPr>
        <p:spPr>
          <a:xfrm>
            <a:off x="5538683" y="1926290"/>
            <a:ext cx="5352099" cy="449353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5.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루프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epoch in range(epochs):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(Forward Pass)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a + b * X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손실 함수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(MSE)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 y)**2)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(Backward Pass): dL/da, dL/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자동 계산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및 기울기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a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b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업데이트 후에는 반드시 기울기를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print("-" * 30)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실제 계수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coef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{coef:.4f}")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b 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b.item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():.4f}")</a:t>
            </a:r>
          </a:p>
        </p:txBody>
      </p:sp>
    </p:spTree>
    <p:extLst>
      <p:ext uri="{BB962C8B-B14F-4D97-AF65-F5344CB8AC3E}">
        <p14:creationId xmlns:p14="http://schemas.microsoft.com/office/powerpoint/2010/main" val="13493836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CC0AD-3AB3-5407-547E-AEDB97A5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EACAD-2DA9-7882-C5FE-170D5745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CE437DBA-F9C0-72D0-8FCB-9F1F8774153F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tensorflow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5CD999-B5E5-C01B-A34F-FE4AC704C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F72B0-F5E5-AE3C-97C3-695C729CF417}"/>
              </a:ext>
            </a:extLst>
          </p:cNvPr>
          <p:cNvSpPr txBox="1"/>
          <p:nvPr/>
        </p:nvSpPr>
        <p:spPr>
          <a:xfrm>
            <a:off x="924444" y="2313008"/>
            <a:ext cx="27013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stochastic_gradient_descent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Fitting a line batch by batch. The loss decreases and the weights approach their true values.">
            <a:extLst>
              <a:ext uri="{FF2B5EF4-FFF2-40B4-BE49-F238E27FC236}">
                <a16:creationId xmlns:a16="http://schemas.microsoft.com/office/drawing/2014/main" id="{FFD30AC7-690D-B68B-FBDA-E352845E2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444" y="2651562"/>
            <a:ext cx="9999532" cy="37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8F6135-E0C8-4ED3-386F-31501C547AA0}"/>
              </a:ext>
            </a:extLst>
          </p:cNvPr>
          <p:cNvSpPr txBox="1"/>
          <p:nvPr/>
        </p:nvSpPr>
        <p:spPr>
          <a:xfrm>
            <a:off x="537021" y="1457088"/>
            <a:ext cx="1132247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Fitted Line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여러 직선식은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fitting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되는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 line)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97323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27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9DF67-D844-9263-578F-AEA0DDF40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751DE29D-F9D5-F4CB-637D-335343EE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28</a:t>
            </a:fld>
            <a:endParaRPr lang="en-US" sz="2000" dirty="0"/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7153B1E-FE77-9A3F-9534-09E1085ED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1881" y="3373320"/>
            <a:ext cx="4017820" cy="1773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E35F42B8-7ECF-02CE-A7E8-685DE5B269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2674" y="2853688"/>
            <a:ext cx="4788337" cy="2605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B5E3B9F4-5DC7-A211-5F12-52F46993E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     Perceptron and Regression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4F7D34D-9AD5-1372-7BFB-314080CC09D0}"/>
              </a:ext>
            </a:extLst>
          </p:cNvPr>
          <p:cNvSpPr txBox="1"/>
          <p:nvPr/>
        </p:nvSpPr>
        <p:spPr>
          <a:xfrm>
            <a:off x="934185" y="1360938"/>
            <a:ext cx="10842179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선형회귀식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구조가 동일하며 입력변수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가중치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내적이 노드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구성됨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4854B1A-872C-C293-E90F-F0D8618C7E0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965166" y="2853688"/>
            <a:ext cx="2295845" cy="457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0344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7DCEA7-54A6-B15D-05C9-062775667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AC721B09-7985-FB30-C02C-CDB0F3FFC5C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F45D2DDE-ED31-970A-8F32-829DACE28F6E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2349E664-7C0D-0A6F-DA46-783EB35CA6F4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82A04B-D395-1DFA-D4A5-FA95694198F3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662C1E02-B87A-DEDD-3BC5-2C00C5141498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A6BDC3D-A4CC-D6F5-EB1A-C74E4C7B2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8058C60F-E1F1-BF72-C7F4-F9EF89B928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032DFD-B8AA-1AB7-E55F-89A8F8BD220A}"/>
                </a:ext>
              </a:extLst>
            </p:cNvPr>
            <p:cNvSpPr txBox="1"/>
            <p:nvPr/>
          </p:nvSpPr>
          <p:spPr>
            <a:xfrm>
              <a:off x="9149744" y="2510221"/>
              <a:ext cx="26671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A2954695-EC8A-4B49-2BC8-B84F0379CE77}"/>
              </a:ext>
            </a:extLst>
          </p:cNvPr>
          <p:cNvGrpSpPr/>
          <p:nvPr/>
        </p:nvGrpSpPr>
        <p:grpSpPr>
          <a:xfrm>
            <a:off x="7850179" y="2624259"/>
            <a:ext cx="4172517" cy="2805848"/>
            <a:chOff x="7850179" y="2624259"/>
            <a:chExt cx="4172517" cy="28058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B00755-4DB1-2290-0D18-9768794AE216}"/>
                </a:ext>
              </a:extLst>
            </p:cNvPr>
            <p:cNvSpPr txBox="1"/>
            <p:nvPr/>
          </p:nvSpPr>
          <p:spPr>
            <a:xfrm>
              <a:off x="8533199" y="5091553"/>
              <a:ext cx="288727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600" dirty="0">
                  <a:latin typeface="+mj-ea"/>
                </a:rPr>
                <a:t>(n, 1) = (n, 3) @ (3, 1) + (n,1)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0AF9DB-ABDC-0C64-5932-6FEDD3D030B8}"/>
                </a:ext>
              </a:extLst>
            </p:cNvPr>
            <p:cNvSpPr txBox="1"/>
            <p:nvPr/>
          </p:nvSpPr>
          <p:spPr>
            <a:xfrm>
              <a:off x="8790862" y="2624259"/>
              <a:ext cx="247669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45D8B4D-97A1-8C20-11EB-B9303DFAC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50179" y="3573619"/>
              <a:ext cx="4172517" cy="155513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879EF01-D57D-603E-DF74-20AFD0602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23045" y="3170262"/>
              <a:ext cx="3021634" cy="4033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E5F2B-A0E8-5691-0C31-91B05C8B9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6636E5-4C50-0638-168D-F51CAD82C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CD4D984-BA5C-10A8-E208-999D59E8D9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6CF074D-DE81-2FE8-4699-C32C81527B4F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 single input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508B00F-9004-4C1C-7B1B-E6A061EFDB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7304" y="2378661"/>
            <a:ext cx="8020050" cy="3743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64BB76A8-1CD9-970D-5800-B6F3B7AE2E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948" y="1394922"/>
            <a:ext cx="3204809" cy="1414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6DB12A1-1704-4985-D001-A0E8D245D4AF}"/>
              </a:ext>
            </a:extLst>
          </p:cNvPr>
          <p:cNvSpPr txBox="1"/>
          <p:nvPr/>
        </p:nvSpPr>
        <p:spPr>
          <a:xfrm>
            <a:off x="2817304" y="6121986"/>
            <a:ext cx="26645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w4_perceptron_wt_inputs.ipynb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878271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32A8E-E835-6F6B-FB33-FCC19ECC8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E7937A-51BB-501F-7C44-044D1E449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C77CC3D-C738-44A9-9F6F-D672879DA2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31563BFB-BB0E-5F6D-AB9A-924A993D1CFC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 multiple inputs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93939A-C52E-9A37-E25C-FBB424EB2415}"/>
              </a:ext>
            </a:extLst>
          </p:cNvPr>
          <p:cNvSpPr txBox="1"/>
          <p:nvPr/>
        </p:nvSpPr>
        <p:spPr>
          <a:xfrm>
            <a:off x="480710" y="1275218"/>
            <a:ext cx="11230580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주어진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make_regression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 바탕으로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별도의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모델 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사용하지 않고 </a:t>
            </a:r>
            <a:r>
              <a:rPr lang="en-US" altLang="ko-KR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만을 활용하여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선형 회귀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퍼셉트론을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구현하여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w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최적화 조건은 지난 문제와 동일함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04D4FC-ED57-9527-0834-D63D07F53D77}"/>
              </a:ext>
            </a:extLst>
          </p:cNvPr>
          <p:cNvSpPr txBox="1"/>
          <p:nvPr/>
        </p:nvSpPr>
        <p:spPr>
          <a:xfrm>
            <a:off x="553257" y="3462642"/>
            <a:ext cx="5237943" cy="147732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=3,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54752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2195A-C101-932F-8610-4893C4DC8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995564-BD97-21C6-6B42-7669417E5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1D6D987-08B3-50BA-EA35-05B698C9B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2CB4D1B1-1809-5299-176B-D944B350D241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 multiple inputs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5C684B8-5B90-B3D1-01DC-60A8F11F888D}"/>
              </a:ext>
            </a:extLst>
          </p:cNvPr>
          <p:cNvSpPr/>
          <p:nvPr/>
        </p:nvSpPr>
        <p:spPr>
          <a:xfrm>
            <a:off x="9736637" y="2852488"/>
            <a:ext cx="800188" cy="9575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401503E9-78A3-7959-54FA-D30440C958FA}"/>
              </a:ext>
            </a:extLst>
          </p:cNvPr>
          <p:cNvSpPr/>
          <p:nvPr/>
        </p:nvSpPr>
        <p:spPr>
          <a:xfrm>
            <a:off x="6724650" y="3291892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55E13F4-6625-2BB4-2662-0A9CF3F24314}"/>
              </a:ext>
            </a:extLst>
          </p:cNvPr>
          <p:cNvSpPr/>
          <p:nvPr/>
        </p:nvSpPr>
        <p:spPr>
          <a:xfrm>
            <a:off x="6724650" y="4064491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F9928928-E5CC-DE86-013A-659A957A3EA7}"/>
              </a:ext>
            </a:extLst>
          </p:cNvPr>
          <p:cNvSpPr/>
          <p:nvPr/>
        </p:nvSpPr>
        <p:spPr>
          <a:xfrm>
            <a:off x="9928783" y="4067979"/>
            <a:ext cx="359611" cy="359611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7275A532-72B6-2029-79E5-D2E8FF7025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2027116"/>
              </p:ext>
            </p:extLst>
          </p:nvPr>
        </p:nvGraphicFramePr>
        <p:xfrm>
          <a:off x="9927447" y="5389203"/>
          <a:ext cx="418568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4054313C-0D5F-7F09-8047-CF7F7A791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1539990"/>
              </p:ext>
            </p:extLst>
          </p:nvPr>
        </p:nvGraphicFramePr>
        <p:xfrm>
          <a:off x="7878670" y="4086782"/>
          <a:ext cx="12557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BAF13D76-54DA-560E-A244-0533C954BB60}"/>
              </a:ext>
            </a:extLst>
          </p:cNvPr>
          <p:cNvSpPr txBox="1"/>
          <p:nvPr/>
        </p:nvSpPr>
        <p:spPr>
          <a:xfrm>
            <a:off x="6429272" y="580543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C7B811E-54E0-7F41-CFF2-65898EC5DCA0}"/>
              </a:ext>
            </a:extLst>
          </p:cNvPr>
          <p:cNvSpPr txBox="1"/>
          <p:nvPr/>
        </p:nvSpPr>
        <p:spPr>
          <a:xfrm>
            <a:off x="8054292" y="453493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26EEF5-2CC8-A4A8-7F98-07954DC578DF}"/>
              </a:ext>
            </a:extLst>
          </p:cNvPr>
          <p:cNvSpPr txBox="1"/>
          <p:nvPr/>
        </p:nvSpPr>
        <p:spPr>
          <a:xfrm>
            <a:off x="9672399" y="580543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1)</a:t>
            </a:r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5259551B-C26A-20B9-7F5F-D4FACE392838}"/>
              </a:ext>
            </a:extLst>
          </p:cNvPr>
          <p:cNvSpPr/>
          <p:nvPr/>
        </p:nvSpPr>
        <p:spPr>
          <a:xfrm>
            <a:off x="6533544" y="2852488"/>
            <a:ext cx="4043315" cy="2424363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003C2E5A-63A7-07DC-2569-69F6C578952C}"/>
              </a:ext>
            </a:extLst>
          </p:cNvPr>
          <p:cNvCxnSpPr/>
          <p:nvPr/>
        </p:nvCxnSpPr>
        <p:spPr>
          <a:xfrm>
            <a:off x="7333732" y="42481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CCBC0F6-F9D2-58E0-A33E-924C267BB976}"/>
              </a:ext>
            </a:extLst>
          </p:cNvPr>
          <p:cNvCxnSpPr/>
          <p:nvPr/>
        </p:nvCxnSpPr>
        <p:spPr>
          <a:xfrm>
            <a:off x="9314626" y="42481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타원 47">
            <a:extLst>
              <a:ext uri="{FF2B5EF4-FFF2-40B4-BE49-F238E27FC236}">
                <a16:creationId xmlns:a16="http://schemas.microsoft.com/office/drawing/2014/main" id="{7A0CF3FF-E8CE-E2DB-592B-1F203F3B37EB}"/>
              </a:ext>
            </a:extLst>
          </p:cNvPr>
          <p:cNvSpPr/>
          <p:nvPr/>
        </p:nvSpPr>
        <p:spPr>
          <a:xfrm>
            <a:off x="6724649" y="4837091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9" name="Picture 2">
            <a:extLst>
              <a:ext uri="{FF2B5EF4-FFF2-40B4-BE49-F238E27FC236}">
                <a16:creationId xmlns:a16="http://schemas.microsoft.com/office/drawing/2014/main" id="{547229B9-69F1-C4C7-90C2-33E6518175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986" y="2874390"/>
            <a:ext cx="3730122" cy="2029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0A0352CD-D8FB-5996-8B97-248F753AB853}"/>
              </a:ext>
            </a:extLst>
          </p:cNvPr>
          <p:cNvSpPr txBox="1"/>
          <p:nvPr/>
        </p:nvSpPr>
        <p:spPr>
          <a:xfrm>
            <a:off x="552853" y="1169712"/>
            <a:ext cx="11086293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입력값이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여러 개가 되어도 오차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기반으로 가중치를 수정한다는 본질적인 원리는 변하지 않으며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단지 이를 수학적으로 처리하기 위해 벡터 연산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(Vectorization)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도입될 뿐이다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점을 이해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경우는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np.dot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함수의 사용법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브로드캐스팅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(Broadcasting)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개념을 이해하고 있는지 확인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5AA702-E091-89BA-BC12-1570CF7BC6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8063012"/>
              </p:ext>
            </p:extLst>
          </p:nvPr>
        </p:nvGraphicFramePr>
        <p:xfrm>
          <a:off x="6533544" y="5389203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20A0735-AEE3-886D-DA14-6E47F6196B7C}"/>
                  </a:ext>
                </a:extLst>
              </p:cNvPr>
              <p:cNvSpPr txBox="1"/>
              <p:nvPr/>
            </p:nvSpPr>
            <p:spPr>
              <a:xfrm>
                <a:off x="6690964" y="2858322"/>
                <a:ext cx="39921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20A0735-AEE3-886D-DA14-6E47F6196B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0964" y="2858322"/>
                <a:ext cx="399212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9C3FF16-9362-36FF-9D84-F885DA3293FF}"/>
                  </a:ext>
                </a:extLst>
              </p:cNvPr>
              <p:cNvSpPr txBox="1"/>
              <p:nvPr/>
            </p:nvSpPr>
            <p:spPr>
              <a:xfrm>
                <a:off x="8289981" y="2858322"/>
                <a:ext cx="44678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9C3FF16-9362-36FF-9D84-F885DA3293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9981" y="2858322"/>
                <a:ext cx="446789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E2D4F01-4FCC-6991-D0D5-A9DE9B94D7D8}"/>
                  </a:ext>
                </a:extLst>
              </p:cNvPr>
              <p:cNvSpPr txBox="1"/>
              <p:nvPr/>
            </p:nvSpPr>
            <p:spPr>
              <a:xfrm>
                <a:off x="9950583" y="2858322"/>
                <a:ext cx="40382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E2D4F01-4FCC-6991-D0D5-A9DE9B94D7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0583" y="2858322"/>
                <a:ext cx="403828" cy="400110"/>
              </a:xfrm>
              <a:prstGeom prst="rect">
                <a:avLst/>
              </a:prstGeom>
              <a:blipFill>
                <a:blip r:embed="rId6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9157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30" grpId="0"/>
      <p:bldP spid="31" grpId="0"/>
      <p:bldP spid="32" grpId="0"/>
      <p:bldP spid="4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27C81-30CB-EDE9-6212-0D942057C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607E33-0636-3735-D4F5-750A6D09C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BD5731-632F-3F50-6F85-82B8C5057E0B}"/>
              </a:ext>
            </a:extLst>
          </p:cNvPr>
          <p:cNvSpPr txBox="1">
            <a:spLocks/>
          </p:cNvSpPr>
          <p:nvPr/>
        </p:nvSpPr>
        <p:spPr>
          <a:xfrm>
            <a:off x="424266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Matrix inner product computation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 a Neural net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D13FEBC-94D7-DD9B-28BB-433C56FB7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4" y="2121512"/>
            <a:ext cx="9329333" cy="373649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6582C1-F7CE-8FEA-E957-3A95C7929EFD}"/>
              </a:ext>
            </a:extLst>
          </p:cNvPr>
          <p:cNvSpPr txBox="1"/>
          <p:nvPr/>
        </p:nvSpPr>
        <p:spPr>
          <a:xfrm>
            <a:off x="6369851" y="2102077"/>
            <a:ext cx="39132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Lecture 01. Introduction to Deep Learning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C90E37-2EBD-CE68-3397-3E76743F473A}"/>
              </a:ext>
            </a:extLst>
          </p:cNvPr>
          <p:cNvSpPr txBox="1"/>
          <p:nvPr/>
        </p:nvSpPr>
        <p:spPr>
          <a:xfrm>
            <a:off x="1533998" y="578130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F4D08A-479C-7D67-9E15-39421C53D104}"/>
              </a:ext>
            </a:extLst>
          </p:cNvPr>
          <p:cNvSpPr txBox="1"/>
          <p:nvPr/>
        </p:nvSpPr>
        <p:spPr>
          <a:xfrm>
            <a:off x="4013960" y="578130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22C84D-83A8-13A8-D900-5E6EFBAF94A6}"/>
              </a:ext>
            </a:extLst>
          </p:cNvPr>
          <p:cNvSpPr txBox="1"/>
          <p:nvPr/>
        </p:nvSpPr>
        <p:spPr>
          <a:xfrm>
            <a:off x="2399149" y="5781305"/>
            <a:ext cx="12174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736D2F-7D17-30B0-E491-1CF12BD60250}"/>
              </a:ext>
            </a:extLst>
          </p:cNvPr>
          <p:cNvSpPr txBox="1"/>
          <p:nvPr/>
        </p:nvSpPr>
        <p:spPr>
          <a:xfrm>
            <a:off x="1533998" y="5394996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AC73F7-315B-C259-3295-AD3A2092910C}"/>
              </a:ext>
            </a:extLst>
          </p:cNvPr>
          <p:cNvSpPr txBox="1"/>
          <p:nvPr/>
        </p:nvSpPr>
        <p:spPr>
          <a:xfrm>
            <a:off x="4013960" y="5394996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(1, 8)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6B441A-C44F-5EC4-74B9-3BDB0FE77125}"/>
              </a:ext>
            </a:extLst>
          </p:cNvPr>
          <p:cNvSpPr txBox="1"/>
          <p:nvPr/>
        </p:nvSpPr>
        <p:spPr>
          <a:xfrm>
            <a:off x="2426858" y="5394996"/>
            <a:ext cx="1189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F96A2044-660E-10D6-EE0C-10183DDC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599" y="4350737"/>
            <a:ext cx="4156025" cy="15267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929EF98-EFA3-BF16-0472-A422519E267E}"/>
              </a:ext>
            </a:extLst>
          </p:cNvPr>
          <p:cNvSpPr txBox="1"/>
          <p:nvPr/>
        </p:nvSpPr>
        <p:spPr>
          <a:xfrm>
            <a:off x="488921" y="1390135"/>
            <a:ext cx="105023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딥러닝 프레임워크</a:t>
            </a:r>
            <a:r>
              <a:rPr lang="en-US" altLang="ko-KR" dirty="0"/>
              <a:t>(</a:t>
            </a:r>
            <a:r>
              <a:rPr lang="en-US" altLang="ko-KR" dirty="0" err="1"/>
              <a:t>PyTorch</a:t>
            </a:r>
            <a:r>
              <a:rPr lang="en-US" altLang="ko-KR" dirty="0"/>
              <a:t>, TensorFlow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에서 병렬 계산</a:t>
            </a:r>
            <a:r>
              <a:rPr lang="en-US" altLang="ko-KR" dirty="0"/>
              <a:t>(</a:t>
            </a:r>
            <a:r>
              <a:rPr lang="en-US" altLang="ko-KR" dirty="0">
                <a:hlinkClick r:id="rId5"/>
              </a:rPr>
              <a:t>GPU</a:t>
            </a:r>
            <a:r>
              <a:rPr lang="en-US" altLang="ko-KR" dirty="0"/>
              <a:t>)</a:t>
            </a:r>
            <a:r>
              <a:rPr lang="ko-KR" altLang="en-US" dirty="0"/>
              <a:t>을 수행</a:t>
            </a:r>
          </a:p>
        </p:txBody>
      </p:sp>
    </p:spTree>
    <p:extLst>
      <p:ext uri="{BB962C8B-B14F-4D97-AF65-F5344CB8AC3E}">
        <p14:creationId xmlns:p14="http://schemas.microsoft.com/office/powerpoint/2010/main" val="1102429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원 1">
            <a:extLst>
              <a:ext uri="{FF2B5EF4-FFF2-40B4-BE49-F238E27FC236}">
                <a16:creationId xmlns:a16="http://schemas.microsoft.com/office/drawing/2014/main" id="{52C9EC11-B3B9-FE8D-9EDF-93DAE752A596}"/>
              </a:ext>
            </a:extLst>
          </p:cNvPr>
          <p:cNvSpPr/>
          <p:nvPr/>
        </p:nvSpPr>
        <p:spPr>
          <a:xfrm>
            <a:off x="5863972" y="2883570"/>
            <a:ext cx="2818799" cy="28187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EB543BC5-EFBD-D448-8727-31DEFAAE453E}"/>
              </a:ext>
            </a:extLst>
          </p:cNvPr>
          <p:cNvGrpSpPr/>
          <p:nvPr/>
        </p:nvGrpSpPr>
        <p:grpSpPr>
          <a:xfrm>
            <a:off x="1197855" y="1981201"/>
            <a:ext cx="10316619" cy="4469792"/>
            <a:chOff x="1350255" y="2204864"/>
            <a:chExt cx="9430539" cy="41584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/>
                <p:nvPr/>
              </p:nvSpPr>
              <p:spPr>
                <a:xfrm>
                  <a:off x="1836737" y="2981023"/>
                  <a:ext cx="47927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2981023"/>
                  <a:ext cx="479279" cy="372238"/>
                </a:xfrm>
                <a:prstGeom prst="rect">
                  <a:avLst/>
                </a:prstGeom>
                <a:blipFill>
                  <a:blip r:embed="rId2"/>
                  <a:stretch>
                    <a:fillRect b="-307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/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  <a:blipFill>
                  <a:blip r:embed="rId4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/>
                <p:nvPr/>
              </p:nvSpPr>
              <p:spPr>
                <a:xfrm>
                  <a:off x="1836737" y="5258831"/>
                  <a:ext cx="499382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5258831"/>
                  <a:ext cx="499382" cy="37223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/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/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/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순서도: 가산 접합 9">
              <a:extLst>
                <a:ext uri="{FF2B5EF4-FFF2-40B4-BE49-F238E27FC236}">
                  <a16:creationId xmlns:a16="http://schemas.microsoft.com/office/drawing/2014/main" id="{0F64D008-769D-7306-6D0B-03CB6D1A5CF2}"/>
                </a:ext>
              </a:extLst>
            </p:cNvPr>
            <p:cNvSpPr/>
            <p:nvPr/>
          </p:nvSpPr>
          <p:spPr bwMode="auto">
            <a:xfrm>
              <a:off x="3721080" y="3196809"/>
              <a:ext cx="239660" cy="239660"/>
            </a:xfrm>
            <a:prstGeom prst="flowChartSummingJunction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1" name="순서도: 가산 접합 10">
              <a:extLst>
                <a:ext uri="{FF2B5EF4-FFF2-40B4-BE49-F238E27FC236}">
                  <a16:creationId xmlns:a16="http://schemas.microsoft.com/office/drawing/2014/main" id="{00BA48F0-4BB3-0BA3-DA8E-666758CAB44F}"/>
                </a:ext>
              </a:extLst>
            </p:cNvPr>
            <p:cNvSpPr/>
            <p:nvPr/>
          </p:nvSpPr>
          <p:spPr bwMode="auto">
            <a:xfrm>
              <a:off x="3721080" y="3731768"/>
              <a:ext cx="239660" cy="239660"/>
            </a:xfrm>
            <a:prstGeom prst="flowChartSummingJunction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2" name="순서도: 가산 접합 11">
              <a:extLst>
                <a:ext uri="{FF2B5EF4-FFF2-40B4-BE49-F238E27FC236}">
                  <a16:creationId xmlns:a16="http://schemas.microsoft.com/office/drawing/2014/main" id="{E3C9CA5A-281B-B879-F18C-A775762C250F}"/>
                </a:ext>
              </a:extLst>
            </p:cNvPr>
            <p:cNvSpPr/>
            <p:nvPr/>
          </p:nvSpPr>
          <p:spPr bwMode="auto">
            <a:xfrm>
              <a:off x="3721080" y="5189069"/>
              <a:ext cx="239660" cy="239660"/>
            </a:xfrm>
            <a:prstGeom prst="flowChartSummingJunction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cxnSp>
          <p:nvCxnSpPr>
            <p:cNvPr id="13" name="구부러진 연결선 42">
              <a:extLst>
                <a:ext uri="{FF2B5EF4-FFF2-40B4-BE49-F238E27FC236}">
                  <a16:creationId xmlns:a16="http://schemas.microsoft.com/office/drawing/2014/main" id="{50841188-01D3-E4E6-137B-CFB73F38D28A}"/>
                </a:ext>
              </a:extLst>
            </p:cNvPr>
            <p:cNvCxnSpPr>
              <a:stCxn id="3" idx="3"/>
              <a:endCxn id="10" idx="3"/>
            </p:cNvCxnSpPr>
            <p:nvPr/>
          </p:nvCxnSpPr>
          <p:spPr bwMode="auto">
            <a:xfrm>
              <a:off x="2316016" y="3167142"/>
              <a:ext cx="1440161" cy="234231"/>
            </a:xfrm>
            <a:prstGeom prst="curvedConnector4">
              <a:avLst>
                <a:gd name="adj1" fmla="val 48781"/>
                <a:gd name="adj2" fmla="val 190798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4" name="구부러진 연결선 43">
              <a:extLst>
                <a:ext uri="{FF2B5EF4-FFF2-40B4-BE49-F238E27FC236}">
                  <a16:creationId xmlns:a16="http://schemas.microsoft.com/office/drawing/2014/main" id="{3FF70D99-D749-9F13-5511-F2A78F86D774}"/>
                </a:ext>
              </a:extLst>
            </p:cNvPr>
            <p:cNvCxnSpPr>
              <a:stCxn id="5" idx="3"/>
              <a:endCxn id="11" idx="3"/>
            </p:cNvCxnSpPr>
            <p:nvPr/>
          </p:nvCxnSpPr>
          <p:spPr bwMode="auto">
            <a:xfrm>
              <a:off x="2321465" y="3638084"/>
              <a:ext cx="1434712" cy="298247"/>
            </a:xfrm>
            <a:prstGeom prst="curvedConnector4">
              <a:avLst>
                <a:gd name="adj1" fmla="val 48777"/>
                <a:gd name="adj2" fmla="val 171308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5" name="구부러진 연결선 44">
              <a:extLst>
                <a:ext uri="{FF2B5EF4-FFF2-40B4-BE49-F238E27FC236}">
                  <a16:creationId xmlns:a16="http://schemas.microsoft.com/office/drawing/2014/main" id="{F929EBCB-93A1-CCC5-C4E9-762F65D233D6}"/>
                </a:ext>
              </a:extLst>
            </p:cNvPr>
            <p:cNvCxnSpPr>
              <a:stCxn id="6" idx="3"/>
              <a:endCxn id="12" idx="1"/>
            </p:cNvCxnSpPr>
            <p:nvPr/>
          </p:nvCxnSpPr>
          <p:spPr bwMode="auto">
            <a:xfrm flipV="1">
              <a:off x="2336119" y="5224166"/>
              <a:ext cx="1420058" cy="220785"/>
            </a:xfrm>
            <a:prstGeom prst="curvedConnector4">
              <a:avLst>
                <a:gd name="adj1" fmla="val 48764"/>
                <a:gd name="adj2" fmla="val 212224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/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/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구부러진 연결선 48">
              <a:extLst>
                <a:ext uri="{FF2B5EF4-FFF2-40B4-BE49-F238E27FC236}">
                  <a16:creationId xmlns:a16="http://schemas.microsoft.com/office/drawing/2014/main" id="{3EE8D7C1-70B2-DCD2-5375-E1D2B0D1C102}"/>
                </a:ext>
              </a:extLst>
            </p:cNvPr>
            <p:cNvCxnSpPr>
              <a:cxnSpLocks/>
              <a:stCxn id="10" idx="6"/>
            </p:cNvCxnSpPr>
            <p:nvPr/>
          </p:nvCxnSpPr>
          <p:spPr bwMode="auto">
            <a:xfrm>
              <a:off x="3960740" y="3316640"/>
              <a:ext cx="1503451" cy="826867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9" name="구부러진 연결선 49">
              <a:extLst>
                <a:ext uri="{FF2B5EF4-FFF2-40B4-BE49-F238E27FC236}">
                  <a16:creationId xmlns:a16="http://schemas.microsoft.com/office/drawing/2014/main" id="{FDD4B62A-0F4E-E32A-3047-FF2D47788CE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018232" y="3931168"/>
              <a:ext cx="1477742" cy="394206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20" name="구부러진 연결선 50">
              <a:extLst>
                <a:ext uri="{FF2B5EF4-FFF2-40B4-BE49-F238E27FC236}">
                  <a16:creationId xmlns:a16="http://schemas.microsoft.com/office/drawing/2014/main" id="{3FCB277F-BE1B-CF65-D449-699DF35B2C00}"/>
                </a:ext>
              </a:extLst>
            </p:cNvPr>
            <p:cNvCxnSpPr>
              <a:cxnSpLocks/>
              <a:stCxn id="12" idx="6"/>
            </p:cNvCxnSpPr>
            <p:nvPr/>
          </p:nvCxnSpPr>
          <p:spPr bwMode="auto">
            <a:xfrm flipV="1">
              <a:off x="3960740" y="4515239"/>
              <a:ext cx="1535235" cy="793660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74D2B819-BF22-6A6D-06CA-3078CBC06CAF}"/>
                </a:ext>
              </a:extLst>
            </p:cNvPr>
            <p:cNvSpPr/>
            <p:nvPr/>
          </p:nvSpPr>
          <p:spPr>
            <a:xfrm>
              <a:off x="3683433" y="4517878"/>
              <a:ext cx="857507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rPr>
                <a:t>multiply</a:t>
              </a:r>
              <a:endPara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90E1639-7D7E-6712-FF30-CB83F617C535}"/>
                </a:ext>
              </a:extLst>
            </p:cNvPr>
            <p:cNvSpPr/>
            <p:nvPr/>
          </p:nvSpPr>
          <p:spPr bwMode="auto">
            <a:xfrm>
              <a:off x="5762272" y="3847869"/>
              <a:ext cx="1143001" cy="955008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/>
                <p:nvPr/>
              </p:nvSpPr>
              <p:spPr>
                <a:xfrm>
                  <a:off x="4431276" y="3167142"/>
                  <a:ext cx="729965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1276" y="3167142"/>
                  <a:ext cx="729965" cy="372238"/>
                </a:xfrm>
                <a:prstGeom prst="rect">
                  <a:avLst/>
                </a:prstGeom>
                <a:blipFill>
                  <a:blip r:embed="rId11"/>
                  <a:stretch>
                    <a:fillRect b="-307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/>
                <p:nvPr/>
              </p:nvSpPr>
              <p:spPr>
                <a:xfrm>
                  <a:off x="5943122" y="3933683"/>
                  <a:ext cx="781286" cy="7817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43122" y="3933683"/>
                  <a:ext cx="781286" cy="78176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/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  <a:blipFill>
                  <a:blip r:embed="rId13"/>
                  <a:stretch>
                    <a:fillRect r="-26786"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/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  <a:blipFill>
                  <a:blip r:embed="rId14"/>
                  <a:stretch>
                    <a:fillRect r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구부러진 연결선 57">
              <a:extLst>
                <a:ext uri="{FF2B5EF4-FFF2-40B4-BE49-F238E27FC236}">
                  <a16:creationId xmlns:a16="http://schemas.microsoft.com/office/drawing/2014/main" id="{5C4B62FE-1BB2-01D6-82B6-95D45450CA87}"/>
                </a:ext>
              </a:extLst>
            </p:cNvPr>
            <p:cNvCxnSpPr>
              <a:stCxn id="25" idx="3"/>
              <a:endCxn id="10" idx="0"/>
            </p:cNvCxnSpPr>
            <p:nvPr/>
          </p:nvCxnSpPr>
          <p:spPr bwMode="auto">
            <a:xfrm>
              <a:off x="3536450" y="3044374"/>
              <a:ext cx="304459" cy="152435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8" name="구부러진 연결선 58">
              <a:extLst>
                <a:ext uri="{FF2B5EF4-FFF2-40B4-BE49-F238E27FC236}">
                  <a16:creationId xmlns:a16="http://schemas.microsoft.com/office/drawing/2014/main" id="{A1EF489C-9CAC-6D46-19EC-229547969917}"/>
                </a:ext>
              </a:extLst>
            </p:cNvPr>
            <p:cNvCxnSpPr>
              <a:stCxn id="26" idx="3"/>
              <a:endCxn id="12" idx="4"/>
            </p:cNvCxnSpPr>
            <p:nvPr/>
          </p:nvCxnSpPr>
          <p:spPr bwMode="auto">
            <a:xfrm flipV="1">
              <a:off x="3534856" y="5428730"/>
              <a:ext cx="306054" cy="197026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/>
                <p:nvPr/>
              </p:nvSpPr>
              <p:spPr>
                <a:xfrm>
                  <a:off x="4301116" y="5142902"/>
                  <a:ext cx="763081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01116" y="5142902"/>
                  <a:ext cx="763081" cy="372238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09B29A9B-0AD6-641A-907A-06863BC86DE1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765962" y="4325373"/>
              <a:ext cx="418645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/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~ </m:t>
                        </m:r>
                        <m:d>
                          <m:d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kumimoji="0" lang="en-US" altLang="ko-KR" sz="16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𝑠𝑡𝑎𝑛𝑑𝑎𝑟𝑑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𝑠𝑐𝑎𝑙𝑖𝑛𝑔</m:t>
                        </m:r>
                      </m:oMath>
                    </m:oMathPara>
                  </a14:m>
                  <a:endParaRPr kumimoji="0" lang="ko-KR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  <a:blipFill>
                  <a:blip r:embed="rId16"/>
                  <a:stretch>
                    <a:fillRect r="-24783" b="-729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2EA1297B-E0B6-FD29-42F2-BB5D2AB89E9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8373152" y="4325373"/>
              <a:ext cx="303702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078073E4-7B4A-F8DF-321C-6BAD6A17AA43}"/>
                </a:ext>
              </a:extLst>
            </p:cNvPr>
            <p:cNvSpPr/>
            <p:nvPr/>
          </p:nvSpPr>
          <p:spPr>
            <a:xfrm>
              <a:off x="6816657" y="2204864"/>
              <a:ext cx="1631596" cy="5440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Activation </a:t>
              </a:r>
            </a:p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function</a:t>
              </a:r>
              <a:endPara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34FE26FD-6DCD-33DF-8448-274AFE6ADA09}"/>
                </a:ext>
              </a:extLst>
            </p:cNvPr>
            <p:cNvSpPr/>
            <p:nvPr/>
          </p:nvSpPr>
          <p:spPr>
            <a:xfrm>
              <a:off x="1350255" y="2695573"/>
              <a:ext cx="9430539" cy="3627474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/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Output: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𝐰</m:t>
                          </m:r>
                        </m:sub>
                      </m:sSub>
                      <m:d>
                        <m:d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blipFill>
                  <a:blip r:embed="rId18"/>
                  <a:stretch>
                    <a:fillRect l="-7473" t="-25000" b="-5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/>
                <p:nvPr/>
              </p:nvSpPr>
              <p:spPr>
                <a:xfrm>
                  <a:off x="8653437" y="4099199"/>
                  <a:ext cx="2127357" cy="34819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activation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ko-KR" altLang="en-US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53437" y="4099199"/>
                  <a:ext cx="2127357" cy="348198"/>
                </a:xfrm>
                <a:prstGeom prst="rect">
                  <a:avLst/>
                </a:prstGeom>
                <a:blipFill>
                  <a:blip r:embed="rId19"/>
                  <a:stretch>
                    <a:fillRect b="-16393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/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Weighted sum</a:t>
                  </a:r>
                  <a:r>
                    <a:rPr lang="en-US" altLang="ko-KR" sz="1600" b="1">
                      <a:latin typeface="NanumGothicExtraBold" pitchFamily="2" charset="-127"/>
                      <a:ea typeface="NanumGothicExtraBold" pitchFamily="2" charset="-127"/>
                    </a:rPr>
                    <a:t>: 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ko-KR" sz="1600" b="1" i="1">
                          <a:latin typeface="Cambria Math" panose="02040503050406030204" pitchFamily="18" charset="0"/>
                        </a:rPr>
                        <m:t>𝐰</m:t>
                      </m:r>
                      <m:r>
                        <a:rPr lang="en-US" altLang="ko-KR" sz="1600" b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  <a:blipFill>
                  <a:blip r:embed="rId20"/>
                  <a:stretch>
                    <a:fillRect l="-1449" t="-3571" b="-2321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9A4CFD56-4840-D304-AFC4-6A63FA5A86CD}"/>
                </a:ext>
              </a:extLst>
            </p:cNvPr>
            <p:cNvSpPr/>
            <p:nvPr/>
          </p:nvSpPr>
          <p:spPr>
            <a:xfrm>
              <a:off x="3095195" y="2299660"/>
              <a:ext cx="885349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Weights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6B89BC8-2606-8C67-C7C7-D25251028FC1}"/>
                </a:ext>
              </a:extLst>
            </p:cNvPr>
            <p:cNvSpPr/>
            <p:nvPr/>
          </p:nvSpPr>
          <p:spPr>
            <a:xfrm>
              <a:off x="1657531" y="2299660"/>
              <a:ext cx="624521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Input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</p:grp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559855AA-45D0-1CBE-CF10-7BE857C50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42481"/>
            <a:ext cx="11034365" cy="746738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5E7DBC0-1237-2AB2-9E23-A273F09464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3371" y="3854272"/>
            <a:ext cx="1015319" cy="821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7" name="직사각형 46">
                <a:extLst>
                  <a:ext uri="{FF2B5EF4-FFF2-40B4-BE49-F238E27FC236}">
                    <a16:creationId xmlns:a16="http://schemas.microsoft.com/office/drawing/2014/main" id="{896C8EB5-4E6C-4DEE-9CCB-0CEDC90DDF0A}"/>
                  </a:ext>
                </a:extLst>
              </p:cNvPr>
              <p:cNvSpPr/>
              <p:nvPr/>
            </p:nvSpPr>
            <p:spPr>
              <a:xfrm>
                <a:off x="4137934" y="3509828"/>
                <a:ext cx="81047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47" name="직사각형 46">
                <a:extLst>
                  <a:ext uri="{FF2B5EF4-FFF2-40B4-BE49-F238E27FC236}">
                    <a16:creationId xmlns:a16="http://schemas.microsoft.com/office/drawing/2014/main" id="{896C8EB5-4E6C-4DEE-9CCB-0CEDC90DDF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7934" y="3509828"/>
                <a:ext cx="810478" cy="400110"/>
              </a:xfrm>
              <a:prstGeom prst="rect">
                <a:avLst/>
              </a:prstGeom>
              <a:blipFill>
                <a:blip r:embed="rId22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타원 47">
            <a:extLst>
              <a:ext uri="{FF2B5EF4-FFF2-40B4-BE49-F238E27FC236}">
                <a16:creationId xmlns:a16="http://schemas.microsoft.com/office/drawing/2014/main" id="{E2CBA942-DBAD-D7C2-A410-B461659574BD}"/>
              </a:ext>
            </a:extLst>
          </p:cNvPr>
          <p:cNvSpPr/>
          <p:nvPr/>
        </p:nvSpPr>
        <p:spPr>
          <a:xfrm>
            <a:off x="2135359" y="2767559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531EF8E5-282D-9DD2-6E44-F084763F2650}"/>
              </a:ext>
            </a:extLst>
          </p:cNvPr>
          <p:cNvSpPr/>
          <p:nvPr/>
        </p:nvSpPr>
        <p:spPr>
          <a:xfrm>
            <a:off x="2135359" y="3388245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EA3BB0D4-F032-9904-EE63-B6AFD6D9BA06}"/>
              </a:ext>
            </a:extLst>
          </p:cNvPr>
          <p:cNvSpPr/>
          <p:nvPr/>
        </p:nvSpPr>
        <p:spPr>
          <a:xfrm>
            <a:off x="2163759" y="5158494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563559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119D5-9F23-8555-D59C-C41F08314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F6CB72-5B48-1EA8-DAE7-36CBC37D4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5E39D3E-B93A-FFDE-BB36-30AD59B0C59F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Functions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94B26EBA-7806-CC17-6CCE-79B909B81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7" y="1321328"/>
            <a:ext cx="11034365" cy="1065340"/>
          </a:xfrm>
        </p:spPr>
        <p:txBody>
          <a:bodyPr>
            <a:normAutofit fontScale="85000" lnSpcReduction="20000"/>
          </a:bodyPr>
          <a:lstStyle/>
          <a:p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 함수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(Activation Function)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인공 신경망의 각 노드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뉴런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입력받은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신호의 총합을 출력 신호로 변환해주는 수학적 함수로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쉽게 비유하자면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우리 뇌의 뉴런이 일정 수준 이상의 자극을 받았을 때만 다음 뉴런으로 전기 신호를 보내는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전달 통로의 문지기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역할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F3FF02D-180D-5387-8B13-D095DDC148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8081" y="2386668"/>
            <a:ext cx="5662319" cy="4014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3A204A54-9B4D-9FE8-6DBD-2FC79DE2C40B}"/>
              </a:ext>
            </a:extLst>
          </p:cNvPr>
          <p:cNvSpPr txBox="1"/>
          <p:nvPr/>
        </p:nvSpPr>
        <p:spPr>
          <a:xfrm>
            <a:off x="578817" y="3362236"/>
            <a:ext cx="3805653" cy="1286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활성화 함수가 필요한가</a:t>
            </a:r>
            <a:r>
              <a:rPr lang="en-US" altLang="ko-KR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모델에 비선형성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(Non-linearity)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추가하기 위해서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872363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73F17-1E7F-1F54-F339-B4732F93F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173D9F-BF62-5D55-502F-D6EED8280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1573C32F-78A2-7E69-33F7-E702D4CAB44A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6211AE7D-3714-5E7A-9A0E-90FC32B3E650}"/>
              </a:ext>
            </a:extLst>
          </p:cNvPr>
          <p:cNvSpPr txBox="1">
            <a:spLocks/>
          </p:cNvSpPr>
          <p:nvPr/>
        </p:nvSpPr>
        <p:spPr>
          <a:xfrm>
            <a:off x="632271" y="5670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Cells that fire together, wire together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3074" name="Picture 2" descr="In the top row, neurons are labeled with a fluorescent probe that reveals electrical activity. In the bottom row, neurons are labeled with a variant of the probe that accumulates specifically in the neuron cell bodies, preventing interference from axons of neighboring neurons.  ">
            <a:extLst>
              <a:ext uri="{FF2B5EF4-FFF2-40B4-BE49-F238E27FC236}">
                <a16:creationId xmlns:a16="http://schemas.microsoft.com/office/drawing/2014/main" id="{94F3BD26-41A8-1CF7-C13C-606448C735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464" y="1447788"/>
            <a:ext cx="7000875" cy="466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194255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988F4-6748-E841-E0E3-483933AD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EE7AD4-7BCA-95C3-7C88-BC8155EA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B515A5C-DA20-BC13-5438-4B1150B64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24BA77-E126-365B-1D98-17E2D890614A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learning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2618558-9150-3E19-1792-361A6085A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29425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F70EA1D-911F-24B8-8E6F-96DA98BB8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114" y="1428036"/>
            <a:ext cx="8103909" cy="4420314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9447872B-B3C5-94D3-7C72-301489D8F589}"/>
              </a:ext>
            </a:extLst>
          </p:cNvPr>
          <p:cNvSpPr/>
          <p:nvPr/>
        </p:nvSpPr>
        <p:spPr>
          <a:xfrm>
            <a:off x="5151121" y="212561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DDFE2DA-C3BD-251B-198F-2B1990842850}"/>
              </a:ext>
            </a:extLst>
          </p:cNvPr>
          <p:cNvSpPr/>
          <p:nvPr/>
        </p:nvSpPr>
        <p:spPr>
          <a:xfrm>
            <a:off x="2477136" y="1908187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FC9D2F0-B4E0-EC80-CF75-E660D41D3532}"/>
              </a:ext>
            </a:extLst>
          </p:cNvPr>
          <p:cNvSpPr/>
          <p:nvPr/>
        </p:nvSpPr>
        <p:spPr>
          <a:xfrm>
            <a:off x="2473072" y="2195715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B7EBFA9-E6D4-E650-A98E-7740DF72FB9D}"/>
              </a:ext>
            </a:extLst>
          </p:cNvPr>
          <p:cNvSpPr/>
          <p:nvPr/>
        </p:nvSpPr>
        <p:spPr>
          <a:xfrm>
            <a:off x="2472056" y="245835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E08BE5-1402-7A84-2942-DE3F8A5E5406}"/>
              </a:ext>
            </a:extLst>
          </p:cNvPr>
          <p:cNvSpPr txBox="1"/>
          <p:nvPr/>
        </p:nvSpPr>
        <p:spPr>
          <a:xfrm>
            <a:off x="2230075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(64,1)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9BCBBB-7271-38B8-8212-7FBBFDFE103B}"/>
              </a:ext>
            </a:extLst>
          </p:cNvPr>
          <p:cNvSpPr txBox="1"/>
          <p:nvPr/>
        </p:nvSpPr>
        <p:spPr>
          <a:xfrm>
            <a:off x="4909140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(10,1)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35A2DD-ED2E-AF9A-0043-6F6B40CF4801}"/>
              </a:ext>
            </a:extLst>
          </p:cNvPr>
          <p:cNvSpPr txBox="1"/>
          <p:nvPr/>
        </p:nvSpPr>
        <p:spPr>
          <a:xfrm>
            <a:off x="7339103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(15,1)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FA1407-8DBE-204F-4F08-DABAE4BD3137}"/>
              </a:ext>
            </a:extLst>
          </p:cNvPr>
          <p:cNvSpPr txBox="1"/>
          <p:nvPr/>
        </p:nvSpPr>
        <p:spPr>
          <a:xfrm>
            <a:off x="9110753" y="5959169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(9,1)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815398-2B94-0D7E-99AA-75C0407E8C3A}"/>
              </a:ext>
            </a:extLst>
          </p:cNvPr>
          <p:cNvSpPr txBox="1"/>
          <p:nvPr/>
        </p:nvSpPr>
        <p:spPr>
          <a:xfrm>
            <a:off x="3505435" y="5959169"/>
            <a:ext cx="11079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@(64,10)=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1D6A35-1376-424B-B677-B4EA4E6E0DE2}"/>
              </a:ext>
            </a:extLst>
          </p:cNvPr>
          <p:cNvSpPr txBox="1"/>
          <p:nvPr/>
        </p:nvSpPr>
        <p:spPr>
          <a:xfrm>
            <a:off x="6030100" y="5959169"/>
            <a:ext cx="11079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@(10,15)=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E4FFF-8581-2131-CF06-3882FD7FD06F}"/>
              </a:ext>
            </a:extLst>
          </p:cNvPr>
          <p:cNvSpPr txBox="1"/>
          <p:nvPr/>
        </p:nvSpPr>
        <p:spPr>
          <a:xfrm>
            <a:off x="8159116" y="595916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@(15,9)=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C67266E-49A9-B43B-F9B1-5E459EB7BBE1}"/>
              </a:ext>
            </a:extLst>
          </p:cNvPr>
          <p:cNvSpPr txBox="1"/>
          <p:nvPr/>
        </p:nvSpPr>
        <p:spPr>
          <a:xfrm>
            <a:off x="2794899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C92AA3-36BF-6BF9-B680-42E31DF11212}"/>
              </a:ext>
            </a:extLst>
          </p:cNvPr>
          <p:cNvSpPr txBox="1"/>
          <p:nvPr/>
        </p:nvSpPr>
        <p:spPr>
          <a:xfrm>
            <a:off x="5486514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00E7D32-571C-3FBE-BBF0-59D88B5928BE}"/>
              </a:ext>
            </a:extLst>
          </p:cNvPr>
          <p:cNvSpPr txBox="1"/>
          <p:nvPr/>
        </p:nvSpPr>
        <p:spPr>
          <a:xfrm>
            <a:off x="7935151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4065655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4" grpId="0"/>
      <p:bldP spid="25" grpId="0"/>
      <p:bldP spid="2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399" y="1772883"/>
            <a:ext cx="6203101" cy="4717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425528" y="2791472"/>
            <a:ext cx="3375947" cy="233297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고민해보고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다음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슬라이드를 실습하여 체험하라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97EA6D6-8D0D-66DB-6F02-6DCE59D1B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995" y="1248067"/>
            <a:ext cx="11182955" cy="766439"/>
          </a:xfrm>
        </p:spPr>
        <p:txBody>
          <a:bodyPr>
            <a:normAutofit fontScale="92500" lnSpcReduction="20000"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 Forward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후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Propagate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반복적으로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epoch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늘려가면서 학습하는 과정을 통해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이해하고 실습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(SGD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엑셀실습파일 알고리즘과 동일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 gate : 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48D627-DB6B-37D0-763C-BD40D9FFF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BAF37F2D-2B7E-F7AC-7A87-EE51558AE7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2679" y="2052606"/>
            <a:ext cx="7967121" cy="4482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8717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607F8-6787-3B4A-9387-086BCC774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3ABFC7-3ACD-D1C0-1ADB-44167C6C7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E223884-9077-EF82-4087-A44BAFE1468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 gate code with Single-layer Perceptron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E4E17376-2845-B069-14A3-C29EFED1089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43753" y="1338340"/>
            <a:ext cx="4437990" cy="5056866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A6619DA-045E-D28E-DD7B-89FAE98DC15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593394" y="1338340"/>
            <a:ext cx="5236013" cy="4869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1571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E6570-589B-A337-6EE1-9AD175ABB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7639DC-E391-B13B-11DA-E6289741E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A3BE1F4-1867-662D-EA9F-58099683EA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gate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: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 with python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7ECC749-A31B-0A90-68E3-DDEF0CA53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6645" y="66676"/>
            <a:ext cx="1673906" cy="1107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9445CEC-44B6-F043-B403-61EABE53CDAF}"/>
              </a:ext>
            </a:extLst>
          </p:cNvPr>
          <p:cNvSpPr txBox="1"/>
          <p:nvPr/>
        </p:nvSpPr>
        <p:spPr>
          <a:xfrm>
            <a:off x="5718418" y="1386965"/>
            <a:ext cx="4535863" cy="469359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define input and output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([[0,0],[0,1],[1,0],[1,1]])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([[0],[1],[1],[1]])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define weights and biases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([[1.5], [1.5]])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([-1.5])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epochs = 1000   # 1000</a:t>
            </a:r>
          </a:p>
          <a:p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0.1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train the network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 epoch in range(epochs):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sum, pred = feedforward(X, w, b)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w, b = backpropagation(X, y, sum, pred, w, b)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print("w:", w)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print("b:", b)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print the final output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sum, pred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np.round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(feedforward(X, w, b))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print(pred)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print("Accuracy:",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np.mean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(y == pred))</a:t>
            </a:r>
            <a:endParaRPr lang="ko-KR" altLang="en-US" sz="13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A07332-D2C3-0C9A-F95B-CC0D41CD940D}"/>
              </a:ext>
            </a:extLst>
          </p:cNvPr>
          <p:cNvSpPr txBox="1"/>
          <p:nvPr/>
        </p:nvSpPr>
        <p:spPr>
          <a:xfrm>
            <a:off x="757380" y="1386965"/>
            <a:ext cx="4535863" cy="509370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np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def sigmoid(x):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return 1 / (1 +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np.exp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(-x))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def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sigmoid_derivative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(x):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return sigmoid(x) * (1 - sigmoid(x))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def feedforward(X, w, b):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sum = np.dot(X, w) + b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pred = sigmoid(sum)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return sum, pred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def backpropagation(X, y, sum, pred, w, b):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dsum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(pred - y) *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sigmoid_derivative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dw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np.dot(X.T,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dsum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db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np.sum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dsum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axis=0)</a:t>
            </a:r>
            <a:b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loss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np.mean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((y - pred) ** 2)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if (epoch + 1) % 100 == 0: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  print("loss: ", loss)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w = w -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*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dw</a:t>
            </a:r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b = b -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*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db</a:t>
            </a:r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return w, b</a:t>
            </a:r>
          </a:p>
        </p:txBody>
      </p:sp>
    </p:spTree>
    <p:extLst>
      <p:ext uri="{BB962C8B-B14F-4D97-AF65-F5344CB8AC3E}">
        <p14:creationId xmlns:p14="http://schemas.microsoft.com/office/powerpoint/2010/main" val="395187246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3199" y="66676"/>
            <a:ext cx="1657351" cy="109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91856" y="2346102"/>
            <a:ext cx="10516592" cy="36901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791856" y="6201755"/>
            <a:ext cx="919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 Tube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67FD12-73D2-3353-A8C4-7E7C0383DD21}"/>
              </a:ext>
            </a:extLst>
          </p:cNvPr>
          <p:cNvSpPr txBox="1"/>
          <p:nvPr/>
        </p:nvSpPr>
        <p:spPr>
          <a:xfrm>
            <a:off x="544946" y="1415177"/>
            <a:ext cx="1114829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0F3AF9-A173-B593-4230-2FE3E7921A68}"/>
              </a:ext>
            </a:extLst>
          </p:cNvPr>
          <p:cNvSpPr txBox="1"/>
          <p:nvPr/>
        </p:nvSpPr>
        <p:spPr>
          <a:xfrm>
            <a:off x="704850" y="2082568"/>
            <a:ext cx="51617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XOR_perceptron_optimization_backprpagation_sgd.xlsx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068523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4082105-B0E0-25B4-F0AA-982C2E099761}"/>
              </a:ext>
            </a:extLst>
          </p:cNvPr>
          <p:cNvSpPr/>
          <p:nvPr/>
        </p:nvSpPr>
        <p:spPr>
          <a:xfrm>
            <a:off x="4116887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네트워크 구조를 행렬식으로 표현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77754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24762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24762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77754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FD888255-4994-1FCA-F8EA-3F0CDC1C85F3}"/>
              </a:ext>
            </a:extLst>
          </p:cNvPr>
          <p:cNvGraphicFramePr>
            <a:graphicFrameLocks noGrp="1"/>
          </p:cNvGraphicFramePr>
          <p:nvPr/>
        </p:nvGraphicFramePr>
        <p:xfrm>
          <a:off x="889000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159189123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3158959229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95207"/>
                  </a:ext>
                </a:extLst>
              </a:tr>
            </a:tbl>
          </a:graphicData>
        </a:graphic>
      </p:graphicFrame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2B68121E-F8B7-620D-EABC-307022609FD5}"/>
              </a:ext>
            </a:extLst>
          </p:cNvPr>
          <p:cNvGraphicFramePr>
            <a:graphicFrameLocks noGrp="1"/>
          </p:cNvGraphicFramePr>
          <p:nvPr/>
        </p:nvGraphicFramePr>
        <p:xfrm>
          <a:off x="3895419" y="5153236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D8DC5B0A-15AE-B264-F684-117D8D903ACE}"/>
              </a:ext>
            </a:extLst>
          </p:cNvPr>
          <p:cNvGraphicFramePr>
            <a:graphicFrameLocks noGrp="1"/>
          </p:cNvGraphicFramePr>
          <p:nvPr/>
        </p:nvGraphicFramePr>
        <p:xfrm>
          <a:off x="10537825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349704126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2808135352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827078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F38EAA0B-A059-9FCB-EA7B-949345116397}"/>
              </a:ext>
            </a:extLst>
          </p:cNvPr>
          <p:cNvGraphicFramePr>
            <a:graphicFrameLocks noGrp="1"/>
          </p:cNvGraphicFramePr>
          <p:nvPr/>
        </p:nvGraphicFramePr>
        <p:xfrm>
          <a:off x="6905522" y="5153236"/>
          <a:ext cx="176847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119">
                  <a:extLst>
                    <a:ext uri="{9D8B030D-6E8A-4147-A177-3AD203B41FA5}">
                      <a16:colId xmlns:a16="http://schemas.microsoft.com/office/drawing/2014/main" val="340854116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771415720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421275875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2389089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820539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3851069-C2D2-B638-1BE7-61FE12E7317F}"/>
              </a:ext>
            </a:extLst>
          </p:cNvPr>
          <p:cNvGraphicFramePr>
            <a:graphicFrameLocks noGrp="1"/>
          </p:cNvGraphicFramePr>
          <p:nvPr/>
        </p:nvGraphicFramePr>
        <p:xfrm>
          <a:off x="2258920" y="3039032"/>
          <a:ext cx="125570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97820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231033F0-706B-415C-BB2D-F30BAA42D801}"/>
              </a:ext>
            </a:extLst>
          </p:cNvPr>
          <p:cNvGraphicFramePr>
            <a:graphicFrameLocks noGrp="1"/>
          </p:cNvGraphicFramePr>
          <p:nvPr/>
        </p:nvGraphicFramePr>
        <p:xfrm>
          <a:off x="5258243" y="2867063"/>
          <a:ext cx="177015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539">
                  <a:extLst>
                    <a:ext uri="{9D8B030D-6E8A-4147-A177-3AD203B41FA5}">
                      <a16:colId xmlns:a16="http://schemas.microsoft.com/office/drawing/2014/main" val="3464882294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109326110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213285567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1911355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29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105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1729911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4C14BC51-A89C-0C08-BCBF-38E35CDB74A1}"/>
              </a:ext>
            </a:extLst>
          </p:cNvPr>
          <p:cNvGraphicFramePr>
            <a:graphicFrameLocks noGrp="1"/>
          </p:cNvGraphicFramePr>
          <p:nvPr/>
        </p:nvGraphicFramePr>
        <p:xfrm>
          <a:off x="9019668" y="2607239"/>
          <a:ext cx="88868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344">
                  <a:extLst>
                    <a:ext uri="{9D8B030D-6E8A-4147-A177-3AD203B41FA5}">
                      <a16:colId xmlns:a16="http://schemas.microsoft.com/office/drawing/2014/main" val="456541388"/>
                    </a:ext>
                  </a:extLst>
                </a:gridCol>
                <a:gridCol w="444344">
                  <a:extLst>
                    <a:ext uri="{9D8B030D-6E8A-4147-A177-3AD203B41FA5}">
                      <a16:colId xmlns:a16="http://schemas.microsoft.com/office/drawing/2014/main" val="17753490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01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37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918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708776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CB9E2FD1-E9A9-09A9-6394-CF8EFB867B8D}"/>
              </a:ext>
            </a:extLst>
          </p:cNvPr>
          <p:cNvSpPr txBox="1"/>
          <p:nvPr/>
        </p:nvSpPr>
        <p:spPr>
          <a:xfrm>
            <a:off x="809522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CD39B9D-5C5C-9A76-9FA3-B7D5F2A9FCF4}"/>
              </a:ext>
            </a:extLst>
          </p:cNvPr>
          <p:cNvSpPr txBox="1"/>
          <p:nvPr/>
        </p:nvSpPr>
        <p:spPr>
          <a:xfrm>
            <a:off x="2427495" y="386818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(2, 3)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13415D-8214-9522-94DE-1F6323A05771}"/>
              </a:ext>
            </a:extLst>
          </p:cNvPr>
          <p:cNvSpPr txBox="1"/>
          <p:nvPr/>
        </p:nvSpPr>
        <p:spPr>
          <a:xfrm>
            <a:off x="4052649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6D194A-8ED8-A222-57D7-0A72C366118F}"/>
              </a:ext>
            </a:extLst>
          </p:cNvPr>
          <p:cNvSpPr txBox="1"/>
          <p:nvPr/>
        </p:nvSpPr>
        <p:spPr>
          <a:xfrm>
            <a:off x="5691091" y="4116751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(3, 4)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6946AC-A922-C213-AF08-FE45C68B701C}"/>
              </a:ext>
            </a:extLst>
          </p:cNvPr>
          <p:cNvSpPr txBox="1"/>
          <p:nvPr/>
        </p:nvSpPr>
        <p:spPr>
          <a:xfrm>
            <a:off x="7337530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75D844-D316-B0C0-42BB-5BF05177F0D7}"/>
              </a:ext>
            </a:extLst>
          </p:cNvPr>
          <p:cNvSpPr txBox="1"/>
          <p:nvPr/>
        </p:nvSpPr>
        <p:spPr>
          <a:xfrm>
            <a:off x="9019668" y="423752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5A9622-072E-EF32-6CFA-DA442C3FEFEA}"/>
              </a:ext>
            </a:extLst>
          </p:cNvPr>
          <p:cNvSpPr txBox="1"/>
          <p:nvPr/>
        </p:nvSpPr>
        <p:spPr>
          <a:xfrm>
            <a:off x="10559338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110BF7A-D40A-9C35-D312-56455BF7A289}"/>
              </a:ext>
            </a:extLst>
          </p:cNvPr>
          <p:cNvSpPr/>
          <p:nvPr/>
        </p:nvSpPr>
        <p:spPr>
          <a:xfrm>
            <a:off x="913794" y="1971398"/>
            <a:ext cx="778433" cy="2940006"/>
          </a:xfrm>
          <a:prstGeom prst="rect">
            <a:avLst/>
          </a:prstGeom>
          <a:noFill/>
          <a:ln w="190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694B855F-902F-2FDD-C505-F5F030704E5E}"/>
              </a:ext>
            </a:extLst>
          </p:cNvPr>
          <p:cNvCxnSpPr/>
          <p:nvPr/>
        </p:nvCxnSpPr>
        <p:spPr>
          <a:xfrm>
            <a:off x="1713982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8B3C84C-B20A-83DC-F853-78C3947A6CA1}"/>
              </a:ext>
            </a:extLst>
          </p:cNvPr>
          <p:cNvCxnSpPr/>
          <p:nvPr/>
        </p:nvCxnSpPr>
        <p:spPr>
          <a:xfrm>
            <a:off x="3694876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EDDD5ADB-7D3B-8096-3E2E-A658A91911DE}"/>
              </a:ext>
            </a:extLst>
          </p:cNvPr>
          <p:cNvCxnSpPr/>
          <p:nvPr/>
        </p:nvCxnSpPr>
        <p:spPr>
          <a:xfrm>
            <a:off x="8511249" y="34099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FDC7CE7-DBED-ADBA-B928-DA0594621939}"/>
              </a:ext>
            </a:extLst>
          </p:cNvPr>
          <p:cNvCxnSpPr/>
          <p:nvPr/>
        </p:nvCxnSpPr>
        <p:spPr>
          <a:xfrm>
            <a:off x="10199168" y="339090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17" name="그림 9216">
            <a:extLst>
              <a:ext uri="{FF2B5EF4-FFF2-40B4-BE49-F238E27FC236}">
                <a16:creationId xmlns:a16="http://schemas.microsoft.com/office/drawing/2014/main" id="{A06CB6E9-29F6-DB9B-673B-41CB5F5F7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81" y="2454826"/>
            <a:ext cx="341640" cy="297078"/>
          </a:xfrm>
          <a:prstGeom prst="rect">
            <a:avLst/>
          </a:prstGeom>
        </p:spPr>
      </p:pic>
      <p:pic>
        <p:nvPicPr>
          <p:cNvPr id="9223" name="그림 9222">
            <a:extLst>
              <a:ext uri="{FF2B5EF4-FFF2-40B4-BE49-F238E27FC236}">
                <a16:creationId xmlns:a16="http://schemas.microsoft.com/office/drawing/2014/main" id="{E005E7C0-EB6C-7392-B2B4-4CF943517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300" y="2436482"/>
            <a:ext cx="350550" cy="289585"/>
          </a:xfrm>
          <a:prstGeom prst="rect">
            <a:avLst/>
          </a:prstGeom>
        </p:spPr>
      </p:pic>
      <p:pic>
        <p:nvPicPr>
          <p:cNvPr id="9225" name="그림 9224">
            <a:extLst>
              <a:ext uri="{FF2B5EF4-FFF2-40B4-BE49-F238E27FC236}">
                <a16:creationId xmlns:a16="http://schemas.microsoft.com/office/drawing/2014/main" id="{F25A77D9-6CA8-EBB1-32C2-CE60ED807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341" y="2230741"/>
            <a:ext cx="320068" cy="320068"/>
          </a:xfrm>
          <a:prstGeom prst="rect">
            <a:avLst/>
          </a:prstGeom>
        </p:spPr>
      </p:pic>
      <p:pic>
        <p:nvPicPr>
          <p:cNvPr id="9231" name="그림 9230">
            <a:extLst>
              <a:ext uri="{FF2B5EF4-FFF2-40B4-BE49-F238E27FC236}">
                <a16:creationId xmlns:a16="http://schemas.microsoft.com/office/drawing/2014/main" id="{94B2481D-E98C-DA55-0841-B1DD319519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3154" y="2299322"/>
            <a:ext cx="1524132" cy="586791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5F9B3AE1-C969-CAA6-8312-BE814E0019F4}"/>
              </a:ext>
            </a:extLst>
          </p:cNvPr>
          <p:cNvSpPr/>
          <p:nvPr/>
        </p:nvSpPr>
        <p:spPr>
          <a:xfrm>
            <a:off x="4105971" y="1971398"/>
            <a:ext cx="778433" cy="2940006"/>
          </a:xfrm>
          <a:prstGeom prst="rect">
            <a:avLst/>
          </a:prstGeom>
          <a:noFill/>
          <a:ln w="190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3253393-32CF-83C8-BD7B-7C6A5C120799}"/>
              </a:ext>
            </a:extLst>
          </p:cNvPr>
          <p:cNvSpPr/>
          <p:nvPr/>
        </p:nvSpPr>
        <p:spPr>
          <a:xfrm>
            <a:off x="7322779" y="1971398"/>
            <a:ext cx="778433" cy="2940006"/>
          </a:xfrm>
          <a:prstGeom prst="rect">
            <a:avLst/>
          </a:prstGeom>
          <a:noFill/>
          <a:ln w="190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D86CCC4-F4A6-3CED-8E1F-6D8BBD3EEB1B}"/>
              </a:ext>
            </a:extLst>
          </p:cNvPr>
          <p:cNvSpPr/>
          <p:nvPr/>
        </p:nvSpPr>
        <p:spPr>
          <a:xfrm>
            <a:off x="10572052" y="1971398"/>
            <a:ext cx="778433" cy="2940006"/>
          </a:xfrm>
          <a:prstGeom prst="rect">
            <a:avLst/>
          </a:prstGeom>
          <a:noFill/>
          <a:ln w="190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98F57-6188-E26B-9396-E0B2A453F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059C10-D295-2336-F094-4C2FF439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46</a:t>
            </a:fld>
            <a:endParaRPr 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589D1AB-A7EA-A13D-A66C-047538B0B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66120" y="1486726"/>
            <a:ext cx="6576630" cy="119644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92EDE67-B548-74E9-CEEB-1E466EB7A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66120" y="3331796"/>
            <a:ext cx="7430144" cy="112785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C075147-3363-0723-E9A2-DBEB1EC07F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66120" y="3049832"/>
            <a:ext cx="1524132" cy="28196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6B102B5-B19B-355D-6B62-8B58AE6BDB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76769" y="4935803"/>
            <a:ext cx="5342083" cy="143268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1A2A448-85FB-B47B-1612-8A4222CE382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66120" y="4718619"/>
            <a:ext cx="1539373" cy="320068"/>
          </a:xfrm>
          <a:prstGeom prst="rect">
            <a:avLst/>
          </a:prstGeom>
        </p:spPr>
      </p:pic>
      <p:pic>
        <p:nvPicPr>
          <p:cNvPr id="9242" name="그림 9241">
            <a:extLst>
              <a:ext uri="{FF2B5EF4-FFF2-40B4-BE49-F238E27FC236}">
                <a16:creationId xmlns:a16="http://schemas.microsoft.com/office/drawing/2014/main" id="{389C9D37-088D-D449-A58A-7D41E06759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53414" y="3350845"/>
            <a:ext cx="3809323" cy="100207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F25AFFB-DA44-EBB1-6C12-4AE1F199DDD3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34CBFE7-41C2-4340-A871-5DB4C98117C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53414" y="5066541"/>
            <a:ext cx="3809323" cy="100207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18C7BBF-4EBF-1D43-916A-B6773502A62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53414" y="1583297"/>
            <a:ext cx="3809323" cy="1002079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451B6456-9217-004F-90F8-CB7C0AD1B6B6}"/>
              </a:ext>
            </a:extLst>
          </p:cNvPr>
          <p:cNvSpPr/>
          <p:nvPr/>
        </p:nvSpPr>
        <p:spPr>
          <a:xfrm>
            <a:off x="9000520" y="1454855"/>
            <a:ext cx="438756" cy="1228315"/>
          </a:xfrm>
          <a:prstGeom prst="rect">
            <a:avLst/>
          </a:prstGeom>
          <a:noFill/>
          <a:ln w="190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F3F7253-2B9A-656E-560B-82BBC8869D7F}"/>
              </a:ext>
            </a:extLst>
          </p:cNvPr>
          <p:cNvSpPr/>
          <p:nvPr/>
        </p:nvSpPr>
        <p:spPr>
          <a:xfrm>
            <a:off x="10191136" y="3237984"/>
            <a:ext cx="438756" cy="1228315"/>
          </a:xfrm>
          <a:prstGeom prst="rect">
            <a:avLst/>
          </a:prstGeom>
          <a:noFill/>
          <a:ln w="190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A151B3C-2B6A-511E-CAD5-86580F6909E9}"/>
              </a:ext>
            </a:extLst>
          </p:cNvPr>
          <p:cNvSpPr/>
          <p:nvPr/>
        </p:nvSpPr>
        <p:spPr>
          <a:xfrm>
            <a:off x="11476803" y="4953422"/>
            <a:ext cx="438756" cy="1228315"/>
          </a:xfrm>
          <a:prstGeom prst="rect">
            <a:avLst/>
          </a:prstGeom>
          <a:noFill/>
          <a:ln w="190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6935690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3677" y="109568"/>
            <a:ext cx="1590674" cy="1052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550" y="1480521"/>
            <a:ext cx="3592964" cy="3734398"/>
          </a:xfrm>
        </p:spPr>
        <p:txBody>
          <a:bodyPr>
            <a:normAutofit fontScale="85000" lnSpcReduction="10000"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Tutorial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배우고 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오른쪽 그림을 바탕으로 입력과 출력데이터를 생성하고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네크워크를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구성하고 학습한 후 예측하라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예측하여야 하는 총 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parameters(w,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b)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는 몇 개인가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?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5DB4939-FECE-E50C-F0C1-06C4C4424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0514" y="1448109"/>
            <a:ext cx="7505700" cy="44318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60D858-72FF-9996-DDB4-58889C397859}"/>
              </a:ext>
            </a:extLst>
          </p:cNvPr>
          <p:cNvSpPr txBox="1"/>
          <p:nvPr/>
        </p:nvSpPr>
        <p:spPr>
          <a:xfrm>
            <a:off x="2600325" y="634753"/>
            <a:ext cx="30827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chemeClr val="accent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w4_pytorch_tutorial.ipynb</a:t>
            </a:r>
            <a:endParaRPr lang="ko-KR" altLang="en-US" sz="2000" dirty="0">
              <a:solidFill>
                <a:schemeClr val="accent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EDEB4-CC20-F660-9DB2-96EED65201AC}"/>
              </a:ext>
            </a:extLst>
          </p:cNvPr>
          <p:cNvSpPr txBox="1"/>
          <p:nvPr/>
        </p:nvSpPr>
        <p:spPr>
          <a:xfrm>
            <a:off x="4100514" y="5880269"/>
            <a:ext cx="13596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utube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E42FB-EF10-31D4-2362-600F33B96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B60F8C-DF3A-97BB-52A4-40A63FF31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48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65B004C-C66E-88A0-8CF7-33281CA27F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230382-766E-AADE-75F1-79B0E657195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18FF01-38B3-F700-A018-83D7C481856C}"/>
              </a:ext>
            </a:extLst>
          </p:cNvPr>
          <p:cNvSpPr txBox="1"/>
          <p:nvPr/>
        </p:nvSpPr>
        <p:spPr>
          <a:xfrm>
            <a:off x="610995" y="2214901"/>
            <a:ext cx="5061079" cy="35394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torch.optim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데이터 생성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2x + 1)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([[1.0], [2.0], [3.0], [4.0]],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([[3.0], [5.0], [7.0], [9.0]],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모델 정의 (입력 1개, 출력 1개인 선형 회귀)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손실 함수와 최적화 도구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nn.MSELoss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model_reg.parameters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=0.01)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0D652D-4259-A877-8EEC-8F95CA0DF5C9}"/>
              </a:ext>
            </a:extLst>
          </p:cNvPr>
          <p:cNvSpPr txBox="1"/>
          <p:nvPr/>
        </p:nvSpPr>
        <p:spPr>
          <a:xfrm>
            <a:off x="5886450" y="2207588"/>
            <a:ext cx="5981075" cy="267765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학습 (1000번 반복)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(1000):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  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backpropagation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예측 (5를 넣었을 때 11에 가까운 값이 나와야 함)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f"회귀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예측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5.0):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item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():.4f}")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691556-285E-295F-7E36-82C5AF7FF87A}"/>
              </a:ext>
            </a:extLst>
          </p:cNvPr>
          <p:cNvSpPr txBox="1"/>
          <p:nvPr/>
        </p:nvSpPr>
        <p:spPr>
          <a:xfrm>
            <a:off x="525270" y="1361159"/>
            <a:ext cx="1139231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연속적인 숫자 값을 예측하는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 = 2x + 1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선형 관계를 학습</a:t>
            </a:r>
          </a:p>
        </p:txBody>
      </p:sp>
    </p:spTree>
    <p:extLst>
      <p:ext uri="{BB962C8B-B14F-4D97-AF65-F5344CB8AC3E}">
        <p14:creationId xmlns:p14="http://schemas.microsoft.com/office/powerpoint/2010/main" val="390159101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D1E5-5843-DBEB-50F5-1EA7E7C7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5FF74-5477-22AB-43FD-DF018748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AE8BB7F-4374-94A4-96E2-5D2F8123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8332F086-37CC-9131-0AB6-DC91842D581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3DFB2-48BA-7EB0-99DE-16C02139227D}"/>
              </a:ext>
            </a:extLst>
          </p:cNvPr>
          <p:cNvSpPr txBox="1"/>
          <p:nvPr/>
        </p:nvSpPr>
        <p:spPr>
          <a:xfrm>
            <a:off x="677670" y="1883738"/>
            <a:ext cx="5199255" cy="461664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데이터 생성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([[-2.0], [-1.0], [1.0], [2.0]],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([[0.0], [0.0], [1.0], [1.0]],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모델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0~1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확률값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super().__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이진 교차 엔트로피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최적화 도구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nn.BCELoss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model_cls.parameters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=0.1)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0191A9-AF39-DFA2-DD6E-A46ACD670F8A}"/>
              </a:ext>
            </a:extLst>
          </p:cNvPr>
          <p:cNvSpPr txBox="1"/>
          <p:nvPr/>
        </p:nvSpPr>
        <p:spPr>
          <a:xfrm>
            <a:off x="6210991" y="1883738"/>
            <a:ext cx="5314260" cy="35394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학습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epoch in range(500):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out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loss = criterion(out,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예측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([[-5.0]])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(-5.0):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(+5.0):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E7D529-0B99-F34C-9456-A4BCF215413E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분류는 입력 데이터가 어느 그룹에 속하는지 판단하는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작으면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크면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이진 분류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43C82E-B978-5041-E3A6-54E38B1E57E2}"/>
              </a:ext>
            </a:extLst>
          </p:cNvPr>
          <p:cNvSpPr txBox="1"/>
          <p:nvPr/>
        </p:nvSpPr>
        <p:spPr>
          <a:xfrm>
            <a:off x="5876925" y="5880269"/>
            <a:ext cx="1872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 err="1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loss_function</a:t>
            </a:r>
            <a:endParaRPr lang="ko-KR" altLang="en-US" sz="1600" b="1" dirty="0">
              <a:solidFill>
                <a:srgbClr val="C00000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44300631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1740</TotalTime>
  <Words>4396</Words>
  <Application>Microsoft Office PowerPoint</Application>
  <PresentationFormat>와이드스크린</PresentationFormat>
  <Paragraphs>543</Paragraphs>
  <Slides>49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49</vt:i4>
      </vt:variant>
    </vt:vector>
  </HeadingPairs>
  <TitlesOfParts>
    <vt:vector size="61" baseType="lpstr">
      <vt:lpstr>D2Coding</vt:lpstr>
      <vt:lpstr>NanumGothicExtraBold</vt:lpstr>
      <vt:lpstr>맑은 고딕</vt:lpstr>
      <vt:lpstr>맑은 고딕 Semilight</vt:lpstr>
      <vt:lpstr>바탕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Goals</vt:lpstr>
      <vt:lpstr>Motivation</vt:lpstr>
      <vt:lpstr>Henrietta_Swan_Leavitt</vt:lpstr>
      <vt:lpstr>Terminology</vt:lpstr>
      <vt:lpstr>Contents</vt:lpstr>
      <vt:lpstr>Linear Regression</vt:lpstr>
      <vt:lpstr>Linear Regression as dot product form</vt:lpstr>
      <vt:lpstr>Linear Regression as dot product form</vt:lpstr>
      <vt:lpstr>Fitting a line to data</vt:lpstr>
      <vt:lpstr>Matrix Formulation</vt:lpstr>
      <vt:lpstr>Ordinary Least Squares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     Perceptron and Regression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55</cp:revision>
  <dcterms:created xsi:type="dcterms:W3CDTF">2026-04-06T01:00:39Z</dcterms:created>
  <dcterms:modified xsi:type="dcterms:W3CDTF">2026-04-22T14:35:20Z</dcterms:modified>
  <cp:version/>
</cp:coreProperties>
</file>