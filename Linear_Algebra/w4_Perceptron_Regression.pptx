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8"/>
  </p:notesMasterIdLst>
  <p:handoutMasterIdLst>
    <p:handoutMasterId r:id="rId59"/>
  </p:handoutMasterIdLst>
  <p:sldIdLst>
    <p:sldId id="256" r:id="rId2"/>
    <p:sldId id="355" r:id="rId3"/>
    <p:sldId id="966" r:id="rId4"/>
    <p:sldId id="942" r:id="rId5"/>
    <p:sldId id="941" r:id="rId6"/>
    <p:sldId id="940" r:id="rId7"/>
    <p:sldId id="847" r:id="rId8"/>
    <p:sldId id="943" r:id="rId9"/>
    <p:sldId id="944" r:id="rId10"/>
    <p:sldId id="335" r:id="rId11"/>
    <p:sldId id="938" r:id="rId12"/>
    <p:sldId id="871" r:id="rId13"/>
    <p:sldId id="872" r:id="rId14"/>
    <p:sldId id="947" r:id="rId15"/>
    <p:sldId id="931" r:id="rId16"/>
    <p:sldId id="958" r:id="rId17"/>
    <p:sldId id="970" r:id="rId18"/>
    <p:sldId id="971" r:id="rId19"/>
    <p:sldId id="873" r:id="rId20"/>
    <p:sldId id="907" r:id="rId21"/>
    <p:sldId id="945" r:id="rId22"/>
    <p:sldId id="946" r:id="rId23"/>
    <p:sldId id="930" r:id="rId24"/>
    <p:sldId id="851" r:id="rId25"/>
    <p:sldId id="985" r:id="rId26"/>
    <p:sldId id="984" r:id="rId27"/>
    <p:sldId id="852" r:id="rId28"/>
    <p:sldId id="969" r:id="rId29"/>
    <p:sldId id="937" r:id="rId30"/>
    <p:sldId id="883" r:id="rId31"/>
    <p:sldId id="988" r:id="rId32"/>
    <p:sldId id="989" r:id="rId33"/>
    <p:sldId id="981" r:id="rId34"/>
    <p:sldId id="974" r:id="rId35"/>
    <p:sldId id="975" r:id="rId36"/>
    <p:sldId id="954" r:id="rId37"/>
    <p:sldId id="882" r:id="rId38"/>
    <p:sldId id="932" r:id="rId39"/>
    <p:sldId id="978" r:id="rId40"/>
    <p:sldId id="973" r:id="rId41"/>
    <p:sldId id="977" r:id="rId42"/>
    <p:sldId id="986" r:id="rId43"/>
    <p:sldId id="976" r:id="rId44"/>
    <p:sldId id="886" r:id="rId45"/>
    <p:sldId id="949" r:id="rId46"/>
    <p:sldId id="991" r:id="rId47"/>
    <p:sldId id="990" r:id="rId48"/>
    <p:sldId id="992" r:id="rId49"/>
    <p:sldId id="987" r:id="rId50"/>
    <p:sldId id="982" r:id="rId51"/>
    <p:sldId id="983" r:id="rId52"/>
    <p:sldId id="968" r:id="rId53"/>
    <p:sldId id="908" r:id="rId54"/>
    <p:sldId id="885" r:id="rId55"/>
    <p:sldId id="979" r:id="rId56"/>
    <p:sldId id="980" r:id="rId5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66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47"/>
            <p14:sldId id="931"/>
            <p14:sldId id="958"/>
            <p14:sldId id="970"/>
            <p14:sldId id="971"/>
            <p14:sldId id="873"/>
            <p14:sldId id="907"/>
            <p14:sldId id="945"/>
            <p14:sldId id="946"/>
            <p14:sldId id="930"/>
            <p14:sldId id="851"/>
            <p14:sldId id="985"/>
            <p14:sldId id="984"/>
            <p14:sldId id="852"/>
            <p14:sldId id="969"/>
            <p14:sldId id="937"/>
            <p14:sldId id="883"/>
            <p14:sldId id="988"/>
            <p14:sldId id="989"/>
            <p14:sldId id="981"/>
            <p14:sldId id="974"/>
            <p14:sldId id="975"/>
            <p14:sldId id="954"/>
            <p14:sldId id="882"/>
            <p14:sldId id="932"/>
            <p14:sldId id="978"/>
            <p14:sldId id="973"/>
            <p14:sldId id="977"/>
            <p14:sldId id="986"/>
            <p14:sldId id="976"/>
            <p14:sldId id="886"/>
            <p14:sldId id="949"/>
            <p14:sldId id="991"/>
            <p14:sldId id="990"/>
            <p14:sldId id="992"/>
            <p14:sldId id="987"/>
            <p14:sldId id="982"/>
            <p14:sldId id="983"/>
            <p14:sldId id="968"/>
            <p14:sldId id="908"/>
            <p14:sldId id="885"/>
            <p14:sldId id="979"/>
            <p14:sldId id="98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DD462F"/>
    <a:srgbClr val="404040"/>
    <a:srgbClr val="FF9B45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416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1D81-A265-D880-C635-EAD07AEC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BAE91-53B6-8719-6275-1630D635A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963A6B-FD6B-A459-4A79-370C8D472E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7138-DD64-C927-EE43-6A948B74F0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3568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C12CA-9D2F-F288-FA76-3143D6F94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E904F3-3AB1-ACD5-18C2-8CD568856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0EC024-0D98-D39D-2E50-BDA85B9AAF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811EF2-08FC-31B3-3B73-F3AB562559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061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3F987-F2FF-8FE5-C93A-60FA8597F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FE57C7-7F72-B9F3-D10C-DF821448FC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A86459-E845-2D50-AAA1-9332006DD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1FD7CA-87C4-81E5-E6F3-143D2EFED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961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loss_function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sv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20.jpe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gi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gif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hyperlink" Target="https://numpy.org/doc/stable/user/absolute_beginners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6FkRvTtUc-o?si=U153Vros53kOdnvM&amp;t=1610" TargetMode="External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youtube.com/shorts/E4VGh3CthvA" TargetMode="External"/><Relationship Id="rId4" Type="http://schemas.openxmlformats.org/officeDocument/2006/relationships/image" Target="../media/image5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60.png"/><Relationship Id="rId2" Type="http://schemas.openxmlformats.org/officeDocument/2006/relationships/hyperlink" Target="https://github.com/ancestor9/mathematics-for-machine-learning/blob/main/excel/stochasti%20gradient%20descent.xlsx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png"/><Relationship Id="rId11" Type="http://schemas.openxmlformats.org/officeDocument/2006/relationships/image" Target="../media/image64.png"/><Relationship Id="rId5" Type="http://schemas.openxmlformats.org/officeDocument/2006/relationships/image" Target="../media/image58.png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0.png"/><Relationship Id="rId13" Type="http://schemas.openxmlformats.org/officeDocument/2006/relationships/image" Target="../media/image69.png"/><Relationship Id="rId3" Type="http://schemas.openxmlformats.org/officeDocument/2006/relationships/image" Target="../media/image530.png"/><Relationship Id="rId7" Type="http://schemas.openxmlformats.org/officeDocument/2006/relationships/image" Target="../media/image570.png"/><Relationship Id="rId12" Type="http://schemas.openxmlformats.org/officeDocument/2006/relationships/image" Target="../media/image68.png"/><Relationship Id="rId2" Type="http://schemas.openxmlformats.org/officeDocument/2006/relationships/image" Target="../media/image52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0.png"/><Relationship Id="rId11" Type="http://schemas.openxmlformats.org/officeDocument/2006/relationships/image" Target="../media/image610.png"/><Relationship Id="rId5" Type="http://schemas.openxmlformats.org/officeDocument/2006/relationships/image" Target="../media/image550.png"/><Relationship Id="rId10" Type="http://schemas.openxmlformats.org/officeDocument/2006/relationships/image" Target="../media/image600.png"/><Relationship Id="rId4" Type="http://schemas.openxmlformats.org/officeDocument/2006/relationships/image" Target="../media/image540.png"/><Relationship Id="rId9" Type="http://schemas.openxmlformats.org/officeDocument/2006/relationships/image" Target="../media/image590.png"/><Relationship Id="rId14" Type="http://schemas.openxmlformats.org/officeDocument/2006/relationships/image" Target="../media/image64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jpe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excel/stochasti%20gradient%20descent.xlsx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7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hyperlink" Target="https://github.com/ancestor9/mathematics-for-machine-learning/blob/main/excel/loss_functions.xlsx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mathematics-for-machine-learning/blob/main/excel/XOR_perceptron_optimization_backprpagation_sgd.xlsx" TargetMode="External"/><Relationship Id="rId4" Type="http://schemas.openxmlformats.org/officeDocument/2006/relationships/hyperlink" Target="https://www.youtube.com/watch?v=t3VBY9OisCo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outube.com/watch?v=ILsA4nyG7I0" TargetMode="External"/><Relationship Id="rId5" Type="http://schemas.openxmlformats.org/officeDocument/2006/relationships/hyperlink" Target="https://github.com/ancestor9/mathematics-for-machine-learning/blob/main/scripts/w4_pytorch_tutorial.ipynb" TargetMode="External"/><Relationship Id="rId4" Type="http://schemas.openxmlformats.org/officeDocument/2006/relationships/image" Target="../media/image93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tree/main/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Linear Regression and Perceptron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Goals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798297" y="1778359"/>
            <a:ext cx="10553194" cy="3432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선형회귀분석의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(Loss Function)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이해 및 실습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선형대수 관점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Formation)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이해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Descent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(Optimizer)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미분관점에서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(Backpropagation)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이해하고 파이썬 코딩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파이썬 코딩하고 예측하기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25C-7A25-9FC5-D434-0EE983F9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09595DB-0ABE-1C50-ACE6-C610EEA74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D34A0A-64FE-C81A-281C-D43D60FAFB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EF07BE3-EDEE-87D9-75C4-323C2D94D3B0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EDD85FC-2735-4C7D-C8A8-7F03C55E6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82E32BA-37F8-9E5F-9D54-CBD93D5342E7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A77238E-52D8-FCD0-021A-A5F1D965EF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63C96A-E8EF-AC4B-F20D-A1545E818AD2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CDE21E-C694-BE8C-5DF1-BBB766ED26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6B28F39-5BCF-B7E1-F085-FC626F0FC2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985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4107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 Loss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971550" lvl="1" indent="-5143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00" y="2157976"/>
            <a:ext cx="5703442" cy="1809613"/>
          </a:xfrm>
          <a:prstGeom prst="rect">
            <a:avLst/>
          </a:prstGeom>
        </p:spPr>
      </p:pic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87458C-A8A4-997D-69D5-0962A19E1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500" y="4070130"/>
            <a:ext cx="6778766" cy="2102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대수학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01DCA9-D8DE-A682-34B7-BD2842C0B192}"/>
              </a:ext>
            </a:extLst>
          </p:cNvPr>
          <p:cNvSpPr txBox="1"/>
          <p:nvPr/>
        </p:nvSpPr>
        <p:spPr>
          <a:xfrm>
            <a:off x="1441896" y="2787549"/>
            <a:ext cx="4349304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sympy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기호 변수 및 데이터 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w, b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sp.symbols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('w b')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[1, 2, 3, 4, 5]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[2.1, 3.9, 6.2, 8.1, 10.1]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손실 함수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(MSE)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수식화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for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in range(n):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prediction = w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x_vals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 + b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    loss += (prediction -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y_vals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[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])**2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loss = loss / n    # MSE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print(loss)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72CB4E6-E15F-62DE-AE9B-422EB6956C75}"/>
              </a:ext>
            </a:extLst>
          </p:cNvPr>
          <p:cNvSpPr txBox="1"/>
          <p:nvPr/>
        </p:nvSpPr>
        <p:spPr>
          <a:xfrm>
            <a:off x="6171058" y="2787549"/>
            <a:ext cx="5062501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기울기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와 절편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편미분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w)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sp.diff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(loss, b)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f"b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에 대한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}")</a:t>
            </a:r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# 4.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미분값이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이 되는 연립 방정식 풀이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solution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sp.solve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diff_b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), (w, b))</a:t>
            </a:r>
          </a:p>
          <a:p>
            <a:b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</a:b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기울기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(w): {solution[w]:.4f}")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최적의 절편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Dubai Medium" panose="020B0603030403030204" pitchFamily="34" charset="-78"/>
              </a:rPr>
              <a:t>(b): {solution[b]:.4f}")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Dubai Medium" panose="020B0603030403030204" pitchFamily="34" charset="-7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DE6C56-8C04-C821-C062-22787CF3C890}"/>
              </a:ext>
            </a:extLst>
          </p:cNvPr>
          <p:cNvSpPr txBox="1"/>
          <p:nvPr/>
        </p:nvSpPr>
        <p:spPr>
          <a:xfrm>
            <a:off x="537021" y="1396721"/>
            <a:ext cx="1126807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단순회귀식의 손실함수를 정의하고 대수학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작성한 코드이다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미분방정식은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선형연립방정식으로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모두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될 때 손실함수가 가장 적다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선형방정식의 해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(w,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행렬식으로 변환하여 역행렬을 이용하여 구하고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아래 결과와 동일한지 확인하라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w4_loss_function.ipynb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코드 참고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0F436-6053-FD89-1446-89B8C57BE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A4FAE3-4AC5-2FA0-0D54-956F0333E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E53A998-A58D-FA2C-6620-C333A654B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C394F579-8FE9-23E0-8239-B37344AFA494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Algebra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323F81-3CF7-4939-B4DB-0F665B131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860" y="2220089"/>
            <a:ext cx="5070493" cy="4261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2B8666-8C0D-C4C5-9352-5B1143B83C12}"/>
              </a:ext>
            </a:extLst>
          </p:cNvPr>
          <p:cNvSpPr txBox="1"/>
          <p:nvPr/>
        </p:nvSpPr>
        <p:spPr>
          <a:xfrm>
            <a:off x="6241185" y="2238560"/>
            <a:ext cx="5542552" cy="10202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Equations are at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Optimal point(w, b):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diff_w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22*w + 6*b - 44.56 = 0  =&gt;  22*w + 6*b = 44.56</a:t>
            </a:r>
          </a:p>
          <a:p>
            <a:pPr>
              <a:lnSpc>
                <a:spcPct val="150000"/>
              </a:lnSpc>
            </a:pPr>
            <a:r>
              <a:rPr lang="en-US" altLang="ko-KR" sz="1400" i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diff_b</a:t>
            </a:r>
            <a:r>
              <a:rPr lang="en-US" altLang="ko-KR" sz="1400" i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6*w + 2*b - 12.16 = 0  =&gt;   6*w + 2*b = 12.16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E7B21F-0BE0-9A81-484F-6CA16EC53759}"/>
              </a:ext>
            </a:extLst>
          </p:cNvPr>
          <p:cNvCxnSpPr>
            <a:cxnSpLocks/>
          </p:cNvCxnSpPr>
          <p:nvPr/>
        </p:nvCxnSpPr>
        <p:spPr>
          <a:xfrm>
            <a:off x="8807805" y="3512402"/>
            <a:ext cx="0" cy="554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93F1C0D-3A98-56DD-D8A9-D5BC8F75F446}"/>
              </a:ext>
            </a:extLst>
          </p:cNvPr>
          <p:cNvSpPr txBox="1"/>
          <p:nvPr/>
        </p:nvSpPr>
        <p:spPr>
          <a:xfrm>
            <a:off x="6970858" y="4244402"/>
            <a:ext cx="444528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행렬식으로 변환하여 역행렬로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구하라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94461D9-CAE0-12A2-49C0-205DB4ED695C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611334" y="4683312"/>
            <a:ext cx="2583442" cy="132361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179F787-DAC9-EA08-04DD-063F2954CAE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055076" y="3499036"/>
            <a:ext cx="722857" cy="33855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0B0117-09C5-4529-0376-8BA59E003D54}"/>
              </a:ext>
            </a:extLst>
          </p:cNvPr>
          <p:cNvSpPr txBox="1"/>
          <p:nvPr/>
        </p:nvSpPr>
        <p:spPr>
          <a:xfrm>
            <a:off x="537021" y="1436139"/>
            <a:ext cx="112467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실제와 예측 값의 차이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그래프를 </a:t>
            </a:r>
            <a:r>
              <a:rPr lang="en-US" altLang="ko-KR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w, b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대해 미분하고 </a:t>
            </a:r>
            <a:r>
              <a:rPr lang="en-US" altLang="ko-KR" b="0" i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b="0" i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시각화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코딩하라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B2B217FE-4AAB-2DE3-6FEB-8B890599A97C}"/>
              </a:ext>
            </a:extLst>
          </p:cNvPr>
          <p:cNvCxnSpPr>
            <a:cxnSpLocks/>
          </p:cNvCxnSpPr>
          <p:nvPr/>
        </p:nvCxnSpPr>
        <p:spPr>
          <a:xfrm flipV="1">
            <a:off x="2219325" y="5301082"/>
            <a:ext cx="517779" cy="48326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6BE8122-76D2-1D02-31B8-0967BE072EDE}"/>
              </a:ext>
            </a:extLst>
          </p:cNvPr>
          <p:cNvCxnSpPr>
            <a:cxnSpLocks/>
          </p:cNvCxnSpPr>
          <p:nvPr/>
        </p:nvCxnSpPr>
        <p:spPr>
          <a:xfrm>
            <a:off x="2737104" y="5294751"/>
            <a:ext cx="1142046" cy="350145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래픽 22" descr="반시계 방향으로 굽은 화살표">
            <a:extLst>
              <a:ext uri="{FF2B5EF4-FFF2-40B4-BE49-F238E27FC236}">
                <a16:creationId xmlns:a16="http://schemas.microsoft.com/office/drawing/2014/main" id="{1BDA7337-425F-34F8-7ED3-63E9850FE5E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88336" y="5372968"/>
            <a:ext cx="312016" cy="312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032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E2B94-E098-6BEA-3052-DD8E91F85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3BC25-A2E9-D93A-4820-90A92286B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5B770CE-C0D0-41B8-616D-4A7A95E2C6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Algorithm(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2"/>
              </a:rPr>
              <a:t>sgd.xlsx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95AA7C4-A787-42EC-8403-2ADB14EE8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EC6645B1-FA5F-DFFA-7F41-0AADE5D706B0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D2E8ABF2-FD97-9482-CAB5-B0141AA2DCF4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417B34-C254-4F01-49E2-FF64AD86F2F5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4EADB233-588F-C11C-5B9E-AAE593EB7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14E7CD-C67B-3A4D-7F2F-3D06D53F15BD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4D23006-5A11-5A2D-AB80-34067D6B26BE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F7763A0-5F10-90F8-CA2D-7DCBCCC4DC68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B1489412-AE07-CA87-6810-2F75A3E329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D19B963-2A8F-570B-8ADF-E216636CC975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C9588AE1-5A12-75C5-1093-D747904B6E4F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3BDFB097-4555-EF5C-B891-91D9873249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AEBA13E-E249-B6C6-C592-9AFBAA038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22871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9B7E8-B3A7-FF21-5480-DC3A3EAB1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D2BC70-D57D-EEF5-DC69-826FD9B8C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CE7DD-C1AA-1B94-76C5-A133AAA325A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787A7674-55ED-543D-BF8F-53D8B60B4E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E0C0C27-BF30-17B6-8611-0466BFA805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66" y="2617573"/>
            <a:ext cx="5524466" cy="36421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2AD90B98-B534-CE1E-4664-22109CC86E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3964" y="2617573"/>
            <a:ext cx="3010047" cy="20495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4BF5BD5-920A-1FD2-1CB3-E878BBAE3D97}"/>
              </a:ext>
            </a:extLst>
          </p:cNvPr>
          <p:cNvSpPr txBox="1"/>
          <p:nvPr/>
        </p:nvSpPr>
        <p:spPr>
          <a:xfrm>
            <a:off x="561974" y="1248422"/>
            <a:ext cx="11334751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손실함수에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미분 값은 어느 방향으로 갈지 알려주고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 rate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얼마나 갈지 조절하여 주며 오차가 줄어드는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반대 방향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빼기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이동하는 것을 데이터 샘플마다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반복하면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α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β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점점 최적 값에 수렴</a:t>
            </a:r>
          </a:p>
        </p:txBody>
      </p:sp>
    </p:spTree>
    <p:extLst>
      <p:ext uri="{BB962C8B-B14F-4D97-AF65-F5344CB8AC3E}">
        <p14:creationId xmlns:p14="http://schemas.microsoft.com/office/powerpoint/2010/main" val="2444526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72C89-E962-AFB4-EA83-6DF916F7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DB6C60-BD48-B0C2-F448-471EBA07E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EE271DA-4B51-B1C5-29C9-886DF6D382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C16006-D0A7-2B57-EF1A-9498ABB73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3B124D7-D9A2-F644-7F5F-D2078513C01A}"/>
              </a:ext>
            </a:extLst>
          </p:cNvPr>
          <p:cNvSpPr txBox="1"/>
          <p:nvPr/>
        </p:nvSpPr>
        <p:spPr>
          <a:xfrm>
            <a:off x="561974" y="1296047"/>
            <a:ext cx="11334751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Python symbolic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손실함수를 각각 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엑셀파일의 수식과 동일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EDF9674-2C88-B5B8-7E8A-FA04E8A85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1575" y="3094888"/>
            <a:ext cx="2651990" cy="13869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01E274-6BFD-1DC2-F4E3-5867BCBF5E20}"/>
              </a:ext>
            </a:extLst>
          </p:cNvPr>
          <p:cNvSpPr txBox="1"/>
          <p:nvPr/>
        </p:nvSpPr>
        <p:spPr>
          <a:xfrm>
            <a:off x="609599" y="2469153"/>
            <a:ext cx="4857751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</a:t>
            </a: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 및 함수 선언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a, b, x, y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sympy.symbols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('a b x y')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sympy.Rational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2) * (a + b * x - y)**2</a:t>
            </a:r>
          </a:p>
          <a:p>
            <a:pPr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</a:t>
            </a: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a) # a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sympy.diff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(L, b)   # b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대해 </a:t>
            </a:r>
            <a:r>
              <a:rPr lang="ko-KR" altLang="en-US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편미분</a:t>
            </a:r>
            <a:b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 출력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grad_a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f"dL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{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grad_b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5E17BA-79CF-6D1E-A6E3-4AA41F8938BE}"/>
              </a:ext>
            </a:extLst>
          </p:cNvPr>
          <p:cNvSpPr txBox="1"/>
          <p:nvPr/>
        </p:nvSpPr>
        <p:spPr>
          <a:xfrm>
            <a:off x="5810250" y="3249759"/>
            <a:ext cx="370522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dL/d_a: a + b*x - y </a:t>
            </a:r>
          </a:p>
          <a:p>
            <a:endParaRPr lang="es-E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s-E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s-E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dL/d_b : x*(a + b*x - y)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19540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537021" y="1315240"/>
            <a:ext cx="10353762" cy="871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65019" y="1843928"/>
            <a:ext cx="6685294" cy="459600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7356924" y="1843928"/>
            <a:ext cx="4170057" cy="1733808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6924" y="3622641"/>
            <a:ext cx="3732731" cy="2481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10E062-9ECA-E8ED-6E94-831863833743}"/>
              </a:ext>
            </a:extLst>
          </p:cNvPr>
          <p:cNvSpPr txBox="1"/>
          <p:nvPr/>
        </p:nvSpPr>
        <p:spPr>
          <a:xfrm>
            <a:off x="638088" y="1267958"/>
            <a:ext cx="1124911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알고리즘을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파이썬으로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개발하고 몇 번의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확인하라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5237943" cy="132343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924444" y="2313008"/>
            <a:ext cx="270138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444" y="2651562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8F6135-E0C8-4ED3-386F-31501C547AA0}"/>
              </a:ext>
            </a:extLst>
          </p:cNvPr>
          <p:cNvSpPr txBox="1"/>
          <p:nvPr/>
        </p:nvSpPr>
        <p:spPr>
          <a:xfrm>
            <a:off x="537021" y="1457088"/>
            <a:ext cx="1132247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Fitted Line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여러 직선식은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마다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되는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 line)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numpy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: Multiplication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F2F399-986E-08AD-2FCF-E462E636B25E}"/>
              </a:ext>
            </a:extLst>
          </p:cNvPr>
          <p:cNvSpPr txBox="1"/>
          <p:nvPr/>
        </p:nvSpPr>
        <p:spPr>
          <a:xfrm>
            <a:off x="682906" y="222571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2, 3])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([4, 5, 6])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32 (1*4 + 2*5 + 3*6)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BB518C-633A-673B-41F0-BA4EEAC59452}"/>
              </a:ext>
            </a:extLst>
          </p:cNvPr>
          <p:cNvSpPr txBox="1"/>
          <p:nvPr/>
        </p:nvSpPr>
        <p:spPr>
          <a:xfrm>
            <a:off x="682906" y="4830208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([5, 6])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[17, 39]  -&gt; (1*5 + 2*6), (3*5 + 4*6)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96E929F-7FCC-43E7-604C-4CD3B88B20DD}"/>
              </a:ext>
            </a:extLst>
          </p:cNvPr>
          <p:cNvSpPr txBox="1"/>
          <p:nvPr/>
        </p:nvSpPr>
        <p:spPr>
          <a:xfrm>
            <a:off x="523269" y="1804226"/>
            <a:ext cx="70812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내적은 각 요소의 곱을 모두 더한 스칼라 값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AA8D6C6-DCDE-9891-741B-62695F35AC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8814" y="2230987"/>
            <a:ext cx="3444538" cy="69348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94DABCB4-1F9B-A797-8036-699B048035FA}"/>
              </a:ext>
            </a:extLst>
          </p:cNvPr>
          <p:cNvSpPr txBox="1"/>
          <p:nvPr/>
        </p:nvSpPr>
        <p:spPr>
          <a:xfrm>
            <a:off x="655898" y="4063641"/>
            <a:ext cx="6094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행과 벡터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내적의 결과는 벡터의 요소가 되며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열 개수와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차원이 같아야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94F38839-7FB8-6C62-A537-62572C760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8814" y="4830208"/>
            <a:ext cx="1386960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2897B-5850-8324-3C0D-618D465E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4CB9C6-E741-2A9E-32EA-83869EA25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0F7A888-1B54-6169-3254-125CD43F8C58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Numpy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Matrix &amp; vectors multiplication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0EFFDF-9AC1-3D29-415F-A4BAF9D85B9C}"/>
              </a:ext>
            </a:extLst>
          </p:cNvPr>
          <p:cNvSpPr txBox="1"/>
          <p:nvPr/>
        </p:nvSpPr>
        <p:spPr>
          <a:xfrm>
            <a:off x="657828" y="2139657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([1, 2])           # (2,)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([[3, 4], [5, 6]])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[13, 16] -&gt; (1*3 + 2*5), (1*4 + 2*6)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71D8D4-2F0F-5261-3B64-C80B5D8B1936}"/>
              </a:ext>
            </a:extLst>
          </p:cNvPr>
          <p:cNvSpPr txBox="1"/>
          <p:nvPr/>
        </p:nvSpPr>
        <p:spPr>
          <a:xfrm>
            <a:off x="657828" y="4659459"/>
            <a:ext cx="6094070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([[1, 2], [3, 4]])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([[5, 6], [7, 8]]) # (2, 2)</a:t>
            </a:r>
          </a:p>
          <a:p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         # 또는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# 결과: [[19, 22], [43, 50]]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1DE77-E6B6-7BC7-930F-2E7AD3BDE5B2}"/>
              </a:ext>
            </a:extLst>
          </p:cNvPr>
          <p:cNvSpPr txBox="1"/>
          <p:nvPr/>
        </p:nvSpPr>
        <p:spPr>
          <a:xfrm>
            <a:off x="657827" y="1651181"/>
            <a:ext cx="10353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벡터가 앞에 올 경우, 벡터를 행 벡터(1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)로 간주하여 연산하여 결과는 행 벡터 형태가 됨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38623C2-5E9F-22C3-E93E-1980B0962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40" y="2139657"/>
            <a:ext cx="1409822" cy="7239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319949-DED4-D938-BB73-D0199B12EACD}"/>
              </a:ext>
            </a:extLst>
          </p:cNvPr>
          <p:cNvSpPr txBox="1"/>
          <p:nvPr/>
        </p:nvSpPr>
        <p:spPr>
          <a:xfrm>
            <a:off x="657827" y="3986317"/>
            <a:ext cx="11113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곱은 행렬 C(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)가 되며 앞 행렬의 열과 뒤 행렬의 행 크기가 반드시 일치해야 함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D34EC6D-DBD8-CE6C-BD65-278DC9695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5771" y="4886210"/>
            <a:ext cx="1607959" cy="74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7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82FAC-8B02-DA13-DAE8-966A3227F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70EC2E-5196-074D-322B-509B171E0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2D5A94B-E061-E099-9B4C-9E9A6E951E3C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856092-EDD6-EC9C-D886-71ADC1243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C2383A87-F863-3AFA-D1FB-6DEE15280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B4876512-3D48-91AA-A13B-93244032FAB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58EB2E36-0D6F-AB9C-80C5-D24974DE3DB1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3C12CD5-543E-BB21-54C6-DCE133E172FE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222CDF3-5DD6-F66C-C35A-EAE2B1C39BC7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99E39E23-5161-FCAB-8AA6-8E20DB1ECC0F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23D3747-96E8-F6F2-6F50-C27559716D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5C5C93A0-F36E-96AC-940F-DD74C468C3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66DF7F2-12DB-7355-3986-58EFD56012A5}"/>
                </a:ext>
              </a:extLst>
            </p:cNvPr>
            <p:cNvSpPr txBox="1"/>
            <p:nvPr/>
          </p:nvSpPr>
          <p:spPr>
            <a:xfrm>
              <a:off x="9515475" y="2510221"/>
              <a:ext cx="2301464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600" dirty="0"/>
                <a:t>Matrix Formulation</a:t>
              </a:r>
              <a:endParaRPr lang="ko-KR" alt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80200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65B00755-4DB1-2290-0D18-9768794AE216}"/>
              </a:ext>
            </a:extLst>
          </p:cNvPr>
          <p:cNvSpPr txBox="1"/>
          <p:nvPr/>
        </p:nvSpPr>
        <p:spPr>
          <a:xfrm>
            <a:off x="7944345" y="5243953"/>
            <a:ext cx="3979034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휴먼옛체" panose="02030504000101010101" pitchFamily="18" charset="-127"/>
                <a:ea typeface="휴먼옛체" panose="02030504000101010101" pitchFamily="18" charset="-127"/>
                <a:cs typeface="맑은 고딕 Semilight" panose="020B0502040204020203" pitchFamily="50" charset="-127"/>
              </a:rPr>
              <a:t>(n, 1)   =   (n, 3) @ (3, 1)       +  (n,1)</a:t>
            </a:r>
            <a:endParaRPr lang="ko-KR" altLang="en-US" sz="1600" dirty="0">
              <a:latin typeface="휴먼옛체" panose="02030504000101010101" pitchFamily="18" charset="-127"/>
              <a:ea typeface="휴먼옛체" panose="02030504000101010101" pitchFamily="18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90AF9DB-ABDC-0C64-5932-6FEDD3D030B8}"/>
              </a:ext>
            </a:extLst>
          </p:cNvPr>
          <p:cNvSpPr txBox="1"/>
          <p:nvPr/>
        </p:nvSpPr>
        <p:spPr>
          <a:xfrm>
            <a:off x="8667037" y="2624259"/>
            <a:ext cx="2476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/>
              <a:t>Matrix Formulation</a:t>
            </a:r>
            <a:endParaRPr lang="ko-KR" altLang="en-US" sz="16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45D8B4D-97A1-8C20-11EB-B9303DFACF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54" y="3573619"/>
            <a:ext cx="4172517" cy="155513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79EF01-D57D-603E-DF74-20AFD06028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9220" y="3170262"/>
            <a:ext cx="3021634" cy="403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27C81-30CB-EDE9-6212-0D942057C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607E33-0636-3735-D4F5-750A6D09C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8BD5731-632F-3F50-6F85-82B8C5057E0B}"/>
              </a:ext>
            </a:extLst>
          </p:cNvPr>
          <p:cNvSpPr txBox="1">
            <a:spLocks/>
          </p:cNvSpPr>
          <p:nvPr/>
        </p:nvSpPr>
        <p:spPr>
          <a:xfrm>
            <a:off x="424266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Matrix inner product computation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 a Neural net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13FEBC-94D7-DD9B-28BB-433C56FB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4" y="2121512"/>
            <a:ext cx="9329333" cy="373649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6582C1-F7CE-8FEA-E957-3A95C7929EFD}"/>
              </a:ext>
            </a:extLst>
          </p:cNvPr>
          <p:cNvSpPr txBox="1"/>
          <p:nvPr/>
        </p:nvSpPr>
        <p:spPr>
          <a:xfrm>
            <a:off x="6369851" y="2102077"/>
            <a:ext cx="39132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Lecture 01. Introduction to Deep Learning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90E37-2EBD-CE68-3397-3E76743F473A}"/>
              </a:ext>
            </a:extLst>
          </p:cNvPr>
          <p:cNvSpPr txBox="1"/>
          <p:nvPr/>
        </p:nvSpPr>
        <p:spPr>
          <a:xfrm>
            <a:off x="1476848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F4D08A-479C-7D67-9E15-39421C53D104}"/>
              </a:ext>
            </a:extLst>
          </p:cNvPr>
          <p:cNvSpPr txBox="1"/>
          <p:nvPr/>
        </p:nvSpPr>
        <p:spPr>
          <a:xfrm>
            <a:off x="3766310" y="510503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22C84D-83A8-13A8-D900-5E6EFBAF94A6}"/>
              </a:ext>
            </a:extLst>
          </p:cNvPr>
          <p:cNvSpPr txBox="1"/>
          <p:nvPr/>
        </p:nvSpPr>
        <p:spPr>
          <a:xfrm>
            <a:off x="2341999" y="5105030"/>
            <a:ext cx="12174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736D2F-7D17-30B0-E491-1CF12BD60250}"/>
              </a:ext>
            </a:extLst>
          </p:cNvPr>
          <p:cNvSpPr txBox="1"/>
          <p:nvPr/>
        </p:nvSpPr>
        <p:spPr>
          <a:xfrm>
            <a:off x="7178711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C73F7-315B-C259-3295-AD3A2092910C}"/>
              </a:ext>
            </a:extLst>
          </p:cNvPr>
          <p:cNvSpPr txBox="1"/>
          <p:nvPr/>
        </p:nvSpPr>
        <p:spPr>
          <a:xfrm>
            <a:off x="6029648" y="5851595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8) =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6B441A-C44F-5EC4-74B9-3BDB0FE77125}"/>
              </a:ext>
            </a:extLst>
          </p:cNvPr>
          <p:cNvSpPr txBox="1"/>
          <p:nvPr/>
        </p:nvSpPr>
        <p:spPr>
          <a:xfrm>
            <a:off x="8071571" y="5851595"/>
            <a:ext cx="1189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@    (8,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8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F96A2044-660E-10D6-EE0C-10183DDC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0599" y="4350737"/>
            <a:ext cx="4156025" cy="15267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29EF98-EFA3-BF16-0472-A422519E267E}"/>
              </a:ext>
            </a:extLst>
          </p:cNvPr>
          <p:cNvSpPr txBox="1"/>
          <p:nvPr/>
        </p:nvSpPr>
        <p:spPr>
          <a:xfrm>
            <a:off x="488921" y="1390135"/>
            <a:ext cx="105023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딥러닝 프레임워크</a:t>
            </a:r>
            <a:r>
              <a:rPr lang="en-US" altLang="ko-KR" dirty="0"/>
              <a:t>(</a:t>
            </a:r>
            <a:r>
              <a:rPr lang="en-US" altLang="ko-KR" dirty="0" err="1"/>
              <a:t>PyTorch</a:t>
            </a:r>
            <a:r>
              <a:rPr lang="en-US" altLang="ko-KR" dirty="0"/>
              <a:t>, TensorFlow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에서 병렬 계산</a:t>
            </a:r>
            <a:r>
              <a:rPr lang="en-US" altLang="ko-KR" dirty="0"/>
              <a:t>(</a:t>
            </a:r>
            <a:r>
              <a:rPr lang="en-US" altLang="ko-KR" dirty="0">
                <a:hlinkClick r:id="rId5"/>
              </a:rPr>
              <a:t>GPU</a:t>
            </a:r>
            <a:r>
              <a:rPr lang="en-US" altLang="ko-KR" dirty="0"/>
              <a:t>)</a:t>
            </a:r>
            <a:r>
              <a:rPr lang="ko-KR" altLang="en-US" dirty="0"/>
              <a:t>을 수행</a:t>
            </a:r>
          </a:p>
        </p:txBody>
      </p:sp>
    </p:spTree>
    <p:extLst>
      <p:ext uri="{BB962C8B-B14F-4D97-AF65-F5344CB8AC3E}">
        <p14:creationId xmlns:p14="http://schemas.microsoft.com/office/powerpoint/2010/main" val="110242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2EACEF-AECA-904D-E6D9-8316CA45A2A3}"/>
              </a:ext>
            </a:extLst>
          </p:cNvPr>
          <p:cNvSpPr txBox="1"/>
          <p:nvPr/>
        </p:nvSpPr>
        <p:spPr>
          <a:xfrm>
            <a:off x="537021" y="1412240"/>
            <a:ext cx="6979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But what is a neural network? | Deep learning chapter 1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유튜브 동영상 보기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5D80E86D-5AED-94C3-6A24-06D296329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3680" y="1943846"/>
            <a:ext cx="6308709" cy="4467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559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99BFE-49D7-574E-C129-957F2C23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5DC6CD-EBCB-D35A-A7AE-7294F7D1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1FF0B4B-7793-E514-358D-D1BA70DA9969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4C5D0CF-AE7B-3A3F-7E3A-A8B2970A10DB}"/>
              </a:ext>
            </a:extLst>
          </p:cNvPr>
          <p:cNvSpPr txBox="1"/>
          <p:nvPr/>
        </p:nvSpPr>
        <p:spPr>
          <a:xfrm>
            <a:off x="544320" y="1224192"/>
            <a:ext cx="11392317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/>
              </a:rPr>
              <a:t>sgd.xlsx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입력변수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(5,1)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b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구조로 아래와 같이 설정하고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데이터를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개씩 입력하여 최종 예측 결과인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실제 값의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차이의 제곱을 최소화하는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a, b</a:t>
            </a:r>
            <a:r>
              <a:rPr lang="ko-KR" altLang="en-US" sz="1600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과정 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9425AEA0-D31F-45C0-DF21-5BF14AF47300}"/>
              </a:ext>
            </a:extLst>
          </p:cNvPr>
          <p:cNvSpPr/>
          <p:nvPr/>
        </p:nvSpPr>
        <p:spPr>
          <a:xfrm>
            <a:off x="2543175" y="3515240"/>
            <a:ext cx="840284" cy="81798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X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E5B0194-4379-CEFE-15AC-E1CC9C7CDA34}"/>
              </a:ext>
            </a:extLst>
          </p:cNvPr>
          <p:cNvCxnSpPr>
            <a:cxnSpLocks/>
            <a:stCxn id="3" idx="6"/>
            <a:endCxn id="19" idx="2"/>
          </p:cNvCxnSpPr>
          <p:nvPr/>
        </p:nvCxnSpPr>
        <p:spPr>
          <a:xfrm>
            <a:off x="3383459" y="3924230"/>
            <a:ext cx="3452092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타원 9">
            <a:extLst>
              <a:ext uri="{FF2B5EF4-FFF2-40B4-BE49-F238E27FC236}">
                <a16:creationId xmlns:a16="http://schemas.microsoft.com/office/drawing/2014/main" id="{2B41539A-E268-F490-CC02-5C475E24698F}"/>
              </a:ext>
            </a:extLst>
          </p:cNvPr>
          <p:cNvSpPr/>
          <p:nvPr/>
        </p:nvSpPr>
        <p:spPr>
          <a:xfrm>
            <a:off x="5134739" y="4913157"/>
            <a:ext cx="840284" cy="817980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>
                <a:solidFill>
                  <a:schemeClr val="tx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b(bias)</a:t>
            </a:r>
            <a:endParaRPr lang="ko-KR" altLang="en-US" sz="1200" b="1" dirty="0">
              <a:solidFill>
                <a:schemeClr val="tx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23B24C2-28A6-4D10-0B3A-B029DC9411F4}"/>
              </a:ext>
            </a:extLst>
          </p:cNvPr>
          <p:cNvCxnSpPr>
            <a:cxnSpLocks/>
            <a:stCxn id="10" idx="7"/>
            <a:endCxn id="19" idx="3"/>
          </p:cNvCxnSpPr>
          <p:nvPr/>
        </p:nvCxnSpPr>
        <p:spPr>
          <a:xfrm flipV="1">
            <a:off x="5851966" y="4232469"/>
            <a:ext cx="1106642" cy="8004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/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ko-KR" altLang="en-US" i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5CB086C-2BAF-4A22-FB82-6AC8CAD971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44" y="3567293"/>
                <a:ext cx="426142" cy="276999"/>
              </a:xfrm>
              <a:prstGeom prst="rect">
                <a:avLst/>
              </a:prstGeom>
              <a:blipFill>
                <a:blip r:embed="rId3"/>
                <a:stretch>
                  <a:fillRect l="-7143" r="-2857" b="-173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/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i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01D02E-6AC5-B238-E1BB-D925EE1B5A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7464" y="4417083"/>
                <a:ext cx="861069" cy="276999"/>
              </a:xfrm>
              <a:prstGeom prst="rect">
                <a:avLst/>
              </a:prstGeom>
              <a:blipFill>
                <a:blip r:embed="rId4"/>
                <a:stretch>
                  <a:fillRect l="-2837" r="-4965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타원 18">
            <a:extLst>
              <a:ext uri="{FF2B5EF4-FFF2-40B4-BE49-F238E27FC236}">
                <a16:creationId xmlns:a16="http://schemas.microsoft.com/office/drawing/2014/main" id="{45217D06-30A4-CE06-3738-BF261C5E2678}"/>
              </a:ext>
            </a:extLst>
          </p:cNvPr>
          <p:cNvSpPr/>
          <p:nvPr/>
        </p:nvSpPr>
        <p:spPr>
          <a:xfrm>
            <a:off x="6835551" y="3515240"/>
            <a:ext cx="840286" cy="84028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/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1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 + </m:t>
                          </m:r>
                          <m:r>
                            <m:rPr>
                              <m:sty m:val="p"/>
                            </m:rPr>
                            <a:rPr kumimoji="0" lang="en-US" altLang="ko-KR" sz="1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nary>
                    </m:oMath>
                  </m:oMathPara>
                </a14:m>
                <a:endParaRPr kumimoji="0" lang="ko-KR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0C8572B-97CA-C333-CD3B-76E722D1B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58" y="2999954"/>
                <a:ext cx="1706399" cy="5881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D423EE6-C918-F311-380F-E9FA1D062375}"/>
              </a:ext>
            </a:extLst>
          </p:cNvPr>
          <p:cNvCxnSpPr>
            <a:cxnSpLocks/>
            <a:stCxn id="19" idx="0"/>
            <a:endCxn id="19" idx="4"/>
          </p:cNvCxnSpPr>
          <p:nvPr/>
        </p:nvCxnSpPr>
        <p:spPr>
          <a:xfrm>
            <a:off x="7255694" y="3515240"/>
            <a:ext cx="0" cy="84028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683254E-05B3-69DB-03AA-78002D833ED4}"/>
              </a:ext>
            </a:extLst>
          </p:cNvPr>
          <p:cNvCxnSpPr>
            <a:cxnSpLocks/>
            <a:stCxn id="19" idx="6"/>
          </p:cNvCxnSpPr>
          <p:nvPr/>
        </p:nvCxnSpPr>
        <p:spPr>
          <a:xfrm flipV="1">
            <a:off x="7675837" y="3924230"/>
            <a:ext cx="1131193" cy="1115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/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400" i="1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0" lang="en-US" altLang="ko-KR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z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2899664-0529-7DFF-D057-7CA68D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24749" y="3128932"/>
                <a:ext cx="654027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직사각형 66">
            <a:extLst>
              <a:ext uri="{FF2B5EF4-FFF2-40B4-BE49-F238E27FC236}">
                <a16:creationId xmlns:a16="http://schemas.microsoft.com/office/drawing/2014/main" id="{E9C596E4-1E62-4B84-87BB-5BB08482914A}"/>
              </a:ext>
            </a:extLst>
          </p:cNvPr>
          <p:cNvSpPr/>
          <p:nvPr/>
        </p:nvSpPr>
        <p:spPr>
          <a:xfrm>
            <a:off x="7195346" y="2386853"/>
            <a:ext cx="122475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Activation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/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en-US" altLang="ko-KR" sz="16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acc>
                      <m:r>
                        <a:rPr lang="en-US" altLang="ko-KR" sz="16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1600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600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7C0E1453-7E49-CDCC-2AF1-A77EF7802B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9422" y="3754953"/>
                <a:ext cx="2126880" cy="338554"/>
              </a:xfrm>
              <a:prstGeom prst="rect">
                <a:avLst/>
              </a:prstGeom>
              <a:blipFill>
                <a:blip r:embed="rId7"/>
                <a:stretch>
                  <a:fillRect b="-125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직사각형 1">
            <a:extLst>
              <a:ext uri="{FF2B5EF4-FFF2-40B4-BE49-F238E27FC236}">
                <a16:creationId xmlns:a16="http://schemas.microsoft.com/office/drawing/2014/main" id="{D1C87C6D-B6F7-E7F9-521E-3D2F40D3D3F4}"/>
              </a:ext>
            </a:extLst>
          </p:cNvPr>
          <p:cNvSpPr/>
          <p:nvPr/>
        </p:nvSpPr>
        <p:spPr>
          <a:xfrm>
            <a:off x="207140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Input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AF0D505-7E90-D3A5-3CAD-21E3C3F5D99F}"/>
              </a:ext>
            </a:extLst>
          </p:cNvPr>
          <p:cNvSpPr/>
          <p:nvPr/>
        </p:nvSpPr>
        <p:spPr>
          <a:xfrm>
            <a:off x="4000769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Weights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B19BC54-88B7-DDEC-9A83-7D18D33813FB}"/>
              </a:ext>
            </a:extLst>
          </p:cNvPr>
          <p:cNvSpPr/>
          <p:nvPr/>
        </p:nvSpPr>
        <p:spPr>
          <a:xfrm>
            <a:off x="5614748" y="2379460"/>
            <a:ext cx="16948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Weighted sum : inner</a:t>
            </a:r>
            <a:r>
              <a:rPr lang="ko-KR" altLang="en-US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product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C853E-83A7-748B-1018-8D4A0AEE5605}"/>
              </a:ext>
            </a:extLst>
          </p:cNvPr>
          <p:cNvSpPr/>
          <p:nvPr/>
        </p:nvSpPr>
        <p:spPr>
          <a:xfrm>
            <a:off x="8654352" y="2386853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Output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B84292-048D-CC2D-611C-4D849A0875F8}"/>
              </a:ext>
            </a:extLst>
          </p:cNvPr>
          <p:cNvSpPr/>
          <p:nvPr/>
        </p:nvSpPr>
        <p:spPr>
          <a:xfrm>
            <a:off x="3661452" y="2896271"/>
            <a:ext cx="5006298" cy="3041623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E48D8F8-98D4-7429-88BE-455A8189E92F}"/>
              </a:ext>
            </a:extLst>
          </p:cNvPr>
          <p:cNvSpPr/>
          <p:nvPr/>
        </p:nvSpPr>
        <p:spPr>
          <a:xfrm>
            <a:off x="10283127" y="2379460"/>
            <a:ext cx="178018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Actual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/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600" b="0" i="1" smtClean="0">
                          <a:latin typeface="Cambria Math" panose="02040503050406030204" pitchFamily="18" charset="0"/>
                        </a:rPr>
                        <m:t>y</m:t>
                      </m:r>
                    </m:oMath>
                  </m:oMathPara>
                </a14:m>
                <a:endParaRPr lang="ko-KR" altLang="en-US" sz="1600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F254B521-12D5-09E7-6038-24D7247A77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9936" y="3754953"/>
                <a:ext cx="601170" cy="338554"/>
              </a:xfrm>
              <a:prstGeom prst="rect">
                <a:avLst/>
              </a:prstGeom>
              <a:blipFill>
                <a:blip r:embed="rId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그림 25">
            <a:extLst>
              <a:ext uri="{FF2B5EF4-FFF2-40B4-BE49-F238E27FC236}">
                <a16:creationId xmlns:a16="http://schemas.microsoft.com/office/drawing/2014/main" id="{5E615629-25CC-350E-7711-C87E5ED9069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914" y="4331477"/>
            <a:ext cx="1214595" cy="1253242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E3D4FDAA-A454-51E2-EB7C-210D15852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14011" y="4232469"/>
            <a:ext cx="996643" cy="12291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2B98FF0-1326-357A-5E2C-BF0E9BF44D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84161" y="4232470"/>
            <a:ext cx="1256876" cy="122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836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D66B-342A-6D55-DED5-4B908E279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7381D7-0B8E-8DA1-09EA-C155D5BFD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8D1FBA-0F36-8335-6120-E2768DBFA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976" y="1580162"/>
            <a:ext cx="2733822" cy="2024079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0F441928-D24A-BE6F-9B13-371458794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3361" y="1286625"/>
            <a:ext cx="2336456" cy="2488533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07B7AFC-8546-F672-09CC-7E0D55C0AD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3288" y="3718644"/>
            <a:ext cx="9167654" cy="2903472"/>
          </a:xfrm>
          <a:prstGeom prst="rect">
            <a:avLst/>
          </a:prstGeom>
        </p:spPr>
      </p:pic>
      <p:sp>
        <p:nvSpPr>
          <p:cNvPr id="31" name="제목 1">
            <a:extLst>
              <a:ext uri="{FF2B5EF4-FFF2-40B4-BE49-F238E27FC236}">
                <a16:creationId xmlns:a16="http://schemas.microsoft.com/office/drawing/2014/main" id="{0AA65A2D-0A54-B71F-1012-675AB3E5993C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Recap : </a:t>
            </a:r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Percetron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= simple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1443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076B-271E-F396-1E87-506FB3DF0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타원 1">
            <a:extLst>
              <a:ext uri="{FF2B5EF4-FFF2-40B4-BE49-F238E27FC236}">
                <a16:creationId xmlns:a16="http://schemas.microsoft.com/office/drawing/2014/main" id="{75B5A308-045A-11C6-CE52-5425D8AE1479}"/>
              </a:ext>
            </a:extLst>
          </p:cNvPr>
          <p:cNvSpPr/>
          <p:nvPr/>
        </p:nvSpPr>
        <p:spPr>
          <a:xfrm>
            <a:off x="5473138" y="3207102"/>
            <a:ext cx="2033870" cy="2033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D14F32-CD11-71F2-8B85-9981541A4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A2CB347-45E3-9BD7-AE94-850A009BEEC3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/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D0E8A225-EF51-CC43-B3FD-4CF1B6C2589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2815475"/>
                <a:ext cx="524311" cy="400110"/>
              </a:xfrm>
              <a:prstGeom prst="rect">
                <a:avLst/>
              </a:prstGeom>
              <a:blipFill>
                <a:blip r:embed="rId2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/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F943628-63C6-6CC6-1DEC-DE9C38D919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3321678"/>
                <a:ext cx="530273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/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D683208C-B2BB-29BF-2C48-4DA119E75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806" y="5263836"/>
                <a:ext cx="546303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/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0ACEEC5F-0089-895B-5DAC-3E4F53B2AB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8897" y="3663492"/>
                <a:ext cx="397865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/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8B87A88-F7DE-1BF3-885D-3BBBAB26AC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483" y="4028125"/>
                <a:ext cx="397865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/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ko-KR" sz="2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0" lang="ko-KR" altLang="en-US" sz="2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16B78A7C-9CB8-3155-62E5-3B2D635F67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7433" y="4812527"/>
                <a:ext cx="397865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구부러진 연결선 42">
            <a:extLst>
              <a:ext uri="{FF2B5EF4-FFF2-40B4-BE49-F238E27FC236}">
                <a16:creationId xmlns:a16="http://schemas.microsoft.com/office/drawing/2014/main" id="{CEC9145E-6BE3-3522-46BA-A1F8DFE27389}"/>
              </a:ext>
            </a:extLst>
          </p:cNvPr>
          <p:cNvCxnSpPr>
            <a:cxnSpLocks/>
            <a:stCxn id="48" idx="6"/>
          </p:cNvCxnSpPr>
          <p:nvPr/>
        </p:nvCxnSpPr>
        <p:spPr bwMode="auto">
          <a:xfrm>
            <a:off x="2365859" y="3017429"/>
            <a:ext cx="2960764" cy="769000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4" name="구부러진 연결선 43">
            <a:extLst>
              <a:ext uri="{FF2B5EF4-FFF2-40B4-BE49-F238E27FC236}">
                <a16:creationId xmlns:a16="http://schemas.microsoft.com/office/drawing/2014/main" id="{405150CF-C762-F04C-6232-F9EA8828B66B}"/>
              </a:ext>
            </a:extLst>
          </p:cNvPr>
          <p:cNvCxnSpPr>
            <a:cxnSpLocks/>
            <a:stCxn id="49" idx="6"/>
          </p:cNvCxnSpPr>
          <p:nvPr/>
        </p:nvCxnSpPr>
        <p:spPr bwMode="auto">
          <a:xfrm>
            <a:off x="2365859" y="3638115"/>
            <a:ext cx="2973221" cy="5485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cxnSp>
        <p:nvCxnSpPr>
          <p:cNvPr id="15" name="구부러진 연결선 44">
            <a:extLst>
              <a:ext uri="{FF2B5EF4-FFF2-40B4-BE49-F238E27FC236}">
                <a16:creationId xmlns:a16="http://schemas.microsoft.com/office/drawing/2014/main" id="{2E2FEB6B-E706-ADAD-A05B-FF897D578B27}"/>
              </a:ext>
            </a:extLst>
          </p:cNvPr>
          <p:cNvCxnSpPr>
            <a:cxnSpLocks/>
            <a:stCxn id="50" idx="6"/>
          </p:cNvCxnSpPr>
          <p:nvPr/>
        </p:nvCxnSpPr>
        <p:spPr bwMode="auto">
          <a:xfrm flipV="1">
            <a:off x="2394259" y="4464567"/>
            <a:ext cx="2944821" cy="943797"/>
          </a:xfrm>
          <a:prstGeom prst="curvedConnector3">
            <a:avLst>
              <a:gd name="adj1" fmla="val 50000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/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2063F76B-58B4-B8E7-8A4C-0702475347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8987" y="2699504"/>
                <a:ext cx="798551" cy="400110"/>
              </a:xfrm>
              <a:prstGeom prst="rect">
                <a:avLst/>
              </a:prstGeom>
              <a:blipFill>
                <a:blip r:embed="rId8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/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pt-BR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ko-KR" sz="20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kumimoji="0" lang="en-US" altLang="ko-KR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50F7DAF-9BD4-1413-256A-5B6B51CBC8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581" y="3727706"/>
                <a:ext cx="854695" cy="84029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/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498A38C7-414E-7E4C-1437-35857C5AC0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2542" y="4706145"/>
                <a:ext cx="834779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B919A0C-13B1-E652-5D73-08324B063105}"/>
              </a:ext>
            </a:extLst>
          </p:cNvPr>
          <p:cNvCxnSpPr>
            <a:cxnSpLocks/>
          </p:cNvCxnSpPr>
          <p:nvPr/>
        </p:nvCxnSpPr>
        <p:spPr bwMode="auto">
          <a:xfrm>
            <a:off x="8128000" y="4193917"/>
            <a:ext cx="662994" cy="1059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AD86961-E53D-74BC-169C-6DAC650877E4}"/>
              </a:ext>
            </a:extLst>
          </p:cNvPr>
          <p:cNvSpPr/>
          <p:nvPr/>
        </p:nvSpPr>
        <p:spPr>
          <a:xfrm>
            <a:off x="6904514" y="3078717"/>
            <a:ext cx="178489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Activation </a:t>
            </a:r>
          </a:p>
          <a:p>
            <a:pPr marR="0" lvl="0" algn="ctr" defTabSz="914400" rtl="0" eaLnBrk="1" fontAlgn="base" latinLnBrk="1" hangingPunct="1"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function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74A92C7-5CA5-C7C6-5D4B-C2B781294039}"/>
              </a:ext>
            </a:extLst>
          </p:cNvPr>
          <p:cNvSpPr/>
          <p:nvPr/>
        </p:nvSpPr>
        <p:spPr>
          <a:xfrm>
            <a:off x="1340095" y="2508652"/>
            <a:ext cx="9764785" cy="3373988"/>
          </a:xfrm>
          <a:prstGeom prst="rect">
            <a:avLst/>
          </a:prstGeom>
          <a:noFill/>
          <a:ln w="127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92BE65-16E1-79AB-D58C-3B8B3F7C71A4}"/>
              </a:ext>
            </a:extLst>
          </p:cNvPr>
          <p:cNvSpPr txBox="1"/>
          <p:nvPr/>
        </p:nvSpPr>
        <p:spPr>
          <a:xfrm>
            <a:off x="9478614" y="2083095"/>
            <a:ext cx="748603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Output:</a:t>
            </a:r>
            <a:endParaRPr lang="ko-KR" altLang="en-US" sz="1600" b="1" dirty="0">
              <a:latin typeface="NanumGothicExtraBold" pitchFamily="2" charset="-127"/>
              <a:ea typeface="NanumGothicExtraBold" pitchFamily="2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/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0" i="0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ko-K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>
                          <a:latin typeface="Cambria Math" panose="02040503050406030204" pitchFamily="18" charset="0"/>
                        </a:rPr>
                        <m:t>activation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53276468-A63F-65FD-D521-E35600E78B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4514" y="4017376"/>
                <a:ext cx="2007281" cy="369332"/>
              </a:xfrm>
              <a:prstGeom prst="rect">
                <a:avLst/>
              </a:prstGeom>
              <a:blipFill>
                <a:blip r:embed="rId11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/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altLang="ko-KR" sz="1600" b="1" dirty="0">
                    <a:solidFill>
                      <a:prstClr val="black"/>
                    </a:solidFill>
                    <a:latin typeface="NanumGothicExtraBold" pitchFamily="2" charset="-127"/>
                    <a:ea typeface="NanumGothicExtraBold" pitchFamily="2" charset="-127"/>
                  </a:rPr>
                  <a:t>Weighted sum</a:t>
                </a:r>
                <a:r>
                  <a:rPr lang="en-US" altLang="ko-KR" sz="1600" b="1" dirty="0">
                    <a:latin typeface="NanumGothicExtraBold" pitchFamily="2" charset="-127"/>
                    <a:ea typeface="NanumGothicExtraBold" pitchFamily="2" charset="-127"/>
                  </a:rPr>
                  <a:t>: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ko-KR" sz="1600" b="1" i="1">
                        <a:latin typeface="Cambria Math" panose="02040503050406030204" pitchFamily="18" charset="0"/>
                      </a:rPr>
                      <m:t>𝐰</m:t>
                    </m:r>
                    <m:r>
                      <a:rPr lang="en-US" altLang="ko-KR" sz="1600" b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ko-KR" altLang="en-US" sz="1600" b="1" dirty="0"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>
          <p:sp>
            <p:nvSpPr>
              <p:cNvPr id="40" name="직사각형 39">
                <a:extLst>
                  <a:ext uri="{FF2B5EF4-FFF2-40B4-BE49-F238E27FC236}">
                    <a16:creationId xmlns:a16="http://schemas.microsoft.com/office/drawing/2014/main" id="{9E56D8AA-7E33-51D5-30C9-19504F2C7B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7829" y="2083095"/>
                <a:ext cx="2524153" cy="342979"/>
              </a:xfrm>
              <a:prstGeom prst="rect">
                <a:avLst/>
              </a:prstGeom>
              <a:blipFill>
                <a:blip r:embed="rId12"/>
                <a:stretch>
                  <a:fillRect l="-1208" t="-3571" b="-232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직사각형 40">
            <a:extLst>
              <a:ext uri="{FF2B5EF4-FFF2-40B4-BE49-F238E27FC236}">
                <a16:creationId xmlns:a16="http://schemas.microsoft.com/office/drawing/2014/main" id="{BA7FF963-6D65-A369-12AE-0026E2114155}"/>
              </a:ext>
            </a:extLst>
          </p:cNvPr>
          <p:cNvSpPr/>
          <p:nvPr/>
        </p:nvSpPr>
        <p:spPr>
          <a:xfrm>
            <a:off x="3248987" y="2083095"/>
            <a:ext cx="9685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Weights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EE9A40A-EA84-6616-C52A-048653517572}"/>
              </a:ext>
            </a:extLst>
          </p:cNvPr>
          <p:cNvSpPr/>
          <p:nvPr/>
        </p:nvSpPr>
        <p:spPr>
          <a:xfrm>
            <a:off x="1676242" y="2083095"/>
            <a:ext cx="6832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600" b="1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rPr>
              <a:t>Input</a:t>
            </a:r>
            <a:endParaRPr lang="ko-KR" altLang="en-US" sz="1600" b="1">
              <a:latin typeface="NanumGothicExtraBold" pitchFamily="2" charset="-127"/>
              <a:ea typeface="NanumGothicExtraBold" pitchFamily="2" charset="-127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BE7EA826-D1DC-DA83-EFA1-66CB24AA4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2882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17166F0-759F-CE48-9450-E2B6C82896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630" y="3828165"/>
            <a:ext cx="930838" cy="752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/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en-US" altLang="ko-KR" sz="20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0" lang="en-US" altLang="ko-KR" sz="20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endParaRPr>
              </a:p>
            </p:txBody>
          </p:sp>
        </mc:Choice>
        <mc:Fallback xmlns="">
          <p:sp>
            <p:nvSpPr>
              <p:cNvPr id="47" name="직사각형 46">
                <a:extLst>
                  <a:ext uri="{FF2B5EF4-FFF2-40B4-BE49-F238E27FC236}">
                    <a16:creationId xmlns:a16="http://schemas.microsoft.com/office/drawing/2014/main" id="{A9FA0D81-FED3-6688-D063-9EAE827FB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16843" y="3302361"/>
                <a:ext cx="810478" cy="400110"/>
              </a:xfrm>
              <a:prstGeom prst="rect">
                <a:avLst/>
              </a:prstGeom>
              <a:blipFill>
                <a:blip r:embed="rId14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타원 47">
            <a:extLst>
              <a:ext uri="{FF2B5EF4-FFF2-40B4-BE49-F238E27FC236}">
                <a16:creationId xmlns:a16="http://schemas.microsoft.com/office/drawing/2014/main" id="{16ACF432-A2AA-96B1-F14D-49646C09F552}"/>
              </a:ext>
            </a:extLst>
          </p:cNvPr>
          <p:cNvSpPr/>
          <p:nvPr/>
        </p:nvSpPr>
        <p:spPr>
          <a:xfrm>
            <a:off x="1866119" y="2767559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CAB7B84C-2B17-22C5-0FEB-C9DCB4B7188F}"/>
              </a:ext>
            </a:extLst>
          </p:cNvPr>
          <p:cNvSpPr/>
          <p:nvPr/>
        </p:nvSpPr>
        <p:spPr>
          <a:xfrm>
            <a:off x="1866119" y="3388245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D831CB37-F93A-2ACA-6F30-0A2AB5F2B8D9}"/>
              </a:ext>
            </a:extLst>
          </p:cNvPr>
          <p:cNvSpPr/>
          <p:nvPr/>
        </p:nvSpPr>
        <p:spPr>
          <a:xfrm>
            <a:off x="1894519" y="5158494"/>
            <a:ext cx="499740" cy="4997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F81C9D0-32B1-3563-5DCB-C8E28199B78C}"/>
              </a:ext>
            </a:extLst>
          </p:cNvPr>
          <p:cNvCxnSpPr>
            <a:cxnSpLocks/>
            <a:stCxn id="2" idx="0"/>
            <a:endCxn id="2" idx="4"/>
          </p:cNvCxnSpPr>
          <p:nvPr/>
        </p:nvCxnSpPr>
        <p:spPr>
          <a:xfrm>
            <a:off x="6490073" y="3207102"/>
            <a:ext cx="0" cy="20338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65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5" grpId="0"/>
      <p:bldP spid="6" grpId="0"/>
      <p:bldP spid="7" grpId="0"/>
      <p:bldP spid="8" grpId="0"/>
      <p:bldP spid="9" grpId="0"/>
      <p:bldP spid="23" grpId="0"/>
      <p:bldP spid="24" grpId="0"/>
      <p:bldP spid="29" grpId="0"/>
      <p:bldP spid="35" grpId="0"/>
      <p:bldP spid="37" grpId="0"/>
      <p:bldP spid="38" grpId="0"/>
      <p:bldP spid="40" grpId="0"/>
      <p:bldP spid="41" grpId="0"/>
      <p:bldP spid="42" grpId="0"/>
      <p:bldP spid="47" grpId="0"/>
      <p:bldP spid="48" grpId="0" animBg="1"/>
      <p:bldP spid="49" grpId="0" animBg="1"/>
      <p:bldP spid="50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119D5-9F23-8555-D59C-C41F08314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6CB72-5B48-1EA8-DAE7-36CBC37D4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5E39D3E-B93A-FFDE-BB36-30AD59B0C59F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94B26EBA-7806-CC17-6CCE-79B909B81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817" y="1321328"/>
            <a:ext cx="11034365" cy="1065340"/>
          </a:xfrm>
        </p:spPr>
        <p:txBody>
          <a:bodyPr>
            <a:normAutofit fontScale="85000" lnSpcReduction="20000"/>
          </a:bodyPr>
          <a:lstStyle/>
          <a:p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활성화 함수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(Activation Function)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인공 신경망의 각 노드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뉴런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입력받은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신호의 총합을 출력 신호로 변환해주는 수학적 함수로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쉽게 비유하자면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우리 뇌의 뉴런이 일정 수준 이상의 자극을 받았을 때만 다음 뉴런으로 전기 신호를 보내는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전달 통로의 문지기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역할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204A54-9B4D-9FE8-6DBD-2FC79DE2C40B}"/>
              </a:ext>
            </a:extLst>
          </p:cNvPr>
          <p:cNvSpPr txBox="1"/>
          <p:nvPr/>
        </p:nvSpPr>
        <p:spPr>
          <a:xfrm>
            <a:off x="578817" y="3362236"/>
            <a:ext cx="3805653" cy="128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활성화 함수가 필요한가</a:t>
            </a:r>
            <a:r>
              <a:rPr lang="en-US" altLang="ko-KR" sz="18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모델에 비선형성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(Non-linearity)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추가하기 위해서</a:t>
            </a:r>
            <a:endParaRPr lang="ko-KR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6DE9A7-791E-7489-EBC3-BDF9C1EAC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6755" y="2488808"/>
            <a:ext cx="5216525" cy="40027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2363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73F17-1E7F-1F54-F339-B4732F93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173D9F-BF62-5D55-502F-D6EED8280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573C32F-78A2-7E69-33F7-E702D4CAB44A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6211AE7D-3714-5E7A-9A0E-90FC32B3E650}"/>
              </a:ext>
            </a:extLst>
          </p:cNvPr>
          <p:cNvSpPr txBox="1">
            <a:spLocks/>
          </p:cNvSpPr>
          <p:nvPr/>
        </p:nvSpPr>
        <p:spPr>
          <a:xfrm>
            <a:off x="632271" y="5670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Cells that fire together, wire together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In the top row, neurons are labeled with a fluorescent probe that reveals electrical activity. In the bottom row, neurons are labeled with a variant of the probe that accumulates specifically in the neuron cell bodies, preventing interference from axons of neighboring neurons.  ">
            <a:extLst>
              <a:ext uri="{FF2B5EF4-FFF2-40B4-BE49-F238E27FC236}">
                <a16:creationId xmlns:a16="http://schemas.microsoft.com/office/drawing/2014/main" id="{94F3BD26-41A8-1CF7-C13C-606448C735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3464" y="1447788"/>
            <a:ext cx="7000875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19425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988F4-6748-E841-E0E3-483933AD2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EE7AD4-7BCA-95C3-7C88-BC8155EAA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B515A5C-DA20-BC13-5438-4B1150B64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1299" y="66675"/>
            <a:ext cx="1619251" cy="107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E924BA77-E126-365B-1D98-17E2D890614A}"/>
              </a:ext>
            </a:extLst>
          </p:cNvPr>
          <p:cNvSpPr txBox="1">
            <a:spLocks/>
          </p:cNvSpPr>
          <p:nvPr/>
        </p:nvSpPr>
        <p:spPr>
          <a:xfrm>
            <a:off x="732820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learning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" name="AutoShape 2" descr=", AI generated">
            <a:extLst>
              <a:ext uri="{FF2B5EF4-FFF2-40B4-BE49-F238E27FC236}">
                <a16:creationId xmlns:a16="http://schemas.microsoft.com/office/drawing/2014/main" id="{82618558-9150-3E19-1792-361A6085A7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829425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F70EA1D-911F-24B8-8E6F-96DA98BB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14" y="1428036"/>
            <a:ext cx="8103909" cy="4420314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447872B-B3C5-94D3-7C72-301489D8F589}"/>
              </a:ext>
            </a:extLst>
          </p:cNvPr>
          <p:cNvSpPr/>
          <p:nvPr/>
        </p:nvSpPr>
        <p:spPr>
          <a:xfrm>
            <a:off x="5151121" y="311621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FDDFE2DA-C3BD-251B-198F-2B1990842850}"/>
              </a:ext>
            </a:extLst>
          </p:cNvPr>
          <p:cNvSpPr/>
          <p:nvPr/>
        </p:nvSpPr>
        <p:spPr>
          <a:xfrm>
            <a:off x="2477136" y="2736862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3FC9D2F0-B4E0-EC80-CF75-E660D41D3532}"/>
              </a:ext>
            </a:extLst>
          </p:cNvPr>
          <p:cNvSpPr/>
          <p:nvPr/>
        </p:nvSpPr>
        <p:spPr>
          <a:xfrm>
            <a:off x="2473072" y="2995815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B7EBFA9-E6D4-E650-A98E-7740DF72FB9D}"/>
              </a:ext>
            </a:extLst>
          </p:cNvPr>
          <p:cNvSpPr/>
          <p:nvPr/>
        </p:nvSpPr>
        <p:spPr>
          <a:xfrm>
            <a:off x="2472056" y="2458351"/>
            <a:ext cx="162938" cy="163933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E08BE5-1402-7A84-2942-DE3F8A5E5406}"/>
              </a:ext>
            </a:extLst>
          </p:cNvPr>
          <p:cNvSpPr txBox="1"/>
          <p:nvPr/>
        </p:nvSpPr>
        <p:spPr>
          <a:xfrm>
            <a:off x="2230075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(1,64)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9BCBBB-7271-38B8-8212-7FBBFDFE103B}"/>
              </a:ext>
            </a:extLst>
          </p:cNvPr>
          <p:cNvSpPr txBox="1"/>
          <p:nvPr/>
        </p:nvSpPr>
        <p:spPr>
          <a:xfrm>
            <a:off x="4909140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(1,10)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35A2DD-ED2E-AF9A-0043-6F6B40CF4801}"/>
              </a:ext>
            </a:extLst>
          </p:cNvPr>
          <p:cNvSpPr txBox="1"/>
          <p:nvPr/>
        </p:nvSpPr>
        <p:spPr>
          <a:xfrm>
            <a:off x="7339103" y="5959169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(1, 15)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2FA1407-8DBE-204F-4F08-DABAE4BD3137}"/>
              </a:ext>
            </a:extLst>
          </p:cNvPr>
          <p:cNvSpPr txBox="1"/>
          <p:nvPr/>
        </p:nvSpPr>
        <p:spPr>
          <a:xfrm>
            <a:off x="9110753" y="5959169"/>
            <a:ext cx="8002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(1, 9)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815398-2B94-0D7E-99AA-75C0407E8C3A}"/>
              </a:ext>
            </a:extLst>
          </p:cNvPr>
          <p:cNvSpPr txBox="1"/>
          <p:nvPr/>
        </p:nvSpPr>
        <p:spPr>
          <a:xfrm>
            <a:off x="3200635" y="5959169"/>
            <a:ext cx="15183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@(64,10) 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1D6A35-1376-424B-B677-B4EA4E6E0DE2}"/>
              </a:ext>
            </a:extLst>
          </p:cNvPr>
          <p:cNvSpPr txBox="1"/>
          <p:nvPr/>
        </p:nvSpPr>
        <p:spPr>
          <a:xfrm>
            <a:off x="5915800" y="5959169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@(10,15)   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E4FFF-8581-2131-CF06-3882FD7FD06F}"/>
              </a:ext>
            </a:extLst>
          </p:cNvPr>
          <p:cNvSpPr txBox="1"/>
          <p:nvPr/>
        </p:nvSpPr>
        <p:spPr>
          <a:xfrm>
            <a:off x="8159116" y="59591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@(15,9)=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655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96" y="2528301"/>
            <a:ext cx="5387529" cy="409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279032" y="3508747"/>
            <a:ext cx="3375947" cy="143878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CFF5A5E1-CCFD-6B34-F29C-C8D92D21275C}"/>
              </a:ext>
            </a:extLst>
          </p:cNvPr>
          <p:cNvSpPr/>
          <p:nvPr/>
        </p:nvSpPr>
        <p:spPr>
          <a:xfrm>
            <a:off x="7354354" y="403505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583CCFBA-E216-2015-6715-EBC28686CDD6}"/>
              </a:ext>
            </a:extLst>
          </p:cNvPr>
          <p:cNvSpPr/>
          <p:nvPr/>
        </p:nvSpPr>
        <p:spPr>
          <a:xfrm>
            <a:off x="7354354" y="441027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DBF8BD44-F5E6-FCBF-93AE-D7F808A38E12}"/>
              </a:ext>
            </a:extLst>
          </p:cNvPr>
          <p:cNvSpPr/>
          <p:nvPr/>
        </p:nvSpPr>
        <p:spPr>
          <a:xfrm>
            <a:off x="7354354" y="4785492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39965D-4EBA-D4E6-7578-064A4D91EE9F}"/>
              </a:ext>
            </a:extLst>
          </p:cNvPr>
          <p:cNvSpPr/>
          <p:nvPr/>
        </p:nvSpPr>
        <p:spPr>
          <a:xfrm>
            <a:off x="7354354" y="5160713"/>
            <a:ext cx="209766" cy="218769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AA6574-C2E1-9D1E-C444-A4A96DB447BA}"/>
              </a:ext>
            </a:extLst>
          </p:cNvPr>
          <p:cNvSpPr txBox="1"/>
          <p:nvPr/>
        </p:nvSpPr>
        <p:spPr>
          <a:xfrm>
            <a:off x="7091650" y="3664205"/>
            <a:ext cx="104430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1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value</a:t>
            </a:r>
            <a:endParaRPr lang="ko-KR" altLang="en-US" sz="1100" dirty="0"/>
          </a:p>
        </p:txBody>
      </p:sp>
      <p:sp>
        <p:nvSpPr>
          <p:cNvPr id="10" name="오른쪽 중괄호 9">
            <a:extLst>
              <a:ext uri="{FF2B5EF4-FFF2-40B4-BE49-F238E27FC236}">
                <a16:creationId xmlns:a16="http://schemas.microsoft.com/office/drawing/2014/main" id="{1114997C-232C-A35A-FA82-3229E992C608}"/>
              </a:ext>
            </a:extLst>
          </p:cNvPr>
          <p:cNvSpPr/>
          <p:nvPr/>
        </p:nvSpPr>
        <p:spPr>
          <a:xfrm rot="16200000">
            <a:off x="6243861" y="2361263"/>
            <a:ext cx="342900" cy="2125953"/>
          </a:xfrm>
          <a:prstGeom prst="rightBrace">
            <a:avLst>
              <a:gd name="adj1" fmla="val 50555"/>
              <a:gd name="adj2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93A587-DD26-0ADC-554C-6E07EC680F43}"/>
              </a:ext>
            </a:extLst>
          </p:cNvPr>
          <p:cNvSpPr txBox="1"/>
          <p:nvPr/>
        </p:nvSpPr>
        <p:spPr>
          <a:xfrm>
            <a:off x="6135299" y="2942448"/>
            <a:ext cx="21259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(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 값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/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Forward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입력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가중치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편향 </a:t>
                </a:r>
                <a14:m>
                  <m:oMath xmlns:m="http://schemas.openxmlformats.org/officeDocument/2006/math">
                    <m:r>
                      <a:rPr lang="ko-KR" altLang="en-US" sz="1600" b="0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예측 값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b="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만들고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비교해 손실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계산한 다음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Backward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에서는 연쇄법칙으로 각 파라미터의 기울기를 계산하고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Optimization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단계에서는 기울기를 반영해 파라미터를 업데이트하며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과정을 반복해 모델 성능을 개선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ABC2B9-1277-5855-6C7C-350722F3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986" y="1196666"/>
                <a:ext cx="10912028" cy="1152688"/>
              </a:xfrm>
              <a:prstGeom prst="rect">
                <a:avLst/>
              </a:prstGeom>
              <a:blipFill>
                <a:blip r:embed="rId3"/>
                <a:stretch>
                  <a:fillRect l="-335" b="-582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C89F8B0-3F83-559E-AD1B-88D425554888}"/>
              </a:ext>
            </a:extLst>
          </p:cNvPr>
          <p:cNvCxnSpPr/>
          <p:nvPr/>
        </p:nvCxnSpPr>
        <p:spPr>
          <a:xfrm>
            <a:off x="1152525" y="2676525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A3AAA1E-813F-45CC-D23E-EF63A3CD92DE}"/>
              </a:ext>
            </a:extLst>
          </p:cNvPr>
          <p:cNvCxnSpPr>
            <a:cxnSpLocks/>
          </p:cNvCxnSpPr>
          <p:nvPr/>
        </p:nvCxnSpPr>
        <p:spPr>
          <a:xfrm flipH="1">
            <a:off x="1104900" y="6363286"/>
            <a:ext cx="49911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A07C6B-0744-E350-2486-24F68E111E5E}"/>
              </a:ext>
            </a:extLst>
          </p:cNvPr>
          <p:cNvSpPr txBox="1"/>
          <p:nvPr/>
        </p:nvSpPr>
        <p:spPr>
          <a:xfrm>
            <a:off x="1032321" y="2721708"/>
            <a:ext cx="12216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28E19B0-C9EC-E3F7-B1BE-1DBA278F3D77}"/>
              </a:ext>
            </a:extLst>
          </p:cNvPr>
          <p:cNvSpPr txBox="1"/>
          <p:nvPr/>
        </p:nvSpPr>
        <p:spPr>
          <a:xfrm>
            <a:off x="4938937" y="5979550"/>
            <a:ext cx="11570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995" y="1248067"/>
            <a:ext cx="11182955" cy="766439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 Forward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후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Propagate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반복적으로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epoch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늘려가면서 학습하는 과정을 통해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이해하고 실습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(SGD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엑셀실습파일 알고리즘과 동일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OR gate : 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89309" y="66675"/>
            <a:ext cx="1731242" cy="1145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AF37F2D-2B7E-F7AC-7A87-EE51558AE7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2679" y="2052606"/>
            <a:ext cx="7967121" cy="44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717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24E00A9-B7BD-84B1-C8C9-4379A44B7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96" y="2796363"/>
            <a:ext cx="4492179" cy="237472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2B39FB3-BDC3-5CE1-2660-D71F27A4AC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695" y="2796363"/>
            <a:ext cx="4737003" cy="30635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00331E-189C-7790-90B5-D620BD0EBE3F}"/>
              </a:ext>
            </a:extLst>
          </p:cNvPr>
          <p:cNvSpPr txBox="1"/>
          <p:nvPr/>
        </p:nvSpPr>
        <p:spPr>
          <a:xfrm>
            <a:off x="2177634" y="5497523"/>
            <a:ext cx="3166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Forward, </a:t>
            </a: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747EDD-F717-2F86-B83C-CA5F3D943427}"/>
              </a:ext>
            </a:extLst>
          </p:cNvPr>
          <p:cNvSpPr txBox="1"/>
          <p:nvPr/>
        </p:nvSpPr>
        <p:spPr>
          <a:xfrm>
            <a:off x="561974" y="1265090"/>
            <a:ext cx="10835829" cy="115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시험 문제를 풀고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네크워크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구조 설정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계산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채점을 해서 몇 점 틀렸는지 확인한 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틀린 문제의 해설지를 보며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어떤 개념이 부족했는지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파악하여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Optimization: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부족했던 개념을 새로 공부해서 머릿속 지식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고쳐가는 과정을 수천 번 반복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(Epoch)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모델은 점점 정답에 가까워지게 학습</a:t>
            </a:r>
          </a:p>
        </p:txBody>
      </p:sp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71F35-8C4C-4F00-48DE-2BB610110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D8FB9-E995-C351-50A4-21CB273CB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A792CE88-920B-B9FD-AFAF-2A44541C1D43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accent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Forward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1AEA3D4-B2E7-81BF-4EC0-71283B160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1E0A323-CDF3-5091-9096-CEF8B5996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96" y="3073075"/>
            <a:ext cx="4492179" cy="237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90370B-53E0-61CC-7F18-218A76E249D3}"/>
              </a:ext>
            </a:extLst>
          </p:cNvPr>
          <p:cNvSpPr txBox="1"/>
          <p:nvPr/>
        </p:nvSpPr>
        <p:spPr>
          <a:xfrm>
            <a:off x="537021" y="1245750"/>
            <a:ext cx="10902504" cy="15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Forward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Pass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순전파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수학적 연산이 수행되는 순방향 과정을 나타내며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연산의 구성은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입력값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숫자 2가 '더하기(+)' 노드로 들어가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결과값(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)은 이 노드를 거쳐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+ 2라는 결과가 도출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PyTorch에서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+ 2라고 쓰는 순간, 내부적으로는 이런 연산그래프 노드가 생성되며 이때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y는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숫자 값이 아니라, 어떤 연산을 통해 만들어졌는지에 대한 정보를 함께 가지게 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34B6B8-49C6-CCD9-83EC-AFA53128D93F}"/>
              </a:ext>
            </a:extLst>
          </p:cNvPr>
          <p:cNvSpPr txBox="1"/>
          <p:nvPr/>
        </p:nvSpPr>
        <p:spPr>
          <a:xfrm>
            <a:off x="5534025" y="3073075"/>
            <a:ext cx="6096000" cy="286232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(기울기를 계산하도록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(1.0,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순전파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초록색 화살표 과정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 연산 수행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+ 2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f"Forward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y.item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()}")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이미지의 '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AddBackward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' 확인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f"연산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식별자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y.grad_fn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 </a:t>
            </a:r>
          </a:p>
        </p:txBody>
      </p:sp>
    </p:spTree>
    <p:extLst>
      <p:ext uri="{BB962C8B-B14F-4D97-AF65-F5344CB8AC3E}">
        <p14:creationId xmlns:p14="http://schemas.microsoft.com/office/powerpoint/2010/main" val="355929459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C2DF-39AA-EAFD-BC6B-0B41748EC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92FEE9-46F5-EA57-68C2-427AFE42E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01F5082A-5927-C6E1-DA4F-5F71251E9A7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4D307B3-1256-BA92-853B-52BFE54F9A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01D5DF3-B10F-E653-EEF7-4FEF83290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545" y="3175319"/>
            <a:ext cx="4737003" cy="30635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5F44A6-312B-CF7E-D95F-868985B25DBA}"/>
              </a:ext>
            </a:extLst>
          </p:cNvPr>
          <p:cNvSpPr txBox="1"/>
          <p:nvPr/>
        </p:nvSpPr>
        <p:spPr>
          <a:xfrm>
            <a:off x="537021" y="1259068"/>
            <a:ext cx="11410028" cy="16114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Backward Pass(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미분 계수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계산하는 역방향 연산 결과로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grad_fn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속성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연산으로 만들어졌기 때문에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에는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AddBackward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미분용 함수가 자동으로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태깅</a:t>
            </a:r>
            <a:endParaRPr lang="en-US" altLang="ko-KR" sz="17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나중에 </a:t>
            </a:r>
            <a:r>
              <a:rPr lang="ko-KR" altLang="en-US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역전파할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때 이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더하기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규칙에 맞춰 미분해라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메모지로 학습 시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7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y.backward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호출하면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화살표가 반대 방향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빨간색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흐르면서 미분을 하여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결과값 </a:t>
            </a: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미치는 영향력을 계산하여 뒤로 전달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9DFD6F-F034-68FF-258C-3F04261064E7}"/>
              </a:ext>
            </a:extLst>
          </p:cNvPr>
          <p:cNvSpPr txBox="1"/>
          <p:nvPr/>
        </p:nvSpPr>
        <p:spPr>
          <a:xfrm>
            <a:off x="5713902" y="3175319"/>
            <a:ext cx="6096000" cy="181588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그림의 빨간색 화살표 과정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y.backward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4. 결과 확인 (기울기)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+ 2 이므로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1이 생성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f"x의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기울기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x.grad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</p:spTree>
    <p:extLst>
      <p:ext uri="{BB962C8B-B14F-4D97-AF65-F5344CB8AC3E}">
        <p14:creationId xmlns:p14="http://schemas.microsoft.com/office/powerpoint/2010/main" val="8195342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F02DA-20F1-737B-D0B0-2E568ECD1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2C83A0-3BE3-EEE2-FFEA-0272A1C8A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DB8FDAC1-BF69-9FDB-D572-0A0F2FD47949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Autograd</a:t>
            </a:r>
            <a:r>
              <a:rPr lang="ko-KR" altLang="en-US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Backward Pass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6FAD018-9242-05E9-922B-D4A1BE8DB2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599F50-01FB-2B8F-FDD0-55673AF023E0}"/>
              </a:ext>
            </a:extLst>
          </p:cNvPr>
          <p:cNvSpPr txBox="1"/>
          <p:nvPr/>
        </p:nvSpPr>
        <p:spPr>
          <a:xfrm>
            <a:off x="613223" y="1956990"/>
            <a:ext cx="4644578" cy="439081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정의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속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 x,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2.0, 4.0, 3.0, 5.0])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([1.0, 3.0, 3.0, 2.0, 5.0])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파라미터 초기화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초기 설정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α=β=0)</a:t>
            </a:r>
          </a:p>
          <a:p>
            <a:pPr>
              <a:lnSpc>
                <a:spcPts val="1575"/>
              </a:lnSpc>
              <a:buNone/>
            </a:pP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절편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(alpha)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과 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(beta)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 설정하고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 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(0.0,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epochs = 4</a:t>
            </a:r>
          </a:p>
          <a:p>
            <a:pPr>
              <a:lnSpc>
                <a:spcPts val="1575"/>
              </a:lnSpc>
              <a:buNone/>
            </a:pP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alpha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초기 상태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beta = 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():.4f}\n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시작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(Recursive iterations)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iteration = 0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5646A4-8B9E-6FA2-816C-B833DF47B5F4}"/>
              </a:ext>
            </a:extLst>
          </p:cNvPr>
          <p:cNvSpPr txBox="1"/>
          <p:nvPr/>
        </p:nvSpPr>
        <p:spPr>
          <a:xfrm>
            <a:off x="5460214" y="1332705"/>
            <a:ext cx="6023314" cy="480118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epoch in range(1, epochs + 1):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print(f"--- {epoch} epoch ---")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엑셀처럼 각 데이터 샘플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(instance)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마다 업데이트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(SGD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방식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x, y in zip(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l-G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α + β *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alpha + beta * x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오차 계산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(error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 = (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 ** 2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/2  #(y_hat-y)^2/2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미분하면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-y)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됨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(Gradient)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기록을 건드리지 않기 위해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alpha_j+1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beta_j+1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beta_j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lr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x * 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beta -=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200" b="1" dirty="0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200" b="1" dirty="0" err="1">
                <a:solidFill>
                  <a:srgbClr val="D2472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</a:t>
            </a:r>
            <a:endParaRPr lang="en-US" altLang="ko-KR" sz="1200" b="1" dirty="0">
              <a:solidFill>
                <a:srgbClr val="D24726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# </a:t>
            </a: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다음 반복을 위해 기울기 초기화</a:t>
            </a:r>
          </a:p>
          <a:p>
            <a:pPr>
              <a:lnSpc>
                <a:spcPts val="1575"/>
              </a:lnSpc>
              <a:buNone/>
            </a:pPr>
            <a:r>
              <a:rPr lang="ko-KR" altLang="en-US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_();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beta.grad.zero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print(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f"Iteration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{iteration}: alpha={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alpha.item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\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    beta={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beta.item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():.4f}, error={(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y).item():.4f}")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iteration += 1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print()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595D80-1965-E9EF-FD9B-071FD52325B3}"/>
              </a:ext>
            </a:extLst>
          </p:cNvPr>
          <p:cNvSpPr txBox="1"/>
          <p:nvPr/>
        </p:nvSpPr>
        <p:spPr>
          <a:xfrm>
            <a:off x="613223" y="1314829"/>
            <a:ext cx="35777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  <a:hlinkClick r:id="rId3"/>
              </a:rPr>
              <a:t>sgd.xlsx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예제를 </a:t>
            </a:r>
            <a:r>
              <a:rPr lang="en-US" altLang="ko-KR" dirty="0" err="1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</a:t>
            </a:r>
            <a:r>
              <a:rPr lang="ko-KR" altLang="en-US" dirty="0">
                <a:solidFill>
                  <a:schemeClr val="bg2">
                    <a:lumMod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12287B-57AD-1713-2D34-689C3872A1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0138" y="3015581"/>
            <a:ext cx="1702369" cy="62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09517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12D0A-5D07-F026-511C-2A5BFC23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750F38-937E-F755-580F-AE17EBFCC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3C91F776-8B9B-98BC-8E11-9635E9A04D0A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D69CF31-4A39-9AB8-FCC2-916BEE125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DD5DA5-375F-BBD5-5460-D40A69A58F64}"/>
              </a:ext>
            </a:extLst>
          </p:cNvPr>
          <p:cNvSpPr txBox="1"/>
          <p:nvPr/>
        </p:nvSpPr>
        <p:spPr>
          <a:xfrm>
            <a:off x="638982" y="1346628"/>
            <a:ext cx="10628574" cy="456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PyTorch의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backward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기능을 통해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a와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b를</a:t>
            </a:r>
            <a:r>
              <a:rPr lang="ko-KR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학습(최적화)하는 전체 코드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E9CB94-5A27-0BFD-6BB8-559463C11FAD}"/>
              </a:ext>
            </a:extLst>
          </p:cNvPr>
          <p:cNvSpPr txBox="1"/>
          <p:nvPr/>
        </p:nvSpPr>
        <p:spPr>
          <a:xfrm>
            <a:off x="715326" y="1926290"/>
            <a:ext cx="4656774" cy="437042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=3,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=11)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PyTorch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Tensor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형태이므로 그대로 사용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y_np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(50, 1)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y 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torch.FloatTensor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(y).view(-1, 1)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a, b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정의 및 초기화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미분 가능하도록 설정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4.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= 0.01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epochs = 1000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56DF-C93B-5239-CCDC-23DA6FDC6BBE}"/>
              </a:ext>
            </a:extLst>
          </p:cNvPr>
          <p:cNvSpPr txBox="1"/>
          <p:nvPr/>
        </p:nvSpPr>
        <p:spPr>
          <a:xfrm>
            <a:off x="5538683" y="1926290"/>
            <a:ext cx="5352099" cy="44935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# 5.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 루프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for epoch in range(epochs):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(Forward Pass)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a + b * X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손실 함수 계산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(MSE)</a:t>
            </a:r>
            <a:endParaRPr lang="ko-KR" altLang="en-US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 =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torch.mean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((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y_hat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 y)**2)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(Backward Pass): dL/da, dL/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자동 계산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 err="1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en-US" altLang="ko-KR" sz="1300" dirty="0">
                <a:solidFill>
                  <a:srgbClr val="DD462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 업데이트 및 기울기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a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b -=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</a:t>
            </a: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# 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업데이트 후에는 반드시 기울기를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초기화</a:t>
            </a:r>
          </a:p>
          <a:p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b.grad.zero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_()</a:t>
            </a:r>
            <a:b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print("-" * 30)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실제 계수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coef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{coef:.4f}")</a:t>
            </a:r>
          </a:p>
          <a:p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학습된 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b (</a:t>
            </a:r>
            <a:r>
              <a:rPr lang="ko-KR" altLang="en-US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기울기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en-US" altLang="ko-KR" sz="13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b.item</a:t>
            </a:r>
            <a:r>
              <a:rPr lang="en-US" altLang="ko-KR" sz="1300" dirty="0">
                <a:latin typeface="D2Coding" panose="020B0609020101020101" pitchFamily="49" charset="-127"/>
                <a:ea typeface="D2Coding" panose="020B0609020101020101" pitchFamily="49" charset="-127"/>
              </a:rPr>
              <a:t>():.4f}")</a:t>
            </a:r>
          </a:p>
        </p:txBody>
      </p:sp>
    </p:spTree>
    <p:extLst>
      <p:ext uri="{BB962C8B-B14F-4D97-AF65-F5344CB8AC3E}">
        <p14:creationId xmlns:p14="http://schemas.microsoft.com/office/powerpoint/2010/main" val="12999034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212533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FCCN : 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 Neural Network (FCNN)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구조를 행렬식으로 표현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97431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44439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44439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97431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37005ECD-90F7-F8D9-E7DE-965B532432D2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 flipV="1">
            <a:off x="1464511" y="2624204"/>
            <a:ext cx="286056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EDAFA676-AF72-0916-0AAC-6B4B11DF8AD2}"/>
              </a:ext>
            </a:extLst>
          </p:cNvPr>
          <p:cNvCxnSpPr>
            <a:cxnSpLocks/>
            <a:stCxn id="2" idx="6"/>
            <a:endCxn id="7" idx="2"/>
          </p:cNvCxnSpPr>
          <p:nvPr/>
        </p:nvCxnSpPr>
        <p:spPr>
          <a:xfrm>
            <a:off x="1464511" y="3154118"/>
            <a:ext cx="2860563" cy="4177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75D6BC9-B6ED-0D7A-35A1-284A46102C70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>
            <a:off x="1464511" y="3154118"/>
            <a:ext cx="2860563" cy="136539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260C829-F2C5-E49A-1BFB-5BE4D6ADAA75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 flipV="1">
            <a:off x="1464511" y="2624204"/>
            <a:ext cx="2860563" cy="1365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781E488-706A-B873-E6DD-BEF6151CBE5F}"/>
              </a:ext>
            </a:extLst>
          </p:cNvPr>
          <p:cNvCxnSpPr>
            <a:cxnSpLocks/>
            <a:stCxn id="3" idx="6"/>
            <a:endCxn id="8" idx="2"/>
          </p:cNvCxnSpPr>
          <p:nvPr/>
        </p:nvCxnSpPr>
        <p:spPr>
          <a:xfrm>
            <a:off x="1464511" y="3989597"/>
            <a:ext cx="286056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2140B20F-3D4A-5E1D-9237-5220A9C29E48}"/>
              </a:ext>
            </a:extLst>
          </p:cNvPr>
          <p:cNvCxnSpPr>
            <a:cxnSpLocks/>
            <a:stCxn id="3" idx="6"/>
            <a:endCxn id="7" idx="2"/>
          </p:cNvCxnSpPr>
          <p:nvPr/>
        </p:nvCxnSpPr>
        <p:spPr>
          <a:xfrm flipV="1">
            <a:off x="1464511" y="3571858"/>
            <a:ext cx="2860563" cy="417739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B970888C-91D3-F4D3-A71E-32CD1322FD33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4665718" y="2624204"/>
            <a:ext cx="2879531" cy="1669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6" name="직선 연결선 9215">
            <a:extLst>
              <a:ext uri="{FF2B5EF4-FFF2-40B4-BE49-F238E27FC236}">
                <a16:creationId xmlns:a16="http://schemas.microsoft.com/office/drawing/2014/main" id="{0746B69C-144B-848F-E473-03BE6A00EA4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4665718" y="2640895"/>
            <a:ext cx="2879530" cy="6150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18" name="직선 연결선 9217">
            <a:extLst>
              <a:ext uri="{FF2B5EF4-FFF2-40B4-BE49-F238E27FC236}">
                <a16:creationId xmlns:a16="http://schemas.microsoft.com/office/drawing/2014/main" id="{AC5FEAD9-7439-0FA3-8080-211FBEB0FA19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4665718" y="2640895"/>
            <a:ext cx="2887552" cy="124684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27" name="직선 연결선 9226">
            <a:extLst>
              <a:ext uri="{FF2B5EF4-FFF2-40B4-BE49-F238E27FC236}">
                <a16:creationId xmlns:a16="http://schemas.microsoft.com/office/drawing/2014/main" id="{14B5EE2C-DD21-AF7E-08DB-75BF03181C1A}"/>
              </a:ext>
            </a:extLst>
          </p:cNvPr>
          <p:cNvCxnSpPr>
            <a:cxnSpLocks/>
            <a:stCxn id="6" idx="6"/>
            <a:endCxn id="11" idx="2"/>
          </p:cNvCxnSpPr>
          <p:nvPr/>
        </p:nvCxnSpPr>
        <p:spPr>
          <a:xfrm>
            <a:off x="4684685" y="2624204"/>
            <a:ext cx="2868585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0" name="직선 연결선 9229">
            <a:extLst>
              <a:ext uri="{FF2B5EF4-FFF2-40B4-BE49-F238E27FC236}">
                <a16:creationId xmlns:a16="http://schemas.microsoft.com/office/drawing/2014/main" id="{A7E4E79E-E8C7-DC17-23EC-DD0E175492BA}"/>
              </a:ext>
            </a:extLst>
          </p:cNvPr>
          <p:cNvCxnSpPr>
            <a:cxnSpLocks/>
            <a:stCxn id="7" idx="6"/>
            <a:endCxn id="12" idx="2"/>
          </p:cNvCxnSpPr>
          <p:nvPr/>
        </p:nvCxnSpPr>
        <p:spPr>
          <a:xfrm flipV="1">
            <a:off x="4684685" y="2624204"/>
            <a:ext cx="2860564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2" name="직선 연결선 9231">
            <a:extLst>
              <a:ext uri="{FF2B5EF4-FFF2-40B4-BE49-F238E27FC236}">
                <a16:creationId xmlns:a16="http://schemas.microsoft.com/office/drawing/2014/main" id="{C2A752F4-5609-D677-C163-0D94FCC4A02A}"/>
              </a:ext>
            </a:extLst>
          </p:cNvPr>
          <p:cNvCxnSpPr>
            <a:cxnSpLocks/>
            <a:stCxn id="7" idx="6"/>
            <a:endCxn id="9" idx="2"/>
          </p:cNvCxnSpPr>
          <p:nvPr/>
        </p:nvCxnSpPr>
        <p:spPr>
          <a:xfrm flipV="1">
            <a:off x="4684685" y="3255973"/>
            <a:ext cx="2860563" cy="31588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3" name="직선 연결선 9232">
            <a:extLst>
              <a:ext uri="{FF2B5EF4-FFF2-40B4-BE49-F238E27FC236}">
                <a16:creationId xmlns:a16="http://schemas.microsoft.com/office/drawing/2014/main" id="{FDE5058E-9D38-8806-95EF-4646F08D006C}"/>
              </a:ext>
            </a:extLst>
          </p:cNvPr>
          <p:cNvCxnSpPr>
            <a:cxnSpLocks/>
            <a:stCxn id="7" idx="6"/>
            <a:endCxn id="10" idx="2"/>
          </p:cNvCxnSpPr>
          <p:nvPr/>
        </p:nvCxnSpPr>
        <p:spPr>
          <a:xfrm>
            <a:off x="4684685" y="3571858"/>
            <a:ext cx="2868585" cy="31588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34" name="직선 연결선 9233">
            <a:extLst>
              <a:ext uri="{FF2B5EF4-FFF2-40B4-BE49-F238E27FC236}">
                <a16:creationId xmlns:a16="http://schemas.microsoft.com/office/drawing/2014/main" id="{A3CAE824-5655-C703-9F94-23DDF8A1BFAB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4684685" y="3571858"/>
            <a:ext cx="2868585" cy="94765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4" name="직선 연결선 9243">
            <a:extLst>
              <a:ext uri="{FF2B5EF4-FFF2-40B4-BE49-F238E27FC236}">
                <a16:creationId xmlns:a16="http://schemas.microsoft.com/office/drawing/2014/main" id="{087E6F6E-3F1F-FE42-D673-2BA8FC1AC801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684685" y="2624204"/>
            <a:ext cx="2860564" cy="189530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5" name="직선 연결선 9244">
            <a:extLst>
              <a:ext uri="{FF2B5EF4-FFF2-40B4-BE49-F238E27FC236}">
                <a16:creationId xmlns:a16="http://schemas.microsoft.com/office/drawing/2014/main" id="{EFB2D543-D01E-C14E-7DAC-701319F53EE5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263119"/>
            <a:ext cx="2822632" cy="125639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6" name="직선 연결선 9245">
            <a:extLst>
              <a:ext uri="{FF2B5EF4-FFF2-40B4-BE49-F238E27FC236}">
                <a16:creationId xmlns:a16="http://schemas.microsoft.com/office/drawing/2014/main" id="{96C9A1C2-B992-FDA5-3163-757CC1000F66}"/>
              </a:ext>
            </a:extLst>
          </p:cNvPr>
          <p:cNvCxnSpPr>
            <a:cxnSpLocks/>
            <a:stCxn id="8" idx="6"/>
          </p:cNvCxnSpPr>
          <p:nvPr/>
        </p:nvCxnSpPr>
        <p:spPr>
          <a:xfrm flipV="1">
            <a:off x="4684685" y="3882105"/>
            <a:ext cx="2842090" cy="6374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47" name="직선 연결선 9246">
            <a:extLst>
              <a:ext uri="{FF2B5EF4-FFF2-40B4-BE49-F238E27FC236}">
                <a16:creationId xmlns:a16="http://schemas.microsoft.com/office/drawing/2014/main" id="{E4844EAC-73FF-A91C-DBF8-C62D7E13A983}"/>
              </a:ext>
            </a:extLst>
          </p:cNvPr>
          <p:cNvCxnSpPr>
            <a:cxnSpLocks/>
            <a:stCxn id="8" idx="6"/>
          </p:cNvCxnSpPr>
          <p:nvPr/>
        </p:nvCxnSpPr>
        <p:spPr>
          <a:xfrm>
            <a:off x="4684685" y="4519512"/>
            <a:ext cx="2842090" cy="2373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56" name="직선 연결선 9255">
            <a:extLst>
              <a:ext uri="{FF2B5EF4-FFF2-40B4-BE49-F238E27FC236}">
                <a16:creationId xmlns:a16="http://schemas.microsoft.com/office/drawing/2014/main" id="{CB643D58-E287-AE6D-0BEF-D4649E64BF96}"/>
              </a:ext>
            </a:extLst>
          </p:cNvPr>
          <p:cNvCxnSpPr>
            <a:cxnSpLocks/>
            <a:stCxn id="12" idx="6"/>
            <a:endCxn id="15" idx="2"/>
          </p:cNvCxnSpPr>
          <p:nvPr/>
        </p:nvCxnSpPr>
        <p:spPr>
          <a:xfrm>
            <a:off x="7904860" y="2624204"/>
            <a:ext cx="2868583" cy="52991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9260" name="그림 9259">
            <a:extLst>
              <a:ext uri="{FF2B5EF4-FFF2-40B4-BE49-F238E27FC236}">
                <a16:creationId xmlns:a16="http://schemas.microsoft.com/office/drawing/2014/main" id="{A07A9FC6-DF4E-29FA-0FFF-BA65FF59A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4511" y="4788268"/>
            <a:ext cx="1760062" cy="544446"/>
          </a:xfrm>
          <a:prstGeom prst="rect">
            <a:avLst/>
          </a:prstGeom>
        </p:spPr>
      </p:pic>
      <p:pic>
        <p:nvPicPr>
          <p:cNvPr id="9262" name="그림 9261">
            <a:extLst>
              <a:ext uri="{FF2B5EF4-FFF2-40B4-BE49-F238E27FC236}">
                <a16:creationId xmlns:a16="http://schemas.microsoft.com/office/drawing/2014/main" id="{BA1A2289-2A8F-7DEB-5AD9-F3A40F023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3217" y="4788268"/>
            <a:ext cx="2842090" cy="913070"/>
          </a:xfrm>
          <a:prstGeom prst="rect">
            <a:avLst/>
          </a:prstGeom>
        </p:spPr>
      </p:pic>
      <p:pic>
        <p:nvPicPr>
          <p:cNvPr id="9264" name="그림 9263">
            <a:extLst>
              <a:ext uri="{FF2B5EF4-FFF2-40B4-BE49-F238E27FC236}">
                <a16:creationId xmlns:a16="http://schemas.microsoft.com/office/drawing/2014/main" id="{220CC5A9-AC8B-0983-EE81-A8966A549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4053" y="4788268"/>
            <a:ext cx="2263383" cy="1138122"/>
          </a:xfrm>
          <a:prstGeom prst="rect">
            <a:avLst/>
          </a:prstGeom>
        </p:spPr>
      </p:pic>
      <p:cxnSp>
        <p:nvCxnSpPr>
          <p:cNvPr id="9265" name="직선 연결선 9264">
            <a:extLst>
              <a:ext uri="{FF2B5EF4-FFF2-40B4-BE49-F238E27FC236}">
                <a16:creationId xmlns:a16="http://schemas.microsoft.com/office/drawing/2014/main" id="{9D98EAFC-EB3A-D7A1-9E2A-6E3124CF31B1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912881" y="2623452"/>
            <a:ext cx="2868583" cy="136614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8" name="직선 연결선 9267">
            <a:extLst>
              <a:ext uri="{FF2B5EF4-FFF2-40B4-BE49-F238E27FC236}">
                <a16:creationId xmlns:a16="http://schemas.microsoft.com/office/drawing/2014/main" id="{D0DDA572-0297-EBBC-FC61-5AA42657A663}"/>
              </a:ext>
            </a:extLst>
          </p:cNvPr>
          <p:cNvCxnSpPr>
            <a:cxnSpLocks/>
            <a:stCxn id="9" idx="6"/>
            <a:endCxn id="15" idx="2"/>
          </p:cNvCxnSpPr>
          <p:nvPr/>
        </p:nvCxnSpPr>
        <p:spPr>
          <a:xfrm flipV="1">
            <a:off x="7904859" y="3154118"/>
            <a:ext cx="2868584" cy="10185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69" name="직선 연결선 9268">
            <a:extLst>
              <a:ext uri="{FF2B5EF4-FFF2-40B4-BE49-F238E27FC236}">
                <a16:creationId xmlns:a16="http://schemas.microsoft.com/office/drawing/2014/main" id="{C8CAD3FF-0044-B9B8-F677-82192D67F268}"/>
              </a:ext>
            </a:extLst>
          </p:cNvPr>
          <p:cNvCxnSpPr>
            <a:cxnSpLocks/>
            <a:stCxn id="9" idx="6"/>
            <a:endCxn id="13" idx="2"/>
          </p:cNvCxnSpPr>
          <p:nvPr/>
        </p:nvCxnSpPr>
        <p:spPr>
          <a:xfrm>
            <a:off x="7904859" y="3255973"/>
            <a:ext cx="2876605" cy="733624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6" name="직선 연결선 9275">
            <a:extLst>
              <a:ext uri="{FF2B5EF4-FFF2-40B4-BE49-F238E27FC236}">
                <a16:creationId xmlns:a16="http://schemas.microsoft.com/office/drawing/2014/main" id="{4CDE6AD4-1E47-14D6-17B5-06E1D3B4BBC2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7896838" y="3154118"/>
            <a:ext cx="2876605" cy="749378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77" name="직선 연결선 9276">
            <a:extLst>
              <a:ext uri="{FF2B5EF4-FFF2-40B4-BE49-F238E27FC236}">
                <a16:creationId xmlns:a16="http://schemas.microsoft.com/office/drawing/2014/main" id="{54DE2942-69C1-7B5C-0AD5-E269C565C6D3}"/>
              </a:ext>
            </a:extLst>
          </p:cNvPr>
          <p:cNvCxnSpPr>
            <a:cxnSpLocks/>
            <a:endCxn id="13" idx="2"/>
          </p:cNvCxnSpPr>
          <p:nvPr/>
        </p:nvCxnSpPr>
        <p:spPr>
          <a:xfrm>
            <a:off x="7896838" y="3903496"/>
            <a:ext cx="2884626" cy="86101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3" name="직선 연결선 9282">
            <a:extLst>
              <a:ext uri="{FF2B5EF4-FFF2-40B4-BE49-F238E27FC236}">
                <a16:creationId xmlns:a16="http://schemas.microsoft.com/office/drawing/2014/main" id="{02A0287C-6FE0-9435-78E7-4D26BD03BE09}"/>
              </a:ext>
            </a:extLst>
          </p:cNvPr>
          <p:cNvCxnSpPr>
            <a:cxnSpLocks/>
            <a:stCxn id="11" idx="6"/>
          </p:cNvCxnSpPr>
          <p:nvPr/>
        </p:nvCxnSpPr>
        <p:spPr>
          <a:xfrm flipV="1">
            <a:off x="7912881" y="3192272"/>
            <a:ext cx="2805728" cy="13272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84" name="직선 연결선 9283">
            <a:extLst>
              <a:ext uri="{FF2B5EF4-FFF2-40B4-BE49-F238E27FC236}">
                <a16:creationId xmlns:a16="http://schemas.microsoft.com/office/drawing/2014/main" id="{367806B9-1578-FF26-FE3C-C7C576614816}"/>
              </a:ext>
            </a:extLst>
          </p:cNvPr>
          <p:cNvCxnSpPr>
            <a:cxnSpLocks/>
            <a:stCxn id="11" idx="6"/>
            <a:endCxn id="13" idx="2"/>
          </p:cNvCxnSpPr>
          <p:nvPr/>
        </p:nvCxnSpPr>
        <p:spPr>
          <a:xfrm flipV="1">
            <a:off x="7912881" y="3989597"/>
            <a:ext cx="2868583" cy="52991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289" name="TextBox 9288">
            <a:extLst>
              <a:ext uri="{FF2B5EF4-FFF2-40B4-BE49-F238E27FC236}">
                <a16:creationId xmlns:a16="http://schemas.microsoft.com/office/drawing/2014/main" id="{1A24241E-380F-D2C3-547B-9F5D8C68B62B}"/>
              </a:ext>
            </a:extLst>
          </p:cNvPr>
          <p:cNvSpPr txBox="1"/>
          <p:nvPr/>
        </p:nvSpPr>
        <p:spPr>
          <a:xfrm>
            <a:off x="1493842" y="5322157"/>
            <a:ext cx="17600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@ (2,3) = (1,3)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0" name="TextBox 9289">
            <a:extLst>
              <a:ext uri="{FF2B5EF4-FFF2-40B4-BE49-F238E27FC236}">
                <a16:creationId xmlns:a16="http://schemas.microsoft.com/office/drawing/2014/main" id="{04C3A569-4FF4-C87E-ABDA-8042FB8FB291}"/>
              </a:ext>
            </a:extLst>
          </p:cNvPr>
          <p:cNvSpPr txBox="1"/>
          <p:nvPr/>
        </p:nvSpPr>
        <p:spPr>
          <a:xfrm>
            <a:off x="5197265" y="5701338"/>
            <a:ext cx="21245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(1,3) @ (3,4) = (1,4)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1" name="TextBox 9290">
            <a:extLst>
              <a:ext uri="{FF2B5EF4-FFF2-40B4-BE49-F238E27FC236}">
                <a16:creationId xmlns:a16="http://schemas.microsoft.com/office/drawing/2014/main" id="{43BD9FC8-ECB1-B386-5E43-ADB19B72463A}"/>
              </a:ext>
            </a:extLst>
          </p:cNvPr>
          <p:cNvSpPr txBox="1"/>
          <p:nvPr/>
        </p:nvSpPr>
        <p:spPr>
          <a:xfrm>
            <a:off x="8943010" y="5942851"/>
            <a:ext cx="18277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 @ (4,2) = (1,2)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3" name="TextBox 9292">
            <a:extLst>
              <a:ext uri="{FF2B5EF4-FFF2-40B4-BE49-F238E27FC236}">
                <a16:creationId xmlns:a16="http://schemas.microsoft.com/office/drawing/2014/main" id="{7A175B21-AA0B-37A5-44B1-4A7B24D8B789}"/>
              </a:ext>
            </a:extLst>
          </p:cNvPr>
          <p:cNvSpPr txBox="1"/>
          <p:nvPr/>
        </p:nvSpPr>
        <p:spPr>
          <a:xfrm>
            <a:off x="80154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Input(X)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4" name="TextBox 9293">
            <a:extLst>
              <a:ext uri="{FF2B5EF4-FFF2-40B4-BE49-F238E27FC236}">
                <a16:creationId xmlns:a16="http://schemas.microsoft.com/office/drawing/2014/main" id="{771A204D-88A8-9A56-6DAF-14EA444F77B9}"/>
              </a:ext>
            </a:extLst>
          </p:cNvPr>
          <p:cNvSpPr txBox="1"/>
          <p:nvPr/>
        </p:nvSpPr>
        <p:spPr>
          <a:xfrm>
            <a:off x="10358997" y="2056624"/>
            <a:ext cx="15481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put(y)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5" name="TextBox 9294">
            <a:extLst>
              <a:ext uri="{FF2B5EF4-FFF2-40B4-BE49-F238E27FC236}">
                <a16:creationId xmlns:a16="http://schemas.microsoft.com/office/drawing/2014/main" id="{5728B3CC-2C9B-CCFC-C174-806DBFC6CEAA}"/>
              </a:ext>
            </a:extLst>
          </p:cNvPr>
          <p:cNvSpPr txBox="1"/>
          <p:nvPr/>
        </p:nvSpPr>
        <p:spPr>
          <a:xfrm>
            <a:off x="3836296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1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296" name="TextBox 9295">
            <a:extLst>
              <a:ext uri="{FF2B5EF4-FFF2-40B4-BE49-F238E27FC236}">
                <a16:creationId xmlns:a16="http://schemas.microsoft.com/office/drawing/2014/main" id="{A517200C-63F5-B913-E926-2ABDAA65B72A}"/>
              </a:ext>
            </a:extLst>
          </p:cNvPr>
          <p:cNvSpPr txBox="1"/>
          <p:nvPr/>
        </p:nvSpPr>
        <p:spPr>
          <a:xfrm>
            <a:off x="6506798" y="2056624"/>
            <a:ext cx="236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E42FB-EF10-31D4-2362-600F33B96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60F8C-DF3A-97BB-52A4-40A63FF31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3230382-766E-AADE-75F1-79B0E657195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1BCD33C-36A8-2406-5A3F-36994C0AE701}"/>
              </a:ext>
            </a:extLst>
          </p:cNvPr>
          <p:cNvSpPr txBox="1"/>
          <p:nvPr/>
        </p:nvSpPr>
        <p:spPr>
          <a:xfrm>
            <a:off x="500606" y="1304253"/>
            <a:ext cx="11016204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형태의 데이터는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선형결합식의 어떠한 조합으로도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Positive(1)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Negative(0)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하지 못하기 때문에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각 노드마다 도입하여 비선형으로 인공지능을 구성하여 예측 분류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026" name="그림 1025">
            <a:extLst>
              <a:ext uri="{FF2B5EF4-FFF2-40B4-BE49-F238E27FC236}">
                <a16:creationId xmlns:a16="http://schemas.microsoft.com/office/drawing/2014/main" id="{FC96B868-5D45-9DB3-23EC-345A8DAFC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236" y="4494029"/>
            <a:ext cx="2582775" cy="2119435"/>
          </a:xfrm>
          <a:prstGeom prst="rect">
            <a:avLst/>
          </a:prstGeom>
        </p:spPr>
      </p:pic>
      <p:pic>
        <p:nvPicPr>
          <p:cNvPr id="1029" name="그림 1028">
            <a:extLst>
              <a:ext uri="{FF2B5EF4-FFF2-40B4-BE49-F238E27FC236}">
                <a16:creationId xmlns:a16="http://schemas.microsoft.com/office/drawing/2014/main" id="{10E9D52F-1AD9-729A-CF4D-AB9697B6C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1235" y="2320793"/>
            <a:ext cx="2582775" cy="2026485"/>
          </a:xfrm>
          <a:prstGeom prst="rect">
            <a:avLst/>
          </a:prstGeom>
        </p:spPr>
      </p:pic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D18E881C-469B-AC71-8FD8-B021F8E80BA3}"/>
              </a:ext>
            </a:extLst>
          </p:cNvPr>
          <p:cNvCxnSpPr>
            <a:stCxn id="57" idx="3"/>
            <a:endCxn id="1029" idx="1"/>
          </p:cNvCxnSpPr>
          <p:nvPr/>
        </p:nvCxnSpPr>
        <p:spPr>
          <a:xfrm flipV="1">
            <a:off x="4550953" y="3334036"/>
            <a:ext cx="3380282" cy="1159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" name="직선 화살표 연결선 1031">
            <a:extLst>
              <a:ext uri="{FF2B5EF4-FFF2-40B4-BE49-F238E27FC236}">
                <a16:creationId xmlns:a16="http://schemas.microsoft.com/office/drawing/2014/main" id="{8B8FA355-D964-8286-2084-CB01783B4E7D}"/>
              </a:ext>
            </a:extLst>
          </p:cNvPr>
          <p:cNvCxnSpPr>
            <a:cxnSpLocks/>
            <a:stCxn id="57" idx="3"/>
            <a:endCxn id="1026" idx="1"/>
          </p:cNvCxnSpPr>
          <p:nvPr/>
        </p:nvCxnSpPr>
        <p:spPr>
          <a:xfrm>
            <a:off x="4550953" y="4494029"/>
            <a:ext cx="3380283" cy="1059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6" name="TextBox 1035">
            <a:extLst>
              <a:ext uri="{FF2B5EF4-FFF2-40B4-BE49-F238E27FC236}">
                <a16:creationId xmlns:a16="http://schemas.microsoft.com/office/drawing/2014/main" id="{0C0A2111-AA3F-1327-DD5D-7EF1098835CF}"/>
              </a:ext>
            </a:extLst>
          </p:cNvPr>
          <p:cNvSpPr txBox="1"/>
          <p:nvPr/>
        </p:nvSpPr>
        <p:spPr>
          <a:xfrm rot="20482373">
            <a:off x="5048332" y="3067854"/>
            <a:ext cx="24876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데이터자체를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선형변환하여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공간이동 후 선형식으로 분류</a:t>
            </a:r>
          </a:p>
        </p:txBody>
      </p:sp>
      <p:sp>
        <p:nvSpPr>
          <p:cNvPr id="1039" name="TextBox 1038">
            <a:extLst>
              <a:ext uri="{FF2B5EF4-FFF2-40B4-BE49-F238E27FC236}">
                <a16:creationId xmlns:a16="http://schemas.microsoft.com/office/drawing/2014/main" id="{4461D5D0-9910-5322-B982-450A79839777}"/>
              </a:ext>
            </a:extLst>
          </p:cNvPr>
          <p:cNvSpPr txBox="1"/>
          <p:nvPr/>
        </p:nvSpPr>
        <p:spPr>
          <a:xfrm rot="1145019">
            <a:off x="5026856" y="5123938"/>
            <a:ext cx="24529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 알고리즘을 데이터에 적용하여 분류</a:t>
            </a:r>
          </a:p>
        </p:txBody>
      </p:sp>
      <p:pic>
        <p:nvPicPr>
          <p:cNvPr id="1041" name="Picture 8">
            <a:extLst>
              <a:ext uri="{FF2B5EF4-FFF2-40B4-BE49-F238E27FC236}">
                <a16:creationId xmlns:a16="http://schemas.microsoft.com/office/drawing/2014/main" id="{0CCA9A08-B7BD-63D8-5E03-A729AA377C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2" y="2767387"/>
            <a:ext cx="3606501" cy="3451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7A20783F-30F0-D4B7-012A-63D6D5CC19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444" y="2768311"/>
            <a:ext cx="3626509" cy="345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1591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" grpId="0"/>
      <p:bldP spid="1039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188A6-C9D4-C594-7386-21D381B9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08292C-48F8-5B5D-EC3D-7872AF78C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126D9EC8-2573-34A0-2202-68309B0D1117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Neural Network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315B8025-02B8-A5E7-B976-C2C15FDBD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560" y="1693518"/>
            <a:ext cx="8782050" cy="447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22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C1462-6263-5D7F-4E6C-449689AB9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9AEE1-E36A-FAAA-E19F-3BCB49A5D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722EA60-9816-0D47-A0DC-38408052C222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for XOR problem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3A48CA-FBC3-2463-86B0-7EDF7679084B}"/>
              </a:ext>
            </a:extLst>
          </p:cNvPr>
          <p:cNvSpPr txBox="1"/>
          <p:nvPr/>
        </p:nvSpPr>
        <p:spPr>
          <a:xfrm>
            <a:off x="656620" y="1764051"/>
            <a:ext cx="4687023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XOR 데이터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([[0.0, 0.0], [0.0, 1.0],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	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0.0], [1.0, 1.0]])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([[0.0], [1.0], [1.0], [0.0]])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파라미터 설정 (노드 2개)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입력(2)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2),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 -&gt;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((2, 1),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torch.randn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requires_grad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0.5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10000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FD8D79-0BBE-25BC-5DB0-838980C0289D}"/>
              </a:ext>
            </a:extLst>
          </p:cNvPr>
          <p:cNvSpPr txBox="1"/>
          <p:nvPr/>
        </p:nvSpPr>
        <p:spPr>
          <a:xfrm>
            <a:off x="5459391" y="1764051"/>
            <a:ext cx="6323637" cy="440120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학습 루프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epochs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은닉층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W1) + b1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(z1)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z2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torch.matmul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(a1, W2) + b2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(z2)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손실 함수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Binary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Entropy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-(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 + 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y_data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*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torch.log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+ 1e-7)).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(기울기 계산)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파라미터 업데이트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torch.no_grad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W1.grad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b1.grad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W2.grad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b2 -=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learning_rate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* b2.grad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기울기 초기화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W1.grad.zero_()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b1.grad.zero_()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W2.grad.zero_()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b2.grad.zero_()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2441044D-4B58-E474-EB53-A0C0832484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437890"/>
          </a:xfrm>
        </p:spPr>
        <p:txBody>
          <a:bodyPr>
            <a:normAutofit lnSpcReduction="10000"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노드 개수를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3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Hidden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Layer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이상 등 인공지능망 구조를 변경하면서 실습하라</a:t>
            </a:r>
            <a:endParaRPr lang="en-US" altLang="ko-KR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73BBA46-E25C-D9B7-3D3C-55DB5924DF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6000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173F-0EA7-5332-5B71-1F1948786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AF317-7A4D-0EDB-C867-141D167C2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E10A7B3-6DA7-9C2C-93C6-819876A0FA91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neural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network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&amp;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scikit-learn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estimator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API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0290014-81CE-C841-AC7E-9067310A1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7326" y="1313348"/>
            <a:ext cx="6287545" cy="53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F5FA6556-DBA7-499A-3D0C-10C7A8D42BEF}"/>
              </a:ext>
            </a:extLst>
          </p:cNvPr>
          <p:cNvSpPr/>
          <p:nvPr/>
        </p:nvSpPr>
        <p:spPr>
          <a:xfrm>
            <a:off x="4747326" y="1313348"/>
            <a:ext cx="3250781" cy="26220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10C32B9-3EFB-57B4-4B81-7A55193A56D0}"/>
              </a:ext>
            </a:extLst>
          </p:cNvPr>
          <p:cNvSpPr/>
          <p:nvPr/>
        </p:nvSpPr>
        <p:spPr>
          <a:xfrm>
            <a:off x="4737678" y="3965880"/>
            <a:ext cx="3250781" cy="262204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1FA820-AD5A-168F-D412-57DCC3958699}"/>
              </a:ext>
            </a:extLst>
          </p:cNvPr>
          <p:cNvSpPr txBox="1"/>
          <p:nvPr/>
        </p:nvSpPr>
        <p:spPr>
          <a:xfrm>
            <a:off x="656619" y="1313348"/>
            <a:ext cx="3848374" cy="37380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바탕으로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인공지능망과 다른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머신러닝과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분류한 결과를 의사결정경계선을 시각화한 것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선형결합 구조인 로지스틱 회귀식은 분류를 못함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이미지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텍스트 데이터와 같이 고차원 데이터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비선형을 가진 데이터는 인공지능망의 성능이 높음</a:t>
            </a:r>
          </a:p>
        </p:txBody>
      </p:sp>
    </p:spTree>
    <p:extLst>
      <p:ext uri="{BB962C8B-B14F-4D97-AF65-F5344CB8AC3E}">
        <p14:creationId xmlns:p14="http://schemas.microsoft.com/office/powerpoint/2010/main" val="15345555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9CD14-C5EB-9287-8D73-F9F1BB288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1B0587-D91B-8580-6E0F-BD875D1A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B9D7CF7-62C2-EF58-A712-6F1CA1C6E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DE5B218-DB00-6927-3154-13E34DC8DC40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regression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BB3273-5808-C357-A26E-D8D5B7FC9953}"/>
              </a:ext>
            </a:extLst>
          </p:cNvPr>
          <p:cNvSpPr txBox="1"/>
          <p:nvPr/>
        </p:nvSpPr>
        <p:spPr>
          <a:xfrm>
            <a:off x="610995" y="2214901"/>
            <a:ext cx="5061079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torch.optim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데이터 생성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2x + 1)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([[1.0], [2.0], [3.0], [4.0]],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([[3.0], [5.0], [7.0], [9.0]],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모델 정의 (입력 1개, 출력 1개인 선형 회귀)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손실 함수와 최적화 도구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nn.MSELoss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model_reg.parameters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=0.01)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439E4D-3AB5-541E-8D0B-A6AC490A60A2}"/>
              </a:ext>
            </a:extLst>
          </p:cNvPr>
          <p:cNvSpPr txBox="1"/>
          <p:nvPr/>
        </p:nvSpPr>
        <p:spPr>
          <a:xfrm>
            <a:off x="5886450" y="2207588"/>
            <a:ext cx="5981075" cy="267765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학습 (1000번 반복)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epoch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range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(1000):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       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backpropagation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예측 (5를 넣었을 때 11에 가까운 값이 나와야 함)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f"회귀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예측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5.0):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model_reg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test_val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item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():.4f}")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67791B-4972-60A0-42AF-E11FBE129692}"/>
              </a:ext>
            </a:extLst>
          </p:cNvPr>
          <p:cNvSpPr txBox="1"/>
          <p:nvPr/>
        </p:nvSpPr>
        <p:spPr>
          <a:xfrm>
            <a:off x="525270" y="1361159"/>
            <a:ext cx="1139231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(Regression)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연속적인 숫자 값을 예측하는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y = 2x + 1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선형 관계를 학습</a:t>
            </a:r>
          </a:p>
        </p:txBody>
      </p:sp>
    </p:spTree>
    <p:extLst>
      <p:ext uri="{BB962C8B-B14F-4D97-AF65-F5344CB8AC3E}">
        <p14:creationId xmlns:p14="http://schemas.microsoft.com/office/powerpoint/2010/main" val="22777466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76907-6B9A-B691-FA60-CB5742F0C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BF6028-E971-D2D2-A37C-A4B681D3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F6427EA-47CE-DD8E-2ECD-17D2CF70C816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loss functions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5514FD8-2DC4-4FAB-2375-F50B8E928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701" y="2174702"/>
            <a:ext cx="6005080" cy="393988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8A7B801-0A51-4A98-B12E-63322EDDAD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3866" y="2624079"/>
            <a:ext cx="4587433" cy="4784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2537F47-2CF7-D84F-42A1-EB257E1F5295}"/>
              </a:ext>
            </a:extLst>
          </p:cNvPr>
          <p:cNvSpPr txBox="1"/>
          <p:nvPr/>
        </p:nvSpPr>
        <p:spPr>
          <a:xfrm>
            <a:off x="512180" y="1348385"/>
            <a:ext cx="112129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남는다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8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08720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C948-29E9-8735-2FB6-BC7071233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C201F9-D791-B84F-532F-E5201113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5046C5C9-7FC9-878D-B677-5BF98F4B925D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loss</a:t>
            </a:r>
            <a:r>
              <a:rPr lang="ko-KR" altLang="en-US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function: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1E7BB11-E633-A94D-2501-F36DA50C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820" y="2029703"/>
            <a:ext cx="5713174" cy="4371683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AD74360-CCF4-B8C7-480C-D7341F47A02F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</a:blip>
          <a:stretch>
            <a:fillRect/>
          </a:stretch>
        </p:blipFill>
        <p:spPr>
          <a:xfrm>
            <a:off x="656620" y="2691805"/>
            <a:ext cx="3240913" cy="8447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620762F-5B79-568D-9980-2E386885B9C5}"/>
              </a:ext>
            </a:extLst>
          </p:cNvPr>
          <p:cNvSpPr txBox="1"/>
          <p:nvPr/>
        </p:nvSpPr>
        <p:spPr>
          <a:xfrm>
            <a:off x="543286" y="1280721"/>
            <a:ext cx="10992093" cy="87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 문제에서 정답이 아닌 곳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(0)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곱셈에 의해 모두 사라지고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정답인 위치의 </a:t>
            </a:r>
            <a:r>
              <a:rPr lang="ko-KR" altLang="en-US" sz="18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확률값만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남으며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Log-loss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Cross-Entropy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이진분류의 특수한 경우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005792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4ED1E5-5843-DBEB-50F5-1EA7E7C76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5FF74-5477-22AB-43FD-DF018748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BAE8BB7F-4374-94A4-96E2-5D2F81230A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3816" y="68913"/>
            <a:ext cx="1667479" cy="1103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8332F086-37CC-9131-0AB6-DC91842D5818}"/>
              </a:ext>
            </a:extLst>
          </p:cNvPr>
          <p:cNvSpPr txBox="1">
            <a:spLocks/>
          </p:cNvSpPr>
          <p:nvPr/>
        </p:nvSpPr>
        <p:spPr>
          <a:xfrm>
            <a:off x="656620" y="4057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Pytorch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Hands-on : classification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3DFB2-48BA-7EB0-99DE-16C02139227D}"/>
              </a:ext>
            </a:extLst>
          </p:cNvPr>
          <p:cNvSpPr txBox="1"/>
          <p:nvPr/>
        </p:nvSpPr>
        <p:spPr>
          <a:xfrm>
            <a:off x="677670" y="1883738"/>
            <a:ext cx="5199255" cy="461664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데이터 생성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([[-2.0], [-1.0], [1.0], [2.0]],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([[0.0], [0.0], [1.0], [1.0]],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=torch.float32)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모델 정의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(Sigmoid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0~1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확률값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출력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nn.Module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__(self):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super().__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init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__()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(1, 1)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def forward(self, x):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self.sigmoid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self.linear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(x))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SimpleClassifier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손실 함수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이진 교차 엔트로피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와 최적화 도구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criterion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nn.BCELoss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optim.SGD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model_cls.parameters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lr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=0.1)</a:t>
            </a:r>
            <a:endParaRPr lang="ko-KR" altLang="en-US" sz="14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0191A9-AF39-DFA2-DD6E-A46ACD670F8A}"/>
              </a:ext>
            </a:extLst>
          </p:cNvPr>
          <p:cNvSpPr txBox="1"/>
          <p:nvPr/>
        </p:nvSpPr>
        <p:spPr>
          <a:xfrm>
            <a:off x="6210991" y="1883738"/>
            <a:ext cx="5314260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학습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for epoch in range(500):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out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loss = criterion(out,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optimizer.zero_grad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loss.backward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  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optimizer.step</a:t>
            </a:r>
            <a:r>
              <a:rPr lang="en-US" altLang="ko-KR" sz="14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예측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([[-5.0]])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torch.tensor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([[5.0]])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(-5.0):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test_neg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분류 예측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(+5.0):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model_cls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test_pos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).item():.4f} (1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 가까움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E7D529-0B99-F34C-9456-A4BCF215413E}"/>
              </a:ext>
            </a:extLst>
          </p:cNvPr>
          <p:cNvSpPr txBox="1"/>
          <p:nvPr/>
        </p:nvSpPr>
        <p:spPr>
          <a:xfrm>
            <a:off x="525270" y="1265909"/>
            <a:ext cx="1157602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분류는 입력 데이터가 어느 그룹에 속하는지 판단하는 작업으로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작으면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보다 크면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분류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이진 분류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443006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199" y="66676"/>
            <a:ext cx="1657351" cy="109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91856" y="2346102"/>
            <a:ext cx="10516592" cy="36901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791856" y="6201755"/>
            <a:ext cx="919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 Tube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67FD12-73D2-3353-A8C4-7E7C0383DD21}"/>
              </a:ext>
            </a:extLst>
          </p:cNvPr>
          <p:cNvSpPr txBox="1"/>
          <p:nvPr/>
        </p:nvSpPr>
        <p:spPr>
          <a:xfrm>
            <a:off x="544946" y="1415177"/>
            <a:ext cx="1114829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0F3AF9-A173-B593-4230-2FE3E7921A68}"/>
              </a:ext>
            </a:extLst>
          </p:cNvPr>
          <p:cNvSpPr txBox="1"/>
          <p:nvPr/>
        </p:nvSpPr>
        <p:spPr>
          <a:xfrm>
            <a:off x="704850" y="2082568"/>
            <a:ext cx="51617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XOR_perceptron_optimization_backprpagation_sgd.xlsx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399054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3677" y="109568"/>
            <a:ext cx="1590674" cy="1052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7550" y="1480521"/>
            <a:ext cx="3592964" cy="3734398"/>
          </a:xfrm>
        </p:spPr>
        <p:txBody>
          <a:bodyPr>
            <a:normAutofit fontScale="85000" lnSpcReduction="10000"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Tutorial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배우고 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오른쪽 그림을 바탕으로 입력과 출력데이터를 생성하고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sym typeface="Wingdings" panose="05000000000000000000" pitchFamily="2" charset="2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en-US" altLang="ko-KR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Pytorch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로 </a:t>
            </a:r>
            <a:r>
              <a:rPr lang="ko-KR" altLang="en-US" sz="20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네크워크를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구성하고 학습한 후 예측하라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예측하여야 하는 총 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parameters(w,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b)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는 몇 개인가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?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B4939-FECE-E50C-F0C1-06C4C442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514" y="1448109"/>
            <a:ext cx="7505700" cy="44318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60D858-72FF-9996-DDB4-58889C397859}"/>
              </a:ext>
            </a:extLst>
          </p:cNvPr>
          <p:cNvSpPr txBox="1"/>
          <p:nvPr/>
        </p:nvSpPr>
        <p:spPr>
          <a:xfrm>
            <a:off x="2600325" y="634753"/>
            <a:ext cx="3082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w4_pytorch_tutorial.ipynb</a:t>
            </a:r>
            <a:endParaRPr lang="ko-KR" altLang="en-US" sz="2000" dirty="0">
              <a:solidFill>
                <a:schemeClr val="accent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EDEB4-CC20-F660-9DB2-96EED65201AC}"/>
              </a:ext>
            </a:extLst>
          </p:cNvPr>
          <p:cNvSpPr txBox="1"/>
          <p:nvPr/>
        </p:nvSpPr>
        <p:spPr>
          <a:xfrm>
            <a:off x="4100514" y="5880269"/>
            <a:ext cx="13596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utube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1D66E-3002-A56F-DF76-AA82152EA7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D61D28-EFC5-6097-DEE8-D30506D427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72781A-2383-4E2D-7B76-619F7FA06A3A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 err="1">
                <a:solidFill>
                  <a:schemeClr val="bg1"/>
                </a:solidFill>
              </a:rPr>
              <a:t>Pytorch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54501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ECCFD-463F-7127-518A-5DC5407A9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9266F11-C291-BAA9-5735-0A5A7CFF4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 err="1">
                <a:cs typeface="Segoe UI Light" panose="020B0502040204020203" pitchFamily="34" charset="0"/>
              </a:rPr>
              <a:t>pytorch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tutorial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D2A3FE8-AC2B-31B3-C63B-4CF02B6CB5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56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BC71BA-4391-0FA8-6E62-1CDC58F5E7DD}"/>
              </a:ext>
            </a:extLst>
          </p:cNvPr>
          <p:cNvSpPr txBox="1"/>
          <p:nvPr/>
        </p:nvSpPr>
        <p:spPr>
          <a:xfrm>
            <a:off x="950697" y="1402638"/>
            <a:ext cx="1055319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Installation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 Basics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Gradient Descent With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Backpropagation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Training Pipeline: Model, Loss, and Optimizer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Logistic Regression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and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DataLoader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Dataset Transforms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Softmax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And Cross Entropy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Activation Functions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Feed-Forward Neural Net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Convolutional Neural Net (CNN)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Transfer Learning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Tensorboard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Save and Load Models</a:t>
            </a: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1090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2285</TotalTime>
  <Words>5194</Words>
  <Application>Microsoft Office PowerPoint</Application>
  <PresentationFormat>와이드스크린</PresentationFormat>
  <Paragraphs>614</Paragraphs>
  <Slides>56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9" baseType="lpstr">
      <vt:lpstr>D2Coding</vt:lpstr>
      <vt:lpstr>NanumGothicExtraBold</vt:lpstr>
      <vt:lpstr>맑은 고딕</vt:lpstr>
      <vt:lpstr>맑은 고딕 Semilight</vt:lpstr>
      <vt:lpstr>Batang</vt:lpstr>
      <vt:lpstr>휴먼옛체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Goals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</vt:lpstr>
      <vt:lpstr>pytorch tutorial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65</cp:revision>
  <dcterms:created xsi:type="dcterms:W3CDTF">2026-04-06T01:00:39Z</dcterms:created>
  <dcterms:modified xsi:type="dcterms:W3CDTF">2026-04-26T01:16:00Z</dcterms:modified>
  <cp:version/>
</cp:coreProperties>
</file>