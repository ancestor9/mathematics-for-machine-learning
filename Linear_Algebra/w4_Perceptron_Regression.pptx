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999" r:id="rId11"/>
    <p:sldId id="1000" r:id="rId12"/>
    <p:sldId id="1001" r:id="rId13"/>
    <p:sldId id="335" r:id="rId14"/>
    <p:sldId id="938" r:id="rId15"/>
    <p:sldId id="871" r:id="rId16"/>
    <p:sldId id="872" r:id="rId17"/>
    <p:sldId id="947" r:id="rId18"/>
    <p:sldId id="931" r:id="rId19"/>
    <p:sldId id="958" r:id="rId20"/>
    <p:sldId id="970" r:id="rId21"/>
    <p:sldId id="971" r:id="rId22"/>
    <p:sldId id="873" r:id="rId23"/>
    <p:sldId id="907" r:id="rId24"/>
    <p:sldId id="945" r:id="rId25"/>
    <p:sldId id="946" r:id="rId26"/>
    <p:sldId id="930" r:id="rId27"/>
    <p:sldId id="851" r:id="rId28"/>
    <p:sldId id="985" r:id="rId29"/>
    <p:sldId id="984" r:id="rId30"/>
    <p:sldId id="852" r:id="rId31"/>
    <p:sldId id="969" r:id="rId32"/>
    <p:sldId id="937" r:id="rId33"/>
    <p:sldId id="883" r:id="rId34"/>
    <p:sldId id="988" r:id="rId35"/>
    <p:sldId id="989" r:id="rId36"/>
    <p:sldId id="981" r:id="rId37"/>
    <p:sldId id="974" r:id="rId38"/>
    <p:sldId id="997" r:id="rId39"/>
    <p:sldId id="975" r:id="rId40"/>
    <p:sldId id="954" r:id="rId41"/>
    <p:sldId id="882" r:id="rId42"/>
    <p:sldId id="1002" r:id="rId43"/>
    <p:sldId id="932" r:id="rId44"/>
    <p:sldId id="993" r:id="rId45"/>
    <p:sldId id="998" r:id="rId4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999"/>
            <p14:sldId id="1000"/>
            <p14:sldId id="1001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89"/>
            <p14:sldId id="981"/>
            <p14:sldId id="974"/>
            <p14:sldId id="997"/>
            <p14:sldId id="975"/>
            <p14:sldId id="954"/>
            <p14:sldId id="882"/>
            <p14:sldId id="1002"/>
            <p14:sldId id="932"/>
            <p14:sldId id="993"/>
            <p14:sldId id="99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082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microsoft.com/office/2007/relationships/hdphoto" Target="../media/hdphoto3.wdp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9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5.sv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28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4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8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gi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3" Type="http://schemas.openxmlformats.org/officeDocument/2006/relationships/image" Target="../media/image561.png"/><Relationship Id="rId7" Type="http://schemas.openxmlformats.org/officeDocument/2006/relationships/image" Target="../media/image65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11" Type="http://schemas.openxmlformats.org/officeDocument/2006/relationships/image" Target="../media/image68.png"/><Relationship Id="rId5" Type="http://schemas.openxmlformats.org/officeDocument/2006/relationships/image" Target="../media/image581.png"/><Relationship Id="rId10" Type="http://schemas.openxmlformats.org/officeDocument/2006/relationships/image" Target="../media/image67.png"/><Relationship Id="rId4" Type="http://schemas.openxmlformats.org/officeDocument/2006/relationships/image" Target="../media/image571.png"/><Relationship Id="rId9" Type="http://schemas.openxmlformats.org/officeDocument/2006/relationships/image" Target="../media/image6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stochasti%20gradient%20descent.xlsx" TargetMode="External"/><Relationship Id="rId4" Type="http://schemas.openxmlformats.org/officeDocument/2006/relationships/image" Target="../media/image7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72.png"/><Relationship Id="rId3" Type="http://schemas.openxmlformats.org/officeDocument/2006/relationships/image" Target="../media/image530.png"/><Relationship Id="rId7" Type="http://schemas.openxmlformats.org/officeDocument/2006/relationships/image" Target="../media/image570.png"/><Relationship Id="rId12" Type="http://schemas.openxmlformats.org/officeDocument/2006/relationships/image" Target="../media/image680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0.png"/><Relationship Id="rId11" Type="http://schemas.openxmlformats.org/officeDocument/2006/relationships/image" Target="../media/image610.png"/><Relationship Id="rId5" Type="http://schemas.openxmlformats.org/officeDocument/2006/relationships/image" Target="../media/image550.png"/><Relationship Id="rId10" Type="http://schemas.openxmlformats.org/officeDocument/2006/relationships/image" Target="../media/image600.png"/><Relationship Id="rId4" Type="http://schemas.openxmlformats.org/officeDocument/2006/relationships/image" Target="../media/image540.png"/><Relationship Id="rId9" Type="http://schemas.openxmlformats.org/officeDocument/2006/relationships/image" Target="../media/image590.png"/><Relationship Id="rId14" Type="http://schemas.openxmlformats.org/officeDocument/2006/relationships/image" Target="../media/image64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78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12" Type="http://schemas.openxmlformats.org/officeDocument/2006/relationships/image" Target="../media/image89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79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56D5-74B5-809A-ADA5-C1580B8C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F88730-A6FC-946C-9F9D-BB8049D3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2A74EC82-794F-0922-127E-BA2271751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Use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 to predict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4C59-2D23-47E6-37A0-2DF4EEDDDF68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위해 선형회귀식 모델을 가정하고 입력과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출력변수를 모델에 투입함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3E0E43-E756-C07D-22AD-DF4FED83F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93839" y="3036518"/>
            <a:ext cx="6568492" cy="137292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D606CEA-CCD8-24FD-3A39-C95C22A98FD8}"/>
              </a:ext>
            </a:extLst>
          </p:cNvPr>
          <p:cNvSpPr/>
          <p:nvPr/>
        </p:nvSpPr>
        <p:spPr>
          <a:xfrm>
            <a:off x="6397772" y="3258887"/>
            <a:ext cx="626923" cy="9383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93372C1A-63FD-65F4-5DD8-0C2DC1F1BD11}"/>
              </a:ext>
            </a:extLst>
          </p:cNvPr>
          <p:cNvSpPr/>
          <p:nvPr/>
        </p:nvSpPr>
        <p:spPr>
          <a:xfrm>
            <a:off x="7467600" y="2476825"/>
            <a:ext cx="1405077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13A4B-EBC7-DA80-CF72-A3BCFFF55493}"/>
              </a:ext>
            </a:extLst>
          </p:cNvPr>
          <p:cNvSpPr/>
          <p:nvPr/>
        </p:nvSpPr>
        <p:spPr>
          <a:xfrm>
            <a:off x="3326425" y="3054536"/>
            <a:ext cx="808695" cy="12431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0CEDE636-7AC3-F646-12D9-4018C6A722B8}"/>
              </a:ext>
            </a:extLst>
          </p:cNvPr>
          <p:cNvSpPr/>
          <p:nvPr/>
        </p:nvSpPr>
        <p:spPr>
          <a:xfrm>
            <a:off x="4284524" y="2226906"/>
            <a:ext cx="1689556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76400D-A06D-BF22-DB41-6D63213D0F59}"/>
              </a:ext>
            </a:extLst>
          </p:cNvPr>
          <p:cNvSpPr/>
          <p:nvPr/>
        </p:nvSpPr>
        <p:spPr>
          <a:xfrm>
            <a:off x="5480767" y="3258887"/>
            <a:ext cx="917005" cy="93834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6E3C0FC-1083-DB74-C942-802D6465BE5B}"/>
              </a:ext>
            </a:extLst>
          </p:cNvPr>
          <p:cNvSpPr/>
          <p:nvPr/>
        </p:nvSpPr>
        <p:spPr>
          <a:xfrm>
            <a:off x="8170138" y="3054535"/>
            <a:ext cx="917005" cy="124314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6B842E22-7471-7C80-7881-D7AA85BD0B62}"/>
              </a:ext>
            </a:extLst>
          </p:cNvPr>
          <p:cNvSpPr/>
          <p:nvPr/>
        </p:nvSpPr>
        <p:spPr>
          <a:xfrm>
            <a:off x="7191781" y="5125790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87871"/>
              <a:gd name="adj6" fmla="val -83019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442F4CD0-52F6-14E0-C3CA-CABA3C2DE43C}"/>
              </a:ext>
            </a:extLst>
          </p:cNvPr>
          <p:cNvSpPr/>
          <p:nvPr/>
        </p:nvSpPr>
        <p:spPr>
          <a:xfrm>
            <a:off x="9721383" y="4787751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94369"/>
              <a:gd name="adj6" fmla="val -58888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6583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DB6A-964F-B733-4519-2ABFA270A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70DD8-C3FC-4D5E-4793-0F0885C38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BED262CE-AFCC-DC28-EF29-D4778D9A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7090F-2A99-4CDA-7A5E-55CB4C74254A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값과 예측 값의 차이의 제곱을 최소화 하는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찾아내야 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53E7719-68F6-6683-8817-A76B058731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91427" y="2278280"/>
            <a:ext cx="7209145" cy="230143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6F3D8D4-E9CA-3B4C-7B2A-4F19B2827297}"/>
              </a:ext>
            </a:extLst>
          </p:cNvPr>
          <p:cNvSpPr/>
          <p:nvPr/>
        </p:nvSpPr>
        <p:spPr>
          <a:xfrm>
            <a:off x="4505407" y="2124674"/>
            <a:ext cx="917005" cy="26403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FD85D9D1-BE37-93E6-79A8-86837AABE407}"/>
              </a:ext>
            </a:extLst>
          </p:cNvPr>
          <p:cNvSpPr/>
          <p:nvPr/>
        </p:nvSpPr>
        <p:spPr>
          <a:xfrm>
            <a:off x="6084865" y="5407001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2826"/>
              <a:gd name="adj6" fmla="val -65623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설명선: 굽은 선 18">
            <a:extLst>
              <a:ext uri="{FF2B5EF4-FFF2-40B4-BE49-F238E27FC236}">
                <a16:creationId xmlns:a16="http://schemas.microsoft.com/office/drawing/2014/main" id="{C1D3FD06-613B-A872-146B-CF7B4777B7EB}"/>
              </a:ext>
            </a:extLst>
          </p:cNvPr>
          <p:cNvSpPr/>
          <p:nvPr/>
        </p:nvSpPr>
        <p:spPr>
          <a:xfrm>
            <a:off x="9080304" y="5407000"/>
            <a:ext cx="2568221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3879"/>
              <a:gd name="adj6" fmla="val -45889"/>
            </a:avLst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predicted 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양쪽 대괄호 19">
            <a:extLst>
              <a:ext uri="{FF2B5EF4-FFF2-40B4-BE49-F238E27FC236}">
                <a16:creationId xmlns:a16="http://schemas.microsoft.com/office/drawing/2014/main" id="{B9B86263-A6E9-99E1-6677-72536E81AE26}"/>
              </a:ext>
            </a:extLst>
          </p:cNvPr>
          <p:cNvSpPr/>
          <p:nvPr/>
        </p:nvSpPr>
        <p:spPr>
          <a:xfrm rot="5400000">
            <a:off x="5928360" y="1935480"/>
            <a:ext cx="2656840" cy="3002280"/>
          </a:xfrm>
          <a:prstGeom prst="bracketPair">
            <a:avLst>
              <a:gd name="adj" fmla="val 4430"/>
            </a:avLst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8F560AC-4ECB-2065-F1E1-3047DF349403}"/>
              </a:ext>
            </a:extLst>
          </p:cNvPr>
          <p:cNvSpPr/>
          <p:nvPr/>
        </p:nvSpPr>
        <p:spPr>
          <a:xfrm>
            <a:off x="2656846" y="2926080"/>
            <a:ext cx="1142994" cy="93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4C2A70CD-A574-B047-2CFE-347064D7C3BF}"/>
              </a:ext>
            </a:extLst>
          </p:cNvPr>
          <p:cNvSpPr/>
          <p:nvPr/>
        </p:nvSpPr>
        <p:spPr>
          <a:xfrm>
            <a:off x="1454758" y="4579719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69178"/>
              <a:gd name="adj6" fmla="val 58664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325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9" grpId="0" animBg="1"/>
      <p:bldP spid="20" grpId="0" animBg="1"/>
      <p:bldP spid="22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F8BE-9062-4844-5CEB-F0DA1CB28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03DF96-69E8-08CD-5143-8BC51A6DC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A5B2E967-9608-2F1C-35D5-A151B36CC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B1BF4BE-82DB-5425-FC1E-7F8FA174E5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30574" y="1404528"/>
            <a:ext cx="8900931" cy="211854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26B163F-8F4E-37BC-1D25-A5FEF60D9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31" y="3742147"/>
            <a:ext cx="6101469" cy="66229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A9CAC1F-66C6-0BB9-901D-3F80EA593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331" y="5238746"/>
            <a:ext cx="6101469" cy="35884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70CC70D-B9E8-98B4-2D96-97962985C6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331" y="5746723"/>
            <a:ext cx="6101469" cy="537574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5FDB75B9-8474-DA2F-ADAA-ED0E81A62D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5332" y="4615241"/>
            <a:ext cx="6101468" cy="45486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AF78BCF-FE82-B388-2B9F-92621CB5B4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6426" y="4117523"/>
            <a:ext cx="3314987" cy="95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85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425AEA0-D31F-45C0-DF21-5BF14AF47300}"/>
              </a:ext>
            </a:extLst>
          </p:cNvPr>
          <p:cNvSpPr/>
          <p:nvPr/>
        </p:nvSpPr>
        <p:spPr>
          <a:xfrm>
            <a:off x="2543175" y="3515240"/>
            <a:ext cx="840284" cy="8179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5B0194-4379-CEFE-15AC-E1CC9C7CDA34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3383459" y="3924230"/>
            <a:ext cx="3452092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타원 9">
            <a:extLst>
              <a:ext uri="{FF2B5EF4-FFF2-40B4-BE49-F238E27FC236}">
                <a16:creationId xmlns:a16="http://schemas.microsoft.com/office/drawing/2014/main" id="{2B41539A-E268-F490-CC02-5C475E24698F}"/>
              </a:ext>
            </a:extLst>
          </p:cNvPr>
          <p:cNvSpPr/>
          <p:nvPr/>
        </p:nvSpPr>
        <p:spPr>
          <a:xfrm>
            <a:off x="5134739" y="4913157"/>
            <a:ext cx="840284" cy="81798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b(bias)</a:t>
            </a:r>
            <a:endParaRPr lang="ko-KR" altLang="en-US" sz="12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23B24C2-28A6-4D10-0B3A-B029DC9411F4}"/>
              </a:ext>
            </a:extLst>
          </p:cNvPr>
          <p:cNvCxnSpPr>
            <a:cxnSpLocks/>
            <a:stCxn id="10" idx="7"/>
            <a:endCxn id="19" idx="3"/>
          </p:cNvCxnSpPr>
          <p:nvPr/>
        </p:nvCxnSpPr>
        <p:spPr>
          <a:xfrm flipV="1">
            <a:off x="5851966" y="4232469"/>
            <a:ext cx="1106642" cy="8004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/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blipFill>
                <a:blip r:embed="rId3"/>
                <a:stretch>
                  <a:fillRect l="-7143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/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blipFill>
                <a:blip r:embed="rId4"/>
                <a:stretch>
                  <a:fillRect l="-2837" r="-4965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6835551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m:rPr>
                              <m:sty m:val="p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nary>
                    </m:oMath>
                  </m:oMathPara>
                </a14:m>
                <a:endPara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7255694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7675837" y="3924230"/>
            <a:ext cx="1131193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/>
              <p:nvPr/>
            </p:nvSpPr>
            <p:spPr>
              <a:xfrm>
                <a:off x="7524749" y="3128932"/>
                <a:ext cx="128228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749" y="3128932"/>
                <a:ext cx="1282281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직사각형 66">
            <a:extLst>
              <a:ext uri="{FF2B5EF4-FFF2-40B4-BE49-F238E27FC236}">
                <a16:creationId xmlns:a16="http://schemas.microsoft.com/office/drawing/2014/main" id="{E9C596E4-1E62-4B84-87BB-5BB08482914A}"/>
              </a:ext>
            </a:extLst>
          </p:cNvPr>
          <p:cNvSpPr/>
          <p:nvPr/>
        </p:nvSpPr>
        <p:spPr>
          <a:xfrm>
            <a:off x="7469666" y="2386853"/>
            <a:ext cx="12247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  <a:blipFill>
                <a:blip r:embed="rId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D1C87C6D-B6F7-E7F9-521E-3D2F40D3D3F4}"/>
              </a:ext>
            </a:extLst>
          </p:cNvPr>
          <p:cNvSpPr/>
          <p:nvPr/>
        </p:nvSpPr>
        <p:spPr>
          <a:xfrm>
            <a:off x="207140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F0D505-7E90-D3A5-3CAD-21E3C3F5D99F}"/>
              </a:ext>
            </a:extLst>
          </p:cNvPr>
          <p:cNvSpPr/>
          <p:nvPr/>
        </p:nvSpPr>
        <p:spPr>
          <a:xfrm>
            <a:off x="400076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5614748" y="2379460"/>
            <a:ext cx="16948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 : inner</a:t>
            </a:r>
            <a:r>
              <a:rPr lang="ko-KR" altLang="en-US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8654352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661452" y="2896271"/>
            <a:ext cx="5006298" cy="304162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48D8F8-98D4-7429-88BE-455A8189E92F}"/>
              </a:ext>
            </a:extLst>
          </p:cNvPr>
          <p:cNvSpPr/>
          <p:nvPr/>
        </p:nvSpPr>
        <p:spPr>
          <a:xfrm>
            <a:off x="10283127" y="2379460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Actual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5E615629-25CC-350E-7711-C87E5ED906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14" y="4331477"/>
            <a:ext cx="1214595" cy="125324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3D4FDAA-A454-51E2-EB7C-210D15852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4011" y="4232469"/>
            <a:ext cx="996643" cy="12291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2B98FF0-1326-357A-5E2C-BF0E9BF44D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3092" y="4232470"/>
            <a:ext cx="1279615" cy="1251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15" grpId="0"/>
      <p:bldP spid="16" grpId="0"/>
      <p:bldP spid="19" grpId="0" animBg="1"/>
      <p:bldP spid="22" grpId="0"/>
      <p:bldP spid="33" grpId="0"/>
      <p:bldP spid="67" grpId="0"/>
      <p:bldP spid="68" grpId="0"/>
      <p:bldP spid="2" grpId="0"/>
      <p:bldP spid="5" grpId="0"/>
      <p:bldP spid="6" grpId="0"/>
      <p:bldP spid="7" grpId="0"/>
      <p:bldP spid="18" grpId="0"/>
      <p:bldP spid="2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8D1FBA-0F36-8335-6120-E2768DBFA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713" y="1387105"/>
            <a:ext cx="2994574" cy="221713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F441928-D24A-BE6F-9B13-371458794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486" y="1286625"/>
            <a:ext cx="2336456" cy="248853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557318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 dirty="0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288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9"/>
            <a:ext cx="11064543" cy="888472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인공신경망 핵심 원리인 보편적 근사 정리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(Universal Approximation Theorem) 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신경망이 충분한 수의 노드와 적절한 활성화 함수를 가지고 있다면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이론적으로 어떤 형태의 연속 함수라도 근사할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 있음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Networks(NN)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29C735-FFCB-09AC-B689-80584795B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4" y="2353148"/>
            <a:ext cx="4421460" cy="30380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BEBF-19DE-0F25-AD3C-A57C4D163004}"/>
              </a:ext>
            </a:extLst>
          </p:cNvPr>
          <p:cNvSpPr txBox="1"/>
          <p:nvPr/>
        </p:nvSpPr>
        <p:spPr>
          <a:xfrm>
            <a:off x="1712439" y="5702801"/>
            <a:ext cx="64960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series of operations that can approximate (practically) any function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사실상 어떤 함수도 근사할 수 있는 일련의 연산들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endParaRPr lang="ko-KR" altLang="en-US" sz="16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EACF0A5-9708-AFEA-817F-D84AEE04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902" y="2353148"/>
            <a:ext cx="5366818" cy="303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AB932-2EF8-649B-F43A-5F5085079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F1670-BAC1-AD99-B2F9-A6E14FE6D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2A780B-E056-2441-C581-B6259A3E62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0E52C76F-F19C-8F6F-244F-7E3C63C08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2224949"/>
            <a:ext cx="2010184" cy="1594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9B8A8-1F86-AACF-2635-B1936BE26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309" y="2239279"/>
            <a:ext cx="7144108" cy="139446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2877D11-0050-8567-D7B0-AF7609B57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" y="3717564"/>
            <a:ext cx="1666758" cy="24440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4B28289-EBC5-1F5A-B55D-779F25E6CB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4807" y="4278616"/>
            <a:ext cx="3292749" cy="8111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20D63F3-67FB-5E75-9CDF-1727090D8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8675" y="4628272"/>
            <a:ext cx="3286740" cy="78713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B08982-871B-BAB7-43F5-367DCF863D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3389" y="4953894"/>
            <a:ext cx="3292749" cy="75108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DD44507-119A-BF6A-CA34-4F0E3FAD44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811" y="5243464"/>
            <a:ext cx="3274723" cy="7631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9483210-42EC-B83E-1CF9-E3A73E792A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956" y="5545050"/>
            <a:ext cx="3304766" cy="793144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32D7BFF-98C4-CCA5-70D8-095757EC91B3}"/>
              </a:ext>
            </a:extLst>
          </p:cNvPr>
          <p:cNvCxnSpPr>
            <a:cxnSpLocks/>
          </p:cNvCxnSpPr>
          <p:nvPr/>
        </p:nvCxnSpPr>
        <p:spPr>
          <a:xfrm>
            <a:off x="6896828" y="3644430"/>
            <a:ext cx="0" cy="8654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425FA68-D577-0001-59AC-3D70E1723BA6}"/>
              </a:ext>
            </a:extLst>
          </p:cNvPr>
          <p:cNvCxnSpPr>
            <a:cxnSpLocks/>
          </p:cNvCxnSpPr>
          <p:nvPr/>
        </p:nvCxnSpPr>
        <p:spPr>
          <a:xfrm>
            <a:off x="6083394" y="3644430"/>
            <a:ext cx="0" cy="11637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D8C00EF-DB26-421C-3809-E9F29274EC42}"/>
              </a:ext>
            </a:extLst>
          </p:cNvPr>
          <p:cNvCxnSpPr>
            <a:cxnSpLocks/>
          </p:cNvCxnSpPr>
          <p:nvPr/>
        </p:nvCxnSpPr>
        <p:spPr>
          <a:xfrm>
            <a:off x="5014689" y="3644430"/>
            <a:ext cx="0" cy="1396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638B7BC-0E16-7220-0B97-BD9A9E0D8C20}"/>
              </a:ext>
            </a:extLst>
          </p:cNvPr>
          <p:cNvCxnSpPr>
            <a:cxnSpLocks/>
          </p:cNvCxnSpPr>
          <p:nvPr/>
        </p:nvCxnSpPr>
        <p:spPr>
          <a:xfrm>
            <a:off x="4165014" y="3644430"/>
            <a:ext cx="0" cy="173097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BADE6ADE-7564-EE16-A685-505C23174C7D}"/>
              </a:ext>
            </a:extLst>
          </p:cNvPr>
          <p:cNvCxnSpPr>
            <a:cxnSpLocks/>
          </p:cNvCxnSpPr>
          <p:nvPr/>
        </p:nvCxnSpPr>
        <p:spPr>
          <a:xfrm>
            <a:off x="8634188" y="3644430"/>
            <a:ext cx="0" cy="5275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림 35">
            <a:extLst>
              <a:ext uri="{FF2B5EF4-FFF2-40B4-BE49-F238E27FC236}">
                <a16:creationId xmlns:a16="http://schemas.microsoft.com/office/drawing/2014/main" id="{F90924B2-067C-D55F-6207-3111E53A3C91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681189" y="3252140"/>
            <a:ext cx="3005355" cy="36405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C42014-027B-C349-05D0-139E3B0DEE3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637125" y="3624941"/>
            <a:ext cx="3564238" cy="7631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이미지의 신경망 구조를 바탕으로, 손실 함수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ko-KR" altLang="ko-KR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가중치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편미분</a:t>
                </a:r>
                <a:r>
                  <a:rPr kumimoji="0" lang="en-US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ko-KR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과정을 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출력층에서 시작하여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입력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층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방향으로 거슬러 올라가는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Chain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Rule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(연쇄 법칙)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역전파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Backpropagation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흐름의 핵심은 각 단계의 변화율을 곱하는 것</a:t>
                </a:r>
              </a:p>
            </p:txBody>
          </p:sp>
        </mc:Choice>
        <mc:Fallback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blipFill>
                <a:blip r:embed="rId12"/>
                <a:stretch>
                  <a:fillRect l="-271" t="-893" b="-107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타원 43">
            <a:extLst>
              <a:ext uri="{FF2B5EF4-FFF2-40B4-BE49-F238E27FC236}">
                <a16:creationId xmlns:a16="http://schemas.microsoft.com/office/drawing/2014/main" id="{E5F0B88D-BCAB-B966-9358-21476CD19836}"/>
              </a:ext>
            </a:extLst>
          </p:cNvPr>
          <p:cNvSpPr/>
          <p:nvPr/>
        </p:nvSpPr>
        <p:spPr>
          <a:xfrm rot="20476699">
            <a:off x="5668662" y="5188915"/>
            <a:ext cx="5742152" cy="622417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4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2A18C4E-012D-807C-8C67-6C63AEC39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612" y="2091009"/>
            <a:ext cx="7257371" cy="41363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913EAB-BA36-16A9-AB24-CFEE9F746E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613" y="2075770"/>
            <a:ext cx="7265694" cy="412804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C31180-20D2-3B0D-25E1-D40D042744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0452" y="2050369"/>
            <a:ext cx="7307307" cy="414469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81A65D-316B-A000-FF90-C6D63C9BF426}"/>
              </a:ext>
            </a:extLst>
          </p:cNvPr>
          <p:cNvSpPr/>
          <p:nvPr/>
        </p:nvSpPr>
        <p:spPr>
          <a:xfrm>
            <a:off x="2000612" y="4907280"/>
            <a:ext cx="1984648" cy="1335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2BD06AB-5FDE-B384-3EBD-43406BC57E76}"/>
              </a:ext>
            </a:extLst>
          </p:cNvPr>
          <p:cNvGrpSpPr/>
          <p:nvPr/>
        </p:nvGrpSpPr>
        <p:grpSpPr>
          <a:xfrm>
            <a:off x="4660202" y="2362200"/>
            <a:ext cx="1931098" cy="2125980"/>
            <a:chOff x="4660202" y="2362200"/>
            <a:chExt cx="1931098" cy="21259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6F2BBD8-C52D-5984-A974-6856F1852FF8}"/>
                </a:ext>
              </a:extLst>
            </p:cNvPr>
            <p:cNvSpPr/>
            <p:nvPr/>
          </p:nvSpPr>
          <p:spPr>
            <a:xfrm>
              <a:off x="4660202" y="2362200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BFC4C29-E792-8B4F-63B9-D39685359B47}"/>
                </a:ext>
              </a:extLst>
            </p:cNvPr>
            <p:cNvSpPr/>
            <p:nvPr/>
          </p:nvSpPr>
          <p:spPr>
            <a:xfrm>
              <a:off x="4660202" y="3482634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805F8C82-8681-BCFE-A635-280F2B203808}"/>
                </a:ext>
              </a:extLst>
            </p:cNvPr>
            <p:cNvSpPr/>
            <p:nvPr/>
          </p:nvSpPr>
          <p:spPr>
            <a:xfrm>
              <a:off x="5798803" y="4159193"/>
              <a:ext cx="792497" cy="3289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21A24-772E-52A2-1347-2047E88B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CC5D36-780A-3C37-ECB3-3C52858B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D1F52A1-8777-EB8E-2169-4B78B61922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Deep Learning Mechanism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987D5A-EC9B-AA0E-36C8-B023D1897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357" y="1943382"/>
            <a:ext cx="4691425" cy="29712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C21F2C9-6306-5740-6E90-DA22B46AB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8478" y="1943382"/>
            <a:ext cx="3183467" cy="414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350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2750</TotalTime>
  <Words>2793</Words>
  <Application>Microsoft Office PowerPoint</Application>
  <PresentationFormat>와이드스크린</PresentationFormat>
  <Paragraphs>347</Paragraphs>
  <Slides>45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8" baseType="lpstr">
      <vt:lpstr>D2Coding</vt:lpstr>
      <vt:lpstr>NanumGothicExtraBold</vt:lpstr>
      <vt:lpstr>맑은 고딕</vt:lpstr>
      <vt:lpstr>맑은 고딕 Semilight</vt:lpstr>
      <vt:lpstr>바탕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Use a model to predict</vt:lpstr>
      <vt:lpstr>Fit a model’s prediction to reality</vt:lpstr>
      <vt:lpstr>Fit a model’s prediction to reality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81</cp:revision>
  <dcterms:created xsi:type="dcterms:W3CDTF">2026-04-06T01:00:39Z</dcterms:created>
  <dcterms:modified xsi:type="dcterms:W3CDTF">2026-04-28T07:54:01Z</dcterms:modified>
  <cp:version/>
</cp:coreProperties>
</file>