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2"/>
  </p:notesMasterIdLst>
  <p:handoutMasterIdLst>
    <p:handoutMasterId r:id="rId63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335" r:id="rId11"/>
    <p:sldId id="938" r:id="rId12"/>
    <p:sldId id="871" r:id="rId13"/>
    <p:sldId id="872" r:id="rId14"/>
    <p:sldId id="947" r:id="rId15"/>
    <p:sldId id="931" r:id="rId16"/>
    <p:sldId id="958" r:id="rId17"/>
    <p:sldId id="873" r:id="rId18"/>
    <p:sldId id="907" r:id="rId19"/>
    <p:sldId id="945" r:id="rId20"/>
    <p:sldId id="946" r:id="rId21"/>
    <p:sldId id="936" r:id="rId22"/>
    <p:sldId id="959" r:id="rId23"/>
    <p:sldId id="930" r:id="rId24"/>
    <p:sldId id="928" r:id="rId25"/>
    <p:sldId id="851" r:id="rId26"/>
    <p:sldId id="852" r:id="rId27"/>
    <p:sldId id="883" r:id="rId28"/>
    <p:sldId id="932" r:id="rId29"/>
    <p:sldId id="956" r:id="rId30"/>
    <p:sldId id="957" r:id="rId31"/>
    <p:sldId id="908" r:id="rId32"/>
    <p:sldId id="880" r:id="rId33"/>
    <p:sldId id="929" r:id="rId34"/>
    <p:sldId id="846" r:id="rId35"/>
    <p:sldId id="950" r:id="rId36"/>
    <p:sldId id="951" r:id="rId37"/>
    <p:sldId id="952" r:id="rId38"/>
    <p:sldId id="953" r:id="rId39"/>
    <p:sldId id="955" r:id="rId40"/>
    <p:sldId id="954" r:id="rId41"/>
    <p:sldId id="927" r:id="rId42"/>
    <p:sldId id="937" r:id="rId43"/>
    <p:sldId id="879" r:id="rId44"/>
    <p:sldId id="881" r:id="rId45"/>
    <p:sldId id="882" r:id="rId46"/>
    <p:sldId id="884" r:id="rId47"/>
    <p:sldId id="919" r:id="rId48"/>
    <p:sldId id="886" r:id="rId49"/>
    <p:sldId id="887" r:id="rId50"/>
    <p:sldId id="885" r:id="rId51"/>
    <p:sldId id="285" r:id="rId52"/>
    <p:sldId id="961" r:id="rId53"/>
    <p:sldId id="963" r:id="rId54"/>
    <p:sldId id="964" r:id="rId55"/>
    <p:sldId id="960" r:id="rId56"/>
    <p:sldId id="284" r:id="rId57"/>
    <p:sldId id="949" r:id="rId58"/>
    <p:sldId id="968" r:id="rId59"/>
    <p:sldId id="967" r:id="rId60"/>
    <p:sldId id="965" r:id="rId6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58"/>
            <p14:sldId id="873"/>
            <p14:sldId id="907"/>
            <p14:sldId id="945"/>
            <p14:sldId id="946"/>
            <p14:sldId id="936"/>
            <p14:sldId id="959"/>
            <p14:sldId id="930"/>
            <p14:sldId id="928"/>
            <p14:sldId id="851"/>
            <p14:sldId id="852"/>
            <p14:sldId id="883"/>
            <p14:sldId id="932"/>
            <p14:sldId id="956"/>
            <p14:sldId id="957"/>
            <p14:sldId id="908"/>
            <p14:sldId id="880"/>
            <p14:sldId id="929"/>
            <p14:sldId id="846"/>
            <p14:sldId id="950"/>
            <p14:sldId id="951"/>
            <p14:sldId id="952"/>
            <p14:sldId id="953"/>
            <p14:sldId id="955"/>
            <p14:sldId id="954"/>
            <p14:sldId id="927"/>
            <p14:sldId id="937"/>
            <p14:sldId id="879"/>
            <p14:sldId id="881"/>
            <p14:sldId id="882"/>
            <p14:sldId id="884"/>
            <p14:sldId id="919"/>
            <p14:sldId id="886"/>
            <p14:sldId id="887"/>
            <p14:sldId id="885"/>
            <p14:sldId id="285"/>
            <p14:sldId id="961"/>
            <p14:sldId id="963"/>
            <p14:sldId id="964"/>
            <p14:sldId id="960"/>
            <p14:sldId id="284"/>
            <p14:sldId id="949"/>
            <p14:sldId id="968"/>
            <p14:sldId id="967"/>
            <p14:sldId id="96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handoutMaster" Target="handoutMasters/handoutMaster1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476B-976D-3B9C-929C-0E6C2ECC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18413-B452-869B-093F-7FCD8E11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8A77C-E7F5-2598-FF2B-1405B870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6329-4B53-5B91-7ED8-0902822A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5684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F507C-BA73-0296-1560-0D6E65288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F92A62-51B3-FF1D-77E7-6AD650CF9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DB0CC6-CB9F-75A3-4C0F-E66F832C1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DE6D86-E768-4834-B1EA-15EDB3E619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74106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20B04-BC6B-73DB-CB34-9FB2B160C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307A9F1-8C0F-ED62-70FD-E6320A3A2B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90E080-742D-511C-B18C-9CE1092A84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54B272-1F00-EEED-A8CA-37F03D41BD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8606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53290-4752-B461-8C50-7FB709AF1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FA28231-6644-CE06-770D-EEEEEB942A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3924C9-593C-A72D-1208-398660B2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B6E30B-0E85-4ABC-8EB4-A53026412A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974132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DA309-09D2-81A3-6915-2295BFD4D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BE5C08A-46A9-FB9C-8EE1-878B003A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6C2008-4D8E-1EC4-83D5-1DD3A60E0E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47772B-DF82-251C-E1EE-2AD8FA855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16965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030A-8C46-08A6-BE42-6D086947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5C43A-AB99-1868-ABC5-33973A29D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CBDB5B-08D5-C381-267F-2F7F812F9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22BDE-E4A5-6756-345E-02C31D4A2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149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gif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ai.net/nnet/multi-layer" TargetMode="External"/><Relationship Id="rId3" Type="http://schemas.openxmlformats.org/officeDocument/2006/relationships/image" Target="../media/image36.png"/><Relationship Id="rId7" Type="http://schemas.openxmlformats.org/officeDocument/2006/relationships/hyperlink" Target="https://www.101ai.net/nnet/backprop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101ai.net/nnet/perceptron" TargetMode="External"/><Relationship Id="rId5" Type="http://schemas.openxmlformats.org/officeDocument/2006/relationships/hyperlink" Target="https://www.101ai.net/basics/st-gradient-descent" TargetMode="External"/><Relationship Id="rId10" Type="http://schemas.openxmlformats.org/officeDocument/2006/relationships/hyperlink" Target="https://www.101ai.net/" TargetMode="External"/><Relationship Id="rId4" Type="http://schemas.openxmlformats.org/officeDocument/2006/relationships/hyperlink" Target="https://www.101ai.net/basics/gradient-descent" TargetMode="External"/><Relationship Id="rId9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optimizer" TargetMode="External"/><Relationship Id="rId7" Type="http://schemas.openxmlformats.org/officeDocument/2006/relationships/hyperlink" Target="https://www.101ai.net/deeplearn/visdemo" TargetMode="Externa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101ai.net/deeplearn/activation" TargetMode="Externa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4.png"/><Relationship Id="rId4" Type="http://schemas.microsoft.com/office/2007/relationships/hdphoto" Target="../media/hdphoto2.wd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51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2.png"/><Relationship Id="rId4" Type="http://schemas.openxmlformats.org/officeDocument/2006/relationships/image" Target="../media/image65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scripts/w4_perceptron_wt_inputs.ipynb" TargetMode="External"/><Relationship Id="rId4" Type="http://schemas.openxmlformats.org/officeDocument/2006/relationships/image" Target="../media/image42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0.png"/><Relationship Id="rId5" Type="http://schemas.openxmlformats.org/officeDocument/2006/relationships/image" Target="../media/image480.png"/><Relationship Id="rId4" Type="http://schemas.openxmlformats.org/officeDocument/2006/relationships/image" Target="../media/image470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54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1.jpeg"/><Relationship Id="rId5" Type="http://schemas.openxmlformats.org/officeDocument/2006/relationships/image" Target="../media/image520.png"/><Relationship Id="rId4" Type="http://schemas.openxmlformats.org/officeDocument/2006/relationships/hyperlink" Target="https://en.wikipedia.org/wiki/Sign_function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eg"/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20.jpe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0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7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2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74.png"/><Relationship Id="rId4" Type="http://schemas.openxmlformats.org/officeDocument/2006/relationships/image" Target="../media/image71.png"/><Relationship Id="rId9" Type="http://schemas.microsoft.com/office/2007/relationships/hdphoto" Target="../media/hdphoto6.wdp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7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8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rojector.tensorflow.org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ground.tensorflow.org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3.jpeg"/><Relationship Id="rId4" Type="http://schemas.openxmlformats.org/officeDocument/2006/relationships/image" Target="../media/image92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loss_functions.xlsx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Introduction_to_deep_learning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mathematics-for-machine-learning/blob/main/scripts/Introduction_to_Machine_learning.ipyn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8821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손실함수를 최적화하는 알고리즘을 이해하고 파이썬 코딩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구조와 손실함수를 최소화하는 알고리즘을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순전파와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3668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362385"/>
            <a:ext cx="5542552" cy="1020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/>
          <p:nvPr/>
        </p:nvCxnSpPr>
        <p:spPr>
          <a:xfrm>
            <a:off x="8807805" y="3512402"/>
            <a:ext cx="0" cy="838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449177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16084" y="4895208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81157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구글 시트의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Master AI Concepts with Interactive Learning!</a:t>
            </a: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6503C25-DAD0-3B96-B35F-29886341B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C6E6DC6-F763-F831-5B94-C4EF2B5B9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655" y="2125626"/>
            <a:ext cx="5758901" cy="39960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4F23CA-E282-86AC-37CE-C54A91DF6A09}"/>
              </a:ext>
            </a:extLst>
          </p:cNvPr>
          <p:cNvSpPr txBox="1"/>
          <p:nvPr/>
        </p:nvSpPr>
        <p:spPr>
          <a:xfrm>
            <a:off x="596643" y="2116740"/>
            <a:ext cx="4747263" cy="299934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gradient-descent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Stochastic-gradient-descent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Network: Perceptron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Network: Backpropagation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Multi-layer Network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순차적으로 직접 실습하여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구조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Feedfoward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(Backpropagation),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활성화함수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등을 이해 하자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6C2DD7B0-91FE-3C6E-4F40-3614B8F7C68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29993" y="3220022"/>
            <a:ext cx="4934594" cy="28162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A49BB29-E803-553B-C36C-19A4CC0EC018}"/>
              </a:ext>
            </a:extLst>
          </p:cNvPr>
          <p:cNvSpPr txBox="1"/>
          <p:nvPr/>
        </p:nvSpPr>
        <p:spPr>
          <a:xfrm>
            <a:off x="596643" y="1341879"/>
            <a:ext cx="10848136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Shallow learning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부터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deep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Learning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까지 시각화로 개념을 익힐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수있는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요기 클릭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https://www.101ai.net/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FF56B-9B1A-9F82-BFC3-CB89ED053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14F611-AE77-5A84-D981-3A675C9E4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CB56FF0-5D49-DE0E-D05C-0BDB0D506770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Master AI Concepts with Interactive Learning!</a:t>
            </a: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F8F10599-091C-AEFC-FCE3-4A047EAAFC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0D5FBC3-269E-E99E-8323-CF594C3D8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412" y="2105645"/>
            <a:ext cx="2636982" cy="40860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ACF10F4-8DF8-F7E6-A038-24D29475AAAB}"/>
              </a:ext>
            </a:extLst>
          </p:cNvPr>
          <p:cNvSpPr txBox="1"/>
          <p:nvPr/>
        </p:nvSpPr>
        <p:spPr>
          <a:xfrm>
            <a:off x="4333718" y="1736190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optimizer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E180024-E6DB-663E-2BE4-3D8EE012E3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072" y="2105645"/>
            <a:ext cx="3196182" cy="382903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E93ED24-CBEA-3D66-76BC-E8BC8DDF28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8457" y="2105645"/>
            <a:ext cx="3102375" cy="404090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8891A74-BA3E-1907-D9CC-390D78CD9200}"/>
              </a:ext>
            </a:extLst>
          </p:cNvPr>
          <p:cNvSpPr txBox="1"/>
          <p:nvPr/>
        </p:nvSpPr>
        <p:spPr>
          <a:xfrm>
            <a:off x="447070" y="1736190"/>
            <a:ext cx="1166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2CF437-6079-B7D1-C4CB-EC516A08B1A7}"/>
              </a:ext>
            </a:extLst>
          </p:cNvPr>
          <p:cNvSpPr txBox="1"/>
          <p:nvPr/>
        </p:nvSpPr>
        <p:spPr>
          <a:xfrm>
            <a:off x="7684161" y="173619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visdemo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90371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24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3373320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2674" y="2853688"/>
            <a:ext cx="4788337" cy="2605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     Perceptron and Regression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F7D34D-9AD5-1372-7BFB-314080CC09D0}"/>
              </a:ext>
            </a:extLst>
          </p:cNvPr>
          <p:cNvSpPr txBox="1"/>
          <p:nvPr/>
        </p:nvSpPr>
        <p:spPr>
          <a:xfrm>
            <a:off x="934185" y="1360938"/>
            <a:ext cx="1084217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선형회귀식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구조가 동일하며 입력변수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가중치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내적이 노드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구성됨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4854B1A-872C-C293-E90F-F0D8618C7E0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965166" y="2853688"/>
            <a:ext cx="2295845" cy="45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19977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720" y="1320799"/>
            <a:ext cx="11192480" cy="766439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6389EEB-3EE9-A340-DA7D-22ACB0D19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950" y="2371725"/>
            <a:ext cx="5778139" cy="421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1069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607F8-6787-3B4A-9387-086BCC774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3ABFC7-3ACD-D1C0-1ADB-44167C6C7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E223884-9077-EF82-4087-A44BAFE146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code with Single-layer Perceptron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E4E17376-2845-B069-14A3-C29EFED108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43753" y="1338340"/>
            <a:ext cx="4437990" cy="505686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A6619DA-045E-D28E-DD7B-89FAE98DC15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593394" y="1338340"/>
            <a:ext cx="5236013" cy="4869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39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E6570-589B-A337-6EE1-9AD175ABB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7639DC-E391-B13B-11DA-E6289741E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BE1F4-1867-662D-EA9F-58099683EA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with python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7ECC749-A31B-0A90-68E3-DDEF0CA53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6645" y="66676"/>
            <a:ext cx="1673906" cy="1107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445CEC-44B6-F043-B403-61EABE53CDAF}"/>
              </a:ext>
            </a:extLst>
          </p:cNvPr>
          <p:cNvSpPr txBox="1"/>
          <p:nvPr/>
        </p:nvSpPr>
        <p:spPr>
          <a:xfrm>
            <a:off x="5718418" y="1386965"/>
            <a:ext cx="4535863" cy="469359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define input and output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([[0,0],[0,1],[1,0],[1,1]])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([[0],[1],[1],[1]])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define weights and biases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([[1.5], [1.5]])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([-1.5])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epochs = 1000   # 1000</a:t>
            </a:r>
          </a:p>
          <a:p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0.1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train the network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 epoch in range(epochs):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sum, pred = feedforward(X, w, b)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w, b = backpropagation(X, y, sum, pred, w, b)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print("w:", w)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print("b:", b)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print the final output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sum, pred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np.round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(feedforward(X, w, b))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print(pred)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print("Accuracy:",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(y == pred))</a:t>
            </a:r>
            <a:endParaRPr lang="ko-KR" altLang="en-US" sz="13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A07332-D2C3-0C9A-F95B-CC0D41CD940D}"/>
              </a:ext>
            </a:extLst>
          </p:cNvPr>
          <p:cNvSpPr txBox="1"/>
          <p:nvPr/>
        </p:nvSpPr>
        <p:spPr>
          <a:xfrm>
            <a:off x="757380" y="1386965"/>
            <a:ext cx="4535863" cy="50937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sigmoid(x):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1 / (1 +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np.exp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(-x))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sigmoid(x) * (1 - sigmoid(x))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feedforward(X, w, b):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sum = np.dot(X, w) + b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pred = sigmoid(sum)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sum, pred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backpropagation(X, y, sum, pred, w, b):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(pred - y) *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np.dot(X.T,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db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axis=0)</a:t>
            </a:r>
            <a:b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loss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((y - pred) ** 2)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if (epoch + 1) % 100 == 0: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print("loss: ", loss)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w = w -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dw</a:t>
            </a:r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b = b -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db</a:t>
            </a:r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w, b</a:t>
            </a:r>
          </a:p>
        </p:txBody>
      </p:sp>
    </p:spTree>
    <p:extLst>
      <p:ext uri="{BB962C8B-B14F-4D97-AF65-F5344CB8AC3E}">
        <p14:creationId xmlns:p14="http://schemas.microsoft.com/office/powerpoint/2010/main" val="36348605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082568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5870731"/>
            <a:ext cx="23407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4806403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779" y="68967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56595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048942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249" y="66675"/>
            <a:ext cx="1638301" cy="1084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618520" y="377208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single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974F3E-A24A-7F3D-1957-B45AA2C8AE54}"/>
              </a:ext>
            </a:extLst>
          </p:cNvPr>
          <p:cNvSpPr txBox="1"/>
          <p:nvPr/>
        </p:nvSpPr>
        <p:spPr>
          <a:xfrm>
            <a:off x="480710" y="1275218"/>
            <a:ext cx="1123058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8A90D2-B4D6-7E85-0DA7-99D06EAE6434}"/>
              </a:ext>
            </a:extLst>
          </p:cNvPr>
          <p:cNvSpPr txBox="1"/>
          <p:nvPr/>
        </p:nvSpPr>
        <p:spPr>
          <a:xfrm>
            <a:off x="715182" y="2348935"/>
            <a:ext cx="5237943" cy="116955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882B8B-0565-E636-3826-C19535E49A8B}"/>
              </a:ext>
            </a:extLst>
          </p:cNvPr>
          <p:cNvSpPr txBox="1"/>
          <p:nvPr/>
        </p:nvSpPr>
        <p:spPr>
          <a:xfrm>
            <a:off x="619932" y="3588808"/>
            <a:ext cx="9667067" cy="2514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조건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>
              <a:lnSpc>
                <a:spcPct val="150000"/>
              </a:lnSpc>
            </a:pPr>
            <a:endParaRPr lang="en-US" altLang="ko-KR" sz="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입력 변수와 편향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가진 선형 모델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설계하라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알고리즘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확률적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경사하강법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사용하여 매 데이터 샘플마다 가중치를 업데이트하라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제곱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(MSE)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개념을 바탕으로 하되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코드 구현 시에는 각 샘플의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직접 비례하여 가중치를 수정하는 방식을 사용하라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하이퍼파라미터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0.01,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 횟수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회로 설정하라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E5F2B-A0E8-5691-0C31-91B05C8B9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6636E5-4C50-0638-168D-F51CAD82C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CD4D984-BA5C-10A8-E208-999D59E8D9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6CF074D-DE81-2FE8-4699-C32C81527B4F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single 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508B00F-9004-4C1C-7B1B-E6A061EFDB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7304" y="2378661"/>
            <a:ext cx="8020050" cy="374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64BB76A8-1CD9-970D-5800-B6F3B7AE2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948" y="1394922"/>
            <a:ext cx="3204809" cy="1414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DB12A1-1704-4985-D001-A0E8D245D4AF}"/>
              </a:ext>
            </a:extLst>
          </p:cNvPr>
          <p:cNvSpPr txBox="1"/>
          <p:nvPr/>
        </p:nvSpPr>
        <p:spPr>
          <a:xfrm>
            <a:off x="2817304" y="6121986"/>
            <a:ext cx="26645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w4_perceptron_wt_inputs.ipynb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878271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32A8E-E835-6F6B-FB33-FCC19ECC8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E7937A-51BB-501F-7C44-044D1E449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C77CC3D-C738-44A9-9F6F-D672879DA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31563BFB-BB0E-5F6D-AB9A-924A993D1CFC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93939A-C52E-9A37-E25C-FBB424EB2415}"/>
              </a:ext>
            </a:extLst>
          </p:cNvPr>
          <p:cNvSpPr txBox="1"/>
          <p:nvPr/>
        </p:nvSpPr>
        <p:spPr>
          <a:xfrm>
            <a:off x="480710" y="1275218"/>
            <a:ext cx="11230580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조건은 지난 문제와 동일함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04D4FC-ED57-9527-0834-D63D07F53D77}"/>
              </a:ext>
            </a:extLst>
          </p:cNvPr>
          <p:cNvSpPr txBox="1"/>
          <p:nvPr/>
        </p:nvSpPr>
        <p:spPr>
          <a:xfrm>
            <a:off x="553257" y="3462642"/>
            <a:ext cx="5237943" cy="147732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5475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195A-C101-932F-8610-4893C4DC8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995564-BD97-21C6-6B42-7669417E5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1D6D987-08B3-50BA-EA35-05B698C9B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2CB4D1B1-1809-5299-176B-D944B350D241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C684B8-5B90-B3D1-01DC-60A8F11F888D}"/>
              </a:ext>
            </a:extLst>
          </p:cNvPr>
          <p:cNvSpPr/>
          <p:nvPr/>
        </p:nvSpPr>
        <p:spPr>
          <a:xfrm>
            <a:off x="9736637" y="2852488"/>
            <a:ext cx="800188" cy="957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01503E9-78A3-7959-54FA-D30440C958FA}"/>
              </a:ext>
            </a:extLst>
          </p:cNvPr>
          <p:cNvSpPr/>
          <p:nvPr/>
        </p:nvSpPr>
        <p:spPr>
          <a:xfrm>
            <a:off x="6724650" y="3291892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55E13F4-6625-2BB4-2662-0A9CF3F24314}"/>
              </a:ext>
            </a:extLst>
          </p:cNvPr>
          <p:cNvSpPr/>
          <p:nvPr/>
        </p:nvSpPr>
        <p:spPr>
          <a:xfrm>
            <a:off x="6724650" y="40644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F9928928-E5CC-DE86-013A-659A957A3EA7}"/>
              </a:ext>
            </a:extLst>
          </p:cNvPr>
          <p:cNvSpPr/>
          <p:nvPr/>
        </p:nvSpPr>
        <p:spPr>
          <a:xfrm>
            <a:off x="9928783" y="4067979"/>
            <a:ext cx="359611" cy="359611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7275A532-72B6-2029-79E5-D2E8FF7025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027116"/>
              </p:ext>
            </p:extLst>
          </p:nvPr>
        </p:nvGraphicFramePr>
        <p:xfrm>
          <a:off x="9927447" y="5389203"/>
          <a:ext cx="418568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054313C-0D5F-7F09-8047-CF7F7A791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539990"/>
              </p:ext>
            </p:extLst>
          </p:nvPr>
        </p:nvGraphicFramePr>
        <p:xfrm>
          <a:off x="7878670" y="4086782"/>
          <a:ext cx="12557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BAF13D76-54DA-560E-A244-0533C954BB60}"/>
              </a:ext>
            </a:extLst>
          </p:cNvPr>
          <p:cNvSpPr txBox="1"/>
          <p:nvPr/>
        </p:nvSpPr>
        <p:spPr>
          <a:xfrm>
            <a:off x="6429272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7B811E-54E0-7F41-CFF2-65898EC5DCA0}"/>
              </a:ext>
            </a:extLst>
          </p:cNvPr>
          <p:cNvSpPr txBox="1"/>
          <p:nvPr/>
        </p:nvSpPr>
        <p:spPr>
          <a:xfrm>
            <a:off x="8047245" y="479211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26EEF5-2CC8-A4A8-7F98-07954DC578DF}"/>
              </a:ext>
            </a:extLst>
          </p:cNvPr>
          <p:cNvSpPr txBox="1"/>
          <p:nvPr/>
        </p:nvSpPr>
        <p:spPr>
          <a:xfrm>
            <a:off x="9672399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1)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259551B-C26A-20B9-7F5F-D4FACE392838}"/>
              </a:ext>
            </a:extLst>
          </p:cNvPr>
          <p:cNvSpPr/>
          <p:nvPr/>
        </p:nvSpPr>
        <p:spPr>
          <a:xfrm>
            <a:off x="6533544" y="2852488"/>
            <a:ext cx="4043315" cy="2424363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003C2E5A-63A7-07DC-2569-69F6C578952C}"/>
              </a:ext>
            </a:extLst>
          </p:cNvPr>
          <p:cNvCxnSpPr/>
          <p:nvPr/>
        </p:nvCxnSpPr>
        <p:spPr>
          <a:xfrm>
            <a:off x="7333732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CCBC0F6-F9D2-58E0-A33E-924C267BB976}"/>
              </a:ext>
            </a:extLst>
          </p:cNvPr>
          <p:cNvCxnSpPr/>
          <p:nvPr/>
        </p:nvCxnSpPr>
        <p:spPr>
          <a:xfrm>
            <a:off x="9314626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7A0CF3FF-E8CE-E2DB-592B-1F203F3B37EB}"/>
              </a:ext>
            </a:extLst>
          </p:cNvPr>
          <p:cNvSpPr/>
          <p:nvPr/>
        </p:nvSpPr>
        <p:spPr>
          <a:xfrm>
            <a:off x="6724649" y="48370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547229B9-69F1-C4C7-90C2-33E651817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86" y="2874390"/>
            <a:ext cx="3730122" cy="2029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A0352CD-D8FB-5996-8B97-248F753AB853}"/>
              </a:ext>
            </a:extLst>
          </p:cNvPr>
          <p:cNvSpPr txBox="1"/>
          <p:nvPr/>
        </p:nvSpPr>
        <p:spPr>
          <a:xfrm>
            <a:off x="552853" y="1169712"/>
            <a:ext cx="11086293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여러 개가 되어도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기반으로 가중치를 수정한다는 본질적인 원리는 변하지 않으며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단지 이를 수학적으로 처리하기 위해 벡터 연산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(Vectorization)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도입될 뿐이다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점을 이해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경우는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np.dot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함수의 사용법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브로드캐스팅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(Broadcasting)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개념을 이해하고 있는지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5AA702-E091-89BA-BC12-1570CF7BC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063012"/>
              </p:ext>
            </p:extLst>
          </p:nvPr>
        </p:nvGraphicFramePr>
        <p:xfrm>
          <a:off x="6533544" y="5389203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/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/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/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91574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53617-861B-138B-AEEA-5D8CCD638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FADCDF-F73F-F93F-FE1C-E024FC90F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D2FFBB3-1CF1-F533-6D52-81A24AD4860B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Digits Data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AA3AE6-23DE-224F-9E89-6CB296B5B8F0}"/>
              </a:ext>
            </a:extLst>
          </p:cNvPr>
          <p:cNvSpPr txBox="1"/>
          <p:nvPr/>
        </p:nvSpPr>
        <p:spPr>
          <a:xfrm>
            <a:off x="953019" y="3653166"/>
            <a:ext cx="5666856" cy="22467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load_digits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 =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load_digits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크기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digits.data.shape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}”) 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(1797, 64) -&gt; 1797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샘플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64(8x8)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특성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endParaRPr lang="ko-KR" altLang="en-US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타겟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크기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digits.target.shape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}”)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(1797,)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타겟 클래스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digits.target_names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     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[0 1 2 3 4 5 6 7 8 9]</a:t>
            </a: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A02E7A4-1487-DE0A-E28B-DBAA8D4EE4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620250" y="60864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60D67E-F82B-2975-E5CC-DDA42A7BDA93}"/>
              </a:ext>
            </a:extLst>
          </p:cNvPr>
          <p:cNvSpPr txBox="1"/>
          <p:nvPr/>
        </p:nvSpPr>
        <p:spPr>
          <a:xfrm>
            <a:off x="552853" y="1313482"/>
            <a:ext cx="11086293" cy="1891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손글씨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이미지를 모아놓은 이미지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숫자 정답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(Label),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설명 등이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딕셔너리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형태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1,797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숫자 이미지 샘플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 크기는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8x8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픽셀로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계산하기 편하도록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열을 한 줄로 길게 펼쳐서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특징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만든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이미지가 실제로 어떤 숫자인지 적혀 있는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해답지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＇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이미지 개수와 똑같이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1,797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정답으로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데이터가 분류하고자 하는 범주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까지의 숫자가 타겟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255917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9012B-FDDE-F80E-3CBF-3395C298D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41C7D3-02D8-7E0C-670E-B1E16C28F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2F21DA0-077A-CF2A-C0FF-E5E2C42CEDFB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Digits Data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C3BCA55C-5FC1-531A-9875-62947EBE6E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620250" y="60864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7" name="Picture 5">
            <a:extLst>
              <a:ext uri="{FF2B5EF4-FFF2-40B4-BE49-F238E27FC236}">
                <a16:creationId xmlns:a16="http://schemas.microsoft.com/office/drawing/2014/main" id="{25DD72B2-9FA7-19EE-E8DA-289A366C6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4113" y="1340993"/>
            <a:ext cx="5299751" cy="5188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045B67C-28D8-8F92-D5E1-DCB3CBC8BF35}"/>
              </a:ext>
            </a:extLst>
          </p:cNvPr>
          <p:cNvSpPr txBox="1"/>
          <p:nvPr/>
        </p:nvSpPr>
        <p:spPr>
          <a:xfrm>
            <a:off x="6696075" y="1568938"/>
            <a:ext cx="4485756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Target(Label)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</a:t>
            </a:r>
          </a:p>
        </p:txBody>
      </p:sp>
    </p:spTree>
    <p:extLst>
      <p:ext uri="{BB962C8B-B14F-4D97-AF65-F5344CB8AC3E}">
        <p14:creationId xmlns:p14="http://schemas.microsoft.com/office/powerpoint/2010/main" val="37615219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 with digits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21256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1908187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1957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(64,1)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(10,1)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(9,1)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505435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@(64,10)=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6030100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@(10,15)=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67266E-49A9-B43B-F9B1-5E459EB7BBE1}"/>
              </a:ext>
            </a:extLst>
          </p:cNvPr>
          <p:cNvSpPr txBox="1"/>
          <p:nvPr/>
        </p:nvSpPr>
        <p:spPr>
          <a:xfrm>
            <a:off x="2794899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C92AA3-36BF-6BF9-B680-42E31DF11212}"/>
              </a:ext>
            </a:extLst>
          </p:cNvPr>
          <p:cNvSpPr txBox="1"/>
          <p:nvPr/>
        </p:nvSpPr>
        <p:spPr>
          <a:xfrm>
            <a:off x="5486514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0E7D32-571C-3FBE-BBF0-59D88B5928BE}"/>
              </a:ext>
            </a:extLst>
          </p:cNvPr>
          <p:cNvSpPr txBox="1"/>
          <p:nvPr/>
        </p:nvSpPr>
        <p:spPr>
          <a:xfrm>
            <a:off x="7935151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692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41</a:t>
            </a:fld>
            <a:endParaRPr lang="en-US" sz="20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18063"/>
            <a:chOff x="2457450" y="1673618"/>
            <a:chExt cx="7934325" cy="33180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4068351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42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250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7884968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562526" y="5709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4214" y="2509570"/>
            <a:ext cx="7863572" cy="404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47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900982" y="1358354"/>
            <a:ext cx="8814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shape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내적으로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blipFill>
                <a:blip r:embed="rId3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98" y="56639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50C10B-59E2-9EBB-D19C-0BBDE76D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24988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2C86-DA16-D101-F00A-B2C9BD4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1C3CD4D-CFE1-3FF5-FA51-F72D7FE5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AI : Machine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Learning, Deep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6E9F8-1A59-5EE7-D461-0839167D5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51</a:t>
            </a:fld>
            <a:endParaRPr lang="ko-KR" altLang="en-US" noProof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44FDA77C-2F88-58B9-4201-5FF6DA4DC6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491" y="2275470"/>
            <a:ext cx="10104582" cy="4104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F5668E-72EC-BB26-780E-B8C4648682DA}"/>
              </a:ext>
            </a:extLst>
          </p:cNvPr>
          <p:cNvSpPr txBox="1"/>
          <p:nvPr/>
        </p:nvSpPr>
        <p:spPr>
          <a:xfrm>
            <a:off x="609600" y="1246908"/>
            <a:ext cx="10963564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(tabular, audio, image, video, text)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기계가 인식할 수 있도록 처리하여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속에 숨겨진 복잡한 패턴을 학습하고 이를 통해 새로운 상황에 대한 예측을 수행하는 것  </a:t>
            </a:r>
          </a:p>
        </p:txBody>
      </p:sp>
    </p:spTree>
    <p:extLst>
      <p:ext uri="{BB962C8B-B14F-4D97-AF65-F5344CB8AC3E}">
        <p14:creationId xmlns:p14="http://schemas.microsoft.com/office/powerpoint/2010/main" val="1393186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2C2B7-9817-9CFB-9626-246C96FC2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AFEBC4C7-0E7F-B62F-0CFE-B55052B69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AI : Machine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Learning, Deep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E25462B-D323-5AFA-E486-E7CB024BB5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52</a:t>
            </a:fld>
            <a:endParaRPr lang="ko-KR" altLang="en-US" noProof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CE7C8C46-12B6-23BC-75AF-0B6460198A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207" y="2206632"/>
            <a:ext cx="11199738" cy="303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3843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E287-8CE1-E8EF-4AE4-AADFE41C1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05D45E4-3481-1953-0294-4BA607412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AI : Machine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Learning, Deep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F3DEB4F-A905-1B2B-250D-209D437A4A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53</a:t>
            </a:fld>
            <a:endParaRPr lang="ko-KR" altLang="en-US" noProof="0"/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69B56FD2-343A-098B-D486-94EF7A4F7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24" y="1846549"/>
            <a:ext cx="9174665" cy="3475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DC7F29DA-55D2-21B8-3AD4-5E31DCF0A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24" y="1930815"/>
            <a:ext cx="10268459" cy="4354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5007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DB2A4-20B7-A30B-E166-58CEDD02F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D08395E-55D6-2316-9AE9-DFB724040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AI : Machine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Learning, Deep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28CE6AF-C5BE-9B6F-C2C1-3097A5E8FF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54</a:t>
            </a:fld>
            <a:endParaRPr lang="ko-KR" altLang="en-US" noProof="0"/>
          </a:p>
        </p:txBody>
      </p:sp>
      <p:pic>
        <p:nvPicPr>
          <p:cNvPr id="1038" name="Picture 14">
            <a:extLst>
              <a:ext uri="{FF2B5EF4-FFF2-40B4-BE49-F238E27FC236}">
                <a16:creationId xmlns:a16="http://schemas.microsoft.com/office/drawing/2014/main" id="{BC17E2D0-B63D-E170-9E12-9445DF74D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691" y="1464679"/>
            <a:ext cx="10041412" cy="1881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4B50DF57-50E5-5EED-260C-767B5E5691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970" y="3477276"/>
            <a:ext cx="10041412" cy="2932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436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BCFF9-9A63-3708-C21E-949C269B2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5C36D8A-8268-E042-90DC-DB99F951C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text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6A52F98-7A1B-5DA4-7AD3-35E339A13B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55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590205B-E8A3-5BFF-349D-D16293D0E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776" y="1660496"/>
            <a:ext cx="6066299" cy="43205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72DB9F-0B09-FC89-E1AF-058C2DBAD9F8}"/>
              </a:ext>
            </a:extLst>
          </p:cNvPr>
          <p:cNvSpPr txBox="1"/>
          <p:nvPr/>
        </p:nvSpPr>
        <p:spPr>
          <a:xfrm>
            <a:off x="521207" y="1618358"/>
            <a:ext cx="4435098" cy="4107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개의 단어 데이터를 200차원 이상의 벡터로 표현한 Word2Vec 시각화 내용인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고차원 차원을 핵심 특징만 추출하여 2D나 3D 공간으로 투영한 차원 축소(PCA)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사용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단어간 의미적 유사성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(cosine similarity)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그래프에서 가깝게 모여 있는 점들은 서로 의미가 유사한 단어들(예: '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heavier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', '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bigger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등 형용사끼리 뭉침)</a:t>
            </a:r>
          </a:p>
        </p:txBody>
      </p:sp>
    </p:spTree>
    <p:extLst>
      <p:ext uri="{BB962C8B-B14F-4D97-AF65-F5344CB8AC3E}">
        <p14:creationId xmlns:p14="http://schemas.microsoft.com/office/powerpoint/2010/main" val="2047155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1D2F-EAB1-4A92-8867-6B4C4AE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E49DB6-DAB3-D953-28ED-408E2277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 err="1">
                <a:cs typeface="Segoe UI Light" panose="020B0502040204020203" pitchFamily="34" charset="0"/>
              </a:rPr>
              <a:t>tensorflow</a:t>
            </a:r>
            <a:r>
              <a:rPr lang="en-US" altLang="ko-KR" dirty="0">
                <a:cs typeface="Segoe UI Light" panose="020B0502040204020203" pitchFamily="34" charset="0"/>
              </a:rPr>
              <a:t> playground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4E536-A3F9-1C9F-45A5-4E8F7C614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B5905-966B-98B8-0663-09744EF741D6}"/>
              </a:ext>
            </a:extLst>
          </p:cNvPr>
          <p:cNvSpPr txBox="1"/>
          <p:nvPr/>
        </p:nvSpPr>
        <p:spPr>
          <a:xfrm>
            <a:off x="521207" y="1533236"/>
            <a:ext cx="23153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in Browser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5DEB5-B8CF-951A-D24C-641B270EF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909" y="2188345"/>
            <a:ext cx="7666182" cy="3847647"/>
          </a:xfrm>
          <a:prstGeom prst="rect">
            <a:avLst/>
          </a:prstGeom>
        </p:spPr>
      </p:pic>
      <p:pic>
        <p:nvPicPr>
          <p:cNvPr id="205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76937F52-9FE7-AD4F-8080-9B9CDF694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2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65B004C-C66E-88A0-8CF7-33281CA27F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8FF01-38B3-F700-A018-83D7C481856C}"/>
              </a:ext>
            </a:extLst>
          </p:cNvPr>
          <p:cNvSpPr txBox="1"/>
          <p:nvPr/>
        </p:nvSpPr>
        <p:spPr>
          <a:xfrm>
            <a:off x="525270" y="2207588"/>
            <a:ext cx="5551055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0D652D-4259-A877-8EEC-8F95CA0DF5C9}"/>
              </a:ext>
            </a:extLst>
          </p:cNvPr>
          <p:cNvSpPr txBox="1"/>
          <p:nvPr/>
        </p:nvSpPr>
        <p:spPr>
          <a:xfrm>
            <a:off x="6210990" y="2207588"/>
            <a:ext cx="5656535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                  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691556-285E-295F-7E36-82C5AF7FF87A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525270" y="2207588"/>
            <a:ext cx="5551055" cy="418576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=0.1)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0" y="2207588"/>
            <a:ext cx="5656535" cy="31085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36115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43C82E-B978-5041-E3A6-54E38B1E57E2}"/>
              </a:ext>
            </a:extLst>
          </p:cNvPr>
          <p:cNvSpPr txBox="1"/>
          <p:nvPr/>
        </p:nvSpPr>
        <p:spPr>
          <a:xfrm>
            <a:off x="6833707" y="5839276"/>
            <a:ext cx="18338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loss_function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4FCE0FC-8771-3D30-ACF1-FC43607907C8}"/>
              </a:ext>
            </a:extLst>
          </p:cNvPr>
          <p:cNvCxnSpPr/>
          <p:nvPr/>
        </p:nvCxnSpPr>
        <p:spPr>
          <a:xfrm>
            <a:off x="3517853" y="6008553"/>
            <a:ext cx="33158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99B9C-7A1A-8C17-3155-670B4970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F41C24-B7B3-DBDA-1F9C-5A9455E1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E9405CB-FE7A-8C6D-8C33-78F8CFF8DD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4DE1BA-49C6-421E-D39E-F16ABCA95A5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D4115808-47B2-67CA-8E58-2A1CB086E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58900"/>
            <a:ext cx="10353762" cy="457517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8572415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BBD1E-DDB5-04B5-A7D8-9B1F40E38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D8EA6F-FB52-9B20-9B8F-996A36DFE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0DB8192-D6D7-4204-4F7B-8DB97927E4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6F190981-4C0C-959A-2B31-5F4C6424BA53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5C4D6799-6877-BA61-F2D4-5C1B6665B5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6713" y="3529445"/>
            <a:ext cx="10353762" cy="494495"/>
          </a:xfrm>
        </p:spPr>
        <p:txBody>
          <a:bodyPr>
            <a:noAutofit/>
          </a:bodyPr>
          <a:lstStyle/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v"/>
            </a:pPr>
            <a:r>
              <a:rPr lang="en-US" altLang="ko-KR" sz="1800" b="1" dirty="0" err="1">
                <a:latin typeface="+mn-lt"/>
                <a:ea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Introduction_to_deep_learning.ipynb</a:t>
            </a:r>
            <a:endParaRPr lang="en-US" altLang="ko-KR" sz="1800" b="1" dirty="0">
              <a:latin typeface="+mn-lt"/>
              <a:ea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E244EB-1565-411F-AB2B-EA3F7E3027E2}"/>
              </a:ext>
            </a:extLst>
          </p:cNvPr>
          <p:cNvSpPr txBox="1"/>
          <p:nvPr/>
        </p:nvSpPr>
        <p:spPr>
          <a:xfrm>
            <a:off x="706713" y="2716706"/>
            <a:ext cx="5126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b="1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Introduction_to_Machine_learning.ipynb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2F03A5-187B-CBE6-18A6-41E23BA03968}"/>
              </a:ext>
            </a:extLst>
          </p:cNvPr>
          <p:cNvSpPr txBox="1"/>
          <p:nvPr/>
        </p:nvSpPr>
        <p:spPr>
          <a:xfrm>
            <a:off x="656619" y="1491004"/>
            <a:ext cx="11363931" cy="494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코드로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Machine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Learning(scikit-learn)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learning(</a:t>
            </a: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관련 파이썬 코드를 경험하라</a:t>
            </a:r>
          </a:p>
        </p:txBody>
      </p:sp>
    </p:spTree>
    <p:extLst>
      <p:ext uri="{BB962C8B-B14F-4D97-AF65-F5344CB8AC3E}">
        <p14:creationId xmlns:p14="http://schemas.microsoft.com/office/powerpoint/2010/main" val="193577769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1525</TotalTime>
  <Words>4095</Words>
  <Application>Microsoft Office PowerPoint</Application>
  <PresentationFormat>와이드스크린</PresentationFormat>
  <Paragraphs>542</Paragraphs>
  <Slides>60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72" baseType="lpstr">
      <vt:lpstr>D2Coding</vt:lpstr>
      <vt:lpstr>NanumGothicExtraBold</vt:lpstr>
      <vt:lpstr>맑은 고딕</vt:lpstr>
      <vt:lpstr>맑은 고딕 Semilight</vt:lpstr>
      <vt:lpstr>바탕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     Perceptron and Regression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Deep learning </vt:lpstr>
      <vt:lpstr>PowerPoint 프레젠테이션</vt:lpstr>
      <vt:lpstr>PowerPoint 프레젠테이션</vt:lpstr>
      <vt:lpstr>PowerPoint 프레젠테이션</vt:lpstr>
      <vt:lpstr>AI : Machine Learning, Deep Learning</vt:lpstr>
      <vt:lpstr>AI : Machine Learning, Deep Learning</vt:lpstr>
      <vt:lpstr>AI : Machine Learning, Deep Learning</vt:lpstr>
      <vt:lpstr>AI : Machine Learning, Deep Learning</vt:lpstr>
      <vt:lpstr>Neural Networks – text recognition</vt:lpstr>
      <vt:lpstr>Neural Networks – tensorflow playground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48</cp:revision>
  <dcterms:created xsi:type="dcterms:W3CDTF">2026-04-06T01:00:39Z</dcterms:created>
  <dcterms:modified xsi:type="dcterms:W3CDTF">2026-04-21T07:11:33Z</dcterms:modified>
  <cp:version/>
</cp:coreProperties>
</file>