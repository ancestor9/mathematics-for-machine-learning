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6"/>
  </p:notesMasterIdLst>
  <p:handoutMasterIdLst>
    <p:handoutMasterId r:id="rId57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1005" r:id="rId29"/>
    <p:sldId id="985" r:id="rId30"/>
    <p:sldId id="1006" r:id="rId31"/>
    <p:sldId id="1008" r:id="rId32"/>
    <p:sldId id="1009" r:id="rId33"/>
    <p:sldId id="1007" r:id="rId34"/>
    <p:sldId id="1011" r:id="rId35"/>
    <p:sldId id="1010" r:id="rId36"/>
    <p:sldId id="984" r:id="rId37"/>
    <p:sldId id="852" r:id="rId38"/>
    <p:sldId id="969" r:id="rId39"/>
    <p:sldId id="937" r:id="rId40"/>
    <p:sldId id="883" r:id="rId41"/>
    <p:sldId id="988" r:id="rId42"/>
    <p:sldId id="974" r:id="rId43"/>
    <p:sldId id="997" r:id="rId44"/>
    <p:sldId id="989" r:id="rId45"/>
    <p:sldId id="975" r:id="rId46"/>
    <p:sldId id="954" r:id="rId47"/>
    <p:sldId id="882" r:id="rId48"/>
    <p:sldId id="1002" r:id="rId49"/>
    <p:sldId id="932" r:id="rId50"/>
    <p:sldId id="993" r:id="rId51"/>
    <p:sldId id="998" r:id="rId52"/>
    <p:sldId id="1012" r:id="rId53"/>
    <p:sldId id="1013" r:id="rId54"/>
    <p:sldId id="1003" r:id="rId5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1005"/>
            <p14:sldId id="985"/>
            <p14:sldId id="1006"/>
            <p14:sldId id="1008"/>
            <p14:sldId id="1009"/>
            <p14:sldId id="1007"/>
            <p14:sldId id="1011"/>
            <p14:sldId id="1010"/>
            <p14:sldId id="984"/>
            <p14:sldId id="852"/>
            <p14:sldId id="969"/>
            <p14:sldId id="937"/>
            <p14:sldId id="883"/>
            <p14:sldId id="988"/>
            <p14:sldId id="974"/>
            <p14:sldId id="997"/>
            <p14:sldId id="989"/>
            <p14:sldId id="975"/>
            <p14:sldId id="954"/>
            <p14:sldId id="882"/>
            <p14:sldId id="1002"/>
            <p14:sldId id="932"/>
            <p14:sldId id="993"/>
            <p14:sldId id="998"/>
          </p14:sldIdLst>
        </p14:section>
        <p14:section name="자세한 정보" id="{2CC34DB2-6590-42C0-AD4B-A04C6060184E}">
          <p14:sldIdLst>
            <p14:sldId id="1012"/>
            <p14:sldId id="1013"/>
            <p14:sldId id="10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246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75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74.png"/><Relationship Id="rId14" Type="http://schemas.openxmlformats.org/officeDocument/2006/relationships/image" Target="../media/image7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6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8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17.png"/><Relationship Id="rId3" Type="http://schemas.openxmlformats.org/officeDocument/2006/relationships/image" Target="../media/image108.png"/><Relationship Id="rId7" Type="http://schemas.openxmlformats.org/officeDocument/2006/relationships/image" Target="../media/image112.png"/><Relationship Id="rId12" Type="http://schemas.openxmlformats.org/officeDocument/2006/relationships/image" Target="../media/image116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1.png"/><Relationship Id="rId11" Type="http://schemas.openxmlformats.org/officeDocument/2006/relationships/image" Target="../media/image115.png"/><Relationship Id="rId5" Type="http://schemas.openxmlformats.org/officeDocument/2006/relationships/image" Target="../media/image110.png"/><Relationship Id="rId10" Type="http://schemas.openxmlformats.org/officeDocument/2006/relationships/image" Target="../media/image114.png"/><Relationship Id="rId4" Type="http://schemas.openxmlformats.org/officeDocument/2006/relationships/image" Target="../media/image109.png"/><Relationship Id="rId9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6059" y="66676"/>
            <a:ext cx="1634491" cy="1081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5" y="2362971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8" y="194148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368241"/>
            <a:ext cx="3444538" cy="693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28F92C-B328-50CB-32F3-4A7552238304}"/>
              </a:ext>
            </a:extLst>
          </p:cNvPr>
          <p:cNvSpPr txBox="1"/>
          <p:nvPr/>
        </p:nvSpPr>
        <p:spPr>
          <a:xfrm>
            <a:off x="523268" y="133897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내적연산에 대해 학습하기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92AE6B-13A6-426B-E204-47B8570E3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221" y="3718637"/>
            <a:ext cx="7783011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05FA3-3703-156D-8DDB-9BE5BF49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A236E6-F24E-ED69-731A-E2EAEB50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0A6D50-68BB-AE0B-AC22-280330A068D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BE2E4-11F6-3428-49AD-5BBB761CD74A}"/>
              </a:ext>
            </a:extLst>
          </p:cNvPr>
          <p:cNvSpPr txBox="1"/>
          <p:nvPr/>
        </p:nvSpPr>
        <p:spPr>
          <a:xfrm>
            <a:off x="682906" y="188380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45125E-37E8-EAD8-14D0-1084C424434A}"/>
              </a:ext>
            </a:extLst>
          </p:cNvPr>
          <p:cNvSpPr txBox="1"/>
          <p:nvPr/>
        </p:nvSpPr>
        <p:spPr>
          <a:xfrm>
            <a:off x="523268" y="1439657"/>
            <a:ext cx="10769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6D31B10-85EA-7381-421A-8C8A8432B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056960"/>
            <a:ext cx="1386960" cy="78492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3975477-D612-98A9-A25D-FA7C49FA2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984" y="3616457"/>
            <a:ext cx="7763958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76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1871805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383329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1871805"/>
            <a:ext cx="1409822" cy="7239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6D5E107-EA32-2B5B-D46A-897930892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003" y="3429000"/>
            <a:ext cx="7783011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98861-9FE4-690E-57B1-11C05F4D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D4748-9361-390D-6DD7-E819BC2A2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5624E22-2C86-A754-FEC4-DECE9DFC8609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D592F5-BA1D-00AB-74F8-FDED9CA1CE80}"/>
              </a:ext>
            </a:extLst>
          </p:cNvPr>
          <p:cNvSpPr txBox="1"/>
          <p:nvPr/>
        </p:nvSpPr>
        <p:spPr>
          <a:xfrm>
            <a:off x="523271" y="1929352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3E407-245F-3734-1736-70A6632E4C97}"/>
              </a:ext>
            </a:extLst>
          </p:cNvPr>
          <p:cNvSpPr txBox="1"/>
          <p:nvPr/>
        </p:nvSpPr>
        <p:spPr>
          <a:xfrm>
            <a:off x="523270" y="1496352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A5B27ED-FDFE-2449-E44A-3181F1F81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14" y="2156103"/>
            <a:ext cx="1607959" cy="7468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C4774CF-9A94-971C-1FE2-EEB13313F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59" y="3521698"/>
            <a:ext cx="7792537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521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9CEB2-DCA9-5FA3-0F39-27354096F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09A6EE-CC55-2B47-A18F-A74DD858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D865340-B0FB-4033-4024-4285CE7088BD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52D2DD-31BB-960C-33AB-1581825ED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78" y="2565005"/>
            <a:ext cx="4829849" cy="1618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770535-E378-9DCC-132F-841BC20F1796}"/>
              </a:ext>
            </a:extLst>
          </p:cNvPr>
          <p:cNvSpPr txBox="1"/>
          <p:nvPr/>
        </p:nvSpPr>
        <p:spPr>
          <a:xfrm>
            <a:off x="6237746" y="2565005"/>
            <a:ext cx="5415139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([2.0, 2.0, 2.0])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2.0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555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8E24-8EA1-C738-DD14-E87CC1A5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31EFC-5510-3ECE-255C-14ECE54F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48B991E-78FD-7A0C-3A9E-AEEA8544DB1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76D743-0A61-7DCF-E85D-7BDB3797D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86" y="1718276"/>
            <a:ext cx="4829849" cy="19719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BD0C33-52F0-C792-B2E9-E8A5957AF2B7}"/>
              </a:ext>
            </a:extLst>
          </p:cNvPr>
          <p:cNvSpPr txBox="1"/>
          <p:nvPr/>
        </p:nvSpPr>
        <p:spPr>
          <a:xfrm>
            <a:off x="6096000" y="1718276"/>
            <a:ext cx="5415139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([[ 0.0,  0.0,  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[10.0, 10.0, 10.0],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[20.0, 20.0, 20.0],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[30.0, 30.0, 30.0]])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3.0, 4.0])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25ED113-5527-CF04-D9DD-A2A2B7639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86" y="4008648"/>
            <a:ext cx="3427930" cy="23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851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849C-200D-2283-4D60-916657630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AFAEC6-FC08-0BCD-1EB9-59267A9DD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6AAC54E-AC84-ACAA-1FF2-2DA367448FE3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52F4DD-3A20-0D5E-DB3B-D241706CE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44" y="2272129"/>
            <a:ext cx="4862685" cy="2099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B0F18C-1B88-DE12-4D80-F26BF6342D65}"/>
              </a:ext>
            </a:extLst>
          </p:cNvPr>
          <p:cNvSpPr txBox="1"/>
          <p:nvPr/>
        </p:nvSpPr>
        <p:spPr>
          <a:xfrm>
            <a:off x="5700151" y="2272129"/>
            <a:ext cx="6096000" cy="33738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([0.0, 10.0, 20.0, 30.0])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a[:,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 + b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a.reshape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(-1,1) + b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   # No woops!</a:t>
            </a:r>
          </a:p>
        </p:txBody>
      </p:sp>
    </p:spTree>
    <p:extLst>
      <p:ext uri="{BB962C8B-B14F-4D97-AF65-F5344CB8AC3E}">
        <p14:creationId xmlns:p14="http://schemas.microsoft.com/office/powerpoint/2010/main" val="24257145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74D9-30E0-60D1-31BE-FDD08429B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8F5D1-BC28-6E06-D21D-EA27F57F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0F5B626-1802-9A8A-BCF7-A65742B4B326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543AC-44B2-30E1-E0F1-8D8451ED1007}"/>
              </a:ext>
            </a:extLst>
          </p:cNvPr>
          <p:cNvSpPr txBox="1"/>
          <p:nvPr/>
        </p:nvSpPr>
        <p:spPr>
          <a:xfrm>
            <a:off x="620151" y="1720702"/>
            <a:ext cx="8025084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array,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sqrt, sum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observation = array([111.0, 188.0])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codes = array([[102.0, 203.0],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[132.0, 193.0],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[45.0, 155.0],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[57.0, 173.0]])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 = codes - observation    # the broadcast happens here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sqrt(sum(diff**2,axis=-1))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6DC7D-DBB1-F6D8-7DF8-7CDCA892E36D}"/>
              </a:ext>
            </a:extLst>
          </p:cNvPr>
          <p:cNvSpPr txBox="1"/>
          <p:nvPr/>
        </p:nvSpPr>
        <p:spPr>
          <a:xfrm>
            <a:off x="620151" y="4753391"/>
            <a:ext cx="8025084" cy="120032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bservation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odes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810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F6326-AFD6-74BA-6E73-E8023B06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95B901-973C-31CE-7999-17C9D049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307237-4054-5E52-AB32-4EE9C713C6B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A1C242C-03A2-2BF2-0028-860F282B2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119" y="1456951"/>
            <a:ext cx="6966063" cy="487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386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2F66D95-C28F-0F80-0359-EFF38ED73A83}"/>
              </a:ext>
            </a:extLst>
          </p:cNvPr>
          <p:cNvGrpSpPr/>
          <p:nvPr/>
        </p:nvGrpSpPr>
        <p:grpSpPr>
          <a:xfrm>
            <a:off x="1476848" y="5105030"/>
            <a:ext cx="3193922" cy="369332"/>
            <a:chOff x="1476848" y="5105030"/>
            <a:chExt cx="319392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3C90E37-2EBD-CE68-3397-3E76743F473A}"/>
                </a:ext>
              </a:extLst>
            </p:cNvPr>
            <p:cNvSpPr txBox="1"/>
            <p:nvPr/>
          </p:nvSpPr>
          <p:spPr>
            <a:xfrm>
              <a:off x="1476848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(1, 8)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F4D08A-479C-7D67-9E15-39421C53D104}"/>
                </a:ext>
              </a:extLst>
            </p:cNvPr>
            <p:cNvSpPr txBox="1"/>
            <p:nvPr/>
          </p:nvSpPr>
          <p:spPr>
            <a:xfrm>
              <a:off x="3766310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= (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422C84D-83A8-13A8-D900-5E6EFBAF94A6}"/>
                </a:ext>
              </a:extLst>
            </p:cNvPr>
            <p:cNvSpPr txBox="1"/>
            <p:nvPr/>
          </p:nvSpPr>
          <p:spPr>
            <a:xfrm>
              <a:off x="2341999" y="5105030"/>
              <a:ext cx="12174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@    (8,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2405294-8454-B94B-255E-CA2DFAD3E5A1}"/>
              </a:ext>
            </a:extLst>
          </p:cNvPr>
          <p:cNvGrpSpPr/>
          <p:nvPr/>
        </p:nvGrpSpPr>
        <p:grpSpPr>
          <a:xfrm>
            <a:off x="5929120" y="5851595"/>
            <a:ext cx="4046153" cy="369332"/>
            <a:chOff x="5929120" y="5851595"/>
            <a:chExt cx="4046153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AC73F7-315B-C259-3295-AD3A2092910C}"/>
                </a:ext>
              </a:extLst>
            </p:cNvPr>
            <p:cNvSpPr txBox="1"/>
            <p:nvPr/>
          </p:nvSpPr>
          <p:spPr>
            <a:xfrm>
              <a:off x="5929120" y="5851595"/>
              <a:ext cx="1189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(m, 1) =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76B441A-C44F-5EC4-74B9-3BDB0FE77125}"/>
                </a:ext>
              </a:extLst>
            </p:cNvPr>
            <p:cNvSpPr txBox="1"/>
            <p:nvPr/>
          </p:nvSpPr>
          <p:spPr>
            <a:xfrm>
              <a:off x="7282063" y="5851595"/>
              <a:ext cx="26932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 (m,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n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@     (n, 1)</a:t>
              </a:r>
              <a:endParaRPr lang="ko-KR" altLang="en-US" dirty="0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376343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D28658-A522-AA22-81E7-3090678D3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338" y="1489682"/>
            <a:ext cx="2004787" cy="8540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A8B69D3-9DCC-6057-CA7E-8D8CB8816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2314" y="1489682"/>
            <a:ext cx="5746955" cy="211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29CEE-51B1-D7B9-4EBD-BB3373173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A93E2-ABB9-8260-A11F-BB164DF00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90D2CB1-BA30-52DE-206C-0F6641271E0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0BB29D8A-10FF-2BC4-98BD-AFA13F559A44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Numpy</a:t>
            </a:r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A practical example: vector quantization</a:t>
            </a:r>
          </a:p>
        </p:txBody>
      </p:sp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C21D1CBD-0D1A-E591-FB22-62D975410F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ECECC0-F923-430A-BDD7-1B9C2633A181}"/>
              </a:ext>
            </a:extLst>
          </p:cNvPr>
          <p:cNvSpPr txBox="1"/>
          <p:nvPr/>
        </p:nvSpPr>
        <p:spPr>
          <a:xfrm>
            <a:off x="632271" y="2420916"/>
            <a:ext cx="4016506" cy="766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bservation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(2d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    10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(3d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 5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(3d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5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0B5948-B8C3-E03D-A266-92A203809B47}"/>
              </a:ext>
            </a:extLst>
          </p:cNvPr>
          <p:cNvSpPr txBox="1"/>
          <p:nvPr/>
        </p:nvSpPr>
        <p:spPr>
          <a:xfrm>
            <a:off x="632271" y="3429000"/>
            <a:ext cx="10927458" cy="255454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이전 예제와 동일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observation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(50, 200, size=(10, 3)) # (10, 3):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명 학생의 국어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 점수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codes_raw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(50, 200, size=(5, 3))    # (5, 3):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국영수의 작년 평균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커트라인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저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기준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codes_raw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:]                    # (5, 1, 3), </a:t>
            </a:r>
            <a:r>
              <a:rPr lang="ko-KR" altLang="en-US" sz="1400" dirty="0"/>
              <a:t>중간에 축</a:t>
            </a:r>
            <a:r>
              <a:rPr lang="en-US" altLang="ko-KR" sz="1400" dirty="0"/>
              <a:t>(axis 1)</a:t>
            </a:r>
            <a:r>
              <a:rPr lang="ko-KR" altLang="en-US" sz="1400" dirty="0"/>
              <a:t>을 추가하여</a:t>
            </a:r>
            <a:r>
              <a:rPr lang="en-US" altLang="ko-KR" sz="1400" dirty="0"/>
              <a:t> broadcasting</a:t>
            </a:r>
            <a:r>
              <a:rPr lang="ko-KR" altLang="en-US" sz="1400" dirty="0"/>
              <a:t> 연산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 = codes - observation                             # (5, 10, 3)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(diff**2, axis=-1))               # (5, 10)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np.argmin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axis=1))                     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결과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[9 1 9 8 7]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B3237A-7E52-FD1D-03FF-3B3100AE7126}"/>
              </a:ext>
            </a:extLst>
          </p:cNvPr>
          <p:cNvSpPr txBox="1"/>
          <p:nvPr/>
        </p:nvSpPr>
        <p:spPr>
          <a:xfrm>
            <a:off x="632271" y="1309481"/>
            <a:ext cx="1092745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Typically, a large number of </a:t>
            </a:r>
            <a:r>
              <a:rPr lang="en-US" altLang="ko-KR" b="0" i="0" dirty="0">
                <a:solidFill>
                  <a:srgbClr val="912583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observations</a:t>
            </a: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perhaps read from a database, are compared to a set of </a:t>
            </a:r>
            <a:r>
              <a:rPr lang="en-US" altLang="ko-KR" b="0" i="0" dirty="0">
                <a:solidFill>
                  <a:srgbClr val="912583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codes</a:t>
            </a: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Consider this scenario: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38814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9F5D2-209F-D15D-8788-8A9A95CD2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518AA0-9F65-F90D-2B0A-05D6F30E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47E82CA-7FDC-DF28-DD92-54602503C97E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CE12D98C-C8B8-9AD0-BCA8-BCF4FA7ED339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Numpy</a:t>
            </a:r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A practical example: vector quantization</a:t>
            </a:r>
          </a:p>
        </p:txBody>
      </p:sp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53F46314-008C-8A0C-27C7-048822ED35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61ABECB-E25D-9C9F-DA53-98BFDA2E0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124" y="3953565"/>
            <a:ext cx="8778055" cy="2337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D7ABEC-4820-428E-4939-78B6F92B0C4B}"/>
              </a:ext>
            </a:extLst>
          </p:cNvPr>
          <p:cNvSpPr txBox="1"/>
          <p:nvPr/>
        </p:nvSpPr>
        <p:spPr>
          <a:xfrm>
            <a:off x="7842783" y="3953565"/>
            <a:ext cx="3048000" cy="27699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np.argmin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axis=1)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924777-0EB5-31FD-F6A6-A3B836BEE3DA}"/>
              </a:ext>
            </a:extLst>
          </p:cNvPr>
          <p:cNvSpPr txBox="1"/>
          <p:nvPr/>
        </p:nvSpPr>
        <p:spPr>
          <a:xfrm>
            <a:off x="632270" y="1433021"/>
            <a:ext cx="11301111" cy="2272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bservation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(10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3): 3개의 특징(예: 키, 몸무게, 나이)을 가진 관측 데이터가 10개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odes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(5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1,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3): 3개의 특징을 가진 기준점(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)이 1개씩 들어있는 그룹이 5개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중간 1은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브로드캐스팅을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위해 의도적으로 축을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늘려놓은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것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iff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(5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3): 계산 결과입니다. 5개의 기준 그룹 각각에 대해 10개의 관측치를 전부 대조했으므로 총 5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10 = 50 비교 결과가 생성된 것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차원 크기가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곳을 알아서 복사해서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늘려줌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observation (10,3)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앞에 차원이 하나 부족하므로 자동으로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(1, 10, 3)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취급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Codes (5, 1, 3)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비교할 때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첫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만나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확장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그룹 생성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만나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확장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관측치 매칭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일치하므로 그대로 연산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결과적으로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(for loop)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하나도 쓰지 않고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 한 줄의 빼기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그룹과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관측치 사이의 모든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차이값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세트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구해낸 것</a:t>
            </a:r>
          </a:p>
        </p:txBody>
      </p:sp>
    </p:spTree>
    <p:extLst>
      <p:ext uri="{BB962C8B-B14F-4D97-AF65-F5344CB8AC3E}">
        <p14:creationId xmlns:p14="http://schemas.microsoft.com/office/powerpoint/2010/main" val="20568485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487C6-B131-6F99-3CB6-1EFAD0C3F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2E13D3-6AA1-039B-EEC2-5863D165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F9051B-FB83-6946-EA0E-6B1F2ED5F4AC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C3E89A4-F940-0CB9-BF38-8AC3E1DEC845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Appendix : DL  = Chain of Affine and Activation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4C3E29-A3BD-8459-2D91-0CBC5BF12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12" y="1997401"/>
            <a:ext cx="8890185" cy="5937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0F2615-BF1A-F9E1-DC36-7853B9EB0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667" y="2580448"/>
            <a:ext cx="1984227" cy="11905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00EA6DA-B79A-FDB2-4E36-184948C01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350" y="2628073"/>
            <a:ext cx="1959930" cy="11581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43BA7B6-84AB-05B0-0D04-21350AF97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9438" y="4790521"/>
            <a:ext cx="5472713" cy="6762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E4A979C-8E30-172F-D9F6-ED6699AF6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810" y="4066058"/>
            <a:ext cx="1967769" cy="52708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17CF5735-E9E7-8875-F206-7EC93EDB92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7377" y="4066056"/>
            <a:ext cx="1892473" cy="517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E419BC3-2957-9E0C-BAD3-12B8FFBD2CD5}"/>
              </a:ext>
            </a:extLst>
          </p:cNvPr>
          <p:cNvSpPr txBox="1"/>
          <p:nvPr/>
        </p:nvSpPr>
        <p:spPr>
          <a:xfrm>
            <a:off x="4209058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1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CAA532-39F8-C971-0110-F2383E66922A}"/>
              </a:ext>
            </a:extLst>
          </p:cNvPr>
          <p:cNvSpPr txBox="1"/>
          <p:nvPr/>
        </p:nvSpPr>
        <p:spPr>
          <a:xfrm>
            <a:off x="6532500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6E1082-22DE-2A11-15A0-0FF3EA57E8EF}"/>
              </a:ext>
            </a:extLst>
          </p:cNvPr>
          <p:cNvSpPr txBox="1"/>
          <p:nvPr/>
        </p:nvSpPr>
        <p:spPr>
          <a:xfrm>
            <a:off x="8873441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E983CD7-9B48-8754-389F-F4BEA2622B1A}"/>
              </a:ext>
            </a:extLst>
          </p:cNvPr>
          <p:cNvGrpSpPr/>
          <p:nvPr/>
        </p:nvGrpSpPr>
        <p:grpSpPr>
          <a:xfrm>
            <a:off x="429606" y="2575805"/>
            <a:ext cx="10698696" cy="3417854"/>
            <a:chOff x="429606" y="2575805"/>
            <a:chExt cx="10698696" cy="34178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/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참고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입력변수가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단병량이면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ko-KR" alt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로 놓으면 이전 벡터 표현과 동일하고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ko-KR" altLang="en-US" sz="1400" b="0" i="1">
                          <a:latin typeface="Cambria Math" panose="02040503050406030204" pitchFamily="18" charset="0"/>
                        </a:rPr>
                        <m:t>b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는 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broadcasting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으로 </a:t>
                  </a:r>
                  <a14:m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m:rPr>
                              <m:nor/>
                            </m:rPr>
                            <a:rPr lang="ko-KR" altLang="en-US" sz="1400" i="1"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 </m:t>
                          </m:r>
                          <m:sSub>
                            <m:sSubPr>
                              <m:ctrlPr>
                                <a:rPr lang="ko-KR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형태로 각 행에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더해짐</a:t>
                  </a:r>
                  <a:endPara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74" t="-4000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0F91C10D-1C9F-5E76-65B2-150BAEAB4257}"/>
                </a:ext>
              </a:extLst>
            </p:cNvPr>
            <p:cNvGrpSpPr/>
            <p:nvPr/>
          </p:nvGrpSpPr>
          <p:grpSpPr>
            <a:xfrm>
              <a:off x="429606" y="2575805"/>
              <a:ext cx="5151256" cy="1972154"/>
              <a:chOff x="429606" y="2575805"/>
              <a:chExt cx="5151256" cy="1972154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5C620087-FFDA-ED60-268F-D8EE9B4414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49901" y="2675698"/>
                <a:ext cx="1919436" cy="1069053"/>
              </a:xfrm>
              <a:prstGeom prst="rect">
                <a:avLst/>
              </a:pr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0D9F089C-1010-6EAC-E24B-FB6CA5CB6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3725" y="4066056"/>
                <a:ext cx="1807137" cy="481903"/>
              </a:xfrm>
              <a:prstGeom prst="rect">
                <a:avLst/>
              </a:prstGeom>
            </p:spPr>
          </p:pic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3A85ED2-EB4E-7273-26B9-21A8C89BB160}"/>
                  </a:ext>
                </a:extLst>
              </p:cNvPr>
              <p:cNvGrpSpPr/>
              <p:nvPr/>
            </p:nvGrpSpPr>
            <p:grpSpPr>
              <a:xfrm>
                <a:off x="429606" y="2575805"/>
                <a:ext cx="2399319" cy="1871991"/>
                <a:chOff x="239106" y="2338059"/>
                <a:chExt cx="3380526" cy="2491956"/>
              </a:xfrm>
            </p:grpSpPr>
            <p:pic>
              <p:nvPicPr>
                <p:cNvPr id="29" name="그림 28">
                  <a:extLst>
                    <a:ext uri="{FF2B5EF4-FFF2-40B4-BE49-F238E27FC236}">
                      <a16:creationId xmlns:a16="http://schemas.microsoft.com/office/drawing/2014/main" id="{D238A721-664E-AC3F-E730-9F82A92E18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9106" y="2357111"/>
                  <a:ext cx="1806097" cy="2453853"/>
                </a:xfrm>
                <a:prstGeom prst="rect">
                  <a:avLst/>
                </a:prstGeom>
              </p:spPr>
            </p:pic>
            <p:pic>
              <p:nvPicPr>
                <p:cNvPr id="31" name="그림 30">
                  <a:extLst>
                    <a:ext uri="{FF2B5EF4-FFF2-40B4-BE49-F238E27FC236}">
                      <a16:creationId xmlns:a16="http://schemas.microsoft.com/office/drawing/2014/main" id="{B6626E91-25E1-CBB7-CA3E-FB45F228C7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33434" y="2338059"/>
                  <a:ext cx="2286198" cy="2491956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07B4F951-EE14-53D4-EE11-2085DC11799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59456" y="1725642"/>
            <a:ext cx="1300326" cy="30783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8FABE80-6768-F4F1-C6E8-CAE624245E2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2057" y="1725642"/>
            <a:ext cx="1300326" cy="3078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DDE6CD0-5945-2CC1-7913-63E16EDE1E3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9584" y="1725642"/>
            <a:ext cx="1300326" cy="30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1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3009</TotalTime>
  <Words>3582</Words>
  <Application>Microsoft Office PowerPoint</Application>
  <PresentationFormat>와이드스크린</PresentationFormat>
  <Paragraphs>414</Paragraphs>
  <Slides>54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7" baseType="lpstr">
      <vt:lpstr>D2Coding</vt:lpstr>
      <vt:lpstr>NanumGothicExtraBold</vt:lpstr>
      <vt:lpstr>맑은 고딕</vt:lpstr>
      <vt:lpstr>맑은 고딕 Semilight</vt:lpstr>
      <vt:lpstr>바탕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89</cp:revision>
  <dcterms:created xsi:type="dcterms:W3CDTF">2026-04-06T01:00:39Z</dcterms:created>
  <dcterms:modified xsi:type="dcterms:W3CDTF">2026-04-29T07:03:42Z</dcterms:modified>
  <cp:version/>
</cp:coreProperties>
</file>