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928" r:id="rId2"/>
    <p:sldId id="291" r:id="rId3"/>
    <p:sldId id="925" r:id="rId4"/>
    <p:sldId id="265" r:id="rId5"/>
    <p:sldId id="271" r:id="rId6"/>
    <p:sldId id="819" r:id="rId7"/>
    <p:sldId id="820" r:id="rId8"/>
    <p:sldId id="275" r:id="rId9"/>
    <p:sldId id="276" r:id="rId10"/>
    <p:sldId id="272" r:id="rId11"/>
    <p:sldId id="279" r:id="rId12"/>
    <p:sldId id="259" r:id="rId13"/>
    <p:sldId id="818" r:id="rId14"/>
    <p:sldId id="260" r:id="rId15"/>
    <p:sldId id="893" r:id="rId16"/>
    <p:sldId id="898" r:id="rId17"/>
    <p:sldId id="897" r:id="rId18"/>
    <p:sldId id="929" r:id="rId19"/>
    <p:sldId id="927" r:id="rId20"/>
    <p:sldId id="891" r:id="rId21"/>
    <p:sldId id="940" r:id="rId22"/>
    <p:sldId id="935" r:id="rId23"/>
    <p:sldId id="296" r:id="rId24"/>
    <p:sldId id="939" r:id="rId25"/>
    <p:sldId id="900" r:id="rId26"/>
    <p:sldId id="899" r:id="rId27"/>
    <p:sldId id="938" r:id="rId28"/>
    <p:sldId id="267" r:id="rId29"/>
    <p:sldId id="892" r:id="rId30"/>
    <p:sldId id="941" r:id="rId31"/>
    <p:sldId id="905" r:id="rId32"/>
    <p:sldId id="906" r:id="rId33"/>
    <p:sldId id="930" r:id="rId34"/>
    <p:sldId id="931" r:id="rId35"/>
    <p:sldId id="933" r:id="rId36"/>
    <p:sldId id="934" r:id="rId37"/>
    <p:sldId id="93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2142" y="7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F8537-0286-40EF-BEDA-D09730C549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377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A1DFF-B1CB-D074-2A32-2BEB0E50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42E236-F301-84AA-346A-C49A97B6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1BCC40-A8D7-89AD-154A-41A945C23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CE1682-0203-80CE-6796-B834EA3B1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036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415E-8B44-1DBF-87D1-383CE6FF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1726C8-A4CA-4791-A278-2B3BDC1E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E6F32-BACA-53F1-947F-3723994FD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F70F2-B462-852F-2EAA-C77B092D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04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2862-1A4B-6638-993F-A73E43F1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5BAB6C-AACF-CC7E-6FD7-3AFC1F995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40492-4359-487E-09E0-50D49491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D5469-4301-F37A-C47B-C09F7641B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8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B9C9-2D48-710A-0B89-6C46FD8E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AFBAF-F04D-9DAA-227B-741694889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1A48BC-D34C-4667-1DB8-3BD04FCC5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AA299D-E54C-B666-3D7C-F0381936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2110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6F7B-7A4A-0072-5761-E92D606F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90F32C-2FFF-B004-DC3D-C979C7C98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E27A06-3D8C-1750-31BC-1A94EE698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572A2A-D0DA-9690-4311-3DCBB00E9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699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9333-3F5E-BD10-3255-38A0403B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F17854-DA01-91EC-BEB1-DFFAEEBF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3AA8CD-D0E3-77C6-AA39-3D5BFA7D0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27029-6F14-2C6D-3E56-C26440537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64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70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18319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63248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  <p:sldLayoutId id="2147483670" r:id="rId19"/>
    <p:sldLayoutId id="2147483671" r:id="rId20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fNk_zzaMoSs&amp;list=PLZHQObOWTQDPD3MizzM2xVFitgF8hE_a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hdphoto" Target="../media/hdphoto1.wdp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270.png"/><Relationship Id="rId7" Type="http://schemas.openxmlformats.org/officeDocument/2006/relationships/image" Target="../media/image37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hyperlink" Target="https://jakevdp.github.io/PythonDataScienceHandbook/05.09-principal-component-analysi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numiqo.com/lab/pca" TargetMode="Externa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gif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igenvalues_and_eigenvector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2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jakevdp.github.io/PythonDataScienceHandbook/05.10-manifold-learning.html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jakevdp.github.io/PythonDataScienceHandbook/05.10-manifold-learning.html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en.wikipedia.org/wiki/Nonlinear_dimensionality_reduction" TargetMode="Externa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/05.10-manifold-learning.html" TargetMode="Externa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cap="none" dirty="0">
                <a:solidFill>
                  <a:schemeClr val="bg1"/>
                </a:solidFill>
              </a:rPr>
              <a:t>Principal Component Analysis</a:t>
            </a:r>
            <a:endParaRPr lang="ko-KR" altLang="en-US" sz="4800" cap="none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altLang="ko-KR" sz="2400" cap="none" dirty="0">
                <a:solidFill>
                  <a:schemeClr val="bg1"/>
                </a:solidFill>
              </a:rPr>
              <a:t>Eigen value, Eigen Vector</a:t>
            </a:r>
            <a:endParaRPr lang="ko-KR" altLang="en-US" sz="2400" cap="none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A01-A99B-61BF-C97A-C1A5B76E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98281-CD11-B99F-2C6A-35C343FE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선형대수</a:t>
            </a:r>
            <a:r>
              <a:rPr lang="en-US" altLang="ko-KR" dirty="0"/>
              <a:t>(linear</a:t>
            </a:r>
            <a:r>
              <a:rPr lang="ko-KR" altLang="en-US" dirty="0"/>
              <a:t> </a:t>
            </a:r>
            <a:r>
              <a:rPr lang="en-US" altLang="ko-KR" dirty="0"/>
              <a:t>algebra)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A373E53-19CA-74B5-49AE-464E7176A6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“벡터와 행렬을 이용해 ‘선형 관계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relationship)’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‘공간의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변환’을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다루는 학문”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동영상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장까지 사전학습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90304-2C81-BE6E-89E5-F6D9190D9914}"/>
              </a:ext>
            </a:extLst>
          </p:cNvPr>
          <p:cNvSpPr txBox="1"/>
          <p:nvPr/>
        </p:nvSpPr>
        <p:spPr>
          <a:xfrm>
            <a:off x="1409700" y="2515058"/>
            <a:ext cx="381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Essence of linear algebra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8879A5-87AD-8D96-775A-B094426E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25" y="3116426"/>
            <a:ext cx="3038775" cy="29513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1D3EF-810D-D94A-03B8-586E28C1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3116426"/>
            <a:ext cx="4487741" cy="29461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538A5-1423-86C7-259F-7E5AF284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200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34FC-E499-F18D-86F6-87717BA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2D521-939C-02F3-30BA-6F660253FE91}"/>
              </a:ext>
            </a:extLst>
          </p:cNvPr>
          <p:cNvSpPr/>
          <p:nvPr/>
        </p:nvSpPr>
        <p:spPr>
          <a:xfrm>
            <a:off x="579371" y="19240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0960E-8C55-FC63-C8CD-F10F1DFFA9A0}"/>
              </a:ext>
            </a:extLst>
          </p:cNvPr>
          <p:cNvSpPr txBox="1"/>
          <p:nvPr/>
        </p:nvSpPr>
        <p:spPr>
          <a:xfrm>
            <a:off x="1629916" y="147612"/>
            <a:ext cx="8928992" cy="293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주성분분석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(PCA)</a:t>
            </a:r>
          </a:p>
        </p:txBody>
      </p:sp>
    </p:spTree>
    <p:extLst>
      <p:ext uri="{BB962C8B-B14F-4D97-AF65-F5344CB8AC3E}">
        <p14:creationId xmlns:p14="http://schemas.microsoft.com/office/powerpoint/2010/main" val="334002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52E407F-6FCE-2AF3-B4C9-590554943A06}"/>
              </a:ext>
            </a:extLst>
          </p:cNvPr>
          <p:cNvGrpSpPr/>
          <p:nvPr/>
        </p:nvGrpSpPr>
        <p:grpSpPr>
          <a:xfrm>
            <a:off x="396555" y="2421700"/>
            <a:ext cx="5219700" cy="4365180"/>
            <a:chOff x="2286315" y="2025460"/>
            <a:chExt cx="5219700" cy="470535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7EF1AA-F153-6183-97D0-69F9B4F583E3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202B12-A258-8108-186D-F5C99EE6F804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CFDE16B-292D-CEE7-D26B-874B0FDAC37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89A9A-9BF1-DC08-AE34-A7451EE113CD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578CA-2FF6-CF4B-98EE-2B1A44B150DD}"/>
              </a:ext>
            </a:extLst>
          </p:cNvPr>
          <p:cNvSpPr/>
          <p:nvPr/>
        </p:nvSpPr>
        <p:spPr>
          <a:xfrm>
            <a:off x="3072767" y="354783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내용 개체 틀 3">
            <a:extLst>
              <a:ext uri="{FF2B5EF4-FFF2-40B4-BE49-F238E27FC236}">
                <a16:creationId xmlns:a16="http://schemas.microsoft.com/office/drawing/2014/main" id="{13052355-1119-0517-A20A-A305BD682A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306667" y="3577340"/>
            <a:ext cx="1899505" cy="12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/>
              <p:nvPr/>
            </p:nvSpPr>
            <p:spPr>
              <a:xfrm>
                <a:off x="3379604" y="397194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04" y="3971947"/>
                <a:ext cx="121732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A27F945-2837-878D-1E14-9A8919FB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DC355224-D523-F212-3E08-EDE3D98F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60" y="525254"/>
            <a:ext cx="10364451" cy="53891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D85E7-B076-C1E1-52F7-3699DC5FCCC0}"/>
              </a:ext>
            </a:extLst>
          </p:cNvPr>
          <p:cNvSpPr txBox="1"/>
          <p:nvPr/>
        </p:nvSpPr>
        <p:spPr>
          <a:xfrm>
            <a:off x="1052520" y="1163676"/>
            <a:ext cx="9997440" cy="87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단위행렬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[[1, 0], [0,1]]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좌표계에서 오른쪽 발걸음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하고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위쪽 발걸음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하면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벡터가 되며 이는 기준 좌표계 행렬과 벡터의 내적이다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새로운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행렬의 의미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4D253FB-A109-8154-9367-7965C55FA966}"/>
              </a:ext>
            </a:extLst>
          </p:cNvPr>
          <p:cNvCxnSpPr/>
          <p:nvPr/>
        </p:nvCxnSpPr>
        <p:spPr>
          <a:xfrm>
            <a:off x="2858204" y="4431179"/>
            <a:ext cx="4368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3F1D512-524F-53BA-C81F-484C531F9EB4}"/>
              </a:ext>
            </a:extLst>
          </p:cNvPr>
          <p:cNvCxnSpPr>
            <a:cxnSpLocks/>
          </p:cNvCxnSpPr>
          <p:nvPr/>
        </p:nvCxnSpPr>
        <p:spPr>
          <a:xfrm flipV="1">
            <a:off x="2876615" y="3577340"/>
            <a:ext cx="0" cy="8619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그림 38">
            <a:extLst>
              <a:ext uri="{FF2B5EF4-FFF2-40B4-BE49-F238E27FC236}">
                <a16:creationId xmlns:a16="http://schemas.microsoft.com/office/drawing/2014/main" id="{83804D2D-2556-5F95-482D-3125DE8BC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6640" y="2402047"/>
            <a:ext cx="4529918" cy="968011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DE3FD8FD-621A-C802-41E5-27D2F4FFEDB9}"/>
              </a:ext>
            </a:extLst>
          </p:cNvPr>
          <p:cNvGrpSpPr/>
          <p:nvPr/>
        </p:nvGrpSpPr>
        <p:grpSpPr>
          <a:xfrm>
            <a:off x="6306668" y="5037931"/>
            <a:ext cx="4499392" cy="968011"/>
            <a:chOff x="6306668" y="4639356"/>
            <a:chExt cx="3612980" cy="777306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93852A23-B6C9-2C3E-3653-A657EC6D0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6668" y="4639356"/>
              <a:ext cx="1729887" cy="777306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945DBC51-6739-E674-F63D-6D2D67199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6557" y="4640367"/>
              <a:ext cx="1883091" cy="77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6DF6-FB18-4294-55E9-C6DBA31A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내용 개체 틀 3">
            <a:extLst>
              <a:ext uri="{FF2B5EF4-FFF2-40B4-BE49-F238E27FC236}">
                <a16:creationId xmlns:a16="http://schemas.microsoft.com/office/drawing/2014/main" id="{129CA579-ACE9-8864-C8FC-DB2CB0CF67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1360" y="2355011"/>
            <a:ext cx="2036761" cy="13025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A9540-1A43-29C2-FDDD-0FC6C798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27634"/>
            <a:ext cx="10364451" cy="53891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1751FB-CCED-D8B7-A89F-2C9659857CB8}"/>
              </a:ext>
            </a:extLst>
          </p:cNvPr>
          <p:cNvGrpSpPr/>
          <p:nvPr/>
        </p:nvGrpSpPr>
        <p:grpSpPr>
          <a:xfrm>
            <a:off x="228915" y="2547155"/>
            <a:ext cx="4705350" cy="4091582"/>
            <a:chOff x="2286315" y="2025460"/>
            <a:chExt cx="4705350" cy="470535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F931236-F7E9-00A7-B658-C585F7F5A16B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4139240" cy="575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37D04F-3639-48C8-2FB6-4B4C978881E0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1372A1-72AD-FF90-5EDE-A9675328608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486031"/>
              <a:ext cx="907" cy="3459021"/>
            </a:xfrm>
            <a:prstGeom prst="line">
              <a:avLst/>
            </a:prstGeom>
            <a:ln w="28575"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0E2898-EE5A-3D43-1F94-A94D6D1B5225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6A4DB8-F24A-7254-51A8-F5FB6291CB29}"/>
              </a:ext>
            </a:extLst>
          </p:cNvPr>
          <p:cNvSpPr/>
          <p:nvPr/>
        </p:nvSpPr>
        <p:spPr>
          <a:xfrm>
            <a:off x="2928055" y="3692635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/>
              <p:nvPr/>
            </p:nvSpPr>
            <p:spPr>
              <a:xfrm>
                <a:off x="2985590" y="326204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590" y="3262047"/>
                <a:ext cx="121732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/>
              <p:nvPr/>
            </p:nvSpPr>
            <p:spPr>
              <a:xfrm>
                <a:off x="7188356" y="2631254"/>
                <a:ext cx="2822568" cy="1131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356" y="2631254"/>
                <a:ext cx="2822568" cy="1131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/>
              <p:nvPr/>
            </p:nvSpPr>
            <p:spPr>
              <a:xfrm>
                <a:off x="4721799" y="4452771"/>
                <a:ext cx="444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799" y="4452771"/>
                <a:ext cx="44435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/>
              <p:nvPr/>
            </p:nvSpPr>
            <p:spPr>
              <a:xfrm>
                <a:off x="2264771" y="2546061"/>
                <a:ext cx="4507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71" y="2546061"/>
                <a:ext cx="450764" cy="461665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타원 35">
            <a:extLst>
              <a:ext uri="{FF2B5EF4-FFF2-40B4-BE49-F238E27FC236}">
                <a16:creationId xmlns:a16="http://schemas.microsoft.com/office/drawing/2014/main" id="{A198A072-9A80-F113-3D6E-1A73198F53F6}"/>
              </a:ext>
            </a:extLst>
          </p:cNvPr>
          <p:cNvSpPr/>
          <p:nvPr/>
        </p:nvSpPr>
        <p:spPr>
          <a:xfrm>
            <a:off x="8346847" y="2457727"/>
            <a:ext cx="687578" cy="170080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8F0BE2-B48C-FF81-58BB-7A85CE8092B1}"/>
              </a:ext>
            </a:extLst>
          </p:cNvPr>
          <p:cNvSpPr/>
          <p:nvPr/>
        </p:nvSpPr>
        <p:spPr>
          <a:xfrm>
            <a:off x="9148418" y="2436948"/>
            <a:ext cx="687578" cy="1700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/>
              <p:nvPr/>
            </p:nvSpPr>
            <p:spPr>
              <a:xfrm>
                <a:off x="6792116" y="5002987"/>
                <a:ext cx="20310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00B05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00B050"/>
                    </a:solidFill>
                  </a:rPr>
                  <a:t>lands</a:t>
                </a:r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5002987"/>
                <a:ext cx="2031069" cy="461665"/>
              </a:xfrm>
              <a:prstGeom prst="rect">
                <a:avLst/>
              </a:prstGeom>
              <a:blipFill>
                <a:blip r:embed="rId8"/>
                <a:stretch>
                  <a:fillRect l="-4505" t="-10667" r="-3904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/>
              <p:nvPr/>
            </p:nvSpPr>
            <p:spPr>
              <a:xfrm>
                <a:off x="9174517" y="4994267"/>
                <a:ext cx="2037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FF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ko-KR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lands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517" y="4994267"/>
                <a:ext cx="2037481" cy="461665"/>
              </a:xfrm>
              <a:prstGeom prst="rect">
                <a:avLst/>
              </a:prstGeom>
              <a:blipFill>
                <a:blip r:embed="rId9"/>
                <a:stretch>
                  <a:fillRect l="-4491" t="-10526" r="-3892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D458F58-935A-1653-73BC-4F5FF3AFBF2A}"/>
              </a:ext>
            </a:extLst>
          </p:cNvPr>
          <p:cNvCxnSpPr>
            <a:cxnSpLocks/>
          </p:cNvCxnSpPr>
          <p:nvPr/>
        </p:nvCxnSpPr>
        <p:spPr>
          <a:xfrm flipV="1">
            <a:off x="8056207" y="4142697"/>
            <a:ext cx="570365" cy="898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1E6DBA1-4305-2ABF-E831-B71B539AECE9}"/>
              </a:ext>
            </a:extLst>
          </p:cNvPr>
          <p:cNvCxnSpPr>
            <a:cxnSpLocks/>
          </p:cNvCxnSpPr>
          <p:nvPr/>
        </p:nvCxnSpPr>
        <p:spPr>
          <a:xfrm flipH="1" flipV="1">
            <a:off x="9491715" y="4142311"/>
            <a:ext cx="688561" cy="882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/>
              <p:nvPr/>
            </p:nvSpPr>
            <p:spPr>
              <a:xfrm>
                <a:off x="7139056" y="5581182"/>
                <a:ext cx="1404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  <a:latin typeface="+mj-ea"/>
                    <a:ea typeface="+mj-ea"/>
                  </a:rPr>
                  <a:t> 축에 투영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56" y="5581182"/>
                <a:ext cx="1404552" cy="369332"/>
              </a:xfrm>
              <a:prstGeom prst="rect">
                <a:avLst/>
              </a:prstGeom>
              <a:blipFill>
                <a:blip r:embed="rId10"/>
                <a:stretch>
                  <a:fillRect t="-10000" r="-303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/>
              <p:nvPr/>
            </p:nvSpPr>
            <p:spPr>
              <a:xfrm>
                <a:off x="9516927" y="5581182"/>
                <a:ext cx="1409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 축에</a:t>
                </a:r>
                <a:r>
                  <a:rPr lang="en-US" altLang="ko-KR" dirty="0">
                    <a:solidFill>
                      <a:srgbClr val="FF0000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투영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927" y="5581182"/>
                <a:ext cx="1409360" cy="369332"/>
              </a:xfrm>
              <a:prstGeom prst="rect">
                <a:avLst/>
              </a:prstGeom>
              <a:blipFill>
                <a:blip r:embed="rId11"/>
                <a:stretch>
                  <a:fillRect t="-10000" r="-346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6709EDC-A34A-45F5-7DEA-B64FDB64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6</a:t>
            </a:fld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AA35E-EB1B-221A-D80B-C8CC2DBE688B}"/>
              </a:ext>
            </a:extLst>
          </p:cNvPr>
          <p:cNvSpPr txBox="1"/>
          <p:nvPr/>
        </p:nvSpPr>
        <p:spPr>
          <a:xfrm>
            <a:off x="1066800" y="1007868"/>
            <a:ext cx="1036445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투영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(Green):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원래의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칸은 이제 새로운 세계에서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착륙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(land)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투영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(Red):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원래의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칸은 이제 새로운 세계에서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착륙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(land)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315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6047-1098-D4A9-F3E4-BF4B5CC0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6DE6C-07CA-F0F1-E6D9-13C50AF8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2757"/>
            <a:ext cx="10364451" cy="631163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BB8FF3-4604-4774-4B17-379BC3468D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2069" y="3813616"/>
            <a:ext cx="4805524" cy="1389766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5B7846-3221-540A-BE0D-265F91EC9DCF}"/>
              </a:ext>
            </a:extLst>
          </p:cNvPr>
          <p:cNvGrpSpPr/>
          <p:nvPr/>
        </p:nvGrpSpPr>
        <p:grpSpPr>
          <a:xfrm>
            <a:off x="171140" y="2194154"/>
            <a:ext cx="5086975" cy="4480115"/>
            <a:chOff x="2228540" y="2007739"/>
            <a:chExt cx="5086975" cy="448011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4A685D7-7142-7FF7-0385-F3B28E3CA7A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540" y="5455075"/>
              <a:ext cx="50869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0C97EA0-D6BC-35AD-7E07-12F4B4482B87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8" y="2007739"/>
              <a:ext cx="0" cy="44801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3CC60D-3812-9308-967F-3D2A15B26A06}"/>
              </a:ext>
            </a:extLst>
          </p:cNvPr>
          <p:cNvSpPr/>
          <p:nvPr/>
        </p:nvSpPr>
        <p:spPr>
          <a:xfrm>
            <a:off x="2038347" y="5246791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/>
              <p:nvPr/>
            </p:nvSpPr>
            <p:spPr>
              <a:xfrm>
                <a:off x="2306830" y="5137903"/>
                <a:ext cx="2061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30" y="5137903"/>
                <a:ext cx="2061077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/>
              <p:nvPr/>
            </p:nvSpPr>
            <p:spPr>
              <a:xfrm>
                <a:off x="4929940" y="5275730"/>
                <a:ext cx="3577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940" y="5275730"/>
                <a:ext cx="3577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/>
              <p:nvPr/>
            </p:nvSpPr>
            <p:spPr>
              <a:xfrm>
                <a:off x="1307329" y="2301776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9" y="2301776"/>
                <a:ext cx="38343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2118F-F82A-7332-0FAC-BA17BA95771E}"/>
              </a:ext>
            </a:extLst>
          </p:cNvPr>
          <p:cNvCxnSpPr>
            <a:cxnSpLocks/>
          </p:cNvCxnSpPr>
          <p:nvPr/>
        </p:nvCxnSpPr>
        <p:spPr>
          <a:xfrm flipH="1">
            <a:off x="1660986" y="2212764"/>
            <a:ext cx="848534" cy="43327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513CA9-1FF2-667A-7575-59ED74DD0EDD}"/>
              </a:ext>
            </a:extLst>
          </p:cNvPr>
          <p:cNvGrpSpPr/>
          <p:nvPr/>
        </p:nvGrpSpPr>
        <p:grpSpPr>
          <a:xfrm>
            <a:off x="363921" y="4649335"/>
            <a:ext cx="1354218" cy="787525"/>
            <a:chOff x="6655650" y="2150299"/>
            <a:chExt cx="1692562" cy="1103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/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3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F91148E-CDA5-C323-15C9-30E0A0313DA4}"/>
                </a:ext>
              </a:extLst>
            </p:cNvPr>
            <p:cNvSpPr/>
            <p:nvPr/>
          </p:nvSpPr>
          <p:spPr>
            <a:xfrm>
              <a:off x="7834763" y="2150299"/>
              <a:ext cx="420323" cy="11038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DE10634-30DE-1535-F053-C155E2687217}"/>
                </a:ext>
              </a:extLst>
            </p:cNvPr>
            <p:cNvSpPr/>
            <p:nvPr/>
          </p:nvSpPr>
          <p:spPr>
            <a:xfrm>
              <a:off x="7364141" y="2150299"/>
              <a:ext cx="443256" cy="1103812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2D8F7B-60F2-055B-F150-41CD16A22885}"/>
              </a:ext>
            </a:extLst>
          </p:cNvPr>
          <p:cNvCxnSpPr>
            <a:cxnSpLocks/>
          </p:cNvCxnSpPr>
          <p:nvPr/>
        </p:nvCxnSpPr>
        <p:spPr>
          <a:xfrm flipH="1">
            <a:off x="1261516" y="2477618"/>
            <a:ext cx="2830430" cy="4025469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/>
              <p:nvPr/>
            </p:nvSpPr>
            <p:spPr>
              <a:xfrm>
                <a:off x="3995368" y="2540567"/>
                <a:ext cx="1687578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=(2,3)</m:t>
                      </m:r>
                    </m:oMath>
                  </m:oMathPara>
                </a14:m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368" y="2540567"/>
                <a:ext cx="1687578" cy="377219"/>
              </a:xfrm>
              <a:prstGeom prst="rect">
                <a:avLst/>
              </a:prstGeom>
              <a:blipFill>
                <a:blip r:embed="rId7"/>
                <a:stretch>
                  <a:fillRect t="-8065" b="-129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/>
              <p:nvPr/>
            </p:nvSpPr>
            <p:spPr>
              <a:xfrm>
                <a:off x="1954485" y="2326737"/>
                <a:ext cx="1690976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=(1,4)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85" y="2326737"/>
                <a:ext cx="1690976" cy="377219"/>
              </a:xfrm>
              <a:prstGeom prst="rect">
                <a:avLst/>
              </a:prstGeom>
              <a:blipFill>
                <a:blip r:embed="rId8"/>
                <a:stretch>
                  <a:fillRect t="-8065" b="-129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B9350-ECBC-D96D-85CF-14BC15D81B2E}"/>
              </a:ext>
            </a:extLst>
          </p:cNvPr>
          <p:cNvSpPr/>
          <p:nvPr/>
        </p:nvSpPr>
        <p:spPr>
          <a:xfrm>
            <a:off x="2599918" y="3510194"/>
            <a:ext cx="260349" cy="242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/>
              <p:nvPr/>
            </p:nvSpPr>
            <p:spPr>
              <a:xfrm>
                <a:off x="2860267" y="3426831"/>
                <a:ext cx="1820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=(4, 11)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67" y="3426831"/>
                <a:ext cx="182037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59570-57A6-4A56-6583-6F15679B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7</a:t>
            </a:fld>
            <a:endParaRPr 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7553F8-0A05-62EA-DC0B-9137423935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735" y="2226979"/>
            <a:ext cx="4930193" cy="9561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567789-6DB8-96A8-E28F-6FF71335E5DD}"/>
              </a:ext>
            </a:extLst>
          </p:cNvPr>
          <p:cNvSpPr txBox="1"/>
          <p:nvPr/>
        </p:nvSpPr>
        <p:spPr>
          <a:xfrm>
            <a:off x="1183270" y="1046852"/>
            <a:ext cx="948866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행렬은 선형변환을 통해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한 칸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(1, 0)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변환 후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위치로 이동하고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한 칸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(0, 1)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변환 후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위치로 이동시킨다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206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E690-F2AD-18B4-D988-8AEE608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F44F4-1686-2B4C-B786-2BBD121C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93398"/>
            <a:ext cx="10364451" cy="759888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32D000-AAD7-424D-68F9-3340C35A3C36}"/>
              </a:ext>
            </a:extLst>
          </p:cNvPr>
          <p:cNvCxnSpPr>
            <a:cxnSpLocks/>
          </p:cNvCxnSpPr>
          <p:nvPr/>
        </p:nvCxnSpPr>
        <p:spPr>
          <a:xfrm>
            <a:off x="45689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CBFC49-A98C-36D0-1878-7FFFEFF36A68}"/>
              </a:ext>
            </a:extLst>
          </p:cNvPr>
          <p:cNvSpPr txBox="1"/>
          <p:nvPr/>
        </p:nvSpPr>
        <p:spPr>
          <a:xfrm>
            <a:off x="32416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8C6DF1-B97D-F199-5033-64331BCC3A7E}"/>
              </a:ext>
            </a:extLst>
          </p:cNvPr>
          <p:cNvCxnSpPr>
            <a:cxnSpLocks/>
          </p:cNvCxnSpPr>
          <p:nvPr/>
        </p:nvCxnSpPr>
        <p:spPr>
          <a:xfrm>
            <a:off x="280987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E0933-37D0-5B7A-EF49-7D3E7E68A636}"/>
              </a:ext>
            </a:extLst>
          </p:cNvPr>
          <p:cNvSpPr txBox="1"/>
          <p:nvPr/>
        </p:nvSpPr>
        <p:spPr>
          <a:xfrm rot="16200000">
            <a:off x="267015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9770E7-D05C-D9DA-D98D-1366B9D2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2377217"/>
            <a:ext cx="1503361" cy="981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98E98A-995F-336E-D8D6-82E48810C9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2223" y="3358239"/>
            <a:ext cx="1280266" cy="5258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89E68-6A28-53EE-75F3-C2D0E09D82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3691819"/>
            <a:ext cx="1280271" cy="548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6CAE5-178C-DC5D-E74B-8EF5E3F67E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67120" y="3697535"/>
            <a:ext cx="1597887" cy="542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11805A-4319-468A-B660-5363D357BFFB}"/>
              </a:ext>
            </a:extLst>
          </p:cNvPr>
          <p:cNvSpPr/>
          <p:nvPr/>
        </p:nvSpPr>
        <p:spPr>
          <a:xfrm>
            <a:off x="3073399" y="335822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826B98-1D71-4910-55B7-EE49E4BBF56A}"/>
              </a:ext>
            </a:extLst>
          </p:cNvPr>
          <p:cNvSpPr/>
          <p:nvPr/>
        </p:nvSpPr>
        <p:spPr>
          <a:xfrm>
            <a:off x="4474513" y="2335507"/>
            <a:ext cx="260349" cy="242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1DE4A-D272-D340-D9A6-538BC397CD81}"/>
              </a:ext>
            </a:extLst>
          </p:cNvPr>
          <p:cNvSpPr txBox="1"/>
          <p:nvPr/>
        </p:nvSpPr>
        <p:spPr>
          <a:xfrm>
            <a:off x="9385999" y="2345081"/>
            <a:ext cx="2714628" cy="17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v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행렬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내적하는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선형변환을 하면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Av = (5,5)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위치 이동하게 됨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1D4E1-1C00-2913-FD43-03EE8C0C200D}"/>
              </a:ext>
            </a:extLst>
          </p:cNvPr>
          <p:cNvSpPr txBox="1"/>
          <p:nvPr/>
        </p:nvSpPr>
        <p:spPr>
          <a:xfrm>
            <a:off x="6139367" y="1975749"/>
            <a:ext cx="157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25EF52E-72EE-3C3E-9A88-70B9DC9F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8</a:t>
            </a:fld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DAF92B-EBC3-6DB9-0A8E-14AB14DA071C}"/>
              </a:ext>
            </a:extLst>
          </p:cNvPr>
          <p:cNvSpPr txBox="1"/>
          <p:nvPr/>
        </p:nvSpPr>
        <p:spPr>
          <a:xfrm>
            <a:off x="1094356" y="125246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벡터의 내적은 선형변환 함수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80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C0271E0-83DB-4699-2D1D-D4EC4FBB2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1144" y="2411707"/>
            <a:ext cx="2036761" cy="13025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3EC9D9-E1E5-486D-524D-A0C034D9B291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3EA56-E119-9E2E-EBFA-3E843E65458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792C78-4F30-BAD6-12FC-138766A35512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E44BCE-2E3C-9E9E-D923-0EEE18AB9631}"/>
              </a:ext>
            </a:extLst>
          </p:cNvPr>
          <p:cNvSpPr/>
          <p:nvPr/>
        </p:nvSpPr>
        <p:spPr>
          <a:xfrm>
            <a:off x="2359026" y="3429000"/>
            <a:ext cx="841374" cy="768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801FD-463E-32A8-962F-C2F5391655F2}"/>
              </a:ext>
            </a:extLst>
          </p:cNvPr>
          <p:cNvSpPr txBox="1"/>
          <p:nvPr/>
        </p:nvSpPr>
        <p:spPr>
          <a:xfrm>
            <a:off x="5182225" y="2105546"/>
            <a:ext cx="6619250" cy="336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행렬 </a:t>
            </a:r>
            <a:r>
              <a:rPr lang="en-US" altLang="ko-KR" dirty="0"/>
              <a:t>A = [(2,1), (3,4)] </a:t>
            </a:r>
            <a:r>
              <a:rPr lang="ko-KR" altLang="en-US" dirty="0"/>
              <a:t>의 행렬인 경우 </a:t>
            </a:r>
            <a:r>
              <a:rPr lang="en-US" altLang="ko-KR" dirty="0"/>
              <a:t>v=(1,2)</a:t>
            </a:r>
            <a:r>
              <a:rPr lang="ko-KR" altLang="en-US" dirty="0"/>
              <a:t>는 어떻게 </a:t>
            </a:r>
            <a:r>
              <a:rPr lang="ko-KR" altLang="en-US" b="1" dirty="0"/>
              <a:t>변환</a:t>
            </a:r>
            <a:r>
              <a:rPr lang="ko-KR" altLang="en-US" dirty="0"/>
              <a:t>되는가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아래와 같은 정방형의 모든 실수는 </a:t>
            </a:r>
            <a:r>
              <a:rPr lang="en-US" altLang="ko-KR" dirty="0"/>
              <a:t>A</a:t>
            </a:r>
            <a:r>
              <a:rPr lang="ko-KR" altLang="en-US" dirty="0"/>
              <a:t>행렬과 </a:t>
            </a:r>
            <a:r>
              <a:rPr lang="ko-KR" altLang="en-US" dirty="0" err="1"/>
              <a:t>내적하면</a:t>
            </a:r>
            <a:r>
              <a:rPr lang="ko-KR" altLang="en-US" dirty="0"/>
              <a:t> 어떻게 </a:t>
            </a:r>
            <a:r>
              <a:rPr lang="ko-KR" altLang="en-US" b="1" dirty="0"/>
              <a:t>변환</a:t>
            </a:r>
            <a:r>
              <a:rPr lang="ko-KR" altLang="en-US" dirty="0"/>
              <a:t>되는지 파이썬 코드로 작성하고 시각화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선형변환</a:t>
            </a:r>
            <a:r>
              <a:rPr lang="en-US" altLang="ko-KR" b="1" dirty="0"/>
              <a:t>(Linear Transformation)</a:t>
            </a:r>
            <a:r>
              <a:rPr lang="ko-KR" altLang="en-US" dirty="0"/>
              <a:t>의 결과를 기하학적 의미를 </a:t>
            </a:r>
            <a:r>
              <a:rPr lang="ko-KR" altLang="en-US" b="1" dirty="0"/>
              <a:t>투영</a:t>
            </a:r>
            <a:r>
              <a:rPr lang="en-US" altLang="ko-KR" b="1" dirty="0"/>
              <a:t>(Projection)</a:t>
            </a:r>
            <a:r>
              <a:rPr lang="ko-KR" altLang="en-US" dirty="0"/>
              <a:t>의 관점에서 설명하라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FB67B-47AD-E2B1-F02D-7438ED6D3A02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26A2FD-DA73-FEBD-A534-047C269A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9</a:t>
            </a:fld>
            <a:endParaRPr lang="en-US" sz="2000" dirty="0"/>
          </a:p>
        </p:txBody>
      </p:sp>
      <p:pic>
        <p:nvPicPr>
          <p:cNvPr id="8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E244AAB-51AC-B107-48A5-3CF643F4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05136CFE-E7F8-CC96-5386-1047EDE8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713" y="0"/>
            <a:ext cx="61261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4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ED26979-3036-435B-0822-871DA230CA78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D771A1-25B1-665A-99F0-AD771F07CDA4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F301B5-9970-FCB6-2C79-A057D8D23F0E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CF34E6-3C08-D401-489F-98201AD4E32F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B46C8-7DA9-65B3-928C-F55479A8125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/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1099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/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/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blipFill>
                <a:blip r:embed="rId5"/>
                <a:stretch>
                  <a:fillRect l="-289" t="-6667" r="-3179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59CE4A2-11E8-3782-9C37-54E0B00FD94F}"/>
              </a:ext>
            </a:extLst>
          </p:cNvPr>
          <p:cNvSpPr txBox="1"/>
          <p:nvPr/>
        </p:nvSpPr>
        <p:spPr>
          <a:xfrm>
            <a:off x="5784127" y="3165498"/>
            <a:ext cx="5462993" cy="21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행이 완전히 동일하며 모든 벡터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(x, 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(x+2y,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x+2y)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벡터로 선형변환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임의의 모든 점을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방향으로 투영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(projection)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하고 대각선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(y=x)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방향으로 배치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0E0E523-FCA2-AA24-9EA5-9380D86B3195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81818" y="1907079"/>
            <a:ext cx="612529" cy="1204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DAF44130-B832-9483-C9DF-EFD357270E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953125" y="2203025"/>
            <a:ext cx="1512041" cy="687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75E9DE-B0B6-C8D5-A524-BAACE5A8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10</a:t>
            </a:fld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6CE8C-4757-BF94-2D0B-405DBF1049C3}"/>
              </a:ext>
            </a:extLst>
          </p:cNvPr>
          <p:cNvSpPr txBox="1"/>
          <p:nvPr/>
        </p:nvSpPr>
        <p:spPr>
          <a:xfrm>
            <a:off x="1313286" y="1053801"/>
            <a:ext cx="615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차원을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차원으로 붕괴시키는 행렬을 이해하자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48C2-D67B-5ADB-18B1-80FE0EBB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F82DA0A-412B-C75A-C675-E78A772EB5B4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36533-3E78-9C9E-2D7B-3CD87C1D7E1E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C11FE9-3D39-67F5-9B81-39ABA9F3C151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A923B-0F3D-C793-CBDF-EB2CBE8E86F4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449C-DC59-EB8D-209F-4B2964F89FCF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/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733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/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blipFill>
                <a:blip r:embed="rId4"/>
                <a:stretch>
                  <a:fillRect l="-3583" t="-6522" r="-3909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417510F-FA8E-6162-4468-EC4812C7C296}"/>
              </a:ext>
            </a:extLst>
          </p:cNvPr>
          <p:cNvSpPr txBox="1"/>
          <p:nvPr/>
        </p:nvSpPr>
        <p:spPr>
          <a:xfrm>
            <a:off x="3979335" y="3290089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</a:t>
            </a:r>
            <a:r>
              <a:rPr lang="ko-KR" alt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내적하여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투영하여 배치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붕괴시키는 행렬변환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07E2D664-2BE6-2DF1-837C-3787AEF194CA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54644" y="1578833"/>
            <a:ext cx="967949" cy="15054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4903B8ED-A4E2-90BE-7A88-0777CA4B0F3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254197" y="1847605"/>
            <a:ext cx="1516216" cy="930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EBD0C9-2937-E546-104C-A70FBE6A99F3}"/>
              </a:ext>
            </a:extLst>
          </p:cNvPr>
          <p:cNvCxnSpPr>
            <a:cxnSpLocks/>
          </p:cNvCxnSpPr>
          <p:nvPr/>
        </p:nvCxnSpPr>
        <p:spPr>
          <a:xfrm flipV="1">
            <a:off x="7615956" y="4163027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6B7B48-EFB1-1809-928C-471F9BC07E28}"/>
              </a:ext>
            </a:extLst>
          </p:cNvPr>
          <p:cNvCxnSpPr>
            <a:cxnSpLocks/>
          </p:cNvCxnSpPr>
          <p:nvPr/>
        </p:nvCxnSpPr>
        <p:spPr>
          <a:xfrm>
            <a:off x="9968944" y="1990714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3B2C7D-9653-5102-80B2-FEFBC0BFFAEF}"/>
              </a:ext>
            </a:extLst>
          </p:cNvPr>
          <p:cNvSpPr txBox="1"/>
          <p:nvPr/>
        </p:nvSpPr>
        <p:spPr>
          <a:xfrm rot="16200000">
            <a:off x="7412550" y="415872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DD22D-5F31-7D85-4E49-D7CCEC85C019}"/>
              </a:ext>
            </a:extLst>
          </p:cNvPr>
          <p:cNvSpPr txBox="1"/>
          <p:nvPr/>
        </p:nvSpPr>
        <p:spPr>
          <a:xfrm>
            <a:off x="7486650" y="419777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28" name="그래픽 27" descr="별">
            <a:extLst>
              <a:ext uri="{FF2B5EF4-FFF2-40B4-BE49-F238E27FC236}">
                <a16:creationId xmlns:a16="http://schemas.microsoft.com/office/drawing/2014/main" id="{B1997F87-A73F-E620-983C-A239734A3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5239" y="3159667"/>
            <a:ext cx="485496" cy="485496"/>
          </a:xfrm>
          <a:prstGeom prst="rect">
            <a:avLst/>
          </a:prstGeom>
        </p:spPr>
      </p:pic>
      <p:pic>
        <p:nvPicPr>
          <p:cNvPr id="31" name="그래픽 30" descr="별">
            <a:extLst>
              <a:ext uri="{FF2B5EF4-FFF2-40B4-BE49-F238E27FC236}">
                <a16:creationId xmlns:a16="http://schemas.microsoft.com/office/drawing/2014/main" id="{1C6B1354-D5CB-5B29-DCCA-3AAA1F515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3327" y="2704498"/>
            <a:ext cx="485496" cy="485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/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blipFill>
                <a:blip r:embed="rId9"/>
                <a:stretch>
                  <a:fillRect l="-7595" t="-6667" r="-8228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/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blipFill>
                <a:blip r:embed="rId10"/>
                <a:stretch>
                  <a:fillRect l="-9231" t="-8889" r="-1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F4B92F-31B4-3C2F-14FE-6DE1FFDEBE8D}"/>
              </a:ext>
            </a:extLst>
          </p:cNvPr>
          <p:cNvCxnSpPr>
            <a:cxnSpLocks/>
          </p:cNvCxnSpPr>
          <p:nvPr/>
        </p:nvCxnSpPr>
        <p:spPr>
          <a:xfrm flipV="1">
            <a:off x="8485488" y="2556473"/>
            <a:ext cx="3128002" cy="31626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7E8495C-891C-0D45-AD9C-65537885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885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01957"/>
            <a:ext cx="10364451" cy="56004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A5E0A35-FE29-17FD-803F-F2999E5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12</a:t>
            </a:fld>
            <a:endParaRPr lang="en-US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79788B6-01AF-BBCD-D01B-F81134982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527" y="1518105"/>
            <a:ext cx="9583746" cy="475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122F8-6128-F4C0-FFCB-B901DE7CF022}"/>
              </a:ext>
            </a:extLst>
          </p:cNvPr>
          <p:cNvSpPr txBox="1"/>
          <p:nvPr/>
        </p:nvSpPr>
        <p:spPr>
          <a:xfrm>
            <a:off x="1033454" y="939997"/>
            <a:ext cx="831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벡터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(points), (1,2), (2,1)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행렬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[(2,1), (1,4)]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와의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</a:t>
            </a:r>
          </a:p>
        </p:txBody>
      </p:sp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990D-7C65-6C21-31D3-EC7CB375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20CEC-BF00-1556-F0BA-6AF560EF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00553"/>
          </a:xfrm>
        </p:spPr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91CE45-07B6-3F10-9D80-86C15F83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B99FAD7-67C0-95AC-D700-A35DDC7C501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296160"/>
            <a:ext cx="5391030" cy="365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B9A48-9B38-5029-B7E7-030E2344A517}"/>
              </a:ext>
            </a:extLst>
          </p:cNvPr>
          <p:cNvSpPr txBox="1"/>
          <p:nvPr/>
        </p:nvSpPr>
        <p:spPr>
          <a:xfrm>
            <a:off x="500800" y="1919156"/>
            <a:ext cx="424815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D3EB99-B1E1-2A0D-C54E-009CFE59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5C0D2A8-56F8-508B-447C-EB62B273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124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84837"/>
            <a:ext cx="10364451" cy="641323"/>
          </a:xfrm>
        </p:spPr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CB9CBD-CF82-DC51-07A4-4A338003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B62D-C56C-8C8A-D635-BDAE2165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A8DC34F-90C7-F8C5-68DD-229C5975A1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표준 기저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행렬에 의해 정확히 행렬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lang="ko-KR" altLang="en-US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(2,3), (1,4)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선형변화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매핑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되고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 정사각형이 평행사변형으로 변환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  <a:blipFill>
                <a:blip r:embed="rId2"/>
                <a:stretch>
                  <a:fillRect l="-497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2D810127-F36F-F750-36B2-F991D65C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7B2FFB-229C-9856-0910-69A35DE4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76" y="2069849"/>
            <a:ext cx="9033577" cy="4412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6F89DE-B4DF-E058-CF78-380106D89E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67225" y="3101805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E58B-E027-B2B0-B8EB-75A34B70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F2E9924A-0166-2BF4-B339-E2DEBED57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98" y="2129648"/>
            <a:ext cx="8769352" cy="435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728BFC4-53E5-BC11-044B-4B5C9539EE4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(2/3)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C6696286-0EB0-4D93-69FB-A9C56117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A56CA-75FB-0E83-0E74-06E43B60B916}"/>
              </a:ext>
            </a:extLst>
          </p:cNvPr>
          <p:cNvSpPr txBox="1"/>
          <p:nvPr/>
        </p:nvSpPr>
        <p:spPr>
          <a:xfrm>
            <a:off x="1641903" y="3360567"/>
            <a:ext cx="359684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mean = [2, 1]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 = [[0.5, 0], [0, 0.2]] </a:t>
            </a:r>
            <a:endParaRPr lang="ko-KR" altLang="en-US" sz="1200" b="0" dirty="0">
              <a:effectLst/>
              <a:latin typeface="Aptos Narrow" panose="020B0004020202020204" pitchFamily="34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data =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np.random.multivariate_normal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(mean,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, 300)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76CE5FD-59F3-5258-A057-D369D8685A4C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83195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행렬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((2,1), (3,4))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새로운 기저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(2,3)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x1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x2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선형 합으로 데이터를 선형변환 한 것이다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E1B69E-A794-FFDD-E298-D83ED5A2D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62" y="2084612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04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5DC-DE68-65F6-09EA-36647289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74D5D1B-942F-2499-638A-702F6C0E78B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(3/3)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6A79D7C4-9DAF-56C8-6022-B24CFD9C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F1A5AA8-2CC4-07C0-5F12-95F244FE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77" y="2571239"/>
            <a:ext cx="5192932" cy="331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6B27DAA-3882-D126-BE42-5B74772B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17" y="2123291"/>
            <a:ext cx="5192932" cy="372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71733FB-6BFB-1EB3-E879-87A8BBB4946D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1196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행렬로 선형변환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매핑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고유벡터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(Eigen vector)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주성분임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997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12487-4066-E9B9-A601-533736ED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A0241D-1994-FC82-D69B-0A68B2AA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AD98C4D-BA3A-37E3-866A-C8686B216CDE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 value &amp; Eigen vector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BE4A90-2671-6596-92C0-364DB0A35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01" y="1866900"/>
            <a:ext cx="4537448" cy="466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1DEFFE-BE6E-C89F-DFD1-149A43668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938" y="1866901"/>
            <a:ext cx="4551073" cy="466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5F13AEE-DD0E-3B1A-AAB5-ABA37888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" y="870129"/>
            <a:ext cx="10715625" cy="86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공간을 무작위로 찌그러뜨리는 것 같지만,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행렬의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고유벡터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특별한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 vectors)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기준으로 보면 단순히 길이를 늘리거나(4배) 뒤집는(-1배) 연산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Eigenvalues)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하고 있다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9B97B-BCF9-D313-1736-B599A138C588}"/>
              </a:ext>
            </a:extLst>
          </p:cNvPr>
          <p:cNvSpPr txBox="1"/>
          <p:nvPr/>
        </p:nvSpPr>
        <p:spPr>
          <a:xfrm>
            <a:off x="8753791" y="3086093"/>
            <a:ext cx="11369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chemeClr val="accent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Eigenvalues</a:t>
            </a:r>
          </a:p>
          <a:p>
            <a:r>
              <a:rPr lang="en-US" altLang="ko-KR" sz="1200" b="1" i="0" dirty="0">
                <a:solidFill>
                  <a:schemeClr val="accent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[ 4. -1.] </a:t>
            </a:r>
            <a:endParaRPr lang="ko-KR" alt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EE789-2360-2E57-1572-04EFF9D6424E}"/>
              </a:ext>
            </a:extLst>
          </p:cNvPr>
          <p:cNvSpPr txBox="1"/>
          <p:nvPr/>
        </p:nvSpPr>
        <p:spPr>
          <a:xfrm>
            <a:off x="6819900" y="3265571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Eigenvectors </a:t>
            </a:r>
          </a:p>
          <a:p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[[ 0.83 -0.71] </a:t>
            </a:r>
          </a:p>
          <a:p>
            <a:r>
              <a:rPr lang="en-US" altLang="ko-KR" sz="1200" b="1" dirty="0">
                <a:solidFill>
                  <a:srgbClr val="00B05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[ 0.55 0.71]]</a:t>
            </a:r>
            <a:endParaRPr lang="ko-KR" altLang="en-US" sz="1200" b="1" dirty="0">
              <a:solidFill>
                <a:srgbClr val="00B05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3251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EE4C-CF8D-13F6-E5D0-F069365A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B388CFB-5E5A-0B56-2B29-B3655AA0D879}"/>
              </a:ext>
            </a:extLst>
          </p:cNvPr>
          <p:cNvSpPr/>
          <p:nvPr/>
        </p:nvSpPr>
        <p:spPr>
          <a:xfrm>
            <a:off x="579371" y="25241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2FE80-9EDC-A097-418B-57D8C5D574E0}"/>
              </a:ext>
            </a:extLst>
          </p:cNvPr>
          <p:cNvSpPr txBox="1"/>
          <p:nvPr/>
        </p:nvSpPr>
        <p:spPr>
          <a:xfrm>
            <a:off x="1629916" y="147612"/>
            <a:ext cx="8928992" cy="4022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주성분분석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(PCA)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 value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 vector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511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DE82-E761-815D-D827-048FE40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1">
            <a:extLst>
              <a:ext uri="{FF2B5EF4-FFF2-40B4-BE49-F238E27FC236}">
                <a16:creationId xmlns:a16="http://schemas.microsoft.com/office/drawing/2014/main" id="{47078DC6-E5BB-C5BD-550D-2D5CFDED855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B8B203A-CA07-6F79-6C40-BA91546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D1D46-BBF5-8CEB-9866-F0062776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FE6522-ABBE-27B1-9AC3-605881D2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2622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D45F-9959-C2FE-BCFE-D047BCAF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AFD0A-085C-5BB2-80E4-F468D267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EF78C1A-537C-3E6A-1F7A-9E447E6D7AB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FB68568-2188-187E-10FA-97C8879C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496" y="2838154"/>
            <a:ext cx="5852766" cy="273968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 marL="0" indent="0">
              <a:buNone/>
            </a:pP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tensorflow.keras.datasets</a:t>
            </a: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mnist</a:t>
            </a:r>
            <a:endParaRPr lang="en-US" altLang="ko-KR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</a:p>
          <a:p>
            <a:pPr marL="0" indent="0">
              <a:buNone/>
            </a:pP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), _ =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mnist.load_data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0" indent="0">
              <a:buNone/>
            </a:pP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# 5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번째 그림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전체 데이터의 표준편차 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필요 없는 열 확인용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1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pixel_std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np.std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axis=0)</a:t>
            </a:r>
          </a:p>
          <a:p>
            <a:pPr marL="0" indent="0">
              <a:buNone/>
            </a:pP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plt.imshow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pixel_std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='hot')</a:t>
            </a:r>
            <a:endParaRPr lang="en-US" altLang="ko-KR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endParaRPr lang="en-US" altLang="ko-KR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BE5526-2A5D-5F05-FCBF-F9280260B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9" y="2838154"/>
            <a:ext cx="3170871" cy="314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5E836-BE82-FC36-41B2-006B2F098043}"/>
              </a:ext>
            </a:extLst>
          </p:cNvPr>
          <p:cNvSpPr txBox="1"/>
          <p:nvPr/>
        </p:nvSpPr>
        <p:spPr>
          <a:xfrm>
            <a:off x="601917" y="929734"/>
            <a:ext cx="10977518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60,00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MNIST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필기체 수자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(28 by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28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pixel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 표준편차를 구해서 시각화한 이미지를 보면 해보면 중앙 픽셀의 표준편차는 높지만 주변 픽셀의 표준편차는 거의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근접한 것으로 나타남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주변의 정보는 데이터는 수자를 표현하는데 거의 역할이 없음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853161-803E-81DB-419B-7773E6EAF298}"/>
              </a:ext>
            </a:extLst>
          </p:cNvPr>
          <p:cNvGrpSpPr/>
          <p:nvPr/>
        </p:nvGrpSpPr>
        <p:grpSpPr>
          <a:xfrm>
            <a:off x="9966960" y="2838153"/>
            <a:ext cx="1936300" cy="3137007"/>
            <a:chOff x="9628030" y="2838154"/>
            <a:chExt cx="2246046" cy="363882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7B7470-53A3-F586-A9A7-B3DFB8ADC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8030" y="2838154"/>
              <a:ext cx="2246046" cy="122543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28C5B0-4392-9343-2622-9256EF1DE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8031" y="4060451"/>
              <a:ext cx="2240700" cy="120496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EB1DDEF-D8F2-AB6A-FF39-537D658F4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8782" y="5265420"/>
              <a:ext cx="2240701" cy="1211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9447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1E9B-DC1C-C687-ACF2-C837C2EB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52C18C-02FC-DB44-6C9C-E85E7455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394568" cy="640080"/>
          </a:xfrm>
        </p:spPr>
        <p:txBody>
          <a:bodyPr rtlCol="0">
            <a:noAutofit/>
          </a:bodyPr>
          <a:lstStyle/>
          <a:p>
            <a:pPr algn="l"/>
            <a:r>
              <a:rPr lang="en-US" altLang="ko-KR" sz="2400" cap="none" dirty="0">
                <a:cs typeface="Segoe UI Light" panose="020B0502040204020203" pitchFamily="34" charset="0"/>
              </a:rPr>
              <a:t>Compressing</a:t>
            </a:r>
            <a:r>
              <a:rPr lang="ko-KR" altLang="en-US" sz="2400" cap="none" dirty="0">
                <a:cs typeface="Segoe UI Light" panose="020B0502040204020203" pitchFamily="34" charset="0"/>
              </a:rPr>
              <a:t> </a:t>
            </a:r>
            <a:r>
              <a:rPr lang="en-US" altLang="ko-KR" sz="2400" cap="none" dirty="0">
                <a:cs typeface="Segoe UI Light" panose="020B0502040204020203" pitchFamily="34" charset="0"/>
              </a:rPr>
              <a:t>Images – Reducing rank by random choice of features</a:t>
            </a:r>
            <a:endParaRPr lang="ko" sz="2400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613EB8A-BEA6-A6CD-7C7A-09A826670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88EFB-4524-4DD2-6EFA-8D2AC221E9D7}"/>
              </a:ext>
            </a:extLst>
          </p:cNvPr>
          <p:cNvSpPr txBox="1"/>
          <p:nvPr/>
        </p:nvSpPr>
        <p:spPr>
          <a:xfrm>
            <a:off x="609600" y="1304243"/>
            <a:ext cx="548640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url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"https://img.tf.co.kr/article/home/2025/07/22/202598011753169335.jpg"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3173D52B-4178-8B02-04E4-68AA1DAE0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36" y="1800107"/>
            <a:ext cx="8986982" cy="486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8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481C-56DE-A303-2D4C-E12ED6DB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6562AF-EDD3-7FD9-789C-A59F62BF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en-US" altLang="ko-KR" cap="none" dirty="0">
                <a:cs typeface="Segoe UI Light" panose="020B0502040204020203" pitchFamily="34" charset="0"/>
              </a:rPr>
              <a:t>Compressing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Images – Reducing rank by SVD, PCA</a:t>
            </a:r>
            <a:endParaRPr lang="ko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C72ECB-26ED-AC43-69FC-B181EE6AD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EDBD8-B293-7B46-746E-84D1944B0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8" y="1820059"/>
            <a:ext cx="8765310" cy="47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210D5-7927-EB22-F5B4-C0811943D190}"/>
              </a:ext>
            </a:extLst>
          </p:cNvPr>
          <p:cNvSpPr txBox="1"/>
          <p:nvPr/>
        </p:nvSpPr>
        <p:spPr>
          <a:xfrm>
            <a:off x="604333" y="1358737"/>
            <a:ext cx="520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Rank </a:t>
            </a:r>
            <a:r>
              <a:rPr lang="ko-KR" altLang="en-US" dirty="0"/>
              <a:t>가 </a:t>
            </a:r>
            <a:r>
              <a:rPr lang="en-US" altLang="ko-KR" dirty="0"/>
              <a:t>30, 10, 5</a:t>
            </a:r>
            <a:r>
              <a:rPr lang="ko-KR" altLang="en-US" dirty="0"/>
              <a:t>인데도 </a:t>
            </a:r>
            <a:r>
              <a:rPr lang="en-US" altLang="ko-KR" dirty="0"/>
              <a:t>face </a:t>
            </a:r>
            <a:r>
              <a:rPr lang="ko-KR" altLang="en-US" dirty="0"/>
              <a:t>식별이 가능한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75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6058-BCAC-5973-88B3-9937643C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D1540C-C9B8-D40C-73EE-259E9153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ko-KR" altLang="en-US" cap="none" dirty="0" err="1">
                <a:cs typeface="Segoe UI Light" panose="020B0502040204020203" pitchFamily="34" charset="0"/>
              </a:rPr>
              <a:t>총변동량</a:t>
            </a:r>
            <a:r>
              <a:rPr lang="en-US" altLang="ko-KR" cap="none" dirty="0">
                <a:cs typeface="Segoe UI Light" panose="020B0502040204020203" pitchFamily="34" charset="0"/>
              </a:rPr>
              <a:t>(</a:t>
            </a:r>
            <a:r>
              <a:rPr lang="en-US" altLang="ko" cap="none" dirty="0">
                <a:cs typeface="Segoe UI Light" panose="020B0502040204020203" pitchFamily="34" charset="0"/>
              </a:rPr>
              <a:t>Total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Variance)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of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Matrix</a:t>
            </a:r>
            <a:endParaRPr lang="ko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43EB65-3E9B-ECE8-23C1-24B298B14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pic>
        <p:nvPicPr>
          <p:cNvPr id="1026" name="Picture 2" descr="The original 3-dimensional data set. The red, blue, green arrows are the direction of the first, second, and third principal components, respectively. Image by the author.">
            <a:extLst>
              <a:ext uri="{FF2B5EF4-FFF2-40B4-BE49-F238E27FC236}">
                <a16:creationId xmlns:a16="http://schemas.microsoft.com/office/drawing/2014/main" id="{FD5454AF-9D9D-C1F8-13C5-FB50F1510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2264094"/>
            <a:ext cx="4371975" cy="326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atterplot after PCA reduced from 3-dimensions to 2-dimensions. Image by the author.">
            <a:extLst>
              <a:ext uri="{FF2B5EF4-FFF2-40B4-BE49-F238E27FC236}">
                <a16:creationId xmlns:a16="http://schemas.microsoft.com/office/drawing/2014/main" id="{FD1F97AF-8F47-3913-BD7E-049B0A55E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49" y="2264095"/>
            <a:ext cx="5230069" cy="32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94DDF2-FA83-1528-ED94-B305BA82EC2A}"/>
              </a:ext>
            </a:extLst>
          </p:cNvPr>
          <p:cNvSpPr txBox="1"/>
          <p:nvPr/>
        </p:nvSpPr>
        <p:spPr>
          <a:xfrm>
            <a:off x="807720" y="5561675"/>
            <a:ext cx="453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original 3-dimensional data set. The red, blue, green arrows are the direction of the first, second, and third principal components, respectively.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36BE2-058E-F2B0-994D-58F741FF8627}"/>
              </a:ext>
            </a:extLst>
          </p:cNvPr>
          <p:cNvSpPr txBox="1"/>
          <p:nvPr/>
        </p:nvSpPr>
        <p:spPr>
          <a:xfrm>
            <a:off x="6267449" y="5561675"/>
            <a:ext cx="453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Scatterplot after PCA reduced from 3-dimensions to 2-dimensions. 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5D7F7-968B-3650-11E3-08E33038F536}"/>
              </a:ext>
            </a:extLst>
          </p:cNvPr>
          <p:cNvSpPr txBox="1"/>
          <p:nvPr/>
        </p:nvSpPr>
        <p:spPr>
          <a:xfrm>
            <a:off x="521206" y="1219111"/>
            <a:ext cx="10976311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Principal component analysis (PCA) is a technique that transforms high-dimensions data into lower-dimensions while retaining as much information as possible.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589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54C-9E3B-A472-9C1F-80823F5C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189F65D-167B-B5EE-E8D7-C2A4BEF2742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6D2BF00-A385-9818-F1A0-AF5C00351ECA}"/>
              </a:ext>
            </a:extLst>
          </p:cNvPr>
          <p:cNvSpPr txBox="1">
            <a:spLocks/>
          </p:cNvSpPr>
          <p:nvPr/>
        </p:nvSpPr>
        <p:spPr>
          <a:xfrm>
            <a:off x="913794" y="1070316"/>
            <a:ext cx="10706705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코드를 다운받아 주성분분석 코드를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이해하고 실습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9B13165B-37AB-7A55-4979-8CF6B4BF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4580" name="Picture 4" descr="Book Cover">
            <a:extLst>
              <a:ext uri="{FF2B5EF4-FFF2-40B4-BE49-F238E27FC236}">
                <a16:creationId xmlns:a16="http://schemas.microsoft.com/office/drawing/2014/main" id="{30F49467-6593-5363-0398-441CC38F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1" y="2362200"/>
            <a:ext cx="2674620" cy="353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E23B2-6EEA-CE8D-394E-D03D3C7E3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24" y="2281675"/>
            <a:ext cx="2752866" cy="33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06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D3A-EE14-2467-AD61-91324A7F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BCDE5-4265-7787-19C6-E72CD7B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EC6C347-2434-8363-FDBC-4993208CB10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Undestanding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03D835E-99D8-D1C5-C9A7-2D439DD85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PCA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주성분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분석을 시각화로 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935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3F3BF-5796-165E-59FD-C5E0E838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AB4B5FC-1951-DC9A-2887-2CB7803F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en-US" altLang="ko" cap="none" dirty="0">
                <a:cs typeface="Segoe UI Light" panose="020B0502040204020203" pitchFamily="34" charset="0"/>
              </a:rPr>
              <a:t>Total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Variance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of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Matrix</a:t>
            </a:r>
            <a:endParaRPr lang="ko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AAD6EB-6463-0B19-61BA-D99870126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27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C1A34-D915-D18A-5B13-3B13DC810727}"/>
              </a:ext>
            </a:extLst>
          </p:cNvPr>
          <p:cNvSpPr txBox="1"/>
          <p:nvPr/>
        </p:nvSpPr>
        <p:spPr>
          <a:xfrm>
            <a:off x="604333" y="1196812"/>
            <a:ext cx="10977518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데이터의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분산의 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계산한 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 값을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공간에 동일하게 나누어 배치함으로써 차원이 달라도 전체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변동량은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같다는 것을 보여주며 데이터의 차원이 줄어들면 정보가 사라지는 것이 아니라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분산이 적은 축으로 “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집중”되면서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총변동은 그대로 유지될 수 있음을 확인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D616B-51CA-2EFE-B2F4-5D841D887C69}"/>
              </a:ext>
            </a:extLst>
          </p:cNvPr>
          <p:cNvSpPr txBox="1"/>
          <p:nvPr/>
        </p:nvSpPr>
        <p:spPr>
          <a:xfrm>
            <a:off x="1572174" y="2564844"/>
            <a:ext cx="6533601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make_regression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np.random.seed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(42)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1) 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데이터 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X10, _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=500,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n_features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=30, noise=10.0)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(X10,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rowvar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=False))  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총변동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np.random.multivariate_normal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mean=[0, 0],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=(T/2)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np.eye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size=500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3)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총변동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비교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(X2,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rowvar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=False))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print("30D total variance:", 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print("2D total variance:", T2)</a:t>
            </a:r>
          </a:p>
        </p:txBody>
      </p:sp>
    </p:spTree>
    <p:extLst>
      <p:ext uri="{BB962C8B-B14F-4D97-AF65-F5344CB8AC3E}">
        <p14:creationId xmlns:p14="http://schemas.microsoft.com/office/powerpoint/2010/main" val="49218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1614619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378837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3F55857-3EC6-8FE3-FB8E-AA2D6945375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Eigenvalues_and_eigenvectors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02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DCC-2219-0BAB-D637-2653B934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9486-55C8-1E83-C07C-51A8D03A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D8DB989-8DE9-D0DE-7F4B-F927980EA39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Eigen Faces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09355"/>
                <a:ext cx="10706705" cy="119663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압축된 얼굴 이미지는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(</m:t>
                        </m:r>
                        <m: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1800" b="1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가중치 벡터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(Weight Vector)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원본 얼굴을 똑같이 재현하기 위해 어떤 주성분 얼굴들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(Eigen Faces)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각각 얼마나 필요한 지를 나타내는 계수들의 집합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Combination of Eigen Faces)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09355"/>
                <a:ext cx="10706705" cy="1196635"/>
              </a:xfrm>
              <a:blipFill>
                <a:blip r:embed="rId2"/>
                <a:stretch>
                  <a:fillRect l="-399" b="-147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DF88BB-1F83-EAAD-283E-E273CA43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96" y="2692308"/>
            <a:ext cx="901235" cy="152464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850887-FA84-6932-78C8-28A48DF0DD23}"/>
              </a:ext>
            </a:extLst>
          </p:cNvPr>
          <p:cNvGrpSpPr/>
          <p:nvPr/>
        </p:nvGrpSpPr>
        <p:grpSpPr>
          <a:xfrm>
            <a:off x="2082717" y="2527857"/>
            <a:ext cx="7366382" cy="3873529"/>
            <a:chOff x="1606168" y="2181196"/>
            <a:chExt cx="7928357" cy="4038740"/>
          </a:xfrm>
        </p:grpSpPr>
        <p:pic>
          <p:nvPicPr>
            <p:cNvPr id="12290" name="Picture 2" descr="Linear Combination of EigenFaces">
              <a:extLst>
                <a:ext uri="{FF2B5EF4-FFF2-40B4-BE49-F238E27FC236}">
                  <a16:creationId xmlns:a16="http://schemas.microsoft.com/office/drawing/2014/main" id="{609C152E-5A52-54CC-DF19-EFAF2DC26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168" y="2524126"/>
              <a:ext cx="7928357" cy="3695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C0D49F6-0D9F-05FF-14AF-A84B40F5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6168" y="2181196"/>
              <a:ext cx="7928357" cy="3429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/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3560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FE13-9092-C73E-699B-0636D625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45650-F2E0-5663-19D7-325C0994E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l"/>
            <a:r>
              <a:rPr lang="en-US" altLang="ko-KR" sz="4800" b="1" cap="none" dirty="0">
                <a:solidFill>
                  <a:schemeClr val="bg1"/>
                </a:solidFill>
              </a:rPr>
              <a:t>Appendix</a:t>
            </a:r>
            <a:br>
              <a:rPr lang="en-US" altLang="ko-KR" b="1" cap="none" dirty="0"/>
            </a:br>
            <a:endParaRPr lang="ko-KR" altLang="en-US" sz="4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354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FE12-CADE-3CD4-F5EB-2CA8EA3C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9F478-37B9-890A-4D8D-08A58DE6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BF502A4-1BEC-FF56-E8CB-9AC07C59264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137CB81-E197-E6C6-6522-135D1F52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475480-0AFE-9953-6938-DD8B251F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55" y="1925794"/>
            <a:ext cx="8307923" cy="43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80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C895-B2D4-20A7-8501-9B8F151C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0E741-02BB-2D6E-FC7F-6ED5637F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572FB77-606D-3A2F-1455-79DD3599AE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D2379D-B916-4C85-D178-E45DB6CB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총변동량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E4CED65-DA9B-3A17-1FD6-A7F2D2F1784C}"/>
              </a:ext>
            </a:extLst>
          </p:cNvPr>
          <p:cNvGrpSpPr/>
          <p:nvPr/>
        </p:nvGrpSpPr>
        <p:grpSpPr>
          <a:xfrm>
            <a:off x="1519921" y="1876425"/>
            <a:ext cx="7024004" cy="4703452"/>
            <a:chOff x="1519921" y="1815282"/>
            <a:chExt cx="6947803" cy="47645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F7673C0-666D-0DFD-DB28-36C8AB20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9921" y="1815282"/>
              <a:ext cx="6947803" cy="47632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C258CFA-D46D-DD63-F476-939B24CF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3510" y="6412222"/>
              <a:ext cx="342930" cy="16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1303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9FCDD-CBFA-66D7-AD9E-AA6AD540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79D24-D41B-D7B3-BCD9-F79ED5970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800" cap="none" dirty="0">
                <a:solidFill>
                  <a:schemeClr val="bg1"/>
                </a:solidFill>
              </a:rPr>
              <a:t>Manifold Learning</a:t>
            </a:r>
            <a:br>
              <a:rPr lang="en-US" altLang="ko-KR" b="1" cap="none" dirty="0"/>
            </a:br>
            <a:endParaRPr lang="ko-KR" altLang="en-US" sz="4800" cap="none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9F60B-DD2B-CE10-C18A-07F6E0EC7DFB}"/>
              </a:ext>
            </a:extLst>
          </p:cNvPr>
          <p:cNvSpPr txBox="1"/>
          <p:nvPr/>
        </p:nvSpPr>
        <p:spPr>
          <a:xfrm>
            <a:off x="1605280" y="3429000"/>
            <a:ext cx="7721600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선형관계를 차원축소</a:t>
            </a:r>
            <a:endParaRPr lang="en-US" altLang="ko-KR" sz="2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Manifold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비선형관계를 차원 축소</a:t>
            </a:r>
          </a:p>
        </p:txBody>
      </p:sp>
    </p:spTree>
    <p:extLst>
      <p:ext uri="{BB962C8B-B14F-4D97-AF65-F5344CB8AC3E}">
        <p14:creationId xmlns:p14="http://schemas.microsoft.com/office/powerpoint/2010/main" val="2672017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0271-03C9-79C4-A8D0-743D4B37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5690C-43CB-3724-856F-06FE1660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331FB-B472-4AEB-20C2-F26C8CDD0265}"/>
              </a:ext>
            </a:extLst>
          </p:cNvPr>
          <p:cNvSpPr txBox="1"/>
          <p:nvPr/>
        </p:nvSpPr>
        <p:spPr>
          <a:xfrm>
            <a:off x="676275" y="285750"/>
            <a:ext cx="3695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manifold-learning</a:t>
            </a:r>
            <a:endParaRPr lang="ko-KR" altLang="en-US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C820A7-E4A5-0C3C-9D54-74EDF093D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" y="1119188"/>
            <a:ext cx="3652837" cy="269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458ACA6-AAE7-BFA8-4963-B2D28B84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3894175"/>
            <a:ext cx="3652837" cy="27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5172D9A-6121-3150-113F-9DC135D45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977528"/>
            <a:ext cx="3271838" cy="27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48F0B0A6-5055-CDF7-767B-3FFD2620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3894175"/>
            <a:ext cx="3271838" cy="27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830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940E-B85D-7B3C-FEDB-FF455975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00A08D-D2DD-BAD3-B37D-8F4C5E30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0FC88-D33D-DE73-67F6-F47F1029A4DD}"/>
              </a:ext>
            </a:extLst>
          </p:cNvPr>
          <p:cNvSpPr txBox="1"/>
          <p:nvPr/>
        </p:nvSpPr>
        <p:spPr>
          <a:xfrm>
            <a:off x="676275" y="285750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Linear manifold-learning</a:t>
            </a:r>
            <a:endParaRPr lang="ko-KR" altLang="en-US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28666C-BA30-3586-383F-211CFD90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71638"/>
            <a:ext cx="4286250" cy="415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8A96B4B-2995-323E-8E35-78602B2F1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2" y="2082316"/>
            <a:ext cx="4538062" cy="332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425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F983-F86D-6D96-7178-B287B5AD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937B1-8899-C4BB-E3DB-4847EF7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52250-F92A-1FC4-0C6C-35F2C9B7EEE7}"/>
              </a:ext>
            </a:extLst>
          </p:cNvPr>
          <p:cNvSpPr txBox="1"/>
          <p:nvPr/>
        </p:nvSpPr>
        <p:spPr>
          <a:xfrm>
            <a:off x="609600" y="523875"/>
            <a:ext cx="6684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Nonlinear dimensionality reduction</a:t>
            </a:r>
            <a:r>
              <a:rPr lang="en-US" altLang="ko-KR" sz="2800" dirty="0"/>
              <a:t>: </a:t>
            </a:r>
            <a:r>
              <a:rPr lang="en-US" altLang="ko-KR" sz="2800" dirty="0" err="1"/>
              <a:t>wikipedia</a:t>
            </a:r>
            <a:endParaRPr lang="ko-KR" altLang="en-US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7BCA5DA-5050-4E15-4636-E51145267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229311"/>
            <a:ext cx="6618503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851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183E-D86D-7EC7-A480-27281857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0ACE3-DEAD-E822-D073-769C98BE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1F4453-9290-47E2-4FB4-00DD0A6CB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038811"/>
            <a:ext cx="5494157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23143-447F-B9DB-9103-FA4BBF090144}"/>
              </a:ext>
            </a:extLst>
          </p:cNvPr>
          <p:cNvSpPr txBox="1"/>
          <p:nvPr/>
        </p:nvSpPr>
        <p:spPr>
          <a:xfrm>
            <a:off x="676275" y="285750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Linear manifold-learning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64753871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2724</TotalTime>
  <Words>1564</Words>
  <Application>Microsoft Office PowerPoint</Application>
  <PresentationFormat>와이드스크린</PresentationFormat>
  <Paragraphs>203</Paragraphs>
  <Slides>37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53" baseType="lpstr">
      <vt:lpstr>D2Coding</vt:lpstr>
      <vt:lpstr>나눔고딕</vt:lpstr>
      <vt:lpstr>맑은 고딕</vt:lpstr>
      <vt:lpstr>맑은 고딕 Semilight</vt:lpstr>
      <vt:lpstr>Batang</vt:lpstr>
      <vt:lpstr>한컴 말랑말랑 Bold</vt:lpstr>
      <vt:lpstr>ADLaM Display</vt:lpstr>
      <vt:lpstr>Aptos Narrow</vt:lpstr>
      <vt:lpstr>Arial</vt:lpstr>
      <vt:lpstr>Calibri Light</vt:lpstr>
      <vt:lpstr>Cambria Math</vt:lpstr>
      <vt:lpstr>Segoe UI Light</vt:lpstr>
      <vt:lpstr>Times New Roman</vt:lpstr>
      <vt:lpstr>Tw Cen MT</vt:lpstr>
      <vt:lpstr>Wingdings</vt:lpstr>
      <vt:lpstr>물방울</vt:lpstr>
      <vt:lpstr>Principal Component Analysis</vt:lpstr>
      <vt:lpstr>선형대수(linear algebra)</vt:lpstr>
      <vt:lpstr>PowerPoint 프레젠테이션</vt:lpstr>
      <vt:lpstr>1차원 직선에서의 선형변환</vt:lpstr>
      <vt:lpstr>2차원 평면에서의 선형변환</vt:lpstr>
      <vt:lpstr>2차원 평면에서의 선형변환</vt:lpstr>
      <vt:lpstr>2차원 평면에서의 선형변환에 대해 생각하기</vt:lpstr>
      <vt:lpstr>2차원 평면에서의 선형변환에 대해 생각하기</vt:lpstr>
      <vt:lpstr>Hands-on</vt:lpstr>
      <vt:lpstr>PowerPoint 프레젠테이션</vt:lpstr>
      <vt:lpstr>PowerPoint 프레젠테이션</vt:lpstr>
      <vt:lpstr>기하학적 이해</vt:lpstr>
      <vt:lpstr>선형변환</vt:lpstr>
      <vt:lpstr>행렬과 내적은 선형변환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Compressing Images – Reducing rank by random choice of features</vt:lpstr>
      <vt:lpstr>Compressing Images – Reducing rank by SVD, PCA</vt:lpstr>
      <vt:lpstr>총변동량(Total Variance) of Matrix</vt:lpstr>
      <vt:lpstr>PowerPoint 프레젠테이션</vt:lpstr>
      <vt:lpstr>PowerPoint 프레젠테이션</vt:lpstr>
      <vt:lpstr>Total Variance of Matrix</vt:lpstr>
      <vt:lpstr>PowerPoint 프레젠테이션</vt:lpstr>
      <vt:lpstr>PowerPoint 프레젠테이션</vt:lpstr>
      <vt:lpstr>Appendix </vt:lpstr>
      <vt:lpstr>PowerPoint 프레젠테이션</vt:lpstr>
      <vt:lpstr>PowerPoint 프레젠테이션</vt:lpstr>
      <vt:lpstr>Manifold Learning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51</cp:revision>
  <dcterms:created xsi:type="dcterms:W3CDTF">2026-03-09T22:59:08Z</dcterms:created>
  <dcterms:modified xsi:type="dcterms:W3CDTF">2026-04-27T14:14:28Z</dcterms:modified>
</cp:coreProperties>
</file>