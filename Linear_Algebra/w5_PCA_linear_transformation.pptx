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5"/>
  </p:notesMasterIdLst>
  <p:sldIdLst>
    <p:sldId id="928" r:id="rId2"/>
    <p:sldId id="291" r:id="rId3"/>
    <p:sldId id="925" r:id="rId4"/>
    <p:sldId id="265" r:id="rId5"/>
    <p:sldId id="271" r:id="rId6"/>
    <p:sldId id="819" r:id="rId7"/>
    <p:sldId id="820" r:id="rId8"/>
    <p:sldId id="275" r:id="rId9"/>
    <p:sldId id="276" r:id="rId10"/>
    <p:sldId id="272" r:id="rId11"/>
    <p:sldId id="279" r:id="rId12"/>
    <p:sldId id="270" r:id="rId13"/>
    <p:sldId id="259" r:id="rId14"/>
    <p:sldId id="912" r:id="rId15"/>
    <p:sldId id="288" r:id="rId16"/>
    <p:sldId id="913" r:id="rId17"/>
    <p:sldId id="268" r:id="rId18"/>
    <p:sldId id="260" r:id="rId19"/>
    <p:sldId id="818" r:id="rId20"/>
    <p:sldId id="927" r:id="rId21"/>
    <p:sldId id="891" r:id="rId22"/>
    <p:sldId id="295" r:id="rId23"/>
    <p:sldId id="936" r:id="rId24"/>
    <p:sldId id="937" r:id="rId25"/>
    <p:sldId id="935" r:id="rId26"/>
    <p:sldId id="296" r:id="rId27"/>
    <p:sldId id="938" r:id="rId28"/>
    <p:sldId id="905" r:id="rId29"/>
    <p:sldId id="906" r:id="rId30"/>
    <p:sldId id="939" r:id="rId31"/>
    <p:sldId id="929" r:id="rId32"/>
    <p:sldId id="267" r:id="rId33"/>
    <p:sldId id="899" r:id="rId34"/>
    <p:sldId id="893" r:id="rId35"/>
    <p:sldId id="898" r:id="rId36"/>
    <p:sldId id="897" r:id="rId37"/>
    <p:sldId id="892" r:id="rId38"/>
    <p:sldId id="900" r:id="rId39"/>
    <p:sldId id="930" r:id="rId40"/>
    <p:sldId id="931" r:id="rId41"/>
    <p:sldId id="933" r:id="rId42"/>
    <p:sldId id="934" r:id="rId43"/>
    <p:sldId id="932" r:id="rId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1651" autoAdjust="0"/>
    <p:restoredTop sz="94660"/>
  </p:normalViewPr>
  <p:slideViewPr>
    <p:cSldViewPr snapToGrid="0">
      <p:cViewPr varScale="1">
        <p:scale>
          <a:sx n="80" d="100"/>
          <a:sy n="80" d="100"/>
        </p:scale>
        <p:origin x="936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2026-04-19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6E429-4172-0104-4675-020C6DB26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3B268A-27EA-A185-235C-9DD3CFED8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6346312-6FC9-F192-3682-1DC69CA94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FCCD70-DED8-361A-60D8-0D306AF366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144417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5D971-B96D-3C87-EA72-2097AD36A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0E5A10-BBA5-DE01-E931-A33CFCAD2D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2DC122-3424-6FCF-5F6A-75AE8E7F0A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113647-1CAA-0F8A-00F3-36C15B55CD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9893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3B44B-8C3C-15DA-CFDA-A2A268139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6A1293-FECC-E061-1869-4D8425FA26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747287-C00D-C5D5-93DA-791514553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405F7D-4517-7AA7-228B-557CB7D5DB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938571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A1DFF-B1CB-D074-2A32-2BEB0E507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42E236-F301-84AA-346A-C49A97B645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C1BCC40-A8D7-89AD-154A-41A945C235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CE1682-0203-80CE-6796-B834EA3B1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10362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E415E-8B44-1DBF-87D1-383CE6FF6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51726C8-A4CA-4791-A278-2B3BDC1EF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3E6F32-BACA-53F1-947F-3723994FD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5F70F2-B462-852F-2EAA-C77B092D5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30468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9B9C9-2D48-710A-0B89-6C46FD8E0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CAFBAF-F04D-9DAA-227B-7416948893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11A48BC-D34C-4667-1DB8-3BD04FCC5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AA299D-E54C-B666-3D7C-F0381936F0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239181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72862-1A4B-6638-993F-A73E43F1F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5BAB6C-AACF-CC7E-6FD7-3AFC1F995C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7C40492-4359-487E-09E0-50D494910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D5469-4301-F37A-C47B-C09F7641B5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70892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E9333-3F5E-BD10-3255-38A0403B0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F17854-DA01-91EC-BEB1-DFFAEEBF21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3AA8CD-D0E3-77C6-AA39-3D5BFA7D0C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A27029-6F14-2C6D-3E56-C26440537C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324260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76707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41831952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2026-04-19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6324817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  <p:sldLayoutId id="2147483670" r:id="rId19"/>
    <p:sldLayoutId id="2147483671" r:id="rId20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youtube.com/watch?v=fNk_zzaMoSs&amp;list=PLZHQObOWTQDPD3MizzM2xVFitgF8hE_a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3" Type="http://schemas.openxmlformats.org/officeDocument/2006/relationships/image" Target="../media/image230.png"/><Relationship Id="rId7" Type="http://schemas.openxmlformats.org/officeDocument/2006/relationships/image" Target="../media/image27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1.png"/><Relationship Id="rId5" Type="http://schemas.openxmlformats.org/officeDocument/2006/relationships/image" Target="../media/image250.png"/><Relationship Id="rId10" Type="http://schemas.openxmlformats.org/officeDocument/2006/relationships/image" Target="../media/image302.png"/><Relationship Id="rId4" Type="http://schemas.openxmlformats.org/officeDocument/2006/relationships/image" Target="../media/image240.png"/><Relationship Id="rId9" Type="http://schemas.openxmlformats.org/officeDocument/2006/relationships/image" Target="../media/image29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301.png"/><Relationship Id="rId7" Type="http://schemas.openxmlformats.org/officeDocument/2006/relationships/image" Target="../media/image34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0.png"/><Relationship Id="rId5" Type="http://schemas.openxmlformats.org/officeDocument/2006/relationships/image" Target="../media/image320.png"/><Relationship Id="rId10" Type="http://schemas.openxmlformats.org/officeDocument/2006/relationships/image" Target="../media/image371.png"/><Relationship Id="rId4" Type="http://schemas.openxmlformats.org/officeDocument/2006/relationships/image" Target="../media/image311.png"/><Relationship Id="rId9" Type="http://schemas.openxmlformats.org/officeDocument/2006/relationships/image" Target="../media/image36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0.png"/><Relationship Id="rId4" Type="http://schemas.openxmlformats.org/officeDocument/2006/relationships/image" Target="../media/image28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270.png"/><Relationship Id="rId7" Type="http://schemas.openxmlformats.org/officeDocument/2006/relationships/image" Target="../media/image17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10" Type="http://schemas.openxmlformats.org/officeDocument/2006/relationships/image" Target="../media/image370.png"/><Relationship Id="rId4" Type="http://schemas.openxmlformats.org/officeDocument/2006/relationships/image" Target="../media/image310.png"/><Relationship Id="rId9" Type="http://schemas.openxmlformats.org/officeDocument/2006/relationships/image" Target="../media/image36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0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cipesds.tistory.com/entry/%EC%B4%88%EA%B0%84%EB%8B%A8-%EC%84%A0%ED%98%95%EB%8C%80%EC%88%98-%ED%96%89%EB%A0%AC%EC%9D%98-%EA%B8%B0%ED%95%98%ED%95%99%EC%A0%81%EC%9D%B8-%EC%9D%98%EB%AF%B8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gif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Eigenvalues_and_eigenvectors" TargetMode="Externa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numiqo.com/lab/pca" TargetMode="External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12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hyperlink" Target="https://jakevdp.github.io/PythonDataScienceHandbook/05.10-manifold-learning.html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hyperlink" Target="https://jakevdp.github.io/PythonDataScienceHandbook/05.10-manifold-learning.html" TargetMode="Externa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hyperlink" Target="https://en.wikipedia.org/wiki/Nonlinear_dimensionality_reduction" TargetMode="External"/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/05.10-manifold-learning.html" TargetMode="External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cap="none" dirty="0">
                <a:solidFill>
                  <a:schemeClr val="bg1"/>
                </a:solidFill>
              </a:rPr>
              <a:t>Principal Component Analysis</a:t>
            </a:r>
            <a:endParaRPr lang="ko-KR" altLang="en-US" sz="4800" cap="none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pPr marL="0" indent="0">
              <a:buNone/>
            </a:pPr>
            <a:r>
              <a:rPr lang="en-US" altLang="ko-KR" sz="2400" cap="none" dirty="0">
                <a:solidFill>
                  <a:schemeClr val="bg1"/>
                </a:solidFill>
              </a:rPr>
              <a:t>Eigen value, Eigen Vector</a:t>
            </a:r>
            <a:endParaRPr lang="ko-KR" altLang="en-US" sz="2400" cap="none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8DA01-A99B-61BF-C97A-C1A5B76EE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598281-CD11-B99F-2C6A-35C343FE5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A373E53-19CA-74B5-49AE-464E7176A62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“벡터와 행렬을 이용해 ‘선형 관계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relationship)’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‘공간의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변환’을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다루는 학문”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동영상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장까지 사전학습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990304-2C81-BE6E-89E5-F6D9190D9914}"/>
              </a:ext>
            </a:extLst>
          </p:cNvPr>
          <p:cNvSpPr txBox="1"/>
          <p:nvPr/>
        </p:nvSpPr>
        <p:spPr>
          <a:xfrm>
            <a:off x="1409700" y="2515058"/>
            <a:ext cx="38130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Essence of linear algebra</a:t>
            </a:r>
            <a:endParaRPr lang="ko-KR" altLang="en-US" sz="28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A8879A5-87AD-8D96-775A-B094426E6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325" y="3116426"/>
            <a:ext cx="3038775" cy="295137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841D3EF-810D-D94A-03B8-586E28C1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700" y="3116426"/>
            <a:ext cx="4487741" cy="294615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C538A5-1423-86C7-259F-7E5AF2848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42000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934FC-E499-F18D-86F6-87717BA53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F12D521-939C-02F3-30BA-6F660253FE91}"/>
              </a:ext>
            </a:extLst>
          </p:cNvPr>
          <p:cNvSpPr/>
          <p:nvPr/>
        </p:nvSpPr>
        <p:spPr>
          <a:xfrm>
            <a:off x="579371" y="1924050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60960E-8C55-FC63-C8CD-F10F1DFFA9A0}"/>
              </a:ext>
            </a:extLst>
          </p:cNvPr>
          <p:cNvSpPr txBox="1"/>
          <p:nvPr/>
        </p:nvSpPr>
        <p:spPr>
          <a:xfrm>
            <a:off x="1629916" y="147612"/>
            <a:ext cx="8928992" cy="2933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주성분분석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(PCA)</a:t>
            </a:r>
          </a:p>
        </p:txBody>
      </p:sp>
    </p:spTree>
    <p:extLst>
      <p:ext uri="{BB962C8B-B14F-4D97-AF65-F5344CB8AC3E}">
        <p14:creationId xmlns:p14="http://schemas.microsoft.com/office/powerpoint/2010/main" val="3340020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293B-460C-9230-F381-B0364AA3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30AE2C-28FF-1039-9A16-E84B181FB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D4C64AF-EF0E-EBD8-8093-7DE3D6BBB899}"/>
              </a:ext>
            </a:extLst>
          </p:cNvPr>
          <p:cNvCxnSpPr>
            <a:cxnSpLocks/>
          </p:cNvCxnSpPr>
          <p:nvPr/>
        </p:nvCxnSpPr>
        <p:spPr>
          <a:xfrm>
            <a:off x="361325" y="3629309"/>
            <a:ext cx="508697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8D289A-2471-E2AE-B6E6-B49E2097CF5D}"/>
              </a:ext>
            </a:extLst>
          </p:cNvPr>
          <p:cNvSpPr txBox="1"/>
          <p:nvPr/>
        </p:nvSpPr>
        <p:spPr>
          <a:xfrm>
            <a:off x="228600" y="370550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A44CD66-B49C-B14B-F5CB-619727F2029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867086" y="2591736"/>
            <a:ext cx="5668613" cy="325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6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4A1CC-8648-9F67-9936-401B49A3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92634D-69DE-B1FA-0C1A-E45A7D841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B52E407F-6FCE-2AF3-B4C9-590554943A06}"/>
              </a:ext>
            </a:extLst>
          </p:cNvPr>
          <p:cNvGrpSpPr/>
          <p:nvPr/>
        </p:nvGrpSpPr>
        <p:grpSpPr>
          <a:xfrm>
            <a:off x="2286315" y="2000250"/>
            <a:ext cx="5219700" cy="4730560"/>
            <a:chOff x="2286315" y="2000250"/>
            <a:chExt cx="5219700" cy="4730560"/>
          </a:xfrm>
        </p:grpSpPr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8F7EF1AA-F153-6183-97D0-69F9B4F583E3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5086975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B202B12-A258-8108-186D-F5C99EE6F804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3" name="직선 연결선 2">
              <a:extLst>
                <a:ext uri="{FF2B5EF4-FFF2-40B4-BE49-F238E27FC236}">
                  <a16:creationId xmlns:a16="http://schemas.microsoft.com/office/drawing/2014/main" id="{ACFDE16B-292D-CEE7-D26B-874B0FDAC37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025460"/>
              <a:ext cx="0" cy="4480115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889A9A-9BF1-DC08-AE34-A7451EE113CD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962EAC99-6513-A21E-6BBF-96E1779712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2353" y="2000250"/>
              <a:ext cx="2419350" cy="4305908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1BC578CA-2FF6-CF4B-98EE-2B1A44B150DD}"/>
              </a:ext>
            </a:extLst>
          </p:cNvPr>
          <p:cNvSpPr/>
          <p:nvPr/>
        </p:nvSpPr>
        <p:spPr>
          <a:xfrm>
            <a:off x="5036255" y="3333500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내용 개체 틀 3">
            <a:extLst>
              <a:ext uri="{FF2B5EF4-FFF2-40B4-BE49-F238E27FC236}">
                <a16:creationId xmlns:a16="http://schemas.microsoft.com/office/drawing/2014/main" id="{13052355-1119-0517-A20A-A305BD682AA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915466" y="1932871"/>
            <a:ext cx="2036761" cy="13025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/>
              <p:nvPr/>
            </p:nvSpPr>
            <p:spPr>
              <a:xfrm>
                <a:off x="5269364" y="3575707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9364" y="3575707"/>
                <a:ext cx="1217320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A27F945-2837-878D-1E14-9A8919FBB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5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6127009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76DF6-FB18-4294-55E9-C6DBA31A5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내용 개체 틀 3">
            <a:extLst>
              <a:ext uri="{FF2B5EF4-FFF2-40B4-BE49-F238E27FC236}">
                <a16:creationId xmlns:a16="http://schemas.microsoft.com/office/drawing/2014/main" id="{129CA579-ACE9-8864-C8FC-DB2CB0CF6750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622754" y="2219501"/>
            <a:ext cx="2036761" cy="130258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59A9540-1A43-29C2-FDDD-0FC6C798C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41751FB-CCED-D8B7-A89F-2C9659857CB8}"/>
              </a:ext>
            </a:extLst>
          </p:cNvPr>
          <p:cNvGrpSpPr/>
          <p:nvPr/>
        </p:nvGrpSpPr>
        <p:grpSpPr>
          <a:xfrm>
            <a:off x="228915" y="2013945"/>
            <a:ext cx="5219700" cy="4730560"/>
            <a:chOff x="2286315" y="2000250"/>
            <a:chExt cx="5219700" cy="4730560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AF931236-F7E9-00A7-B658-C585F7F5A16B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5086975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237D04F-3639-48C8-2FB6-4B4C978881E0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3C1372A1-72AD-FF90-5EDE-A9675328608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025460"/>
              <a:ext cx="0" cy="4480115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40E2898-EE5A-3D43-1F94-A94D6D1B5225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B198DBB6-2805-CBDB-BED2-D6F2E99DDD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2353" y="2000250"/>
              <a:ext cx="2419350" cy="4305908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D6A4DB8-F24A-7254-51A8-F5FB6291CB29}"/>
              </a:ext>
            </a:extLst>
          </p:cNvPr>
          <p:cNvSpPr/>
          <p:nvPr/>
        </p:nvSpPr>
        <p:spPr>
          <a:xfrm>
            <a:off x="2978855" y="3347195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/>
              <p:nvPr/>
            </p:nvSpPr>
            <p:spPr>
              <a:xfrm>
                <a:off x="3131468" y="3617062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468" y="3617062"/>
                <a:ext cx="1217320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/>
              <p:nvPr/>
            </p:nvSpPr>
            <p:spPr>
              <a:xfrm>
                <a:off x="6792116" y="2214694"/>
                <a:ext cx="3352456" cy="13390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48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48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4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4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4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2214694"/>
                <a:ext cx="3352456" cy="13390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/>
              <p:nvPr/>
            </p:nvSpPr>
            <p:spPr>
              <a:xfrm>
                <a:off x="5448615" y="3986394"/>
                <a:ext cx="44435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8615" y="3986394"/>
                <a:ext cx="444352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/>
              <p:nvPr/>
            </p:nvSpPr>
            <p:spPr>
              <a:xfrm>
                <a:off x="2745191" y="1723062"/>
                <a:ext cx="4507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5191" y="1723062"/>
                <a:ext cx="450764" cy="461665"/>
              </a:xfrm>
              <a:prstGeom prst="rect">
                <a:avLst/>
              </a:prstGeom>
              <a:blipFill>
                <a:blip r:embed="rId6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타원 35">
            <a:extLst>
              <a:ext uri="{FF2B5EF4-FFF2-40B4-BE49-F238E27FC236}">
                <a16:creationId xmlns:a16="http://schemas.microsoft.com/office/drawing/2014/main" id="{A198A072-9A80-F113-3D6E-1A73198F53F6}"/>
              </a:ext>
            </a:extLst>
          </p:cNvPr>
          <p:cNvSpPr/>
          <p:nvPr/>
        </p:nvSpPr>
        <p:spPr>
          <a:xfrm>
            <a:off x="8346847" y="2041167"/>
            <a:ext cx="687578" cy="1700805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AF8F0BE2-B48C-FF81-58BB-7A85CE8092B1}"/>
              </a:ext>
            </a:extLst>
          </p:cNvPr>
          <p:cNvSpPr/>
          <p:nvPr/>
        </p:nvSpPr>
        <p:spPr>
          <a:xfrm>
            <a:off x="9148418" y="2020388"/>
            <a:ext cx="687578" cy="17008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/>
              <p:nvPr/>
            </p:nvSpPr>
            <p:spPr>
              <a:xfrm>
                <a:off x="6792116" y="4586427"/>
                <a:ext cx="203106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00B05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ko-KR" altLang="en-US" sz="2400" b="1" dirty="0">
                    <a:solidFill>
                      <a:srgbClr val="00B05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00B050"/>
                    </a:solidFill>
                  </a:rPr>
                  <a:t>lands</a:t>
                </a:r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4586427"/>
                <a:ext cx="2031069" cy="461665"/>
              </a:xfrm>
              <a:prstGeom prst="rect">
                <a:avLst/>
              </a:prstGeom>
              <a:blipFill>
                <a:blip r:embed="rId7"/>
                <a:stretch>
                  <a:fillRect l="-4505" t="-10526" r="-3904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/>
              <p:nvPr/>
            </p:nvSpPr>
            <p:spPr>
              <a:xfrm>
                <a:off x="9174517" y="4577707"/>
                <a:ext cx="203748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FF000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ko-KR" alt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FF0000"/>
                    </a:solidFill>
                  </a:rPr>
                  <a:t>lands</a:t>
                </a:r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4517" y="4577707"/>
                <a:ext cx="2037481" cy="461665"/>
              </a:xfrm>
              <a:prstGeom prst="rect">
                <a:avLst/>
              </a:prstGeom>
              <a:blipFill>
                <a:blip r:embed="rId8"/>
                <a:stretch>
                  <a:fillRect l="-4491" t="-10526" r="-3892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9D458F58-935A-1653-73BC-4F5FF3AFBF2A}"/>
              </a:ext>
            </a:extLst>
          </p:cNvPr>
          <p:cNvCxnSpPr>
            <a:cxnSpLocks/>
          </p:cNvCxnSpPr>
          <p:nvPr/>
        </p:nvCxnSpPr>
        <p:spPr>
          <a:xfrm flipV="1">
            <a:off x="8056207" y="3726137"/>
            <a:ext cx="570365" cy="8989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51E6DBA1-4305-2ABF-E831-B71B539AECE9}"/>
              </a:ext>
            </a:extLst>
          </p:cNvPr>
          <p:cNvCxnSpPr>
            <a:cxnSpLocks/>
          </p:cNvCxnSpPr>
          <p:nvPr/>
        </p:nvCxnSpPr>
        <p:spPr>
          <a:xfrm flipH="1" flipV="1">
            <a:off x="9491715" y="3725751"/>
            <a:ext cx="688561" cy="88229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2FA667-22C4-F733-94C5-5665AFC1CBEA}"/>
                  </a:ext>
                </a:extLst>
              </p:cNvPr>
              <p:cNvSpPr txBox="1"/>
              <p:nvPr/>
            </p:nvSpPr>
            <p:spPr>
              <a:xfrm>
                <a:off x="7139056" y="5164622"/>
                <a:ext cx="14045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+mj-ea"/>
                      </a:rPr>
                      <m:t>𝑥</m:t>
                    </m:r>
                  </m:oMath>
                </a14:m>
                <a:r>
                  <a:rPr lang="ko-KR" altLang="en-US" dirty="0">
                    <a:solidFill>
                      <a:srgbClr val="00B050"/>
                    </a:solidFill>
                    <a:latin typeface="+mj-ea"/>
                    <a:ea typeface="+mj-ea"/>
                  </a:rPr>
                  <a:t> 축에 투영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2FA667-22C4-F733-94C5-5665AFC1C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9056" y="5164622"/>
                <a:ext cx="1404552" cy="369332"/>
              </a:xfrm>
              <a:prstGeom prst="rect">
                <a:avLst/>
              </a:prstGeom>
              <a:blipFill>
                <a:blip r:embed="rId9"/>
                <a:stretch>
                  <a:fillRect t="-8197" r="-3030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E9DDAA-096C-A1BE-1D87-A2DAACF6D2A9}"/>
                  </a:ext>
                </a:extLst>
              </p:cNvPr>
              <p:cNvSpPr txBox="1"/>
              <p:nvPr/>
            </p:nvSpPr>
            <p:spPr>
              <a:xfrm>
                <a:off x="9516927" y="5164622"/>
                <a:ext cx="14093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+mj-ea"/>
                      </a:rPr>
                      <m:t>𝑦</m:t>
                    </m:r>
                  </m:oMath>
                </a14:m>
                <a:r>
                  <a:rPr lang="ko-KR" altLang="en-US" dirty="0">
                    <a:solidFill>
                      <a:srgbClr val="FF0000"/>
                    </a:solidFill>
                    <a:latin typeface="+mj-ea"/>
                    <a:ea typeface="+mj-ea"/>
                  </a:rPr>
                  <a:t> 축에</a:t>
                </a:r>
                <a:r>
                  <a:rPr lang="en-US" altLang="ko-KR" dirty="0">
                    <a:solidFill>
                      <a:srgbClr val="FF0000"/>
                    </a:solidFill>
                    <a:latin typeface="+mj-ea"/>
                    <a:ea typeface="+mj-ea"/>
                  </a:rPr>
                  <a:t> </a:t>
                </a:r>
                <a:r>
                  <a:rPr lang="ko-KR" altLang="en-US" dirty="0">
                    <a:solidFill>
                      <a:srgbClr val="FF0000"/>
                    </a:solidFill>
                    <a:latin typeface="+mj-ea"/>
                    <a:ea typeface="+mj-ea"/>
                  </a:rPr>
                  <a:t>투영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E9DDAA-096C-A1BE-1D87-A2DAACF6D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6927" y="5164622"/>
                <a:ext cx="1409360" cy="369332"/>
              </a:xfrm>
              <a:prstGeom prst="rect">
                <a:avLst/>
              </a:prstGeom>
              <a:blipFill>
                <a:blip r:embed="rId10"/>
                <a:stretch>
                  <a:fillRect t="-8197" r="-3463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6709EDC-A34A-45F5-7DEA-B64FDB647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6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8331539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B6047-1098-D4A9-F3E4-BF4B5CC04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66DE6C-07CA-F0F1-E6D9-13C50AF82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4BB8FF3-4604-4774-4B17-379BC3468D0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792116" y="4017793"/>
            <a:ext cx="4805524" cy="1389766"/>
          </a:xfrm>
          <a:prstGeom prst="rect">
            <a:avLst/>
          </a:prstGeom>
        </p:spPr>
      </p:pic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5B7846-3221-540A-BE0D-265F91EC9DCF}"/>
              </a:ext>
            </a:extLst>
          </p:cNvPr>
          <p:cNvGrpSpPr/>
          <p:nvPr/>
        </p:nvGrpSpPr>
        <p:grpSpPr>
          <a:xfrm>
            <a:off x="171140" y="2021434"/>
            <a:ext cx="5086975" cy="4480115"/>
            <a:chOff x="2228540" y="2007739"/>
            <a:chExt cx="5086975" cy="4480115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E4A685D7-7142-7FF7-0385-F3B28E3CA7AF}"/>
                </a:ext>
              </a:extLst>
            </p:cNvPr>
            <p:cNvCxnSpPr>
              <a:cxnSpLocks/>
            </p:cNvCxnSpPr>
            <p:nvPr/>
          </p:nvCxnSpPr>
          <p:spPr>
            <a:xfrm>
              <a:off x="2228540" y="5455075"/>
              <a:ext cx="5086975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60C97EA0-D6BC-35AD-7E07-12F4B4482B87}"/>
                </a:ext>
              </a:extLst>
            </p:cNvPr>
            <p:cNvCxnSpPr>
              <a:cxnSpLocks/>
            </p:cNvCxnSpPr>
            <p:nvPr/>
          </p:nvCxnSpPr>
          <p:spPr>
            <a:xfrm>
              <a:off x="3914778" y="2007739"/>
              <a:ext cx="0" cy="448011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F3CC60D-3812-9308-967F-3D2A15B26A06}"/>
              </a:ext>
            </a:extLst>
          </p:cNvPr>
          <p:cNvSpPr/>
          <p:nvPr/>
        </p:nvSpPr>
        <p:spPr>
          <a:xfrm>
            <a:off x="2038347" y="5074071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/>
              <p:nvPr/>
            </p:nvSpPr>
            <p:spPr>
              <a:xfrm>
                <a:off x="2306830" y="4965183"/>
                <a:ext cx="2061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6830" y="4965183"/>
                <a:ext cx="2061077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/>
              <p:nvPr/>
            </p:nvSpPr>
            <p:spPr>
              <a:xfrm>
                <a:off x="4929940" y="5103010"/>
                <a:ext cx="35779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16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940" y="5103010"/>
                <a:ext cx="357790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/>
              <p:nvPr/>
            </p:nvSpPr>
            <p:spPr>
              <a:xfrm>
                <a:off x="1307329" y="1854736"/>
                <a:ext cx="3834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7329" y="1854736"/>
                <a:ext cx="383438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F42118F-F82A-7332-0FAC-BA17BA95771E}"/>
              </a:ext>
            </a:extLst>
          </p:cNvPr>
          <p:cNvCxnSpPr>
            <a:cxnSpLocks/>
          </p:cNvCxnSpPr>
          <p:nvPr/>
        </p:nvCxnSpPr>
        <p:spPr>
          <a:xfrm flipH="1">
            <a:off x="1660986" y="1662825"/>
            <a:ext cx="938932" cy="470993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9513CA9-1FF2-667A-7575-59ED74DD0EDD}"/>
              </a:ext>
            </a:extLst>
          </p:cNvPr>
          <p:cNvGrpSpPr/>
          <p:nvPr/>
        </p:nvGrpSpPr>
        <p:grpSpPr>
          <a:xfrm>
            <a:off x="363921" y="4476615"/>
            <a:ext cx="1354218" cy="787525"/>
            <a:chOff x="6655650" y="2150299"/>
            <a:chExt cx="1692562" cy="11038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/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ko-KR" altLang="en-US" sz="360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FF91148E-CDA5-C323-15C9-30E0A0313DA4}"/>
                </a:ext>
              </a:extLst>
            </p:cNvPr>
            <p:cNvSpPr/>
            <p:nvPr/>
          </p:nvSpPr>
          <p:spPr>
            <a:xfrm>
              <a:off x="7834763" y="2150299"/>
              <a:ext cx="420323" cy="1103812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1DE10634-30DE-1535-F053-C155E2687217}"/>
                </a:ext>
              </a:extLst>
            </p:cNvPr>
            <p:cNvSpPr/>
            <p:nvPr/>
          </p:nvSpPr>
          <p:spPr>
            <a:xfrm>
              <a:off x="7364141" y="2150299"/>
              <a:ext cx="443256" cy="1103812"/>
            </a:xfrm>
            <a:prstGeom prst="ellipse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</p:grp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32D8F7B-60F2-055B-F150-41CD16A22885}"/>
              </a:ext>
            </a:extLst>
          </p:cNvPr>
          <p:cNvCxnSpPr>
            <a:cxnSpLocks/>
          </p:cNvCxnSpPr>
          <p:nvPr/>
        </p:nvCxnSpPr>
        <p:spPr>
          <a:xfrm flipH="1">
            <a:off x="1261516" y="2304898"/>
            <a:ext cx="2830430" cy="4025469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/>
              <p:nvPr/>
            </p:nvSpPr>
            <p:spPr>
              <a:xfrm>
                <a:off x="3995368" y="2367847"/>
                <a:ext cx="1687578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=(2,3)</m:t>
                      </m:r>
                    </m:oMath>
                  </m:oMathPara>
                </a14:m>
                <a:endParaRPr lang="ko-KR" altLang="en-US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368" y="2367847"/>
                <a:ext cx="1687578" cy="377219"/>
              </a:xfrm>
              <a:prstGeom prst="rect">
                <a:avLst/>
              </a:prstGeom>
              <a:blipFill>
                <a:blip r:embed="rId7"/>
                <a:stretch>
                  <a:fillRect t="-8065" b="-145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/>
              <p:nvPr/>
            </p:nvSpPr>
            <p:spPr>
              <a:xfrm>
                <a:off x="1954485" y="1879697"/>
                <a:ext cx="1690976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=(1,4)</m:t>
                      </m:r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4485" y="1879697"/>
                <a:ext cx="1690976" cy="377219"/>
              </a:xfrm>
              <a:prstGeom prst="rect">
                <a:avLst/>
              </a:prstGeom>
              <a:blipFill>
                <a:blip r:embed="rId8"/>
                <a:stretch>
                  <a:fillRect t="-8065" b="-145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직사각형 16">
            <a:extLst>
              <a:ext uri="{FF2B5EF4-FFF2-40B4-BE49-F238E27FC236}">
                <a16:creationId xmlns:a16="http://schemas.microsoft.com/office/drawing/2014/main" id="{C26B9350-ECBC-D96D-85CF-14BC15D81B2E}"/>
              </a:ext>
            </a:extLst>
          </p:cNvPr>
          <p:cNvSpPr/>
          <p:nvPr/>
        </p:nvSpPr>
        <p:spPr>
          <a:xfrm>
            <a:off x="2599918" y="3337474"/>
            <a:ext cx="260349" cy="24220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/>
              <p:nvPr/>
            </p:nvSpPr>
            <p:spPr>
              <a:xfrm>
                <a:off x="2860267" y="3254111"/>
                <a:ext cx="18203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=(4, 11)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0267" y="3254111"/>
                <a:ext cx="1820370" cy="369332"/>
              </a:xfrm>
              <a:prstGeom prst="rect">
                <a:avLst/>
              </a:prstGeom>
              <a:blipFill>
                <a:blip r:embed="rId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B578A-2D81-A6E7-36E3-01CEA339EF66}"/>
                  </a:ext>
                </a:extLst>
              </p:cNvPr>
              <p:cNvSpPr txBox="1"/>
              <p:nvPr/>
            </p:nvSpPr>
            <p:spPr>
              <a:xfrm>
                <a:off x="6792116" y="2214694"/>
                <a:ext cx="4107535" cy="9217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2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sz="32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3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32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∗1+</m:t>
                                </m:r>
                              </m:e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2∗1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3∗1+</m:t>
                                </m:r>
                              </m:e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4∗2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48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B578A-2D81-A6E7-36E3-01CEA339E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2214694"/>
                <a:ext cx="4107535" cy="92172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159570-57A6-4A56-6583-6F15679B8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7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72065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E690-F2AD-18B4-D988-8AEE6085F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6F44F4-1686-2B4C-B786-2BBD121CB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432D000-AAD7-424D-68F9-3340C35A3C36}"/>
              </a:ext>
            </a:extLst>
          </p:cNvPr>
          <p:cNvCxnSpPr>
            <a:cxnSpLocks/>
          </p:cNvCxnSpPr>
          <p:nvPr/>
        </p:nvCxnSpPr>
        <p:spPr>
          <a:xfrm>
            <a:off x="45689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1CBFC49-A98C-36D0-1878-7FFFEFF36A68}"/>
              </a:ext>
            </a:extLst>
          </p:cNvPr>
          <p:cNvSpPr txBox="1"/>
          <p:nvPr/>
        </p:nvSpPr>
        <p:spPr>
          <a:xfrm>
            <a:off x="32416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C8C6DF1-B97D-F199-5033-64331BCC3A7E}"/>
              </a:ext>
            </a:extLst>
          </p:cNvPr>
          <p:cNvCxnSpPr>
            <a:cxnSpLocks/>
          </p:cNvCxnSpPr>
          <p:nvPr/>
        </p:nvCxnSpPr>
        <p:spPr>
          <a:xfrm>
            <a:off x="280987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8EE0933-37D0-5B7A-EF49-7D3E7E68A636}"/>
              </a:ext>
            </a:extLst>
          </p:cNvPr>
          <p:cNvSpPr txBox="1"/>
          <p:nvPr/>
        </p:nvSpPr>
        <p:spPr>
          <a:xfrm rot="16200000">
            <a:off x="267015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F9770E7-D05C-D9DA-D98D-1366B9D2D15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286850" y="2377217"/>
            <a:ext cx="1503361" cy="98100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D98E98A-995F-336E-D8D6-82E48810C92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502223" y="3358239"/>
            <a:ext cx="1280266" cy="52582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5689E68-6A28-53EE-75F3-C2D0E09D822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286850" y="3691819"/>
            <a:ext cx="1280271" cy="54868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B06CAE5-178C-DC5D-E74B-8EF5E3F67EA1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567120" y="3697535"/>
            <a:ext cx="1597887" cy="542971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11805A-4319-468A-B660-5363D357BFFB}"/>
              </a:ext>
            </a:extLst>
          </p:cNvPr>
          <p:cNvSpPr/>
          <p:nvPr/>
        </p:nvSpPr>
        <p:spPr>
          <a:xfrm>
            <a:off x="3073399" y="3358224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C826B98-1D71-4910-55B7-EE49E4BBF56A}"/>
              </a:ext>
            </a:extLst>
          </p:cNvPr>
          <p:cNvSpPr/>
          <p:nvPr/>
        </p:nvSpPr>
        <p:spPr>
          <a:xfrm>
            <a:off x="4474513" y="2335507"/>
            <a:ext cx="260349" cy="24220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21DE4A-D272-D340-D9A6-538BC397CD81}"/>
              </a:ext>
            </a:extLst>
          </p:cNvPr>
          <p:cNvSpPr txBox="1"/>
          <p:nvPr/>
        </p:nvSpPr>
        <p:spPr>
          <a:xfrm>
            <a:off x="9385999" y="2345081"/>
            <a:ext cx="2714628" cy="170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벡터</a:t>
            </a:r>
            <a:r>
              <a:rPr lang="en-US" altLang="ko-KR" dirty="0"/>
              <a:t> v</a:t>
            </a:r>
            <a:r>
              <a:rPr lang="ko-KR" altLang="en-US" dirty="0"/>
              <a:t>가 행렬 </a:t>
            </a:r>
            <a:r>
              <a:rPr lang="en-US" altLang="ko-KR" dirty="0"/>
              <a:t>A</a:t>
            </a:r>
            <a:r>
              <a:rPr lang="ko-KR" altLang="en-US" dirty="0"/>
              <a:t>와 </a:t>
            </a:r>
            <a:r>
              <a:rPr lang="ko-KR" altLang="en-US" dirty="0" err="1"/>
              <a:t>내적하는</a:t>
            </a:r>
            <a:r>
              <a:rPr lang="ko-KR" altLang="en-US" dirty="0"/>
              <a:t> 선형변환을 하면 </a:t>
            </a:r>
            <a:r>
              <a:rPr lang="en-US" altLang="ko-KR" dirty="0"/>
              <a:t>Av = (5,5) </a:t>
            </a:r>
            <a:r>
              <a:rPr lang="ko-KR" altLang="en-US" dirty="0"/>
              <a:t>로 위치 이동하게 됨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F1D4E1-1C00-2913-FD43-03EE8C0C200D}"/>
              </a:ext>
            </a:extLst>
          </p:cNvPr>
          <p:cNvSpPr txBox="1"/>
          <p:nvPr/>
        </p:nvSpPr>
        <p:spPr>
          <a:xfrm>
            <a:off x="6139367" y="1975749"/>
            <a:ext cx="15752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행렬 </a:t>
            </a:r>
            <a:r>
              <a:rPr lang="en-US" altLang="ko-KR" dirty="0"/>
              <a:t>= </a:t>
            </a:r>
            <a:r>
              <a:rPr lang="ko-KR" altLang="en-US" dirty="0"/>
              <a:t>함수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25EF52E-72EE-3C3E-9A88-70B9DC9F9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8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780874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CC0271E0-83DB-4699-2D1D-D4EC4FBB269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801144" y="2411707"/>
            <a:ext cx="2036761" cy="1302580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23EC9D9-E1E5-486D-524D-A0C034D9B291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133EA56-E119-9E2E-EBFA-3E843E65458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B792C78-4F30-BAD6-12FC-138766A35512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AE44BCE-2E3C-9E9E-D923-0EEE18AB9631}"/>
              </a:ext>
            </a:extLst>
          </p:cNvPr>
          <p:cNvSpPr/>
          <p:nvPr/>
        </p:nvSpPr>
        <p:spPr>
          <a:xfrm>
            <a:off x="2359026" y="3429000"/>
            <a:ext cx="841374" cy="768773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E801FD-463E-32A8-962F-C2F5391655F2}"/>
              </a:ext>
            </a:extLst>
          </p:cNvPr>
          <p:cNvSpPr txBox="1"/>
          <p:nvPr/>
        </p:nvSpPr>
        <p:spPr>
          <a:xfrm>
            <a:off x="5182225" y="2105546"/>
            <a:ext cx="6619250" cy="336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행렬 </a:t>
            </a:r>
            <a:r>
              <a:rPr lang="en-US" altLang="ko-KR" dirty="0"/>
              <a:t>A = [(2,1), (3,4)] </a:t>
            </a:r>
            <a:r>
              <a:rPr lang="ko-KR" altLang="en-US" dirty="0"/>
              <a:t>의 행렬인 경우 </a:t>
            </a:r>
            <a:r>
              <a:rPr lang="en-US" altLang="ko-KR" dirty="0"/>
              <a:t>v=(1,2)</a:t>
            </a:r>
            <a:r>
              <a:rPr lang="ko-KR" altLang="en-US" dirty="0"/>
              <a:t>는 어떻게 </a:t>
            </a:r>
            <a:r>
              <a:rPr lang="ko-KR" altLang="en-US" b="1" dirty="0"/>
              <a:t>변환</a:t>
            </a:r>
            <a:r>
              <a:rPr lang="ko-KR" altLang="en-US" dirty="0"/>
              <a:t>되는가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 </a:t>
            </a:r>
            <a:r>
              <a:rPr lang="ko-KR" altLang="en-US" dirty="0"/>
              <a:t>아래와 같은 정방형의 모든 실수는 </a:t>
            </a:r>
            <a:r>
              <a:rPr lang="en-US" altLang="ko-KR" dirty="0"/>
              <a:t>A</a:t>
            </a:r>
            <a:r>
              <a:rPr lang="ko-KR" altLang="en-US" dirty="0"/>
              <a:t>행렬과 </a:t>
            </a:r>
            <a:r>
              <a:rPr lang="ko-KR" altLang="en-US" dirty="0" err="1"/>
              <a:t>내적하면</a:t>
            </a:r>
            <a:r>
              <a:rPr lang="ko-KR" altLang="en-US" dirty="0"/>
              <a:t> 어떻게 </a:t>
            </a:r>
            <a:r>
              <a:rPr lang="ko-KR" altLang="en-US" b="1" dirty="0"/>
              <a:t>변환</a:t>
            </a:r>
            <a:r>
              <a:rPr lang="ko-KR" altLang="en-US" dirty="0"/>
              <a:t>되는지 파이썬 코드로 작성하고 시각화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/>
              <a:t>선형변환</a:t>
            </a:r>
            <a:r>
              <a:rPr lang="en-US" altLang="ko-KR" b="1" dirty="0"/>
              <a:t>(Linear Transformation)</a:t>
            </a:r>
            <a:r>
              <a:rPr lang="ko-KR" altLang="en-US" dirty="0"/>
              <a:t>의 결과를 기하학적 의미를 </a:t>
            </a:r>
            <a:r>
              <a:rPr lang="ko-KR" altLang="en-US" b="1" dirty="0"/>
              <a:t>투영</a:t>
            </a:r>
            <a:r>
              <a:rPr lang="en-US" altLang="ko-KR" b="1" dirty="0"/>
              <a:t>(Projection)</a:t>
            </a:r>
            <a:r>
              <a:rPr lang="ko-KR" altLang="en-US" dirty="0"/>
              <a:t>의 관점에서 설명하라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FB67B-47AD-E2B1-F02D-7438ED6D3A02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1E26A2FD-DA73-FEBD-A534-047C269AF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9</a:t>
            </a:fld>
            <a:endParaRPr lang="en-US" sz="2000" dirty="0"/>
          </a:p>
        </p:txBody>
      </p:sp>
      <p:pic>
        <p:nvPicPr>
          <p:cNvPr id="8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E244AAB-51AC-B107-48A5-3CF643F4FC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제목 1">
            <a:extLst>
              <a:ext uri="{FF2B5EF4-FFF2-40B4-BE49-F238E27FC236}">
                <a16:creationId xmlns:a16="http://schemas.microsoft.com/office/drawing/2014/main" id="{05136CFE-E7F8-CC96-5386-1047EDE84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9713" y="0"/>
            <a:ext cx="61261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66491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AED26979-3036-435B-0822-871DA230CA78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BAD771A1-25B1-665A-99F0-AD771F07CDA4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E7F301B5-9970-FCB6-2C79-A057D8D23F0E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9CF34E6-3C08-D401-489F-98201AD4E32F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7B46C8-7DA9-65B3-928C-F55479A8125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/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1099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/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/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blipFill>
                <a:blip r:embed="rId5"/>
                <a:stretch>
                  <a:fillRect l="-289" t="-6667" r="-3179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59CE4A2-11E8-3782-9C37-54E0B00FD94F}"/>
              </a:ext>
            </a:extLst>
          </p:cNvPr>
          <p:cNvSpPr txBox="1"/>
          <p:nvPr/>
        </p:nvSpPr>
        <p:spPr>
          <a:xfrm>
            <a:off x="5784127" y="3165498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두 행이 완전히 동일하며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모든 벡터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(x, 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를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(x+2y,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x+2y)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벡터로 선형변환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배치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80E0E523-FCA2-AA24-9EA5-9380D86B3195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81818" y="1907079"/>
            <a:ext cx="612529" cy="120442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DAF44130-B832-9483-C9DF-EFD357270E48}"/>
              </a:ext>
            </a:extLst>
          </p:cNvPr>
          <p:cNvCxnSpPr>
            <a:cxnSpLocks/>
            <a:stCxn id="17" idx="3"/>
            <a:endCxn id="23" idx="1"/>
          </p:cNvCxnSpPr>
          <p:nvPr/>
        </p:nvCxnSpPr>
        <p:spPr>
          <a:xfrm>
            <a:off x="5953125" y="2203025"/>
            <a:ext cx="1512041" cy="6875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675E9DE-B0B6-C8D5-A524-BAACE5A8D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10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86040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E48C2-D67B-5ADB-18B1-80FE0EBB4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0F82DA0A-412B-C75A-C675-E78A772EB5B4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46E36533-3E78-9C9E-2D7B-3CD87C1D7E1E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50C11FE9-3D39-67F5-9B81-39ABA9F3C151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3A923B-0F3D-C793-CBDF-EB2CBE8E86F4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8F449C-DC59-EB8D-209F-4B2964F89FCF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/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733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/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blipFill>
                <a:blip r:embed="rId4"/>
                <a:stretch>
                  <a:fillRect l="-3583" t="-6522" r="-3909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F417510F-FA8E-6162-4468-EC4812C7C296}"/>
              </a:ext>
            </a:extLst>
          </p:cNvPr>
          <p:cNvSpPr txBox="1"/>
          <p:nvPr/>
        </p:nvSpPr>
        <p:spPr>
          <a:xfrm>
            <a:off x="3979335" y="3290089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내적하여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투영하여 배치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붕괴시키는 행렬변환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07E2D664-2BE6-2DF1-837C-3787AEF194CA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54644" y="1578833"/>
            <a:ext cx="967949" cy="15054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4903B8ED-A4E2-90BE-7A88-0777CA4B0F30}"/>
              </a:ext>
            </a:extLst>
          </p:cNvPr>
          <p:cNvCxnSpPr>
            <a:cxnSpLocks/>
            <a:stCxn id="17" idx="3"/>
            <a:endCxn id="24" idx="1"/>
          </p:cNvCxnSpPr>
          <p:nvPr/>
        </p:nvCxnSpPr>
        <p:spPr>
          <a:xfrm>
            <a:off x="6254197" y="1847605"/>
            <a:ext cx="1516216" cy="93089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A9EBD0C9-2937-E546-104C-A70FBE6A99F3}"/>
              </a:ext>
            </a:extLst>
          </p:cNvPr>
          <p:cNvCxnSpPr>
            <a:cxnSpLocks/>
          </p:cNvCxnSpPr>
          <p:nvPr/>
        </p:nvCxnSpPr>
        <p:spPr>
          <a:xfrm flipV="1">
            <a:off x="7615956" y="4163027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A6B7B48-EFB1-1809-928C-471F9BC07E28}"/>
              </a:ext>
            </a:extLst>
          </p:cNvPr>
          <p:cNvCxnSpPr>
            <a:cxnSpLocks/>
          </p:cNvCxnSpPr>
          <p:nvPr/>
        </p:nvCxnSpPr>
        <p:spPr>
          <a:xfrm>
            <a:off x="9968944" y="1990714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3B2C7D-9653-5102-80B2-FEFBC0BFFAEF}"/>
              </a:ext>
            </a:extLst>
          </p:cNvPr>
          <p:cNvSpPr txBox="1"/>
          <p:nvPr/>
        </p:nvSpPr>
        <p:spPr>
          <a:xfrm rot="16200000">
            <a:off x="7412550" y="415872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EDD22D-5F31-7D85-4E49-D7CCEC85C019}"/>
              </a:ext>
            </a:extLst>
          </p:cNvPr>
          <p:cNvSpPr txBox="1"/>
          <p:nvPr/>
        </p:nvSpPr>
        <p:spPr>
          <a:xfrm>
            <a:off x="7486650" y="419777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28" name="그래픽 27" descr="별">
            <a:extLst>
              <a:ext uri="{FF2B5EF4-FFF2-40B4-BE49-F238E27FC236}">
                <a16:creationId xmlns:a16="http://schemas.microsoft.com/office/drawing/2014/main" id="{B1997F87-A73F-E620-983C-A239734A30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15239" y="3159667"/>
            <a:ext cx="485496" cy="485496"/>
          </a:xfrm>
          <a:prstGeom prst="rect">
            <a:avLst/>
          </a:prstGeom>
        </p:spPr>
      </p:pic>
      <p:pic>
        <p:nvPicPr>
          <p:cNvPr id="31" name="그래픽 30" descr="별">
            <a:extLst>
              <a:ext uri="{FF2B5EF4-FFF2-40B4-BE49-F238E27FC236}">
                <a16:creationId xmlns:a16="http://schemas.microsoft.com/office/drawing/2014/main" id="{1C6B1354-D5CB-5B29-DCCA-3AAA1F5158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53327" y="2704498"/>
            <a:ext cx="485496" cy="4854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/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−1,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blipFill>
                <a:blip r:embed="rId9"/>
                <a:stretch>
                  <a:fillRect l="-7595" t="-6667" r="-8228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/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blipFill>
                <a:blip r:embed="rId10"/>
                <a:stretch>
                  <a:fillRect l="-9231" t="-8889" r="-10000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FF4B92F-31B4-3C2F-14FE-6DE1FFDEBE8D}"/>
              </a:ext>
            </a:extLst>
          </p:cNvPr>
          <p:cNvCxnSpPr>
            <a:cxnSpLocks/>
          </p:cNvCxnSpPr>
          <p:nvPr/>
        </p:nvCxnSpPr>
        <p:spPr>
          <a:xfrm flipV="1">
            <a:off x="8485488" y="2556473"/>
            <a:ext cx="3128002" cy="316269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7E8495C-891C-0D45-AD9C-655378854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11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528851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E3566-E0E2-3682-76F4-6A2B0A523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5D4C1-4B4A-A66E-82C3-386E6AB7E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CEC279A-BA05-1914-9046-3B18C4C7FD1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494924" y="4277515"/>
            <a:ext cx="7402300" cy="11517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D933761-F6C1-E88D-6DC1-6D5645B5AE2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494924" y="2300419"/>
            <a:ext cx="7330316" cy="11037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3B0C35-8920-5211-45F2-08E4D70B1F95}"/>
              </a:ext>
            </a:extLst>
          </p:cNvPr>
          <p:cNvSpPr txBox="1"/>
          <p:nvPr/>
        </p:nvSpPr>
        <p:spPr>
          <a:xfrm>
            <a:off x="466725" y="18453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2</a:t>
            </a:r>
            <a:r>
              <a:rPr lang="ko-KR" altLang="en-US" sz="1800" dirty="0"/>
              <a:t>개 벡터</a:t>
            </a:r>
            <a:r>
              <a:rPr lang="en-US" altLang="ko-KR" sz="1800" dirty="0"/>
              <a:t>(points), (1,2), (2,1)</a:t>
            </a:r>
            <a:r>
              <a:rPr lang="ko-KR" altLang="en-US" sz="1800" dirty="0"/>
              <a:t>에 행렬</a:t>
            </a:r>
            <a:r>
              <a:rPr lang="en-US" altLang="ko-KR" dirty="0"/>
              <a:t>[(2,1), (1,4)] </a:t>
            </a:r>
            <a:r>
              <a:rPr lang="ko-KR" altLang="en-US" dirty="0"/>
              <a:t>와의</a:t>
            </a:r>
            <a:r>
              <a:rPr lang="en-US" altLang="ko-KR" dirty="0"/>
              <a:t> </a:t>
            </a:r>
            <a:r>
              <a:rPr lang="ko-KR" altLang="en-US" sz="1800" dirty="0"/>
              <a:t>내적</a:t>
            </a:r>
            <a:endParaRPr lang="ko-KR" altLang="en-US"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F57BCDF-6F41-7650-72C3-22B4E2230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12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302242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3CF355-C241-D22E-F97C-7287CE73D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기하학적 이해</a:t>
            </a:r>
          </a:p>
        </p:txBody>
      </p:sp>
      <p:sp>
        <p:nvSpPr>
          <p:cNvPr id="4" name="AutoShape 2" descr=", AI generated">
            <a:extLst>
              <a:ext uri="{FF2B5EF4-FFF2-40B4-BE49-F238E27FC236}">
                <a16:creationId xmlns:a16="http://schemas.microsoft.com/office/drawing/2014/main" id="{A12FC27B-0BD4-A5AB-B0E5-D080A53513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011C37-30DB-6272-D93F-F9473458E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725" y="2014537"/>
            <a:ext cx="7286625" cy="3977757"/>
          </a:xfrm>
          <a:prstGeom prst="rect">
            <a:avLst/>
          </a:prstGeom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A5E0A35-FE29-17FD-803F-F2999E5CD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13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940482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5E36D-A1FE-2B89-FE3D-9D9496F81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E8B66B-CC98-38AF-CD8F-4481BD3C8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cap="none" dirty="0"/>
              <a:t>선형대수</a:t>
            </a:r>
            <a:r>
              <a:rPr lang="en-US" altLang="ko-KR" cap="none" dirty="0"/>
              <a:t>(Linear Algebra)</a:t>
            </a:r>
            <a:endParaRPr lang="ko-KR" altLang="en-US" cap="none" dirty="0"/>
          </a:p>
        </p:txBody>
      </p:sp>
      <p:sp>
        <p:nvSpPr>
          <p:cNvPr id="17" name="슬라이드 번호 개체 틀 3">
            <a:extLst>
              <a:ext uri="{FF2B5EF4-FFF2-40B4-BE49-F238E27FC236}">
                <a16:creationId xmlns:a16="http://schemas.microsoft.com/office/drawing/2014/main" id="{3FD9B8B1-9B96-0622-DDFB-0F4F31A12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14</a:t>
            </a:fld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11">
                <a:extLst>
                  <a:ext uri="{FF2B5EF4-FFF2-40B4-BE49-F238E27FC236}">
                    <a16:creationId xmlns:a16="http://schemas.microsoft.com/office/drawing/2014/main" id="{5EFD9993-AB58-C007-9AEC-3E30F10655F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3774" y="1243142"/>
                <a:ext cx="10363826" cy="460520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1" hangingPunct="1">
                  <a:lnSpc>
                    <a:spcPct val="120000"/>
                  </a:lnSpc>
                  <a:spcBef>
                    <a:spcPts val="10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20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8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6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Wingdings" panose="05000000000000000000" pitchFamily="2" charset="2"/>
                  <a:buChar char="§"/>
                </a:pPr>
                <a:r>
                  <a:rPr lang="ko-KR" altLang="en-US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“벡터와 행렬을 이용해 ‘선형 관계</a:t>
                </a:r>
                <a:r>
                  <a:rPr lang="en-US" altLang="ko-KR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(linear relationship)’</a:t>
                </a:r>
                <a:r>
                  <a:rPr lang="ko-KR" altLang="en-US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‘공간의 </a:t>
                </a:r>
                <a:r>
                  <a:rPr lang="ko-KR" altLang="en-US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변환’을</a:t>
                </a:r>
                <a:r>
                  <a:rPr lang="ko-KR" altLang="en-US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다루는 학문”</a:t>
                </a:r>
                <a:endParaRPr lang="en-US" altLang="ko-KR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공간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선형 변환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행렬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연립 선형 방정식 등을 연구하는 수학의 한 분야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데이터를 공간으로 보고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머신러닝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모델을 ‘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변환’으로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이해하는 언어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선형변환식 </a:t>
                </a:r>
                <a14:m>
                  <m:oMath xmlns:m="http://schemas.openxmlformats.org/officeDocument/2006/math">
                    <m:r>
                      <a:rPr lang="en-US" altLang="ko-KR" sz="240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기하학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공간을 어떻게 움직이고 변환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확대/축소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기울이기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투영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지 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머신러닝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관측치는 벡터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모델은 </a:t>
                </a:r>
                <a14:m>
                  <m:oMath xmlns:m="http://schemas.openxmlformats.org/officeDocument/2006/math">
                    <m:r>
                      <a:rPr lang="en-US" altLang="ko-KR" sz="240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𝐴𝑥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ko-KR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11">
                <a:extLst>
                  <a:ext uri="{FF2B5EF4-FFF2-40B4-BE49-F238E27FC236}">
                    <a16:creationId xmlns:a16="http://schemas.microsoft.com/office/drawing/2014/main" id="{5EFD9993-AB58-C007-9AEC-3E30F10655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4" y="1243142"/>
                <a:ext cx="10363826" cy="4605207"/>
              </a:xfrm>
              <a:prstGeom prst="rect">
                <a:avLst/>
              </a:prstGeom>
              <a:blipFill>
                <a:blip r:embed="rId2"/>
                <a:stretch>
                  <a:fillRect l="-529" t="-26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59871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566F-70DB-C9B6-52A4-104A38E78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16294A1E-74B1-2647-D02F-0AFC5B92A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15</a:t>
            </a:fld>
            <a:endParaRPr lang="en-US" sz="2000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AAA135C1-5E58-DE61-BCE2-F4353E58502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4850" y="2193800"/>
            <a:ext cx="4501673" cy="2178229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2E1D530D-01A2-F7EA-0FF5-EB0FA91ED689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92101" y="2253348"/>
            <a:ext cx="4963722" cy="194060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572FC41-B531-852F-1649-5E8F5EBE5949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92101" y="4503381"/>
            <a:ext cx="3813060" cy="1068744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D1A72315-8774-4D80-E39B-8177669F955B}"/>
              </a:ext>
            </a:extLst>
          </p:cNvPr>
          <p:cNvSpPr txBox="1"/>
          <p:nvPr/>
        </p:nvSpPr>
        <p:spPr>
          <a:xfrm>
            <a:off x="581025" y="1723384"/>
            <a:ext cx="472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연립선형방정식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(System of Linear Equations)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900D0B-A8C8-F9A7-91B3-310F01FD50E4}"/>
              </a:ext>
            </a:extLst>
          </p:cNvPr>
          <p:cNvSpPr txBox="1"/>
          <p:nvPr/>
        </p:nvSpPr>
        <p:spPr>
          <a:xfrm>
            <a:off x="6372225" y="1759253"/>
            <a:ext cx="472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3F76A69-7661-C8AE-AE9E-3E2C0DFAADC8}"/>
                  </a:ext>
                </a:extLst>
              </p:cNvPr>
              <p:cNvSpPr txBox="1"/>
              <p:nvPr/>
            </p:nvSpPr>
            <p:spPr>
              <a:xfrm>
                <a:off x="8725814" y="1723384"/>
                <a:ext cx="215852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𝐴𝑥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3F76A69-7661-C8AE-AE9E-3E2C0DFAAD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5814" y="1723384"/>
                <a:ext cx="2158523" cy="400110"/>
              </a:xfrm>
              <a:prstGeom prst="rect">
                <a:avLst/>
              </a:prstGeom>
              <a:blipFill>
                <a:blip r:embed="rId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77766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DE559-9E4F-069B-91D6-E604FED2B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17B1727C-5907-1409-048E-992C18E5C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16</a:t>
            </a:fld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201F750-2BE1-DE02-C234-81213451B1E8}"/>
                  </a:ext>
                </a:extLst>
              </p:cNvPr>
              <p:cNvSpPr txBox="1"/>
              <p:nvPr/>
            </p:nvSpPr>
            <p:spPr>
              <a:xfrm>
                <a:off x="1195244" y="811930"/>
                <a:ext cx="7375444" cy="38252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sz="200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의미를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열벡터들의 선형 결합으로 기하학적 해석을 하면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열벡터들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우리가 움직일 수 있는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방향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’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들이고 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성분들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그 방향으로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얼마나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갈 것인가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최종 도착지  </a:t>
                </a:r>
                <a:endParaRPr lang="en-US" altLang="ko-KR" sz="20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201F750-2BE1-DE02-C234-81213451B1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5244" y="811930"/>
                <a:ext cx="7375444" cy="3825214"/>
              </a:xfrm>
              <a:prstGeom prst="rect">
                <a:avLst/>
              </a:prstGeom>
              <a:blipFill>
                <a:blip r:embed="rId2"/>
                <a:stretch>
                  <a:fillRect l="-744" b="-14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12D68391-FF3C-2777-472E-9EDC54C5E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996" y="1466676"/>
            <a:ext cx="2576183" cy="109235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1DDF7A5-028A-2163-E3F4-A553257F05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4595" y="1262802"/>
            <a:ext cx="1149180" cy="149646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F736873-AD7E-F993-D94C-4865EBA23B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6692" y="4272114"/>
            <a:ext cx="3422283" cy="2001593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20D2E58B-7FE1-13B5-097D-2D7EF28730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4996" y="2856923"/>
            <a:ext cx="4427219" cy="1304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2384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BD2289-F2DD-C99C-21A0-D359B3CC0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투영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AC9B519-750B-3AD9-C9B3-C647051B7BB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570875" y="2015277"/>
            <a:ext cx="7738080" cy="422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35C1BC-D100-A1E8-B66D-30FE5BBBCD42}"/>
              </a:ext>
            </a:extLst>
          </p:cNvPr>
          <p:cNvSpPr txBox="1"/>
          <p:nvPr/>
        </p:nvSpPr>
        <p:spPr>
          <a:xfrm>
            <a:off x="8394680" y="2029696"/>
            <a:ext cx="36544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첫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모든 데이터를 직선 하나에 강제로 정렬시키는 투영 </a:t>
            </a:r>
            <a:r>
              <a:rPr lang="en-US" altLang="ko-KR" dirty="0">
                <a:latin typeface="+mj-ea"/>
                <a:ea typeface="+mj-ea"/>
              </a:rPr>
              <a:t>(Singular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두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데이터를 새로운 좌표축으로 재배치하되 평면을 유지하는 투영 </a:t>
            </a:r>
            <a:r>
              <a:rPr lang="en-US" altLang="ko-KR" dirty="0">
                <a:latin typeface="+mj-ea"/>
                <a:ea typeface="+mj-ea"/>
              </a:rPr>
              <a:t>(Non-singular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이 투영 개념은 데이터 분석에서 중요한 주성분 분석</a:t>
            </a:r>
            <a:r>
              <a:rPr lang="en-US" altLang="ko-KR" dirty="0">
                <a:latin typeface="+mj-ea"/>
                <a:ea typeface="+mj-ea"/>
              </a:rPr>
              <a:t>(PCA)</a:t>
            </a:r>
            <a:r>
              <a:rPr lang="ko-KR" altLang="en-US" dirty="0">
                <a:latin typeface="+mj-ea"/>
                <a:ea typeface="+mj-ea"/>
              </a:rPr>
              <a:t>의 기초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E0299473-7BDA-1153-07AF-73989810D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17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11412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B3DBC6-35B0-DF34-8BB2-2CFA82E8E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행렬과 내적은 선형변환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67A665-D8BD-3BDD-A95C-EA8AF2CDD90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775" y="2014539"/>
            <a:ext cx="5182225" cy="3322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9EFB63E-667B-21BC-A172-32BE45A43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374" y="2014539"/>
            <a:ext cx="5390677" cy="332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0D1C23-1819-2AC4-B5F5-C6A7D08A2267}"/>
              </a:ext>
            </a:extLst>
          </p:cNvPr>
          <p:cNvSpPr txBox="1"/>
          <p:nvPr/>
        </p:nvSpPr>
        <p:spPr>
          <a:xfrm>
            <a:off x="838200" y="5734658"/>
            <a:ext cx="33441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자료원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행렬의 기하학적인 의미와 해석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1ECB9CBD-CF82-DC51-07A4-4A3380036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18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935531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F990D-7C65-6C21-31D3-EC7CB375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A20CEC-BF00-1556-F0BA-6AF560EF0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491CE45-07B6-3F10-9D80-86C15F831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3120178"/>
            <a:ext cx="4373450" cy="274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AB99FAD7-67C0-95AC-D700-A35DDC7C501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7048" y="2522484"/>
            <a:ext cx="5056802" cy="3424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61B9A48-9B38-5029-B7E7-030E2344A517}"/>
              </a:ext>
            </a:extLst>
          </p:cNvPr>
          <p:cNvSpPr txBox="1"/>
          <p:nvPr/>
        </p:nvSpPr>
        <p:spPr>
          <a:xfrm>
            <a:off x="504825" y="2244389"/>
            <a:ext cx="4248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Gaussian Random Noise Data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를 생성하고 행렬 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로 </a:t>
            </a:r>
            <a:r>
              <a:rPr lang="ko-KR" altLang="en-US" b="0" i="0" dirty="0" err="1">
                <a:solidFill>
                  <a:srgbClr val="000000"/>
                </a:solidFill>
                <a:effectLst/>
                <a:latin typeface="Nanum Gothic"/>
              </a:rPr>
              <a:t>선형변환하면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3D3EB99-B1E1-2A0D-C54E-009CFE5952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503" y="3143249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2423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EEE4C-CF8D-13F6-E5D0-F069365AC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3B388CFB-5E5A-0B56-2B29-B3655AA0D879}"/>
              </a:ext>
            </a:extLst>
          </p:cNvPr>
          <p:cNvSpPr/>
          <p:nvPr/>
        </p:nvSpPr>
        <p:spPr>
          <a:xfrm>
            <a:off x="579371" y="2524125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A2FE80-9EDC-A097-418B-57D8C5D574E0}"/>
              </a:ext>
            </a:extLst>
          </p:cNvPr>
          <p:cNvSpPr txBox="1"/>
          <p:nvPr/>
        </p:nvSpPr>
        <p:spPr>
          <a:xfrm>
            <a:off x="1629916" y="147612"/>
            <a:ext cx="8928992" cy="4022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주성분분석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(PCA)</a:t>
            </a:r>
          </a:p>
          <a:p>
            <a:pPr marL="971550" lvl="1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Eigen value</a:t>
            </a:r>
          </a:p>
          <a:p>
            <a:pPr marL="971550" lvl="1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Eigen vector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605111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0DE82-E761-815D-D827-048FE401C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71A663-E6E2-41F2-752E-AF07B9674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7078DC6-E5BB-C5BD-550D-2D5CFDED855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Dimensionality Reduction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7B8B203A-CA07-6F79-6C40-BA91546468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F4D1D46-BBF5-8CEB-9866-F00627769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268" y="3088968"/>
            <a:ext cx="6957663" cy="237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6227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A7A78-9A48-AA10-5785-D0F00D44F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822916A-F4FB-A1F9-4AAF-CE84AE99E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394568" cy="640080"/>
          </a:xfrm>
        </p:spPr>
        <p:txBody>
          <a:bodyPr rtlCol="0">
            <a:noAutofit/>
          </a:bodyPr>
          <a:lstStyle/>
          <a:p>
            <a:pPr algn="l"/>
            <a:r>
              <a:rPr lang="en-US" altLang="ko-KR" sz="2400" cap="none" dirty="0">
                <a:cs typeface="Segoe UI Light" panose="020B0502040204020203" pitchFamily="34" charset="0"/>
              </a:rPr>
              <a:t>Rank of Matrix</a:t>
            </a:r>
            <a:endParaRPr lang="ko" sz="2400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B80B36-1BD6-0C45-A304-60C53DC00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22</a:t>
            </a:fld>
            <a:endParaRPr lang="ko-KR" alt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FC6C6C-A61D-877F-34B9-4171D276D037}"/>
              </a:ext>
            </a:extLst>
          </p:cNvPr>
          <p:cNvSpPr txBox="1"/>
          <p:nvPr/>
        </p:nvSpPr>
        <p:spPr>
          <a:xfrm>
            <a:off x="610149" y="1528927"/>
            <a:ext cx="8886276" cy="424731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  <a:b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생성</a:t>
            </a:r>
          </a:p>
          <a:p>
            <a:pPr>
              <a:buNone/>
            </a:pP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base_vector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10, 10).reshape(-1, 1) # (10,1)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행렬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weights =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([[1, 2, 0.5, 10, -1]]) # (1, 5)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행렬</a:t>
            </a:r>
            <a:b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선형변환</a:t>
            </a: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matrix_rank_1 = np.dot(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base_vector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weights) # (10,1) @ (1,5) = (10,5)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행렬</a:t>
            </a:r>
          </a:p>
          <a:p>
            <a:pPr>
              <a:buNone/>
            </a:pPr>
            <a:endParaRPr lang="ko-KR" altLang="en-US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공분산 행렬</a:t>
            </a:r>
          </a:p>
          <a:p>
            <a:pPr>
              <a:buNone/>
            </a:pP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cov_base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np.cov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base_vector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rowvar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  #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분산</a:t>
            </a:r>
          </a:p>
          <a:p>
            <a:pPr>
              <a:buNone/>
            </a:pP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cov_trans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np.cov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(matrix_rank_1,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rowvar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</a:t>
            </a:r>
            <a:b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eigenvalue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base_vector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공분산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분산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 스칼라이므로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eigvals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적용할 수 없음</a:t>
            </a:r>
          </a:p>
          <a:p>
            <a:pPr>
              <a:buNone/>
            </a:pP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eig_trans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np.linalg.eigvals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cov_trans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872592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D67CD-FBD2-ABDB-8546-606C6B959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608748B-CAD3-B066-33B0-3AC7C6280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394568" cy="640080"/>
          </a:xfrm>
        </p:spPr>
        <p:txBody>
          <a:bodyPr rtlCol="0">
            <a:noAutofit/>
          </a:bodyPr>
          <a:lstStyle/>
          <a:p>
            <a:pPr algn="l"/>
            <a:r>
              <a:rPr lang="en-US" altLang="ko-KR" sz="2400" cap="none" dirty="0">
                <a:cs typeface="Segoe UI Light" panose="020B0502040204020203" pitchFamily="34" charset="0"/>
              </a:rPr>
              <a:t>Rank of Matrix</a:t>
            </a:r>
            <a:endParaRPr lang="ko" sz="2400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559F66-3ACC-FA0F-4720-EC8219B20E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BAF124-81A7-3727-274F-2EAA4F2A2624}"/>
              </a:ext>
            </a:extLst>
          </p:cNvPr>
          <p:cNvSpPr txBox="1"/>
          <p:nvPr/>
        </p:nvSpPr>
        <p:spPr>
          <a:xfrm>
            <a:off x="618576" y="1462252"/>
            <a:ext cx="8106324" cy="455778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원래 행렬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shape: {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base_vector.shape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변환 행렬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shape: {matrix_rank_1.shape}\n")</a:t>
            </a:r>
          </a:p>
          <a:p>
            <a:pPr>
              <a:lnSpc>
                <a:spcPct val="150000"/>
              </a:lnSpc>
              <a:buNone/>
            </a:pP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Rank: {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np.linalg.matrix_rank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base_vector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변환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Rank: {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np.linalg.matrix_rank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(matrix_rank_1)}\n")</a:t>
            </a:r>
            <a:endParaRPr lang="en-US" altLang="ko-KR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print("===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공분산 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===")</a:t>
            </a:r>
            <a:endParaRPr lang="ko-KR" altLang="en-US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원래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:\n",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cov_base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변환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:\n",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cov_trans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endParaRPr lang="en-US" altLang="ko-KR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print("\n=== Eigenvalues ===")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원래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(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단일 특성의 분산은 스칼라이므로 </a:t>
            </a:r>
            <a:r>
              <a:rPr lang="ko-KR" altLang="en-US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고유값이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없습니다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)")</a:t>
            </a:r>
            <a:endParaRPr lang="ko-KR" altLang="en-US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변환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:",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eig_trans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812639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CD4B5-49B6-8434-6AA9-B6025B5F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0DC900B9-E575-3C6F-0002-24C43085A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394568" cy="640080"/>
          </a:xfrm>
        </p:spPr>
        <p:txBody>
          <a:bodyPr rtlCol="0">
            <a:noAutofit/>
          </a:bodyPr>
          <a:lstStyle/>
          <a:p>
            <a:pPr algn="l"/>
            <a:r>
              <a:rPr lang="en-US" altLang="ko-KR" sz="2400" cap="none" dirty="0">
                <a:cs typeface="Segoe UI Light" panose="020B0502040204020203" pitchFamily="34" charset="0"/>
              </a:rPr>
              <a:t>Rank of Matrix</a:t>
            </a:r>
            <a:endParaRPr lang="ko" sz="2400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6A4EB4A-C048-222D-7151-D1ADD961FC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306F87-CB9F-DCC1-7422-1FBE48C1B880}"/>
              </a:ext>
            </a:extLst>
          </p:cNvPr>
          <p:cNvSpPr txBox="1"/>
          <p:nvPr/>
        </p:nvSpPr>
        <p:spPr>
          <a:xfrm>
            <a:off x="618575" y="1455704"/>
            <a:ext cx="9830349" cy="455817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(eigenvalue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합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total_var_base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cov_base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#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cov_base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자체가 분산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입니다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total_var_trans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eig_trans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print("\n===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(Eigenvalue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합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===")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원래 행렬의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:",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total_var_base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변환된 행렬의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:",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total_var_trans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적용함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weights_norm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weights /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np.linalg.norm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(weights)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matrix_norm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base_vector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weights_norm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cov_norm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np.cov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matrix_norm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rowvar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=False)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f"norm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변환된 행렬의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np.linalg.eigvals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cov_norm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))}")</a:t>
            </a:r>
          </a:p>
        </p:txBody>
      </p:sp>
    </p:spTree>
    <p:extLst>
      <p:ext uri="{BB962C8B-B14F-4D97-AF65-F5344CB8AC3E}">
        <p14:creationId xmlns:p14="http://schemas.microsoft.com/office/powerpoint/2010/main" val="3580617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31E9B-DC1C-C687-ACF2-C837C2EB0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352C18C-02FC-DB44-6C9C-E85E74559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394568" cy="640080"/>
          </a:xfrm>
        </p:spPr>
        <p:txBody>
          <a:bodyPr rtlCol="0">
            <a:noAutofit/>
          </a:bodyPr>
          <a:lstStyle/>
          <a:p>
            <a:pPr algn="l"/>
            <a:r>
              <a:rPr lang="en-US" altLang="ko-KR" sz="2400" cap="none" dirty="0">
                <a:cs typeface="Segoe UI Light" panose="020B0502040204020203" pitchFamily="34" charset="0"/>
              </a:rPr>
              <a:t>Compressing</a:t>
            </a:r>
            <a:r>
              <a:rPr lang="ko-KR" altLang="en-US" sz="2400" cap="none" dirty="0">
                <a:cs typeface="Segoe UI Light" panose="020B0502040204020203" pitchFamily="34" charset="0"/>
              </a:rPr>
              <a:t> </a:t>
            </a:r>
            <a:r>
              <a:rPr lang="en-US" altLang="ko-KR" sz="2400" cap="none" dirty="0">
                <a:cs typeface="Segoe UI Light" panose="020B0502040204020203" pitchFamily="34" charset="0"/>
              </a:rPr>
              <a:t>Images – Reducing rank by random choice of features</a:t>
            </a:r>
            <a:endParaRPr lang="ko" sz="2400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613EB8A-BEA6-A6CD-7C7A-09A826670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25</a:t>
            </a:fld>
            <a:endParaRPr lang="ko-KR" alt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188EFB-4524-4DD2-6EFA-8D2AC221E9D7}"/>
              </a:ext>
            </a:extLst>
          </p:cNvPr>
          <p:cNvSpPr txBox="1"/>
          <p:nvPr/>
        </p:nvSpPr>
        <p:spPr>
          <a:xfrm>
            <a:off x="609600" y="1304243"/>
            <a:ext cx="5486400" cy="2797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url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"https://img.tf.co.kr/article/home/2025/07/22/202598011753169335.jpg"</a:t>
            </a:r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3173D52B-4178-8B02-04E4-68AA1DAE0D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436" y="1800107"/>
            <a:ext cx="8986982" cy="4869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1876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481C-56DE-A303-2D4C-E12ED6DB1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B6562AF-EDD3-7FD9-789C-A59F62BF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pPr algn="l"/>
            <a:r>
              <a:rPr lang="en-US" altLang="ko-KR" cap="none" dirty="0">
                <a:cs typeface="Segoe UI Light" panose="020B0502040204020203" pitchFamily="34" charset="0"/>
              </a:rPr>
              <a:t>Compressing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Images – Reducing rank by SVD, PCA</a:t>
            </a:r>
            <a:endParaRPr lang="ko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0C72ECB-26ED-AC43-69FC-B181EE6AD3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1EDBD8-B293-7B46-746E-84D1944B03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8508" y="1820059"/>
            <a:ext cx="8765310" cy="474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1210D5-7927-EB22-F5B4-C0811943D190}"/>
              </a:ext>
            </a:extLst>
          </p:cNvPr>
          <p:cNvSpPr txBox="1"/>
          <p:nvPr/>
        </p:nvSpPr>
        <p:spPr>
          <a:xfrm>
            <a:off x="604333" y="1358737"/>
            <a:ext cx="5200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Rank </a:t>
            </a:r>
            <a:r>
              <a:rPr lang="ko-KR" altLang="en-US" dirty="0"/>
              <a:t>가 </a:t>
            </a:r>
            <a:r>
              <a:rPr lang="en-US" altLang="ko-KR" dirty="0"/>
              <a:t>30, 10, 5</a:t>
            </a:r>
            <a:r>
              <a:rPr lang="ko-KR" altLang="en-US" dirty="0"/>
              <a:t>인데도 </a:t>
            </a:r>
            <a:r>
              <a:rPr lang="en-US" altLang="ko-KR" dirty="0"/>
              <a:t>face </a:t>
            </a:r>
            <a:r>
              <a:rPr lang="ko-KR" altLang="en-US" dirty="0"/>
              <a:t>식별이 가능한 이유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6759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3F3BF-5796-165E-59FD-C5E0E838C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0AB4B5FC-1951-DC9A-2887-2CB7803FE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pPr algn="l"/>
            <a:r>
              <a:rPr lang="en-US" altLang="ko" cap="none" dirty="0">
                <a:cs typeface="Segoe UI Light" panose="020B0502040204020203" pitchFamily="34" charset="0"/>
              </a:rPr>
              <a:t>Total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Variance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of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Matrix</a:t>
            </a:r>
            <a:endParaRPr lang="ko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CAAD6EB-6463-0B19-61BA-D99870126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27</a:t>
            </a:fld>
            <a:endParaRPr lang="ko-KR" alt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1C1A34-D915-D18A-5B13-3B13DC810727}"/>
              </a:ext>
            </a:extLst>
          </p:cNvPr>
          <p:cNvSpPr txBox="1"/>
          <p:nvPr/>
        </p:nvSpPr>
        <p:spPr>
          <a:xfrm>
            <a:off x="604333" y="1196812"/>
            <a:ext cx="10977518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데이터의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총변동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분산의 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계산한 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 값을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공간에 동일하게 나누어 배치함으로써 차원이 달라도 전체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변동량은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같다는 것을 보여주며 데이터의 차원이 줄어들면 정보가 사라지는 것이 아니라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분산이 적은 축으로 “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집중”되면서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총변동은 그대로 유지될 수 있음을 확인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BD616B-51CA-2EFE-B2F4-5D841D887C69}"/>
              </a:ext>
            </a:extLst>
          </p:cNvPr>
          <p:cNvSpPr txBox="1"/>
          <p:nvPr/>
        </p:nvSpPr>
        <p:spPr>
          <a:xfrm>
            <a:off x="1572174" y="2564844"/>
            <a:ext cx="6533601" cy="31085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make_regression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np.random.seed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(42)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데이터 생성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X10, _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=500,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n_features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=30, noise=10.0)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np.trace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(X10,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rowvar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=False))  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X2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np.random.multivariate_normal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mean=[0, 0],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=(T/2)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np.eye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size=500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)# 3)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비교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T2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np.trace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(X2,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rowvar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=False))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print("30D total variance:", 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print("2D total variance:", T2)</a:t>
            </a:r>
          </a:p>
        </p:txBody>
      </p:sp>
    </p:spTree>
    <p:extLst>
      <p:ext uri="{BB962C8B-B14F-4D97-AF65-F5344CB8AC3E}">
        <p14:creationId xmlns:p14="http://schemas.microsoft.com/office/powerpoint/2010/main" val="1238607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CFE12-CADE-3CD4-F5EB-2CA8EA3CB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D9F478-37B9-890A-4D8D-08A58DE69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BF502A4-1BEC-FF56-E8CB-9AC07C59264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C137CB81-E197-E6C6-6522-135D1F5236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475480-0AFE-9953-6938-DD8B251F0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155" y="1925794"/>
            <a:ext cx="8307923" cy="4322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8231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1C895-B2D4-20A7-8501-9B8F151CD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F0E741-02BB-2D6E-FC7F-6ED5637FD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7572FB77-606D-3A2F-1455-79DD3599AE0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98D2379D-B916-4C85-D178-E45DB6CB4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총변동량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E4CED65-DA9B-3A17-1FD6-A7F2D2F1784C}"/>
              </a:ext>
            </a:extLst>
          </p:cNvPr>
          <p:cNvGrpSpPr/>
          <p:nvPr/>
        </p:nvGrpSpPr>
        <p:grpSpPr>
          <a:xfrm>
            <a:off x="1519921" y="1876425"/>
            <a:ext cx="7024004" cy="4703452"/>
            <a:chOff x="1519921" y="1815282"/>
            <a:chExt cx="6947803" cy="476459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AF7673C0-666D-0DFD-DB28-36C8AB20A2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9921" y="1815282"/>
              <a:ext cx="6947803" cy="4763228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CC258CFA-D46D-DD63-F476-939B24CFC9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43510" y="6412222"/>
              <a:ext cx="342930" cy="1676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007158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C6058-BCAC-5973-88B3-9937643CD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1D1540C-C9B8-D40C-73EE-259E91537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pPr algn="l"/>
            <a:r>
              <a:rPr lang="en-US" altLang="ko" cap="none" dirty="0">
                <a:cs typeface="Segoe UI Light" panose="020B0502040204020203" pitchFamily="34" charset="0"/>
              </a:rPr>
              <a:t>Total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Variance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of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Matrix</a:t>
            </a:r>
            <a:endParaRPr lang="ko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D43EB65-3E9B-ECE8-23C1-24B298B14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30</a:t>
            </a:fld>
            <a:endParaRPr lang="ko-KR" altLang="en-US" noProof="0"/>
          </a:p>
        </p:txBody>
      </p:sp>
      <p:pic>
        <p:nvPicPr>
          <p:cNvPr id="1026" name="Picture 2" descr="The original 3-dimensional data set. The red, blue, green arrows are the direction of the first, second, and third principal components, respectively. Image by the author.">
            <a:extLst>
              <a:ext uri="{FF2B5EF4-FFF2-40B4-BE49-F238E27FC236}">
                <a16:creationId xmlns:a16="http://schemas.microsoft.com/office/drawing/2014/main" id="{FD5454AF-9D9D-C1F8-13C5-FB50F1510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775" y="2264094"/>
            <a:ext cx="4371975" cy="3264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catterplot after PCA reduced from 3-dimensions to 2-dimensions. Image by the author.">
            <a:extLst>
              <a:ext uri="{FF2B5EF4-FFF2-40B4-BE49-F238E27FC236}">
                <a16:creationId xmlns:a16="http://schemas.microsoft.com/office/drawing/2014/main" id="{FD1F97AF-8F47-3913-BD7E-049B0A55E8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7449" y="2264095"/>
            <a:ext cx="5230069" cy="326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E94DDF2-FA83-1528-ED94-B305BA82EC2A}"/>
              </a:ext>
            </a:extLst>
          </p:cNvPr>
          <p:cNvSpPr txBox="1"/>
          <p:nvPr/>
        </p:nvSpPr>
        <p:spPr>
          <a:xfrm>
            <a:off x="807720" y="5561675"/>
            <a:ext cx="4533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original 3-dimensional data set. The red, blue, green arrows are the direction of the first, second, and third principal components, respectively.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036BE2-058E-F2B0-994D-58F741FF8627}"/>
              </a:ext>
            </a:extLst>
          </p:cNvPr>
          <p:cNvSpPr txBox="1"/>
          <p:nvPr/>
        </p:nvSpPr>
        <p:spPr>
          <a:xfrm>
            <a:off x="6267449" y="5561675"/>
            <a:ext cx="4533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Scatterplot after PCA reduced from 3-dimensions to 2-dimensions. 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C5D7F7-968B-3650-11E3-08E33038F536}"/>
              </a:ext>
            </a:extLst>
          </p:cNvPr>
          <p:cNvSpPr txBox="1"/>
          <p:nvPr/>
        </p:nvSpPr>
        <p:spPr>
          <a:xfrm>
            <a:off x="521206" y="1219111"/>
            <a:ext cx="1097631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Principal component analysis (PCA) is a technique that transforms high-dimensions data into lower-dimensions while retaining as much information as possible.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5897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12487-4066-E9B9-A601-533736ED5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A0241D-1994-FC82-D69B-0A68B2AAF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AD98C4D-BA3A-37E3-866A-C8686B216CDE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Eigen value &amp; Eigen vector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1BE4A90-2671-6596-92C0-364DB0A35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801" y="1866900"/>
            <a:ext cx="4537448" cy="46600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D21DEFFE-BE6E-C89F-DFD1-149A436685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2938" y="1866901"/>
            <a:ext cx="4551073" cy="466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6">
            <a:extLst>
              <a:ext uri="{FF2B5EF4-FFF2-40B4-BE49-F238E27FC236}">
                <a16:creationId xmlns:a16="http://schemas.microsoft.com/office/drawing/2014/main" id="{A5F13AEE-DD0E-3B1A-AAB5-ABA378887D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7237" y="870129"/>
            <a:ext cx="10715625" cy="8697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A가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공간을 무작위로 찌그러뜨리는 것 같지만,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행렬의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고유벡터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특별한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Eigen vectors)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기준으로 보면 단순히 길이를 늘리거나(4배) 뒤집는(-1배) 연산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Eigenvalues)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하고 있다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29B97B-BCF9-D313-1736-B599A138C588}"/>
              </a:ext>
            </a:extLst>
          </p:cNvPr>
          <p:cNvSpPr txBox="1"/>
          <p:nvPr/>
        </p:nvSpPr>
        <p:spPr>
          <a:xfrm>
            <a:off x="8753791" y="3086093"/>
            <a:ext cx="11369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i="0" dirty="0">
                <a:solidFill>
                  <a:schemeClr val="accent4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Eigenvalues</a:t>
            </a:r>
          </a:p>
          <a:p>
            <a:r>
              <a:rPr lang="en-US" altLang="ko-KR" sz="1200" b="1" i="0" dirty="0">
                <a:solidFill>
                  <a:schemeClr val="accent4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[ 4. -1.] </a:t>
            </a:r>
            <a:endParaRPr lang="ko-KR" altLang="en-US" sz="1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DEE789-2360-2E57-1572-04EFF9D6424E}"/>
              </a:ext>
            </a:extLst>
          </p:cNvPr>
          <p:cNvSpPr txBox="1"/>
          <p:nvPr/>
        </p:nvSpPr>
        <p:spPr>
          <a:xfrm>
            <a:off x="6819900" y="3265571"/>
            <a:ext cx="17830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i="0" dirty="0">
                <a:solidFill>
                  <a:srgbClr val="00B05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Eigenvectors </a:t>
            </a:r>
          </a:p>
          <a:p>
            <a:r>
              <a:rPr lang="en-US" altLang="ko-KR" sz="1200" b="1" i="0" dirty="0">
                <a:solidFill>
                  <a:srgbClr val="00B05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[[ 0.83 -0.71] </a:t>
            </a:r>
          </a:p>
          <a:p>
            <a:r>
              <a:rPr lang="en-US" altLang="ko-KR" sz="1200" b="1" dirty="0">
                <a:solidFill>
                  <a:srgbClr val="00B05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200" b="1" i="0" dirty="0">
                <a:solidFill>
                  <a:srgbClr val="00B05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[ 0.55 0.71]]</a:t>
            </a:r>
            <a:endParaRPr lang="ko-KR" altLang="en-US" sz="1200" b="1" dirty="0">
              <a:solidFill>
                <a:srgbClr val="00B05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623118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A05-AD8A-4312-2266-14EB3FF74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1EC2804F-41A4-5101-2BDC-FC966F15EAE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4" y="1614619"/>
            <a:ext cx="5774697" cy="40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656C6E6-6881-C1B3-F43B-81E4D1656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424" y="1378837"/>
            <a:ext cx="4210051" cy="4260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D3F55857-3EC6-8FE3-FB8E-AA2D6945375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Eigenvalues_and_eigenvectors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75007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6BD3A-EE14-2467-AD61-91324A7F0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7BCDE5-4265-7787-19C6-E72CD7BBF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EC6C347-2434-8363-FDBC-4993208CB10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Undestanding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03D835E-99D8-D1C5-C9A7-2D439DD85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PCA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주성분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분석을 시각화로 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639359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5B62D-C56C-8C8A-D635-BDAE2165A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5A8DC34F-90C7-F8C5-68DD-229C5975A18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(1/3)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</p:spPr>
            <p:txBody>
              <a:bodyPr>
                <a:normAutofit fontScale="92500" lnSpcReduction="10000"/>
              </a:bodyPr>
              <a:lstStyle>
                <a:lvl1pPr marL="228600" indent="-228600" algn="l" defTabSz="914400" rtl="0" eaLnBrk="1" latinLnBrk="1" hangingPunct="1">
                  <a:lnSpc>
                    <a:spcPct val="120000"/>
                  </a:lnSpc>
                  <a:spcBef>
                    <a:spcPts val="10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20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8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6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표준 기저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행렬에 의해 정확히 행렬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</a:t>
                </a:r>
                <a:r>
                  <a:rPr lang="ko-KR" altLang="en-US" sz="21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열벡터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(2,3), (1,4)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선형변화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매핑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되고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 정사각형이 평행사변형으로 변환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  <a:blipFill>
                <a:blip r:embed="rId2"/>
                <a:stretch>
                  <a:fillRect l="-497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2D810127-F36F-F750-36B2-F991D65CA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07B2FFB-229C-9856-0910-69A35DE40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676" y="2069849"/>
            <a:ext cx="9033577" cy="441282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E6F89DE-B4DF-E058-CF78-380106D89E2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467225" y="3101805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8863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E58B-E027-B2B0-B8EB-75A34B70B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>
            <a:extLst>
              <a:ext uri="{FF2B5EF4-FFF2-40B4-BE49-F238E27FC236}">
                <a16:creationId xmlns:a16="http://schemas.microsoft.com/office/drawing/2014/main" id="{F2E9924A-0166-2BF4-B339-E2DEBED57E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8098" y="2129648"/>
            <a:ext cx="8769352" cy="4351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E728BFC4-53E5-BC11-044B-4B5C9539EE4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(2/3)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C6696286-0EB0-4D93-69FB-A9C56117C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9A56CA-75FB-0E83-0E74-06E43B60B916}"/>
              </a:ext>
            </a:extLst>
          </p:cNvPr>
          <p:cNvSpPr txBox="1"/>
          <p:nvPr/>
        </p:nvSpPr>
        <p:spPr>
          <a:xfrm>
            <a:off x="1641903" y="3360567"/>
            <a:ext cx="3596848" cy="7078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mean = [2, 1]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 = [[0.5, 0], [0, 0.2]] </a:t>
            </a:r>
            <a:endParaRPr lang="ko-KR" altLang="en-US" sz="1200" b="0" dirty="0">
              <a:effectLst/>
              <a:latin typeface="Aptos Narrow" panose="020B0004020202020204" pitchFamily="34" charset="0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data =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np.random.multivariate_normal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(mean,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, 300)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A76CE5FD-59F3-5258-A057-D369D8685A4C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831959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행렬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((2,1), (3,4))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선형변환하면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새로운 기저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(2,3)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x1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x2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선형 합으로 데이터를 선형변환 한 것이다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2E1B69E-A794-FFDD-E298-D83ED5A2D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2362" y="2084612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2093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825DC-DE68-65F6-09EA-36647289F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74D5D1B-942F-2499-638A-702F6C0E78B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(3/3)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6A79D7C4-9DAF-56C8-6022-B24CFD9C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1F1A5AA8-2CC4-07C0-5F12-95F244FEEC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77" y="2571239"/>
            <a:ext cx="5192932" cy="3314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8">
            <a:extLst>
              <a:ext uri="{FF2B5EF4-FFF2-40B4-BE49-F238E27FC236}">
                <a16:creationId xmlns:a16="http://schemas.microsoft.com/office/drawing/2014/main" id="{F6B27DAA-3882-D126-BE42-5B74772B0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9117" y="2123291"/>
            <a:ext cx="5192932" cy="3721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F71733FB-6BFB-1EB3-E879-87A8BBB4946D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1196635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행렬로 선형변환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매핑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고유벡터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(Eigen vector)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주성분임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74587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4DCC-2219-0BAB-D637-2653B9348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399486-55C8-1E83-C07C-51A8D03AB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D8DB989-8DE9-D0DE-7F4B-F927980EA39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Combination of Eigen Faces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1196635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압축된 얼굴 이미지는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𝒙</m:t>
                        </m:r>
                      </m:e>
                      <m:sub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𝒊</m:t>
                        </m:r>
                      </m:sub>
                    </m:sSub>
                    <m:r>
                      <a:rPr lang="en-US" altLang="ko-KR" sz="2100" b="1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가중치 벡터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(Weight Vector)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원본 얼굴을 똑같이 재현하기 위해 어떤 주성분 얼굴들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(Eigen Faces)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각각 얼마나 필요한 지를 나타내는 계수들의 집합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(Linear Combination of Eigen Faces)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1196635"/>
              </a:xfrm>
              <a:blipFill>
                <a:blip r:embed="rId2"/>
                <a:stretch>
                  <a:fillRect l="-456" r="-114" b="-76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C3DF88BB-1F83-EAAD-283E-E273CA435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8496" y="2692308"/>
            <a:ext cx="901235" cy="1524645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59850887-FA84-6932-78C8-28A48DF0DD23}"/>
              </a:ext>
            </a:extLst>
          </p:cNvPr>
          <p:cNvGrpSpPr/>
          <p:nvPr/>
        </p:nvGrpSpPr>
        <p:grpSpPr>
          <a:xfrm>
            <a:off x="2082717" y="2527857"/>
            <a:ext cx="7366382" cy="3873529"/>
            <a:chOff x="1606168" y="2181196"/>
            <a:chExt cx="7928357" cy="4038740"/>
          </a:xfrm>
        </p:grpSpPr>
        <p:pic>
          <p:nvPicPr>
            <p:cNvPr id="12290" name="Picture 2" descr="Linear Combination of EigenFaces">
              <a:extLst>
                <a:ext uri="{FF2B5EF4-FFF2-40B4-BE49-F238E27FC236}">
                  <a16:creationId xmlns:a16="http://schemas.microsoft.com/office/drawing/2014/main" id="{609C152E-5A52-54CC-DF19-EFAF2DC264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06168" y="2524126"/>
              <a:ext cx="7928357" cy="36958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DC0D49F6-0D9F-05FF-14AF-A84B40F5D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06168" y="2181196"/>
              <a:ext cx="7928357" cy="34293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/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</m:ctrlPr>
                          </m:sSubPr>
                          <m:e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𝒙</m:t>
                            </m:r>
                          </m:e>
                          <m:sub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𝒊</m:t>
                            </m:r>
                          </m:sub>
                        </m:sSub>
                      </m:oMath>
                    </m:oMathPara>
                  </a14:m>
                  <a:endParaRPr lang="ko-KR" altLang="en-US" sz="20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blipFill>
                  <a:blip r:embed="rId6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535602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5354C-9E3B-A472-9C1F-80823F5CA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189F65D-167B-B5EE-E8D7-C2A4BEF2742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6D2BF00-A385-9818-F1A0-AF5C00351ECA}"/>
              </a:ext>
            </a:extLst>
          </p:cNvPr>
          <p:cNvSpPr txBox="1">
            <a:spLocks/>
          </p:cNvSpPr>
          <p:nvPr/>
        </p:nvSpPr>
        <p:spPr>
          <a:xfrm>
            <a:off x="913794" y="1070316"/>
            <a:ext cx="10706705" cy="129188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 </a:t>
            </a: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DataScience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Handbook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 코드를 다운받아 주성분분석을 실습한다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9B13165B-37AB-7A55-4979-8CF6B4BF5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pic>
        <p:nvPicPr>
          <p:cNvPr id="24580" name="Picture 4" descr="Book Cover">
            <a:extLst>
              <a:ext uri="{FF2B5EF4-FFF2-40B4-BE49-F238E27FC236}">
                <a16:creationId xmlns:a16="http://schemas.microsoft.com/office/drawing/2014/main" id="{30F49467-6593-5363-0398-441CC38F4A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300" y="2362200"/>
            <a:ext cx="2965057" cy="3914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42E23B2-6EEA-CE8D-394E-D03D3C7E32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8123" y="2281674"/>
            <a:ext cx="3097535" cy="3754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8722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9FCDD-CBFA-66D7-AD9E-AA6AD5403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79D24-D41B-D7B3-BCD9-F79ED5970D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800" cap="none" dirty="0">
                <a:solidFill>
                  <a:schemeClr val="bg1"/>
                </a:solidFill>
              </a:rPr>
              <a:t>Manifold Learning</a:t>
            </a:r>
            <a:br>
              <a:rPr lang="en-US" altLang="ko-KR" b="1" cap="none" dirty="0"/>
            </a:br>
            <a:endParaRPr lang="ko-KR" altLang="en-US" sz="4800" cap="non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4274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10271-03C9-79C4-A8D0-743D4B37A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45690C-43CB-3724-856F-06FE1660C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6331FB-B472-4AEB-20C2-F26C8CDD0265}"/>
              </a:ext>
            </a:extLst>
          </p:cNvPr>
          <p:cNvSpPr txBox="1"/>
          <p:nvPr/>
        </p:nvSpPr>
        <p:spPr>
          <a:xfrm>
            <a:off x="676275" y="285750"/>
            <a:ext cx="36952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 manifold-learning</a:t>
            </a:r>
            <a:endParaRPr lang="ko-KR" altLang="en-US" sz="28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DC820A7-E4A5-0C3C-9D54-74EDF093D8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287" y="1119188"/>
            <a:ext cx="3652837" cy="2698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3458ACA6-AAE7-BFA8-4963-B2D28B8488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288" y="3894175"/>
            <a:ext cx="3652837" cy="2757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75172D9A-6121-3150-113F-9DC135D45A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9388" y="977528"/>
            <a:ext cx="3271838" cy="2735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8">
            <a:extLst>
              <a:ext uri="{FF2B5EF4-FFF2-40B4-BE49-F238E27FC236}">
                <a16:creationId xmlns:a16="http://schemas.microsoft.com/office/drawing/2014/main" id="{48F0B0A6-5055-CDF7-767B-3FFD262077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9388" y="3894175"/>
            <a:ext cx="3271838" cy="2735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1639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D940E-B85D-7B3C-FEDB-FF455975B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00A08D-D2DD-BAD3-B37D-8F4C5E301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C0FC88-D33D-DE73-67F6-F47F1029A4DD}"/>
              </a:ext>
            </a:extLst>
          </p:cNvPr>
          <p:cNvSpPr txBox="1"/>
          <p:nvPr/>
        </p:nvSpPr>
        <p:spPr>
          <a:xfrm>
            <a:off x="676275" y="285750"/>
            <a:ext cx="43701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Non Linear manifold-learning</a:t>
            </a:r>
            <a:endParaRPr lang="ko-KR" altLang="en-US" sz="28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428666C-BA30-3586-383F-211CFD900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275" y="1671638"/>
            <a:ext cx="4286250" cy="4150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38A96B4B-2995-323E-8E35-78602B2F13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6912" y="2082316"/>
            <a:ext cx="4538062" cy="3328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029647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DF983-F86D-6D96-7178-B287B5AD7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0937B1-8899-C4BB-E3DB-4847EF7A6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752250-F92A-1FC4-0C6C-35F2C9B7EEE7}"/>
              </a:ext>
            </a:extLst>
          </p:cNvPr>
          <p:cNvSpPr txBox="1"/>
          <p:nvPr/>
        </p:nvSpPr>
        <p:spPr>
          <a:xfrm>
            <a:off x="609600" y="523875"/>
            <a:ext cx="66848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Nonlinear dimensionality reduction</a:t>
            </a:r>
            <a:r>
              <a:rPr lang="en-US" altLang="ko-KR" sz="2800" dirty="0"/>
              <a:t>: </a:t>
            </a:r>
            <a:r>
              <a:rPr lang="en-US" altLang="ko-KR" sz="2800" dirty="0" err="1"/>
              <a:t>wikipedia</a:t>
            </a:r>
            <a:endParaRPr lang="ko-KR" altLang="en-US" sz="28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57BCA5DA-5050-4E15-4636-E511452670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0250" y="1229311"/>
            <a:ext cx="6618503" cy="5172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089007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C183E-D86D-7EC7-A480-27281857B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C0ACE3-DEAD-E822-D073-769C98BE2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A1F4453-9290-47E2-4FB4-00DD0A6CB8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0013" y="1038811"/>
            <a:ext cx="5494157" cy="5362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C23143-447F-B9DB-9103-FA4BBF090144}"/>
              </a:ext>
            </a:extLst>
          </p:cNvPr>
          <p:cNvSpPr txBox="1"/>
          <p:nvPr/>
        </p:nvSpPr>
        <p:spPr>
          <a:xfrm>
            <a:off x="676275" y="285750"/>
            <a:ext cx="43701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Non Linear manifold-learning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046317414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2297</TotalTime>
  <Words>1934</Words>
  <Application>Microsoft Office PowerPoint</Application>
  <PresentationFormat>와이드스크린</PresentationFormat>
  <Paragraphs>262</Paragraphs>
  <Slides>43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16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60" baseType="lpstr">
      <vt:lpstr>D2Coding</vt:lpstr>
      <vt:lpstr>Nanum Gothic</vt:lpstr>
      <vt:lpstr>나눔고딕</vt:lpstr>
      <vt:lpstr>맑은 고딕</vt:lpstr>
      <vt:lpstr>맑은 고딕 Semilight</vt:lpstr>
      <vt:lpstr>Batang</vt:lpstr>
      <vt:lpstr>한컴 말랑말랑 Bold</vt:lpstr>
      <vt:lpstr>ADLaM Display</vt:lpstr>
      <vt:lpstr>Aptos Narrow</vt:lpstr>
      <vt:lpstr>Arial</vt:lpstr>
      <vt:lpstr>Calibri Light</vt:lpstr>
      <vt:lpstr>Cambria Math</vt:lpstr>
      <vt:lpstr>Segoe UI Light</vt:lpstr>
      <vt:lpstr>Times New Roman</vt:lpstr>
      <vt:lpstr>Tw Cen MT</vt:lpstr>
      <vt:lpstr>Wingdings</vt:lpstr>
      <vt:lpstr>물방울</vt:lpstr>
      <vt:lpstr>Principal Component Analysis</vt:lpstr>
      <vt:lpstr>선형대수(linear algebra)</vt:lpstr>
      <vt:lpstr>PowerPoint 프레젠테이션</vt:lpstr>
      <vt:lpstr>1차원 직선에서의 선형변환에 대해 생각하기</vt:lpstr>
      <vt:lpstr>1차원 직선에서의 선형변환에 대해 생각하기</vt:lpstr>
      <vt:lpstr>2차원 평면에서의 선형변환에 대해 생각하기</vt:lpstr>
      <vt:lpstr>2차원 평면에서의 선형변환에 대해 생각하기</vt:lpstr>
      <vt:lpstr>2차원 평면에서의 선형변환에 대해 생각하기</vt:lpstr>
      <vt:lpstr>Hands-on</vt:lpstr>
      <vt:lpstr>PowerPoint 프레젠테이션</vt:lpstr>
      <vt:lpstr>PowerPoint 프레젠테이션</vt:lpstr>
      <vt:lpstr>선형변환</vt:lpstr>
      <vt:lpstr>기하학적 이해</vt:lpstr>
      <vt:lpstr>선형대수(Linear Algebra)</vt:lpstr>
      <vt:lpstr>PowerPoint 프레젠테이션</vt:lpstr>
      <vt:lpstr>PowerPoint 프레젠테이션</vt:lpstr>
      <vt:lpstr>투영</vt:lpstr>
      <vt:lpstr>행렬과 내적은 선형변환</vt:lpstr>
      <vt:lpstr>선형변환</vt:lpstr>
      <vt:lpstr>PowerPoint 프레젠테이션</vt:lpstr>
      <vt:lpstr>PowerPoint 프레젠테이션</vt:lpstr>
      <vt:lpstr>Rank of Matrix</vt:lpstr>
      <vt:lpstr>Rank of Matrix</vt:lpstr>
      <vt:lpstr>Rank of Matrix</vt:lpstr>
      <vt:lpstr>Compressing Images – Reducing rank by random choice of features</vt:lpstr>
      <vt:lpstr>Compressing Images – Reducing rank by SVD, PCA</vt:lpstr>
      <vt:lpstr>Total Variance of Matrix</vt:lpstr>
      <vt:lpstr>PowerPoint 프레젠테이션</vt:lpstr>
      <vt:lpstr>PowerPoint 프레젠테이션</vt:lpstr>
      <vt:lpstr>Total Variance of Matrix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Manifold Learning 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45</cp:revision>
  <dcterms:created xsi:type="dcterms:W3CDTF">2026-03-09T22:59:08Z</dcterms:created>
  <dcterms:modified xsi:type="dcterms:W3CDTF">2026-04-19T04:13:43Z</dcterms:modified>
</cp:coreProperties>
</file>