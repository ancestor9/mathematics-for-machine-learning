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9"/>
  </p:notesMasterIdLst>
  <p:sldIdLst>
    <p:sldId id="928" r:id="rId2"/>
    <p:sldId id="291" r:id="rId3"/>
    <p:sldId id="925" r:id="rId4"/>
    <p:sldId id="265" r:id="rId5"/>
    <p:sldId id="271" r:id="rId6"/>
    <p:sldId id="819" r:id="rId7"/>
    <p:sldId id="820" r:id="rId8"/>
    <p:sldId id="275" r:id="rId9"/>
    <p:sldId id="276" r:id="rId10"/>
    <p:sldId id="272" r:id="rId11"/>
    <p:sldId id="279" r:id="rId12"/>
    <p:sldId id="259" r:id="rId13"/>
    <p:sldId id="818" r:id="rId14"/>
    <p:sldId id="260" r:id="rId15"/>
    <p:sldId id="893" r:id="rId16"/>
    <p:sldId id="898" r:id="rId17"/>
    <p:sldId id="897" r:id="rId18"/>
    <p:sldId id="929" r:id="rId19"/>
    <p:sldId id="927" r:id="rId20"/>
    <p:sldId id="891" r:id="rId21"/>
    <p:sldId id="940" r:id="rId22"/>
    <p:sldId id="935" r:id="rId23"/>
    <p:sldId id="296" r:id="rId24"/>
    <p:sldId id="939" r:id="rId25"/>
    <p:sldId id="900" r:id="rId26"/>
    <p:sldId id="899" r:id="rId27"/>
    <p:sldId id="938" r:id="rId28"/>
    <p:sldId id="267" r:id="rId29"/>
    <p:sldId id="892" r:id="rId30"/>
    <p:sldId id="941" r:id="rId31"/>
    <p:sldId id="905" r:id="rId32"/>
    <p:sldId id="906" r:id="rId33"/>
    <p:sldId id="930" r:id="rId34"/>
    <p:sldId id="931" r:id="rId35"/>
    <p:sldId id="933" r:id="rId36"/>
    <p:sldId id="934" r:id="rId37"/>
    <p:sldId id="93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2142" y="7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F8537-0286-40EF-BEDA-D09730C5490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43773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9B9C9-2D48-710A-0B89-6C46FD8E0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CAFBAF-F04D-9DAA-227B-741694889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1A48BC-D34C-4667-1DB8-3BD04FCC5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AA299D-E54C-B666-3D7C-F0381936F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21106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56F7B-7A4A-0072-5761-E92D606F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90F32C-2FFF-B004-DC3D-C979C7C98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E27A06-3D8C-1750-31BC-1A94EE698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572A2A-D0DA-9690-4311-3DCBB00E99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4699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E9333-3F5E-BD10-3255-38A0403B0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F17854-DA01-91EC-BEB1-DFFAEEBF21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3AA8CD-D0E3-77C6-AA39-3D5BFA7D0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A27029-6F14-2C6D-3E56-C26440537C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4645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76707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418319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632481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  <p:sldLayoutId id="2147483670" r:id="rId19"/>
    <p:sldLayoutId id="2147483671" r:id="rId20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microsoft.com/office/2007/relationships/hdphoto" Target="../media/hdphoto1.wdp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24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270.png"/><Relationship Id="rId7" Type="http://schemas.openxmlformats.org/officeDocument/2006/relationships/image" Target="../media/image37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10" Type="http://schemas.openxmlformats.org/officeDocument/2006/relationships/image" Target="../media/image39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6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gif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hyperlink" Target="https://jakevdp.github.io/PythonDataScienceHandbook/05.10-manifold-learning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hyperlink" Target="https://jakevdp.github.io/PythonDataScienceHandbook/05.10-manifold-learning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hyperlink" Target="https://en.wikipedia.org/wiki/Nonlinear_dimensionality_reduction" TargetMode="External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cap="none" dirty="0">
                <a:solidFill>
                  <a:schemeClr val="bg1"/>
                </a:solidFill>
              </a:rPr>
              <a:t>Principal Component Analysis</a:t>
            </a:r>
            <a:endParaRPr lang="ko-KR" altLang="en-US" sz="4800" cap="none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en-US" altLang="ko-KR" sz="2400" cap="none" dirty="0">
                <a:solidFill>
                  <a:schemeClr val="bg1"/>
                </a:solidFill>
              </a:rPr>
              <a:t>Eigen value, Eigen Vector</a:t>
            </a:r>
            <a:endParaRPr lang="ko-KR" altLang="en-US" sz="2400" cap="none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“벡터와 행렬을 이용해 ‘선형 관계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relationship)’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‘공간의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변환’을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다루는 학문”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동영상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C538A5-1423-86C7-259F-7E5AF284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42000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34FC-E499-F18D-86F6-87717BA53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F12D521-939C-02F3-30BA-6F660253FE91}"/>
              </a:ext>
            </a:extLst>
          </p:cNvPr>
          <p:cNvSpPr/>
          <p:nvPr/>
        </p:nvSpPr>
        <p:spPr>
          <a:xfrm>
            <a:off x="579371" y="192405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0960E-8C55-FC63-C8CD-F10F1DFFA9A0}"/>
              </a:ext>
            </a:extLst>
          </p:cNvPr>
          <p:cNvSpPr txBox="1"/>
          <p:nvPr/>
        </p:nvSpPr>
        <p:spPr>
          <a:xfrm>
            <a:off x="1629916" y="147612"/>
            <a:ext cx="8928992" cy="2933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</p:txBody>
      </p:sp>
    </p:spTree>
    <p:extLst>
      <p:ext uri="{BB962C8B-B14F-4D97-AF65-F5344CB8AC3E}">
        <p14:creationId xmlns:p14="http://schemas.microsoft.com/office/powerpoint/2010/main" val="3340020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396555" y="2421700"/>
            <a:ext cx="5219700" cy="4365180"/>
            <a:chOff x="2286315" y="2025460"/>
            <a:chExt cx="5219700" cy="470535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3072767" y="354783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6306667" y="3577340"/>
            <a:ext cx="1899505" cy="1214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3379604" y="397194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9604" y="3971947"/>
                <a:ext cx="1217320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A27F945-2837-878D-1E14-9A8919FB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</a:t>
            </a:fld>
            <a:endParaRPr lang="en-US" sz="2000" dirty="0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DC355224-D523-F212-3E08-EDE3D98F5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560" y="525254"/>
            <a:ext cx="10364451" cy="538914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1D85E7-B076-C1E1-52F7-3699DC5FCCC0}"/>
              </a:ext>
            </a:extLst>
          </p:cNvPr>
          <p:cNvSpPr txBox="1"/>
          <p:nvPr/>
        </p:nvSpPr>
        <p:spPr>
          <a:xfrm>
            <a:off x="1052520" y="1163676"/>
            <a:ext cx="999744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[[1, 0], [0,1]]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좌표계에서 오른쪽 발걸음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하고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위쪽 발걸음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하면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벡터가 되며 이는 기준 좌표계 행렬과 벡터의 내적이다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새로운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행렬의 의미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D4D253FB-A109-8154-9367-7965C55FA966}"/>
              </a:ext>
            </a:extLst>
          </p:cNvPr>
          <p:cNvCxnSpPr/>
          <p:nvPr/>
        </p:nvCxnSpPr>
        <p:spPr>
          <a:xfrm>
            <a:off x="2858204" y="4431179"/>
            <a:ext cx="43688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3F1D512-524F-53BA-C81F-484C531F9EB4}"/>
              </a:ext>
            </a:extLst>
          </p:cNvPr>
          <p:cNvCxnSpPr>
            <a:cxnSpLocks/>
          </p:cNvCxnSpPr>
          <p:nvPr/>
        </p:nvCxnSpPr>
        <p:spPr>
          <a:xfrm flipV="1">
            <a:off x="2876615" y="3577340"/>
            <a:ext cx="0" cy="8619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그림 38">
            <a:extLst>
              <a:ext uri="{FF2B5EF4-FFF2-40B4-BE49-F238E27FC236}">
                <a16:creationId xmlns:a16="http://schemas.microsoft.com/office/drawing/2014/main" id="{83804D2D-2556-5F95-482D-3125DE8BC3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6640" y="2402047"/>
            <a:ext cx="4529918" cy="968011"/>
          </a:xfrm>
          <a:prstGeom prst="rect">
            <a:avLst/>
          </a:prstGeom>
        </p:spPr>
      </p:pic>
      <p:grpSp>
        <p:nvGrpSpPr>
          <p:cNvPr id="48" name="그룹 47">
            <a:extLst>
              <a:ext uri="{FF2B5EF4-FFF2-40B4-BE49-F238E27FC236}">
                <a16:creationId xmlns:a16="http://schemas.microsoft.com/office/drawing/2014/main" id="{DE3FD8FD-621A-C802-41E5-27D2F4FFEDB9}"/>
              </a:ext>
            </a:extLst>
          </p:cNvPr>
          <p:cNvGrpSpPr/>
          <p:nvPr/>
        </p:nvGrpSpPr>
        <p:grpSpPr>
          <a:xfrm>
            <a:off x="6306668" y="5037931"/>
            <a:ext cx="4499392" cy="968011"/>
            <a:chOff x="6306668" y="4639356"/>
            <a:chExt cx="3612980" cy="777306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93852A23-B6C9-2C3E-3653-A657EC6D00C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306668" y="4639356"/>
              <a:ext cx="1729887" cy="777306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945DBC51-6739-E674-F63D-6D2D67199E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036557" y="4640367"/>
              <a:ext cx="1883091" cy="7762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91360" y="235501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327634"/>
            <a:ext cx="10364451" cy="538914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547155"/>
            <a:ext cx="4705350" cy="4091582"/>
            <a:chOff x="2286315" y="2025460"/>
            <a:chExt cx="4705350" cy="470535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4139240" cy="575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486031"/>
              <a:ext cx="907" cy="3459021"/>
            </a:xfrm>
            <a:prstGeom prst="line">
              <a:avLst/>
            </a:prstGeom>
            <a:ln w="28575"/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28055" y="369263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2985590" y="326204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5590" y="3262047"/>
                <a:ext cx="1217320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7188356" y="2631254"/>
                <a:ext cx="2822568" cy="11312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0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0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0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0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8356" y="2631254"/>
                <a:ext cx="2822568" cy="11312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4721799" y="4452771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1799" y="4452771"/>
                <a:ext cx="44435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264771" y="2546061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771" y="2546061"/>
                <a:ext cx="450764" cy="461665"/>
              </a:xfrm>
              <a:prstGeom prst="rect">
                <a:avLst/>
              </a:prstGeom>
              <a:blipFill>
                <a:blip r:embed="rId7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45772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43694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500298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5002987"/>
                <a:ext cx="2031069" cy="461665"/>
              </a:xfrm>
              <a:prstGeom prst="rect">
                <a:avLst/>
              </a:prstGeom>
              <a:blipFill>
                <a:blip r:embed="rId8"/>
                <a:stretch>
                  <a:fillRect l="-4505" t="-10667" r="-3904" b="-30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99426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994267"/>
                <a:ext cx="2037481" cy="461665"/>
              </a:xfrm>
              <a:prstGeom prst="rect">
                <a:avLst/>
              </a:prstGeom>
              <a:blipFill>
                <a:blip r:embed="rId9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414269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414231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58118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581182"/>
                <a:ext cx="1404552" cy="369332"/>
              </a:xfrm>
              <a:prstGeom prst="rect">
                <a:avLst/>
              </a:prstGeom>
              <a:blipFill>
                <a:blip r:embed="rId10"/>
                <a:stretch>
                  <a:fillRect t="-10000" r="-303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58118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581182"/>
                <a:ext cx="1409360" cy="369332"/>
              </a:xfrm>
              <a:prstGeom prst="rect">
                <a:avLst/>
              </a:prstGeom>
              <a:blipFill>
                <a:blip r:embed="rId11"/>
                <a:stretch>
                  <a:fillRect t="-10000" r="-346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6709EDC-A34A-45F5-7DEA-B64FDB647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6</a:t>
            </a:fld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BAA35E-EB1B-221A-D80B-C8CC2DBE688B}"/>
              </a:ext>
            </a:extLst>
          </p:cNvPr>
          <p:cNvSpPr txBox="1"/>
          <p:nvPr/>
        </p:nvSpPr>
        <p:spPr>
          <a:xfrm>
            <a:off x="1066800" y="1007868"/>
            <a:ext cx="10364451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투영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(Green):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칸은 이제 새로운 세계에서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착륙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(land)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투영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(Red):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칸은 이제 새로운 세계에서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착륙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(land)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2757"/>
            <a:ext cx="10364451" cy="631163"/>
          </a:xfrm>
        </p:spPr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92069" y="3813616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19415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24679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513790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513790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27573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27573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230177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230177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2212764"/>
            <a:ext cx="848534" cy="433271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64933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47761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54056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54056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29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232673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232673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29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51019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42683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42683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59570-57A6-4A56-6583-6F15679B8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7</a:t>
            </a:fld>
            <a:endParaRPr lang="en-US" sz="2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7553F8-0A05-62EA-DC0B-91374239350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735" y="2226979"/>
            <a:ext cx="4930193" cy="95615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E567789-6DB8-96A8-E28F-6FF71335E5DD}"/>
              </a:ext>
            </a:extLst>
          </p:cNvPr>
          <p:cNvSpPr txBox="1"/>
          <p:nvPr/>
        </p:nvSpPr>
        <p:spPr>
          <a:xfrm>
            <a:off x="1183270" y="1046852"/>
            <a:ext cx="94886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행렬은 선형변환을 통해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한 칸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(1, 0)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변환 후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위치로 이동하고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한 칸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(0, 1)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변환 후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위치로 이동시킨다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93398"/>
            <a:ext cx="10364451" cy="759888"/>
          </a:xfrm>
        </p:spPr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v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선형변환을 하면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Av = (5,5)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위치 이동하게 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25EF52E-72EE-3C3E-9A88-70B9DC9F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8</a:t>
            </a:fld>
            <a:endParaRPr 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DAF92B-EBC3-6DB9-0A8E-14AB14DA071C}"/>
              </a:ext>
            </a:extLst>
          </p:cNvPr>
          <p:cNvSpPr txBox="1"/>
          <p:nvPr/>
        </p:nvSpPr>
        <p:spPr>
          <a:xfrm>
            <a:off x="1094356" y="125246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내적은 선형변환 함수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26A2FD-DA73-FEBD-A534-047C269A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9</a:t>
            </a:fld>
            <a:endParaRPr lang="en-US" sz="2000" dirty="0"/>
          </a:p>
        </p:txBody>
      </p:sp>
      <p:pic>
        <p:nvPicPr>
          <p:cNvPr id="8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E244AAB-51AC-B107-48A5-3CF643F4F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05136CFE-E7F8-CC96-5386-1047EDE84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713" y="0"/>
            <a:ext cx="61261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5462993" cy="2124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행이 완전히 동일하며 모든 벡터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(x, 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(x+2y,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x+2y)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벡터로 선형변환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임의의 모든 점을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방향으로 투영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(projection)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대각선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(y=x)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75E9DE-B0B6-C8D5-A524-BAACE5A8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10</a:t>
            </a:fld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6CE8C-4757-BF94-2D0B-405DBF1049C3}"/>
              </a:ext>
            </a:extLst>
          </p:cNvPr>
          <p:cNvSpPr txBox="1"/>
          <p:nvPr/>
        </p:nvSpPr>
        <p:spPr>
          <a:xfrm>
            <a:off x="1313286" y="1053801"/>
            <a:ext cx="6151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차원을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붕괴시키는 행렬을 이해하자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7E8495C-891C-0D45-AD9C-65537885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11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01957"/>
            <a:ext cx="10364451" cy="560043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A5E0A35-FE29-17FD-803F-F2999E5C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12</a:t>
            </a:fld>
            <a:endParaRPr lang="en-US" sz="20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879788B6-01AF-BBCD-D01B-F81134982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6527" y="1518105"/>
            <a:ext cx="9583746" cy="4755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E122F8-6128-F4C0-FFCB-B901DE7CF022}"/>
              </a:ext>
            </a:extLst>
          </p:cNvPr>
          <p:cNvSpPr txBox="1"/>
          <p:nvPr/>
        </p:nvSpPr>
        <p:spPr>
          <a:xfrm>
            <a:off x="1033454" y="939997"/>
            <a:ext cx="83137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벡터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(points), (1,2), (2,1)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행렬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[(2,1), (1,4)]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</a:p>
        </p:txBody>
      </p:sp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600553"/>
          </a:xfrm>
        </p:spPr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296160"/>
            <a:ext cx="5391030" cy="3650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0800" y="1919156"/>
            <a:ext cx="424815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C0D2A8-56F8-508B-447C-EB62B2732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384837"/>
            <a:ext cx="10364451" cy="641323"/>
          </a:xfrm>
        </p:spPr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CB9CBD-CF82-DC51-07A4-4A3380036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14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607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304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59977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12487-4066-E9B9-A601-533736ED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A0241D-1994-FC82-D69B-0A68B2AAF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D98C4D-BA3A-37E3-866A-C8686B216CDE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Eigen value &amp; Eigen vector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BE4A90-2671-6596-92C0-364DB0A35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801" y="1866900"/>
            <a:ext cx="4537448" cy="466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21DEFFE-BE6E-C89F-DFD1-149A436685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2938" y="1866901"/>
            <a:ext cx="4551073" cy="466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6">
            <a:extLst>
              <a:ext uri="{FF2B5EF4-FFF2-40B4-BE49-F238E27FC236}">
                <a16:creationId xmlns:a16="http://schemas.microsoft.com/office/drawing/2014/main" id="{A5F13AEE-DD0E-3B1A-AAB5-ABA378887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7237" y="870129"/>
            <a:ext cx="10715625" cy="8697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공간을 무작위로 찌그러뜨리는 것 같지만,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행렬의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고유벡터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특별한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 vectors)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기준으로 보면 단순히 길이를 늘리거나(4배) 뒤집는(-1배) 연산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하고 있다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29B97B-BCF9-D313-1736-B599A138C588}"/>
              </a:ext>
            </a:extLst>
          </p:cNvPr>
          <p:cNvSpPr txBox="1"/>
          <p:nvPr/>
        </p:nvSpPr>
        <p:spPr>
          <a:xfrm>
            <a:off x="8753791" y="3086093"/>
            <a:ext cx="11369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</a:t>
            </a:r>
          </a:p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[ 4. -1.] </a:t>
            </a:r>
            <a:endParaRPr lang="ko-KR" altLang="en-US" sz="1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DEE789-2360-2E57-1572-04EFF9D6424E}"/>
              </a:ext>
            </a:extLst>
          </p:cNvPr>
          <p:cNvSpPr txBox="1"/>
          <p:nvPr/>
        </p:nvSpPr>
        <p:spPr>
          <a:xfrm>
            <a:off x="6819900" y="3265571"/>
            <a:ext cx="1783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Eigenvectors </a:t>
            </a:r>
          </a:p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[[ 0.83 -0.71] </a:t>
            </a:r>
          </a:p>
          <a:p>
            <a:r>
              <a:rPr lang="en-US" altLang="ko-KR" sz="1200" b="1" dirty="0">
                <a:solidFill>
                  <a:srgbClr val="00B05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[ 0.55 0.71]]</a:t>
            </a:r>
            <a:endParaRPr lang="ko-KR" altLang="en-US" sz="1200" b="1" dirty="0">
              <a:solidFill>
                <a:srgbClr val="00B05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32519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EE4C-CF8D-13F6-E5D0-F069365AC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B388CFB-5E5A-0B56-2B29-B3655AA0D879}"/>
              </a:ext>
            </a:extLst>
          </p:cNvPr>
          <p:cNvSpPr/>
          <p:nvPr/>
        </p:nvSpPr>
        <p:spPr>
          <a:xfrm>
            <a:off x="579371" y="252412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A2FE80-9EDC-A097-418B-57D8C5D574E0}"/>
              </a:ext>
            </a:extLst>
          </p:cNvPr>
          <p:cNvSpPr txBox="1"/>
          <p:nvPr/>
        </p:nvSpPr>
        <p:spPr>
          <a:xfrm>
            <a:off x="1629916" y="147612"/>
            <a:ext cx="8928992" cy="4022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value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vector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0511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FE6522-ABBE-27B1-9AC3-605881D2D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20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EF78C1A-537C-3E6A-1F7A-9E447E6D7AB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BFB68568-2188-187E-10FA-97C8879C2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8496" y="2838154"/>
            <a:ext cx="5852766" cy="2739686"/>
          </a:xfrm>
          <a:solidFill>
            <a:schemeClr val="accent1">
              <a:lumMod val="40000"/>
              <a:lumOff val="60000"/>
            </a:schemeClr>
          </a:solidFill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 marL="0" indent="0">
              <a:buNone/>
            </a:pP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tensorflow.keras.datasets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mnist</a:t>
            </a:r>
            <a:endParaRPr lang="en-US" altLang="ko-KR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>
              <a:buNone/>
            </a:pP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# 1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</a:p>
          <a:p>
            <a:pPr marL="0" indent="0">
              <a:buNone/>
            </a:pP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), _ =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mnist.load_data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0" indent="0">
              <a:buNone/>
            </a:pP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# 5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번째 그림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데이터의 표준편차 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필요 없는 열 확인용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1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>
              <a:buNone/>
            </a:pP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np.std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axis=0)</a:t>
            </a:r>
          </a:p>
          <a:p>
            <a:pPr marL="0" indent="0">
              <a:buNone/>
            </a:pP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='hot')</a:t>
            </a:r>
            <a:endParaRPr lang="en-US" altLang="ko-KR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>
              <a:buNone/>
            </a:pPr>
            <a:endParaRPr lang="en-US" altLang="ko-KR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9" y="2838154"/>
            <a:ext cx="3170871" cy="314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85E836-BE82-FC36-41B2-006B2F098043}"/>
              </a:ext>
            </a:extLst>
          </p:cNvPr>
          <p:cNvSpPr txBox="1"/>
          <p:nvPr/>
        </p:nvSpPr>
        <p:spPr>
          <a:xfrm>
            <a:off x="601917" y="929734"/>
            <a:ext cx="1097751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60,00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MNIST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필기체 수자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(28 by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pixel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표준편차를 구해서 시각화한 이미지를 보면 해보면 중앙 픽셀의 표준편차는 높지만 주변 픽셀의 표준편차는 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근접한 것으로 나타남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주변의 정보는 데이터는 수자를 표현하는데 거의 역할이 없음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9966960" y="2838153"/>
            <a:ext cx="1936300" cy="3137007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Compressing</a:t>
            </a:r>
            <a:r>
              <a:rPr lang="ko-KR" altLang="en-US" sz="2400" cap="none" dirty="0">
                <a:cs typeface="Segoe UI Light" panose="020B0502040204020203" pitchFamily="34" charset="0"/>
              </a:rPr>
              <a:t> </a:t>
            </a:r>
            <a:r>
              <a:rPr lang="en-US" altLang="ko-KR" sz="2400" cap="none" dirty="0">
                <a:cs typeface="Segoe UI Light" panose="020B0502040204020203" pitchFamily="34" charset="0"/>
              </a:rPr>
              <a:t>Images – Reducing rank by random choice of features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Images – Reducing rank by SVD, PCA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200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Rank </a:t>
            </a:r>
            <a:r>
              <a:rPr lang="ko-KR" altLang="en-US" dirty="0"/>
              <a:t>가 </a:t>
            </a:r>
            <a:r>
              <a:rPr lang="en-US" altLang="ko-KR" dirty="0"/>
              <a:t>30, 10, 5</a:t>
            </a:r>
            <a:r>
              <a:rPr lang="ko-KR" altLang="en-US" dirty="0"/>
              <a:t>인데도 </a:t>
            </a:r>
            <a:r>
              <a:rPr lang="en-US" altLang="ko-KR" dirty="0"/>
              <a:t>face </a:t>
            </a:r>
            <a:r>
              <a:rPr lang="ko-KR" altLang="en-US" dirty="0"/>
              <a:t>식별이 가능한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ko-KR" altLang="en-US" cap="none" dirty="0" err="1">
                <a:cs typeface="Segoe UI Light" panose="020B0502040204020203" pitchFamily="34" charset="0"/>
              </a:rPr>
              <a:t>총변동량</a:t>
            </a:r>
            <a:r>
              <a:rPr lang="en-US" altLang="ko-KR" cap="none" dirty="0">
                <a:cs typeface="Segoe UI Light" panose="020B0502040204020203" pitchFamily="34" charset="0"/>
              </a:rPr>
              <a:t>(</a:t>
            </a:r>
            <a:r>
              <a:rPr lang="en-US" altLang="ko" cap="none" dirty="0">
                <a:cs typeface="Segoe UI Light" panose="020B0502040204020203" pitchFamily="34" charset="0"/>
              </a:rPr>
              <a:t>Total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Variance)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of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Matrix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264094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264095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94DDF2-FA83-1528-ED94-B305BA82EC2A}"/>
              </a:ext>
            </a:extLst>
          </p:cNvPr>
          <p:cNvSpPr txBox="1"/>
          <p:nvPr/>
        </p:nvSpPr>
        <p:spPr>
          <a:xfrm>
            <a:off x="807720" y="5561675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036BE2-058E-F2B0-994D-58F741FF8627}"/>
              </a:ext>
            </a:extLst>
          </p:cNvPr>
          <p:cNvSpPr txBox="1"/>
          <p:nvPr/>
        </p:nvSpPr>
        <p:spPr>
          <a:xfrm>
            <a:off x="6267449" y="5561675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Principal component analysis (PCA) is a technique that transforms high-dimensions data into lower-dimensions while retaining as much information as possible.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 코드를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이해하고 실습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1" y="2362200"/>
            <a:ext cx="2674620" cy="3530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4" y="2281675"/>
            <a:ext cx="2752866" cy="33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406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3F3BF-5796-165E-59FD-C5E0E838C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AB4B5FC-1951-DC9A-2887-2CB7803FE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" cap="none" dirty="0">
                <a:cs typeface="Segoe UI Light" panose="020B0502040204020203" pitchFamily="34" charset="0"/>
              </a:rPr>
              <a:t>Total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Variance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of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Matrix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CAAD6EB-6463-0B19-61BA-D9987012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1C1A34-D915-D18A-5B13-3B13DC810727}"/>
              </a:ext>
            </a:extLst>
          </p:cNvPr>
          <p:cNvSpPr txBox="1"/>
          <p:nvPr/>
        </p:nvSpPr>
        <p:spPr>
          <a:xfrm>
            <a:off x="604333" y="1196812"/>
            <a:ext cx="10977518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데이터의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분산의 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계산한 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값을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공간에 동일하게 나누어 배치함으로써 차원이 달라도 전체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변동량은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같다는 것을 보여주며 데이터의 차원이 줄어들면 정보가 사라지는 것이 아니라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분산이 적은 축으로 “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집중”되면서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총변동은 그대로 유지될 수 있음을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D616B-51CA-2EFE-B2F4-5D841D887C69}"/>
              </a:ext>
            </a:extLst>
          </p:cNvPr>
          <p:cNvSpPr txBox="1"/>
          <p:nvPr/>
        </p:nvSpPr>
        <p:spPr>
          <a:xfrm>
            <a:off x="1572174" y="2564844"/>
            <a:ext cx="6533601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make_regression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데이터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X10, _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=500,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=30, noise=10.0)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np.trace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=False))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np.random.multivariate_normal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mean=[0, 0],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=(T/2)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np.eye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size=500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np.trace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(X2,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print("30D total variance:",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print("2D total variance:", T2)</a:t>
            </a:r>
          </a:p>
        </p:txBody>
      </p:sp>
    </p:spTree>
    <p:extLst>
      <p:ext uri="{BB962C8B-B14F-4D97-AF65-F5344CB8AC3E}">
        <p14:creationId xmlns:p14="http://schemas.microsoft.com/office/powerpoint/2010/main" val="492185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98021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09355"/>
                <a:ext cx="10706705" cy="1196635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18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18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18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09355"/>
                <a:ext cx="10706705" cy="1196635"/>
              </a:xfrm>
              <a:blipFill>
                <a:blip r:embed="rId2"/>
                <a:stretch>
                  <a:fillRect l="-399" b="-1479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4FE13-9092-C73E-699B-0636D6259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45650-F2E0-5663-19D7-325C0994E1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algn="l"/>
            <a:r>
              <a:rPr lang="en-US" altLang="ko-KR" sz="4800" b="1" cap="none" dirty="0">
                <a:solidFill>
                  <a:schemeClr val="bg1"/>
                </a:solidFill>
              </a:rPr>
              <a:t>Appendix</a:t>
            </a:r>
            <a:br>
              <a:rPr lang="en-US" altLang="ko-KR" b="1" cap="none" dirty="0"/>
            </a:br>
            <a:endParaRPr lang="ko-KR" altLang="en-US" sz="4800" cap="non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43540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1800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913036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9FCDD-CBFA-66D7-AD9E-AA6AD540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79D24-D41B-D7B3-BCD9-F79ED5970D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800" cap="none" dirty="0">
                <a:solidFill>
                  <a:schemeClr val="bg1"/>
                </a:solidFill>
              </a:rPr>
              <a:t>Manifold Learning</a:t>
            </a:r>
            <a:br>
              <a:rPr lang="en-US" altLang="ko-KR" b="1" cap="none" dirty="0"/>
            </a:br>
            <a:endParaRPr lang="ko-KR" altLang="en-US" sz="4800" cap="none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C9F60B-DD2B-CE10-C18A-07F6E0EC7DFB}"/>
              </a:ext>
            </a:extLst>
          </p:cNvPr>
          <p:cNvSpPr txBox="1"/>
          <p:nvPr/>
        </p:nvSpPr>
        <p:spPr>
          <a:xfrm>
            <a:off x="1605280" y="3429000"/>
            <a:ext cx="7721600" cy="1128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선형관계를 차원축소</a:t>
            </a:r>
            <a:endParaRPr lang="en-US" altLang="ko-KR" sz="2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Manifold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비선형관계를 차원 축소</a:t>
            </a:r>
          </a:p>
        </p:txBody>
      </p:sp>
    </p:spTree>
    <p:extLst>
      <p:ext uri="{BB962C8B-B14F-4D97-AF65-F5344CB8AC3E}">
        <p14:creationId xmlns:p14="http://schemas.microsoft.com/office/powerpoint/2010/main" val="26720173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10271-03C9-79C4-A8D0-743D4B37A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45690C-43CB-3724-856F-06FE1660C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6331FB-B472-4AEB-20C2-F26C8CDD0265}"/>
              </a:ext>
            </a:extLst>
          </p:cNvPr>
          <p:cNvSpPr txBox="1"/>
          <p:nvPr/>
        </p:nvSpPr>
        <p:spPr>
          <a:xfrm>
            <a:off x="676275" y="285750"/>
            <a:ext cx="36952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 manifold-learning</a:t>
            </a:r>
            <a:endParaRPr lang="ko-KR" altLang="en-US" sz="28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DC820A7-E4A5-0C3C-9D54-74EDF093D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287" y="1119188"/>
            <a:ext cx="3652837" cy="2698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458ACA6-AAE7-BFA8-4963-B2D28B8488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288" y="3894175"/>
            <a:ext cx="3652837" cy="2757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75172D9A-6121-3150-113F-9DC135D45A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388" y="977528"/>
            <a:ext cx="3271838" cy="2735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48F0B0A6-5055-CDF7-767B-3FFD26207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388" y="3894175"/>
            <a:ext cx="3271838" cy="2735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8307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D940E-B85D-7B3C-FEDB-FF455975B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00A08D-D2DD-BAD3-B37D-8F4C5E301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C0FC88-D33D-DE73-67F6-F47F1029A4DD}"/>
              </a:ext>
            </a:extLst>
          </p:cNvPr>
          <p:cNvSpPr txBox="1"/>
          <p:nvPr/>
        </p:nvSpPr>
        <p:spPr>
          <a:xfrm>
            <a:off x="676275" y="285750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 Linear manifold-learning</a:t>
            </a:r>
            <a:endParaRPr lang="ko-KR" altLang="en-US" sz="28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428666C-BA30-3586-383F-211CFD900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671638"/>
            <a:ext cx="4286250" cy="4150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38A96B4B-2995-323E-8E35-78602B2F13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6912" y="2082316"/>
            <a:ext cx="4538062" cy="3328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04254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F983-F86D-6D96-7178-B287B5AD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0937B1-8899-C4BB-E3DB-4847EF7A6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752250-F92A-1FC4-0C6C-35F2C9B7EEE7}"/>
              </a:ext>
            </a:extLst>
          </p:cNvPr>
          <p:cNvSpPr txBox="1"/>
          <p:nvPr/>
        </p:nvSpPr>
        <p:spPr>
          <a:xfrm>
            <a:off x="609600" y="523875"/>
            <a:ext cx="6684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Nonlinear dimensionality reduction</a:t>
            </a:r>
            <a:r>
              <a:rPr lang="en-US" altLang="ko-KR" sz="2800" dirty="0"/>
              <a:t>: </a:t>
            </a:r>
            <a:r>
              <a:rPr lang="en-US" altLang="ko-KR" sz="2800" dirty="0" err="1"/>
              <a:t>wikipedia</a:t>
            </a:r>
            <a:endParaRPr lang="ko-KR" altLang="en-US" sz="28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7BCA5DA-5050-4E15-4636-E51145267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250" y="1229311"/>
            <a:ext cx="6618503" cy="517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38517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C183E-D86D-7EC7-A480-27281857B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0ACE3-DEAD-E822-D073-769C98BE2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A1F4453-9290-47E2-4FB4-00DD0A6CB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13" y="1038811"/>
            <a:ext cx="5494157" cy="536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C23143-447F-B9DB-9103-FA4BBF090144}"/>
              </a:ext>
            </a:extLst>
          </p:cNvPr>
          <p:cNvSpPr txBox="1"/>
          <p:nvPr/>
        </p:nvSpPr>
        <p:spPr>
          <a:xfrm>
            <a:off x="676275" y="285750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 Linear manifold-learning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364753871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2724</TotalTime>
  <Words>1564</Words>
  <Application>Microsoft Office PowerPoint</Application>
  <PresentationFormat>와이드스크린</PresentationFormat>
  <Paragraphs>203</Paragraphs>
  <Slides>37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53" baseType="lpstr">
      <vt:lpstr>D2Coding</vt:lpstr>
      <vt:lpstr>나눔고딕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Calibri Light</vt:lpstr>
      <vt:lpstr>Cambria Math</vt:lpstr>
      <vt:lpstr>Segoe UI Light</vt:lpstr>
      <vt:lpstr>Times New Roman</vt:lpstr>
      <vt:lpstr>Tw Cen MT</vt:lpstr>
      <vt:lpstr>Wingdings</vt:lpstr>
      <vt:lpstr>물방울</vt:lpstr>
      <vt:lpstr>Principal Component Analysis</vt:lpstr>
      <vt:lpstr>선형대수(linear algebra)</vt:lpstr>
      <vt:lpstr>PowerPoint 프레젠테이션</vt:lpstr>
      <vt:lpstr>1차원 직선에서의 선형변환</vt:lpstr>
      <vt:lpstr>2차원 평면에서의 선형변환</vt:lpstr>
      <vt:lpstr>2차원 평면에서의 선형변환</vt:lpstr>
      <vt:lpstr>2차원 평면에서의 선형변환에 대해 생각하기</vt:lpstr>
      <vt:lpstr>2차원 평면에서의 선형변환에 대해 생각하기</vt:lpstr>
      <vt:lpstr>Hands-on</vt:lpstr>
      <vt:lpstr>PowerPoint 프레젠테이션</vt:lpstr>
      <vt:lpstr>PowerPoint 프레젠테이션</vt:lpstr>
      <vt:lpstr>기하학적 이해</vt:lpstr>
      <vt:lpstr>선형변환</vt:lpstr>
      <vt:lpstr>행렬과 내적은 선형변환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Compressing Images – Reducing rank by random choice of features</vt:lpstr>
      <vt:lpstr>Compressing Images – Reducing rank by SVD, PCA</vt:lpstr>
      <vt:lpstr>총변동량(Total Variance) of Matrix</vt:lpstr>
      <vt:lpstr>PowerPoint 프레젠테이션</vt:lpstr>
      <vt:lpstr>PowerPoint 프레젠테이션</vt:lpstr>
      <vt:lpstr>Total Variance of Matrix</vt:lpstr>
      <vt:lpstr>PowerPoint 프레젠테이션</vt:lpstr>
      <vt:lpstr>PowerPoint 프레젠테이션</vt:lpstr>
      <vt:lpstr>Appendix </vt:lpstr>
      <vt:lpstr>PowerPoint 프레젠테이션</vt:lpstr>
      <vt:lpstr>PowerPoint 프레젠테이션</vt:lpstr>
      <vt:lpstr>Manifold Learning 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51</cp:revision>
  <dcterms:created xsi:type="dcterms:W3CDTF">2026-03-09T22:59:08Z</dcterms:created>
  <dcterms:modified xsi:type="dcterms:W3CDTF">2026-04-24T10:36:58Z</dcterms:modified>
</cp:coreProperties>
</file>