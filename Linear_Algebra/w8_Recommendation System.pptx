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2"/>
  </p:notesMasterIdLst>
  <p:handoutMasterIdLst>
    <p:handoutMasterId r:id="rId33"/>
  </p:handoutMasterIdLst>
  <p:sldIdLst>
    <p:sldId id="256" r:id="rId2"/>
    <p:sldId id="1094" r:id="rId3"/>
    <p:sldId id="307" r:id="rId4"/>
    <p:sldId id="319" r:id="rId5"/>
    <p:sldId id="325" r:id="rId6"/>
    <p:sldId id="933" r:id="rId7"/>
    <p:sldId id="320" r:id="rId8"/>
    <p:sldId id="326" r:id="rId9"/>
    <p:sldId id="321" r:id="rId10"/>
    <p:sldId id="978" r:id="rId11"/>
    <p:sldId id="1116" r:id="rId12"/>
    <p:sldId id="1096" r:id="rId13"/>
    <p:sldId id="1097" r:id="rId14"/>
    <p:sldId id="1098" r:id="rId15"/>
    <p:sldId id="1095" r:id="rId16"/>
    <p:sldId id="1112" r:id="rId17"/>
    <p:sldId id="1099" r:id="rId18"/>
    <p:sldId id="1113" r:id="rId19"/>
    <p:sldId id="1114" r:id="rId20"/>
    <p:sldId id="1107" r:id="rId21"/>
    <p:sldId id="1106" r:id="rId22"/>
    <p:sldId id="1100" r:id="rId23"/>
    <p:sldId id="1117" r:id="rId24"/>
    <p:sldId id="1119" r:id="rId25"/>
    <p:sldId id="1120" r:id="rId26"/>
    <p:sldId id="1108" r:id="rId27"/>
    <p:sldId id="1101" r:id="rId28"/>
    <p:sldId id="1109" r:id="rId29"/>
    <p:sldId id="1110" r:id="rId30"/>
    <p:sldId id="1111" r:id="rId31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094"/>
            <p14:sldId id="307"/>
            <p14:sldId id="319"/>
            <p14:sldId id="325"/>
            <p14:sldId id="933"/>
            <p14:sldId id="320"/>
            <p14:sldId id="326"/>
            <p14:sldId id="321"/>
            <p14:sldId id="978"/>
            <p14:sldId id="1116"/>
            <p14:sldId id="1096"/>
            <p14:sldId id="1097"/>
            <p14:sldId id="1098"/>
            <p14:sldId id="1095"/>
            <p14:sldId id="1112"/>
            <p14:sldId id="1099"/>
            <p14:sldId id="1113"/>
            <p14:sldId id="1114"/>
            <p14:sldId id="1107"/>
            <p14:sldId id="1106"/>
            <p14:sldId id="1100"/>
            <p14:sldId id="1117"/>
            <p14:sldId id="1119"/>
            <p14:sldId id="1120"/>
            <p14:sldId id="1108"/>
            <p14:sldId id="1101"/>
            <p14:sldId id="1109"/>
            <p14:sldId id="1110"/>
            <p14:sldId id="1111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DD462F"/>
    <a:srgbClr val="FF9B45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3062" autoAdjust="0"/>
    <p:restoredTop sz="94297" autoAdjust="0"/>
  </p:normalViewPr>
  <p:slideViewPr>
    <p:cSldViewPr snapToGrid="0">
      <p:cViewPr>
        <p:scale>
          <a:sx n="75" d="100"/>
          <a:sy n="75" d="100"/>
        </p:scale>
        <p:origin x="1066" y="1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9432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2026-05-18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2026-05-18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37279-FA95-57FD-B2E0-B2C29D284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650D63E-DC71-4D37-5D4F-468F49D2D2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F898BEE-6031-34C6-F089-690D943205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C5BB30-C1B6-C7CA-4B6D-82E37F0006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86978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77BAA-B1F8-BAA3-8907-DC73D99FA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134869-1347-C420-E675-DB42F837C6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8639132-0F93-3BFD-46F6-E0024D135D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D97547-9225-314A-862E-BB2DCCF135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30435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78621-8FB5-5903-96F4-A3ED9B065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D63619-67C2-6EE1-258E-B374DDE7FB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09C356-8423-8F10-2129-10834E7316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3AF1EB-1D1F-AF1A-46B6-7D73F20987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2072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3CFFE-5149-5B6F-C1BA-78631B904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9C8FDB1-2815-4DCD-10E1-84823BC92C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652802-8077-0432-63C2-E516471D0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9A5C57-638B-2D56-842E-971FF0C9DB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3564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97F7E-9BF3-61AF-1FBE-8C63D2E6D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BE304C-4950-7A52-886C-9B19D7F543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405655-6AD2-6C7B-4798-76032C9562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357D7A-FBC2-EB56-4D40-E2AE954662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0866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3225C-2154-76A3-A327-9E8858001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AE232A-2A90-7870-75FE-AFBC5C5BB6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428BC6E-87DB-719C-FF7F-53D413BE7A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37F632-2E84-E2C9-BC59-9620D4780A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43441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9CF7B-8173-49EF-EDFA-37657D166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0AFC12-53FD-0153-A545-DD233B603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FD70DF-8935-5D25-6FE6-014875ECC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61B42F-AE86-B9E1-FB28-6DBA969D0B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20294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3145C-EFB3-DCE2-AA6B-E3949C379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186877-C011-21C2-3449-8A627607E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42E913B-49D6-5280-249C-EE2570C77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3DACF8-9A5A-5DAE-FB56-534E11DC0A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31139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77E33-6807-DEDA-7842-7F19E14BF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0D753C-C841-AE65-CF29-C3A4FB2301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1A5794A-7150-85D9-77B7-9FE30CF14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498098-ACF1-270A-CFF1-A5E3B64844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0064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EFB1F-F360-2A25-F113-9E444E9CE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7D42869-B60E-23C9-D829-6F1B82458B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A1C7E9-AED8-823F-A748-994A6344C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F8A02B-209A-04F3-E122-D074D212B6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4517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2026-05-18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2026-05-18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hyperlink" Target="https://scikit-learn.org/stable/modules/generated/sklearn.feature_extraction.text.CountVectorizer.html" TargetMode="Externa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hyperlink" Target="https://scikit-learn.org/stable/modules/generated/sklearn.metrics.pairwise.cosine_similarity.html" TargetMode="Externa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haped.ai/blog/cosine-similarity-not-the-silver-bullet-we-thought-it-was" TargetMode="External"/><Relationship Id="rId7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projector.tensorflow.org/" TargetMode="External"/><Relationship Id="rId5" Type="http://schemas.openxmlformats.org/officeDocument/2006/relationships/image" Target="../media/image30.png"/><Relationship Id="rId4" Type="http://schemas.openxmlformats.org/officeDocument/2006/relationships/hyperlink" Target="https://word2vec.kr/search/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hyperlink" Target="https://radimrehurek.com/gensim/models/word2vec.html" TargetMode="Externa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hyperlink" Target="https://radimrehurek.com/gensim/models/word2vec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platform.openai.com/tokenizer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jpeg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hyperlink" Target="https://developers.google.com/machine-learning/recommendation/content-based/basics" TargetMode="Externa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n-US" altLang="ko-KR" sz="4800" dirty="0">
                <a:solidFill>
                  <a:schemeClr val="bg1"/>
                </a:solidFill>
              </a:rPr>
              <a:t>Recommendation Systems</a:t>
            </a:r>
            <a:endParaRPr lang="ko-KR" altLang="en-US" sz="4800" dirty="0">
              <a:solidFill>
                <a:schemeClr val="bg1"/>
              </a:solidFill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 rtlCol="0">
            <a:norm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 cosine similarity &amp; inner product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Spring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125F6-F24E-9FB4-6ECA-D22604C4A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B0C61D8-1616-C6B8-9FEC-D11B28CD4BF2}"/>
              </a:ext>
            </a:extLst>
          </p:cNvPr>
          <p:cNvSpPr/>
          <p:nvPr/>
        </p:nvSpPr>
        <p:spPr>
          <a:xfrm>
            <a:off x="1457324" y="1600201"/>
            <a:ext cx="8277225" cy="6400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A47D1732-55A1-BAC2-7A11-146984E7C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solidFill>
                  <a:schemeClr val="tx1"/>
                </a:solidFill>
                <a:cs typeface="Segoe UI Light" panose="020B0502040204020203" pitchFamily="34" charset="0"/>
              </a:rPr>
              <a:t>Contents</a:t>
            </a:r>
            <a:endParaRPr lang="ko-KR" altLang="en-US" dirty="0">
              <a:solidFill>
                <a:schemeClr val="tx1"/>
              </a:solidFill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8BD6D622-6C11-B524-84D3-DE18F25D86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</a:t>
            </a:fld>
            <a:endParaRPr lang="ko-KR" alt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C1D6EC-EA81-70BB-F0CB-C30EA60FDF8D}"/>
              </a:ext>
            </a:extLst>
          </p:cNvPr>
          <p:cNvSpPr txBox="1"/>
          <p:nvPr/>
        </p:nvSpPr>
        <p:spPr>
          <a:xfrm>
            <a:off x="1957661" y="1537527"/>
            <a:ext cx="8662713" cy="3257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Cosine similarity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Word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Embedding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Content based recommendation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28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28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2090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FFB1-E1E2-8E62-3792-451CCC9C7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09AFAD1A-77BE-E3E5-1484-C0ADD05F2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Distances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405552FD-DD84-8A7B-2402-095393843C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</a:t>
            </a:fld>
            <a:endParaRPr lang="ko-KR" altLang="en-US" noProof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2D01898-5783-BACA-90B1-5A85C6E33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149" y="1801459"/>
            <a:ext cx="10301258" cy="4402493"/>
          </a:xfrm>
          <a:prstGeom prst="rect">
            <a:avLst/>
          </a:prstGeom>
        </p:spPr>
      </p:pic>
      <p:pic>
        <p:nvPicPr>
          <p:cNvPr id="7" name="그래픽 6" descr="우주비행 접시 단색으로 채워진">
            <a:extLst>
              <a:ext uri="{FF2B5EF4-FFF2-40B4-BE49-F238E27FC236}">
                <a16:creationId xmlns:a16="http://schemas.microsoft.com/office/drawing/2014/main" id="{5192A352-5678-CFF5-44F8-AC65840C6D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57757" y="415924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446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E384D-1BCA-4A59-E959-AE78A2D9B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B59542F-3FB0-23B0-727C-182A5B558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The dot product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8E79E82-A920-AD9B-45C8-AD9129F0F3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4</a:t>
            </a:fld>
            <a:endParaRPr lang="ko-KR" altLang="en-US" noProof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CA95B7F-A55C-7CA4-9772-E369FB2CB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600" y="2447925"/>
            <a:ext cx="5867019" cy="35578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0747BF-D994-93A2-8BC7-760B244DAAB8}"/>
              </a:ext>
            </a:extLst>
          </p:cNvPr>
          <p:cNvSpPr txBox="1"/>
          <p:nvPr/>
        </p:nvSpPr>
        <p:spPr>
          <a:xfrm>
            <a:off x="521206" y="1335903"/>
            <a:ext cx="11042143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내적은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“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한 벡터가 다른 벡터의 방향으로 얼마나 힘을 보태고 있는가"를 수치화한 것으로 두 벡터의 유사도를 측정하는 지표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2F22B95-EB19-38C7-C50E-7CF9D1486C96}"/>
                  </a:ext>
                </a:extLst>
              </p:cNvPr>
              <p:cNvSpPr txBox="1"/>
              <p:nvPr/>
            </p:nvSpPr>
            <p:spPr>
              <a:xfrm>
                <a:off x="7810500" y="2811423"/>
                <a:ext cx="39243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두 벡터 내적 값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(L2):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dirty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ko-KR" altLang="en-US" i="0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ko-KR" altLang="en-US" i="0" dirty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ko-KR" alt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0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ko-KR" altLang="en-US" i="0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= 40</m:t>
                    </m:r>
                  </m:oMath>
                </a14:m>
                <a:endParaRPr lang="ko-KR" altLang="en-US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2F22B95-EB19-38C7-C50E-7CF9D1486C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0500" y="2811423"/>
                <a:ext cx="3924300" cy="369332"/>
              </a:xfrm>
              <a:prstGeom prst="rect">
                <a:avLst/>
              </a:prstGeom>
              <a:blipFill>
                <a:blip r:embed="rId4"/>
                <a:stretch>
                  <a:fillRect l="-1242"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3D1DA78A-7423-A102-F2FB-399F191AF1B7}"/>
              </a:ext>
            </a:extLst>
          </p:cNvPr>
          <p:cNvCxnSpPr/>
          <p:nvPr/>
        </p:nvCxnSpPr>
        <p:spPr>
          <a:xfrm>
            <a:off x="6496050" y="3011478"/>
            <a:ext cx="97155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CB997FC-D176-8CB6-B304-04883660AED6}"/>
              </a:ext>
            </a:extLst>
          </p:cNvPr>
          <p:cNvSpPr txBox="1"/>
          <p:nvPr/>
        </p:nvSpPr>
        <p:spPr>
          <a:xfrm>
            <a:off x="2000250" y="3802777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(6, 2)</a:t>
            </a:r>
            <a:endParaRPr lang="ko-KR" altLang="en-US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F79201-10ED-4658-9AF2-4A0C30CB1489}"/>
              </a:ext>
            </a:extLst>
          </p:cNvPr>
          <p:cNvSpPr txBox="1"/>
          <p:nvPr/>
        </p:nvSpPr>
        <p:spPr>
          <a:xfrm>
            <a:off x="323850" y="3352800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(-1, 3)</a:t>
            </a:r>
            <a:endParaRPr lang="ko-KR" altLang="en-US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29605B-FD1C-A13A-351D-0CC4E53BACF1}"/>
              </a:ext>
            </a:extLst>
          </p:cNvPr>
          <p:cNvSpPr txBox="1"/>
          <p:nvPr/>
        </p:nvSpPr>
        <p:spPr>
          <a:xfrm>
            <a:off x="1781175" y="2406417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(6, 2)</a:t>
            </a:r>
            <a:endParaRPr lang="ko-KR" altLang="en-US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787C9B-078F-33FE-B29F-05CE6FAD9C7B}"/>
              </a:ext>
            </a:extLst>
          </p:cNvPr>
          <p:cNvSpPr txBox="1"/>
          <p:nvPr/>
        </p:nvSpPr>
        <p:spPr>
          <a:xfrm>
            <a:off x="2000250" y="4993846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(6, 2)</a:t>
            </a:r>
            <a:endParaRPr lang="ko-KR" altLang="en-US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5035DB-DBC6-14A8-7205-DFAE3560644A}"/>
              </a:ext>
            </a:extLst>
          </p:cNvPr>
          <p:cNvSpPr txBox="1"/>
          <p:nvPr/>
        </p:nvSpPr>
        <p:spPr>
          <a:xfrm>
            <a:off x="284726" y="4624514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(-0.5, 5)</a:t>
            </a:r>
            <a:endParaRPr lang="ko-KR" altLang="en-US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EAEAEC0-6668-D318-7146-BE6D28F814D3}"/>
                  </a:ext>
                </a:extLst>
              </p:cNvPr>
              <p:cNvSpPr txBox="1"/>
              <p:nvPr/>
            </p:nvSpPr>
            <p:spPr>
              <a:xfrm>
                <a:off x="7810500" y="3966705"/>
                <a:ext cx="40119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두 벡터 내적 값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−1∗6</m:t>
                    </m:r>
                    <m:r>
                      <a:rPr lang="ko-KR" altLang="en-US" i="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3∗2 = 0</m:t>
                    </m:r>
                  </m:oMath>
                </a14:m>
                <a:endParaRPr lang="ko-KR" altLang="en-US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EAEAEC0-6668-D318-7146-BE6D28F814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0500" y="3966705"/>
                <a:ext cx="4011900" cy="369332"/>
              </a:xfrm>
              <a:prstGeom prst="rect">
                <a:avLst/>
              </a:prstGeom>
              <a:blipFill>
                <a:blip r:embed="rId5"/>
                <a:stretch>
                  <a:fillRect l="-1216" t="-10000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CA815804-C985-F232-32CF-68851677BA34}"/>
              </a:ext>
            </a:extLst>
          </p:cNvPr>
          <p:cNvCxnSpPr/>
          <p:nvPr/>
        </p:nvCxnSpPr>
        <p:spPr>
          <a:xfrm>
            <a:off x="6496050" y="4166760"/>
            <a:ext cx="97155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9E08B81-6319-2AEE-2CAC-9776B84E2417}"/>
                  </a:ext>
                </a:extLst>
              </p:cNvPr>
              <p:cNvSpPr txBox="1"/>
              <p:nvPr/>
            </p:nvSpPr>
            <p:spPr>
              <a:xfrm>
                <a:off x="7810499" y="5121987"/>
                <a:ext cx="40118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두 벡터 내적 값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b="0" i="0" dirty="0" smtClean="0">
                        <a:latin typeface="Cambria Math" panose="02040503050406030204" pitchFamily="18" charset="0"/>
                      </a:rPr>
                      <m:t>−0.5∗6 + 5∗2 = 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lang="ko-KR" altLang="en-US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9E08B81-6319-2AEE-2CAC-9776B84E2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0499" y="5121987"/>
                <a:ext cx="4011899" cy="369332"/>
              </a:xfrm>
              <a:prstGeom prst="rect">
                <a:avLst/>
              </a:prstGeom>
              <a:blipFill>
                <a:blip r:embed="rId6"/>
                <a:stretch>
                  <a:fillRect l="-1216"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9EDFF811-54CA-3F68-484E-1A4D9273E08B}"/>
              </a:ext>
            </a:extLst>
          </p:cNvPr>
          <p:cNvCxnSpPr/>
          <p:nvPr/>
        </p:nvCxnSpPr>
        <p:spPr>
          <a:xfrm>
            <a:off x="6496050" y="5322042"/>
            <a:ext cx="97155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0973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6B6AF-8E99-E870-7771-4445E54EC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CD707525-BF5B-10CA-ED06-63047E362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Projection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(land)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224C6EA8-0778-273F-E2CA-86DC793E5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5</a:t>
            </a:fld>
            <a:endParaRPr lang="ko-KR" altLang="en-US" noProof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E993BB2-7D33-053E-5D6C-955BA59F0393}"/>
              </a:ext>
            </a:extLst>
          </p:cNvPr>
          <p:cNvGrpSpPr/>
          <p:nvPr/>
        </p:nvGrpSpPr>
        <p:grpSpPr>
          <a:xfrm>
            <a:off x="656761" y="2283333"/>
            <a:ext cx="4043071" cy="2547777"/>
            <a:chOff x="780631" y="2446425"/>
            <a:chExt cx="6001588" cy="3781953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E7254D18-31A2-88D1-0BF3-746EDC9DD7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0631" y="2446425"/>
              <a:ext cx="6001588" cy="3781953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07A30F9F-1156-708A-94F4-04C1539F7C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1645" y="4446954"/>
              <a:ext cx="5449060" cy="178142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0219FD-B2B1-ECEE-03A8-C9B04048AA39}"/>
                  </a:ext>
                </a:extLst>
              </p:cNvPr>
              <p:cNvSpPr txBox="1"/>
              <p:nvPr/>
            </p:nvSpPr>
            <p:spPr>
              <a:xfrm>
                <a:off x="557702" y="1295179"/>
                <a:ext cx="11167573" cy="8705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두 벡터가 어떤 각도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떨어져 있다면, 그 각도(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ko-KR" altLang="en-US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)만큼을 보정해서 곱해주는 것으로 벡터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의 벡터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크기와 방향이 변함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로 벡터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에 </a:t>
                </a:r>
                <a:r>
                  <a:rPr lang="ko-KR" altLang="en-US" b="1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투영</a:t>
                </a:r>
                <a:r>
                  <a:rPr lang="en-US" altLang="ko-KR" b="1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(projection)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된 것임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0219FD-B2B1-ECEE-03A8-C9B04048A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02" y="1295179"/>
                <a:ext cx="11167573" cy="870559"/>
              </a:xfrm>
              <a:prstGeom prst="rect">
                <a:avLst/>
              </a:prstGeom>
              <a:blipFill>
                <a:blip r:embed="rId5"/>
                <a:stretch>
                  <a:fillRect l="-437" b="-97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4">
            <a:extLst>
              <a:ext uri="{FF2B5EF4-FFF2-40B4-BE49-F238E27FC236}">
                <a16:creationId xmlns:a16="http://schemas.microsoft.com/office/drawing/2014/main" id="{7F37D204-B963-5340-3176-54A9BE5CF4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832" y="2283085"/>
            <a:ext cx="5964314" cy="4343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D99AB6-1E6E-9E47-FFFA-7610744E5DF3}"/>
              </a:ext>
            </a:extLst>
          </p:cNvPr>
          <p:cNvSpPr txBox="1"/>
          <p:nvPr/>
        </p:nvSpPr>
        <p:spPr>
          <a:xfrm>
            <a:off x="7941396" y="4770371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(5, 1)</a:t>
            </a:r>
            <a:endParaRPr lang="ko-KR" altLang="en-US" b="1" dirty="0">
              <a:solidFill>
                <a:srgbClr val="0070C0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AB5E5B-6FB5-4E7C-E091-AA53B13DBEC5}"/>
              </a:ext>
            </a:extLst>
          </p:cNvPr>
          <p:cNvSpPr txBox="1"/>
          <p:nvPr/>
        </p:nvSpPr>
        <p:spPr>
          <a:xfrm>
            <a:off x="5857326" y="2922577"/>
            <a:ext cx="694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(2, 4)</a:t>
            </a:r>
            <a:endParaRPr lang="ko-KR" altLang="en-US" b="1" dirty="0">
              <a:solidFill>
                <a:srgbClr val="FF0000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6690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FED9C-642C-6E7D-13CE-A5CBE78C9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0C866586-1090-BCE6-24BD-EF3687590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The dot product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C64BB9C7-B94F-8703-83F3-91E64442B5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6</a:t>
            </a:fld>
            <a:endParaRPr lang="ko-KR" altLang="en-US" noProof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A97CE9-5B01-4BE8-31BE-514F9A3FA5CF}"/>
              </a:ext>
            </a:extLst>
          </p:cNvPr>
          <p:cNvSpPr txBox="1"/>
          <p:nvPr/>
        </p:nvSpPr>
        <p:spPr>
          <a:xfrm>
            <a:off x="600075" y="1498140"/>
            <a:ext cx="88424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2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벡터의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내적을 구하고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cosine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각도와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norm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이용한 수식과 비교하라</a:t>
            </a:r>
          </a:p>
        </p:txBody>
      </p:sp>
      <p:pic>
        <p:nvPicPr>
          <p:cNvPr id="2" name="Picture 4" descr="도자기 작업장. 성인과 어린이의 손이 도자기를 만들고 젖은 점토 근접 촬영으로 작업합니다. 더러운 손으로 바퀴에 점토로 그릇을 만드는 과정. 여름 공원의 수제 축제">
            <a:extLst>
              <a:ext uri="{FF2B5EF4-FFF2-40B4-BE49-F238E27FC236}">
                <a16:creationId xmlns:a16="http://schemas.microsoft.com/office/drawing/2014/main" id="{500A6951-0D33-9CF0-C1CB-54740BF936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2899" y="55419"/>
            <a:ext cx="1633682" cy="108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2C5599D2-5CB2-2D4D-EB27-36F32BB1C176}"/>
              </a:ext>
            </a:extLst>
          </p:cNvPr>
          <p:cNvGrpSpPr/>
          <p:nvPr/>
        </p:nvGrpSpPr>
        <p:grpSpPr>
          <a:xfrm>
            <a:off x="400049" y="2206656"/>
            <a:ext cx="4305301" cy="3997296"/>
            <a:chOff x="590550" y="2308254"/>
            <a:chExt cx="6235605" cy="431294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70ACE0D-40F9-AA36-E971-355B7AD33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0075" y="2308254"/>
              <a:ext cx="6226080" cy="3543607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0CED7419-46BA-2937-2AF0-DAA74BCA7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0550" y="5539060"/>
              <a:ext cx="6226080" cy="1082134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1675D88-1DBF-5A46-AE04-D61EDD024110}"/>
              </a:ext>
            </a:extLst>
          </p:cNvPr>
          <p:cNvSpPr txBox="1"/>
          <p:nvPr/>
        </p:nvSpPr>
        <p:spPr>
          <a:xfrm>
            <a:off x="4711926" y="2482990"/>
            <a:ext cx="7016988" cy="3554819"/>
          </a:xfrm>
          <a:prstGeom prst="rect">
            <a:avLst/>
          </a:prstGeom>
          <a:solidFill>
            <a:srgbClr val="76E3FF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5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import </a:t>
            </a:r>
            <a:r>
              <a:rPr lang="en-US" altLang="ko-KR" sz="15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numpy</a:t>
            </a:r>
            <a:r>
              <a:rPr lang="en-US" altLang="ko-KR" sz="15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as np</a:t>
            </a:r>
          </a:p>
          <a:p>
            <a:pPr>
              <a:buNone/>
            </a:pPr>
            <a:endParaRPr lang="en-US" altLang="ko-KR" sz="1500" b="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>
              <a:buNone/>
            </a:pPr>
            <a:r>
              <a:rPr lang="en-US" altLang="ko-KR" sz="15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u = </a:t>
            </a:r>
            <a:r>
              <a:rPr lang="en-US" altLang="ko-KR" sz="15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np.array</a:t>
            </a:r>
            <a:r>
              <a:rPr lang="en-US" altLang="ko-KR" sz="15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([3, 5]); v = </a:t>
            </a:r>
            <a:r>
              <a:rPr lang="en-US" altLang="ko-KR" sz="15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np.array</a:t>
            </a:r>
            <a:r>
              <a:rPr lang="en-US" altLang="ko-KR" sz="15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([6, 2])</a:t>
            </a:r>
          </a:p>
          <a:p>
            <a:pPr>
              <a:buNone/>
            </a:pPr>
            <a:r>
              <a:rPr lang="en-US" altLang="ko-KR" sz="15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dot_product</a:t>
            </a:r>
            <a:r>
              <a:rPr lang="en-US" altLang="ko-KR" sz="15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np.dot(u, v)</a:t>
            </a:r>
          </a:p>
          <a:p>
            <a:pPr>
              <a:buNone/>
            </a:pPr>
            <a:r>
              <a:rPr lang="en-US" altLang="ko-KR" sz="15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norm_u</a:t>
            </a:r>
            <a:r>
              <a:rPr lang="en-US" altLang="ko-KR" sz="15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5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np.linalg.norm</a:t>
            </a:r>
            <a:r>
              <a:rPr lang="en-US" altLang="ko-KR" sz="15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(u); </a:t>
            </a:r>
            <a:r>
              <a:rPr lang="en-US" altLang="ko-KR" sz="15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norm_v</a:t>
            </a:r>
            <a:r>
              <a:rPr lang="en-US" altLang="ko-KR" sz="15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5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np.linalg.norm</a:t>
            </a:r>
            <a:r>
              <a:rPr lang="en-US" altLang="ko-KR" sz="15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(v)</a:t>
            </a:r>
          </a:p>
          <a:p>
            <a:pPr>
              <a:buNone/>
            </a:pPr>
            <a:endParaRPr lang="en-US" altLang="ko-KR" sz="1500" b="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>
              <a:buNone/>
            </a:pPr>
            <a:r>
              <a:rPr lang="en-US" altLang="ko-KR" sz="15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Calculate the cosine of the angle</a:t>
            </a:r>
          </a:p>
          <a:p>
            <a:pPr>
              <a:buNone/>
            </a:pPr>
            <a:endParaRPr lang="en-US" altLang="ko-KR" sz="1500" b="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>
              <a:buNone/>
            </a:pPr>
            <a:r>
              <a:rPr lang="en-US" altLang="ko-KR" sz="15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cos_theta</a:t>
            </a:r>
            <a:r>
              <a:rPr lang="en-US" altLang="ko-KR" sz="15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5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dot_product</a:t>
            </a:r>
            <a:r>
              <a:rPr lang="en-US" altLang="ko-KR" sz="15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/ (</a:t>
            </a:r>
            <a:r>
              <a:rPr lang="en-US" altLang="ko-KR" sz="15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norm_u</a:t>
            </a:r>
            <a:r>
              <a:rPr lang="en-US" altLang="ko-KR" sz="15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* </a:t>
            </a:r>
            <a:r>
              <a:rPr lang="en-US" altLang="ko-KR" sz="15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norm_v</a:t>
            </a:r>
            <a:r>
              <a:rPr lang="en-US" altLang="ko-KR" sz="15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</a:p>
          <a:p>
            <a:pPr>
              <a:buNone/>
            </a:pPr>
            <a:endParaRPr lang="en-US" altLang="ko-KR" sz="1500" b="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>
              <a:buNone/>
            </a:pPr>
            <a:r>
              <a:rPr lang="en-US" altLang="ko-KR" sz="15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print(</a:t>
            </a:r>
            <a:r>
              <a:rPr lang="en-US" altLang="ko-KR" sz="15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f"Vector</a:t>
            </a:r>
            <a:r>
              <a:rPr lang="en-US" altLang="ko-KR" sz="15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u and v: {u} and {v}")</a:t>
            </a:r>
          </a:p>
          <a:p>
            <a:pPr>
              <a:buNone/>
            </a:pPr>
            <a:r>
              <a:rPr lang="en-US" altLang="ko-KR" sz="15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print(</a:t>
            </a:r>
            <a:r>
              <a:rPr lang="en-US" altLang="ko-KR" sz="15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f"Dot</a:t>
            </a:r>
            <a:r>
              <a:rPr lang="en-US" altLang="ko-KR" sz="15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product (u · v): {</a:t>
            </a:r>
            <a:r>
              <a:rPr lang="en-US" altLang="ko-KR" sz="15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dot_product</a:t>
            </a:r>
            <a:r>
              <a:rPr lang="en-US" altLang="ko-KR" sz="15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}")</a:t>
            </a:r>
          </a:p>
          <a:p>
            <a:pPr>
              <a:buNone/>
            </a:pPr>
            <a:r>
              <a:rPr lang="en-US" altLang="ko-KR" sz="15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print(</a:t>
            </a:r>
            <a:r>
              <a:rPr lang="en-US" altLang="ko-KR" sz="15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f"Norm</a:t>
            </a:r>
            <a:r>
              <a:rPr lang="en-US" altLang="ko-KR" sz="15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of u (||u||) and v (||v||): {norm_u:.2f} &amp; {norm_v:.2f}")</a:t>
            </a:r>
          </a:p>
          <a:p>
            <a:pPr>
              <a:buNone/>
            </a:pPr>
            <a:r>
              <a:rPr lang="en-US" altLang="ko-KR" sz="15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print(</a:t>
            </a:r>
            <a:r>
              <a:rPr lang="en-US" altLang="ko-KR" sz="15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f"Cosine</a:t>
            </a:r>
            <a:r>
              <a:rPr lang="en-US" altLang="ko-KR" sz="15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of the angle (cos(theta)): {cos_theta:.4f}")</a:t>
            </a:r>
          </a:p>
          <a:p>
            <a:pPr>
              <a:buNone/>
            </a:pPr>
            <a:r>
              <a:rPr lang="en-US" altLang="ko-KR" sz="15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print(</a:t>
            </a:r>
            <a:r>
              <a:rPr lang="en-US" altLang="ko-KR" sz="15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f"Result</a:t>
            </a:r>
            <a:r>
              <a:rPr lang="en-US" altLang="ko-KR" sz="15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of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||u||</a:t>
            </a:r>
            <a:r>
              <a:rPr lang="en-US" altLang="ko-KR" sz="15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*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||v||</a:t>
            </a:r>
            <a:r>
              <a:rPr lang="en-US" altLang="ko-KR" sz="15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*</a:t>
            </a:r>
            <a:r>
              <a:rPr lang="en-US" altLang="ko-KR" sz="15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cos_theta</a:t>
            </a:r>
            <a:r>
              <a:rPr lang="en-US" altLang="ko-KR" sz="15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: {</a:t>
            </a:r>
            <a:r>
              <a:rPr lang="en-US" altLang="ko-KR" sz="15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norm_u</a:t>
            </a:r>
            <a:r>
              <a:rPr lang="en-US" altLang="ko-KR" sz="15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*</a:t>
            </a:r>
            <a:r>
              <a:rPr lang="en-US" altLang="ko-KR" sz="15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norm_v</a:t>
            </a:r>
            <a:r>
              <a:rPr lang="en-US" altLang="ko-KR" sz="15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*cos_theta:.2f}")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3E58C0-3897-DABC-1CAE-1E4D8FB2E99C}"/>
              </a:ext>
            </a:extLst>
          </p:cNvPr>
          <p:cNvSpPr txBox="1"/>
          <p:nvPr/>
        </p:nvSpPr>
        <p:spPr>
          <a:xfrm>
            <a:off x="3917737" y="3891068"/>
            <a:ext cx="6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(6, 2)</a:t>
            </a:r>
            <a:endParaRPr lang="ko-KR" altLang="en-US" b="1" dirty="0">
              <a:solidFill>
                <a:srgbClr val="00B050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322B07-5625-35A5-1F68-69B88AB19B3F}"/>
              </a:ext>
            </a:extLst>
          </p:cNvPr>
          <p:cNvSpPr txBox="1"/>
          <p:nvPr/>
        </p:nvSpPr>
        <p:spPr>
          <a:xfrm>
            <a:off x="2866476" y="2813075"/>
            <a:ext cx="6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(3, 5)</a:t>
            </a:r>
            <a:endParaRPr lang="ko-KR" altLang="en-US" b="1" dirty="0">
              <a:solidFill>
                <a:srgbClr val="0070C0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9218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FF3A9-DA07-005D-AA1B-03AF081A4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5DC4760A-E26A-BC72-7F4A-10363D5CF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Geometric dot product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D287C0EC-E537-21CA-8060-E33FAEE2DB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7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61A4F65-BCF2-12CC-2198-60473B61D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783" y="1947574"/>
            <a:ext cx="9202434" cy="412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801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13F83-0552-F82F-7B03-1738832D7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0FDDD879-5D18-29C9-68B7-C3DE1F38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Geometric dot product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7CBF237C-AB0E-F99E-CDCC-14854D5565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8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48BE910-A271-D9B7-E8BD-092DD625B2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37649" y="1866606"/>
            <a:ext cx="8973802" cy="421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364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32981-E7F5-BD9E-1EBB-958C1F8A5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00C500A8-A0DF-0D2C-C47B-8A4138ACB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Geometric dot product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F1B2E616-996B-3727-BC95-522EBCAFB4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9</a:t>
            </a:fld>
            <a:endParaRPr lang="ko-KR" altLang="en-US" noProof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624AD68-A456-813C-6081-23E74576B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019" y="1343024"/>
            <a:ext cx="5771601" cy="2246333"/>
          </a:xfrm>
          <a:prstGeom prst="rect">
            <a:avLst/>
          </a:prstGeom>
        </p:spPr>
      </p:pic>
      <p:pic>
        <p:nvPicPr>
          <p:cNvPr id="17414" name="Picture 6">
            <a:extLst>
              <a:ext uri="{FF2B5EF4-FFF2-40B4-BE49-F238E27FC236}">
                <a16:creationId xmlns:a16="http://schemas.microsoft.com/office/drawing/2014/main" id="{C8007836-D907-5A4F-4B40-5286E0485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755" y="1343024"/>
            <a:ext cx="5169264" cy="5277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0503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FB53F-5797-0BB2-9323-F166DE5B6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FB5B3E-2733-6F10-C433-7C314850C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56A9490-8D65-6528-22C1-98B7D508091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Cosine Similarity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747EDD-F717-2F86-B83C-CA5F3D943427}"/>
              </a:ext>
            </a:extLst>
          </p:cNvPr>
          <p:cNvSpPr txBox="1"/>
          <p:nvPr/>
        </p:nvSpPr>
        <p:spPr>
          <a:xfrm>
            <a:off x="561974" y="1265090"/>
            <a:ext cx="10835829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A, B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두 벡터가 얼마나 유사한지를 측정하는 방법으로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내적을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각각의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L2 norm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곱으로 나눈 값으로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A, B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벡터의 크기는 코사인 유사성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값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Cosine similarity)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 영향을 미치지 않음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B5C8463-F9B6-C7BA-D31B-AE9DFAF7C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6825" y="2687781"/>
            <a:ext cx="7848600" cy="3228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DC6311A-ECC9-7BCE-EF58-9280B1C2B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85" y="2687781"/>
            <a:ext cx="2949575" cy="85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360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7C3F8-D617-6B0D-01CB-07E98EAFB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3B6778-8D74-4774-ADAF-B4439BF18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F1E513D-448E-D299-EBFD-58063EEAD46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Cosine Similarity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2" name="Picture 4" descr="도자기 작업장. 성인과 어린이의 손이 도자기를 만들고 젖은 점토 근접 촬영으로 작업합니다. 더러운 손으로 바퀴에 점토로 그릇을 만드는 과정. 여름 공원의 수제 축제">
            <a:extLst>
              <a:ext uri="{FF2B5EF4-FFF2-40B4-BE49-F238E27FC236}">
                <a16:creationId xmlns:a16="http://schemas.microsoft.com/office/drawing/2014/main" id="{82786C56-4422-E40D-F67C-BBC4C12C4A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2899" y="55419"/>
            <a:ext cx="1633682" cy="108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43EFE3-86C7-087E-E394-15ECD1024B18}"/>
              </a:ext>
            </a:extLst>
          </p:cNvPr>
          <p:cNvSpPr txBox="1"/>
          <p:nvPr/>
        </p:nvSpPr>
        <p:spPr>
          <a:xfrm>
            <a:off x="792480" y="3896174"/>
            <a:ext cx="7468711" cy="1569660"/>
          </a:xfrm>
          <a:prstGeom prst="rect">
            <a:avLst/>
          </a:prstGeom>
          <a:solidFill>
            <a:srgbClr val="76E3FF"/>
          </a:solidFill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as np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def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cos_sim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(A, B):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return np.dot(A, B) / 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np.linalg.norm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(A) *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np.linalg.norm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(B))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차원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차원 결과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{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cos_sim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np.array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([3, 4]),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np.array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([2, 7])):.1f}")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7933B4-0F19-CE2E-9F17-737219C1BF43}"/>
              </a:ext>
            </a:extLst>
          </p:cNvPr>
          <p:cNvSpPr txBox="1"/>
          <p:nvPr/>
        </p:nvSpPr>
        <p:spPr>
          <a:xfrm>
            <a:off x="609600" y="1392166"/>
            <a:ext cx="10972799" cy="15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어떤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임베딩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모델을 통해 얻은 두 단어의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차원 벡터가 각각 벡터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 = [3, 4],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벡터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 = [3, 0]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일 때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두 단어 벡터의 코사인 유사도를 계산하고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 값이 가지는 의미를 간단히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서술하시오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다양한 차원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(3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차원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5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차원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고차원 등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에서 아래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파이썬코드를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그 의미를 이해하자</a:t>
            </a:r>
          </a:p>
        </p:txBody>
      </p:sp>
    </p:spTree>
    <p:extLst>
      <p:ext uri="{BB962C8B-B14F-4D97-AF65-F5344CB8AC3E}">
        <p14:creationId xmlns:p14="http://schemas.microsoft.com/office/powerpoint/2010/main" val="2844266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5ED18-E2D7-EC2B-396C-414AC9543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86FFF8-2BDB-C8AE-18EF-6E9CB99F6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02668F2-37DB-B0D9-174F-166D092F055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Hands-on; Homework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93E848-9B69-46A2-07A3-E417E53CA04F}"/>
              </a:ext>
            </a:extLst>
          </p:cNvPr>
          <p:cNvSpPr txBox="1"/>
          <p:nvPr/>
        </p:nvSpPr>
        <p:spPr>
          <a:xfrm>
            <a:off x="561974" y="1265090"/>
            <a:ext cx="10835829" cy="15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아래는 슈퍼맨과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조드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장군의 대화이다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sklearn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/>
              </a:rPr>
              <a:t>CountVectorizer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객체 생성 및 학습을 통해 추출된 단어 목록으로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데이터셋을 생성하고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save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kill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이외 모든 단어는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불용어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Stopwords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처리한 데이터 셋으로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대사의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cosine similarity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각각 구하고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차원 평면에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축은 슈퍼맨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y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축은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조드장군으로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각 대사를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시각화하라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2" name="Picture 4" descr="도자기 작업장. 성인과 어린이의 손이 도자기를 만들고 젖은 점토 근접 촬영으로 작업합니다. 더러운 손으로 바퀴에 점토로 그릇을 만드는 과정. 여름 공원의 수제 축제">
            <a:extLst>
              <a:ext uri="{FF2B5EF4-FFF2-40B4-BE49-F238E27FC236}">
                <a16:creationId xmlns:a16="http://schemas.microsoft.com/office/drawing/2014/main" id="{6AE8D24D-C5E2-265C-B42F-A7C723590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2899" y="55419"/>
            <a:ext cx="1633682" cy="108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7785A9-E5DF-F613-9143-E1C1C273BB75}"/>
              </a:ext>
            </a:extLst>
          </p:cNvPr>
          <p:cNvSpPr txBox="1"/>
          <p:nvPr/>
        </p:nvSpPr>
        <p:spPr>
          <a:xfrm>
            <a:off x="676274" y="3104589"/>
            <a:ext cx="9553576" cy="3046988"/>
          </a:xfrm>
          <a:prstGeom prst="rect">
            <a:avLst/>
          </a:prstGeom>
          <a:solidFill>
            <a:srgbClr val="76E3FF"/>
          </a:solidFill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sklearn.feature_extraction.text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CountVectorizer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1.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슈퍼맨과 악당의 대화 코퍼스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번갈아가며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대사 진행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corpus = [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"I am Superman and I will save this city",                         # Superman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"I will kill everybody Superman because I have kryptonite",        # General Zod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"Your kryptonite cannot stop my justice, I will save the earth",   # Superman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"This city belongs to me and I will kill you"                      # General Zod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대사의 화자 라벨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speakers = ["Superman", "General Zod", "Superman", "General Zod"]</a:t>
            </a:r>
          </a:p>
        </p:txBody>
      </p:sp>
    </p:spTree>
    <p:extLst>
      <p:ext uri="{BB962C8B-B14F-4D97-AF65-F5344CB8AC3E}">
        <p14:creationId xmlns:p14="http://schemas.microsoft.com/office/powerpoint/2010/main" val="537048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67584-89A1-DD2F-B06C-5F8C4074D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B6D7CE-F93A-CA89-BFD2-6B2E74876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DBF6FD3-2B5D-2BCE-D693-0017B1709B2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Hands-on; Homework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2" name="Picture 4" descr="도자기 작업장. 성인과 어린이의 손이 도자기를 만들고 젖은 점토 근접 촬영으로 작업합니다. 더러운 손으로 바퀴에 점토로 그릇을 만드는 과정. 여름 공원의 수제 축제">
            <a:extLst>
              <a:ext uri="{FF2B5EF4-FFF2-40B4-BE49-F238E27FC236}">
                <a16:creationId xmlns:a16="http://schemas.microsoft.com/office/drawing/2014/main" id="{B1E9FB9D-D5A0-7F3C-934D-15F6FEB38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2899" y="55419"/>
            <a:ext cx="1633682" cy="108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318A018-D5D2-AA17-0B36-E29C11DCF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398" y="1470490"/>
            <a:ext cx="11046202" cy="185305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F8120E3-61F0-E166-3699-DC8A2566E7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398" y="3893861"/>
            <a:ext cx="2089002" cy="1697314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412497BE-204C-C613-C9BC-1F4DDAEC48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3005" y="3720207"/>
            <a:ext cx="3765685" cy="2812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6C3D955-B992-7B9C-2436-C5F9A8AE6E57}"/>
              </a:ext>
            </a:extLst>
          </p:cNvPr>
          <p:cNvSpPr txBox="1"/>
          <p:nvPr/>
        </p:nvSpPr>
        <p:spPr>
          <a:xfrm>
            <a:off x="612398" y="3524529"/>
            <a:ext cx="23304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without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stopwords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99603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73116-D3DD-6A26-3BE7-834836808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C1BA7F-6649-69AE-5C5F-F711315DC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FFED3AF-BC31-83F3-05B3-96D7E408955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Hands-on; Homework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2" name="Picture 4" descr="도자기 작업장. 성인과 어린이의 손이 도자기를 만들고 젖은 점토 근접 촬영으로 작업합니다. 더러운 손으로 바퀴에 점토로 그릇을 만드는 과정. 여름 공원의 수제 축제">
            <a:extLst>
              <a:ext uri="{FF2B5EF4-FFF2-40B4-BE49-F238E27FC236}">
                <a16:creationId xmlns:a16="http://schemas.microsoft.com/office/drawing/2014/main" id="{661C0D7C-0F32-656C-612E-AAC52DA6D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2899" y="55419"/>
            <a:ext cx="1633682" cy="108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D0D481A-C323-BD61-C1BA-718FB4B68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7766" y="2056135"/>
            <a:ext cx="4752264" cy="99483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D780BE5-AFFA-E412-A168-83316ED2E9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21" y="2033177"/>
            <a:ext cx="4752266" cy="1040754"/>
          </a:xfrm>
          <a:prstGeom prst="rect">
            <a:avLst/>
          </a:prstGeom>
        </p:spPr>
      </p:pic>
      <p:pic>
        <p:nvPicPr>
          <p:cNvPr id="6156" name="Picture 12">
            <a:extLst>
              <a:ext uri="{FF2B5EF4-FFF2-40B4-BE49-F238E27FC236}">
                <a16:creationId xmlns:a16="http://schemas.microsoft.com/office/drawing/2014/main" id="{E26E82D9-A32A-8994-D726-39331FC583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189" y="3209301"/>
            <a:ext cx="3978929" cy="3374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8" name="Picture 14">
            <a:extLst>
              <a:ext uri="{FF2B5EF4-FFF2-40B4-BE49-F238E27FC236}">
                <a16:creationId xmlns:a16="http://schemas.microsoft.com/office/drawing/2014/main" id="{B375760B-EB97-8B87-248B-06438537F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970" y="3209300"/>
            <a:ext cx="3978929" cy="3374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44B01B-42F6-D3A3-3117-A471994FF82C}"/>
              </a:ext>
            </a:extLst>
          </p:cNvPr>
          <p:cNvSpPr txBox="1"/>
          <p:nvPr/>
        </p:nvSpPr>
        <p:spPr>
          <a:xfrm>
            <a:off x="561974" y="1265090"/>
            <a:ext cx="11122025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전체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단어와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[‘Save’, ‘Kill]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단어로 각각의 경우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사이킷런의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7"/>
              </a:rPr>
              <a:t>cosine_similarity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 아래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matrix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구하라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1058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8EC2B-FE48-E626-E51F-B7969D0BE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9EED5A-53B9-6E9E-2A8C-A512CFB82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1F1ECC6-6302-59FA-6EC7-0ABB0116A97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Cosine similarity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2" name="Picture 6" descr="Image Source:AI Tech Trend(Modified from the original)">
            <a:extLst>
              <a:ext uri="{FF2B5EF4-FFF2-40B4-BE49-F238E27FC236}">
                <a16:creationId xmlns:a16="http://schemas.microsoft.com/office/drawing/2014/main" id="{C821BCAD-39AE-2812-88D1-1C2636F678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829" y="2230238"/>
            <a:ext cx="4516446" cy="3516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EF7F1E-860B-B196-0884-E6BD25F033C8}"/>
              </a:ext>
            </a:extLst>
          </p:cNvPr>
          <p:cNvSpPr txBox="1"/>
          <p:nvPr/>
        </p:nvSpPr>
        <p:spPr>
          <a:xfrm>
            <a:off x="815788" y="5804647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>
                <a:hlinkClick r:id="rId3"/>
              </a:rPr>
              <a:t>https://www.shaped.ai/blog/cosine-similarity-not-the-silver-bullet-we-thought-it-was</a:t>
            </a:r>
            <a:r>
              <a:rPr lang="ko-KR" altLang="en-US" sz="105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E3BDA9-8FE0-F9FA-8D32-5053C0C250D0}"/>
              </a:ext>
            </a:extLst>
          </p:cNvPr>
          <p:cNvSpPr txBox="1"/>
          <p:nvPr/>
        </p:nvSpPr>
        <p:spPr>
          <a:xfrm>
            <a:off x="6508376" y="1565631"/>
            <a:ext cx="1473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한국어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임베딩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3E15C2B-94A7-92CA-4E6E-ABD9605463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2517" y="1934963"/>
            <a:ext cx="3274433" cy="12705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69487F9-FD20-B6E3-9A00-48EB7E28D46E}"/>
              </a:ext>
            </a:extLst>
          </p:cNvPr>
          <p:cNvSpPr txBox="1"/>
          <p:nvPr/>
        </p:nvSpPr>
        <p:spPr>
          <a:xfrm>
            <a:off x="6612517" y="3687681"/>
            <a:ext cx="1473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외국어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임베딩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A33258CC-7459-3FFC-F9CC-1113306BCC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2517" y="4057013"/>
            <a:ext cx="3274433" cy="205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2510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E18CE-FB31-DA90-DA30-0AEC97A83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95A8924-CCB0-C4F4-1A84-6A7623ABE2D7}"/>
              </a:ext>
            </a:extLst>
          </p:cNvPr>
          <p:cNvSpPr/>
          <p:nvPr/>
        </p:nvSpPr>
        <p:spPr>
          <a:xfrm>
            <a:off x="1457324" y="2276476"/>
            <a:ext cx="8277225" cy="6400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345FE7FF-4E4E-AD89-0BC4-63158FDED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solidFill>
                  <a:schemeClr val="tx1"/>
                </a:solidFill>
                <a:cs typeface="Segoe UI Light" panose="020B0502040204020203" pitchFamily="34" charset="0"/>
              </a:rPr>
              <a:t>Contents</a:t>
            </a:r>
            <a:endParaRPr lang="ko-KR" altLang="en-US" dirty="0">
              <a:solidFill>
                <a:schemeClr val="tx1"/>
              </a:solidFill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C149C2FA-EC41-7636-5E7C-2DDC5B2B76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16</a:t>
            </a:fld>
            <a:endParaRPr lang="ko-KR" alt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DF9DBA-24AD-6FC6-8A60-96A30D1F572D}"/>
              </a:ext>
            </a:extLst>
          </p:cNvPr>
          <p:cNvSpPr txBox="1"/>
          <p:nvPr/>
        </p:nvSpPr>
        <p:spPr>
          <a:xfrm>
            <a:off x="1957661" y="1537527"/>
            <a:ext cx="8662713" cy="2611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Cosine similarity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Word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Embedding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Content based recommendation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28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9442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2A1C7-2A70-2E7E-0975-0E63DDED6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244E07-925D-7082-3ADE-69A68A1E6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A7F14BE-0949-6107-92FB-C4540867E5C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Word Embedding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E39AAB-6D7B-8DE2-1788-F6F0AB9C2FEE}"/>
              </a:ext>
            </a:extLst>
          </p:cNvPr>
          <p:cNvSpPr txBox="1"/>
          <p:nvPr/>
        </p:nvSpPr>
        <p:spPr>
          <a:xfrm>
            <a:off x="628650" y="1295400"/>
            <a:ext cx="11049000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CountVectorizer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방식은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One-hot word vectors 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원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-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핫 인코딩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단어 개수만큼 방을 만들고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내 방에만 불을 켠다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!“, Word embeddings 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워드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임베딩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단어의 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특징을 분석해서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작은 공간에 알록달록 압축한다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! 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유유상종 단어로 군집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)"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192E899-263E-3230-2F14-97E562206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705" y="3427463"/>
            <a:ext cx="3732095" cy="259463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0D8B621-7BC7-8ECB-7317-B797E9B87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558770"/>
            <a:ext cx="1296055" cy="367058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FACE5314-103A-98AE-EBD0-263B1E312D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6149" y="2558770"/>
            <a:ext cx="1299404" cy="367058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8527F922-3D93-2F54-68BC-BA0D030FB2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5553" y="4482476"/>
            <a:ext cx="3850016" cy="144690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73E03D9-FE62-2CAB-581E-7224B9138F8B}"/>
              </a:ext>
            </a:extLst>
          </p:cNvPr>
          <p:cNvSpPr txBox="1"/>
          <p:nvPr/>
        </p:nvSpPr>
        <p:spPr>
          <a:xfrm>
            <a:off x="2047875" y="2558770"/>
            <a:ext cx="2628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One-hot Embeddin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g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1AE98A-3418-3A54-C548-58D12B2F038E}"/>
              </a:ext>
            </a:extLst>
          </p:cNvPr>
          <p:cNvSpPr txBox="1"/>
          <p:nvPr/>
        </p:nvSpPr>
        <p:spPr>
          <a:xfrm>
            <a:off x="8083769" y="2558770"/>
            <a:ext cx="2628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Word embeddings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E0640BA-15C3-2FD4-CC7A-63F3A5CF33FE}"/>
              </a:ext>
            </a:extLst>
          </p:cNvPr>
          <p:cNvSpPr/>
          <p:nvPr/>
        </p:nvSpPr>
        <p:spPr>
          <a:xfrm>
            <a:off x="628650" y="5534025"/>
            <a:ext cx="1296055" cy="6953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9422856-AD04-F271-AE9C-A68C58C9E074}"/>
              </a:ext>
            </a:extLst>
          </p:cNvPr>
          <p:cNvSpPr/>
          <p:nvPr/>
        </p:nvSpPr>
        <p:spPr>
          <a:xfrm>
            <a:off x="6667500" y="5495925"/>
            <a:ext cx="1296055" cy="6953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5823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12690-0D8A-0810-D10F-C1148C32E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B2A2A3-921B-4EDC-7721-27E14D96E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602B940-DD5E-3CA7-23A4-DF896D1DDE9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Task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: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word embedding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&amp;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similarity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5F56B6-16F4-CF93-58CC-38489382885D}"/>
              </a:ext>
            </a:extLst>
          </p:cNvPr>
          <p:cNvSpPr txBox="1"/>
          <p:nvPr/>
        </p:nvSpPr>
        <p:spPr>
          <a:xfrm>
            <a:off x="628650" y="1447800"/>
            <a:ext cx="11049000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과제 목표</a:t>
            </a:r>
            <a:endParaRPr lang="en-US" altLang="ko-KR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342900" indent="-342900">
              <a:buFont typeface="+mj-lt"/>
              <a:buAutoNum type="arabicPeriod"/>
            </a:pPr>
            <a:endParaRPr lang="ko-KR" altLang="en-US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텍스트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단어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컴퓨터가 이해하는 숫자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벡터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바뀌는 과정과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단어끼리 얼마나 유사한지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800100" lvl="1" indent="-342900">
              <a:buFont typeface="+mj-lt"/>
              <a:buAutoNum type="arabicPeriod"/>
            </a:pP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코드 흐름 요약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(3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단계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단어 번호 매기기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(Tokenizing &amp; Indexing)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컴퓨터를 위해 단어에 고유 번호를 부여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1257300" lvl="2" indent="-342900">
              <a:buFont typeface="+mj-lt"/>
              <a:buAutoNum type="arabicPeriod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예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en-US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word_to_idx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{"superman": 0, "save": 1, "city": 2, "destroy": 3, "kryptonite": 4}</a:t>
            </a:r>
          </a:p>
          <a:p>
            <a:pPr marL="1257300" lvl="2" indent="-342900">
              <a:buFont typeface="+mj-lt"/>
              <a:buAutoNum type="arabicPeriod"/>
            </a:pP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밀집 벡터로 바꾸기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(Embedding Lookup)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개의 단어를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차원의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Dense Vector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압축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무작위 숫자로 가득 찬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(5, 4)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크기의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임베딩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테이블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’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생성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1257300" lvl="2" indent="-342900">
              <a:buFont typeface="+mj-lt"/>
              <a:buAutoNum type="arabicPeriod"/>
            </a:pP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단어끼리 비교하기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(Dot Product)</a:t>
            </a:r>
          </a:p>
          <a:p>
            <a:pPr marL="1257300" lvl="2" indent="-342900">
              <a:buFont typeface="+mj-lt"/>
              <a:buAutoNum type="arabicPeriod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단어 벡터끼리 서로 곱하는 내적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(Dot Product)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연산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1257300" lvl="2" indent="-342900">
              <a:buFont typeface="+mj-lt"/>
              <a:buAutoNum type="arabicPeriod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어떤 단어와 어떤 단어가 수학적으로 닮았는지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유사도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확인</a:t>
            </a:r>
          </a:p>
        </p:txBody>
      </p:sp>
    </p:spTree>
    <p:extLst>
      <p:ext uri="{BB962C8B-B14F-4D97-AF65-F5344CB8AC3E}">
        <p14:creationId xmlns:p14="http://schemas.microsoft.com/office/powerpoint/2010/main" val="2962055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E0956-367C-B561-AB11-B9A8E780A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801E4C-DC6F-C601-6552-626367CBC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3D67A51-FDFC-FEBA-28F6-79ACD5BB141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 : word2vec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7F087B-FFA8-B0B8-F438-EA3BDEFDAF6C}"/>
              </a:ext>
            </a:extLst>
          </p:cNvPr>
          <p:cNvSpPr txBox="1"/>
          <p:nvPr/>
        </p:nvSpPr>
        <p:spPr>
          <a:xfrm>
            <a:off x="617534" y="1278159"/>
            <a:ext cx="10353762" cy="5262979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import torch</a:t>
            </a: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torch.nn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as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nn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1.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가상의 단어 사전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총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개의 단어가 있다고 가정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단어마다 고유 인덱스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번호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부여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word_to_idx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{"superman": 0, "save": 1, "city": 2, "destroy": 3, "kryptonite": 4}</a:t>
            </a:r>
          </a:p>
          <a:p>
            <a:pPr>
              <a:buNone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vocab_size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word_to_idx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 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단어 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5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</a:p>
          <a:p>
            <a:pPr>
              <a:buNone/>
            </a:pP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2.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PyTorch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레이어 생성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nn.Embedding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단어 개수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각 단어를 표현할 벡터의 차원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embedding_dim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4  # 4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차원의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Dense Vector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압축</a:t>
            </a:r>
          </a:p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embedding_layer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nn.Embedding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num_embeddings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vocab_size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                       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embedding_dim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embedding_dim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초기화된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테이블 가중치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(5x4)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테이블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확인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처음에는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랜덤한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값으로 생성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print("--- [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현재 생성된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5x4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가중치 테이블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] ---")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embedding_layer.weight.data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print("\n" + "="*50 + "\n")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Create a dictionary to map indices back to words</a:t>
            </a:r>
          </a:p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idx_to_word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{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idx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word for word,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idx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in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word_to_idx.items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()}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for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idx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in range(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vocab_size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print(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f"Index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{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idx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}: {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idx_to_word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idx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]}")</a:t>
            </a:r>
          </a:p>
        </p:txBody>
      </p:sp>
      <p:pic>
        <p:nvPicPr>
          <p:cNvPr id="2" name="Picture 4" descr="도자기 작업장. 성인과 어린이의 손이 도자기를 만들고 젖은 점토 근접 촬영으로 작업합니다. 더러운 손으로 바퀴에 점토로 그릇을 만드는 과정. 여름 공원의 수제 축제">
            <a:extLst>
              <a:ext uri="{FF2B5EF4-FFF2-40B4-BE49-F238E27FC236}">
                <a16:creationId xmlns:a16="http://schemas.microsoft.com/office/drawing/2014/main" id="{98F52B54-B5DF-4693-1F06-F8D22DB9D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2899" y="55419"/>
            <a:ext cx="1633682" cy="108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97698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3BA05-E070-6D5A-5941-7DC6E5A4B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6" name="Picture 8">
            <a:extLst>
              <a:ext uri="{FF2B5EF4-FFF2-40B4-BE49-F238E27FC236}">
                <a16:creationId xmlns:a16="http://schemas.microsoft.com/office/drawing/2014/main" id="{A93F85B2-9B43-B102-B040-E80E49BDD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5475" y="2358024"/>
            <a:ext cx="4883347" cy="4071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B311E8-FC36-145F-D1B0-540D15F61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CB5B648-B4BC-478E-E97A-923F8E0E121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 : word2vec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2" name="Picture 4" descr="도자기 작업장. 성인과 어린이의 손이 도자기를 만들고 젖은 점토 근접 촬영으로 작업합니다. 더러운 손으로 바퀴에 점토로 그릇을 만드는 과정. 여름 공원의 수제 축제">
            <a:extLst>
              <a:ext uri="{FF2B5EF4-FFF2-40B4-BE49-F238E27FC236}">
                <a16:creationId xmlns:a16="http://schemas.microsoft.com/office/drawing/2014/main" id="{B5D84D9A-4827-0ED3-0370-4B8F9849A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2899" y="55419"/>
            <a:ext cx="1633682" cy="108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F404AC0-88D0-6D44-2DAA-C465B4D1FC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93" y="4514851"/>
            <a:ext cx="2802210" cy="139064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61682A8-68E2-1220-CCFC-40C6156D3489}"/>
              </a:ext>
            </a:extLst>
          </p:cNvPr>
          <p:cNvSpPr txBox="1"/>
          <p:nvPr/>
        </p:nvSpPr>
        <p:spPr>
          <a:xfrm>
            <a:off x="475644" y="1307379"/>
            <a:ext cx="10916255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개의 단어를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차원의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Dense Vector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압축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사전학습되지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않은 무작위 숫자로 가득 찬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(5, 4)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크기의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임베딩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테이블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’ (Word2Vec)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생성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아무 의미 없음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실습용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1F57DC8-1D00-A72A-2D81-652FDBD8503B}"/>
              </a:ext>
            </a:extLst>
          </p:cNvPr>
          <p:cNvSpPr/>
          <p:nvPr/>
        </p:nvSpPr>
        <p:spPr>
          <a:xfrm>
            <a:off x="5886450" y="2597183"/>
            <a:ext cx="4833201" cy="7175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58B276AF-3EAA-8389-1359-E98394DDBF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493" y="2564065"/>
            <a:ext cx="3782742" cy="1950786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B291280D-76D7-0754-53E7-7649183217EF}"/>
              </a:ext>
            </a:extLst>
          </p:cNvPr>
          <p:cNvSpPr/>
          <p:nvPr/>
        </p:nvSpPr>
        <p:spPr>
          <a:xfrm>
            <a:off x="1262799" y="2884231"/>
            <a:ext cx="3363411" cy="2399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90502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75C43-DBF0-A27A-03CE-DBB442812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4A62C2-3A81-744D-55A0-5C6D9A6D8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C8226B7-1813-0E73-4162-245360B326D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 : word2vec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889C7A-B41F-0D5C-8804-EAF782C7BA2F}"/>
              </a:ext>
            </a:extLst>
          </p:cNvPr>
          <p:cNvSpPr txBox="1"/>
          <p:nvPr/>
        </p:nvSpPr>
        <p:spPr>
          <a:xfrm>
            <a:off x="617534" y="1838229"/>
            <a:ext cx="5864546" cy="4031873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as np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내적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np.dot(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embedding_layer.weight.data.detach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().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(), 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embedding_layer.weight.data.detach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().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().T)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E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embedding_layer.weight.data.detach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().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코사인 유사도 행렬</a:t>
            </a:r>
          </a:p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cos_sim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(E @ E.T) / (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np.linalg.norm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(E, axis=1,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keepdims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=True)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@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np.linalg.norm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(E, axis=1,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keepdims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=True).T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cos_sim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" name="Picture 4" descr="도자기 작업장. 성인과 어린이의 손이 도자기를 만들고 젖은 점토 근접 촬영으로 작업합니다. 더러운 손으로 바퀴에 점토로 그릇을 만드는 과정. 여름 공원의 수제 축제">
            <a:extLst>
              <a:ext uri="{FF2B5EF4-FFF2-40B4-BE49-F238E27FC236}">
                <a16:creationId xmlns:a16="http://schemas.microsoft.com/office/drawing/2014/main" id="{34252303-0E64-58B1-9105-ECE5C81F7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2899" y="55419"/>
            <a:ext cx="1633682" cy="108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F452C644-9504-DA6C-49AB-A099E3E2B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218" y="2148069"/>
            <a:ext cx="4381501" cy="1280931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8DCD5B6A-3DD4-209F-C3E2-118F65C848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218" y="4002734"/>
            <a:ext cx="2949575" cy="85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9518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C55A6-FE6E-0CE7-FCD4-E61BF2152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7DC949-BA06-2584-0041-11AC5CDCB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B427681-E06D-E6C6-CCD0-BBAE90B3CC8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  <a:hlinkClick r:id="rId2"/>
              </a:rPr>
              <a:t>gensim_models_word2vec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8" name="Picture 4" descr="도자기 작업장. 성인과 어린이의 손이 도자기를 만들고 젖은 점토 근접 촬영으로 작업합니다. 더러운 손으로 바퀴에 점토로 그릇을 만드는 과정. 여름 공원의 수제 축제">
            <a:extLst>
              <a:ext uri="{FF2B5EF4-FFF2-40B4-BE49-F238E27FC236}">
                <a16:creationId xmlns:a16="http://schemas.microsoft.com/office/drawing/2014/main" id="{B7474BB1-3371-5B0E-5C67-BE32C8226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2899" y="55419"/>
            <a:ext cx="1633682" cy="108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BD1EEF-BE99-9E49-E624-6378D91C4BEB}"/>
              </a:ext>
            </a:extLst>
          </p:cNvPr>
          <p:cNvSpPr txBox="1"/>
          <p:nvPr/>
        </p:nvSpPr>
        <p:spPr>
          <a:xfrm>
            <a:off x="617536" y="2539999"/>
            <a:ext cx="9783764" cy="3929281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!pip install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gensim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 string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gensim.models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import Word2Vec</a:t>
            </a:r>
          </a:p>
          <a:p>
            <a:pPr>
              <a:lnSpc>
                <a:spcPts val="1575"/>
              </a:lnSpc>
              <a:buNone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1.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예시 코퍼스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슈퍼맨과 악당의 대화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), </a:t>
            </a:r>
          </a:p>
          <a:p>
            <a:pPr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~~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생략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~~</a:t>
            </a:r>
          </a:p>
          <a:p>
            <a:pPr>
              <a:buNone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2.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전처리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소문자화 및 문장 분절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Word2Vec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은 단어들의 리스트 형태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[['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'am', 'superman'], [...]])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입력데이터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tokenized_corpus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[]</a:t>
            </a:r>
          </a:p>
          <a:p>
            <a:pPr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for sentence in corpus: 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구두점 제거 및 소문자 변환 후 공백 기준 토큰화</a:t>
            </a:r>
          </a:p>
          <a:p>
            <a:pPr>
              <a:buNone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clean_sentence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sentence.translate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str.maketrans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('', '',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string.punctuation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)).lower()</a:t>
            </a:r>
          </a:p>
          <a:p>
            <a:pPr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tokenized_corpus.append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clean_sentence.split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())</a:t>
            </a:r>
          </a:p>
          <a:p>
            <a:pPr>
              <a:buNone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print("--- [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전처리된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토큰 데이터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 ---")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tokenized_corpus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[:2]) 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앞의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 문장만 출력</a:t>
            </a:r>
          </a:p>
          <a:p>
            <a:pPr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print("\n" + "="*50 + "\n")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543164-DBF7-9A51-21A2-2B1647E9EDD1}"/>
              </a:ext>
            </a:extLst>
          </p:cNvPr>
          <p:cNvSpPr txBox="1"/>
          <p:nvPr/>
        </p:nvSpPr>
        <p:spPr>
          <a:xfrm>
            <a:off x="617536" y="1427115"/>
            <a:ext cx="11147744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“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특정 단어 주변에 어떤 단어가 등장하는지 그 확률분포를 예측하면서 단어의 의미를 학습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하는 대표적인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임베딩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모델을 </a:t>
            </a:r>
            <a:r>
              <a:rPr lang="en-US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gensim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word2vec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모델을 바탕으로 코사인 유사성을 실습하자</a:t>
            </a:r>
          </a:p>
        </p:txBody>
      </p:sp>
    </p:spTree>
    <p:extLst>
      <p:ext uri="{BB962C8B-B14F-4D97-AF65-F5344CB8AC3E}">
        <p14:creationId xmlns:p14="http://schemas.microsoft.com/office/powerpoint/2010/main" val="19779728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90546-9506-6802-5175-A3891DCD8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3F906E-A9E0-ADCC-23AC-C42A675B6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3B00E76-C467-FF36-87E5-C1FF99C87FB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  <a:hlinkClick r:id="rId2"/>
              </a:rPr>
              <a:t>gensim_models_word2vec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7F3FC8-1F56-DFD7-3433-D0CD2BD5178D}"/>
              </a:ext>
            </a:extLst>
          </p:cNvPr>
          <p:cNvSpPr txBox="1"/>
          <p:nvPr/>
        </p:nvSpPr>
        <p:spPr>
          <a:xfrm>
            <a:off x="617536" y="1395634"/>
            <a:ext cx="9783764" cy="4708981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3. Word2Vec 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모델 학습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 = Word2Vec(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sentences=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tokenized_corpus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vector_size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=10,  # 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단어를 표현할 벡터의 차원 수 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실제로는 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100~300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차원을 주로 사용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window=3,        # 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문맥을 볼 앞뒤 단어의 범위</a:t>
            </a:r>
          </a:p>
          <a:p>
            <a:pPr>
              <a:buNone/>
            </a:pP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min_count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=1,     # 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모델에 포함할 단어의 최소 빈도수 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테스트용이라 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로 설정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sg=1,            # 0: CBOW, 1: Skip-Gram (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주변 단어로 중심 단어를 예측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epochs=100       # 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학습 반복 횟수 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데이터가 적어 학습을 많이 반복함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4.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결과 확인하기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(1)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특정 단어의 벡터 값 확인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print("--- ['superman'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의 단어 벡터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(10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차원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)] ---")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superman_vector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model.wv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['superman']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superman_vector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print("\n" + "="*50 + "\n")</a:t>
            </a:r>
          </a:p>
          <a:p>
            <a:pPr>
              <a:lnSpc>
                <a:spcPts val="1575"/>
              </a:lnSpc>
              <a:buNone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(2)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특정 단어와 가장 유사한 단어 탑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3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뽑기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print("--- ['save'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와 문맥상 가장 유사한 단어들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 ---")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similar_words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model.wv.most_similar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('save',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topn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=3)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for word, similarity in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similar_words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print(f"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{word:&lt;10} |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유사도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{similarity:.4f}")</a:t>
            </a:r>
          </a:p>
        </p:txBody>
      </p:sp>
      <p:pic>
        <p:nvPicPr>
          <p:cNvPr id="8" name="Picture 4" descr="도자기 작업장. 성인과 어린이의 손이 도자기를 만들고 젖은 점토 근접 촬영으로 작업합니다. 더러운 손으로 바퀴에 점토로 그릇을 만드는 과정. 여름 공원의 수제 축제">
            <a:extLst>
              <a:ext uri="{FF2B5EF4-FFF2-40B4-BE49-F238E27FC236}">
                <a16:creationId xmlns:a16="http://schemas.microsoft.com/office/drawing/2014/main" id="{A8514CBA-CB1A-99C7-28C9-1EEF846444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2899" y="55419"/>
            <a:ext cx="1633682" cy="108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ACAB89E-2589-7BC8-7741-5302E633E4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3507290"/>
            <a:ext cx="5478465" cy="259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6065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D4A15-408F-D754-08FD-A133A9E14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6202B0-4313-D321-F879-501D448FE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B3CAE3CE-93C0-61B6-F6E4-547808F1674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GloVe</a:t>
            </a:r>
            <a:r>
              <a:rPr lang="en-US" altLang="ko-KR" sz="2800" cap="none" dirty="0"/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Word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Embedding Model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Picture 4" descr="도자기 작업장. 성인과 어린이의 손이 도자기를 만들고 젖은 점토 근접 촬영으로 작업합니다. 더러운 손으로 바퀴에 점토로 그릇을 만드는 과정. 여름 공원의 수제 축제">
            <a:extLst>
              <a:ext uri="{FF2B5EF4-FFF2-40B4-BE49-F238E27FC236}">
                <a16:creationId xmlns:a16="http://schemas.microsoft.com/office/drawing/2014/main" id="{3279EF8F-835D-77EF-E379-E3A1E25EF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2899" y="55419"/>
            <a:ext cx="1633682" cy="108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F35B8EF-DAEC-3D75-AEC0-EC8F1A1641BA}"/>
              </a:ext>
            </a:extLst>
          </p:cNvPr>
          <p:cNvSpPr txBox="1"/>
          <p:nvPr/>
        </p:nvSpPr>
        <p:spPr>
          <a:xfrm>
            <a:off x="475645" y="1674986"/>
            <a:ext cx="11421716" cy="4245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사전 학습된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모델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(Pretrained Embedding Model)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위키피디아 데이터를 기반으로 학습된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50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차원의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GloVe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단어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임베딩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모델은 각 단어를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50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개의 숫자로 이루어진 벡터로 표현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단어 벡터 평균화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np.mean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문장을 벡터로 표현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문장에 포함된 단어들의 벡터를 모두 더한 뒤 평균을 내어 하나의 문장 벡터를 생성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(Mean Embedding)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하여 문장을 각 단어의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임베딩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벡터 들의 평균으로 표현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코사인 유사도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cosine_similarity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두 문장 벡터 사이의 각도를 측정하여 방향이 얼마나 일치하는지 계산하여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결과값은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-1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에서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사이이며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1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 가까울수록 의미가 유사하다고 판단하여 문장의 유사성을 예측</a:t>
            </a:r>
          </a:p>
        </p:txBody>
      </p:sp>
    </p:spTree>
    <p:extLst>
      <p:ext uri="{BB962C8B-B14F-4D97-AF65-F5344CB8AC3E}">
        <p14:creationId xmlns:p14="http://schemas.microsoft.com/office/powerpoint/2010/main" val="26980237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21F97-AE20-18E3-224F-6F07212D9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4B67E8-9D4A-EAC8-659F-9D03BC1A5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549D750-DD09-9555-156D-B4529778909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GloVe</a:t>
            </a:r>
            <a:r>
              <a:rPr lang="en-US" altLang="ko-KR" sz="2800" cap="none" dirty="0"/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Word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Embedding Model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Picture 4" descr="도자기 작업장. 성인과 어린이의 손이 도자기를 만들고 젖은 점토 근접 촬영으로 작업합니다. 더러운 손으로 바퀴에 점토로 그릇을 만드는 과정. 여름 공원의 수제 축제">
            <a:extLst>
              <a:ext uri="{FF2B5EF4-FFF2-40B4-BE49-F238E27FC236}">
                <a16:creationId xmlns:a16="http://schemas.microsoft.com/office/drawing/2014/main" id="{B0922C08-6AC3-7298-2BB9-7C1AA65CD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2899" y="55419"/>
            <a:ext cx="1633682" cy="108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7A0FDB4-67A0-29BE-3E00-07E55CEED18D}"/>
              </a:ext>
            </a:extLst>
          </p:cNvPr>
          <p:cNvSpPr txBox="1"/>
          <p:nvPr/>
        </p:nvSpPr>
        <p:spPr>
          <a:xfrm>
            <a:off x="628045" y="1756266"/>
            <a:ext cx="5467955" cy="3754874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gensim.downloader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as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api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sklearn.metrics.pairwise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cosine_similarity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as np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Word2Vec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모델 불러오기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model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api.load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("glove-wiki-gigaword-50")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문장 벡터를 계산하는 함수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def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sentence_to_vector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(sentence, model):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words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sentence.lower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().split()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word_vectors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[]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for word in words: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if word in model: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word_vectors.append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(model[word])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if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word_vectors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== 0: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return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np.zeros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model.vector_size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return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np.mean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word_vectors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axis=0)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5943FD-531D-0D8F-F943-68579F894303}"/>
              </a:ext>
            </a:extLst>
          </p:cNvPr>
          <p:cNvSpPr txBox="1"/>
          <p:nvPr/>
        </p:nvSpPr>
        <p:spPr>
          <a:xfrm>
            <a:off x="6287165" y="1756266"/>
            <a:ext cx="5467955" cy="3539430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코사인 유사도를 계산하는 함수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def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cosine_similarity_sentence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(sentence1, sentence2, model):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vec1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sentence_to_vector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(sentence1, model)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vec2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sentence_to_vector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(sentence2, model)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return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cosine_similarity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([vec1], [vec2])[0][0]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예제 문장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sentence1 = "I love food"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sentence2 = "I enjoy eating"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유사도 계산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similarity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cosine_similarity_sentence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(sentence1,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                                sentence2,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                                model)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f"Cosine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Similarity: {similarity}")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D660D44-2927-B40D-285C-C9867AE04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165" y="5504768"/>
            <a:ext cx="5457795" cy="504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7761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83670-67B6-54D8-703D-011222CE8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6FF651-B753-5A60-7DF0-29A40139A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E2FB138-DAEC-E6DE-C164-C237F9BC152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chatGPT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 :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  <a:hlinkClick r:id="rId2"/>
              </a:rPr>
              <a:t>tokenizer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E45F7B3-C2B6-4B1F-3B15-65AF0A778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158" y="1425761"/>
            <a:ext cx="4976291" cy="46105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E954229-19FB-14C5-6342-ABDB7574DA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6495" y="3743084"/>
            <a:ext cx="4782912" cy="2293177"/>
          </a:xfrm>
          <a:prstGeom prst="rect">
            <a:avLst/>
          </a:prstGeom>
        </p:spPr>
      </p:pic>
      <p:pic>
        <p:nvPicPr>
          <p:cNvPr id="12" name="Picture 4" descr="도자기 작업장. 성인과 어린이의 손이 도자기를 만들고 젖은 점토 근접 촬영으로 작업합니다. 더러운 손으로 바퀴에 점토로 그릇을 만드는 과정. 여름 공원의 수제 축제">
            <a:extLst>
              <a:ext uri="{FF2B5EF4-FFF2-40B4-BE49-F238E27FC236}">
                <a16:creationId xmlns:a16="http://schemas.microsoft.com/office/drawing/2014/main" id="{97FCDD46-5C7E-D9ED-B82F-B41C04536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2899" y="55419"/>
            <a:ext cx="1633682" cy="108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2992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9DFBA-0424-C84B-24AC-5715EAA3E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E155F6-794A-5506-8EB2-C3D504827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DFF3727-4378-400B-8AC7-0294F28E758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Word2vector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D8C3E952-E951-0E01-2DDD-2E8549778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" y="2445037"/>
            <a:ext cx="10502899" cy="196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06CC18-E89F-1F7B-9374-B4052EC9EF4D}"/>
              </a:ext>
            </a:extLst>
          </p:cNvPr>
          <p:cNvSpPr txBox="1"/>
          <p:nvPr/>
        </p:nvSpPr>
        <p:spPr>
          <a:xfrm>
            <a:off x="628650" y="1295400"/>
            <a:ext cx="11049000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Word embeddings 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워드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임베딩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단어의 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특징을 분석해서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작은 공간에 알록달록 압축하기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때문에 단어의 개수가 아주 많아도 효율적으로 단어를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Representation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할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수있음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40A62F35-74DF-56A2-D096-DEEC9884E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4" y="2356164"/>
            <a:ext cx="10522199" cy="3073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1655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9F247-B39E-3EA2-B0E4-31C4E6272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7BA3A92-AB0A-1D7B-B60D-F9F0C24FB6FA}"/>
              </a:ext>
            </a:extLst>
          </p:cNvPr>
          <p:cNvSpPr/>
          <p:nvPr/>
        </p:nvSpPr>
        <p:spPr>
          <a:xfrm>
            <a:off x="1457324" y="2895601"/>
            <a:ext cx="8277225" cy="6400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2F82FE26-49D6-06C9-2C60-BE507D50F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solidFill>
                  <a:schemeClr val="tx1"/>
                </a:solidFill>
                <a:cs typeface="Segoe UI Light" panose="020B0502040204020203" pitchFamily="34" charset="0"/>
              </a:rPr>
              <a:t>Contents</a:t>
            </a:r>
            <a:endParaRPr lang="ko-KR" altLang="en-US" dirty="0">
              <a:solidFill>
                <a:schemeClr val="tx1"/>
              </a:solidFill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D4F11B9E-D846-2508-68F2-F773AADA96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28</a:t>
            </a:fld>
            <a:endParaRPr lang="ko-KR" alt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70F296-A9B1-EBA4-8FA0-0707575A0DFA}"/>
              </a:ext>
            </a:extLst>
          </p:cNvPr>
          <p:cNvSpPr txBox="1"/>
          <p:nvPr/>
        </p:nvSpPr>
        <p:spPr>
          <a:xfrm>
            <a:off x="1957661" y="1537527"/>
            <a:ext cx="8662713" cy="2611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Cosine similarity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Word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Embedding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Content based recommendation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28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4557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EB2AC-9B79-0D32-AA01-8CE891588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C8F63C-32DB-636F-7DF6-0D3A27139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A7E1F10-309B-9583-47F1-25EE1F49243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Content-Based Recommendation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DBBF11-C295-7533-0192-B5939F191F72}"/>
              </a:ext>
            </a:extLst>
          </p:cNvPr>
          <p:cNvSpPr txBox="1"/>
          <p:nvPr/>
        </p:nvSpPr>
        <p:spPr>
          <a:xfrm>
            <a:off x="628650" y="1295400"/>
            <a:ext cx="1104900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사용자가 과거에 좋아했던 아이템의 </a:t>
            </a:r>
            <a:r>
              <a:rPr lang="en-US" altLang="ko-KR" sz="1600" dirty="0"/>
              <a:t>'</a:t>
            </a:r>
            <a:r>
              <a:rPr lang="ko-KR" altLang="en-US" sz="1600" dirty="0"/>
              <a:t>특징</a:t>
            </a:r>
            <a:r>
              <a:rPr lang="en-US" altLang="ko-KR" sz="1600" dirty="0"/>
              <a:t>(Content)'</a:t>
            </a:r>
            <a:r>
              <a:rPr lang="ko-KR" altLang="en-US" sz="1600" dirty="0"/>
              <a:t>을 분석하여</a:t>
            </a:r>
            <a:r>
              <a:rPr lang="en-US" altLang="ko-KR" sz="1600" dirty="0"/>
              <a:t>, </a:t>
            </a:r>
            <a:r>
              <a:rPr lang="ko-KR" altLang="en-US" sz="1600" dirty="0"/>
              <a:t>이와 유사한 특징을 가진 새로운 아이템을 추천</a:t>
            </a:r>
            <a:r>
              <a:rPr lang="en-US" altLang="ko-KR" sz="1600" dirty="0"/>
              <a:t>(</a:t>
            </a:r>
            <a:r>
              <a:rPr lang="en-US" altLang="ko-KR" sz="1600" dirty="0">
                <a:hlinkClick r:id="rId2"/>
              </a:rPr>
              <a:t>recommendation</a:t>
            </a:r>
            <a:r>
              <a:rPr lang="en-US" altLang="ko-KR" sz="1600" dirty="0"/>
              <a:t>)</a:t>
            </a:r>
            <a:r>
              <a:rPr lang="ko-KR" altLang="en-US" sz="1600" dirty="0"/>
              <a:t>하는 기술로 </a:t>
            </a:r>
            <a:r>
              <a:rPr lang="en-US" altLang="ko-KR" sz="1600" dirty="0"/>
              <a:t>"</a:t>
            </a:r>
            <a:r>
              <a:rPr lang="ko-KR" altLang="en-US" sz="1600" dirty="0"/>
              <a:t>당신이 어떤 아이템을 좋아했다면</a:t>
            </a:r>
            <a:r>
              <a:rPr lang="en-US" altLang="ko-KR" sz="1600" dirty="0"/>
              <a:t>, </a:t>
            </a:r>
            <a:r>
              <a:rPr lang="ko-KR" altLang="en-US" sz="1600" dirty="0"/>
              <a:t>그와 비슷한 다른 아이템도 좋아할 것이다</a:t>
            </a:r>
            <a:r>
              <a:rPr lang="en-US" altLang="ko-KR" sz="1600" dirty="0"/>
              <a:t>"</a:t>
            </a:r>
            <a:r>
              <a:rPr lang="ko-KR" altLang="en-US" sz="1600" dirty="0"/>
              <a:t>라는 직관적인 가설에서 출발</a:t>
            </a:r>
          </a:p>
        </p:txBody>
      </p:sp>
      <p:sp>
        <p:nvSpPr>
          <p:cNvPr id="2" name="AutoShape 2" descr="Image of a matrix showing a user and apps that may be recommended">
            <a:extLst>
              <a:ext uri="{FF2B5EF4-FFF2-40B4-BE49-F238E27FC236}">
                <a16:creationId xmlns:a16="http://schemas.microsoft.com/office/drawing/2014/main" id="{764254BE-DD88-AF7F-ADF1-8D48668FCB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668E764-A1D9-CE50-608D-7E93E2295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274" y="2587544"/>
            <a:ext cx="5692270" cy="379285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005695F-798E-7AF5-17EC-763AD6185836}"/>
              </a:ext>
            </a:extLst>
          </p:cNvPr>
          <p:cNvSpPr txBox="1"/>
          <p:nvPr/>
        </p:nvSpPr>
        <p:spPr>
          <a:xfrm>
            <a:off x="7122650" y="2679742"/>
            <a:ext cx="4555000" cy="423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Using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dot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product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as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similarity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measure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rgbClr val="20212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6DA72A-D7B6-DFD9-6899-E82AB1F6351F}"/>
              </a:ext>
            </a:extLst>
          </p:cNvPr>
          <p:cNvSpPr txBox="1"/>
          <p:nvPr/>
        </p:nvSpPr>
        <p:spPr>
          <a:xfrm>
            <a:off x="7439136" y="3754425"/>
            <a:ext cx="3390271" cy="1079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아이템 프로필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(Item Profile):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아이템의 고유한 특징들을 숫자로 표기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예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영화의 장르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액션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로맨스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감독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주연 배우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책의 핵심 키워드 등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F54ADD-BDF0-52CF-FFB2-645AB822F1EC}"/>
              </a:ext>
            </a:extLst>
          </p:cNvPr>
          <p:cNvSpPr txBox="1"/>
          <p:nvPr/>
        </p:nvSpPr>
        <p:spPr>
          <a:xfrm>
            <a:off x="7306898" y="5369822"/>
            <a:ext cx="38183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사용자 프로필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(User Profile):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사용자의 취향을 아이템 특성과 똑같은 차원의 숫자로 표기한 것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예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사용자가 과거에 액션 영화를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5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번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로맨스 영화를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번 봤다면 이 사용자의 취향 벡터는 액션에 높은 가중치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22" name="오른쪽 중괄호 21">
            <a:extLst>
              <a:ext uri="{FF2B5EF4-FFF2-40B4-BE49-F238E27FC236}">
                <a16:creationId xmlns:a16="http://schemas.microsoft.com/office/drawing/2014/main" id="{6348B405-22E6-DF96-B1FB-06BAB8B337D6}"/>
              </a:ext>
            </a:extLst>
          </p:cNvPr>
          <p:cNvSpPr/>
          <p:nvPr/>
        </p:nvSpPr>
        <p:spPr>
          <a:xfrm>
            <a:off x="7174660" y="3429000"/>
            <a:ext cx="264476" cy="1982471"/>
          </a:xfrm>
          <a:prstGeom prst="rightBrace">
            <a:avLst>
              <a:gd name="adj1" fmla="val 77108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60897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FD209-B760-F252-AD33-8E8E0B062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56C222-6338-DCAA-F749-DBAB06BAA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2FE5C86-10EE-400B-3B36-3D939BC32EE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Content-Based Recommendation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2" name="AutoShape 2" descr="Image of a matrix showing a user and apps that may be recommended">
            <a:extLst>
              <a:ext uri="{FF2B5EF4-FFF2-40B4-BE49-F238E27FC236}">
                <a16:creationId xmlns:a16="http://schemas.microsoft.com/office/drawing/2014/main" id="{FDDAB35B-7FDA-788F-CE67-3C63E99465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E7DB59-499E-18E4-35D7-CC813029D3C6}"/>
              </a:ext>
            </a:extLst>
          </p:cNvPr>
          <p:cNvSpPr txBox="1"/>
          <p:nvPr/>
        </p:nvSpPr>
        <p:spPr>
          <a:xfrm>
            <a:off x="771525" y="1859340"/>
            <a:ext cx="10639425" cy="336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 err="1"/>
              <a:t>넷플릭스</a:t>
            </a:r>
            <a:r>
              <a:rPr lang="ko-KR" altLang="en-US" dirty="0"/>
              <a:t> / 유튜브: 동영상의 태그, 카테고리, 설명란의 키워드를 기반으로 시청 중인 영상과 유사한 다음 영상 추천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/>
              <a:t>뉴스 및 블로그 플랫폼: 사용자가 읽은 기사의 본문을 자연어 처리 기법(TF-IDF, Word2Vec 등)</a:t>
            </a:r>
            <a:r>
              <a:rPr lang="ko-KR" altLang="en-US" dirty="0" err="1"/>
              <a:t>으로</a:t>
            </a:r>
            <a:r>
              <a:rPr lang="ko-KR" altLang="en-US" dirty="0"/>
              <a:t> 분석하여 유사한 주제의 다른 글을 추천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/>
              <a:t>음악 스트리밍 (스포티파이 등): 곡의 템포, 분위기(</a:t>
            </a:r>
            <a:r>
              <a:rPr lang="ko-KR" altLang="en-US" dirty="0" err="1"/>
              <a:t>Mood</a:t>
            </a:r>
            <a:r>
              <a:rPr lang="ko-KR" altLang="en-US" dirty="0"/>
              <a:t>), 사용된 악기 등의 오디오 음향 특징을 분석하여 유사한 결의 음악 추천</a:t>
            </a:r>
          </a:p>
        </p:txBody>
      </p:sp>
    </p:spTree>
    <p:extLst>
      <p:ext uri="{BB962C8B-B14F-4D97-AF65-F5344CB8AC3E}">
        <p14:creationId xmlns:p14="http://schemas.microsoft.com/office/powerpoint/2010/main" val="3926811465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2981</TotalTime>
  <Words>2390</Words>
  <Application>Microsoft Office PowerPoint</Application>
  <PresentationFormat>와이드스크린</PresentationFormat>
  <Paragraphs>294</Paragraphs>
  <Slides>30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9" baseType="lpstr">
      <vt:lpstr>D2Coding</vt:lpstr>
      <vt:lpstr>맑은 고딕</vt:lpstr>
      <vt:lpstr>맑은 고딕 Semilight</vt:lpstr>
      <vt:lpstr>바탕</vt:lpstr>
      <vt:lpstr>Arial</vt:lpstr>
      <vt:lpstr>Cambria Math</vt:lpstr>
      <vt:lpstr>Segoe UI Light</vt:lpstr>
      <vt:lpstr>Wingdings</vt:lpstr>
      <vt:lpstr>WelcomeDoc</vt:lpstr>
      <vt:lpstr>Recommendation Systems</vt:lpstr>
      <vt:lpstr>Contents</vt:lpstr>
      <vt:lpstr>Distances</vt:lpstr>
      <vt:lpstr>The dot product</vt:lpstr>
      <vt:lpstr>Projection (land)</vt:lpstr>
      <vt:lpstr>The dot product</vt:lpstr>
      <vt:lpstr>Geometric dot product</vt:lpstr>
      <vt:lpstr>Geometric dot product</vt:lpstr>
      <vt:lpstr>Geometric dot product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Contents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99</cp:revision>
  <dcterms:created xsi:type="dcterms:W3CDTF">2026-04-06T01:00:39Z</dcterms:created>
  <dcterms:modified xsi:type="dcterms:W3CDTF">2026-05-18T02:05:37Z</dcterms:modified>
  <cp:version/>
</cp:coreProperties>
</file>