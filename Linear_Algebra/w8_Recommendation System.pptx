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094" r:id="rId3"/>
    <p:sldId id="307" r:id="rId4"/>
    <p:sldId id="319" r:id="rId5"/>
    <p:sldId id="325" r:id="rId6"/>
    <p:sldId id="933" r:id="rId7"/>
    <p:sldId id="320" r:id="rId8"/>
    <p:sldId id="326" r:id="rId9"/>
    <p:sldId id="321" r:id="rId10"/>
    <p:sldId id="978" r:id="rId11"/>
    <p:sldId id="1095" r:id="rId12"/>
    <p:sldId id="1096" r:id="rId13"/>
    <p:sldId id="1097" r:id="rId14"/>
    <p:sldId id="1098" r:id="rId15"/>
    <p:sldId id="1104" r:id="rId16"/>
    <p:sldId id="1099" r:id="rId17"/>
    <p:sldId id="1100" r:id="rId18"/>
    <p:sldId id="1103" r:id="rId19"/>
    <p:sldId id="1107" r:id="rId20"/>
    <p:sldId id="1106" r:id="rId21"/>
    <p:sldId id="1108" r:id="rId22"/>
    <p:sldId id="1101" r:id="rId23"/>
    <p:sldId id="1109" r:id="rId24"/>
    <p:sldId id="1110" r:id="rId25"/>
    <p:sldId id="1111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307"/>
            <p14:sldId id="319"/>
            <p14:sldId id="325"/>
            <p14:sldId id="933"/>
            <p14:sldId id="320"/>
            <p14:sldId id="326"/>
            <p14:sldId id="321"/>
            <p14:sldId id="978"/>
            <p14:sldId id="1095"/>
            <p14:sldId id="1096"/>
            <p14:sldId id="1097"/>
            <p14:sldId id="1098"/>
            <p14:sldId id="1104"/>
            <p14:sldId id="1099"/>
            <p14:sldId id="1100"/>
            <p14:sldId id="1103"/>
            <p14:sldId id="1107"/>
            <p14:sldId id="1106"/>
            <p14:sldId id="1108"/>
            <p14:sldId id="1101"/>
            <p14:sldId id="1109"/>
            <p14:sldId id="1110"/>
            <p14:sldId id="111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8621-8FB5-5903-96F4-A3ED9B06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D63619-67C2-6EE1-258E-B374DDE7F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09C356-8423-8F10-2129-10834E731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AF1EB-1D1F-AF1A-46B6-7D73F2098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207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3CFFE-5149-5B6F-C1BA-78631B904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C8FDB1-2815-4DCD-10E1-84823BC9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2802-8077-0432-63C2-E516471D0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9A5C57-638B-2D56-842E-971FF0C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3564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7F7E-9BF3-61AF-1FBE-8C63D2E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BE304C-4950-7A52-886C-9B19D7F54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405655-6AD2-6C7B-4798-76032C956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357D7A-FBC2-EB56-4D40-E2AE954662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08664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225C-2154-76A3-A327-9E885800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E232A-2A90-7870-75FE-AFBC5C5B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28BC6E-87DB-719C-FF7F-53D413BE7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37F632-2E84-E2C9-BC59-9620D4780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4344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CF7B-8173-49EF-EDFA-37657D166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AFC12-53FD-0153-A545-DD233B603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FD70DF-8935-5D25-6FE6-014875ECC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1B42F-AE86-B9E1-FB28-6DBA969D0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20294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145C-EFB3-DCE2-AA6B-E3949C37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186877-C011-21C2-3449-8A627607E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2E913B-49D6-5280-249C-EE2570C77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DACF8-9A5A-5DAE-FB56-534E11DC0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1139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0231E-5E52-E799-8E90-B8BFEC9D0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431AED-A3BC-E854-1025-D5B7FD16B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211C52-93BC-A1E8-DC69-2C8DF05386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3CB5C9-CD34-C87F-2CAE-0398D2606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35766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EFB1F-F360-2A25-F113-9E444E9CE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D42869-B60E-23C9-D829-6F1B82458B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A1C7E9-AED8-823F-A748-994A6344C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8A02B-209A-04F3-E122-D074D212B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4517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scikit-learn.org/stable/modules/generated/sklearn.feature_extraction.text.CountVectorizer.html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radimrehurek.com/gensim/models/word2vec.html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radimrehurek.com/gensim/models/word2vec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jpe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evelopers.google.com/machine-learning/recommendation/content-based/basic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Recommendation Systems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8662713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Cosine similarity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Word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Embedding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content based recommendation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D01898-5783-BACA-90B1-5A85C6E33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49" y="1801459"/>
            <a:ext cx="10301258" cy="4402493"/>
          </a:xfrm>
          <a:prstGeom prst="rect">
            <a:avLst/>
          </a:prstGeom>
        </p:spPr>
      </p:pic>
      <p:pic>
        <p:nvPicPr>
          <p:cNvPr id="7" name="그래픽 6" descr="우주비행 접시 단색으로 채워진">
            <a:extLst>
              <a:ext uri="{FF2B5EF4-FFF2-40B4-BE49-F238E27FC236}">
                <a16:creationId xmlns:a16="http://schemas.microsoft.com/office/drawing/2014/main" id="{5192A352-5678-CFF5-44F8-AC65840C6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57757" y="415924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384D-1BCA-4A59-E959-AE78A2D9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B59542F-3FB0-23B0-727C-182A5B558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E79E82-A920-AD9B-45C8-AD9129F0F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A95B7F-A55C-7CA4-9772-E369FB2CB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00" y="2447925"/>
            <a:ext cx="5867019" cy="3557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0747BF-D994-93A2-8BC7-760B244DAAB8}"/>
              </a:ext>
            </a:extLst>
          </p:cNvPr>
          <p:cNvSpPr txBox="1"/>
          <p:nvPr/>
        </p:nvSpPr>
        <p:spPr>
          <a:xfrm>
            <a:off x="521206" y="1335903"/>
            <a:ext cx="11042143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벡터가 다른 벡터의 방향으로 얼마나 힘을 보태고 있는가"를 수치화한 것으로 두 벡터의 유사도를 측정하는 지표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2F22B95-EB19-38C7-C50E-7CF9D1486C96}"/>
                  </a:ext>
                </a:extLst>
              </p:cNvPr>
              <p:cNvSpPr txBox="1"/>
              <p:nvPr/>
            </p:nvSpPr>
            <p:spPr>
              <a:xfrm>
                <a:off x="7810500" y="2811423"/>
                <a:ext cx="39243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 내적 값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(L2):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dirty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ko-KR" altLang="en-US" i="0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ko-KR" altLang="en-US" i="0" dirty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0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ko-KR" altLang="en-US" i="0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= 40</m:t>
                    </m:r>
                  </m:oMath>
                </a14:m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2F22B95-EB19-38C7-C50E-7CF9D1486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500" y="2811423"/>
                <a:ext cx="3924300" cy="369332"/>
              </a:xfrm>
              <a:prstGeom prst="rect">
                <a:avLst/>
              </a:prstGeom>
              <a:blipFill>
                <a:blip r:embed="rId4"/>
                <a:stretch>
                  <a:fillRect l="-1242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D1DA78A-7423-A102-F2FB-399F191AF1B7}"/>
              </a:ext>
            </a:extLst>
          </p:cNvPr>
          <p:cNvCxnSpPr/>
          <p:nvPr/>
        </p:nvCxnSpPr>
        <p:spPr>
          <a:xfrm>
            <a:off x="6496050" y="3011478"/>
            <a:ext cx="9715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CB997FC-D176-8CB6-B304-04883660AED6}"/>
              </a:ext>
            </a:extLst>
          </p:cNvPr>
          <p:cNvSpPr txBox="1"/>
          <p:nvPr/>
        </p:nvSpPr>
        <p:spPr>
          <a:xfrm>
            <a:off x="2000250" y="380277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(6, 2)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F79201-10ED-4658-9AF2-4A0C30CB1489}"/>
              </a:ext>
            </a:extLst>
          </p:cNvPr>
          <p:cNvSpPr txBox="1"/>
          <p:nvPr/>
        </p:nvSpPr>
        <p:spPr>
          <a:xfrm>
            <a:off x="323850" y="3352800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(-1, 3)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29605B-FD1C-A13A-351D-0CC4E53BACF1}"/>
              </a:ext>
            </a:extLst>
          </p:cNvPr>
          <p:cNvSpPr txBox="1"/>
          <p:nvPr/>
        </p:nvSpPr>
        <p:spPr>
          <a:xfrm>
            <a:off x="1781175" y="240641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(6, 2)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787C9B-078F-33FE-B29F-05CE6FAD9C7B}"/>
              </a:ext>
            </a:extLst>
          </p:cNvPr>
          <p:cNvSpPr txBox="1"/>
          <p:nvPr/>
        </p:nvSpPr>
        <p:spPr>
          <a:xfrm>
            <a:off x="2000250" y="499384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(6, 2)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5035DB-DBC6-14A8-7205-DFAE3560644A}"/>
              </a:ext>
            </a:extLst>
          </p:cNvPr>
          <p:cNvSpPr txBox="1"/>
          <p:nvPr/>
        </p:nvSpPr>
        <p:spPr>
          <a:xfrm>
            <a:off x="284726" y="4624514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(-0.5, 5)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AEAEC0-6668-D318-7146-BE6D28F814D3}"/>
                  </a:ext>
                </a:extLst>
              </p:cNvPr>
              <p:cNvSpPr txBox="1"/>
              <p:nvPr/>
            </p:nvSpPr>
            <p:spPr>
              <a:xfrm>
                <a:off x="7810500" y="3966705"/>
                <a:ext cx="40119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 내적 값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-1*6</m:t>
                    </m:r>
                    <m:r>
                      <a:rPr lang="ko-KR" altLang="en-US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3*2 = 0</m:t>
                    </m:r>
                  </m:oMath>
                </a14:m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AEAEC0-6668-D318-7146-BE6D28F81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500" y="3966705"/>
                <a:ext cx="4011900" cy="369332"/>
              </a:xfrm>
              <a:prstGeom prst="rect">
                <a:avLst/>
              </a:prstGeom>
              <a:blipFill>
                <a:blip r:embed="rId5"/>
                <a:stretch>
                  <a:fillRect l="-1216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A815804-C985-F232-32CF-68851677BA34}"/>
              </a:ext>
            </a:extLst>
          </p:cNvPr>
          <p:cNvCxnSpPr/>
          <p:nvPr/>
        </p:nvCxnSpPr>
        <p:spPr>
          <a:xfrm>
            <a:off x="6496050" y="4166760"/>
            <a:ext cx="9715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9E08B81-6319-2AEE-2CAC-9776B84E2417}"/>
                  </a:ext>
                </a:extLst>
              </p:cNvPr>
              <p:cNvSpPr txBox="1"/>
              <p:nvPr/>
            </p:nvSpPr>
            <p:spPr>
              <a:xfrm>
                <a:off x="7810499" y="5121987"/>
                <a:ext cx="40118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 내적 값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-0.5*6 + 5*2 = 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9E08B81-6319-2AEE-2CAC-9776B84E2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499" y="5121987"/>
                <a:ext cx="4011899" cy="369332"/>
              </a:xfrm>
              <a:prstGeom prst="rect">
                <a:avLst/>
              </a:prstGeom>
              <a:blipFill>
                <a:blip r:embed="rId6"/>
                <a:stretch>
                  <a:fillRect l="-1216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EDFF811-54CA-3F68-484E-1A4D9273E08B}"/>
              </a:ext>
            </a:extLst>
          </p:cNvPr>
          <p:cNvCxnSpPr/>
          <p:nvPr/>
        </p:nvCxnSpPr>
        <p:spPr>
          <a:xfrm>
            <a:off x="6496050" y="5322042"/>
            <a:ext cx="9715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97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B6AF-8E99-E870-7771-4445E54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D707525-BF5B-10CA-ED06-63047E362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Projection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(land)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4C6EA8-0778-273F-E2CA-86DC793E5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E993BB2-7D33-053E-5D6C-955BA59F0393}"/>
              </a:ext>
            </a:extLst>
          </p:cNvPr>
          <p:cNvGrpSpPr/>
          <p:nvPr/>
        </p:nvGrpSpPr>
        <p:grpSpPr>
          <a:xfrm>
            <a:off x="656761" y="2283333"/>
            <a:ext cx="4043071" cy="2547777"/>
            <a:chOff x="780631" y="2446425"/>
            <a:chExt cx="6001588" cy="378195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E7254D18-31A2-88D1-0BF3-746EDC9DD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631" y="2446425"/>
              <a:ext cx="6001588" cy="3781953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7A30F9F-1156-708A-94F4-04C1539F7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1645" y="4446954"/>
              <a:ext cx="5449060" cy="1781424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/>
              <p:nvPr/>
            </p:nvSpPr>
            <p:spPr>
              <a:xfrm>
                <a:off x="557702" y="1295179"/>
                <a:ext cx="11167573" cy="870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벡터가 어떤 각도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떨어져 있다면, 그 각도(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ko-KR" altLang="en-US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)만큼을 보정해서 곱해주는 것으로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</a:t>
                </a:r>
                <a:r>
                  <a:rPr lang="ko-KR" altLang="en-US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된 것임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02" y="1295179"/>
                <a:ext cx="11167573" cy="870559"/>
              </a:xfrm>
              <a:prstGeom prst="rect">
                <a:avLst/>
              </a:prstGeom>
              <a:blipFill>
                <a:blip r:embed="rId5"/>
                <a:stretch>
                  <a:fillRect l="-43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4">
            <a:extLst>
              <a:ext uri="{FF2B5EF4-FFF2-40B4-BE49-F238E27FC236}">
                <a16:creationId xmlns:a16="http://schemas.microsoft.com/office/drawing/2014/main" id="{7F37D204-B963-5340-3176-54A9BE5CF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832" y="2283085"/>
            <a:ext cx="5964314" cy="4343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D99AB6-1E6E-9E47-FFFA-7610744E5DF3}"/>
              </a:ext>
            </a:extLst>
          </p:cNvPr>
          <p:cNvSpPr txBox="1"/>
          <p:nvPr/>
        </p:nvSpPr>
        <p:spPr>
          <a:xfrm>
            <a:off x="7941396" y="4770371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(5, 1)</a:t>
            </a:r>
            <a:endParaRPr lang="ko-KR" altLang="en-US" b="1" dirty="0">
              <a:solidFill>
                <a:srgbClr val="0070C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B5E5B-6FB5-4E7C-E091-AA53B13DBEC5}"/>
              </a:ext>
            </a:extLst>
          </p:cNvPr>
          <p:cNvSpPr txBox="1"/>
          <p:nvPr/>
        </p:nvSpPr>
        <p:spPr>
          <a:xfrm>
            <a:off x="5857326" y="2922577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(2, 4)</a:t>
            </a:r>
            <a:endParaRPr lang="ko-KR" altLang="en-US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669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FED9C-642C-6E7D-13CE-A5CBE78C9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C866586-1090-BCE6-24BD-EF3687590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4BB9C7-B94F-8703-83F3-91E64442B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97CE9-5B01-4BE8-31BE-514F9A3FA5CF}"/>
              </a:ext>
            </a:extLst>
          </p:cNvPr>
          <p:cNvSpPr txBox="1"/>
          <p:nvPr/>
        </p:nvSpPr>
        <p:spPr>
          <a:xfrm>
            <a:off x="600075" y="1498140"/>
            <a:ext cx="8842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내적을 구하고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cosine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각도와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norm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수식과 비교하라</a:t>
            </a: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500A6951-0D33-9CF0-C1CB-54740BF93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2C5599D2-5CB2-2D4D-EB27-36F32BB1C176}"/>
              </a:ext>
            </a:extLst>
          </p:cNvPr>
          <p:cNvGrpSpPr/>
          <p:nvPr/>
        </p:nvGrpSpPr>
        <p:grpSpPr>
          <a:xfrm>
            <a:off x="400049" y="2206656"/>
            <a:ext cx="4305301" cy="3997296"/>
            <a:chOff x="590550" y="2308254"/>
            <a:chExt cx="6235605" cy="43129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70ACE0D-40F9-AA36-E971-355B7AD3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075" y="2308254"/>
              <a:ext cx="6226080" cy="354360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ED7419-46BA-2937-2AF0-DAA74BCA7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0550" y="5539060"/>
              <a:ext cx="6226080" cy="1082134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675D88-1DBF-5A46-AE04-D61EDD024110}"/>
              </a:ext>
            </a:extLst>
          </p:cNvPr>
          <p:cNvSpPr txBox="1"/>
          <p:nvPr/>
        </p:nvSpPr>
        <p:spPr>
          <a:xfrm>
            <a:off x="4711926" y="2482990"/>
            <a:ext cx="7016988" cy="3554819"/>
          </a:xfrm>
          <a:prstGeom prst="rect">
            <a:avLst/>
          </a:prstGeom>
          <a:solidFill>
            <a:srgbClr val="76E3FF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([3, 5]); v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([6, 2])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np.dot(u, v)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(u);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(v)</a:t>
            </a:r>
          </a:p>
          <a:p>
            <a:pPr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Calculate the cosine of the angle</a:t>
            </a:r>
          </a:p>
          <a:p>
            <a:pPr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/ 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 and v: {u} and {v}")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f"Dot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product (u · v): {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}")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f"Norm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of u (||u||) and v (||v||): {norm_u:.2f} &amp; {norm_v:.2f}")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f"Cosine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of the angle (cos(theta)): {cos_theta:.4f}")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f"Result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of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||u||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||v||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{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*cos_theta:.2f}")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3E58C0-3897-DABC-1CAE-1E4D8FB2E99C}"/>
              </a:ext>
            </a:extLst>
          </p:cNvPr>
          <p:cNvSpPr txBox="1"/>
          <p:nvPr/>
        </p:nvSpPr>
        <p:spPr>
          <a:xfrm>
            <a:off x="3917737" y="3891068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(6, 2)</a:t>
            </a:r>
            <a:endParaRPr lang="ko-KR" altLang="en-US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22B07-5625-35A5-1F68-69B88AB19B3F}"/>
              </a:ext>
            </a:extLst>
          </p:cNvPr>
          <p:cNvSpPr txBox="1"/>
          <p:nvPr/>
        </p:nvSpPr>
        <p:spPr>
          <a:xfrm>
            <a:off x="2866476" y="2813075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(3, 5)</a:t>
            </a:r>
            <a:endParaRPr lang="ko-KR" altLang="en-US" b="1" dirty="0">
              <a:solidFill>
                <a:srgbClr val="0070C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921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FF3A9-DA07-005D-AA1B-03AF081A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DC4760A-E26A-BC72-7F4A-10363D5CF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287C0EC-E537-21CA-8060-E33FAEE2D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1A4F65-BCF2-12CC-2198-60473B61D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83" y="1947574"/>
            <a:ext cx="9202434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0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F83-0552-F82F-7B03-1738832D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FDDD879-5D18-29C9-68B7-C3DE1F38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CBF237C-AB0E-F99E-CDCC-14854D556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48BE910-A271-D9B7-E8BD-092DD625B2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37649" y="1866606"/>
            <a:ext cx="8973802" cy="421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36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2981-E7F5-BD9E-1EBB-958C1F8A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0C500A8-A0DF-0D2C-C47B-8A4138AC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1B2E616-996B-3727-BC95-522EBCAFB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24AD68-A456-813C-6081-23E74576B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019" y="1343024"/>
            <a:ext cx="5771601" cy="2246333"/>
          </a:xfrm>
          <a:prstGeom prst="rect">
            <a:avLst/>
          </a:prstGeom>
        </p:spPr>
      </p:pic>
      <p:pic>
        <p:nvPicPr>
          <p:cNvPr id="17414" name="Picture 6">
            <a:extLst>
              <a:ext uri="{FF2B5EF4-FFF2-40B4-BE49-F238E27FC236}">
                <a16:creationId xmlns:a16="http://schemas.microsoft.com/office/drawing/2014/main" id="{C8007836-D907-5A4F-4B40-5286E0485F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755" y="1343024"/>
            <a:ext cx="5169264" cy="527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0503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Cosine similarity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5C8463-F9B6-C7BA-D31B-AE9DFAF7C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363935"/>
            <a:ext cx="7848600" cy="3228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8EC2B-FE48-E626-E51F-B7969D0B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9EED5A-53B9-6E9E-2A8C-A512CFB82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1F1ECC6-6302-59FA-6EC7-0ABB0116A9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Cosine similarity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88AFF-A930-A2C1-AEF4-8A0FE39DDC2C}"/>
              </a:ext>
            </a:extLst>
          </p:cNvPr>
          <p:cNvSpPr txBox="1"/>
          <p:nvPr/>
        </p:nvSpPr>
        <p:spPr>
          <a:xfrm>
            <a:off x="561974" y="1265090"/>
            <a:ext cx="1083582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1028" name="Picture 4" descr="Image Source:AI Tech Trend(Modified from the original)">
            <a:extLst>
              <a:ext uri="{FF2B5EF4-FFF2-40B4-BE49-F238E27FC236}">
                <a16:creationId xmlns:a16="http://schemas.microsoft.com/office/drawing/2014/main" id="{1ED348C2-DA52-B0BC-107A-E91C4EB82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464" y="1542232"/>
            <a:ext cx="5948362" cy="4630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9B9590-5396-D7DB-3802-55B13F4BEFCA}"/>
              </a:ext>
            </a:extLst>
          </p:cNvPr>
          <p:cNvSpPr txBox="1"/>
          <p:nvPr/>
        </p:nvSpPr>
        <p:spPr>
          <a:xfrm>
            <a:off x="3048000" y="621672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Image </a:t>
            </a:r>
            <a:r>
              <a:rPr lang="en-US" altLang="ko-KR" sz="11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Source:AI</a:t>
            </a:r>
            <a:r>
              <a:rPr lang="en-US" altLang="ko-KR" sz="11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Tech Trend(Modified from the original)</a:t>
            </a:r>
            <a:endParaRPr lang="ko-KR" altLang="en-US" sz="1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7251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ED18-E2D7-EC2B-396C-414AC954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86FFF8-2BDB-C8AE-18EF-6E9CB99F6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2668F2-37DB-B0D9-174F-166D092F05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Hands-on; Homework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93E848-9B69-46A2-07A3-E417E53CA04F}"/>
              </a:ext>
            </a:extLst>
          </p:cNvPr>
          <p:cNvSpPr txBox="1"/>
          <p:nvPr/>
        </p:nvSpPr>
        <p:spPr>
          <a:xfrm>
            <a:off x="561974" y="1265090"/>
            <a:ext cx="10835829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아래는 슈퍼맨과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장군의 대화이다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sklearn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CountVectorizer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객체 생성 및 학습을 통해 추출된 단어 목록으로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데이터셋을 생성하고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kill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이외 모든 단어는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불용어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Stopwords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처리한 데이터 셋으로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대사의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cosine similarity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각각 구하고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슈퍼맨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조드장군으로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대사를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6AE8D24D-C5E2-265C-B42F-A7C723590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7785A9-E5DF-F613-9143-E1C1C273BB75}"/>
              </a:ext>
            </a:extLst>
          </p:cNvPr>
          <p:cNvSpPr txBox="1"/>
          <p:nvPr/>
        </p:nvSpPr>
        <p:spPr>
          <a:xfrm>
            <a:off x="676274" y="3104589"/>
            <a:ext cx="9553576" cy="3046988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CountVectorizer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슈퍼맨과 악당의 대화 코퍼스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번갈아가며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대사 진행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corpus = 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"I am Superman and I will save this city",                         # Superman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"I will kill everybody Superman because I have kryptonite",        # General Zod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"Your kryptonite cannot stop my justice, I will save the earth",   # Superman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"This city belongs to me and I will kill you"                      # General Zod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대사의 화자 라벨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speakers = ["Superman", "General Zod", "Superman", "General Zod"]</a:t>
            </a:r>
          </a:p>
        </p:txBody>
      </p:sp>
    </p:spTree>
    <p:extLst>
      <p:ext uri="{BB962C8B-B14F-4D97-AF65-F5344CB8AC3E}">
        <p14:creationId xmlns:p14="http://schemas.microsoft.com/office/powerpoint/2010/main" val="537048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67584-89A1-DD2F-B06C-5F8C4074D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B6D7CE-F93A-CA89-BFD2-6B2E7487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BF6FD3-2B5D-2BCE-D693-0017B1709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Hands-on; Homework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B1E9FB9D-D5A0-7F3C-934D-15F6FEB38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318A018-D5D2-AA17-0B36-E29C11DCF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98" y="1470490"/>
            <a:ext cx="11046202" cy="18530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F8120E3-61F0-E166-3699-DC8A2566E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398" y="3893861"/>
            <a:ext cx="2089002" cy="169731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12497BE-204C-C613-C9BC-1F4DDAEC48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3005" y="3720207"/>
            <a:ext cx="3765685" cy="2812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6C3D955-B992-7B9C-2436-C5F9A8AE6E57}"/>
              </a:ext>
            </a:extLst>
          </p:cNvPr>
          <p:cNvSpPr txBox="1"/>
          <p:nvPr/>
        </p:nvSpPr>
        <p:spPr>
          <a:xfrm>
            <a:off x="612398" y="3524529"/>
            <a:ext cx="23304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without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stopwords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9603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73116-D3DD-6A26-3BE7-834836808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1BA7F-6649-69AE-5C5F-F711315DC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FFED3AF-BC31-83F3-05B3-96D7E40895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Hands-on; Homework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661C0D7C-0F32-656C-612E-AAC52DA6D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D0D481A-C323-BD61-C1BA-718FB4B68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195" y="3730805"/>
            <a:ext cx="5811946" cy="11805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780BE5-AFFA-E412-A168-83316ED2E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20" y="1454056"/>
            <a:ext cx="5639405" cy="1235039"/>
          </a:xfrm>
          <a:prstGeom prst="rect">
            <a:avLst/>
          </a:prstGeom>
        </p:spPr>
      </p:pic>
      <p:pic>
        <p:nvPicPr>
          <p:cNvPr id="6156" name="Picture 12">
            <a:extLst>
              <a:ext uri="{FF2B5EF4-FFF2-40B4-BE49-F238E27FC236}">
                <a16:creationId xmlns:a16="http://schemas.microsoft.com/office/drawing/2014/main" id="{E26E82D9-A32A-8994-D726-39331FC58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236" y="1248422"/>
            <a:ext cx="5787042" cy="4907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8" name="Picture 14">
            <a:extLst>
              <a:ext uri="{FF2B5EF4-FFF2-40B4-BE49-F238E27FC236}">
                <a16:creationId xmlns:a16="http://schemas.microsoft.com/office/drawing/2014/main" id="{B375760B-EB97-8B87-248B-06438537F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1414" y="1248421"/>
            <a:ext cx="5787042" cy="4907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1058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50A27-5EF8-B17E-B1F4-B24EEB312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5F2315D-720A-5607-C6DC-18C6737B6055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ED08183-5A4D-BBFC-D912-C4AE66F01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8219753-879D-2921-90F6-183F8E0E0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40E85E-DDF9-6BE0-211F-F4E37BF612B2}"/>
              </a:ext>
            </a:extLst>
          </p:cNvPr>
          <p:cNvSpPr txBox="1"/>
          <p:nvPr/>
        </p:nvSpPr>
        <p:spPr>
          <a:xfrm>
            <a:off x="1957661" y="1537527"/>
            <a:ext cx="8662713" cy="2611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Cosine similarity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Word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Embedding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6967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A1C7-2A70-2E7E-0975-0E63DDED6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44E07-925D-7082-3ADE-69A68A1E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7F14BE-0949-6107-92FB-C4540867E5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Word Embedding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E39AAB-6D7B-8DE2-1788-F6F0AB9C2FEE}"/>
              </a:ext>
            </a:extLst>
          </p:cNvPr>
          <p:cNvSpPr txBox="1"/>
          <p:nvPr/>
        </p:nvSpPr>
        <p:spPr>
          <a:xfrm>
            <a:off x="628650" y="1295400"/>
            <a:ext cx="1104900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CountVectorizer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 word vectors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핫 인코딩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개수만큼 방을 만들고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 방에만 불을 켠다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!“, Word embeddings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워드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임베딩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단어의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분석해서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공간에 알록달록 압축한다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유유상종 단어로 군집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192E899-263E-3230-2F14-97E562206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05" y="3427463"/>
            <a:ext cx="3732095" cy="259463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0D8B621-7BC7-8ECB-7317-B797E9B87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558770"/>
            <a:ext cx="1296055" cy="36705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CE5314-103A-98AE-EBD0-263B1E312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149" y="2558770"/>
            <a:ext cx="1299404" cy="367058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527F922-3D93-2F54-68BC-BA0D030FB2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5553" y="4482476"/>
            <a:ext cx="3850016" cy="14469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73E03D9-FE62-2CAB-581E-7224B9138F8B}"/>
              </a:ext>
            </a:extLst>
          </p:cNvPr>
          <p:cNvSpPr txBox="1"/>
          <p:nvPr/>
        </p:nvSpPr>
        <p:spPr>
          <a:xfrm>
            <a:off x="2047875" y="2558770"/>
            <a:ext cx="2628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One-hot Embeddin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g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1AE98A-3418-3A54-C548-58D12B2F038E}"/>
              </a:ext>
            </a:extLst>
          </p:cNvPr>
          <p:cNvSpPr txBox="1"/>
          <p:nvPr/>
        </p:nvSpPr>
        <p:spPr>
          <a:xfrm>
            <a:off x="8083769" y="2558770"/>
            <a:ext cx="2628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Word embeddings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E0640BA-15C3-2FD4-CC7A-63F3A5CF33FE}"/>
              </a:ext>
            </a:extLst>
          </p:cNvPr>
          <p:cNvSpPr/>
          <p:nvPr/>
        </p:nvSpPr>
        <p:spPr>
          <a:xfrm>
            <a:off x="628650" y="5534025"/>
            <a:ext cx="1296055" cy="695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9422856-AD04-F271-AE9C-A68C58C9E074}"/>
              </a:ext>
            </a:extLst>
          </p:cNvPr>
          <p:cNvSpPr/>
          <p:nvPr/>
        </p:nvSpPr>
        <p:spPr>
          <a:xfrm>
            <a:off x="6667500" y="5495925"/>
            <a:ext cx="1296055" cy="695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82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C55A6-FE6E-0CE7-FCD4-E61BF2152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7DC949-BA06-2584-0041-11AC5CDCB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427681-E06D-E6C6-CCD0-BBAE90B3CC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gensim_models_word2vec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114C92-1522-E068-CDFF-D5E81FDDC9F1}"/>
              </a:ext>
            </a:extLst>
          </p:cNvPr>
          <p:cNvSpPr txBox="1"/>
          <p:nvPr/>
        </p:nvSpPr>
        <p:spPr>
          <a:xfrm>
            <a:off x="617536" y="1395634"/>
            <a:ext cx="9783764" cy="52219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string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Word2Vec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예시 코퍼스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슈퍼맨과 악당의 대화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소문자화 및 문장 분절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Word2Vec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단어들의 리스트 형태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'am', 'superman'], [...]])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입력으로 받습니다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tokenized_corpus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sentence in corpus: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구두점 제거 및 소문자 변환 후 공백 기준 토큰화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clean_sentence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sentence.translate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str.maketrans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('', '',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string.punctuation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)).lower()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tokenized_corpus.append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clean_sentence.split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토큰 데이터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---")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tokenized_corpus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[:2])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문장만 출력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print("\n" + "="*50 + "\n")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Word2Vec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Word2Vec(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sentences=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tokenized_corpus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=10,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단어를 표현할 벡터의 차원 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실제로는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100~300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차원을 주로 사용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window=3,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문맥을 볼 앞뒤 단어의 범위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min_count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 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모델에 포함할 단어의 최소 빈도수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테스트용이라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설정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sg=1,            # 0: CBOW, 1: Skip-Gram 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주변 단어로 중심 단어를 예측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epochs=100   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학습 반복 횟수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데이터가 적어 학습을 많이 반복함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B7474BB1-3371-5B0E-5C67-BE32C8226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7972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5AD82-2954-C1CF-F658-CF11B22E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D8F54B-63AC-5E2C-3276-E92D4AE0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646B93-8895-9059-B1AD-B21515D149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gensim_models_word2vec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17F171-D9F0-49E2-0ABB-9C423FC6F98C}"/>
              </a:ext>
            </a:extLst>
          </p:cNvPr>
          <p:cNvSpPr txBox="1"/>
          <p:nvPr/>
        </p:nvSpPr>
        <p:spPr>
          <a:xfrm>
            <a:off x="617535" y="1411509"/>
            <a:ext cx="9678990" cy="255454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확인하기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(1)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특정 단어의 벡터 값 확인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['superman'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단어 벡터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 ---")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superman_vector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model.wv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['superman']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superman_vector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print("\n" + "="*50 + "\n")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(2)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특정 단어와 가장 유사한 단어 탑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뽑기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['save'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문맥상 가장 유사한 단어들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---")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similar_words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model.wv.most_similar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('save',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topn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word, similarity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similar_words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{word:&lt;10} |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{similarity:.4f}")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73D3A7-62DE-0898-3E5D-7C233563E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35" y="4068980"/>
            <a:ext cx="5478465" cy="2597325"/>
          </a:xfrm>
          <a:prstGeom prst="rect">
            <a:avLst/>
          </a:prstGeom>
        </p:spPr>
      </p:pic>
      <p:pic>
        <p:nvPicPr>
          <p:cNvPr id="8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81EA7A0A-1AFB-7584-8B77-73C13FC3A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727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BA05-E070-6D5A-5941-7DC6E5A4B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B311E8-FC36-145F-D1B0-540D15F61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B5B648-B4BC-478E-E97A-923F8E0E12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: word2vec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014946-3CA1-2347-244E-D8000A774002}"/>
              </a:ext>
            </a:extLst>
          </p:cNvPr>
          <p:cNvSpPr txBox="1"/>
          <p:nvPr/>
        </p:nvSpPr>
        <p:spPr>
          <a:xfrm>
            <a:off x="617534" y="1411509"/>
            <a:ext cx="8955091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단어 사전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단어가 있다고 가정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이해할 수 있도록 단어마다 고유 인덱스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매깁니다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word_to_idx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{"superman": 0, "save": 1, "city": 2, "destroy": 3, "kryptonite": 4}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word_to_idx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nn.Embedding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단어를 표현할 벡터의 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4  # 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Dense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압축하겠다는 뜻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nn.Embedding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초기화된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 가중치 확인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처음에는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랜덤한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값으로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생성된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5x4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가중치 테이블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---")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embedding_layer.weight.data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print("\n" + "="*50 + "\n")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인덱스로 변환 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통과시키기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예시 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"superman save city" -&gt;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인덱스 바꾸면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[0, 1, 2]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B5D84D9A-4827-0ED3-0370-4B8F9849AF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3819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75C43-DBF0-A27A-03CE-DBB442812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4A62C2-3A81-744D-55A0-5C6D9A6D8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8226B7-1813-0E73-4162-245360B326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: word2vec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89C7A-B41F-0D5C-8804-EAF782C7BA2F}"/>
              </a:ext>
            </a:extLst>
          </p:cNvPr>
          <p:cNvSpPr txBox="1"/>
          <p:nvPr/>
        </p:nvSpPr>
        <p:spPr>
          <a:xfrm>
            <a:off x="617534" y="1411509"/>
            <a:ext cx="895509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input_sentence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["superman", "save", "city"]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input_indices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word_to_idx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[word] for word in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input_sentence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정수형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입력으로 받기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input_indices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레이어에 입력 통과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룩업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embedded_output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input_sentence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인덱스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print("\n---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최종 워드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---")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embedded_output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40DE12-8B67-E192-A2DF-C655587F6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195" y="2847558"/>
            <a:ext cx="6060283" cy="329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4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83670-67B6-54D8-703D-011222CE8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FF651-B753-5A60-7DF0-29A40139A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2FB138-DAEC-E6DE-C164-C237F9BC152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chatGPT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: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tokenizer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E45F7B3-C2B6-4B1F-3B15-65AF0A778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158" y="1425761"/>
            <a:ext cx="4976291" cy="46105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954229-19FB-14C5-6342-ABDB7574D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95" y="3743084"/>
            <a:ext cx="4782912" cy="2293177"/>
          </a:xfrm>
          <a:prstGeom prst="rect">
            <a:avLst/>
          </a:prstGeom>
        </p:spPr>
      </p:pic>
      <p:pic>
        <p:nvPicPr>
          <p:cNvPr id="1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7FCDD46-5C7E-D9ED-B82F-B41C04536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2992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FBA-0424-C84B-24AC-5715EAA3E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155F6-794A-5506-8EB2-C3D504827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FF3727-4378-400B-8AC7-0294F28E7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Word2vector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8C3E952-E951-0E01-2DDD-2E8549778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2445037"/>
            <a:ext cx="10502899" cy="196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06CC18-E89F-1F7B-9374-B4052EC9EF4D}"/>
              </a:ext>
            </a:extLst>
          </p:cNvPr>
          <p:cNvSpPr txBox="1"/>
          <p:nvPr/>
        </p:nvSpPr>
        <p:spPr>
          <a:xfrm>
            <a:off x="628650" y="1295400"/>
            <a:ext cx="1104900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Word embeddings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워드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임베딩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단어의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분석해서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공간에 알록달록 압축하기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때문에 단어의 개수가 아주 많아도 효율적으로 단어를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Representation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수있음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40A62F35-74DF-56A2-D096-DEEC9884E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4" y="2356164"/>
            <a:ext cx="10522199" cy="307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655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9F247-B39E-3EA2-B0E4-31C4E6272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7BA3A92-AB0A-1D7B-B60D-F9F0C24FB6FA}"/>
              </a:ext>
            </a:extLst>
          </p:cNvPr>
          <p:cNvSpPr/>
          <p:nvPr/>
        </p:nvSpPr>
        <p:spPr>
          <a:xfrm>
            <a:off x="1457324" y="28956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F82FE26-49D6-06C9-2C60-BE507D50F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4F11B9E-D846-2508-68F2-F773AADA9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0F296-A9B1-EBA4-8FA0-0707575A0DFA}"/>
              </a:ext>
            </a:extLst>
          </p:cNvPr>
          <p:cNvSpPr txBox="1"/>
          <p:nvPr/>
        </p:nvSpPr>
        <p:spPr>
          <a:xfrm>
            <a:off x="1957661" y="1537527"/>
            <a:ext cx="8662713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Cosine similarity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Word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Embedding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content based recommendation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4557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EB2AC-9B79-0D32-AA01-8CE89158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C8F63C-32DB-636F-7DF6-0D3A27139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7E1F10-309B-9583-47F1-25EE1F49243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Content-Based Recommendation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DBBF11-C295-7533-0192-B5939F191F72}"/>
              </a:ext>
            </a:extLst>
          </p:cNvPr>
          <p:cNvSpPr txBox="1"/>
          <p:nvPr/>
        </p:nvSpPr>
        <p:spPr>
          <a:xfrm>
            <a:off x="628650" y="1295400"/>
            <a:ext cx="1104900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사용자가 과거에 좋아했던 아이템의 </a:t>
            </a:r>
            <a:r>
              <a:rPr lang="en-US" altLang="ko-KR" sz="1600" dirty="0"/>
              <a:t>'</a:t>
            </a:r>
            <a:r>
              <a:rPr lang="ko-KR" altLang="en-US" sz="1600" dirty="0"/>
              <a:t>특징</a:t>
            </a:r>
            <a:r>
              <a:rPr lang="en-US" altLang="ko-KR" sz="1600" dirty="0"/>
              <a:t>(Content)'</a:t>
            </a:r>
            <a:r>
              <a:rPr lang="ko-KR" altLang="en-US" sz="1600" dirty="0"/>
              <a:t>을 분석하여</a:t>
            </a:r>
            <a:r>
              <a:rPr lang="en-US" altLang="ko-KR" sz="1600" dirty="0"/>
              <a:t>, </a:t>
            </a:r>
            <a:r>
              <a:rPr lang="ko-KR" altLang="en-US" sz="1600" dirty="0"/>
              <a:t>이와 유사한 특징을 가진 새로운 아이템을 추천</a:t>
            </a:r>
            <a:r>
              <a:rPr lang="en-US" altLang="ko-KR" sz="1600" dirty="0"/>
              <a:t>(</a:t>
            </a:r>
            <a:r>
              <a:rPr lang="en-US" altLang="ko-KR" sz="1600" dirty="0">
                <a:hlinkClick r:id="rId2"/>
              </a:rPr>
              <a:t>recommendation</a:t>
            </a:r>
            <a:r>
              <a:rPr lang="en-US" altLang="ko-KR" sz="1600" dirty="0"/>
              <a:t>)</a:t>
            </a:r>
            <a:r>
              <a:rPr lang="ko-KR" altLang="en-US" sz="1600" dirty="0"/>
              <a:t>하는 기술로 </a:t>
            </a:r>
            <a:r>
              <a:rPr lang="en-US" altLang="ko-KR" sz="1600" dirty="0"/>
              <a:t>"</a:t>
            </a:r>
            <a:r>
              <a:rPr lang="ko-KR" altLang="en-US" sz="1600" dirty="0"/>
              <a:t>당신이 어떤 아이템을 좋아했다면</a:t>
            </a:r>
            <a:r>
              <a:rPr lang="en-US" altLang="ko-KR" sz="1600" dirty="0"/>
              <a:t>, </a:t>
            </a:r>
            <a:r>
              <a:rPr lang="ko-KR" altLang="en-US" sz="1600" dirty="0"/>
              <a:t>그와 비슷한 다른 아이템도 좋아할 것이다</a:t>
            </a:r>
            <a:r>
              <a:rPr lang="en-US" altLang="ko-KR" sz="1600" dirty="0"/>
              <a:t>"</a:t>
            </a:r>
            <a:r>
              <a:rPr lang="ko-KR" altLang="en-US" sz="1600" dirty="0"/>
              <a:t>라는 직관적인 가설에서 출발</a:t>
            </a:r>
          </a:p>
        </p:txBody>
      </p:sp>
      <p:sp>
        <p:nvSpPr>
          <p:cNvPr id="2" name="AutoShape 2" descr="Image of a matrix showing a user and apps that may be recommended">
            <a:extLst>
              <a:ext uri="{FF2B5EF4-FFF2-40B4-BE49-F238E27FC236}">
                <a16:creationId xmlns:a16="http://schemas.microsoft.com/office/drawing/2014/main" id="{764254BE-DD88-AF7F-ADF1-8D48668FCB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68E764-A1D9-CE50-608D-7E93E2295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274" y="2587544"/>
            <a:ext cx="5692270" cy="379285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05695F-798E-7AF5-17EC-763AD6185836}"/>
              </a:ext>
            </a:extLst>
          </p:cNvPr>
          <p:cNvSpPr txBox="1"/>
          <p:nvPr/>
        </p:nvSpPr>
        <p:spPr>
          <a:xfrm>
            <a:off x="7122650" y="2679742"/>
            <a:ext cx="4555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Using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dot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product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similarity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measure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rgbClr val="20212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6DA72A-D7B6-DFD9-6899-E82AB1F6351F}"/>
              </a:ext>
            </a:extLst>
          </p:cNvPr>
          <p:cNvSpPr txBox="1"/>
          <p:nvPr/>
        </p:nvSpPr>
        <p:spPr>
          <a:xfrm>
            <a:off x="7439136" y="3754425"/>
            <a:ext cx="3390271" cy="107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아이템 프로필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(Item Profile): 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아이템의 고유한 특징들을 숫자로 표기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영화의 장르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액션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로맨스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감독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주연 배우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책의 핵심 키워드 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F54ADD-BDF0-52CF-FFB2-645AB822F1EC}"/>
              </a:ext>
            </a:extLst>
          </p:cNvPr>
          <p:cNvSpPr txBox="1"/>
          <p:nvPr/>
        </p:nvSpPr>
        <p:spPr>
          <a:xfrm>
            <a:off x="7306898" y="5369822"/>
            <a:ext cx="38183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사용자 프로필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(User Profile):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사용자의 취향을 아이템 특성과 똑같은 차원의 숫자로 표기한 것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사용자가 과거에 액션 영화를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로맨스 영화를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번 봤다면 이 사용자의 취향 벡터는 액션에 높은 가중치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2" name="오른쪽 중괄호 21">
            <a:extLst>
              <a:ext uri="{FF2B5EF4-FFF2-40B4-BE49-F238E27FC236}">
                <a16:creationId xmlns:a16="http://schemas.microsoft.com/office/drawing/2014/main" id="{6348B405-22E6-DF96-B1FB-06BAB8B337D6}"/>
              </a:ext>
            </a:extLst>
          </p:cNvPr>
          <p:cNvSpPr/>
          <p:nvPr/>
        </p:nvSpPr>
        <p:spPr>
          <a:xfrm>
            <a:off x="7174660" y="3429000"/>
            <a:ext cx="264476" cy="1982471"/>
          </a:xfrm>
          <a:prstGeom prst="rightBrace">
            <a:avLst>
              <a:gd name="adj1" fmla="val 77108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089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D209-B760-F252-AD33-8E8E0B062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56C222-6338-DCAA-F749-DBAB06BA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2FE5C86-10EE-400B-3B36-3D939BC32E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Content-Based Recommendation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Image of a matrix showing a user and apps that may be recommended">
            <a:extLst>
              <a:ext uri="{FF2B5EF4-FFF2-40B4-BE49-F238E27FC236}">
                <a16:creationId xmlns:a16="http://schemas.microsoft.com/office/drawing/2014/main" id="{FDDAB35B-7FDA-788F-CE67-3C63E99465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7DB59-499E-18E4-35D7-CC813029D3C6}"/>
              </a:ext>
            </a:extLst>
          </p:cNvPr>
          <p:cNvSpPr txBox="1"/>
          <p:nvPr/>
        </p:nvSpPr>
        <p:spPr>
          <a:xfrm>
            <a:off x="771525" y="1859340"/>
            <a:ext cx="10639425" cy="336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/>
              <a:t>넷플릭스</a:t>
            </a:r>
            <a:r>
              <a:rPr lang="ko-KR" altLang="en-US" dirty="0"/>
              <a:t> / 유튜브: 동영상의 태그, 카테고리, 설명란의 키워드를 기반으로 시청 중인 영상과 유사한 다음 영상 추천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뉴스 및 블로그 플랫폼: 사용자가 읽은 기사의 본문을 자연어 처리 기법(TF-IDF, Word2Vec 등)</a:t>
            </a:r>
            <a:r>
              <a:rPr lang="ko-KR" altLang="en-US" dirty="0" err="1"/>
              <a:t>으로</a:t>
            </a:r>
            <a:r>
              <a:rPr lang="ko-KR" altLang="en-US" dirty="0"/>
              <a:t> 분석하여 유사한 주제의 다른 글을 추천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음악 스트리밍 (스포티파이 등): 곡의 템포, 분위기(</a:t>
            </a:r>
            <a:r>
              <a:rPr lang="ko-KR" altLang="en-US" dirty="0" err="1"/>
              <a:t>Mood</a:t>
            </a:r>
            <a:r>
              <a:rPr lang="ko-KR" altLang="en-US" dirty="0"/>
              <a:t>), 사용된 악기 등의 오디오 음향 특징을 분석하여 유사한 결의 음악 추천</a:t>
            </a:r>
          </a:p>
        </p:txBody>
      </p:sp>
    </p:spTree>
    <p:extLst>
      <p:ext uri="{BB962C8B-B14F-4D97-AF65-F5344CB8AC3E}">
        <p14:creationId xmlns:p14="http://schemas.microsoft.com/office/powerpoint/2010/main" val="392681146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2830</TotalTime>
  <Words>1616</Words>
  <Application>Microsoft Office PowerPoint</Application>
  <PresentationFormat>와이드스크린</PresentationFormat>
  <Paragraphs>207</Paragraphs>
  <Slides>25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D2Coding</vt:lpstr>
      <vt:lpstr>맑은 고딕</vt:lpstr>
      <vt:lpstr>맑은 고딕 Semilight</vt:lpstr>
      <vt:lpstr>바탕</vt:lpstr>
      <vt:lpstr>Arial</vt:lpstr>
      <vt:lpstr>Cambria Math</vt:lpstr>
      <vt:lpstr>Segoe UI Light</vt:lpstr>
      <vt:lpstr>Wingdings</vt:lpstr>
      <vt:lpstr>WelcomeDoc</vt:lpstr>
      <vt:lpstr>Recommendation Systems</vt:lpstr>
      <vt:lpstr>Contents</vt:lpstr>
      <vt:lpstr>Distances</vt:lpstr>
      <vt:lpstr>The dot product</vt:lpstr>
      <vt:lpstr>Projection (land)</vt:lpstr>
      <vt:lpstr>The dot product</vt:lpstr>
      <vt:lpstr>Geometric dot product</vt:lpstr>
      <vt:lpstr>Geometric dot product</vt:lpstr>
      <vt:lpstr>Geometric dot product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93</cp:revision>
  <dcterms:created xsi:type="dcterms:W3CDTF">2026-04-06T01:00:39Z</dcterms:created>
  <dcterms:modified xsi:type="dcterms:W3CDTF">2026-05-17T02:04:30Z</dcterms:modified>
  <cp:version/>
</cp:coreProperties>
</file>