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8"/>
  </p:notesMasterIdLst>
  <p:handoutMasterIdLst>
    <p:handoutMasterId r:id="rId19"/>
  </p:handoutMasterIdLst>
  <p:sldIdLst>
    <p:sldId id="1074" r:id="rId2"/>
    <p:sldId id="1069" r:id="rId3"/>
    <p:sldId id="1068" r:id="rId4"/>
    <p:sldId id="1075" r:id="rId5"/>
    <p:sldId id="1072" r:id="rId6"/>
    <p:sldId id="1073" r:id="rId7"/>
    <p:sldId id="1076" r:id="rId8"/>
    <p:sldId id="1077" r:id="rId9"/>
    <p:sldId id="1078" r:id="rId10"/>
    <p:sldId id="1079" r:id="rId11"/>
    <p:sldId id="1080" r:id="rId12"/>
    <p:sldId id="1081" r:id="rId13"/>
    <p:sldId id="1082" r:id="rId14"/>
    <p:sldId id="921" r:id="rId15"/>
    <p:sldId id="1084" r:id="rId16"/>
    <p:sldId id="1083" r:id="rId1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/>
        </p14:section>
        <p14:section name="디자인, 모핑, 주석 달기, 공동 작업, 입력하세요" id="{B9B51309-D148-4332-87C2-07BE32FBCA3B}">
          <p14:sldIdLst>
            <p14:sldId id="1074"/>
            <p14:sldId id="1069"/>
            <p14:sldId id="1068"/>
            <p14:sldId id="1075"/>
            <p14:sldId id="1072"/>
            <p14:sldId id="1073"/>
            <p14:sldId id="1076"/>
            <p14:sldId id="1077"/>
            <p14:sldId id="1078"/>
            <p14:sldId id="1079"/>
            <p14:sldId id="1080"/>
            <p14:sldId id="1081"/>
            <p14:sldId id="1082"/>
            <p14:sldId id="921"/>
            <p14:sldId id="1084"/>
            <p14:sldId id="108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D24726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7576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1123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2026-05-01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2026-05-01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A0EC4-4CCD-D180-7CE5-4CC12C927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3438F7-CA7E-9FBD-E7B6-560DAE49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C84BBD-C3BE-7D11-041A-32AF7BA22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9E2FD9-95EC-2678-60BC-325581B8A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123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DD80A-8B76-52BF-E69C-29962CC12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3D950B-4ED0-28FA-2652-23900E0F1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8A501B-A5D4-A5E7-D48D-FE613F71F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6A66E5-0D8A-84A9-6CAD-C8823B0AA7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78372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A58F7-5F3A-6690-5EE8-E87C257C9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4B0770-5C70-8F6A-2D8D-F499FE7AE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E4C637-A408-7122-170A-346A2F387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40E65-7F57-4622-5720-C9A563CAB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74932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1F5D0-C04B-3291-9B91-EFBB6DE3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F14C60-E517-0B9C-87A0-744BC0E22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67C385-3E2E-E870-9DBF-D13E63AF7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FFEB7D-1C99-79FB-E3EB-82C6322583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09578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15650-9BE8-51E4-45B0-6CC4EC87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775A53-BA10-CC4C-0FD7-9A05BBCEF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BF9564-7015-92A0-DE91-51DF0DE0C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016B6E-46FA-490C-ADC4-BFD4E53E6F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19658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DAF-507D-30A7-4D36-4B1C3987B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0E7D58A-F007-F03D-80A7-47BA8340E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42AEEE-7901-9BD8-0C5A-D040E79A5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B7704-7EE3-7F57-8A60-1BD9BBB3C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5333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0606C-8F93-3187-CC72-DBA9E6DC4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5EC279-D4D7-8A03-C182-A87B66647C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DF8244-5045-8711-B408-2D52B919A2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562F61-502C-1C57-6BA8-04388DB27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53867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AE1E5-DD18-B7F8-A0D9-8482F25E2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614062-8B62-5328-4DD6-ABC253E77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A9FEAE-153F-6110-F0F8-5826629190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C8146-E0FB-FBDA-BA45-3E7E70AA53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590383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4E00-A38F-7D23-BA6B-6F457A28A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4BFAD4-9913-AE63-854C-9827F61CDA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B4563A-4A81-D9E4-9D4F-E57899461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3246C0-0489-2897-6A41-AA8D135E25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145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255DB-3666-3A06-CA5D-0F562D6FB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A04EAA-11F7-DB14-781F-96FCDD68C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654491-E589-3324-BDFE-B3BCD2C0D1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0CBFDD-B80C-CB3B-D996-42A466DC7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4995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EB76F-5E4B-FA55-3508-FE6A9F2EB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9A665D-8809-C6F4-6F61-BE7155DA06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F95F58-7953-C2B7-B4C0-6D153E9F9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D740C3-46D7-C12E-53DD-AE576388B2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543571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E3B85-8520-3334-2281-EA44F19D1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9E6A11-F141-4544-FF87-FA0863556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89BEE29-2C7A-34BA-3134-AF6202541A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EF3832-423C-83C2-3200-F3CCBA061A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95253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2A565-190B-D6E9-3CCA-3ED28D31A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612DF1-A5A3-1F67-BEE2-250BCB7F40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F374E4-3CD7-DEA3-5F56-CC5344282A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695546-8799-51D3-A638-27DC2DB2A9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56942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2026-05-01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5/1/2026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381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2026-05-01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optimizer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optimizer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11B49-D207-1D9F-14A3-955BEC48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1C5D1A-761F-4793-7D8A-193E85BF7F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 II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1D67DA4-A1FE-7561-5777-76BB33E67B4C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with </a:t>
            </a:r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F1570563-672F-169B-BB52-6E04FB25DD3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78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9AB49-3330-86A0-D10A-41A1F275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087A3EE-CFD5-93E2-42F2-440E95A3CD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AECFECB-4936-39F3-7595-D00F1072B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E8E1E637-D7D3-6F3A-EF0C-089043C72F5B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67F79A2-E9CE-79F5-590E-F7FC051B2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292" y="1754973"/>
            <a:ext cx="3183467" cy="41440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CBE5944-12BC-0F6A-6FDA-CF6B28057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0241" y="2258553"/>
            <a:ext cx="4901087" cy="3104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181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085D0-E40D-6319-65CF-CDF22EB8F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46DD5E0-4589-F6F3-318A-D985B71F45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C5ECE83-B258-E8FA-26D3-41DF82484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B840E-DF80-14F4-3624-15A2E02BF76A}"/>
              </a:ext>
            </a:extLst>
          </p:cNvPr>
          <p:cNvSpPr txBox="1"/>
          <p:nvPr/>
        </p:nvSpPr>
        <p:spPr>
          <a:xfrm>
            <a:off x="639015" y="1433415"/>
            <a:ext cx="8429076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Our batch of data will have 10 data points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10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Each data point has 1 input feature and 1 output value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input data X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true target labels y by using the "true" W and b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The "true" W is 2.0, the "true" b is 1.0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([[2.0]])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(1.0)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X @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* 0.1 # Add a little noise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Hyperparameters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3909903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EFA36-00AC-A287-F93C-D47C0F174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B21E1B-9F32-E4A0-EEE6-396CE5EBC7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D11157D5-88C0-D570-CE46-D896CD48C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From scratch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795FA8-01D4-A678-2D10-F56BCDEE5E05}"/>
              </a:ext>
            </a:extLst>
          </p:cNvPr>
          <p:cNvSpPr txBox="1"/>
          <p:nvPr/>
        </p:nvSpPr>
        <p:spPr>
          <a:xfrm>
            <a:off x="648250" y="1292721"/>
            <a:ext cx="8429076" cy="50167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Re-initialize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914360A-9527-B548-6FB1-3E8295F92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703" y="3049726"/>
            <a:ext cx="3875272" cy="29332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6931AD6-9B84-91C1-B0B1-C2694A832A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31" y="4035971"/>
            <a:ext cx="3492869" cy="26137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68B8E914-2DA8-98A3-E183-6477582251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300" y="4785916"/>
            <a:ext cx="4429125" cy="27682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010D7A38-2DC4-0AD6-E6FC-33B2A17BE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6322" y="5932939"/>
            <a:ext cx="3492869" cy="28819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E3D5CAF1-EF4D-5838-3CA3-F43F49CAF447}"/>
              </a:ext>
            </a:extLst>
          </p:cNvPr>
          <p:cNvSpPr/>
          <p:nvPr/>
        </p:nvSpPr>
        <p:spPr>
          <a:xfrm>
            <a:off x="1053843" y="3056191"/>
            <a:ext cx="4014859" cy="532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10CEAC8-4B18-C5D3-4F20-9601158BF239}"/>
              </a:ext>
            </a:extLst>
          </p:cNvPr>
          <p:cNvSpPr/>
          <p:nvPr/>
        </p:nvSpPr>
        <p:spPr>
          <a:xfrm>
            <a:off x="1053843" y="4037744"/>
            <a:ext cx="1841757" cy="2881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A778F37-BF6E-5760-1E89-BA2DBC2E8B72}"/>
              </a:ext>
            </a:extLst>
          </p:cNvPr>
          <p:cNvSpPr/>
          <p:nvPr/>
        </p:nvSpPr>
        <p:spPr>
          <a:xfrm>
            <a:off x="1053843" y="4790219"/>
            <a:ext cx="6299457" cy="7750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4DFF235-5C9B-2984-5DB1-5011A38031CD}"/>
              </a:ext>
            </a:extLst>
          </p:cNvPr>
          <p:cNvSpPr/>
          <p:nvPr/>
        </p:nvSpPr>
        <p:spPr>
          <a:xfrm>
            <a:off x="1053843" y="5936102"/>
            <a:ext cx="3222479" cy="294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7357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74FAC-B223-469F-E1F4-C97CEF85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F55043D-FC03-8D46-C9F4-B31597F8A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E4AB6FB6-8CB9-3B10-A733-F29F1590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FF9961-7108-DC6D-FBD5-4479DA899F99}"/>
              </a:ext>
            </a:extLst>
          </p:cNvPr>
          <p:cNvSpPr txBox="1"/>
          <p:nvPr/>
        </p:nvSpPr>
        <p:spPr>
          <a:xfrm>
            <a:off x="543474" y="1433415"/>
            <a:ext cx="8295726" cy="4770537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설정 및 데이터 준비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100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(여기서는 확률적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SGD 사용)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torch.optim.SGD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--- 핵심 세 줄 (The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Lines) ---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# 1. 기울기 초기화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# 2. 기울기 계산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Backpropagation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# 3. 파라미터 업데이트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382592-89FE-C19F-F26F-AD1B07F74070}"/>
              </a:ext>
            </a:extLst>
          </p:cNvPr>
          <p:cNvSpPr txBox="1"/>
          <p:nvPr/>
        </p:nvSpPr>
        <p:spPr>
          <a:xfrm>
            <a:off x="8371926" y="4880513"/>
            <a:ext cx="3552825" cy="1323439"/>
          </a:xfrm>
          <a:prstGeom prst="rect">
            <a:avLst/>
          </a:prstGeom>
          <a:solidFill>
            <a:schemeClr val="accent4"/>
          </a:solidFill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학습된 가중치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(W)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편향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f"Weights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(W):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(b):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미분 가능한지 정보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print(W,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791219B-0CEE-EDD2-761E-FD1FBCE22D08}"/>
              </a:ext>
            </a:extLst>
          </p:cNvPr>
          <p:cNvSpPr/>
          <p:nvPr/>
        </p:nvSpPr>
        <p:spPr>
          <a:xfrm>
            <a:off x="958593" y="5342037"/>
            <a:ext cx="6356607" cy="814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67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CE097-C711-6CF6-8DE7-2B7B8AD1B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02C0A7-A6A8-B895-32F2-0FA366C806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43FBE808-6515-6DB7-0F50-D8426B9CE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(like pro)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327140-F2A9-19E7-B045-CFFC37E9B382}"/>
              </a:ext>
            </a:extLst>
          </p:cNvPr>
          <p:cNvSpPr txBox="1"/>
          <p:nvPr/>
        </p:nvSpPr>
        <p:spPr>
          <a:xfrm>
            <a:off x="600253" y="1371860"/>
            <a:ext cx="5030260" cy="483209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클래스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상속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super(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self).__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W, 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자동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Linear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예측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X @ W + b)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0.01; epochs = 100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(Mean Squared Error)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criterion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nn.MSELoss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F9E2D7-CAE7-EBF8-88FC-ED6E4DF6D0C7}"/>
              </a:ext>
            </a:extLst>
          </p:cNvPr>
          <p:cNvSpPr txBox="1"/>
          <p:nvPr/>
        </p:nvSpPr>
        <p:spPr>
          <a:xfrm>
            <a:off x="6400897" y="1371860"/>
            <a:ext cx="5190850" cy="4616648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(SGD)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optim.SGD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 Loop)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model(X)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통한 예측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loss = criterion(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	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계산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if (epoch + 1) % 10 == 0: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f'Epoch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[{epoch+1}/{epochs}], Loss: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loss.item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():.4f}’)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저장 및 확인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print("\n[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파라미터 확인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torch.save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model.pth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</p:txBody>
      </p:sp>
    </p:spTree>
    <p:extLst>
      <p:ext uri="{BB962C8B-B14F-4D97-AF65-F5344CB8AC3E}">
        <p14:creationId xmlns:p14="http://schemas.microsoft.com/office/powerpoint/2010/main" val="3543152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FDEC-92DB-458A-4D4A-C5719743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170C0F2-1D86-E3C1-A314-0F9824FDBA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F05F2869-814D-7F01-9596-6A440BFDC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Gradient Descent &amp; Stochastic Gradient Descent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70390A-1E41-1D06-1DE9-249627522AFF}"/>
              </a:ext>
            </a:extLst>
          </p:cNvPr>
          <p:cNvSpPr txBox="1"/>
          <p:nvPr/>
        </p:nvSpPr>
        <p:spPr>
          <a:xfrm>
            <a:off x="647700" y="1381125"/>
            <a:ext cx="1100082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3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코드는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&amp; Stochastic Gradient Descent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중 어느 것인가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코드를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tjfh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비교하여 생각해 보자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EB0D2A-1DD3-19D2-7586-86295E876451}"/>
              </a:ext>
            </a:extLst>
          </p:cNvPr>
          <p:cNvSpPr txBox="1"/>
          <p:nvPr/>
        </p:nvSpPr>
        <p:spPr>
          <a:xfrm>
            <a:off x="6409776" y="2673735"/>
            <a:ext cx="5238750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)): # 데이터 100개를 하나씩 순회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x_single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    # 데이터 1개 추출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y_true_single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x_single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# 1개만 예측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y_true_single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)**2 # 1개의 오차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...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6844F7-DF49-397A-9B28-18CA92B157B2}"/>
              </a:ext>
            </a:extLst>
          </p:cNvPr>
          <p:cNvSpPr txBox="1"/>
          <p:nvPr/>
        </p:nvSpPr>
        <p:spPr>
          <a:xfrm>
            <a:off x="690288" y="2648679"/>
            <a:ext cx="545782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...</a:t>
            </a:r>
          </a:p>
        </p:txBody>
      </p:sp>
    </p:spTree>
    <p:extLst>
      <p:ext uri="{BB962C8B-B14F-4D97-AF65-F5344CB8AC3E}">
        <p14:creationId xmlns:p14="http://schemas.microsoft.com/office/powerpoint/2010/main" val="16780313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19246-7915-8DA6-755D-8A10F8F0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720EAF2-C06C-E501-4D3C-47736FEE20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FD243BE2-6A7B-22A3-454B-9C3AC37A4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Gradient Descent Methods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BFBEC9-D5E5-3B2F-CFC2-54257B6E12AD}"/>
              </a:ext>
            </a:extLst>
          </p:cNvPr>
          <p:cNvSpPr txBox="1"/>
          <p:nvPr/>
        </p:nvSpPr>
        <p:spPr>
          <a:xfrm>
            <a:off x="647700" y="1257300"/>
            <a:ext cx="1100082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Epoch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전체 데이터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이며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Iteration(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안에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한 번에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FWD/BWD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포인크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할지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size(n &lt;= 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할 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일반적으로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사용함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44660D-7C44-1AE5-DF14-D2A2ABCBFAEA}"/>
              </a:ext>
            </a:extLst>
          </p:cNvPr>
          <p:cNvSpPr txBox="1"/>
          <p:nvPr/>
        </p:nvSpPr>
        <p:spPr>
          <a:xfrm>
            <a:off x="4219575" y="2603235"/>
            <a:ext cx="725805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계산 횟수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하지만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연산 시 데이터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항을 모두 계산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EF42DC-6EEB-7010-D630-E3BE98BA6717}"/>
              </a:ext>
            </a:extLst>
          </p:cNvPr>
          <p:cNvSpPr txBox="1"/>
          <p:nvPr/>
        </p:nvSpPr>
        <p:spPr>
          <a:xfrm>
            <a:off x="4219575" y="3816064"/>
            <a:ext cx="725805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계산 횟수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15302B-331B-B6EF-35C7-B30AC5D333B1}"/>
              </a:ext>
            </a:extLst>
          </p:cNvPr>
          <p:cNvSpPr txBox="1"/>
          <p:nvPr/>
        </p:nvSpPr>
        <p:spPr>
          <a:xfrm>
            <a:off x="4219575" y="5028894"/>
            <a:ext cx="725805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SGD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계산 횟수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9AC76FC-0798-C080-7845-1D26119EE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2603235"/>
            <a:ext cx="2867025" cy="373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305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D655-3BF0-4C09-0B1D-D934CBF8F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E92CA1D-10C5-A32D-483B-FE34B16A6F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6F7D973D-804F-BD5B-9801-7FE8ED182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Adam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E620EF-E9BF-EDFB-0EDB-46AA50F1672C}"/>
              </a:ext>
            </a:extLst>
          </p:cNvPr>
          <p:cNvSpPr txBox="1"/>
          <p:nvPr/>
        </p:nvSpPr>
        <p:spPr>
          <a:xfrm>
            <a:off x="647700" y="1171575"/>
            <a:ext cx="11000826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Adam(Adaptive Moment Estimation)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현재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가장 많이 사용되는 최적화 알고리즘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SGD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경사를 따라 일정하게 내려가는 산악인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Adam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가속도를 붙여 빠르게 내려가면서도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지형에 따라 보폭을 조절하는 산악인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2D744E-229E-9680-5FD9-AACFE88AF07F}"/>
              </a:ext>
            </a:extLst>
          </p:cNvPr>
          <p:cNvSpPr txBox="1"/>
          <p:nvPr/>
        </p:nvSpPr>
        <p:spPr>
          <a:xfrm>
            <a:off x="772075" y="2664522"/>
            <a:ext cx="5495375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Adam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내부 로직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개념적 이해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range(epochs):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batch_X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batch_y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dataloader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기울기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gradient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compute_gradient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batch_X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batch_y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엔진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관성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(Momentum)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계산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방향 결정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# beta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엑세레이터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beta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브레이크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m = beta1 * m + (1 - beta1) * gradient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엔진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보폭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RMSProp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조절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보폭 결정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v = beta2 * v + (1 - beta2) * (gradient**2)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방향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(m)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보폭조절장치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(root v)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 효율적으로 이동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-=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* m / (sqrt(v) + epsilon)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E137D4-D843-BF4D-CE09-019D168C2A21}"/>
              </a:ext>
            </a:extLst>
          </p:cNvPr>
          <p:cNvSpPr txBox="1"/>
          <p:nvPr/>
        </p:nvSpPr>
        <p:spPr>
          <a:xfrm>
            <a:off x="6362700" y="2664522"/>
            <a:ext cx="5410199" cy="70564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SGD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대신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Adam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사용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torch.optim.Adam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=0.001)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565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17C1F-C47D-3DBA-F1A6-060FC3415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10BEBCF-80D0-2B02-C90D-D25CE8A560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97A9058A-1C97-0A5E-D79F-1E59F06DE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 simulation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Gradient Descent Optimization Algorithms at Long Valley">
            <a:extLst>
              <a:ext uri="{FF2B5EF4-FFF2-40B4-BE49-F238E27FC236}">
                <a16:creationId xmlns:a16="http://schemas.microsoft.com/office/drawing/2014/main" id="{8A1E0F39-B01B-F411-63BB-042624717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077" y="1631952"/>
            <a:ext cx="59055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4F703E-7914-E26D-6E02-870908B26A4D}"/>
              </a:ext>
            </a:extLst>
          </p:cNvPr>
          <p:cNvSpPr txBox="1"/>
          <p:nvPr/>
        </p:nvSpPr>
        <p:spPr>
          <a:xfrm>
            <a:off x="7048500" y="2276312"/>
            <a:ext cx="4600026" cy="1389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아래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최적화 알고리즘을 결합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Momentum: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가던 방향으로 계속 가려는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관성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RMSprop: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기울기가 급하면 보폭을 줄이고 완만하면 늘리는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적응형 보폭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225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E05B4-A65F-2F3B-BEE6-64E4111F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F3170C6-B605-E458-4AAE-D4163D3275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17760569-2B23-6F0D-B91C-57C71ACFD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 simulation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53700E1-7125-F255-0A24-EC22F641A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700" y="1485900"/>
            <a:ext cx="59055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4846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26FFD-2CC0-553A-A889-A8EADEB53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B9AC33-3ABE-52D9-E1E4-625EF5A6D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1233013C-E0C2-2AF7-1F58-9DDCD3CBD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 simulation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E36F72-E8CB-6D1B-1071-8EBC45B87BE9}"/>
              </a:ext>
            </a:extLst>
          </p:cNvPr>
          <p:cNvSpPr txBox="1"/>
          <p:nvPr/>
        </p:nvSpPr>
        <p:spPr>
          <a:xfrm>
            <a:off x="596857" y="1335934"/>
            <a:ext cx="11051669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/>
              </a:rPr>
              <a:t>optimizer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요기를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클릭하시고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Adam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구경하면서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E5DFCDF-8B4C-CFE2-D665-78BCC3CC8C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844" y="2628777"/>
            <a:ext cx="5129156" cy="329005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FD90589-C8FF-F7E1-3297-5B80236562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228" y="2624972"/>
            <a:ext cx="4497878" cy="3293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17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E83FB-D4C1-E09C-09F8-6DF9FADD7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1760EE4-8414-2C80-0B96-9386E53E8E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62416FFC-4F71-FBCC-D4E9-2F78B5206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 simulation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5271F3-2EA7-F93C-AEF3-381A7093F690}"/>
              </a:ext>
            </a:extLst>
          </p:cNvPr>
          <p:cNvSpPr txBox="1"/>
          <p:nvPr/>
        </p:nvSpPr>
        <p:spPr>
          <a:xfrm>
            <a:off x="596857" y="1335934"/>
            <a:ext cx="1105166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/>
              </a:rPr>
              <a:t>optimizer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요기를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클릭하시고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Adam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구경하면서 손실함수에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L1, L2 3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큐빅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(cubic)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(sphere)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접목시켜보면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9AA1250-1EDA-676E-1666-01D67BF66A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5358" y="2986922"/>
            <a:ext cx="2909780" cy="149245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F64F42B-8FA9-FC4C-CAEC-1CB084D1A4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5373" y="3022007"/>
            <a:ext cx="2909780" cy="149245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EA4C784-4A3D-FBE7-00BE-3D4504D2B5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5147" b="94853" l="6182" r="92364">
                        <a14:foregroundMark x1="63636" y1="23897" x2="70909" y2="65441"/>
                        <a14:foregroundMark x1="70909" y1="65441" x2="40000" y2="55515"/>
                        <a14:foregroundMark x1="40000" y1="55515" x2="56727" y2="31985"/>
                        <a14:foregroundMark x1="56727" y1="31985" x2="67636" y2="72426"/>
                        <a14:foregroundMark x1="67636" y1="72426" x2="22545" y2="63235"/>
                        <a14:foregroundMark x1="22545" y1="63235" x2="55636" y2="23529"/>
                        <a14:foregroundMark x1="55636" y1="23529" x2="77455" y2="65074"/>
                        <a14:foregroundMark x1="77455" y1="65074" x2="40727" y2="84559"/>
                        <a14:foregroundMark x1="40727" y1="84559" x2="18182" y2="40441"/>
                        <a14:foregroundMark x1="18182" y1="40441" x2="50545" y2="15809"/>
                        <a14:foregroundMark x1="50545" y1="15809" x2="85818" y2="38971"/>
                        <a14:foregroundMark x1="85818" y1="38971" x2="71636" y2="81985"/>
                        <a14:foregroundMark x1="71636" y1="81985" x2="31273" y2="76471"/>
                        <a14:foregroundMark x1="31273" y1="76471" x2="52000" y2="18382"/>
                        <a14:foregroundMark x1="52000" y1="18382" x2="60364" y2="47794"/>
                        <a14:foregroundMark x1="60364" y1="47794" x2="28000" y2="45956"/>
                        <a14:foregroundMark x1="28000" y1="45956" x2="59273" y2="55147"/>
                        <a14:foregroundMark x1="59273" y1="55147" x2="41818" y2="38235"/>
                        <a14:foregroundMark x1="41818" y1="38235" x2="30545" y2="59559"/>
                        <a14:foregroundMark x1="30545" y1="59559" x2="49818" y2="39706"/>
                        <a14:foregroundMark x1="49818" y1="39706" x2="25091" y2="65809"/>
                        <a14:foregroundMark x1="25091" y1="65809" x2="16000" y2="32353"/>
                        <a14:foregroundMark x1="16000" y1="32353" x2="50545" y2="8088"/>
                        <a14:foregroundMark x1="50545" y1="8088" x2="66182" y2="10662"/>
                        <a14:foregroundMark x1="66182" y1="10662" x2="67273" y2="17279"/>
                        <a14:foregroundMark x1="8727" y1="41176" x2="9091" y2="69485"/>
                        <a14:foregroundMark x1="9091" y1="69485" x2="7273" y2="43382"/>
                        <a14:foregroundMark x1="7273" y1="43382" x2="6909" y2="59191"/>
                        <a14:foregroundMark x1="32364" y1="92647" x2="56364" y2="90809"/>
                        <a14:foregroundMark x1="56364" y1="90809" x2="51636" y2="94853"/>
                        <a14:foregroundMark x1="89455" y1="38603" x2="91636" y2="65809"/>
                        <a14:foregroundMark x1="91636" y1="65809" x2="92364" y2="42279"/>
                        <a14:foregroundMark x1="92364" y1="42279" x2="92727" y2="43015"/>
                        <a14:foregroundMark x1="49091" y1="7353" x2="49091" y2="5147"/>
                        <a14:foregroundMark x1="52364" y1="5147" x2="52727" y2="1139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08475" y="4396206"/>
            <a:ext cx="1682576" cy="1664221"/>
          </a:xfrm>
          <a:prstGeom prst="rect">
            <a:avLst/>
          </a:prstGeom>
        </p:spPr>
      </p:pic>
      <p:sp>
        <p:nvSpPr>
          <p:cNvPr id="2" name="정육면체 1">
            <a:extLst>
              <a:ext uri="{FF2B5EF4-FFF2-40B4-BE49-F238E27FC236}">
                <a16:creationId xmlns:a16="http://schemas.microsoft.com/office/drawing/2014/main" id="{8279D7B3-24A3-B9F6-FB2C-9F8D9E0C91DF}"/>
              </a:ext>
            </a:extLst>
          </p:cNvPr>
          <p:cNvSpPr/>
          <p:nvPr/>
        </p:nvSpPr>
        <p:spPr>
          <a:xfrm>
            <a:off x="8202788" y="4418272"/>
            <a:ext cx="1337120" cy="1246471"/>
          </a:xfrm>
          <a:prstGeom prst="cube">
            <a:avLst>
              <a:gd name="adj" fmla="val 32861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65B1EAD-B3FB-FF60-5FC9-25ED79924F8A}"/>
              </a:ext>
            </a:extLst>
          </p:cNvPr>
          <p:cNvCxnSpPr/>
          <p:nvPr/>
        </p:nvCxnSpPr>
        <p:spPr>
          <a:xfrm flipV="1">
            <a:off x="1961274" y="3162300"/>
            <a:ext cx="0" cy="23717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817F0768-7567-EAA9-3CCA-35382B9746B6}"/>
              </a:ext>
            </a:extLst>
          </p:cNvPr>
          <p:cNvCxnSpPr>
            <a:cxnSpLocks/>
          </p:cNvCxnSpPr>
          <p:nvPr/>
        </p:nvCxnSpPr>
        <p:spPr>
          <a:xfrm flipH="1">
            <a:off x="1526551" y="5526552"/>
            <a:ext cx="452345" cy="3979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90C070A9-8299-40AF-1F41-604C6AC861F9}"/>
              </a:ext>
            </a:extLst>
          </p:cNvPr>
          <p:cNvCxnSpPr>
            <a:cxnSpLocks/>
          </p:cNvCxnSpPr>
          <p:nvPr/>
        </p:nvCxnSpPr>
        <p:spPr>
          <a:xfrm>
            <a:off x="1966704" y="5537275"/>
            <a:ext cx="807624" cy="43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E93F57F-51C7-63DF-4727-52C59D102873}"/>
              </a:ext>
            </a:extLst>
          </p:cNvPr>
          <p:cNvCxnSpPr/>
          <p:nvPr/>
        </p:nvCxnSpPr>
        <p:spPr>
          <a:xfrm flipV="1">
            <a:off x="6652304" y="3008605"/>
            <a:ext cx="0" cy="23717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FA37B654-9146-6CE4-5015-583A3E0D34AF}"/>
              </a:ext>
            </a:extLst>
          </p:cNvPr>
          <p:cNvCxnSpPr>
            <a:cxnSpLocks/>
          </p:cNvCxnSpPr>
          <p:nvPr/>
        </p:nvCxnSpPr>
        <p:spPr>
          <a:xfrm flipH="1">
            <a:off x="6217581" y="5372857"/>
            <a:ext cx="452345" cy="3979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BB01EB3-9892-1707-1B21-BD74E87AE26F}"/>
              </a:ext>
            </a:extLst>
          </p:cNvPr>
          <p:cNvCxnSpPr>
            <a:cxnSpLocks/>
          </p:cNvCxnSpPr>
          <p:nvPr/>
        </p:nvCxnSpPr>
        <p:spPr>
          <a:xfrm>
            <a:off x="6657734" y="5383580"/>
            <a:ext cx="807624" cy="43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2628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1D288-EEDE-9323-60CC-E3BD5FD90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0E491-FD50-BD0C-476F-2AE102A6E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1" y="303875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Visualization of L1,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L2 Norms with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Loss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Fuction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2D60C3-50D4-D561-965B-A505D7782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44C3C6-D03E-29DC-D4BD-0A7E0156D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1" y="1290881"/>
            <a:ext cx="10706705" cy="56800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와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 Regression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L1, L2 penalty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가산한 손실함수 형태임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A4B5D40-F6B6-40AB-6CEC-763DCFF94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970" y="2128708"/>
            <a:ext cx="4119376" cy="4143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60010D2-0E8A-7A01-65EC-C5AD562CA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178" y="2799085"/>
            <a:ext cx="1844416" cy="61081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E0A786B-932D-E03A-B381-BECAD025FA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0798" y="4943475"/>
            <a:ext cx="1838428" cy="59883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36E248E-3EA5-CC93-F0AE-B9FFAD6F69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967" y="2799085"/>
            <a:ext cx="1332344" cy="5354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BF11DB-61B7-8934-BD93-253DBC8147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2309" y="4943475"/>
            <a:ext cx="1861458" cy="43349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1A02A16-B33F-125C-25F5-F9A52BA173BF}"/>
              </a:ext>
            </a:extLst>
          </p:cNvPr>
          <p:cNvSpPr txBox="1"/>
          <p:nvPr/>
        </p:nvSpPr>
        <p:spPr>
          <a:xfrm>
            <a:off x="1381126" y="2338194"/>
            <a:ext cx="127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EB0BE7-8A5A-862B-FB19-25982BD638E5}"/>
              </a:ext>
            </a:extLst>
          </p:cNvPr>
          <p:cNvSpPr txBox="1"/>
          <p:nvPr/>
        </p:nvSpPr>
        <p:spPr>
          <a:xfrm>
            <a:off x="1381126" y="4461470"/>
            <a:ext cx="1380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C7D97B-E9BA-023A-7069-372E08EABCF0}"/>
              </a:ext>
            </a:extLst>
          </p:cNvPr>
          <p:cNvSpPr txBox="1"/>
          <p:nvPr/>
        </p:nvSpPr>
        <p:spPr>
          <a:xfrm>
            <a:off x="3293766" y="2338194"/>
            <a:ext cx="2325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277191-582B-8059-D55B-A587DCCFC648}"/>
              </a:ext>
            </a:extLst>
          </p:cNvPr>
          <p:cNvSpPr txBox="1"/>
          <p:nvPr/>
        </p:nvSpPr>
        <p:spPr>
          <a:xfrm>
            <a:off x="3293766" y="4461470"/>
            <a:ext cx="2325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22053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6ABB2-19BE-2E2C-44BA-758DE6ADD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367BA5-A08E-C682-B29F-B40FED5F1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1" y="303875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Regularizations to reduce Overfitting(high variance)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BDB551-53BF-B5C9-C861-0ED4A5507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7A59A8-920C-8EC6-A7BB-6A2246F5AB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1" y="1290881"/>
            <a:ext cx="10706705" cy="56800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머신러닝의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방지하기 위한 정규화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(regularizations)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방법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29CEF5B-060B-462B-022F-55C5DE4FB769}"/>
              </a:ext>
            </a:extLst>
          </p:cNvPr>
          <p:cNvGraphicFramePr>
            <a:graphicFrameLocks noGrp="1"/>
          </p:cNvGraphicFramePr>
          <p:nvPr/>
        </p:nvGraphicFramePr>
        <p:xfrm>
          <a:off x="616256" y="1858889"/>
          <a:ext cx="10309007" cy="44542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2131">
                  <a:extLst>
                    <a:ext uri="{9D8B030D-6E8A-4147-A177-3AD203B41FA5}">
                      <a16:colId xmlns:a16="http://schemas.microsoft.com/office/drawing/2014/main" val="3226445911"/>
                    </a:ext>
                  </a:extLst>
                </a:gridCol>
                <a:gridCol w="1865104">
                  <a:extLst>
                    <a:ext uri="{9D8B030D-6E8A-4147-A177-3AD203B41FA5}">
                      <a16:colId xmlns:a16="http://schemas.microsoft.com/office/drawing/2014/main" val="2748943094"/>
                    </a:ext>
                  </a:extLst>
                </a:gridCol>
                <a:gridCol w="2936546">
                  <a:extLst>
                    <a:ext uri="{9D8B030D-6E8A-4147-A177-3AD203B41FA5}">
                      <a16:colId xmlns:a16="http://schemas.microsoft.com/office/drawing/2014/main" val="823288303"/>
                    </a:ext>
                  </a:extLst>
                </a:gridCol>
                <a:gridCol w="2351221">
                  <a:extLst>
                    <a:ext uri="{9D8B030D-6E8A-4147-A177-3AD203B41FA5}">
                      <a16:colId xmlns:a16="http://schemas.microsoft.com/office/drawing/2014/main" val="1692164174"/>
                    </a:ext>
                  </a:extLst>
                </a:gridCol>
                <a:gridCol w="2014005">
                  <a:extLst>
                    <a:ext uri="{9D8B030D-6E8A-4147-A177-3AD203B41FA5}">
                      <a16:colId xmlns:a16="http://schemas.microsoft.com/office/drawing/2014/main" val="2178149482"/>
                    </a:ext>
                  </a:extLst>
                </a:gridCol>
              </a:tblGrid>
              <a:tr h="290098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구분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기법 명칭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핵심 작동 원리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효과 및 장점</a:t>
                      </a:r>
                    </a:p>
                  </a:txBody>
                  <a:tcPr marL="18333" marR="18333" marT="24444" marB="24444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비유</a:t>
                      </a:r>
                    </a:p>
                  </a:txBody>
                  <a:tcPr marL="18333" marR="18333" marT="24444" marB="24444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8989381"/>
                  </a:ext>
                </a:extLst>
              </a:tr>
              <a:tr h="1027517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모델 구조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Dropout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드롭아웃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학습 시 매 단계마다 무작위로 일정 비율의 뉴런을 비활성화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특정 뉴런의 결합에만 의존하지 않는 강인한 모델 생성</a:t>
                      </a:r>
                    </a:p>
                  </a:txBody>
                  <a:tcPr marL="18333" marR="18333" marT="24444" marB="2444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팀 프로젝트에서 매일 무작위로 팀원을 한 명씩 쉬게 하여 누구나 일할 수 있게 만들기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</a:p>
                  </a:txBody>
                  <a:tcPr marL="18333" marR="18333" marT="24444" marB="2444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964239646"/>
                  </a:ext>
                </a:extLst>
              </a:tr>
              <a:tr h="784158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모델 구조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Batch Norm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배치 정규화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각 층을 통과할 때마다 데이터의 분포를 평균 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0, 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분산 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로 조정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학습 속도 향상 및 초기화에 대한 민감도 감소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규제 효과 동반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학생들을 키순으로 줄 세워 교복 사이즈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데이터 범위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를 표준화하기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</a:p>
                  </a:txBody>
                  <a:tcPr marL="18333" marR="18333" marT="24444" marB="24444" anchor="ctr"/>
                </a:tc>
                <a:extLst>
                  <a:ext uri="{0D108BD9-81ED-4DB2-BD59-A6C34878D82A}">
                    <a16:rowId xmlns:a16="http://schemas.microsoft.com/office/drawing/2014/main" val="1815879492"/>
                  </a:ext>
                </a:extLst>
              </a:tr>
              <a:tr h="844998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데이터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Data Augmentation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데이터 증강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원본 데이터를 회전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자르기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색상 변조 등으로 변형하여 데이터 양을 늘림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데이터의 양이 적을 때 효과적이며 일반화 성능 극대화</a:t>
                      </a:r>
                    </a:p>
                  </a:txBody>
                  <a:tcPr marL="18333" marR="18333" marT="24444" marB="2444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같은 문제집을 여러 번 보되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문제를 거꾸로 보거나 뒤섞어서 풀기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</a:p>
                  </a:txBody>
                  <a:tcPr marL="18333" marR="18333" marT="24444" marB="24444" anchor="ctr"/>
                </a:tc>
                <a:extLst>
                  <a:ext uri="{0D108BD9-81ED-4DB2-BD59-A6C34878D82A}">
                    <a16:rowId xmlns:a16="http://schemas.microsoft.com/office/drawing/2014/main" val="3375354912"/>
                  </a:ext>
                </a:extLst>
              </a:tr>
              <a:tr h="723318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손실함수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L2 Regularization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가중치 감쇠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손실 함수에 가중치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($W$)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의 제곱합을 더해 큰 가중치에 페널티 부여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모델의 복잡도를 낮추고 가중치가 튀는 현상을 방지</a:t>
                      </a:r>
                    </a:p>
                  </a:txBody>
                  <a:tcPr marL="18333" marR="18333" marT="24444" marB="2444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말할 때 너무 큰 소리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과한 가중치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를 내지 못하도록 벌금 매기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</a:p>
                  </a:txBody>
                  <a:tcPr marL="18333" marR="18333" marT="24444" marB="24444" anchor="ctr"/>
                </a:tc>
                <a:extLst>
                  <a:ext uri="{0D108BD9-81ED-4DB2-BD59-A6C34878D82A}">
                    <a16:rowId xmlns:a16="http://schemas.microsoft.com/office/drawing/2014/main" val="3067388307"/>
                  </a:ext>
                </a:extLst>
              </a:tr>
              <a:tr h="784158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학습 과정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Early Stopping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조기 종료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검증 오차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(Validation Loss)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가 줄어들지 않고 반등하기 직전에 학습 중단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학습 데이터에만 특화된 노이즈를 학습하기 전에 차단</a:t>
                      </a:r>
                    </a:p>
                  </a:txBody>
                  <a:tcPr marL="18333" marR="18333" marT="24444" marB="2444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고기 구울 때 육즙이 빠지기 직전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최적 상태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에 불 끄기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</a:p>
                  </a:txBody>
                  <a:tcPr marL="18333" marR="18333" marT="24444" marB="24444" anchor="ctr"/>
                </a:tc>
                <a:extLst>
                  <a:ext uri="{0D108BD9-81ED-4DB2-BD59-A6C34878D82A}">
                    <a16:rowId xmlns:a16="http://schemas.microsoft.com/office/drawing/2014/main" val="39432971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56603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20648-03FB-26CE-F6C3-3C592915F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A336E-0E7D-9293-A8EF-F8476648E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1" y="303875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Regularizations with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pytorch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EA605E-DF18-49E9-EE9C-E3D26E2ED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D4AC4D-F50B-CD80-78E1-167341F47026}"/>
              </a:ext>
            </a:extLst>
          </p:cNvPr>
          <p:cNvSpPr txBox="1"/>
          <p:nvPr/>
        </p:nvSpPr>
        <p:spPr>
          <a:xfrm>
            <a:off x="571501" y="1549629"/>
            <a:ext cx="8991081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AntiOverfitModel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__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__(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().__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__()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self.layer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nn.Sequential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(100, 64),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nn.BatchNorm1d(64), # 배치 정규화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nn.ReLU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nn.Dropout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(0.3),    #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드롭아웃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(30% 확률)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(64, 10)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)</a:t>
            </a: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가중치 감쇠(L2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Regularization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Optimizer에서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optim.Adam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model.parameters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=0.01,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weight_decay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=1e-4)</a:t>
            </a:r>
          </a:p>
        </p:txBody>
      </p:sp>
    </p:spTree>
    <p:extLst>
      <p:ext uri="{BB962C8B-B14F-4D97-AF65-F5344CB8AC3E}">
        <p14:creationId xmlns:p14="http://schemas.microsoft.com/office/powerpoint/2010/main" val="149608231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2757</TotalTime>
  <Words>1877</Words>
  <Application>Microsoft Office PowerPoint</Application>
  <PresentationFormat>와이드스크린</PresentationFormat>
  <Paragraphs>263</Paragraphs>
  <Slides>16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3" baseType="lpstr">
      <vt:lpstr>D2Coding</vt:lpstr>
      <vt:lpstr>맑은 고딕</vt:lpstr>
      <vt:lpstr>맑은 고딕 Semilight</vt:lpstr>
      <vt:lpstr>바탕</vt:lpstr>
      <vt:lpstr>Arial</vt:lpstr>
      <vt:lpstr>Wingdings</vt:lpstr>
      <vt:lpstr>WelcomeDoc</vt:lpstr>
      <vt:lpstr>Deep Learning II</vt:lpstr>
      <vt:lpstr>The Training Loop </vt:lpstr>
      <vt:lpstr>Generate Data </vt:lpstr>
      <vt:lpstr>From scratch</vt:lpstr>
      <vt:lpstr>Optimizer</vt:lpstr>
      <vt:lpstr>model (like pro)</vt:lpstr>
      <vt:lpstr>Gradient Descent &amp; Stochastic Gradient Descent</vt:lpstr>
      <vt:lpstr>Gradient Descent Methods</vt:lpstr>
      <vt:lpstr>Adam</vt:lpstr>
      <vt:lpstr>optimizer simulation</vt:lpstr>
      <vt:lpstr>optimizer simulation</vt:lpstr>
      <vt:lpstr>optimizer simulation</vt:lpstr>
      <vt:lpstr>optimizer simulation</vt:lpstr>
      <vt:lpstr>Visualization of L1, L2 Norms with Loss Fuction</vt:lpstr>
      <vt:lpstr>Regularizations to reduce Overfitting(high variance)</vt:lpstr>
      <vt:lpstr>Regularizations with pytorch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92</cp:revision>
  <dcterms:created xsi:type="dcterms:W3CDTF">2026-04-06T01:00:39Z</dcterms:created>
  <dcterms:modified xsi:type="dcterms:W3CDTF">2026-05-01T00:35:35Z</dcterms:modified>
  <cp:version/>
</cp:coreProperties>
</file>