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1074" r:id="rId2"/>
    <p:sldId id="1090" r:id="rId3"/>
    <p:sldId id="1069" r:id="rId4"/>
    <p:sldId id="1068" r:id="rId5"/>
    <p:sldId id="1075" r:id="rId6"/>
    <p:sldId id="1072" r:id="rId7"/>
    <p:sldId id="1073" r:id="rId8"/>
    <p:sldId id="1097" r:id="rId9"/>
    <p:sldId id="1077" r:id="rId10"/>
    <p:sldId id="1076" r:id="rId11"/>
    <p:sldId id="1091" r:id="rId12"/>
    <p:sldId id="1078" r:id="rId13"/>
    <p:sldId id="1079" r:id="rId14"/>
    <p:sldId id="1080" r:id="rId15"/>
    <p:sldId id="1081" r:id="rId16"/>
    <p:sldId id="1092" r:id="rId17"/>
    <p:sldId id="1082" r:id="rId18"/>
    <p:sldId id="921" r:id="rId19"/>
    <p:sldId id="1093" r:id="rId20"/>
    <p:sldId id="1084" r:id="rId21"/>
    <p:sldId id="1083" r:id="rId22"/>
    <p:sldId id="1094" r:id="rId23"/>
    <p:sldId id="1089" r:id="rId24"/>
    <p:sldId id="1085" r:id="rId25"/>
    <p:sldId id="1095" r:id="rId26"/>
    <p:sldId id="1086" r:id="rId27"/>
    <p:sldId id="1096" r:id="rId28"/>
    <p:sldId id="995" r:id="rId29"/>
    <p:sldId id="980" r:id="rId3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074"/>
            <p14:sldId id="1090"/>
            <p14:sldId id="1069"/>
            <p14:sldId id="1068"/>
            <p14:sldId id="1075"/>
            <p14:sldId id="1072"/>
            <p14:sldId id="1073"/>
            <p14:sldId id="1097"/>
            <p14:sldId id="1077"/>
            <p14:sldId id="1076"/>
            <p14:sldId id="1091"/>
            <p14:sldId id="1078"/>
            <p14:sldId id="1079"/>
            <p14:sldId id="1080"/>
            <p14:sldId id="1081"/>
            <p14:sldId id="1092"/>
            <p14:sldId id="1082"/>
            <p14:sldId id="921"/>
            <p14:sldId id="1093"/>
            <p14:sldId id="1084"/>
            <p14:sldId id="1083"/>
            <p14:sldId id="1094"/>
            <p14:sldId id="1089"/>
            <p14:sldId id="1085"/>
            <p14:sldId id="1095"/>
            <p14:sldId id="1086"/>
            <p14:sldId id="1096"/>
            <p14:sldId id="995"/>
            <p14:sldId id="98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D24726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0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146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2026-05-06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2026-05-06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0EC4-4CCD-D180-7CE5-4CC12C92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3438F7-CA7E-9FBD-E7B6-560DAE492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C84BBD-C3BE-7D11-041A-32AF7BA22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E2FD9-95EC-2678-60BC-325581B8A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412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A16C-7C5F-7F4F-12BC-8B126C1F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455AD0-E923-51EC-96FB-E20FF8C95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574A98-BD48-45F3-C06C-3F56421BD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B01EFB-B895-EFC2-4402-7FB301CBB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9724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D80A-8B76-52BF-E69C-29962CC1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D950B-4ED0-28FA-2652-23900E0F1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8A501B-A5D4-A5E7-D48D-FE613F71F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A66E5-0D8A-84A9-6CAD-C8823B0AA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7837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58F7-5F3A-6690-5EE8-E87C257C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4B0770-5C70-8F6A-2D8D-F499FE7A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4C637-A408-7122-170A-346A2F38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40E65-7F57-4622-5720-C9A563CAB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493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F5D0-C04B-3291-9B91-EFBB6DE3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F14C60-E517-0B9C-87A0-744BC0E22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7C385-3E2E-E870-9DBF-D13E63AF7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FEB7D-1C99-79FB-E3EB-82C632258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95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5650-9BE8-51E4-45B0-6CC4EC87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775A53-BA10-CC4C-0FD7-9A05BBCE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F9564-7015-92A0-DE91-51DF0DE0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16B6E-46FA-490C-ADC4-BFD4E53E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965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DAF-507D-30A7-4D36-4B1C3987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7D58A-F007-F03D-80A7-47BA8340E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2AEEE-7901-9BD8-0C5A-D040E79A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7704-7EE3-7F57-8A60-1BD9BBB3C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533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FADA8-6871-F2BF-66E0-7D339D71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6D6FEF-3022-7EF8-A259-33DFDBE28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9F7314-2187-03D2-84A9-D974DF47E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836F6C-F156-63E6-A30C-857DA1800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307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E1E5-DD18-B7F8-A0D9-8482F25E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614062-8B62-5328-4DD6-ABC253E7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A9FEAE-153F-6110-F0F8-582662919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C8146-E0FB-FBDA-BA45-3E7E70AA5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038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606C-8F93-3187-CC72-DBA9E6DC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EC279-D4D7-8A03-C182-A87B66647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DF8244-5045-8711-B408-2D52B919A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62F61-502C-1C57-6BA8-04388DB27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386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034D-BB4E-E78E-991E-5D0999AC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9604A7-A0C0-A6F3-9891-462F2B3A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DBF3F5-5E30-BE83-706C-91689D13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56841A-7F6C-3EBA-9752-54803DF5D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995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4E00-A38F-7D23-BA6B-6F457A28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4BFAD4-9913-AE63-854C-9827F61CD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B4563A-4A81-D9E4-9D4F-E57899461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246C0-0489-2897-6A41-AA8D135E2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4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55DB-3666-3A06-CA5D-0F562D6F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A04EAA-11F7-DB14-781F-96FCDD68C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54491-E589-3324-BDFE-B3BCD2C0D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CBFDD-B80C-CB3B-D996-42A466DC7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99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B76F-5E4B-FA55-3508-FE6A9F2E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9A665D-8809-C6F4-6F61-BE7155DA0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F95F58-7953-C2B7-B4C0-6D153E9F9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740C3-46D7-C12E-53DD-AE576388B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4357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3B85-8520-3334-2281-EA44F19D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9E6A11-F141-4544-FF87-FA0863556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9BEE29-2C7A-34BA-3134-AF6202541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F3832-423C-83C2-3200-F3CCBA061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525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359D-F6C7-1CE6-B40C-7125B584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9EC9C5-DC32-0BF3-5487-B1181602A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D3C6D-B98B-64FF-1E1D-175652B38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16D0FE-046A-317D-81E1-748E308AF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698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A565-190B-D6E9-3CCA-3ED28D31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612DF1-A5A3-1F67-BEE2-250BCB7F4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F374E4-3CD7-DEA3-5F56-CC5344282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695546-8799-51D3-A638-27DC2DB2A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6942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5021-AB44-DEEB-94B9-B6F3F747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C6159-C98D-C902-8D64-0630F086F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137419-6360-BF69-05E4-48B753AD8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38199D-A568-3D6E-0847-9007C7D82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356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F1B2-C174-E815-D409-0A3F77E5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2F3EB6-6D78-86EC-C34E-AC16F6838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03FFD-0CAF-439F-9645-8DFDBEE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9B655-4B54-32DD-0A1C-BBBE25F5C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2413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560D-60B5-CBEE-2F03-3A123D20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AF83A-0425-14D8-7169-A42513D0E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D1CB96-AE80-F4E7-D3FD-BA86D28B9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8AF8D-086C-219C-9037-D25A219E2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348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3BB73-7C33-A58C-7D09-96EF1EA8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2A0A59-C925-3B61-914F-6EE71753A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A4A53-0A97-6BAA-CF04-E52C8F382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59A14-6567-4667-0E09-927AC96E7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126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FFF8-5E85-392B-AFBA-C8C2C348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DC3C4C-7CA5-379A-4D68-CC0877C59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31F4A3-BB6C-EAD5-68BA-292377F94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695D60-306A-8282-2FD7-EE3C28126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474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F64E-E6AC-1B96-7815-1E891C05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3B85C-E444-7A38-15EF-08EA7482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0A0D9D-5249-DE1D-E0DE-CE9E40C75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19EAA1-AD2F-AE22-7763-4DD443204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081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987-F2FF-8FE5-C93A-60FA8597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FE57C7-7F72-B9F3-D10C-DF821448F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A86459-E845-2D50-AAA1-9332006DD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FD7CA-87C4-81E5-E6F3-143D2EFE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510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2026-05-06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38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2026-05-06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optimiz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optimize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docs.pytorch.org/tutorials/beginner/basics/quickstart_tutorial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orch.org/tutorials/beginner/blitz/neural_networks_tutorial.htm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tree/main/pytorch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1B49-D207-1D9F-14A3-955BEC48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5D1A-761F-4793-7D8A-193E85BF7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 II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D67DA4-A1FE-7561-5777-76BB33E67B4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with </a:t>
            </a:r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1570563-672F-169B-BB52-6E04FB25DD3E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7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E775-05A8-0B2E-3045-C7403DD4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1C3FE3-FA0C-4461-E726-E4ADE5CC5001}"/>
              </a:ext>
            </a:extLst>
          </p:cNvPr>
          <p:cNvSpPr/>
          <p:nvPr/>
        </p:nvSpPr>
        <p:spPr>
          <a:xfrm>
            <a:off x="1571625" y="3238501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84C55D0-C2AA-C028-A764-80EBE5AC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DEF4870-5C4D-2E0B-B788-E69040D32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B4665E-8947-4774-C082-ED94684AA3E1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370453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AB49-3330-86A0-D10A-41A1F275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087A3EE-CFD5-93E2-42F2-440E95A3C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AECFECB-4936-39F3-7595-D00F1072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Training Loop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E8E1E637-D7D3-6F3A-EF0C-089043C72F5B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67F79A2-E9CE-79F5-590E-F7FC051B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92" y="1754973"/>
            <a:ext cx="3183467" cy="41440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CBE5944-12BC-0F6A-6FDA-CF6B28057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241" y="2258553"/>
            <a:ext cx="4901087" cy="310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8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85D0-E40D-6319-65CF-CDF22EB8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46DD5E0-4589-F6F3-318A-D985B71F4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C5ECE83-B258-E8FA-26D3-41DF8248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Generate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B840E-DF80-14F4-3624-15A2E02BF76A}"/>
              </a:ext>
            </a:extLst>
          </p:cNvPr>
          <p:cNvSpPr txBox="1"/>
          <p:nvPr/>
        </p:nvSpPr>
        <p:spPr>
          <a:xfrm>
            <a:off x="639015" y="1433415"/>
            <a:ext cx="8429076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Our batch of data will have 10 data points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 = 10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Each data point has 1 input feature and 1 output value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input data X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Create our true target labels y by using the "true" W and b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The "true" W is 2.0, the "true" b is 1.0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([[2.0]])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(1.0)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X @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D_out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* 0.1 # Add a little noise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Hyperparameters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0990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FA36-00AC-A287-F93C-D47C0F17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B21E1B-9F32-E4A0-EEE6-396CE5EB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D11157D5-88C0-D570-CE46-D896CD48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from scratch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95FA8-01D4-A678-2D10-F56BCDEE5E05}"/>
              </a:ext>
            </a:extLst>
          </p:cNvPr>
          <p:cNvSpPr txBox="1"/>
          <p:nvPr/>
        </p:nvSpPr>
        <p:spPr>
          <a:xfrm>
            <a:off x="648250" y="1292721"/>
            <a:ext cx="8429076" cy="50167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Re-initialize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914360A-9527-B548-6FB1-3E8295F92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703" y="3049726"/>
            <a:ext cx="3875272" cy="2933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931AD6-9B84-91C1-B0B1-C2694A832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31" y="4035971"/>
            <a:ext cx="3492869" cy="261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8B8E914-2DA8-98A3-E183-647758225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4785916"/>
            <a:ext cx="4429125" cy="2768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10D7A38-2DC4-0AD6-E6FC-33B2A17BE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322" y="5932939"/>
            <a:ext cx="3492869" cy="28819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D5CAF1-EF4D-5838-3CA3-F43F49CAF447}"/>
              </a:ext>
            </a:extLst>
          </p:cNvPr>
          <p:cNvSpPr/>
          <p:nvPr/>
        </p:nvSpPr>
        <p:spPr>
          <a:xfrm>
            <a:off x="1053843" y="3056191"/>
            <a:ext cx="4014859" cy="53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0CEAC8-4B18-C5D3-4F20-9601158BF239}"/>
              </a:ext>
            </a:extLst>
          </p:cNvPr>
          <p:cNvSpPr/>
          <p:nvPr/>
        </p:nvSpPr>
        <p:spPr>
          <a:xfrm>
            <a:off x="1053843" y="4037744"/>
            <a:ext cx="1841757" cy="2881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778F37-BF6E-5760-1E89-BA2DBC2E8B72}"/>
              </a:ext>
            </a:extLst>
          </p:cNvPr>
          <p:cNvSpPr/>
          <p:nvPr/>
        </p:nvSpPr>
        <p:spPr>
          <a:xfrm>
            <a:off x="1053843" y="4790219"/>
            <a:ext cx="6299457" cy="775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DFF235-5C9B-2984-5DB1-5011A38031CD}"/>
              </a:ext>
            </a:extLst>
          </p:cNvPr>
          <p:cNvSpPr/>
          <p:nvPr/>
        </p:nvSpPr>
        <p:spPr>
          <a:xfrm>
            <a:off x="1053843" y="5936102"/>
            <a:ext cx="3222479" cy="294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35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4FAC-B223-469F-E1F4-C97CEF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55043D-FC03-8D46-C9F4-B31597F8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E4AB6FB6-8CB9-3B10-A733-F29F1590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optimizer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F9961-7108-DC6D-FBD5-4479DA899F99}"/>
              </a:ext>
            </a:extLst>
          </p:cNvPr>
          <p:cNvSpPr txBox="1"/>
          <p:nvPr/>
        </p:nvSpPr>
        <p:spPr>
          <a:xfrm>
            <a:off x="1116124" y="1433415"/>
            <a:ext cx="8295726" cy="477053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설정 및 데이터 준비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100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(여기서는 확률적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SGD 사용)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torch.optim.SGD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--- 핵심 세 줄 (The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Lines) ---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# 1. 기울기 초기화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# 2. 기울기 계산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Backpropagation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# 3. 파라미터 업데이트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82592-89FE-C19F-F26F-AD1B07F74070}"/>
              </a:ext>
            </a:extLst>
          </p:cNvPr>
          <p:cNvSpPr txBox="1"/>
          <p:nvPr/>
        </p:nvSpPr>
        <p:spPr>
          <a:xfrm>
            <a:off x="8371926" y="4880513"/>
            <a:ext cx="3552825" cy="1323439"/>
          </a:xfrm>
          <a:prstGeom prst="rect">
            <a:avLst/>
          </a:prstGeom>
          <a:solidFill>
            <a:schemeClr val="accent4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학습된 가중치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편향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f"Weights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(W):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(b):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미분 가능한지 정보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print(W,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91219B-0CEE-EDD2-761E-FD1FBCE22D08}"/>
              </a:ext>
            </a:extLst>
          </p:cNvPr>
          <p:cNvSpPr/>
          <p:nvPr/>
        </p:nvSpPr>
        <p:spPr>
          <a:xfrm>
            <a:off x="646545" y="5369745"/>
            <a:ext cx="7241305" cy="81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097-C711-6CF6-8DE7-2B7B8AD1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02C0A7-A6A8-B895-32F2-0FA366C80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43FBE808-6515-6DB7-0F50-D8426B9C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model (like pro)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27140-F2A9-19E7-B045-CFFC37E9B382}"/>
              </a:ext>
            </a:extLst>
          </p:cNvPr>
          <p:cNvSpPr txBox="1"/>
          <p:nvPr/>
        </p:nvSpPr>
        <p:spPr>
          <a:xfrm>
            <a:off x="941999" y="1371860"/>
            <a:ext cx="5030260" cy="483209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클래스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상속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super(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self).__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W, 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자동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예측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X @ W + b)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0.01; epochs = 100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(Mean Squared Error)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criterion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nn.MSELoss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9E2D7-CAE7-EBF8-88FC-ED6E4DF6D0C7}"/>
              </a:ext>
            </a:extLst>
          </p:cNvPr>
          <p:cNvSpPr txBox="1"/>
          <p:nvPr/>
        </p:nvSpPr>
        <p:spPr>
          <a:xfrm>
            <a:off x="6400897" y="1371860"/>
            <a:ext cx="5190850" cy="4616648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(SGD)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optim.SGD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 Loop)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model(X)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통한 예측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 = criterion(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	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계산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if (epoch + 1) % 10 == 0: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f'Epoch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[{epoch+1}/{epochs}], Loss: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loss.item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():.4f}’)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저장 및 확인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파라미터 확인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FF61B4-C3E4-021B-E1A6-9CFDBB592E4F}"/>
              </a:ext>
            </a:extLst>
          </p:cNvPr>
          <p:cNvSpPr/>
          <p:nvPr/>
        </p:nvSpPr>
        <p:spPr>
          <a:xfrm>
            <a:off x="521207" y="2469527"/>
            <a:ext cx="5574793" cy="2074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1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F4DD-CB94-3340-8B81-7BA5CCD4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272D7B0-04E8-FAD1-7A01-90042C71F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 dirty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AFB13091-5220-FC43-0B7C-5ED49F66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Three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Gradient Descent Method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9E222E-B4B8-0F89-CF5D-A3D898198B15}"/>
                  </a:ext>
                </a:extLst>
              </p:cNvPr>
              <p:cNvSpPr txBox="1"/>
              <p:nvPr/>
            </p:nvSpPr>
            <p:spPr>
              <a:xfrm>
                <a:off x="647700" y="1257300"/>
                <a:ext cx="11000826" cy="869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N=100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라고 가정하고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회귀식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parameter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gradient descent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으로 구하는 미분계산식을 살펴보고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가지 방식 모두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Learning rate(step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size)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영향을 받는다는 것을 이해하자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9E222E-B4B8-0F89-CF5D-A3D898198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257300"/>
                <a:ext cx="11000826" cy="869790"/>
              </a:xfrm>
              <a:prstGeom prst="rect">
                <a:avLst/>
              </a:prstGeom>
              <a:blipFill>
                <a:blip r:embed="rId3"/>
                <a:stretch>
                  <a:fillRect l="-443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4775DD7-819A-689B-F963-2C71980A9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34836"/>
              </p:ext>
            </p:extLst>
          </p:nvPr>
        </p:nvGraphicFramePr>
        <p:xfrm>
          <a:off x="1117601" y="2585784"/>
          <a:ext cx="10012029" cy="330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4768">
                  <a:extLst>
                    <a:ext uri="{9D8B030D-6E8A-4147-A177-3AD203B41FA5}">
                      <a16:colId xmlns:a16="http://schemas.microsoft.com/office/drawing/2014/main" val="1024984588"/>
                    </a:ext>
                  </a:extLst>
                </a:gridCol>
                <a:gridCol w="3186095">
                  <a:extLst>
                    <a:ext uri="{9D8B030D-6E8A-4147-A177-3AD203B41FA5}">
                      <a16:colId xmlns:a16="http://schemas.microsoft.com/office/drawing/2014/main" val="782476037"/>
                    </a:ext>
                  </a:extLst>
                </a:gridCol>
                <a:gridCol w="3401166">
                  <a:extLst>
                    <a:ext uri="{9D8B030D-6E8A-4147-A177-3AD203B41FA5}">
                      <a16:colId xmlns:a16="http://schemas.microsoft.com/office/drawing/2014/main" val="3779458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Gradient Descent </a:t>
                      </a:r>
                      <a:endParaRPr lang="ko-KR" altLang="en-US" sz="1800" kern="1200" dirty="0">
                        <a:solidFill>
                          <a:schemeClr val="bg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Stochastic Gradient Descent </a:t>
                      </a:r>
                      <a:endParaRPr lang="ko-KR" altLang="en-US" sz="1800" kern="1200" dirty="0">
                        <a:solidFill>
                          <a:schemeClr val="bg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Mini-batch SGD </a:t>
                      </a:r>
                      <a:r>
                        <a:rPr lang="ko-KR" altLang="en-US" sz="1800" kern="1200" dirty="0">
                          <a:solidFill>
                            <a:schemeClr val="bg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방식</a:t>
                      </a:r>
                      <a:r>
                        <a:rPr lang="en-US" altLang="ko-KR" sz="1800" kern="1200" dirty="0">
                          <a:solidFill>
                            <a:schemeClr val="bg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endParaRPr lang="ko-KR" altLang="en-US" sz="1800" kern="1200" dirty="0">
                        <a:solidFill>
                          <a:schemeClr val="bg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94695"/>
                  </a:ext>
                </a:extLst>
              </a:tr>
              <a:tr h="285088"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모든 데이터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(100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파라미터의 미분식에 넣어 한 번에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모든 데이터를 파라미터의 미분식에 넣어 한 번에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100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데이터 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10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 나누어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(Batch)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파라미터 미분식에서 계산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24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Use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all 100 points per update</a:t>
                      </a: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Use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single random point per update</a:t>
                      </a: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Use</a:t>
                      </a:r>
                      <a:r>
                        <a:rPr lang="ko-KR" altLang="en-US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 random subset 10 points(batch) per update</a:t>
                      </a: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295114"/>
                  </a:ext>
                </a:extLst>
              </a:tr>
              <a:tr h="1899605"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400" b="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341601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DCD6D1D3-B798-DAAC-8D58-1690B7345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260" y="4117196"/>
            <a:ext cx="9956611" cy="16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1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9246-7915-8DA6-755D-8A10F8F0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20EAF2-C06C-E501-4D3C-47736FEE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 dirty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FD243BE2-6A7B-22A3-454B-9C3AC37A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Gradient Descent Methods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FBEC9-D5E5-3B2F-CFC2-54257B6E12AD}"/>
              </a:ext>
            </a:extLst>
          </p:cNvPr>
          <p:cNvSpPr txBox="1"/>
          <p:nvPr/>
        </p:nvSpPr>
        <p:spPr>
          <a:xfrm>
            <a:off x="647700" y="1257300"/>
            <a:ext cx="1100082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Epoch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전체 데이터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Iteration(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한 번에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FWD/BWD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포인크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개씩 할지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size(n &lt;= 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할 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일반적으로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사용함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4660D-7C44-1AE5-DF14-D2A2ABCBFAEA}"/>
              </a:ext>
            </a:extLst>
          </p:cNvPr>
          <p:cNvSpPr txBox="1"/>
          <p:nvPr/>
        </p:nvSpPr>
        <p:spPr>
          <a:xfrm>
            <a:off x="5120004" y="2510872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안정적이지만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계산량이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많음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F42DC-6EEB-7010-D630-E3BE98BA6717}"/>
              </a:ext>
            </a:extLst>
          </p:cNvPr>
          <p:cNvSpPr txBox="1"/>
          <p:nvPr/>
        </p:nvSpPr>
        <p:spPr>
          <a:xfrm>
            <a:off x="5120004" y="3826168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빠르지만 경로가 매우 불규칙함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5302B-331B-B6EF-35C7-B30AC5D333B1}"/>
              </a:ext>
            </a:extLst>
          </p:cNvPr>
          <p:cNvSpPr txBox="1"/>
          <p:nvPr/>
        </p:nvSpPr>
        <p:spPr>
          <a:xfrm>
            <a:off x="5120004" y="5141463"/>
            <a:ext cx="6503843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SGD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ward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에포크당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배치 사이즈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효율과 안정성의 균형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AC76FC-0798-C080-7845-1D26119E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603235"/>
            <a:ext cx="2867025" cy="3732162"/>
          </a:xfrm>
          <a:prstGeom prst="rect">
            <a:avLst/>
          </a:prstGeom>
        </p:spPr>
      </p:pic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BB8DB900-4FFD-E6C4-2286-8BB8EA883C1F}"/>
              </a:ext>
            </a:extLst>
          </p:cNvPr>
          <p:cNvSpPr/>
          <p:nvPr/>
        </p:nvSpPr>
        <p:spPr>
          <a:xfrm>
            <a:off x="4737477" y="2805328"/>
            <a:ext cx="294034" cy="2551764"/>
          </a:xfrm>
          <a:prstGeom prst="leftBrace">
            <a:avLst>
              <a:gd name="adj1" fmla="val 3796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B7183-ED37-2D03-2B43-F497448D7B23}"/>
              </a:ext>
            </a:extLst>
          </p:cNvPr>
          <p:cNvSpPr txBox="1"/>
          <p:nvPr/>
        </p:nvSpPr>
        <p:spPr>
          <a:xfrm>
            <a:off x="3669893" y="3813056"/>
            <a:ext cx="1293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미분계산</a:t>
            </a:r>
            <a:r>
              <a:rPr lang="en-US" altLang="ko-KR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횟수</a:t>
            </a:r>
          </a:p>
        </p:txBody>
      </p:sp>
    </p:spTree>
    <p:extLst>
      <p:ext uri="{BB962C8B-B14F-4D97-AF65-F5344CB8AC3E}">
        <p14:creationId xmlns:p14="http://schemas.microsoft.com/office/powerpoint/2010/main" val="13343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FDEC-92DB-458A-4D4A-C5719743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170C0F2-1D86-E3C1-A314-0F9824FDB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 dirty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F05F2869-814D-7F01-9596-6A440BFD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Gradient Descent &amp; Stochastic Gradient Descent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0390A-1E41-1D06-1DE9-249627522AFF}"/>
              </a:ext>
            </a:extLst>
          </p:cNvPr>
          <p:cNvSpPr txBox="1"/>
          <p:nvPr/>
        </p:nvSpPr>
        <p:spPr>
          <a:xfrm>
            <a:off x="647700" y="1381125"/>
            <a:ext cx="11000826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3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코드는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&amp; Stochastic Gradient Descent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 중 어느 것인가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아래 코드를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비교하여 생각해 보자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B0D2A-1DD3-19D2-7586-86295E876451}"/>
              </a:ext>
            </a:extLst>
          </p:cNvPr>
          <p:cNvSpPr txBox="1"/>
          <p:nvPr/>
        </p:nvSpPr>
        <p:spPr>
          <a:xfrm>
            <a:off x="6409776" y="2673735"/>
            <a:ext cx="5238750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)): # 데이터 100개를 하나씩 순회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x_single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    # 데이터 1개 추출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y_true_single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x_single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# 1개만 예측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y_true_single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)**2 # 1개의 오차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...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844F7-DF49-397A-9B28-18CA92B157B2}"/>
              </a:ext>
            </a:extLst>
          </p:cNvPr>
          <p:cNvSpPr txBox="1"/>
          <p:nvPr/>
        </p:nvSpPr>
        <p:spPr>
          <a:xfrm>
            <a:off x="690288" y="2648679"/>
            <a:ext cx="545782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34629-776A-7EAC-58BD-F8C7185C1251}"/>
              </a:ext>
            </a:extLst>
          </p:cNvPr>
          <p:cNvSpPr txBox="1"/>
          <p:nvPr/>
        </p:nvSpPr>
        <p:spPr>
          <a:xfrm>
            <a:off x="1089892" y="5543301"/>
            <a:ext cx="22074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</a:t>
            </a:r>
            <a:endParaRPr lang="ko-KR" altLang="en-US" sz="1600" dirty="0">
              <a:ln>
                <a:solidFill>
                  <a:srgbClr val="002060"/>
                </a:solidFill>
              </a:ln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4BDE7-E393-4D59-2A6B-ADB931094440}"/>
              </a:ext>
            </a:extLst>
          </p:cNvPr>
          <p:cNvSpPr txBox="1"/>
          <p:nvPr/>
        </p:nvSpPr>
        <p:spPr>
          <a:xfrm>
            <a:off x="8562105" y="5543301"/>
            <a:ext cx="27154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endParaRPr lang="ko-KR" altLang="en-US" sz="1600" dirty="0">
              <a:ln>
                <a:solidFill>
                  <a:srgbClr val="002060"/>
                </a:solidFill>
              </a:ln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E21E8D2-0517-4B1E-8753-936030110715}"/>
              </a:ext>
            </a:extLst>
          </p:cNvPr>
          <p:cNvCxnSpPr>
            <a:cxnSpLocks/>
          </p:cNvCxnSpPr>
          <p:nvPr/>
        </p:nvCxnSpPr>
        <p:spPr>
          <a:xfrm flipV="1">
            <a:off x="3419200" y="5689596"/>
            <a:ext cx="4784435" cy="22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C1AC0E-5BFD-1DCE-406E-5743B5D69E27}"/>
              </a:ext>
            </a:extLst>
          </p:cNvPr>
          <p:cNvSpPr txBox="1"/>
          <p:nvPr/>
        </p:nvSpPr>
        <p:spPr>
          <a:xfrm>
            <a:off x="4825998" y="5460228"/>
            <a:ext cx="220749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</a:t>
            </a:r>
            <a:r>
              <a:rPr lang="ko-KR" altLang="en-US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</a:t>
            </a:r>
          </a:p>
          <a:p>
            <a:pPr algn="ctr"/>
            <a:r>
              <a:rPr lang="en-US" altLang="ko-KR" sz="1600" dirty="0">
                <a:ln>
                  <a:solidFill>
                    <a:srgbClr val="002060"/>
                  </a:solidFill>
                </a:ln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</a:t>
            </a:r>
            <a:endParaRPr lang="ko-KR" altLang="en-US" sz="1600" dirty="0">
              <a:ln>
                <a:solidFill>
                  <a:srgbClr val="00206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7803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FBE9-3F99-0F85-0651-175D2B31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B6BA96-D422-55B8-24AF-E89CBF4E3CE8}"/>
              </a:ext>
            </a:extLst>
          </p:cNvPr>
          <p:cNvSpPr/>
          <p:nvPr/>
        </p:nvSpPr>
        <p:spPr>
          <a:xfrm>
            <a:off x="1571625" y="3714751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FE0ED33-5BAD-5C68-1DE9-02272026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973D715-C3FC-2897-3760-3CD2BF030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70FAA7-3C60-B2DE-DE23-8E37F53BB2EF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228285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D655-3BF0-4C09-0B1D-D934CBF8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E92CA1D-10C5-A32D-483B-FE34B16A6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6F7D973D-804F-BD5B-9801-7FE8ED182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Adam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620EF-E9BF-EDFB-0EDB-46AA50F1672C}"/>
              </a:ext>
            </a:extLst>
          </p:cNvPr>
          <p:cNvSpPr txBox="1"/>
          <p:nvPr/>
        </p:nvSpPr>
        <p:spPr>
          <a:xfrm>
            <a:off x="647700" y="1171575"/>
            <a:ext cx="11000826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Adam(Adaptive Moment Estimation)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현재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가장 많이 사용되는 최적화 알고리즘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(Optimizer)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SGD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경사를 따라 일정하게 내려가는 산악인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Adam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가속도를 붙여 빠르게 내려가면서도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지형에 따라 보폭을 조절하는 산악인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D744E-229E-9680-5FD9-AACFE88AF07F}"/>
              </a:ext>
            </a:extLst>
          </p:cNvPr>
          <p:cNvSpPr txBox="1"/>
          <p:nvPr/>
        </p:nvSpPr>
        <p:spPr>
          <a:xfrm>
            <a:off x="772075" y="2664522"/>
            <a:ext cx="5495375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Adam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내부 로직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개념적 이해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range(epochs):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batch_X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batch_y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dataloader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기울기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gradient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compute_gradient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batch_X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batch_y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엔진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관성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(Momentum)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계산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방향 결정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# beta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엑세레이터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beta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브레이크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m = beta1 * m + (1 - beta1) * gradient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엔진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보폭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RMSProp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조절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보폭 결정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v = beta2 * v + (1 - beta2) * (gradient**2)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파라미터 업데이트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방향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(m)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보폭조절장치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(root v)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로 효율적으로 이동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W -=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* m / (sqrt(v) + epsilon)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137D4-D843-BF4D-CE09-019D168C2A21}"/>
              </a:ext>
            </a:extLst>
          </p:cNvPr>
          <p:cNvSpPr txBox="1"/>
          <p:nvPr/>
        </p:nvSpPr>
        <p:spPr>
          <a:xfrm>
            <a:off x="6362700" y="2664522"/>
            <a:ext cx="5410199" cy="70564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SGD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대신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Adam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사용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torch.optim.Adam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=0.001)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56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7C1F-C47D-3DBA-F1A6-060FC341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10BEBCF-80D0-2B02-C90D-D25CE8A56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97A9058A-1C97-0A5E-D79F-1E59F06D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optimizer simulation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Gradient Descent Optimization Algorithms at Long Valley">
            <a:extLst>
              <a:ext uri="{FF2B5EF4-FFF2-40B4-BE49-F238E27FC236}">
                <a16:creationId xmlns:a16="http://schemas.microsoft.com/office/drawing/2014/main" id="{8A1E0F39-B01B-F411-63BB-04262471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077" y="1631952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4F703E-7914-E26D-6E02-870908B26A4D}"/>
              </a:ext>
            </a:extLst>
          </p:cNvPr>
          <p:cNvSpPr txBox="1"/>
          <p:nvPr/>
        </p:nvSpPr>
        <p:spPr>
          <a:xfrm>
            <a:off x="7048500" y="2276312"/>
            <a:ext cx="4600026" cy="1389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Adam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아래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최적화 알고리즘을 결합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Momentum: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가던 방향으로 계속 가려는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관성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RMSprop: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기울기가 급하면 보폭을 줄이고 완만하면 늘리는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적응형 보폭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2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05B4-A65F-2F3B-BEE6-64E4111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F3170C6-B605-E458-4AAE-D4163D327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17760569-2B23-6F0D-B91C-57C71ACFD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optimizer simulation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3700E1-7125-F255-0A24-EC22F641A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485900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84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6FFD-2CC0-553A-A889-A8EADEB5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B9AC33-3ABE-52D9-E1E4-625EF5A6D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1233013C-E0C2-2AF7-1F58-9DDCD3CB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optimizer simulation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36F72-E8CB-6D1B-1071-8EBC45B87BE9}"/>
              </a:ext>
            </a:extLst>
          </p:cNvPr>
          <p:cNvSpPr txBox="1"/>
          <p:nvPr/>
        </p:nvSpPr>
        <p:spPr>
          <a:xfrm>
            <a:off x="596857" y="1335934"/>
            <a:ext cx="1105166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/>
              </a:rPr>
              <a:t>optimizer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요기를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클릭하시고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Adam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구경하면서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5DFCDF-8B4C-CFE2-D665-78BCC3CC8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44" y="2628777"/>
            <a:ext cx="5129156" cy="32900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FD90589-C8FF-F7E1-3297-5B8023656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228" y="2624972"/>
            <a:ext cx="4497878" cy="329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EE4A1-01E7-F1CE-F5D5-5CA1CCA3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03D61B-9A4F-C715-04D8-2CDAF2DB8811}"/>
              </a:ext>
            </a:extLst>
          </p:cNvPr>
          <p:cNvSpPr/>
          <p:nvPr/>
        </p:nvSpPr>
        <p:spPr>
          <a:xfrm>
            <a:off x="1571625" y="4133851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702EE9B-FBB7-DB48-45B1-2C8983A8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82BDDE7-1363-F174-A592-50B52479F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339E24-C77F-E796-4141-E33FD5771E35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28487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83FB-D4C1-E09C-09F8-6DF9FADD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1760EE4-8414-2C80-0B96-9386E53E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62416FFC-4F71-FBCC-D4E9-2F78B520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043254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optimizer simulation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271F3-2EA7-F93C-AEF3-381A7093F690}"/>
              </a:ext>
            </a:extLst>
          </p:cNvPr>
          <p:cNvSpPr txBox="1"/>
          <p:nvPr/>
        </p:nvSpPr>
        <p:spPr>
          <a:xfrm>
            <a:off x="596857" y="1335934"/>
            <a:ext cx="1105166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/>
              </a:rPr>
              <a:t>optimizer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요기를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클릭하시고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Adam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구경하면서 손실함수에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L1, L2 3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큐빅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(cubic)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(sphere)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접목시켜보면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AA1250-1EDA-676E-1666-01D67BF6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358" y="2986922"/>
            <a:ext cx="2909780" cy="14924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64F42B-8FA9-FC4C-CAEC-1CB084D1A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373" y="3022007"/>
            <a:ext cx="2909780" cy="14924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A4C784-4A3D-FBE7-00BE-3D4504D2B5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47" b="94853" l="6182" r="92364">
                        <a14:foregroundMark x1="63636" y1="23897" x2="70909" y2="65441"/>
                        <a14:foregroundMark x1="70909" y1="65441" x2="40000" y2="55515"/>
                        <a14:foregroundMark x1="40000" y1="55515" x2="56727" y2="31985"/>
                        <a14:foregroundMark x1="56727" y1="31985" x2="67636" y2="72426"/>
                        <a14:foregroundMark x1="67636" y1="72426" x2="22545" y2="63235"/>
                        <a14:foregroundMark x1="22545" y1="63235" x2="55636" y2="23529"/>
                        <a14:foregroundMark x1="55636" y1="23529" x2="77455" y2="65074"/>
                        <a14:foregroundMark x1="77455" y1="65074" x2="40727" y2="84559"/>
                        <a14:foregroundMark x1="40727" y1="84559" x2="18182" y2="40441"/>
                        <a14:foregroundMark x1="18182" y1="40441" x2="50545" y2="15809"/>
                        <a14:foregroundMark x1="50545" y1="15809" x2="85818" y2="38971"/>
                        <a14:foregroundMark x1="85818" y1="38971" x2="71636" y2="81985"/>
                        <a14:foregroundMark x1="71636" y1="81985" x2="31273" y2="76471"/>
                        <a14:foregroundMark x1="31273" y1="76471" x2="52000" y2="18382"/>
                        <a14:foregroundMark x1="52000" y1="18382" x2="60364" y2="47794"/>
                        <a14:foregroundMark x1="60364" y1="47794" x2="28000" y2="45956"/>
                        <a14:foregroundMark x1="28000" y1="45956" x2="59273" y2="55147"/>
                        <a14:foregroundMark x1="59273" y1="55147" x2="41818" y2="38235"/>
                        <a14:foregroundMark x1="41818" y1="38235" x2="30545" y2="59559"/>
                        <a14:foregroundMark x1="30545" y1="59559" x2="49818" y2="39706"/>
                        <a14:foregroundMark x1="49818" y1="39706" x2="25091" y2="65809"/>
                        <a14:foregroundMark x1="25091" y1="65809" x2="16000" y2="32353"/>
                        <a14:foregroundMark x1="16000" y1="32353" x2="50545" y2="8088"/>
                        <a14:foregroundMark x1="50545" y1="8088" x2="66182" y2="10662"/>
                        <a14:foregroundMark x1="66182" y1="10662" x2="67273" y2="17279"/>
                        <a14:foregroundMark x1="8727" y1="41176" x2="9091" y2="69485"/>
                        <a14:foregroundMark x1="9091" y1="69485" x2="7273" y2="43382"/>
                        <a14:foregroundMark x1="7273" y1="43382" x2="6909" y2="59191"/>
                        <a14:foregroundMark x1="32364" y1="92647" x2="56364" y2="90809"/>
                        <a14:foregroundMark x1="56364" y1="90809" x2="51636" y2="94853"/>
                        <a14:foregroundMark x1="89455" y1="38603" x2="91636" y2="65809"/>
                        <a14:foregroundMark x1="91636" y1="65809" x2="92364" y2="42279"/>
                        <a14:foregroundMark x1="92364" y1="42279" x2="92727" y2="43015"/>
                        <a14:foregroundMark x1="49091" y1="7353" x2="49091" y2="5147"/>
                        <a14:foregroundMark x1="52364" y1="5147" x2="52727" y2="113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8475" y="4396206"/>
            <a:ext cx="1682576" cy="1664221"/>
          </a:xfrm>
          <a:prstGeom prst="rect">
            <a:avLst/>
          </a:prstGeom>
        </p:spPr>
      </p:pic>
      <p:sp>
        <p:nvSpPr>
          <p:cNvPr id="2" name="정육면체 1">
            <a:extLst>
              <a:ext uri="{FF2B5EF4-FFF2-40B4-BE49-F238E27FC236}">
                <a16:creationId xmlns:a16="http://schemas.microsoft.com/office/drawing/2014/main" id="{8279D7B3-24A3-B9F6-FB2C-9F8D9E0C91DF}"/>
              </a:ext>
            </a:extLst>
          </p:cNvPr>
          <p:cNvSpPr/>
          <p:nvPr/>
        </p:nvSpPr>
        <p:spPr>
          <a:xfrm>
            <a:off x="8202788" y="4418272"/>
            <a:ext cx="1337120" cy="1246471"/>
          </a:xfrm>
          <a:prstGeom prst="cube">
            <a:avLst>
              <a:gd name="adj" fmla="val 3286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65B1EAD-B3FB-FF60-5FC9-25ED79924F8A}"/>
              </a:ext>
            </a:extLst>
          </p:cNvPr>
          <p:cNvCxnSpPr/>
          <p:nvPr/>
        </p:nvCxnSpPr>
        <p:spPr>
          <a:xfrm flipV="1">
            <a:off x="1961274" y="3162300"/>
            <a:ext cx="0" cy="23717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17F0768-7567-EAA9-3CCA-35382B9746B6}"/>
              </a:ext>
            </a:extLst>
          </p:cNvPr>
          <p:cNvCxnSpPr>
            <a:cxnSpLocks/>
          </p:cNvCxnSpPr>
          <p:nvPr/>
        </p:nvCxnSpPr>
        <p:spPr>
          <a:xfrm flipH="1">
            <a:off x="1526551" y="5526552"/>
            <a:ext cx="452345" cy="3979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0C070A9-8299-40AF-1F41-604C6AC861F9}"/>
              </a:ext>
            </a:extLst>
          </p:cNvPr>
          <p:cNvCxnSpPr>
            <a:cxnSpLocks/>
          </p:cNvCxnSpPr>
          <p:nvPr/>
        </p:nvCxnSpPr>
        <p:spPr>
          <a:xfrm>
            <a:off x="1966704" y="5537275"/>
            <a:ext cx="807624" cy="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E93F57F-51C7-63DF-4727-52C59D102873}"/>
              </a:ext>
            </a:extLst>
          </p:cNvPr>
          <p:cNvCxnSpPr/>
          <p:nvPr/>
        </p:nvCxnSpPr>
        <p:spPr>
          <a:xfrm flipV="1">
            <a:off x="6652304" y="3008605"/>
            <a:ext cx="0" cy="23717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A37B654-9146-6CE4-5015-583A3E0D34AF}"/>
              </a:ext>
            </a:extLst>
          </p:cNvPr>
          <p:cNvCxnSpPr>
            <a:cxnSpLocks/>
          </p:cNvCxnSpPr>
          <p:nvPr/>
        </p:nvCxnSpPr>
        <p:spPr>
          <a:xfrm flipH="1">
            <a:off x="6217581" y="5372857"/>
            <a:ext cx="452345" cy="3979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BB01EB3-9892-1707-1B21-BD74E87AE26F}"/>
              </a:ext>
            </a:extLst>
          </p:cNvPr>
          <p:cNvCxnSpPr>
            <a:cxnSpLocks/>
          </p:cNvCxnSpPr>
          <p:nvPr/>
        </p:nvCxnSpPr>
        <p:spPr>
          <a:xfrm>
            <a:off x="6657734" y="5383580"/>
            <a:ext cx="807624" cy="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62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D288-EEDE-9323-60CC-E3BD5FD9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E491-FD50-BD0C-476F-2AE102A6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303875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Visualization of L1,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L2 Norms with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Loss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b="1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Fuction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D60C3-50D4-D561-965B-A505D778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4C3C6-D03E-29DC-D4BD-0A7E0156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290881"/>
            <a:ext cx="10706705" cy="5680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와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 Regression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L1, L2 penalty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가산한 손실함수 형태임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4B5D40-F6B6-40AB-6CEC-763DCFF9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70" y="2128708"/>
            <a:ext cx="4119376" cy="414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0010D2-0E8A-7A01-65EC-C5AD562CA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178" y="2799085"/>
            <a:ext cx="1844416" cy="6108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0A786B-932D-E03A-B381-BECAD025F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98" y="4943475"/>
            <a:ext cx="1838428" cy="5988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6E248E-3EA5-CC93-F0AE-B9FFAD6F6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967" y="2799085"/>
            <a:ext cx="1332344" cy="5354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BF11DB-61B7-8934-BD93-253DBC814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309" y="4943475"/>
            <a:ext cx="1861458" cy="4334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A02A16-B33F-125C-25F5-F9A52BA173BF}"/>
              </a:ext>
            </a:extLst>
          </p:cNvPr>
          <p:cNvSpPr txBox="1"/>
          <p:nvPr/>
        </p:nvSpPr>
        <p:spPr>
          <a:xfrm>
            <a:off x="1381126" y="2338194"/>
            <a:ext cx="127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B0BE7-8A5A-862B-FB19-25982BD638E5}"/>
              </a:ext>
            </a:extLst>
          </p:cNvPr>
          <p:cNvSpPr txBox="1"/>
          <p:nvPr/>
        </p:nvSpPr>
        <p:spPr>
          <a:xfrm>
            <a:off x="1381126" y="4461470"/>
            <a:ext cx="1380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Ridge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7D97B-E9BA-023A-7069-372E08EABCF0}"/>
              </a:ext>
            </a:extLst>
          </p:cNvPr>
          <p:cNvSpPr txBox="1"/>
          <p:nvPr/>
        </p:nvSpPr>
        <p:spPr>
          <a:xfrm>
            <a:off x="3293766" y="2338194"/>
            <a:ext cx="2325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Function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77191-582B-8059-D55B-A587DCCFC648}"/>
              </a:ext>
            </a:extLst>
          </p:cNvPr>
          <p:cNvSpPr txBox="1"/>
          <p:nvPr/>
        </p:nvSpPr>
        <p:spPr>
          <a:xfrm>
            <a:off x="3293766" y="4461470"/>
            <a:ext cx="2325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Function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220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F962-BC56-0A39-765C-2EC2B08A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4CE5A6-9C5C-75EF-D600-91A64E164AF9}"/>
              </a:ext>
            </a:extLst>
          </p:cNvPr>
          <p:cNvSpPr/>
          <p:nvPr/>
        </p:nvSpPr>
        <p:spPr>
          <a:xfrm>
            <a:off x="1571625" y="4600576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6D3F9B8-EB82-687E-8059-01F582F8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56DA0E0-51DC-B9E6-FFE3-33E86D403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15801-F1B1-5FB5-F29E-9387FE2077D0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145045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ABB2-19BE-2E2C-44BA-758DE6AD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67BA5-A08E-C682-B29F-B40FED5F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303875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Regularizations to reduce Overfitting(high variance)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BDB551-53BF-B5C9-C861-0ED4A550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7A59A8-920C-8EC6-A7BB-6A2246F5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290881"/>
            <a:ext cx="10706705" cy="5680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머신러닝의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모델의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과적합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(Overfitting)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방지하기 위한 정규화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(regularizations)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방법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29CEF5B-060B-462B-022F-55C5DE4FB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39980"/>
              </p:ext>
            </p:extLst>
          </p:nvPr>
        </p:nvGraphicFramePr>
        <p:xfrm>
          <a:off x="616256" y="1858889"/>
          <a:ext cx="10309007" cy="44542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4689">
                  <a:extLst>
                    <a:ext uri="{9D8B030D-6E8A-4147-A177-3AD203B41FA5}">
                      <a16:colId xmlns:a16="http://schemas.microsoft.com/office/drawing/2014/main" val="3226445911"/>
                    </a:ext>
                  </a:extLst>
                </a:gridCol>
                <a:gridCol w="1644073">
                  <a:extLst>
                    <a:ext uri="{9D8B030D-6E8A-4147-A177-3AD203B41FA5}">
                      <a16:colId xmlns:a16="http://schemas.microsoft.com/office/drawing/2014/main" val="2748943094"/>
                    </a:ext>
                  </a:extLst>
                </a:gridCol>
                <a:gridCol w="2724727">
                  <a:extLst>
                    <a:ext uri="{9D8B030D-6E8A-4147-A177-3AD203B41FA5}">
                      <a16:colId xmlns:a16="http://schemas.microsoft.com/office/drawing/2014/main" val="823288303"/>
                    </a:ext>
                  </a:extLst>
                </a:gridCol>
                <a:gridCol w="2512291">
                  <a:extLst>
                    <a:ext uri="{9D8B030D-6E8A-4147-A177-3AD203B41FA5}">
                      <a16:colId xmlns:a16="http://schemas.microsoft.com/office/drawing/2014/main" val="1692164174"/>
                    </a:ext>
                  </a:extLst>
                </a:gridCol>
                <a:gridCol w="2483227">
                  <a:extLst>
                    <a:ext uri="{9D8B030D-6E8A-4147-A177-3AD203B41FA5}">
                      <a16:colId xmlns:a16="http://schemas.microsoft.com/office/drawing/2014/main" val="2178149482"/>
                    </a:ext>
                  </a:extLst>
                </a:gridCol>
              </a:tblGrid>
              <a:tr h="29009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기법 명칭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핵심 작동 원리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효과 및 장점</a:t>
                      </a:r>
                    </a:p>
                  </a:txBody>
                  <a:tcPr marL="18333" marR="18333" marT="24444" marB="244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비유</a:t>
                      </a:r>
                    </a:p>
                  </a:txBody>
                  <a:tcPr marL="18333" marR="18333" marT="24444" marB="244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989381"/>
                  </a:ext>
                </a:extLst>
              </a:tr>
              <a:tr h="102751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모델 구조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Dropout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kern="1200" dirty="0" err="1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드롭아웃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학습 시 매 단계마다 무작위로 일정 비율의 뉴런을 비활성화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특정 뉴런의 결합에만 의존하지 않는 강인한 모델 생성</a:t>
                      </a:r>
                    </a:p>
                  </a:txBody>
                  <a:tcPr marL="18333" marR="18333" marT="24444" marB="2444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팀 프로젝트에서 매일 무작위로 팀원을 한 명씩 쉬게 하여 누구나 일할 수 있게 만들기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</a:p>
                  </a:txBody>
                  <a:tcPr marL="18333" marR="18333" marT="24444" marB="2444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64239646"/>
                  </a:ext>
                </a:extLst>
              </a:tr>
              <a:tr h="78415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모델 구조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Batch Norm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배치 정규화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각 층을 통과할 때마다 데이터의 분포를 평균 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0, 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분산 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로 조정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학습 속도 향상 및 초기화에 대한 민감도 감소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규제 효과 동반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학생들을 키순으로 줄 세워 교복 사이즈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데이터 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를 표준화하기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</a:p>
                  </a:txBody>
                  <a:tcPr marL="18333" marR="18333" marT="24444" marB="24444" anchor="ctr"/>
                </a:tc>
                <a:extLst>
                  <a:ext uri="{0D108BD9-81ED-4DB2-BD59-A6C34878D82A}">
                    <a16:rowId xmlns:a16="http://schemas.microsoft.com/office/drawing/2014/main" val="1815879492"/>
                  </a:ext>
                </a:extLst>
              </a:tr>
              <a:tr h="84499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데이터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Data Augmentation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데이터 증강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원본 데이터를 회전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자르기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색상 변조 등으로 변형하여 데이터 양을 늘림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데이터의 양이 적을 때 효과적이며 일반화 성능 극대화</a:t>
                      </a:r>
                    </a:p>
                  </a:txBody>
                  <a:tcPr marL="18333" marR="18333" marT="24444" marB="2444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같은 문제집을 여러 번 보되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문제를 거꾸로 보거나 뒤섞어서 풀기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</a:p>
                  </a:txBody>
                  <a:tcPr marL="18333" marR="18333" marT="24444" marB="24444" anchor="ctr"/>
                </a:tc>
                <a:extLst>
                  <a:ext uri="{0D108BD9-81ED-4DB2-BD59-A6C34878D82A}">
                    <a16:rowId xmlns:a16="http://schemas.microsoft.com/office/drawing/2014/main" val="3375354912"/>
                  </a:ext>
                </a:extLst>
              </a:tr>
              <a:tr h="72331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손실함수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L2 Regularization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가중치 감쇠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손실 함수에 가중치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($W$)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의 제곱합을 더해 큰 가중치에 페널티 부여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모델의 복잡도를 낮추고 가중치가 튀는 현상을 방지</a:t>
                      </a:r>
                    </a:p>
                  </a:txBody>
                  <a:tcPr marL="18333" marR="18333" marT="24444" marB="2444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말할 때 너무 큰 소리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과한 가중치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를 내지 못하도록 벌금 매기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</a:p>
                  </a:txBody>
                  <a:tcPr marL="18333" marR="18333" marT="24444" marB="24444" anchor="ctr"/>
                </a:tc>
                <a:extLst>
                  <a:ext uri="{0D108BD9-81ED-4DB2-BD59-A6C34878D82A}">
                    <a16:rowId xmlns:a16="http://schemas.microsoft.com/office/drawing/2014/main" val="3067388307"/>
                  </a:ext>
                </a:extLst>
              </a:tr>
              <a:tr h="78415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학습 과정</a:t>
                      </a:r>
                    </a:p>
                  </a:txBody>
                  <a:tcPr marL="18333" marR="18333" marT="24444" marB="244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Early Stopping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조기 종료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검증 오차</a:t>
                      </a:r>
                      <a:r>
                        <a:rPr lang="en-US" altLang="ko-KR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(Validation Loss)</a:t>
                      </a:r>
                      <a:r>
                        <a:rPr lang="ko-KR" altLang="en-US" sz="1200" b="0" kern="120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가 줄어들지 않고 반등하기 직전에 학습 중단</a:t>
                      </a:r>
                    </a:p>
                  </a:txBody>
                  <a:tcPr marL="18333" marR="18333" marT="24444" marB="244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학습 데이터에만 특화된 노이즈를 학습하기 전에 차단</a:t>
                      </a:r>
                    </a:p>
                  </a:txBody>
                  <a:tcPr marL="18333" marR="18333" marT="24444" marB="2444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고기 구울 때 육즙이 빠지기 직전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최적 상태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에 불 끄기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"</a:t>
                      </a:r>
                    </a:p>
                  </a:txBody>
                  <a:tcPr marL="18333" marR="18333" marT="24444" marB="24444" anchor="ctr"/>
                </a:tc>
                <a:extLst>
                  <a:ext uri="{0D108BD9-81ED-4DB2-BD59-A6C34878D82A}">
                    <a16:rowId xmlns:a16="http://schemas.microsoft.com/office/drawing/2014/main" val="3943297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660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20648-03FB-26CE-F6C3-3C592915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A336E-0E7D-9293-A8EF-F8476648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303875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Regularizations with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b="1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pytorch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605E-DF18-49E9-EE9C-E3D26E2E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4AC4D-F50B-CD80-78E1-167341F47026}"/>
              </a:ext>
            </a:extLst>
          </p:cNvPr>
          <p:cNvSpPr txBox="1"/>
          <p:nvPr/>
        </p:nvSpPr>
        <p:spPr>
          <a:xfrm>
            <a:off x="571501" y="1549629"/>
            <a:ext cx="8991081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AntiOverfitModel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__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__(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().__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self.layer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nn.Sequential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(100, 64),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nn.BatchNorm1d(64), # 배치 정규화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nn.ReLU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nn.Dropout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(0.3),    #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드롭아웃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(30% 확률)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(64, 10)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    )</a:t>
            </a: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# 가중치 감쇠(L2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Regularization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Optimizer에서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optim.Adam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=0.01,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weight_decay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=1e-4)</a:t>
            </a:r>
          </a:p>
        </p:txBody>
      </p:sp>
    </p:spTree>
    <p:extLst>
      <p:ext uri="{BB962C8B-B14F-4D97-AF65-F5344CB8AC3E}">
        <p14:creationId xmlns:p14="http://schemas.microsoft.com/office/powerpoint/2010/main" val="1496082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571625" y="5057776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F69F-5F21-9965-5FF5-3C563F82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36A6429-98B6-0EEE-AEE1-F592305EC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sp>
        <p:nvSpPr>
          <p:cNvPr id="6" name="제목 7">
            <a:extLst>
              <a:ext uri="{FF2B5EF4-FFF2-40B4-BE49-F238E27FC236}">
                <a16:creationId xmlns:a16="http://schemas.microsoft.com/office/drawing/2014/main" id="{77043BCF-860E-7E9C-4462-D6539A24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9EA13C3-4AEE-C90F-56A0-A0BA7A0E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47D98B-3A5A-EA27-BD67-65ED7F2E9C89}"/>
              </a:ext>
            </a:extLst>
          </p:cNvPr>
          <p:cNvSpPr txBox="1"/>
          <p:nvPr/>
        </p:nvSpPr>
        <p:spPr>
          <a:xfrm>
            <a:off x="589396" y="1280968"/>
            <a:ext cx="80497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beginner tutorials :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beginner/basics/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quickstart_tutorial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실습하기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A247DB-62BC-D297-EEBF-9C1ADD451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97" y="1928092"/>
            <a:ext cx="8660628" cy="43820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348AE8C-9754-5F92-FDF7-7599B2467D74}"/>
              </a:ext>
            </a:extLst>
          </p:cNvPr>
          <p:cNvSpPr/>
          <p:nvPr/>
        </p:nvSpPr>
        <p:spPr>
          <a:xfrm>
            <a:off x="742950" y="2695575"/>
            <a:ext cx="1600201" cy="3171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3AC939-CEC8-D94D-6832-3F219F350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75" y="3048557"/>
            <a:ext cx="2088991" cy="21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7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7E7B-0F19-1E16-CBC6-51DC8973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C9ECA61-0EEC-A8B4-30D5-AF32553C5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4C073D-8DB8-7B88-625B-A1F53826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5671"/>
            <a:ext cx="9248775" cy="3973066"/>
          </a:xfrm>
          <a:prstGeom prst="rect">
            <a:avLst/>
          </a:prstGeom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16A9DD86-4E9A-1A71-D4E7-9627164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22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Hands-on : FNN(feed-forward neural networks) 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4C62C5-03F9-52C5-6C25-FCF862E2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55" y="2124"/>
            <a:ext cx="1775896" cy="108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3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24D2-795A-9770-2CC6-CCD7AC46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F6A87F4-187E-DD65-9466-BADE8AF36D5B}"/>
              </a:ext>
            </a:extLst>
          </p:cNvPr>
          <p:cNvSpPr/>
          <p:nvPr/>
        </p:nvSpPr>
        <p:spPr>
          <a:xfrm>
            <a:off x="1571625" y="5524501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C6451FB-B5B0-2B09-D6E1-0C8D2D6C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476CEA2-8E69-3F61-1640-F7FC2FC71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E6121-98EC-50B1-9F36-DB08FF71541A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137088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C2E-B549-8ABD-6513-E32258CA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vnet">
            <a:extLst>
              <a:ext uri="{FF2B5EF4-FFF2-40B4-BE49-F238E27FC236}">
                <a16:creationId xmlns:a16="http://schemas.microsoft.com/office/drawing/2014/main" id="{0777265A-7A6A-3FD6-6434-AEA4E194B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74" y="4320061"/>
            <a:ext cx="7589576" cy="208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E8F5DCE0-ADFA-B02E-383D-1B77503D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 err="1">
                <a:cs typeface="Segoe UI Light" panose="020B0502040204020203" pitchFamily="34" charset="0"/>
              </a:rPr>
              <a:t>pytorch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CNN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1B57A73-06F2-6C61-D9C9-8F994A78F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D4903-68FD-6AC1-0231-6881CAEB4711}"/>
              </a:ext>
            </a:extLst>
          </p:cNvPr>
          <p:cNvSpPr txBox="1"/>
          <p:nvPr/>
        </p:nvSpPr>
        <p:spPr>
          <a:xfrm>
            <a:off x="8133051" y="4320061"/>
            <a:ext cx="3515476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/>
              </a:rPr>
              <a:t>LeNet-5 CNN Architecture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(1998, Yann LeCun) : </a:t>
            </a:r>
            <a:r>
              <a:rPr lang="ko-KR" altLang="en-US" sz="12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합성곱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신경망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(CNN, Convolutional Neural Network)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68D08-96D4-5F3E-7FA8-0CC9797823D9}"/>
              </a:ext>
            </a:extLst>
          </p:cNvPr>
          <p:cNvSpPr txBox="1"/>
          <p:nvPr/>
        </p:nvSpPr>
        <p:spPr>
          <a:xfrm>
            <a:off x="568282" y="1294392"/>
            <a:ext cx="11080244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 (32x32): 입력 이미지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C1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크기 필터 6개를 사용하여 이미지 특징(선, 모서리 등)을 추출하여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&gt;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28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28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피처 맵(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Map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생성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S2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Subsampling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Pooling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해상도를 줄여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계산량을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줄이고 핵심 특징만 남김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영역을 하나로 합쳐 크기가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14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14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절반이 됨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C3 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Convolutions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크기 16개필터를 사용해 패턴을 찾아낸 결과는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&gt;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16개의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피처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맵이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생성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S4 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Subsampling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16개의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피처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맵이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생성 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F5 &amp; F6 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Connection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추출된 고차원 특징들을 일렬로 펼쳐서 일반적인 신경망(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Layer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연결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F5는 120개, F6은 84개의 뉴런으로 구성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UTPUT (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1x9)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최종 결과물로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숫자 0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~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10개의 클래스 중 어디에 속하는지 확률을 출력</a:t>
            </a:r>
          </a:p>
        </p:txBody>
      </p:sp>
    </p:spTree>
    <p:extLst>
      <p:ext uri="{BB962C8B-B14F-4D97-AF65-F5344CB8AC3E}">
        <p14:creationId xmlns:p14="http://schemas.microsoft.com/office/powerpoint/2010/main" val="183162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24D3-B76F-4EF6-FB36-817559F4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C52BAD-5AF8-5229-B71B-857EAB79667E}"/>
              </a:ext>
            </a:extLst>
          </p:cNvPr>
          <p:cNvSpPr/>
          <p:nvPr/>
        </p:nvSpPr>
        <p:spPr>
          <a:xfrm>
            <a:off x="1571625" y="5972176"/>
            <a:ext cx="7524750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D887314-2584-B9E0-7765-727A4DE0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774DC5C-580B-B56A-B260-7F9A4273C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7A261-A8A9-C748-CFF6-94D8128BE845}"/>
              </a:ext>
            </a:extLst>
          </p:cNvPr>
          <p:cNvSpPr txBox="1"/>
          <p:nvPr/>
        </p:nvSpPr>
        <p:spPr>
          <a:xfrm>
            <a:off x="2477049" y="1345311"/>
            <a:ext cx="6752676" cy="5123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Forward &amp; Backward Pass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&amp;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Loss Function with L1, L2 regularization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Regularizations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with fashion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Understanding basic 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Roadmap to ML &amp; ML</a:t>
            </a:r>
          </a:p>
        </p:txBody>
      </p:sp>
    </p:spTree>
    <p:extLst>
      <p:ext uri="{BB962C8B-B14F-4D97-AF65-F5344CB8AC3E}">
        <p14:creationId xmlns:p14="http://schemas.microsoft.com/office/powerpoint/2010/main" val="342518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A696D-E2D1-CD86-64F4-8CC48809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740FE-6F83-D884-B809-54D148F0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0B4FAC-D084-686F-33F3-B9FDC5D318DC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Road Map to Machine Learning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B29722-9A0A-0A05-CB21-114FCC052BFD}"/>
              </a:ext>
            </a:extLst>
          </p:cNvPr>
          <p:cNvSpPr/>
          <p:nvPr/>
        </p:nvSpPr>
        <p:spPr>
          <a:xfrm>
            <a:off x="2963022" y="1805459"/>
            <a:ext cx="8395972" cy="7664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Tabular, Image, Text, Audio and Timeseries 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C6F37DF-D666-0CD1-FCE3-B454F0DA4276}"/>
              </a:ext>
            </a:extLst>
          </p:cNvPr>
          <p:cNvSpPr/>
          <p:nvPr/>
        </p:nvSpPr>
        <p:spPr>
          <a:xfrm>
            <a:off x="2972550" y="2558415"/>
            <a:ext cx="8386446" cy="76643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Statistics, Probability, Linear Algebra, Calculus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0A30AF5-51AE-C4F8-D19E-E9B23AFEA8B6}"/>
              </a:ext>
            </a:extLst>
          </p:cNvPr>
          <p:cNvSpPr/>
          <p:nvPr/>
        </p:nvSpPr>
        <p:spPr>
          <a:xfrm>
            <a:off x="2972549" y="3324852"/>
            <a:ext cx="8386446" cy="186689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Python, pandas, Web application, Database</a:t>
            </a:r>
          </a:p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Fast API,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streamlit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React, Typescript</a:t>
            </a:r>
          </a:p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Scikit-learn,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learning, NLP, LLM,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 SDK, …..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BB2324-4F94-CDB4-43CB-68DE1EA9A59D}"/>
              </a:ext>
            </a:extLst>
          </p:cNvPr>
          <p:cNvSpPr/>
          <p:nvPr/>
        </p:nvSpPr>
        <p:spPr>
          <a:xfrm>
            <a:off x="2972548" y="5191744"/>
            <a:ext cx="8386446" cy="657225"/>
          </a:xfrm>
          <a:prstGeom prst="rect">
            <a:avLst/>
          </a:prstGeom>
          <a:solidFill>
            <a:srgbClr val="FF9B4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Soft skills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1244DF-632A-E1F0-5A59-6E5B42049C5A}"/>
              </a:ext>
            </a:extLst>
          </p:cNvPr>
          <p:cNvSpPr/>
          <p:nvPr/>
        </p:nvSpPr>
        <p:spPr>
          <a:xfrm>
            <a:off x="1357108" y="2558415"/>
            <a:ext cx="1605914" cy="263332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Hard skills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477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CCFD-463F-7127-518A-5DC5407A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9266F11-C291-BAA9-5735-0A5A7CFF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 err="1">
                <a:cs typeface="Segoe UI Light" panose="020B0502040204020203" pitchFamily="34" charset="0"/>
              </a:rPr>
              <a:t>pytorch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tutorial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2A3FE8-AC2B-31B3-C63B-4CF02B6CB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BC71BA-4391-0FA8-6E62-1CDC58F5E7DD}"/>
              </a:ext>
            </a:extLst>
          </p:cNvPr>
          <p:cNvSpPr txBox="1"/>
          <p:nvPr/>
        </p:nvSpPr>
        <p:spPr>
          <a:xfrm>
            <a:off x="950697" y="1402638"/>
            <a:ext cx="105531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Installation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 Basics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With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Training Pipeline: Model, Loss, and Optimizer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Logistic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and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DataLoader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Transforms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Softmax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Cross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Feed-Forward Neural Net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Convolutional Neural Net (CNN)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Transfer Learning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Tensorboard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Save and Load Models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60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2899</TotalTime>
  <Words>2621</Words>
  <Application>Microsoft Office PowerPoint</Application>
  <PresentationFormat>와이드스크린</PresentationFormat>
  <Paragraphs>433</Paragraphs>
  <Slides>29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D2Coding</vt:lpstr>
      <vt:lpstr>맑은 고딕</vt:lpstr>
      <vt:lpstr>맑은 고딕 Semilight</vt:lpstr>
      <vt:lpstr>Batang</vt:lpstr>
      <vt:lpstr>ADLaM Display</vt:lpstr>
      <vt:lpstr>Arial</vt:lpstr>
      <vt:lpstr>Cambria Math</vt:lpstr>
      <vt:lpstr>Segoe UI Light</vt:lpstr>
      <vt:lpstr>Wingdings</vt:lpstr>
      <vt:lpstr>WelcomeDoc</vt:lpstr>
      <vt:lpstr>Deep Learning II</vt:lpstr>
      <vt:lpstr>Contents</vt:lpstr>
      <vt:lpstr>The Training Loop </vt:lpstr>
      <vt:lpstr>Generate Data </vt:lpstr>
      <vt:lpstr>1. from scratch</vt:lpstr>
      <vt:lpstr>2. optimizer</vt:lpstr>
      <vt:lpstr>3. model (like pro)</vt:lpstr>
      <vt:lpstr>Three Gradient Descent Method</vt:lpstr>
      <vt:lpstr>Gradient Descent Methods</vt:lpstr>
      <vt:lpstr>Gradient Descent &amp; Stochastic Gradient Descent</vt:lpstr>
      <vt:lpstr>Contents</vt:lpstr>
      <vt:lpstr>Adam</vt:lpstr>
      <vt:lpstr>optimizer simulation</vt:lpstr>
      <vt:lpstr>optimizer simulation</vt:lpstr>
      <vt:lpstr>optimizer simulation</vt:lpstr>
      <vt:lpstr>Contents</vt:lpstr>
      <vt:lpstr>optimizer simulation</vt:lpstr>
      <vt:lpstr>Visualization of L1, L2 Norms with Loss Fuction</vt:lpstr>
      <vt:lpstr>Contents</vt:lpstr>
      <vt:lpstr>Regularizations to reduce Overfitting(high variance)</vt:lpstr>
      <vt:lpstr>Regularizations with pytorch</vt:lpstr>
      <vt:lpstr>Contents</vt:lpstr>
      <vt:lpstr>Hands-on : FNN(feed-forward neural networks) </vt:lpstr>
      <vt:lpstr>Hands-on : FNN(feed-forward neural networks) </vt:lpstr>
      <vt:lpstr>Contents</vt:lpstr>
      <vt:lpstr>pytorch CNN</vt:lpstr>
      <vt:lpstr>Contents</vt:lpstr>
      <vt:lpstr>PowerPoint 프레젠테이션</vt:lpstr>
      <vt:lpstr>pytorch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99</cp:revision>
  <dcterms:created xsi:type="dcterms:W3CDTF">2026-04-06T01:00:39Z</dcterms:created>
  <dcterms:modified xsi:type="dcterms:W3CDTF">2026-05-06T01:24:38Z</dcterms:modified>
  <cp:version/>
</cp:coreProperties>
</file>