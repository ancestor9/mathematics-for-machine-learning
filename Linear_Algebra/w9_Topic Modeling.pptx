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56" r:id="rId2"/>
    <p:sldId id="1094" r:id="rId3"/>
    <p:sldId id="1113" r:id="rId4"/>
    <p:sldId id="1114" r:id="rId5"/>
    <p:sldId id="1116" r:id="rId6"/>
    <p:sldId id="1117" r:id="rId7"/>
    <p:sldId id="1121" r:id="rId8"/>
    <p:sldId id="1118" r:id="rId9"/>
    <p:sldId id="307" r:id="rId10"/>
    <p:sldId id="1096" r:id="rId11"/>
    <p:sldId id="1097" r:id="rId12"/>
    <p:sldId id="1095" r:id="rId13"/>
    <p:sldId id="1098" r:id="rId14"/>
    <p:sldId id="1119" r:id="rId15"/>
    <p:sldId id="1099" r:id="rId16"/>
    <p:sldId id="1104" r:id="rId17"/>
    <p:sldId id="1103" r:id="rId18"/>
    <p:sldId id="1105" r:id="rId19"/>
    <p:sldId id="1106" r:id="rId20"/>
    <p:sldId id="1120" r:id="rId21"/>
    <p:sldId id="1102" r:id="rId22"/>
    <p:sldId id="1107" r:id="rId23"/>
    <p:sldId id="1108" r:id="rId24"/>
    <p:sldId id="1109" r:id="rId25"/>
    <p:sldId id="1110" r:id="rId26"/>
    <p:sldId id="1111" r:id="rId27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094"/>
            <p14:sldId id="1113"/>
            <p14:sldId id="1114"/>
            <p14:sldId id="1116"/>
            <p14:sldId id="1117"/>
            <p14:sldId id="1121"/>
            <p14:sldId id="1118"/>
            <p14:sldId id="307"/>
            <p14:sldId id="1096"/>
            <p14:sldId id="1097"/>
            <p14:sldId id="1095"/>
            <p14:sldId id="1098"/>
            <p14:sldId id="1119"/>
            <p14:sldId id="1099"/>
            <p14:sldId id="1104"/>
            <p14:sldId id="1103"/>
            <p14:sldId id="1105"/>
            <p14:sldId id="1106"/>
            <p14:sldId id="1120"/>
            <p14:sldId id="1102"/>
            <p14:sldId id="1107"/>
            <p14:sldId id="1108"/>
            <p14:sldId id="1109"/>
            <p14:sldId id="1110"/>
            <p14:sldId id="1111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08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2026-06-03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2026-06-03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37279-FA95-57FD-B2E0-B2C29D28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50D63E-DC71-4D37-5D4F-468F49D2D2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898BEE-6031-34C6-F089-690D94320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C5BB30-C1B6-C7CA-4B6D-82E37F000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697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0C22E-EC42-F4F1-FA82-7FA40544F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58139A3-93A9-A095-97E2-695310B35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EC294F-85EF-7933-AA74-C6D1698305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CFFDD8-8EA9-3A89-5438-66A1FA1510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386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DA59-BB69-20E8-4650-13CB93A6B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369E3B-8EFA-3122-4A57-32373809A1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1D5CD7-3E32-EF51-1A7B-1AADC1AB7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ECAAF5-B771-5233-3E51-A8AAE68A8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0602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8BE7E-5ADF-6F38-F3D1-44B90489F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4197FC-791F-7FFA-EAAF-B612C972D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3DDA5E-916F-C531-C2B0-53F61473E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5BCC35-5AF6-832C-EF67-97B602BA8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2918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13A0-B837-DE1B-1185-62B6F4408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E24524-61D4-F864-7D15-BBAEAE29F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F32CC4D-59CF-6559-5419-73C84806A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1B822C-C4CE-725D-3284-6F703A898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49133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4CDF-58ED-44E9-C2B2-1F01C190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CA741A-3D4D-F9AE-F19E-D12888745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61C410-98C4-B130-6B3F-0D62EEC14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7FDEB8-E518-24DA-7921-3F2ECCC5E0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8420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E0ED-DA8F-B163-37A6-7DBF270F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D413A3-37DD-2EE0-769B-62A5AA245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871A5E-32A9-1D25-5E36-47F13F334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908B45-7F07-B905-3C46-865FD9931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1618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77BAA-B1F8-BAA3-8907-DC73D99F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134869-1347-C420-E675-DB42F837C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639132-0F93-3BFD-46F6-E0024D135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D97547-9225-314A-862E-BB2DCCF13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043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50642-FEAD-FDCD-55AD-4A2F649AA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F5D89B-556F-3184-70F1-106729057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C2E5AA-1636-906F-7C16-1192768AD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56417D-51F3-0CAC-4ED0-CF5059AC7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4502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37FA0-D1F5-3AA3-8FFB-5391DDE2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84163D-2650-3656-15C5-C27B0F846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0243BC-AE4E-9C98-8018-98AF9917D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749A84-DF08-2C41-C097-50B342779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624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FB92D-8472-E871-DCE5-6DCE7FEB8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8AE0A3-95BC-D8A9-BF2C-8421F7868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156E8B-701C-DAF7-DC7B-199DDA2BF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963D5-E3B2-032B-0BE3-415052F38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913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5B00-B89C-E80C-B7DD-FA35CB2D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5BAE313-FF5A-F73E-A512-46797D5CB8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063466-F1BB-2DB7-79FC-B90F10304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833E1-00E1-A42E-0BCC-C0A90ECB00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6293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A7293-C069-9BAC-0CF5-996D340D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9212E5-B850-2008-EB5D-488EAF55A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771539-1877-8FFE-5FC5-78D041BC2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886419-1D6C-1891-6183-CAC6D8813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07600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EE98D-08A2-4DE7-2A57-A60540007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674600-7571-48AC-66B3-D73DC9285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F6B308-4DA7-7D1F-39DD-B1561A78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DA455D-AC52-21A0-4D40-AA452195A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3892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CDE34-04A8-6FFD-44B3-12994EE8C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B331C4-4DD7-F766-FBBC-0EB76092A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917240-AF5A-5C50-A10E-6D9E6016A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A3137-87A5-34EA-328C-F563739D5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7737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5334-4A62-AE64-2003-F96E1A6AE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BF834E-496F-4BA1-1FDB-488377E02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A2F1AE-08AD-2C52-57B2-D9961E5F1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237964-3842-06DD-50F7-D785A90CD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853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65D33-DDE8-EACB-37E5-9C4DECB7F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F7A66D-30C6-63CC-A81A-DF80F877B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B1DAC1-FD13-F776-B02D-2100070F9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D2DD74-E650-75F1-4D5C-EC7ED18FF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55757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D80B1-B43F-3FCA-4001-5FDBF677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D35C7F-BC5F-30EA-B345-0736436D1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1EE87D-F4C4-1040-9EFE-D8FA11EAF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B62F6C-E88A-6995-6270-EFEB46B6A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95630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73F5-2EC9-097B-D15A-A9C43E00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FE4175-2B91-69E9-2E6A-D06E08EA3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5EC8BE-69A0-B38D-4E43-2A05FC548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6217E-8010-7E62-F692-79663CBA7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39325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6DE5D-8EF5-3AE7-CC47-F5329815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74A2CC-7D62-0E24-109D-24D73E9C48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46D5F7-27A5-E732-8BF8-5582F5CCA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9A65C7-C56F-0D8C-9955-83ADF50D67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70909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5FC85-DF3B-EB4A-F2C1-261F47A7C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70ED5C-CB04-4A62-8F88-FFCC51D82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EF0FB2-1048-4145-CBBB-109BB1B55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136E78-7108-9F11-5D42-20825C6D4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73471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ED744-5815-3EA4-A0DC-88B796044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8AD6CB-5E79-E410-F9C0-4E4DD7971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70B165-5FCB-0C3F-7D74-774A24F53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C3C31A-77D5-441F-96A0-54D658D6DE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92411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0DB04-7960-C9FD-D3F1-98E69804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B65EF1-D553-C38B-7D40-401FD68FC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F8C331-FC81-5D7A-F8E6-CCE98E557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DB9DDF-E257-CB49-ACC6-2FB746F5B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65811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B6D3-8FBF-6E36-9534-8A9A3299E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EE699E-E95D-2211-7EDA-8E66CA15A6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92301E-C0D6-E380-B1EF-CDE4F1674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7DB122-A626-AC01-D84B-8DE47CC8BE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45790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12C9F-3AC2-7D9F-3D63-36D41E26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4117D29-12FF-D621-C4DC-C83B2D390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2046C0C-39F5-AC91-967A-0B5875E0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A1261C-F34C-E007-0FD2-CF42FA677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58408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2026-06-03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2026-06-03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Eigenvalues_and_eigenvectors" TargetMode="External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hyperlink" Target="https://jakevdp.github.io/PythonDataScienceHandbook/05.09-principal-component-analysis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5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.png"/><Relationship Id="rId4" Type="http://schemas.openxmlformats.org/officeDocument/2006/relationships/image" Target="../media/image24.png"/><Relationship Id="rId9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ikidocs.net/24949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5400" dirty="0">
                <a:solidFill>
                  <a:schemeClr val="bg1"/>
                </a:solidFill>
              </a:rPr>
              <a:t>Topic Modeling</a:t>
            </a:r>
            <a:endParaRPr lang="ko-KR" altLang="en-US" sz="54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800" dirty="0">
                <a:solidFill>
                  <a:schemeClr val="bg1"/>
                </a:solidFill>
              </a:rPr>
              <a:t> Matrix Decomposition (</a:t>
            </a:r>
            <a:r>
              <a:rPr lang="ko-KR" altLang="en-US" sz="2800" dirty="0">
                <a:solidFill>
                  <a:schemeClr val="bg1"/>
                </a:solidFill>
              </a:rPr>
              <a:t>행렬분해</a:t>
            </a:r>
            <a:r>
              <a:rPr lang="en-US" altLang="ko-KR" sz="2800" dirty="0">
                <a:solidFill>
                  <a:schemeClr val="bg1"/>
                </a:solidFill>
              </a:rPr>
              <a:t>)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125F6-F24E-9FB4-6ECA-D22604C4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B0C61D8-1616-C6B8-9FEC-D11B28CD4BF2}"/>
              </a:ext>
            </a:extLst>
          </p:cNvPr>
          <p:cNvSpPr/>
          <p:nvPr/>
        </p:nvSpPr>
        <p:spPr>
          <a:xfrm>
            <a:off x="1457324" y="1600201"/>
            <a:ext cx="10191202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A47D1732-55A1-BAC2-7A11-146984E7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BD6D622-6C11-B524-84D3-DE18F25D8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C1D6EC-EA81-70BB-F0CB-C30EA60FDF8D}"/>
              </a:ext>
            </a:extLst>
          </p:cNvPr>
          <p:cNvSpPr txBox="1"/>
          <p:nvPr/>
        </p:nvSpPr>
        <p:spPr>
          <a:xfrm>
            <a:off x="1957661" y="1537527"/>
            <a:ext cx="9840639" cy="390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스펙트럼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(Spectral Decomposition)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특이값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(Singular Value Decomposition, SVD)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SVD vs. PCA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LDA(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잠재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디리클레르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할당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209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12F8F-967B-B9A1-F09B-92AA79F6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40C32D2-6865-99AF-59DC-9D0143334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Spectral 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6E71884-D971-2680-B15F-64A76FC8D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FCE6DE-6E9A-1077-1B12-5EC7694B8E9F}"/>
                  </a:ext>
                </a:extLst>
              </p:cNvPr>
              <p:cNvSpPr txBox="1"/>
              <p:nvPr/>
            </p:nvSpPr>
            <p:spPr>
              <a:xfrm>
                <a:off x="521206" y="1442057"/>
                <a:ext cx="11127319" cy="8788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행렬을 고유한 성분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빛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들로 분해하는 의미로 흰색 빛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을 프리즘에 통과시키면 빨강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),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노랑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),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파랑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등의 고유한 스펙트럼 성분으로 쪼개지는 것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3FCE6DE-6E9A-1077-1B12-5EC7694B8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6" y="1442057"/>
                <a:ext cx="11127319" cy="878895"/>
              </a:xfrm>
              <a:prstGeom prst="rect">
                <a:avLst/>
              </a:prstGeom>
              <a:blipFill>
                <a:blip r:embed="rId3"/>
                <a:stretch>
                  <a:fillRect l="-438" b="-10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그림 29">
            <a:extLst>
              <a:ext uri="{FF2B5EF4-FFF2-40B4-BE49-F238E27FC236}">
                <a16:creationId xmlns:a16="http://schemas.microsoft.com/office/drawing/2014/main" id="{21CC6D92-9564-BAF6-0574-83AB13CDF93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526042" y="2674873"/>
            <a:ext cx="3646283" cy="490435"/>
          </a:xfrm>
          <a:prstGeom prst="rect">
            <a:avLst/>
          </a:prstGeom>
        </p:spPr>
      </p:pic>
      <p:pic>
        <p:nvPicPr>
          <p:cNvPr id="1027" name="Picture 3" descr="무지개 빛이 나오는 다채로운 물체">
            <a:extLst>
              <a:ext uri="{FF2B5EF4-FFF2-40B4-BE49-F238E27FC236}">
                <a16:creationId xmlns:a16="http://schemas.microsoft.com/office/drawing/2014/main" id="{C4951E4B-DC06-A8AA-F8CC-3AC58B1BDA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042" y="3429000"/>
            <a:ext cx="4110038" cy="274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4141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105F4-B179-8C15-5A03-A117C4BF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F61D074-B5A5-2FFE-4CA8-D8BF2E01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Spectral 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D14C2AF-2F81-18DD-D67A-3B4EF98CFE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238A12-1C80-45E6-3876-7853899D4815}"/>
                  </a:ext>
                </a:extLst>
              </p:cNvPr>
              <p:cNvSpPr txBox="1"/>
              <p:nvPr/>
            </p:nvSpPr>
            <p:spPr>
              <a:xfrm>
                <a:off x="634904" y="1358808"/>
                <a:ext cx="11214196" cy="878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어떤 복잡한 행렬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를 변형시키지 않는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,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독립적이고 순수한 고유 성분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고유 값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과 고유벡터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들의 가중치 합으로 완벽하게 분해한다는 의미로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Eigenvalue Decomposition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이라고도 함</a:t>
                </a:r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238A12-1C80-45E6-3876-7853899D4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04" y="1358808"/>
                <a:ext cx="11214196" cy="878446"/>
              </a:xfrm>
              <a:prstGeom prst="rect">
                <a:avLst/>
              </a:prstGeom>
              <a:blipFill>
                <a:blip r:embed="rId3"/>
                <a:stretch>
                  <a:fillRect l="-435" b="-10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A6013B49-FF49-8148-CF2B-5725A8ADAC2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70430" y="2654638"/>
            <a:ext cx="1527860" cy="5261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148BDC0-ACB4-E6A8-D0B0-934CFD24CE1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970430" y="3144214"/>
            <a:ext cx="7580527" cy="17201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901DD4-75FB-1A18-1311-E19ABE063A64}"/>
                  </a:ext>
                </a:extLst>
              </p:cNvPr>
              <p:cNvSpPr txBox="1"/>
              <p:nvPr/>
            </p:nvSpPr>
            <p:spPr>
              <a:xfrm>
                <a:off x="1970430" y="4983632"/>
                <a:ext cx="9071236" cy="13120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ko-KR" altLang="en-US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: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고유값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(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Scalar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×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</m:ctrlPr>
                      </m:sSubPr>
                      <m:e>
                        <m:r>
                          <a:rPr lang="en-US" altLang="ko-KR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𝜆</m:t>
                        </m:r>
                      </m:e>
                      <m:sub>
                        <m:r>
                          <a:rPr lang="en-US" altLang="ko-KR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: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크기가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1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이고 서로 수직인 고유벡터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(Column Vector,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×1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</m:ctrlPr>
                      </m:sSubSupPr>
                      <m:e>
                        <m:r>
                          <a:rPr lang="ko-KR" altLang="en-US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𝑣</m:t>
                        </m:r>
                      </m:e>
                      <m:sub>
                        <m:r>
                          <a:rPr lang="ko-KR" altLang="en-US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𝑖</m:t>
                        </m:r>
                      </m:sub>
                      <m:sup>
                        <m:r>
                          <a:rPr lang="ko-KR" altLang="en-US" dirty="0">
                            <a:latin typeface="Cambria Math" panose="02040503050406030204" pitchFamily="18" charset="0"/>
                            <a:ea typeface="D2Coding" panose="020B0609020101020101" pitchFamily="49" charset="-127"/>
                            <a:cs typeface="맑은 고딕 Semilight" panose="020B0502040204020203" pitchFamily="50" charset="-127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: 고유벡터의 전치 (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Row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 err="1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Vector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1×</m:t>
                    </m:r>
                    <m:r>
                      <a:rPr lang="en-US" altLang="ko-KR" dirty="0">
                        <a:latin typeface="Cambria Math" panose="02040503050406030204" pitchFamily="18" charset="0"/>
                        <a:ea typeface="D2Coding" panose="020B0609020101020101" pitchFamily="49" charset="-127"/>
                        <a:cs typeface="맑은 고딕 Semilight" panose="020B0502040204020203" pitchFamily="50" charset="-127"/>
                      </a:rPr>
                      <m:t>𝑛</m:t>
                    </m:r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901DD4-75FB-1A18-1311-E19ABE063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430" y="4983632"/>
                <a:ext cx="9071236" cy="1312026"/>
              </a:xfrm>
              <a:prstGeom prst="rect">
                <a:avLst/>
              </a:prstGeom>
              <a:blipFill>
                <a:blip r:embed="rId6"/>
                <a:stretch>
                  <a:fillRect b="-65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그림 16">
            <a:extLst>
              <a:ext uri="{FF2B5EF4-FFF2-40B4-BE49-F238E27FC236}">
                <a16:creationId xmlns:a16="http://schemas.microsoft.com/office/drawing/2014/main" id="{6B5BE176-E7ED-F3FF-C5D6-152AEC2607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8291" y="2719294"/>
            <a:ext cx="4641216" cy="36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958AD-826D-AE5C-9628-3A4FA8E29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AF3A3B6-8D91-93A7-326D-6C096AA4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Spectral 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B452CD7-FF0B-1EC4-D824-CAD423DC6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B7915D-5244-7C96-3A76-3FA5494FE38C}"/>
                  </a:ext>
                </a:extLst>
              </p:cNvPr>
              <p:cNvSpPr txBox="1"/>
              <p:nvPr/>
            </p:nvSpPr>
            <p:spPr>
              <a:xfrm>
                <a:off x="634904" y="1277528"/>
                <a:ext cx="11214196" cy="879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행렬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=[[2,1], [1,2]]</m:t>
                    </m:r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의 독립적이고 순수한 고유벡터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는 행렬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의 선형변환에도 방향을 유지하되 고유 값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만큼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각각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x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축과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 y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축으로 </a:t>
                </a:r>
                <a:r>
                  <a:rPr lang="en-US" altLang="ko-KR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scaling </a:t>
                </a:r>
                <a:r>
                  <a:rPr lang="ko-KR" altLang="en-US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되는 이미지를 이해하자 </a:t>
                </a:r>
                <a:endParaRPr lang="en-US" altLang="ko-KR" dirty="0">
                  <a:latin typeface="D2Coding" panose="020B0609020101020101" pitchFamily="49" charset="-127"/>
                  <a:ea typeface="D2Coding" panose="020B0609020101020101" pitchFamily="49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B7915D-5244-7C96-3A76-3FA5494FE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04" y="1277528"/>
                <a:ext cx="11214196" cy="879984"/>
              </a:xfrm>
              <a:prstGeom prst="rect">
                <a:avLst/>
              </a:prstGeom>
              <a:blipFill>
                <a:blip r:embed="rId3"/>
                <a:stretch>
                  <a:fillRect l="-435" b="-104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7398CC32-BCEC-787F-55EF-2EC736799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484" y="2509464"/>
            <a:ext cx="3826199" cy="382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869B743-AFA9-B304-9050-6F0D46614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80" y="4087806"/>
            <a:ext cx="5245196" cy="8428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A51B3EA-E069-B27B-2376-E1206AEAA2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80" y="5245279"/>
            <a:ext cx="4191640" cy="8052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00FA49-AE30-A9BD-FE24-DC022AE5E727}"/>
                  </a:ext>
                </a:extLst>
              </p:cNvPr>
              <p:cNvSpPr txBox="1"/>
              <p:nvPr/>
            </p:nvSpPr>
            <p:spPr>
              <a:xfrm>
                <a:off x="634904" y="2665181"/>
                <a:ext cx="6698820" cy="11079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고유 값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 : x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축과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y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축으로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3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과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1 scaling 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설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명된 분산 비율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(Explained Variance Ratio) </a:t>
                </a:r>
                <a:endParaRPr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endParaRPr lang="en-US" altLang="ko-KR" sz="1600" dirty="0">
                  <a:latin typeface="D2Coding" panose="020B0609020101020101" pitchFamily="49" charset="-127"/>
                  <a:ea typeface="D2Coding" panose="020B0609020101020101" pitchFamily="49" charset="-127"/>
                  <a:cs typeface="맑은 고딕 Semilight" panose="020B0502040204020203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v"/>
                </a:pP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고유벡터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</a:rPr>
                  <a:t>) : (1, 1), (1, -1)  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 </a:t>
                </a:r>
                <a:r>
                  <a:rPr lang="ko-KR" altLang="en-US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주성분</a:t>
                </a:r>
                <a:r>
                  <a:rPr lang="en-US" altLang="ko-KR" sz="1600" dirty="0">
                    <a:latin typeface="D2Coding" panose="020B0609020101020101" pitchFamily="49" charset="-127"/>
                    <a:ea typeface="D2Coding" panose="020B0609020101020101" pitchFamily="49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(Principal Component)</a:t>
                </a:r>
                <a:endParaRPr lang="ko-KR" altLang="en-US" sz="16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00FA49-AE30-A9BD-FE24-DC022AE5E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904" y="2665181"/>
                <a:ext cx="6698820" cy="1107996"/>
              </a:xfrm>
              <a:prstGeom prst="rect">
                <a:avLst/>
              </a:prstGeom>
              <a:blipFill>
                <a:blip r:embed="rId7"/>
                <a:stretch>
                  <a:fillRect l="-364" t="-2198" r="-455" b="-27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279E256-DE18-D41D-7B30-85F33C10E13C}"/>
              </a:ext>
            </a:extLst>
          </p:cNvPr>
          <p:cNvSpPr txBox="1"/>
          <p:nvPr/>
        </p:nvSpPr>
        <p:spPr>
          <a:xfrm>
            <a:off x="7445484" y="2242069"/>
            <a:ext cx="3826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8"/>
              </a:rPr>
              <a:t>wiki/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8"/>
              </a:rPr>
              <a:t>Eigenvalues_and_eigenvectors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9871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333F2-EAB4-FF09-3920-7D32E8FA9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2DD2B49-365B-B505-D013-8396C9BEE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  <a:sym typeface="Wingdings" panose="05000000000000000000" pitchFamily="2" charset="2"/>
              </a:rPr>
              <a:t>Principal Component Analysis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B55FFE9-6F2A-5FAD-12E9-EBE674D03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FC4CD-3A89-7671-8847-699B65B2A56E}"/>
              </a:ext>
            </a:extLst>
          </p:cNvPr>
          <p:cNvSpPr txBox="1">
            <a:spLocks/>
          </p:cNvSpPr>
          <p:nvPr/>
        </p:nvSpPr>
        <p:spPr>
          <a:xfrm>
            <a:off x="521207" y="1244599"/>
            <a:ext cx="10939273" cy="12918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 </a:t>
            </a:r>
            <a:r>
              <a:rPr lang="en-US" altLang="ko-KR" sz="1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Handbook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의 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 Depth: Principal Component Analysis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에서 코드를 다운받아 주성분분석 코드를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이해하고 실습</a:t>
            </a:r>
            <a:endParaRPr lang="en-US" altLang="ko-KR" sz="1800" cap="none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Picture 4" descr="Book Cover">
            <a:extLst>
              <a:ext uri="{FF2B5EF4-FFF2-40B4-BE49-F238E27FC236}">
                <a16:creationId xmlns:a16="http://schemas.microsoft.com/office/drawing/2014/main" id="{AAC80417-CFAF-70D0-9E24-F443476EE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1" y="2362200"/>
            <a:ext cx="2674620" cy="3530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EB2229-7191-99D3-B01E-A7DF937F8E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8124" y="2281675"/>
            <a:ext cx="2752866" cy="333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774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97E14-4E93-6C39-B667-1B65AF6B7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D632238-216F-5A45-C570-6855057D4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  <a:sym typeface="Wingdings" panose="05000000000000000000" pitchFamily="2" charset="2"/>
              </a:rPr>
              <a:t>Principal Component Analysis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37D3045-21FF-B8FC-118C-D12C756CC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5E6FB0-EE13-333F-0A4A-B3166F7B677C}"/>
              </a:ext>
            </a:extLst>
          </p:cNvPr>
          <p:cNvSpPr txBox="1">
            <a:spLocks/>
          </p:cNvSpPr>
          <p:nvPr/>
        </p:nvSpPr>
        <p:spPr>
          <a:xfrm>
            <a:off x="521207" y="1444269"/>
            <a:ext cx="10939273" cy="88081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아래 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개의 데이터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(100 by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2)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가상 데이터를 대상으로 주성분을 찾아내라</a:t>
            </a:r>
            <a:endParaRPr lang="en-US" altLang="ko-KR" sz="1800" cap="none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mean-centering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과 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standard scaling</a:t>
            </a:r>
            <a:r>
              <a:rPr lang="ko-KR" altLang="en-US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 대해 이해하자</a:t>
            </a:r>
            <a:endParaRPr lang="en-US" altLang="ko-KR" sz="1800" cap="none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EC64F3-B7B3-C482-0FBF-CDDA1C492440}"/>
              </a:ext>
            </a:extLst>
          </p:cNvPr>
          <p:cNvSpPr txBox="1"/>
          <p:nvPr/>
        </p:nvSpPr>
        <p:spPr>
          <a:xfrm>
            <a:off x="853440" y="2859731"/>
            <a:ext cx="10861040" cy="88081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data1 =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([ [2.5, 2.4], [0.5, 0.7], [2.2, 2.9], [1.9, 2.2], [3.1, 3.0], [2.3, 2.7], [2.0, 1.6], [1.0, 1.1], [1.5, 1.6], [1.1, 0.9] ])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0EE8E-3CE4-4258-0EF7-4204BA426FA1}"/>
              </a:ext>
            </a:extLst>
          </p:cNvPr>
          <p:cNvSpPr txBox="1"/>
          <p:nvPr/>
        </p:nvSpPr>
        <p:spPr>
          <a:xfrm>
            <a:off x="853440" y="4274312"/>
            <a:ext cx="10861040" cy="88081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data2 =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np.array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([ [45120000, 1], [62340000, 2], [38900000, 0], [51050000, 1], [73120000, 3], [49800000, 2], [55400000, 1], [31200000, 0], [66500000, 2], [42100000, 1] ]) 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550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80D44-85EA-84E3-E211-6180F78C5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E517CBB-26E1-57F2-B9B5-80B1CC78BB62}"/>
              </a:ext>
            </a:extLst>
          </p:cNvPr>
          <p:cNvSpPr/>
          <p:nvPr/>
        </p:nvSpPr>
        <p:spPr>
          <a:xfrm>
            <a:off x="1457324" y="2219961"/>
            <a:ext cx="10191202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10F68A52-4A32-5151-FD0E-4046CA01A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13B4017-910C-2F30-940D-3B8C5B6A6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8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A82BDD-3C92-60EE-514C-663426A94DF8}"/>
              </a:ext>
            </a:extLst>
          </p:cNvPr>
          <p:cNvSpPr txBox="1"/>
          <p:nvPr/>
        </p:nvSpPr>
        <p:spPr>
          <a:xfrm>
            <a:off x="1957661" y="1537527"/>
            <a:ext cx="9840639" cy="390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스펙트럼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(Spectral Decomposition)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특이값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(Singular Value Decomposition, SVD)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SVD vs. PCA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LDA(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잠재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디리클레르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할당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070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FFB1-E1E2-8E62-3792-451CCC9C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9AFAD1A-77BE-E3E5-1484-C0ADD05F2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Matrix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05552FD-DD84-8A7B-2402-095393843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F76213-AECF-41A5-8F1B-E3555F9E58D4}"/>
              </a:ext>
            </a:extLst>
          </p:cNvPr>
          <p:cNvSpPr txBox="1"/>
          <p:nvPr/>
        </p:nvSpPr>
        <p:spPr>
          <a:xfrm>
            <a:off x="634904" y="1358808"/>
            <a:ext cx="11214196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100,000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개의 문서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기사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1,000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개의 단어로 표현된 원본 행렬에서 가장 중요한 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5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개의 성분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(Topic)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만 남겨 </a:t>
            </a:r>
            <a:r>
              <a:rPr lang="ko-KR" altLang="en-US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저차원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행렬로 압축하는 과정을 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절단된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특이값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분해</a:t>
            </a:r>
            <a:r>
              <a:rPr lang="en-US" altLang="ko-KR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(Truncated SVD)</a:t>
            </a:r>
            <a:r>
              <a:rPr lang="ko-KR" altLang="en-US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라고 함</a:t>
            </a:r>
            <a:endParaRPr lang="en-US" altLang="ko-KR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62B312-8F08-6092-4FE5-3AB1B5CE41A8}"/>
              </a:ext>
            </a:extLst>
          </p:cNvPr>
          <p:cNvSpPr txBox="1"/>
          <p:nvPr/>
        </p:nvSpPr>
        <p:spPr>
          <a:xfrm>
            <a:off x="1651000" y="6083300"/>
            <a:ext cx="1511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문서</a:t>
            </a:r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-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단어 행렬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86B72B6-C096-D9E8-8385-47E1B43B6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8843" y="4419957"/>
            <a:ext cx="3040892" cy="12950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612283-2D84-DC25-D572-AC3E7C4D5AFA}"/>
              </a:ext>
            </a:extLst>
          </p:cNvPr>
          <p:cNvSpPr txBox="1"/>
          <p:nvPr/>
        </p:nvSpPr>
        <p:spPr>
          <a:xfrm>
            <a:off x="7190826" y="6083300"/>
            <a:ext cx="1511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주제</a:t>
            </a:r>
            <a:r>
              <a:rPr lang="en-US" altLang="ko-KR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- </a:t>
            </a:r>
            <a:r>
              <a:rPr lang="ko-KR" altLang="en-US" sz="1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문서 행렬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800A197-6437-3AF3-C382-F18525D160F6}"/>
              </a:ext>
            </a:extLst>
          </p:cNvPr>
          <p:cNvSpPr/>
          <p:nvPr/>
        </p:nvSpPr>
        <p:spPr>
          <a:xfrm>
            <a:off x="1663699" y="3175000"/>
            <a:ext cx="1738619" cy="2816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8E7773F-40E0-77FE-31E1-E882F12EBF62}"/>
              </a:ext>
            </a:extLst>
          </p:cNvPr>
          <p:cNvSpPr/>
          <p:nvPr/>
        </p:nvSpPr>
        <p:spPr>
          <a:xfrm>
            <a:off x="4128828" y="3175000"/>
            <a:ext cx="600656" cy="2816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C1EFB07-4F18-5C31-8EA8-A2D88879C1E9}"/>
              </a:ext>
            </a:extLst>
          </p:cNvPr>
          <p:cNvSpPr/>
          <p:nvPr/>
        </p:nvSpPr>
        <p:spPr>
          <a:xfrm rot="5400000">
            <a:off x="7214745" y="1834339"/>
            <a:ext cx="479311" cy="31558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6C6EDF1-1CBD-D410-4BE0-731C5CF32E43}"/>
              </a:ext>
            </a:extLst>
          </p:cNvPr>
          <p:cNvSpPr/>
          <p:nvPr/>
        </p:nvSpPr>
        <p:spPr>
          <a:xfrm>
            <a:off x="5023497" y="3172605"/>
            <a:ext cx="600656" cy="479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1EDEB7-0970-EF3C-8D42-1973797519BE}"/>
                  </a:ext>
                </a:extLst>
              </p:cNvPr>
              <p:cNvSpPr txBox="1"/>
              <p:nvPr/>
            </p:nvSpPr>
            <p:spPr>
              <a:xfrm>
                <a:off x="2386531" y="4239392"/>
                <a:ext cx="42287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60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1EDEB7-0970-EF3C-8D42-197379751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6531" y="4239392"/>
                <a:ext cx="422873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78C3F4-02E7-75A6-7256-FFCBC257E89D}"/>
                  </a:ext>
                </a:extLst>
              </p:cNvPr>
              <p:cNvSpPr txBox="1"/>
              <p:nvPr/>
            </p:nvSpPr>
            <p:spPr>
              <a:xfrm>
                <a:off x="4205596" y="4239392"/>
                <a:ext cx="45307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F78C3F4-02E7-75A6-7256-FFCBC257E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596" y="4239392"/>
                <a:ext cx="453073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399F27-3811-FF52-6B17-962A63CFEA2F}"/>
                  </a:ext>
                </a:extLst>
              </p:cNvPr>
              <p:cNvSpPr txBox="1"/>
              <p:nvPr/>
            </p:nvSpPr>
            <p:spPr>
              <a:xfrm>
                <a:off x="5048897" y="4239392"/>
                <a:ext cx="421141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600" i="1">
                          <a:latin typeface="Cambria Math" panose="02040503050406030204" pitchFamily="18" charset="0"/>
                        </a:rPr>
                        <m:t>𝛴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8399F27-3811-FF52-6B17-962A63CFE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8897" y="4239392"/>
                <a:ext cx="421141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7E1F5A-9F8E-1127-8440-6A3D8831BF4C}"/>
                  </a:ext>
                </a:extLst>
              </p:cNvPr>
              <p:cNvSpPr txBox="1"/>
              <p:nvPr/>
            </p:nvSpPr>
            <p:spPr>
              <a:xfrm>
                <a:off x="7190826" y="4239392"/>
                <a:ext cx="67685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ko-KR" altLang="en-US" sz="3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7E1F5A-9F8E-1127-8440-6A3D8831B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0826" y="4239392"/>
                <a:ext cx="676852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6402FAC-789E-2B2E-2E16-0EEEFA961423}"/>
                  </a:ext>
                </a:extLst>
              </p:cNvPr>
              <p:cNvSpPr txBox="1"/>
              <p:nvPr/>
            </p:nvSpPr>
            <p:spPr>
              <a:xfrm>
                <a:off x="1734196" y="2549080"/>
                <a:ext cx="194271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2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ko-KR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ko-KR" altLang="en-US" sz="3200" i="1">
                          <a:latin typeface="Cambria Math" panose="02040503050406030204" pitchFamily="18" charset="0"/>
                        </a:rPr>
                        <m:t>𝛴</m:t>
                      </m:r>
                      <m:sSup>
                        <m:sSupPr>
                          <m:ctrlPr>
                            <a:rPr lang="ko-KR" alt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ko-KR" altLang="en-US" sz="3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6402FAC-789E-2B2E-2E16-0EEEFA961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196" y="2549080"/>
                <a:ext cx="194271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A96915-1018-BAB2-5738-206CAAF6A060}"/>
                  </a:ext>
                </a:extLst>
              </p:cNvPr>
              <p:cNvSpPr txBox="1"/>
              <p:nvPr/>
            </p:nvSpPr>
            <p:spPr>
              <a:xfrm>
                <a:off x="3212078" y="4193225"/>
                <a:ext cx="108082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360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A96915-1018-BAB2-5738-206CAAF6A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078" y="4193225"/>
                <a:ext cx="1080828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44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B1673-ECE2-DA5A-B78A-0BE85AAB2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1D28ED6-5E68-59A6-FD81-D09EF777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Matrix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DCD493F-64FB-8E1B-526F-EF8D8A09F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C5AC1-68F2-8C42-E3C0-9875673FE1A1}"/>
              </a:ext>
            </a:extLst>
          </p:cNvPr>
          <p:cNvSpPr txBox="1"/>
          <p:nvPr/>
        </p:nvSpPr>
        <p:spPr>
          <a:xfrm>
            <a:off x="685800" y="1620616"/>
            <a:ext cx="10287000" cy="452431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방법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2: Scikit-learn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라이브러리 사용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실무 권장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객체 생성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---</a:t>
            </a:r>
          </a:p>
          <a:p>
            <a:pPr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sklearn.decomposition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n_components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=2,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=42)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학습 및 변환</a:t>
            </a:r>
          </a:p>
          <a:p>
            <a:pPr>
              <a:buNone/>
            </a:pP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M_reduced_sklearn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svd.fit_transform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print(f"[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Sklearn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축소된 데이터 크기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M_reduced_sklearn.shape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b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결과 검증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두 방법의 결과가 본질적으로 </a:t>
            </a:r>
            <a:r>
              <a:rPr lang="ko-KR" altLang="en-US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같은지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---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방향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부호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만 반대일 수 있으므로 절대값으로 비교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print("\n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두 결과가 일치하는가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?",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np.allclose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M_reduced_numpy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M_reduced_sklearn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)))</a:t>
            </a:r>
          </a:p>
          <a:p>
            <a:pPr>
              <a:buNone/>
            </a:pP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설명된 분산 비율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정보 보유량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print(f"2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차원이 보존하는 총 분산비율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svd.explained_variance_ratio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_):.2%}")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077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7C5A-B6D6-3FC0-0202-305332615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3ECD915-FC90-1E9B-3E0C-468C29E3B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Matrix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Decomposition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3910616-B5BE-9E61-C480-426348881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11</a:t>
            </a:fld>
            <a:endParaRPr lang="ko-KR" altLang="en-US" noProof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D4113-D162-D799-8AB3-4C994B2B6AE8}"/>
              </a:ext>
            </a:extLst>
          </p:cNvPr>
          <p:cNvSpPr txBox="1"/>
          <p:nvPr/>
        </p:nvSpPr>
        <p:spPr>
          <a:xfrm>
            <a:off x="685800" y="1620616"/>
            <a:ext cx="10287000" cy="452431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방법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2: Scikit-learn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라이브러리 사용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실무 권장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객체 생성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---</a:t>
            </a:r>
          </a:p>
          <a:p>
            <a:pPr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sklearn.decomposition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n_components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=2,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=42)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학습 및 변환</a:t>
            </a:r>
          </a:p>
          <a:p>
            <a:pPr>
              <a:buNone/>
            </a:pP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M_reduced_sklearn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svd.fit_transform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print(f"[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Sklearn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축소된 데이터 크기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M_reduced_sklearn.shape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b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결과 검증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두 방법의 결과가 본질적으로 </a:t>
            </a:r>
            <a:r>
              <a:rPr lang="ko-KR" altLang="en-US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같은지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---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방향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부호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만 반대일 수 있으므로 절대값으로 비교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print("\n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두 결과가 일치하는가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?",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np.allclose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M_reduced_numpy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M_reduced_sklearn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)))</a:t>
            </a:r>
          </a:p>
          <a:p>
            <a:pPr>
              <a:buNone/>
            </a:pP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설명된 분산 비율 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정보 보유량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</a:p>
          <a:p>
            <a:pPr>
              <a:buNone/>
            </a:pP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print(f"2</a:t>
            </a:r>
            <a:r>
              <a:rPr lang="ko-KR" altLang="en-US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차원이 보존하는 총 분산비율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np.sum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svd.explained_variance_ratio</a:t>
            </a:r>
            <a:r>
              <a:rPr lang="en-US" altLang="ko-KR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_):.2%}")</a:t>
            </a:r>
            <a:endParaRPr lang="ko-KR" altLang="en-US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1936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88481-D4B2-A51B-82AD-E13C40E3D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69A6821-B91B-7B91-FA83-519D5AEB5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Corpus</a:t>
            </a:r>
            <a:r>
              <a:rPr lang="ko-KR" altLang="en-US" dirty="0">
                <a:cs typeface="Segoe UI Light" panose="020B0502040204020203" pitchFamily="34" charset="0"/>
              </a:rPr>
              <a:t>를</a:t>
            </a:r>
            <a:r>
              <a:rPr lang="en-US" altLang="ko-KR" dirty="0">
                <a:cs typeface="Segoe UI Light" panose="020B0502040204020203" pitchFamily="34" charset="0"/>
              </a:rPr>
              <a:t> SVD</a:t>
            </a:r>
            <a:r>
              <a:rPr lang="ko-KR" altLang="en-US" dirty="0">
                <a:cs typeface="Segoe UI Light" panose="020B0502040204020203" pitchFamily="34" charset="0"/>
              </a:rPr>
              <a:t>를 사용하여 </a:t>
            </a:r>
            <a:r>
              <a:rPr lang="en-US" altLang="ko-KR" dirty="0">
                <a:cs typeface="Segoe UI Light" panose="020B0502040204020203" pitchFamily="34" charset="0"/>
              </a:rPr>
              <a:t>2</a:t>
            </a:r>
            <a:r>
              <a:rPr lang="ko-KR" altLang="en-US" dirty="0">
                <a:cs typeface="Segoe UI Light" panose="020B0502040204020203" pitchFamily="34" charset="0"/>
              </a:rPr>
              <a:t>차원으로 차원 축소하라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FD66651-EC78-89D0-2FC2-C90446445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1FE20D-737A-0AF5-50CC-FEF262C80510}"/>
              </a:ext>
            </a:extLst>
          </p:cNvPr>
          <p:cNvSpPr txBox="1"/>
          <p:nvPr/>
        </p:nvSpPr>
        <p:spPr>
          <a:xfrm>
            <a:off x="660401" y="1491040"/>
            <a:ext cx="8135613" cy="3416320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sklearn.feature_extraction.text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TfidfVectorizer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corpus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= [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'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.',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'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second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.',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'And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third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.',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  '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?',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vectorizer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TfidfVectorizer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vectorizer.fit_transform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corpus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vectorizer.get_feature_names_out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X.shape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pd.DataFrame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X.toarray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(), columns=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vectorizer.get_feature_names_out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A9D0A6B-02D5-5C8C-AB22-FC807CC12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1" y="4907360"/>
            <a:ext cx="6946900" cy="1619410"/>
          </a:xfrm>
          <a:prstGeom prst="rect">
            <a:avLst/>
          </a:prstGeom>
        </p:spPr>
      </p:pic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8480F8A1-315D-7B6F-9B66-53940E67A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64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31D9-7BB8-6C15-BA9B-2F0E17972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D737CD4-4519-2F35-F8CE-672CC54FA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MNIST</a:t>
            </a:r>
            <a:r>
              <a:rPr lang="ko-KR" altLang="en-US" dirty="0">
                <a:cs typeface="Segoe UI Light" panose="020B0502040204020203" pitchFamily="34" charset="0"/>
              </a:rPr>
              <a:t>를 사용하여 </a:t>
            </a:r>
            <a:r>
              <a:rPr lang="en-US" altLang="ko-KR" dirty="0">
                <a:cs typeface="Segoe UI Light" panose="020B0502040204020203" pitchFamily="34" charset="0"/>
              </a:rPr>
              <a:t>2</a:t>
            </a:r>
            <a:r>
              <a:rPr lang="ko-KR" altLang="en-US" dirty="0">
                <a:cs typeface="Segoe UI Light" panose="020B0502040204020203" pitchFamily="34" charset="0"/>
              </a:rPr>
              <a:t>차원으로 차원 축소하라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016F85A-39C8-7B9C-979A-C766E17B6D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553F7E85-778C-8AD4-2FD1-C1A6BE04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85CFD7-02AC-B78B-FFF6-2147B3951836}"/>
              </a:ext>
            </a:extLst>
          </p:cNvPr>
          <p:cNvSpPr txBox="1"/>
          <p:nvPr/>
        </p:nvSpPr>
        <p:spPr>
          <a:xfrm>
            <a:off x="648207" y="1282489"/>
            <a:ext cx="11127319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Scikit-learn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MNIST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데이터를 다운로드 받아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차원으로 차원축소를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SVD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를 통해 수행하고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차원평면에 시각화하고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개 성분의 원자료에 대한 분산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설명량을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각각 구하라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F1D774-87C2-30FA-01BC-C88740570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736" y="2601972"/>
            <a:ext cx="4565365" cy="39671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609557-8970-B9C5-255D-D7AB409F59B8}"/>
              </a:ext>
            </a:extLst>
          </p:cNvPr>
          <p:cNvSpPr txBox="1"/>
          <p:nvPr/>
        </p:nvSpPr>
        <p:spPr>
          <a:xfrm>
            <a:off x="6311900" y="3238482"/>
            <a:ext cx="52451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각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SVD 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구성요소의 분산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(Explained Variance Ratio): [0.02870851 0.1489005 ]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총 분산 </a:t>
            </a:r>
            <a:r>
              <a:rPr lang="ko-KR" altLang="en-US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</a:t>
            </a:r>
            <a:r>
              <a:rPr lang="ko-KR" altLang="en-US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(Cumulative Explained Variance Ratio): 0.1776090085481234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print(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평균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(X, axis=1)}")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높이려면 어떻게 하여야 하나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?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924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A4B2-15B6-B315-809B-ED630540C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470A04-1962-DA25-1243-0D8C630D4B23}"/>
              </a:ext>
            </a:extLst>
          </p:cNvPr>
          <p:cNvSpPr/>
          <p:nvPr/>
        </p:nvSpPr>
        <p:spPr>
          <a:xfrm>
            <a:off x="1457324" y="2890521"/>
            <a:ext cx="10191202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E647E5DC-EE98-B1F6-C10E-99912FAF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12254FF-C10A-3CA8-678B-DC1DFB1D8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14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CB2CFA-33D5-5B1D-950C-232691C71043}"/>
              </a:ext>
            </a:extLst>
          </p:cNvPr>
          <p:cNvSpPr txBox="1"/>
          <p:nvPr/>
        </p:nvSpPr>
        <p:spPr>
          <a:xfrm>
            <a:off x="1957661" y="1537527"/>
            <a:ext cx="9840639" cy="390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스펙트럼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(Spectral Decomposition)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특이값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(Singular Value Decomposition, SVD)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SVD vs. PCA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LDA(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잠재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디리클레르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할당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181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6F3E-E2E1-DE93-C4DF-1DA0FB9D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72CB3CF-1070-11B6-FECF-32C615E6A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MNIST</a:t>
            </a:r>
            <a:r>
              <a:rPr lang="ko-KR" altLang="en-US" dirty="0">
                <a:cs typeface="Segoe UI Light" panose="020B0502040204020203" pitchFamily="34" charset="0"/>
              </a:rPr>
              <a:t>를 사용하여 </a:t>
            </a:r>
            <a:r>
              <a:rPr lang="en-US" altLang="ko-KR" dirty="0">
                <a:cs typeface="Segoe UI Light" panose="020B0502040204020203" pitchFamily="34" charset="0"/>
              </a:rPr>
              <a:t>PCA</a:t>
            </a:r>
            <a:r>
              <a:rPr lang="ko-KR" altLang="en-US" dirty="0">
                <a:cs typeface="Segoe UI Light" panose="020B0502040204020203" pitchFamily="34" charset="0"/>
              </a:rPr>
              <a:t>와 </a:t>
            </a:r>
            <a:r>
              <a:rPr lang="en-US" altLang="ko-KR" dirty="0">
                <a:cs typeface="Segoe UI Light" panose="020B0502040204020203" pitchFamily="34" charset="0"/>
              </a:rPr>
              <a:t>SVD</a:t>
            </a:r>
            <a:r>
              <a:rPr lang="ko-KR" altLang="en-US" dirty="0">
                <a:cs typeface="Segoe UI Light" panose="020B0502040204020203" pitchFamily="34" charset="0"/>
              </a:rPr>
              <a:t>를 비교하라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323BCFB-479B-4FD9-A43E-FCB001058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15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852A81AA-CCA5-8003-C6F8-3E4074EB6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9CE29E-A472-FF07-4603-D80D05373957}"/>
              </a:ext>
            </a:extLst>
          </p:cNvPr>
          <p:cNvSpPr txBox="1"/>
          <p:nvPr/>
        </p:nvSpPr>
        <p:spPr>
          <a:xfrm>
            <a:off x="648207" y="1282489"/>
            <a:ext cx="11127319" cy="462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PCA</a:t>
            </a:r>
            <a:r>
              <a:rPr lang="ko-KR" altLang="en-US" dirty="0"/>
              <a:t>는 데이터를 중앙으로 옮겨놓고</a:t>
            </a:r>
            <a:r>
              <a:rPr lang="en-US" altLang="ko-KR" dirty="0"/>
              <a:t>(Mean-Centering)</a:t>
            </a:r>
            <a:r>
              <a:rPr lang="ko-KR" altLang="en-US" dirty="0"/>
              <a:t> </a:t>
            </a:r>
            <a:r>
              <a:rPr lang="en-US" altLang="ko-KR" dirty="0"/>
              <a:t>SVD</a:t>
            </a:r>
            <a:r>
              <a:rPr lang="ko-KR" altLang="en-US" dirty="0"/>
              <a:t>를 수행하는 것과 같다는 것을 코드로 재현하라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8E6820C-B89D-1806-E05C-C24E89E41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281826"/>
            <a:ext cx="7609926" cy="39734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A4711E-A871-E64C-E1CE-E5157592B74F}"/>
              </a:ext>
            </a:extLst>
          </p:cNvPr>
          <p:cNvSpPr txBox="1"/>
          <p:nvPr/>
        </p:nvSpPr>
        <p:spPr>
          <a:xfrm>
            <a:off x="8591550" y="3307171"/>
            <a:ext cx="31877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PCA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총 분산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  0.2851 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중앙화 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SVD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의 총 분산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설명량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: 0.2851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523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9096D-100C-C8CD-CD01-ABE6013E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417624AE-DE10-172B-8AD3-8F0316B43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SVD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C74730C-2CDF-83A0-9D80-319D50B2F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934011CA-EF78-5ACE-7A6C-5959138F4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0D225D-7EC3-F7B2-AB5B-C90B09998E81}"/>
              </a:ext>
            </a:extLst>
          </p:cNvPr>
          <p:cNvSpPr txBox="1"/>
          <p:nvPr/>
        </p:nvSpPr>
        <p:spPr>
          <a:xfrm>
            <a:off x="648207" y="1282489"/>
            <a:ext cx="111273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아래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사이킷런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Twenty Newsgroups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불리는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다른 주제를 가진 뉴스그룹 데이터를 제공하는 코드로 다음과 같이 데이터 전처리를 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TF-IDF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행렬을 생성하라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regex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특수문자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제거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길이가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이하인 단어는 제거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전체 단어 소문자변환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불용어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stopwords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E1519-A563-2560-A9FC-62BCCF00B350}"/>
              </a:ext>
            </a:extLst>
          </p:cNvPr>
          <p:cNvSpPr txBox="1"/>
          <p:nvPr/>
        </p:nvSpPr>
        <p:spPr>
          <a:xfrm>
            <a:off x="648207" y="3618629"/>
            <a:ext cx="9130793" cy="230832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fetch_20newsgroups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nltk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nltk.corpus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stopwords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sklearn.feature_extraction.text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TfidfVectorizer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sklearn.decomposition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dataset = fetch_20newsgroups(shuffle=True,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=1, remove=('headers', 'footers', 'quotes’))</a:t>
            </a:r>
          </a:p>
        </p:txBody>
      </p:sp>
    </p:spTree>
    <p:extLst>
      <p:ext uri="{BB962C8B-B14F-4D97-AF65-F5344CB8AC3E}">
        <p14:creationId xmlns:p14="http://schemas.microsoft.com/office/powerpoint/2010/main" val="1946316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2523-2098-CD88-6444-E2EB83E16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A9933FE-6537-DF12-FFE2-58CEF88C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SVD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5F5D9E4-523A-1353-B000-E833BA304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17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2EE93D85-A29E-D033-EFB6-2AA82859E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9974CD-957E-EE08-7FEC-C0F5B5DFBB26}"/>
              </a:ext>
            </a:extLst>
          </p:cNvPr>
          <p:cNvSpPr txBox="1"/>
          <p:nvPr/>
        </p:nvSpPr>
        <p:spPr>
          <a:xfrm>
            <a:off x="648207" y="1282489"/>
            <a:ext cx="111273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아래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사이킷런에서는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Twenty Newsgroups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불리는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다른 주제를 가진 뉴스그룹 데이터를 제공하는 코드로 다음과 같이 데이터 전처리를 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TF-IDF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행렬을 생성하라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regex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특수문자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제거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길이가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이하인 단어는 제거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전체 단어 소문자변환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A5CBD2-1ADB-FDCF-78DE-09489670E260}"/>
              </a:ext>
            </a:extLst>
          </p:cNvPr>
          <p:cNvSpPr txBox="1"/>
          <p:nvPr/>
        </p:nvSpPr>
        <p:spPr>
          <a:xfrm>
            <a:off x="648207" y="3618629"/>
            <a:ext cx="8927593" cy="203132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fetch_20newsgroups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sklearn.feature_extraction.text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TfidfVectorizer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sklearn.decomposition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dataset = fetch_20newsgroups(shuffle=True,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=1, remove=('headers', 'footers', 'quotes’))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dataset</a:t>
            </a:r>
          </a:p>
        </p:txBody>
      </p:sp>
    </p:spTree>
    <p:extLst>
      <p:ext uri="{BB962C8B-B14F-4D97-AF65-F5344CB8AC3E}">
        <p14:creationId xmlns:p14="http://schemas.microsoft.com/office/powerpoint/2010/main" val="93630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F6F41-740C-F789-FC4D-D7E18F35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80A896F-1EB0-5EDC-671D-6D31ABC06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SVD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9F3361F-97A0-0177-05D1-75BB2B3A25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18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0F8DBF57-099F-863B-A4A0-ACF5D4791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461C39-90F7-DB59-322F-DA5EBC9FA185}"/>
              </a:ext>
            </a:extLst>
          </p:cNvPr>
          <p:cNvSpPr txBox="1"/>
          <p:nvPr/>
        </p:nvSpPr>
        <p:spPr>
          <a:xfrm>
            <a:off x="648207" y="1282489"/>
            <a:ext cx="11127319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TF-IDF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행렬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41E30A3-69AA-92DB-3B60-7C519A8A0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90" y="1942162"/>
            <a:ext cx="11180736" cy="321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1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E0BA1-AAC8-BE80-1F7D-541520E76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952ADF5-A5D8-07F4-1E9C-4555F20D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en-US" altLang="ko-KR" dirty="0">
                <a:cs typeface="Segoe UI Light" panose="020B0502040204020203" pitchFamily="34" charset="0"/>
              </a:rPr>
              <a:t>SVD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45B8914-FF06-0237-8C4F-90330D1060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19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55499549-EBFD-2EF2-B49F-57A42E0E3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9B2114-C214-1387-050D-4E12FF109B0B}"/>
              </a:ext>
            </a:extLst>
          </p:cNvPr>
          <p:cNvSpPr txBox="1"/>
          <p:nvPr/>
        </p:nvSpPr>
        <p:spPr>
          <a:xfrm>
            <a:off x="648207" y="1282489"/>
            <a:ext cx="11127319" cy="46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TF-IDF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행렬에 대해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 주제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(category)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차원 축소하라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7D2CB-5EA2-B35F-EBE7-4DA935F0886C}"/>
              </a:ext>
            </a:extLst>
          </p:cNvPr>
          <p:cNvSpPr txBox="1"/>
          <p:nvPr/>
        </p:nvSpPr>
        <p:spPr>
          <a:xfrm>
            <a:off x="648207" y="1907713"/>
            <a:ext cx="11127319" cy="147732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svd_model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TruncatedSVD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n_components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=20, algorithm='randomized',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n_iter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=100,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=122)</a:t>
            </a:r>
          </a:p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svd_model.fit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(X)</a:t>
            </a:r>
          </a:p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svd_model.components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_)</a:t>
            </a: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np.shape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svd_model.components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_) #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10BAD2-807E-9F33-29B1-EC814C8D34DD}"/>
                  </a:ext>
                </a:extLst>
              </p:cNvPr>
              <p:cNvSpPr txBox="1"/>
              <p:nvPr/>
            </p:nvSpPr>
            <p:spPr>
              <a:xfrm>
                <a:off x="4678327" y="2930399"/>
                <a:ext cx="4517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10BAD2-807E-9F33-29B1-EC814C8D3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327" y="2930399"/>
                <a:ext cx="451726" cy="369332"/>
              </a:xfrm>
              <a:prstGeom prst="rect">
                <a:avLst/>
              </a:prstGeom>
              <a:blipFill>
                <a:blip r:embed="rId4"/>
                <a:stretch>
                  <a:fillRect l="-13333" r="-1333" b="-1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8B219D3-E716-2507-323E-4870144365FB}"/>
              </a:ext>
            </a:extLst>
          </p:cNvPr>
          <p:cNvSpPr txBox="1"/>
          <p:nvPr/>
        </p:nvSpPr>
        <p:spPr>
          <a:xfrm>
            <a:off x="648207" y="3544945"/>
            <a:ext cx="11127318" cy="2585323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terms =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vectorizer.get_feature_names_out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def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get_topics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(components,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feature_names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n=5):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   for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idx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topic in enumerate(components):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#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상위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 단어와 가중치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소수점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자리 반올림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리스트로 추출</a:t>
            </a: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top_words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= [(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feature_names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], round(topic[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], 5)) for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in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topic.argsort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()[:-n-1:-1]]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print(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f"Topic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{idx+1}: {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top_words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  <a:b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get_topics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svd_model.components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_, terms)</a:t>
            </a:r>
          </a:p>
        </p:txBody>
      </p:sp>
    </p:spTree>
    <p:extLst>
      <p:ext uri="{BB962C8B-B14F-4D97-AF65-F5344CB8AC3E}">
        <p14:creationId xmlns:p14="http://schemas.microsoft.com/office/powerpoint/2010/main" val="85991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761F4-1A8C-0691-9FA6-29B249F9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F5AE4C4-79FD-0BB3-D11A-F8DA31192B05}"/>
              </a:ext>
            </a:extLst>
          </p:cNvPr>
          <p:cNvSpPr/>
          <p:nvPr/>
        </p:nvSpPr>
        <p:spPr>
          <a:xfrm>
            <a:off x="1457324" y="3540761"/>
            <a:ext cx="10191202" cy="64008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8ADC185D-E85D-2CE7-D1B6-BDD42AAEF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</a:rPr>
              <a:t>Contents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09E6D24-C181-DB81-B315-6D7022AB9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20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349E6F-D82F-6E31-FA74-97FA082D4076}"/>
              </a:ext>
            </a:extLst>
          </p:cNvPr>
          <p:cNvSpPr txBox="1"/>
          <p:nvPr/>
        </p:nvSpPr>
        <p:spPr>
          <a:xfrm>
            <a:off x="1957661" y="1537527"/>
            <a:ext cx="9840639" cy="3904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스펙트럼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(Spectral Decomposition)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특이값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분해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(Singular Value Decomposition, SVD)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SVD vs. PCA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LDA(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잠재 </a:t>
            </a:r>
            <a:r>
              <a:rPr lang="ko-KR" altLang="en-US" sz="28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디리클레르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할당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28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102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1A16-8B45-ADC0-7786-03084BE7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FC0BD3F-E01C-EA14-42DC-43BD86777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68399F5-3FF1-86AD-93B8-B733F69FF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21</a:t>
            </a:fld>
            <a:endParaRPr lang="ko-KR" altLang="en-US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1AD402-D08A-510E-727B-2ECD6CFF1911}"/>
              </a:ext>
            </a:extLst>
          </p:cNvPr>
          <p:cNvSpPr txBox="1"/>
          <p:nvPr/>
        </p:nvSpPr>
        <p:spPr>
          <a:xfrm>
            <a:off x="648207" y="1282489"/>
            <a:ext cx="11127319" cy="878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대규모 문서 집합</a:t>
            </a:r>
            <a:r>
              <a:rPr lang="en-US" altLang="ko-KR" dirty="0"/>
              <a:t>(</a:t>
            </a:r>
            <a:r>
              <a:rPr lang="ko-KR" altLang="en-US" dirty="0"/>
              <a:t>말뭉치</a:t>
            </a:r>
            <a:r>
              <a:rPr lang="en-US" altLang="ko-KR" dirty="0"/>
              <a:t>)</a:t>
            </a:r>
            <a:r>
              <a:rPr lang="ko-KR" altLang="en-US" dirty="0"/>
              <a:t>에서 단어들이 함께 등장하는 패턴을 분석하여</a:t>
            </a:r>
            <a:r>
              <a:rPr lang="en-US" altLang="ko-KR" dirty="0"/>
              <a:t>, </a:t>
            </a:r>
            <a:r>
              <a:rPr lang="ko-KR" altLang="en-US" dirty="0"/>
              <a:t>문서 전체에 내재된 숨겨진 주제</a:t>
            </a:r>
            <a:r>
              <a:rPr lang="en-US" altLang="ko-KR" dirty="0"/>
              <a:t>(</a:t>
            </a:r>
            <a:r>
              <a:rPr lang="ko-KR" altLang="en-US" dirty="0"/>
              <a:t>토픽</a:t>
            </a:r>
            <a:r>
              <a:rPr lang="en-US" altLang="ko-KR" dirty="0"/>
              <a:t>)</a:t>
            </a:r>
            <a:r>
              <a:rPr lang="ko-KR" altLang="en-US" dirty="0"/>
              <a:t>를 자동으로 추출하고 분류하는 기법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53DBFC-3641-C94B-B194-369C96FC2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900" y="2359552"/>
            <a:ext cx="7912100" cy="38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92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87AF8-3EEE-C45B-44F5-F51A1878D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9CA7969-2377-FD1F-DF9A-61C02778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D6329DE-8011-BE78-AFB1-910D3FD5F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22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2B55CB35-4FED-79FF-2F4E-07DD843E5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F267AB-5655-140C-8709-96F8B10AC803}"/>
              </a:ext>
            </a:extLst>
          </p:cNvPr>
          <p:cNvSpPr txBox="1"/>
          <p:nvPr/>
        </p:nvSpPr>
        <p:spPr>
          <a:xfrm>
            <a:off x="648207" y="1282489"/>
            <a:ext cx="11127319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아래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사이킷런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Twenty Newsgroups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불리는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다른 주제를 가진 뉴스그룹에서 무작위로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주제를 추출하여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Topic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개수와 의미를 맞추어 보는 실습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명이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조가 되어 수행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5AA36-BE24-850D-BDE8-8366688D5470}"/>
              </a:ext>
            </a:extLst>
          </p:cNvPr>
          <p:cNvSpPr txBox="1"/>
          <p:nvPr/>
        </p:nvSpPr>
        <p:spPr>
          <a:xfrm>
            <a:off x="794326" y="2224183"/>
            <a:ext cx="8312727" cy="418576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random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warnings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fetch_20newsgroups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!pip install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corpora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gensim.models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LdaModel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nltk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nltk.corpus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stopwords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nltk.tokenize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RegexpTokenizer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pyLDAvis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시각화 라이브러리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!pip install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pyLDAvis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pyLDAvis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pyLDAvis.gensim_models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gensimvis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경고 메시지 숨기기</a:t>
            </a: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warnings.filterwarnings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('ignore', category=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DeprecationWarning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nltk.download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stopwords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', quiet=True)</a:t>
            </a:r>
          </a:p>
        </p:txBody>
      </p:sp>
    </p:spTree>
    <p:extLst>
      <p:ext uri="{BB962C8B-B14F-4D97-AF65-F5344CB8AC3E}">
        <p14:creationId xmlns:p14="http://schemas.microsoft.com/office/powerpoint/2010/main" val="378500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2333A-240B-A37C-30FC-C6F91348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546B9A0-FAEB-DCBA-3B1C-4F4F71D81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F1F21B7-5DD6-ED1E-B063-5464E317D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23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4B1C5976-9DAD-DD77-8644-B2F0865DC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A826E6-660F-EE4F-5013-8BEBFB9EDA8C}"/>
              </a:ext>
            </a:extLst>
          </p:cNvPr>
          <p:cNvSpPr txBox="1"/>
          <p:nvPr/>
        </p:nvSpPr>
        <p:spPr>
          <a:xfrm>
            <a:off x="590391" y="1768607"/>
            <a:ext cx="11011218" cy="418576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로드 및 무작위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주제 추출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all_categories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[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alt.atheism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comp.graphics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'comp.os.ms-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windows.misc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’, ‘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comp.sys.ibm.pc.hardware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comp.sys.mac.hardware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comp.windows.x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misc.forsale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rec.autos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rec.motorcycles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rec.sport.baseball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rec.sport.hockey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sci.crypt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sci.electronics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sci.med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sci.space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soc.religion.christian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talk.politics.guns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talk.politics.mideast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talk.politics.misc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talk.religion.misc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무작위로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주제 선정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random.seed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(42)  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재현성을 원하시면 주석을 해제하거나 변경하세요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selected_categories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random.sample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all_categories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5)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print(f"★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정답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무작위 선택된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주제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selected_categories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정답 데이터 로드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시각화 분석 후 맞추기 위해 텍스트만 활용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newsgroups = fetch_20newsgroups(subset='train', categories=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selected_categories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remove=('headers', 'footers', 'quotes'))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documents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newsgroups.data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276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78947-611A-FCBC-3FD5-505E7F81B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D20693B-3CB9-CE10-4A73-A92153FB7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FD67CA9-D62A-0C04-1FE4-79B3AC9BB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24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FC5C10BC-015A-2711-338E-904EF84FF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805A69-288B-1CB8-2E52-5D6E94B7BDFC}"/>
              </a:ext>
            </a:extLst>
          </p:cNvPr>
          <p:cNvSpPr txBox="1"/>
          <p:nvPr/>
        </p:nvSpPr>
        <p:spPr>
          <a:xfrm>
            <a:off x="590391" y="1768607"/>
            <a:ext cx="11011218" cy="4678204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dirty="0"/>
              <a:t>#</a:t>
            </a:r>
            <a:r>
              <a:rPr lang="ko-KR" altLang="en-US" dirty="0"/>
              <a:t>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tokenizer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RegexpTokenizer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(r'\w+')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en_stopwords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set(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stopwords.words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english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추가적인 무의미한 단어 필터링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add_stopwords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{'ax', 'max', 'g9v', 'b8f', 'a86', 'pl', '145', '1d9', '0t', '34u'}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en_stopwords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en_stopwords.union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add_stopwords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processed_docs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[]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doc in documents: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소문자 변환 및 토큰화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tokens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tokenizer.tokenize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doc.lower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불용어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제거 및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글자 이상 단어만 유지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숫자 제외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stopped_tokens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[t for t in tokens if t not in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en_stopwords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and not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t.isdigit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 and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(t) &gt; 2]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processed_docs.append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stopped_tokens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Dictionary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및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Corpus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dictionary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corpora.Dictionary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processed_docs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지나치게 빈도가 낮거나 높은 단어 필터링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품질 향상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dictionary.filter_extremes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no_below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=3,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no_above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=0.5)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corpus = [dictionary.doc2bow(text) for text in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processed_docs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17447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8C933-4FF5-9C79-04B1-42F8AE8B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59B65F1-9A7C-6CB2-D0D8-1F3BCE178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83F56F4-DECE-9371-7DB4-1CDD9B4ED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25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8C2D0EAC-1453-6698-5957-86B4EFECD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AC099B-765A-584A-CA06-DE2989FA198F}"/>
              </a:ext>
            </a:extLst>
          </p:cNvPr>
          <p:cNvSpPr txBox="1"/>
          <p:nvPr/>
        </p:nvSpPr>
        <p:spPr>
          <a:xfrm>
            <a:off x="590391" y="1768607"/>
            <a:ext cx="11011218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토픽 개수별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~ 7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LDA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학습 및 시각화 저장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in range(3, 8):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print(f"\n▶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토픽 개수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학습 및 시각화 생성 중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...")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LDA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모델 학습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lda_model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LdaModel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corpus=corpus,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id2word=dictionary,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=100,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update_every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=100,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passes=10,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alpha='auto',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per_word_topics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=True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pyLDAvis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준비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vis_data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gensimvis.prepare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lda_model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corpus, dictionary,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sort_topics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=False)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# HTML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파일로 저장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file_name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f'lda_vis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num_topics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}_topics.html'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pyLDAvis.save_html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vis_data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file_name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727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CFB96-9F46-AB1F-E35E-384C2E997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DBEB387-2169-C9CA-2685-EE8996B19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727693" cy="640080"/>
          </a:xfrm>
        </p:spPr>
        <p:txBody>
          <a:bodyPr rtlCol="0">
            <a:noAutofit/>
          </a:bodyPr>
          <a:lstStyle/>
          <a:p>
            <a:r>
              <a:rPr lang="ko-KR" altLang="en-US" dirty="0">
                <a:cs typeface="Segoe UI Light" panose="020B0502040204020203" pitchFamily="34" charset="0"/>
              </a:rPr>
              <a:t>토픽 모델링</a:t>
            </a:r>
            <a:r>
              <a:rPr lang="en-US" altLang="ko-KR" dirty="0">
                <a:cs typeface="Segoe UI Light" panose="020B0502040204020203" pitchFamily="34" charset="0"/>
              </a:rPr>
              <a:t>(Topic Modeling)</a:t>
            </a:r>
            <a:r>
              <a:rPr lang="ko-KR" altLang="en-US" dirty="0">
                <a:cs typeface="Segoe UI Light" panose="020B0502040204020203" pitchFamily="34" charset="0"/>
              </a:rPr>
              <a:t> 응용</a:t>
            </a: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54784CB-9C62-CC53-3DED-FD45BAE599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26</a:t>
            </a:fld>
            <a:endParaRPr lang="ko-KR" altLang="en-US" noProof="0"/>
          </a:p>
        </p:txBody>
      </p:sp>
      <p:pic>
        <p:nvPicPr>
          <p:cNvPr id="2" name="그림 1" descr="문자 메시지">
            <a:extLst>
              <a:ext uri="{FF2B5EF4-FFF2-40B4-BE49-F238E27FC236}">
                <a16:creationId xmlns:a16="http://schemas.microsoft.com/office/drawing/2014/main" id="{54F39C0C-8F2D-4149-D16A-E69A9B195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109220"/>
            <a:ext cx="1397000" cy="10477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7B75699-6D83-65F7-110D-7FAD839C7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270" y="1495565"/>
            <a:ext cx="8023565" cy="49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3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3220</TotalTime>
  <Words>2347</Words>
  <Application>Microsoft Office PowerPoint</Application>
  <PresentationFormat>와이드스크린</PresentationFormat>
  <Paragraphs>291</Paragraphs>
  <Slides>26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4" baseType="lpstr">
      <vt:lpstr>D2Coding</vt:lpstr>
      <vt:lpstr>맑은 고딕</vt:lpstr>
      <vt:lpstr>맑은 고딕 Semilight</vt:lpstr>
      <vt:lpstr>Arial</vt:lpstr>
      <vt:lpstr>Cambria Math</vt:lpstr>
      <vt:lpstr>Segoe UI Light</vt:lpstr>
      <vt:lpstr>Wingdings</vt:lpstr>
      <vt:lpstr>WelcomeDoc</vt:lpstr>
      <vt:lpstr>Topic Modeling</vt:lpstr>
      <vt:lpstr>Contents</vt:lpstr>
      <vt:lpstr>Spectral Decomposition</vt:lpstr>
      <vt:lpstr>Spectral Decomposition</vt:lpstr>
      <vt:lpstr>Spectral Decomposition</vt:lpstr>
      <vt:lpstr>Principal Component Analysis</vt:lpstr>
      <vt:lpstr>Principal Component Analysis</vt:lpstr>
      <vt:lpstr>Contents</vt:lpstr>
      <vt:lpstr>Matrix Decomposition</vt:lpstr>
      <vt:lpstr>Matrix Decomposition</vt:lpstr>
      <vt:lpstr>Matrix Decomposition</vt:lpstr>
      <vt:lpstr>Corpus를 SVD를 사용하여 2차원으로 차원 축소하라</vt:lpstr>
      <vt:lpstr>MNIST를 사용하여 2차원으로 차원 축소하라</vt:lpstr>
      <vt:lpstr>Contents</vt:lpstr>
      <vt:lpstr>MNIST를 사용하여 PCA와 SVD를 비교하라</vt:lpstr>
      <vt:lpstr>SVD 응용</vt:lpstr>
      <vt:lpstr>SVD 응용</vt:lpstr>
      <vt:lpstr>SVD 응용</vt:lpstr>
      <vt:lpstr>SVD 응용</vt:lpstr>
      <vt:lpstr>Contents</vt:lpstr>
      <vt:lpstr>토픽 모델링(Topic Modeling)</vt:lpstr>
      <vt:lpstr>토픽 모델링(Topic Modeling) 응용</vt:lpstr>
      <vt:lpstr>토픽 모델링(Topic Modeling) 응용</vt:lpstr>
      <vt:lpstr>토픽 모델링(Topic Modeling) 응용</vt:lpstr>
      <vt:lpstr>토픽 모델링(Topic Modeling) 응용</vt:lpstr>
      <vt:lpstr>토픽 모델링(Topic Modeling) 응용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109</cp:revision>
  <dcterms:created xsi:type="dcterms:W3CDTF">2026-04-06T01:00:39Z</dcterms:created>
  <dcterms:modified xsi:type="dcterms:W3CDTF">2026-06-03T14:12:32Z</dcterms:modified>
  <cp:version/>
</cp:coreProperties>
</file>