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1094" r:id="rId3"/>
    <p:sldId id="307" r:id="rId4"/>
    <p:sldId id="1096" r:id="rId5"/>
    <p:sldId id="1097" r:id="rId6"/>
    <p:sldId id="1095" r:id="rId7"/>
    <p:sldId id="1098" r:id="rId8"/>
    <p:sldId id="1100" r:id="rId9"/>
    <p:sldId id="1099" r:id="rId10"/>
    <p:sldId id="1104" r:id="rId11"/>
    <p:sldId id="1103" r:id="rId12"/>
    <p:sldId id="1105" r:id="rId13"/>
    <p:sldId id="1106" r:id="rId14"/>
    <p:sldId id="1101" r:id="rId15"/>
    <p:sldId id="1102" r:id="rId16"/>
    <p:sldId id="1107" r:id="rId17"/>
    <p:sldId id="1108" r:id="rId18"/>
    <p:sldId id="1109" r:id="rId19"/>
    <p:sldId id="1110" r:id="rId20"/>
    <p:sldId id="1111" r:id="rId2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307"/>
            <p14:sldId id="1096"/>
            <p14:sldId id="1097"/>
            <p14:sldId id="1095"/>
            <p14:sldId id="1098"/>
            <p14:sldId id="1100"/>
            <p14:sldId id="1099"/>
            <p14:sldId id="1104"/>
            <p14:sldId id="1103"/>
            <p14:sldId id="1105"/>
            <p14:sldId id="1106"/>
            <p14:sldId id="1101"/>
            <p14:sldId id="1102"/>
            <p14:sldId id="1107"/>
            <p14:sldId id="1108"/>
            <p14:sldId id="1109"/>
            <p14:sldId id="1110"/>
            <p14:sldId id="111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2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0642-FEAD-FDCD-55AD-4A2F649AA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F5D89B-556F-3184-70F1-106729057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C2E5AA-1636-906F-7C16-1192768AD6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6417D-51F3-0CAC-4ED0-CF5059AC7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027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37FA0-D1F5-3AA3-8FFB-5391DDE29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84163D-2650-3656-15C5-C27B0F846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0243BC-AE4E-9C98-8018-98AF9917D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749A84-DF08-2C41-C097-50B342779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6243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B92D-8472-E871-DCE5-6DCE7FEB8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AE0A3-95BC-D8A9-BF2C-8421F7868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156E8B-701C-DAF7-DC7B-199DDA2BF9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A963D5-E3B2-032B-0BE3-415052F3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9137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C5B00-B89C-E80C-B7DD-FA35CB2D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AE313-FF5A-F73E-A512-46797D5CB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063466-F1BB-2DB7-79FC-B90F10304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833E1-00E1-A42E-0BCC-C0A90ECB0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62935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4187-F469-9BAF-0A75-2727E4A82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76ED72-218E-4E61-4E9C-B9211BB3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E107EE-FF9A-C873-3771-61E512EB8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73006F-5DF0-5E83-74E5-2481A9FD8E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3610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EE98D-08A2-4DE7-2A57-A605400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674600-7571-48AC-66B3-D73DC928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F6B308-4DA7-7D1F-39DD-B1561A78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A455D-AC52-21A0-4D40-AA452195A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38927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CDE34-04A8-6FFD-44B3-12994EE8C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331C4-4DD7-F766-FBBC-0EB76092A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917240-AF5A-5C50-A10E-6D9E6016A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A3137-87A5-34EA-328C-F563739D5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7737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5334-4A62-AE64-2003-F96E1A6A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BF834E-496F-4BA1-1FDB-488377E02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A2F1AE-08AD-2C52-57B2-D9961E5F1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237964-3842-06DD-50F7-D785A90CD4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853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65D33-DDE8-EACB-37E5-9C4DECB7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F7A66D-30C6-63CC-A81A-DF80F877B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B1DAC1-FD13-F776-B02D-2100070F9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DD74-E650-75F1-4D5C-EC7ED18FF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575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0B1-B43F-3FCA-4001-5FDBF677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D35C7F-BC5F-30EA-B345-0736436D1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EE87D-F4C4-1040-9EFE-D8FA11EAF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B62F6C-E88A-6995-6270-EFEB46B6A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5630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DF942-302D-BB20-69AD-995376A4B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B84D9C-F0A8-5A9D-BEEF-73CB5C65B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3EE76D-8DDE-31FA-BA44-0CCCC2898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BA44F4-9844-0E6A-AA3A-B567C2A1B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84236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DE5D-8EF5-3AE7-CC47-F53298152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74A2CC-7D62-0E24-109D-24D73E9C4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46D5F7-27A5-E732-8BF8-5582F5CC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9A65C7-C56F-0D8C-9955-83ADF50D6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7090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FC85-DF3B-EB4A-F2C1-261F47A7C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70ED5C-CB04-4A62-8F88-FFCC51D8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F0FB2-1048-4145-CBBB-109BB1B55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136E78-7108-9F11-5D42-20825C6D4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73471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ED744-5815-3EA4-A0DC-88B796044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8AD6CB-5E79-E410-F9C0-4E4DD7971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70B165-5FCB-0C3F-7D74-774A24F53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C3C31A-77D5-441F-96A0-54D658D6DE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2411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0DB04-7960-C9FD-D3F1-98E698048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65EF1-D553-C38B-7D40-401FD68FC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F8C331-FC81-5D7A-F8E6-CCE98E557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DB9DDF-E257-CB49-ACC6-2FB746F5B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58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FB6D3-8FBF-6E36-9534-8A9A3299E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EE699E-E95D-2211-7EDA-8E66CA15A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92301E-C0D6-E380-B1EF-CDE4F1674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7DB122-A626-AC01-D84B-8DE47CC8B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45790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2C9F-3AC2-7D9F-3D63-36D41E26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117D29-12FF-D621-C4DC-C83B2D390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046C0C-39F5-AC91-967A-0B5875E05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A1261C-F34C-E007-0FD2-CF42FA6772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840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24949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5400" dirty="0">
                <a:solidFill>
                  <a:schemeClr val="bg1"/>
                </a:solidFill>
              </a:rPr>
              <a:t>Topic Modeling</a:t>
            </a:r>
            <a:endParaRPr lang="ko-KR" altLang="en-US" sz="54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 Matrix Decomposition (</a:t>
            </a:r>
            <a:r>
              <a:rPr lang="ko-KR" altLang="en-US" sz="2800" dirty="0">
                <a:solidFill>
                  <a:schemeClr val="bg1"/>
                </a:solidFill>
              </a:rPr>
              <a:t>행렬분해</a:t>
            </a:r>
            <a:r>
              <a:rPr lang="en-US" altLang="ko-KR" sz="2800" dirty="0">
                <a:solidFill>
                  <a:schemeClr val="bg1"/>
                </a:solidFill>
              </a:rPr>
              <a:t>)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537527"/>
            <a:ext cx="9840639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F76213-AECF-41A5-8F1B-E3555F9E58D4}"/>
              </a:ext>
            </a:extLst>
          </p:cNvPr>
          <p:cNvSpPr txBox="1"/>
          <p:nvPr/>
        </p:nvSpPr>
        <p:spPr>
          <a:xfrm>
            <a:off x="634904" y="1358808"/>
            <a:ext cx="1121419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100,000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문서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기사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단어로 표현된 원본 행렬에서 가장 중요한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성분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(Topic)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남겨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저차원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행렬로 압축하는 과정을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절단된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(Truncated SVD)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라고 함</a:t>
            </a:r>
            <a:endParaRPr lang="en-US" altLang="ko-KR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62B312-8F08-6092-4FE5-3AB1B5CE41A8}"/>
              </a:ext>
            </a:extLst>
          </p:cNvPr>
          <p:cNvSpPr txBox="1"/>
          <p:nvPr/>
        </p:nvSpPr>
        <p:spPr>
          <a:xfrm>
            <a:off x="1651000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 행렬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86B72B6-C096-D9E8-8385-47E1B43B6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843" y="4419957"/>
            <a:ext cx="3040892" cy="12950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612283-2D84-DC25-D572-AC3E7C4D5AFA}"/>
              </a:ext>
            </a:extLst>
          </p:cNvPr>
          <p:cNvSpPr txBox="1"/>
          <p:nvPr/>
        </p:nvSpPr>
        <p:spPr>
          <a:xfrm>
            <a:off x="7190826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 행렬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800A197-6437-3AF3-C382-F18525D160F6}"/>
              </a:ext>
            </a:extLst>
          </p:cNvPr>
          <p:cNvSpPr/>
          <p:nvPr/>
        </p:nvSpPr>
        <p:spPr>
          <a:xfrm>
            <a:off x="1663699" y="3175000"/>
            <a:ext cx="1738619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E7773F-40E0-77FE-31E1-E882F12EBF62}"/>
              </a:ext>
            </a:extLst>
          </p:cNvPr>
          <p:cNvSpPr/>
          <p:nvPr/>
        </p:nvSpPr>
        <p:spPr>
          <a:xfrm>
            <a:off x="4128828" y="3175000"/>
            <a:ext cx="600656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1EFB07-4F18-5C31-8EA8-A2D88879C1E9}"/>
              </a:ext>
            </a:extLst>
          </p:cNvPr>
          <p:cNvSpPr/>
          <p:nvPr/>
        </p:nvSpPr>
        <p:spPr>
          <a:xfrm rot="5400000">
            <a:off x="7214745" y="1834339"/>
            <a:ext cx="479311" cy="3155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6C6EDF1-1CBD-D410-4BE0-731C5CF32E43}"/>
              </a:ext>
            </a:extLst>
          </p:cNvPr>
          <p:cNvSpPr/>
          <p:nvPr/>
        </p:nvSpPr>
        <p:spPr>
          <a:xfrm>
            <a:off x="5023497" y="3172605"/>
            <a:ext cx="600656" cy="479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/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/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/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>
                          <a:latin typeface="Cambria Math" panose="02040503050406030204" pitchFamily="18" charset="0"/>
                        </a:rPr>
                        <m:t>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/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/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ko-KR" altLang="en-US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ko-KR" altLang="en-US" sz="3200" i="1"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lang="ko-KR" alt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/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1673-ECE2-DA5A-B78A-0BE85AAB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1D28ED6-5E68-59A6-FD81-D09EF7777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D493F-64FB-8E1B-526F-EF8D8A09F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5AC1-68F2-8C42-E3C0-9875673FE1A1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077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7C5A-B6D6-3FC0-0202-30533261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3ECD915-FC90-1E9B-3E0C-468C29E3B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910616-B5BE-9E61-C480-426348881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D4113-D162-D799-8AB3-4C994B2B6AE8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93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88481-D4B2-A51B-82AD-E13C40E3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9A6821-B91B-7B91-FA83-519D5AE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Corpus</a:t>
            </a:r>
            <a:r>
              <a:rPr lang="ko-KR" altLang="en-US" dirty="0">
                <a:cs typeface="Segoe UI Light" panose="020B0502040204020203" pitchFamily="34" charset="0"/>
              </a:rPr>
              <a:t>를</a:t>
            </a:r>
            <a:r>
              <a:rPr lang="en-US" altLang="ko-KR" dirty="0">
                <a:cs typeface="Segoe UI Light" panose="020B0502040204020203" pitchFamily="34" charset="0"/>
              </a:rPr>
              <a:t> SVD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FD66651-EC78-89D0-2FC2-C9044644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1FE20D-737A-0AF5-50CC-FEF262C80510}"/>
              </a:ext>
            </a:extLst>
          </p:cNvPr>
          <p:cNvSpPr txBox="1"/>
          <p:nvPr/>
        </p:nvSpPr>
        <p:spPr>
          <a:xfrm>
            <a:off x="660401" y="1491040"/>
            <a:ext cx="8135613" cy="34163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?',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vectorizer.fit_transform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X.shape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X.toarray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(), columns=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A9D0A6B-02D5-5C8C-AB22-FC807CC12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1" y="4907360"/>
            <a:ext cx="6946900" cy="1619410"/>
          </a:xfrm>
          <a:prstGeom prst="rect">
            <a:avLst/>
          </a:prstGeom>
        </p:spPr>
      </p:pic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480F8A1-315D-7B6F-9B66-53940E67A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8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1D9-7BB8-6C15-BA9B-2F0E1797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D737CD4-4519-2F35-F8CE-672CC54F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016F85A-39C8-7B9C-979A-C766E17B6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3F7E85-778C-8AD4-2FD1-C1A6BE048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85CFD7-02AC-B78B-FFF6-2147B3951836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데이터를 다운로드 받아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차원으로 차원축소를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통해 수행하고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차원평면에 시각화하고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성분의 원자료에 대한 분산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각각 구하라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D774-87C2-30FA-01BC-C88740570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736" y="2601972"/>
            <a:ext cx="4565365" cy="3967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609557-8970-B9C5-255D-D7AB409F59B8}"/>
              </a:ext>
            </a:extLst>
          </p:cNvPr>
          <p:cNvSpPr txBox="1"/>
          <p:nvPr/>
        </p:nvSpPr>
        <p:spPr>
          <a:xfrm>
            <a:off x="6311900" y="3238482"/>
            <a:ext cx="52451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구성요소의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(Explained Variance Ratio): [0.02870851 0.1489005 ]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총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(Cumulative Explained Variance Ratio): 0.1776090085481234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(X, axis=1)}")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높이려면 어떻게 하여야 하나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249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C9EAE-993B-5BA4-00D4-94C860E69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886306E-B394-99FD-ABFE-D1B5F6208FCC}"/>
              </a:ext>
            </a:extLst>
          </p:cNvPr>
          <p:cNvSpPr/>
          <p:nvPr/>
        </p:nvSpPr>
        <p:spPr>
          <a:xfrm>
            <a:off x="1457324" y="22606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116E93C-C115-EF9E-DA9C-6AB43E042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3DC88B3-8D57-5396-8916-8AF938DD98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21AD54-91D6-4CE0-A8A3-DBC6DA3EB66E}"/>
              </a:ext>
            </a:extLst>
          </p:cNvPr>
          <p:cNvSpPr txBox="1"/>
          <p:nvPr/>
        </p:nvSpPr>
        <p:spPr>
          <a:xfrm>
            <a:off x="1957661" y="1537527"/>
            <a:ext cx="9840639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7518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6F3E-E2E1-DE93-C4DF-1DA0FB9D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2CB3CF-1070-11B6-FECF-32C615E6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PCA</a:t>
            </a:r>
            <a:r>
              <a:rPr lang="ko-KR" altLang="en-US" dirty="0">
                <a:cs typeface="Segoe UI Light" panose="020B0502040204020203" pitchFamily="34" charset="0"/>
              </a:rPr>
              <a:t>와 </a:t>
            </a:r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를 비교하라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23BCFB-479B-4FD9-A43E-FCB0010581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52A81AA-CCA5-8003-C6F8-3E4074EB6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9CE29E-A472-FF07-4603-D80D05373957}"/>
              </a:ext>
            </a:extLst>
          </p:cNvPr>
          <p:cNvSpPr txBox="1"/>
          <p:nvPr/>
        </p:nvSpPr>
        <p:spPr>
          <a:xfrm>
            <a:off x="648207" y="1282489"/>
            <a:ext cx="1112731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PCA</a:t>
            </a:r>
            <a:r>
              <a:rPr lang="ko-KR" altLang="en-US" dirty="0"/>
              <a:t>는 데이터를 중앙으로 옮겨놓고</a:t>
            </a:r>
            <a:r>
              <a:rPr lang="en-US" altLang="ko-KR" dirty="0"/>
              <a:t>(Mean-Centering)</a:t>
            </a:r>
            <a:r>
              <a:rPr lang="ko-KR" altLang="en-US" dirty="0"/>
              <a:t> </a:t>
            </a:r>
            <a:r>
              <a:rPr lang="en-US" altLang="ko-KR" dirty="0"/>
              <a:t>SVD</a:t>
            </a:r>
            <a:r>
              <a:rPr lang="ko-KR" altLang="en-US" dirty="0"/>
              <a:t>를 수행하는 것과 같다는 것을 코드로 재현하라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E6820C-B89D-1806-E05C-C24E89E41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281826"/>
            <a:ext cx="7609926" cy="3973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A4711E-A871-E64C-E1CE-E5157592B74F}"/>
              </a:ext>
            </a:extLst>
          </p:cNvPr>
          <p:cNvSpPr txBox="1"/>
          <p:nvPr/>
        </p:nvSpPr>
        <p:spPr>
          <a:xfrm>
            <a:off x="8591550" y="3307171"/>
            <a:ext cx="31877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0.2851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중앙화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0.2851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5234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96D-100C-C8CD-CD01-ABE6013E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17624AE-DE10-172B-8AD3-8F0316B4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C74730C-2CDF-83A0-9D80-319D50B2F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934011CA-EF78-5ACE-7A6C-5959138F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0D225D-7EC3-F7B2-AB5B-C90B09998E81}"/>
              </a:ext>
            </a:extLst>
          </p:cNvPr>
          <p:cNvSpPr txBox="1"/>
          <p:nvPr/>
        </p:nvSpPr>
        <p:spPr>
          <a:xfrm>
            <a:off x="648207" y="1282489"/>
            <a:ext cx="111273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E1519-A563-2560-A9FC-62BCCF00B350}"/>
              </a:ext>
            </a:extLst>
          </p:cNvPr>
          <p:cNvSpPr txBox="1"/>
          <p:nvPr/>
        </p:nvSpPr>
        <p:spPr>
          <a:xfrm>
            <a:off x="648207" y="3618629"/>
            <a:ext cx="9130793" cy="230832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</p:txBody>
      </p:sp>
    </p:spTree>
    <p:extLst>
      <p:ext uri="{BB962C8B-B14F-4D97-AF65-F5344CB8AC3E}">
        <p14:creationId xmlns:p14="http://schemas.microsoft.com/office/powerpoint/2010/main" val="1946316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2523-2098-CD88-6444-E2EB83E1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9933FE-6537-DF12-FFE2-58CEF88CE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5F5D9E4-523A-1353-B000-E833BA304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EE93D85-A29E-D033-EFB6-2AA82859E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974CD-957E-EE08-7FEC-C0F5B5DFBB26}"/>
              </a:ext>
            </a:extLst>
          </p:cNvPr>
          <p:cNvSpPr txBox="1"/>
          <p:nvPr/>
        </p:nvSpPr>
        <p:spPr>
          <a:xfrm>
            <a:off x="648207" y="1282489"/>
            <a:ext cx="111273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사이킷런에서는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5CBD2-1ADB-FDCF-78DE-09489670E260}"/>
              </a:ext>
            </a:extLst>
          </p:cNvPr>
          <p:cNvSpPr txBox="1"/>
          <p:nvPr/>
        </p:nvSpPr>
        <p:spPr>
          <a:xfrm>
            <a:off x="648207" y="3618629"/>
            <a:ext cx="8927593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93630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6F41-740C-F789-FC4D-D7E18F35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80A896F-1EB0-5EDC-671D-6D31ABC0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9F3361F-97A0-0177-05D1-75BB2B3A2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F8DBF57-099F-863B-A4A0-ACF5D4791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461C39-90F7-DB59-322F-DA5EBC9FA185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1E30A3-69AA-92DB-3B60-7C519A8A04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90" y="1942162"/>
            <a:ext cx="11180736" cy="3212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81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E0BA1-AAC8-BE80-1F7D-541520E7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52ADF5-A5D8-07F4-1E9C-4555F20D8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45B8914-FF06-0237-8C4F-90330D106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499549-EBFD-2EF2-B49F-57A42E0E3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9B2114-C214-1387-050D-4E12FF109B0B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대해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(category)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차원 축소하라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7D2CB-5EA2-B35F-EBE7-4DA935F0886C}"/>
              </a:ext>
            </a:extLst>
          </p:cNvPr>
          <p:cNvSpPr txBox="1"/>
          <p:nvPr/>
        </p:nvSpPr>
        <p:spPr>
          <a:xfrm>
            <a:off x="648207" y="1907713"/>
            <a:ext cx="11127319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=20, algorithm='randomized',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n_iter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=100,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=122)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svd_model.fit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 #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/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blipFill>
                <a:blip r:embed="rId4"/>
                <a:stretch>
                  <a:fillRect l="-13333" r="-1333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8B219D3-E716-2507-323E-4870144365FB}"/>
              </a:ext>
            </a:extLst>
          </p:cNvPr>
          <p:cNvSpPr txBox="1"/>
          <p:nvPr/>
        </p:nvSpPr>
        <p:spPr>
          <a:xfrm>
            <a:off x="648207" y="3544945"/>
            <a:ext cx="11127318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terms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(components,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n=5):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idx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topic in enumerate(components):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상위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단어와 가중치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소수점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자리 반올림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리스트로 추출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[(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round(topic[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5))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in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topic.argsort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()[:-n-1:-1]]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f"Topic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{idx+1}: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b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_, terms)</a:t>
            </a:r>
          </a:p>
        </p:txBody>
      </p:sp>
    </p:spTree>
    <p:extLst>
      <p:ext uri="{BB962C8B-B14F-4D97-AF65-F5344CB8AC3E}">
        <p14:creationId xmlns:p14="http://schemas.microsoft.com/office/powerpoint/2010/main" val="85991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F83F5-FC52-AE3F-9CB4-0B3214B4D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A3F6BE1-BC5E-9CBF-D46A-0E69BEB652DF}"/>
              </a:ext>
            </a:extLst>
          </p:cNvPr>
          <p:cNvSpPr/>
          <p:nvPr/>
        </p:nvSpPr>
        <p:spPr>
          <a:xfrm>
            <a:off x="1457324" y="287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6863FD6-A1CE-47FE-EE9A-12DD6C26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F597ACF-E602-2CC4-3D8D-946D06AA53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E19485-1E11-C51D-54F8-A74379B4065B}"/>
              </a:ext>
            </a:extLst>
          </p:cNvPr>
          <p:cNvSpPr txBox="1"/>
          <p:nvPr/>
        </p:nvSpPr>
        <p:spPr>
          <a:xfrm>
            <a:off x="1957661" y="1537527"/>
            <a:ext cx="9840639" cy="3257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80260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B1A16-8B45-ADC0-7786-03084BE7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FC0BD3F-E01C-EA14-42DC-43BD86777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68399F5-3FF1-86AD-93B8-B733F69FF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AD402-D08A-510E-727B-2ECD6CFF1911}"/>
              </a:ext>
            </a:extLst>
          </p:cNvPr>
          <p:cNvSpPr txBox="1"/>
          <p:nvPr/>
        </p:nvSpPr>
        <p:spPr>
          <a:xfrm>
            <a:off x="648207" y="1282489"/>
            <a:ext cx="11127319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대규모 문서 집합</a:t>
            </a:r>
            <a:r>
              <a:rPr lang="en-US" altLang="ko-KR" dirty="0"/>
              <a:t>(</a:t>
            </a:r>
            <a:r>
              <a:rPr lang="ko-KR" altLang="en-US" dirty="0"/>
              <a:t>말뭉치</a:t>
            </a:r>
            <a:r>
              <a:rPr lang="en-US" altLang="ko-KR" dirty="0"/>
              <a:t>)</a:t>
            </a:r>
            <a:r>
              <a:rPr lang="ko-KR" altLang="en-US" dirty="0"/>
              <a:t>에서 단어들이 함께 등장하는 패턴을 분석하여</a:t>
            </a:r>
            <a:r>
              <a:rPr lang="en-US" altLang="ko-KR" dirty="0"/>
              <a:t>, </a:t>
            </a:r>
            <a:r>
              <a:rPr lang="ko-KR" altLang="en-US" dirty="0"/>
              <a:t>문서 전체에 내재된 숨겨진 주제</a:t>
            </a:r>
            <a:r>
              <a:rPr lang="en-US" altLang="ko-KR" dirty="0"/>
              <a:t>(</a:t>
            </a:r>
            <a:r>
              <a:rPr lang="ko-KR" altLang="en-US" dirty="0"/>
              <a:t>토픽</a:t>
            </a:r>
            <a:r>
              <a:rPr lang="en-US" altLang="ko-KR" dirty="0"/>
              <a:t>)</a:t>
            </a:r>
            <a:r>
              <a:rPr lang="ko-KR" altLang="en-US" dirty="0"/>
              <a:t>를 자동으로 추출하고 분류하는 기법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53DBFC-3641-C94B-B194-369C96FC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900" y="2359552"/>
            <a:ext cx="7912100" cy="38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20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87AF8-3EEE-C45B-44F5-F51A1878D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9CA7969-2377-FD1F-DF9A-61C027787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D6329DE-8011-BE78-AFB1-910D3FD5F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B55CB35-4FED-79FF-2F4E-07DD843E5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F267AB-5655-140C-8709-96F8B10AC803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뉴스그룹에서 무작위로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주제를 추출하여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Topic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개수와 의미를 맞추어 보는 실습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조가 되어 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F5AA36-BE24-850D-BDE8-8366688D5470}"/>
              </a:ext>
            </a:extLst>
          </p:cNvPr>
          <p:cNvSpPr txBox="1"/>
          <p:nvPr/>
        </p:nvSpPr>
        <p:spPr>
          <a:xfrm>
            <a:off x="794326" y="2224183"/>
            <a:ext cx="8312727" cy="4185761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random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warnings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corpora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nltk.tokenize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시각화 라이브러리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pyLDAvis.gensim_models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경고 메시지 숨기기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warnings.filterwarnings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('ignore', category=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DeprecationWarning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nltk.download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quiet=True)</a:t>
            </a:r>
          </a:p>
        </p:txBody>
      </p:sp>
    </p:spTree>
    <p:extLst>
      <p:ext uri="{BB962C8B-B14F-4D97-AF65-F5344CB8AC3E}">
        <p14:creationId xmlns:p14="http://schemas.microsoft.com/office/powerpoint/2010/main" val="3785000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2333A-240B-A37C-30FC-C6F91348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46B9A0-FAEB-DCBA-3B1C-4F4F71D8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F1F21B7-5DD6-ED1E-B063-5464E317D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4B1C5976-9DAD-DD77-8644-B2F0865DC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A826E6-660F-EE4F-5013-8BEBFB9EDA8C}"/>
              </a:ext>
            </a:extLst>
          </p:cNvPr>
          <p:cNvSpPr txBox="1"/>
          <p:nvPr/>
        </p:nvSpPr>
        <p:spPr>
          <a:xfrm>
            <a:off x="590391" y="1768607"/>
            <a:ext cx="11011218" cy="4185761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 및 무작위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alt.atheism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comp.graphics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'comp.os.ms-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windows.misc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‘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comp.sys.ibm.pc.hardware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comp.sys.mac.hardware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comp.windows.x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misc.forsale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rec.autos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rec.motorcycles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rec.sport.baseball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rec.sport.hockey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sci.crypt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sci.electronics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sci.med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soc.religion.christian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talk.politics.guns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talk.politics.mideast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talk.religion.misc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선정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재현성을 원하시면 주석을 해제하거나 변경하세요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random.sample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print(f"★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 선택된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데이터 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분석 후 맞추기 위해 텍스트만 활용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newsgroups = fetch_20newsgroups(subset='train', categories=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remove=('headers', 'footers', 'quotes'))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newsgroups.data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2762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78947-611A-FCBC-3FD5-505E7F81B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D20693B-3CB9-CE10-4A73-A92153FB7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D67CA9-D62A-0C04-1FE4-79B3AC9BB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FC5C10BC-015A-2711-338E-904EF84F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805A69-288B-1CB8-2E52-5D6E94B7BDFC}"/>
              </a:ext>
            </a:extLst>
          </p:cNvPr>
          <p:cNvSpPr txBox="1"/>
          <p:nvPr/>
        </p:nvSpPr>
        <p:spPr>
          <a:xfrm>
            <a:off x="590391" y="1768607"/>
            <a:ext cx="11011218" cy="4678204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#</a:t>
            </a:r>
            <a:r>
              <a:rPr lang="ko-KR" altLang="en-US" dirty="0"/>
              <a:t>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(r'\w+')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set(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stopwords.words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추가적인 무의미한 단어 필터링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{'ax', 'max', 'g9v', 'b8f', 'a86', 'pl', '145', '1d9', '0t', '34u'}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en_stopwords.union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documents: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소문자 변환 및 토큰화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tokenizer.tokenize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doc.lower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제거 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글자 이상 단어만 유지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 제외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[t for t in tokens if t not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not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t.isdigit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and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(t) &gt; 2]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processed_docs.append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Dictionary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dictionary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corpora.Dictionary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지나치게 빈도가 낮거나 높은 단어 필터링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품질 향상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dictionary.filter_extremes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no_below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no_above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=0.5)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= [dictionary.doc2bow(text) for text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17447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C933-4FF5-9C79-04B1-42F8AE8B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9B65F1-9A7C-6CB2-D0D8-1F3BCE178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3F56F4-DECE-9371-7DB4-1CDD9B4ED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C2D0EAC-1453-6698-5957-86B4EFECD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AC099B-765A-584A-CA06-DE2989FA198F}"/>
              </a:ext>
            </a:extLst>
          </p:cNvPr>
          <p:cNvSpPr txBox="1"/>
          <p:nvPr/>
        </p:nvSpPr>
        <p:spPr>
          <a:xfrm>
            <a:off x="590391" y="1768607"/>
            <a:ext cx="11011218" cy="4832092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저장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in range(3, 8):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print(f"\n▶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생성 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corpus=corpus,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id2word=dictionary,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update_every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passes=10,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alpha='auto',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per_word_topics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준비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gensimvis.prepare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corpus, dictionary,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sort_topics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f'lda_vis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}_topics.html'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pyLDAvis.save_html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727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FB96-9F46-AB1F-E35E-384C2E99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BEB387-2169-C9CA-2685-EE8996B1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54784CB-9C62-CC53-3DED-FD45BAE599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4F39C0C-8F2D-4149-D16A-E69A9B195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7B75699-6D83-65F7-110D-7FAD839C7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270" y="1495565"/>
            <a:ext cx="8023565" cy="49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3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3093</TotalTime>
  <Words>1923</Words>
  <Application>Microsoft Office PowerPoint</Application>
  <PresentationFormat>와이드스크린</PresentationFormat>
  <Paragraphs>251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D2Coding</vt:lpstr>
      <vt:lpstr>맑은 고딕</vt:lpstr>
      <vt:lpstr>맑은 고딕 Semilight</vt:lpstr>
      <vt:lpstr>Arial</vt:lpstr>
      <vt:lpstr>Cambria Math</vt:lpstr>
      <vt:lpstr>Segoe UI Light</vt:lpstr>
      <vt:lpstr>Wingdings</vt:lpstr>
      <vt:lpstr>WelcomeDoc</vt:lpstr>
      <vt:lpstr>Topic Modeling</vt:lpstr>
      <vt:lpstr>Contents</vt:lpstr>
      <vt:lpstr>Matrix Decomposition</vt:lpstr>
      <vt:lpstr>Matrix Decomposition</vt:lpstr>
      <vt:lpstr>Matrix Decomposition</vt:lpstr>
      <vt:lpstr>Corpus를 SVD를 사용하여 2차원으로 차원 축소하라</vt:lpstr>
      <vt:lpstr>MNIST를 사용하여 2차원으로 차원 축소하라</vt:lpstr>
      <vt:lpstr>Contents</vt:lpstr>
      <vt:lpstr>MNIST를 사용하여 PCA와 SVD를 비교하라</vt:lpstr>
      <vt:lpstr>SVD 응용</vt:lpstr>
      <vt:lpstr>SVD 응용</vt:lpstr>
      <vt:lpstr>SVD 응용</vt:lpstr>
      <vt:lpstr>SVD 응용</vt:lpstr>
      <vt:lpstr>Contents</vt:lpstr>
      <vt:lpstr>토픽 모델링(Topic Modeling)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103</cp:revision>
  <dcterms:created xsi:type="dcterms:W3CDTF">2026-04-06T01:00:39Z</dcterms:created>
  <dcterms:modified xsi:type="dcterms:W3CDTF">2026-06-02T04:58:53Z</dcterms:modified>
  <cp:version/>
</cp:coreProperties>
</file>