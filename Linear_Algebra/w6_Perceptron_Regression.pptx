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978" r:id="rId3"/>
    <p:sldId id="973" r:id="rId4"/>
    <p:sldId id="977" r:id="rId5"/>
    <p:sldId id="986" r:id="rId6"/>
    <p:sldId id="976" r:id="rId7"/>
    <p:sldId id="886" r:id="rId8"/>
    <p:sldId id="949" r:id="rId9"/>
    <p:sldId id="991" r:id="rId10"/>
    <p:sldId id="990" r:id="rId11"/>
    <p:sldId id="992" r:id="rId12"/>
    <p:sldId id="987" r:id="rId13"/>
    <p:sldId id="982" r:id="rId14"/>
    <p:sldId id="983" r:id="rId15"/>
    <p:sldId id="968" r:id="rId16"/>
    <p:sldId id="994" r:id="rId17"/>
    <p:sldId id="908" r:id="rId18"/>
    <p:sldId id="885" r:id="rId19"/>
    <p:sldId id="979" r:id="rId20"/>
    <p:sldId id="980" r:id="rId21"/>
    <p:sldId id="995" r:id="rId2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978"/>
            <p14:sldId id="973"/>
            <p14:sldId id="977"/>
            <p14:sldId id="986"/>
            <p14:sldId id="976"/>
            <p14:sldId id="886"/>
            <p14:sldId id="949"/>
            <p14:sldId id="991"/>
            <p14:sldId id="990"/>
            <p14:sldId id="992"/>
            <p14:sldId id="987"/>
            <p14:sldId id="982"/>
            <p14:sldId id="983"/>
            <p14:sldId id="968"/>
            <p14:sldId id="994"/>
            <p14:sldId id="908"/>
            <p14:sldId id="885"/>
            <p14:sldId id="979"/>
            <p14:sldId id="980"/>
            <p14:sldId id="99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DD462F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8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12CA-9D2F-F288-FA76-3143D6F9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E904F3-3AB1-ACD5-18C2-8CD56885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0EC024-0D98-D39D-2E50-BDA85B9AA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11EF2-08FC-31B3-3B73-F3AB56255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06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987-F2FF-8FE5-C93A-60FA8597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FE57C7-7F72-B9F3-D10C-DF821448F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A86459-E845-2D50-AAA1-9332006DD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FD7CA-87C4-81E5-E6F3-143D2EFE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96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DC03-7D57-3917-5544-74CDAFC8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A89F99-0772-7A5B-A1D7-B526A7D76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B0A05-BFDB-360D-1FB8-9D6E9DB3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73AA19-2E41-979A-4F8E-D8EB7814B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59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2026-04-27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stochasti%20gradient%20descent.xls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ancestor9/mathematics-for-machine-learning/blob/main/excel/loss_functions.xlsx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ancestor9/mathematics-for-machine-learning/blob/main/pytorch/08_odds_ratio_logit_sigmoid.ipynb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excel/XOR_perceptron_optimization_backprpagation_sgd.xlsx" TargetMode="External"/><Relationship Id="rId4" Type="http://schemas.openxmlformats.org/officeDocument/2006/relationships/hyperlink" Target="https://www.youtube.com/watch?v=t3VBY9OisCo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ILsA4nyG7I0" TargetMode="External"/><Relationship Id="rId5" Type="http://schemas.openxmlformats.org/officeDocument/2006/relationships/hyperlink" Target="https://github.com/ancestor9/mathematics-for-machine-learning/blob/main/scripts/w4_pytorch_tutorial.ipynb" TargetMode="Externa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tree/main/pytorc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tree/main/pytorch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4E00A9-B7BD-84B1-C8C9-4379A44B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6" y="2796363"/>
            <a:ext cx="4492179" cy="23747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39FB3-BDC3-5CE1-2660-D71F27A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5" y="2796363"/>
            <a:ext cx="4737003" cy="3063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0331E-189C-7790-90B5-D620BD0EBE3F}"/>
              </a:ext>
            </a:extLst>
          </p:cNvPr>
          <p:cNvSpPr txBox="1"/>
          <p:nvPr/>
        </p:nvSpPr>
        <p:spPr>
          <a:xfrm>
            <a:off x="2177634" y="54975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시험 문제를 풀고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네크워크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 설정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채점을 해서 몇 점 틀렸는지 확인한 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문제의 해설지를 보며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개념이 부족했는지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파악하여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부족했던 개념을 새로 공부해서 머릿속 지식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고쳐가는 과정을 수천 번 반복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모델은 점점 정답에 가까워지게 학습</a:t>
            </a:r>
          </a:p>
        </p:txBody>
      </p:sp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0A323-CDF3-5091-9096-CEF8B599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6" y="3073075"/>
            <a:ext cx="4492179" cy="2374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0370B-53E0-61CC-7F18-218A76E249D3}"/>
              </a:ext>
            </a:extLst>
          </p:cNvPr>
          <p:cNvSpPr txBox="1"/>
          <p:nvPr/>
        </p:nvSpPr>
        <p:spPr>
          <a:xfrm>
            <a:off x="537021" y="1245750"/>
            <a:ext cx="10902504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수학적 연산이 수행되는 순방향 과정을 나타내며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연산의 구성은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숫자 2가 '더하기(+)' 노드로 들어가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이 노드를 거쳐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+ 2라는 결과가 도출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+ 2라고 쓰는 순간, 내부적으로는 이런 연산그래프 노드가 생성되며 이때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숫자 값이 아니라, 어떤 연산을 통해 만들어졌는지에 대한 정보를 함께 가지게 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4B6B8-49C6-CCD9-83EC-AFA53128D93F}"/>
              </a:ext>
            </a:extLst>
          </p:cNvPr>
          <p:cNvSpPr txBox="1"/>
          <p:nvPr/>
        </p:nvSpPr>
        <p:spPr>
          <a:xfrm>
            <a:off x="5534025" y="3073075"/>
            <a:ext cx="6096000" cy="28623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(기울기를 계산하도록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초록색 화살표 과정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 연산 수행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y.item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이미지의 '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AddBackward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 확인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f"연산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식별자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355929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2DF-39AA-EAFD-BC6B-0B41748E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2FEE9-46F5-EA57-68C2-427AFE42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F5082A-5927-C6E1-DA4F-5F71251E9A7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D307B3-1256-BA92-853B-52BFE54F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1D5DF3-B10F-E653-EEF7-4FEF83290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5" y="3175319"/>
            <a:ext cx="4737003" cy="306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F44A6-312B-CF7E-D95F-868985B25DBA}"/>
              </a:ext>
            </a:extLst>
          </p:cNvPr>
          <p:cNvSpPr txBox="1"/>
          <p:nvPr/>
        </p:nvSpPr>
        <p:spPr>
          <a:xfrm>
            <a:off x="537021" y="1259068"/>
            <a:ext cx="11410028" cy="161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 Pass(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 계수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계산하는 역방향 연산 결과로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grad_fn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속성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연산으로 만들어졌기 때문에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AddBackward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미분용 함수가 자동으로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태깅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나중에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역전파할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때 이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규칙에 맞춰 미분해라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메모지로 학습 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y.backward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호출하면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화살표가 반대 방향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빨간색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흐르면서 미분을 하여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결과값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미치는 영향력을 계산하여 뒤로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FD6F-F034-68FF-258C-3F04261064E7}"/>
              </a:ext>
            </a:extLst>
          </p:cNvPr>
          <p:cNvSpPr txBox="1"/>
          <p:nvPr/>
        </p:nvSpPr>
        <p:spPr>
          <a:xfrm>
            <a:off x="5713902" y="3175319"/>
            <a:ext cx="60960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빨간색 화살표 과정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결과 확인 (기울기)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+ 2 이므로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1이 생성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기울기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81953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02DA-20F1-737B-D0B0-2E568ECD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C83A0-3BE3-EEE2-FFEA-0272A1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B8FDAC1-BF69-9FDB-D572-0A0F2FD47949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6FAD018-9242-05E9-922B-D4A1BE8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99F50-01FB-2B8F-FDD0-55673AF023E0}"/>
              </a:ext>
            </a:extLst>
          </p:cNvPr>
          <p:cNvSpPr txBox="1"/>
          <p:nvPr/>
        </p:nvSpPr>
        <p:spPr>
          <a:xfrm>
            <a:off x="613223" y="1956990"/>
            <a:ext cx="4644578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정의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속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 x,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2.0, 4.0, 3.0, 5.0])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3.0, 3.0, 2.0, 5.0])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파라미터 초기화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초기 설정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α=β=0)</a:t>
            </a:r>
          </a:p>
          <a:p>
            <a:pPr>
              <a:lnSpc>
                <a:spcPts val="1575"/>
              </a:lnSpc>
              <a:buNone/>
            </a:pP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(alpha)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(beta)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설정하고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 = 4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alpha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beta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():.4f}\n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시작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(Recursive iterations)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iteration = 0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46A4-8B9E-6FA2-816C-B833DF47B5F4}"/>
              </a:ext>
            </a:extLst>
          </p:cNvPr>
          <p:cNvSpPr txBox="1"/>
          <p:nvPr/>
        </p:nvSpPr>
        <p:spPr>
          <a:xfrm>
            <a:off x="5460214" y="1332705"/>
            <a:ext cx="6023314" cy="480118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epoch in range(1, epochs + 1):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print(f"--- {epoch} epoch ---")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엑셀처럼 각 데이터 샘플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(instance)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마다 업데이트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(SGD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x, y in zip(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 + β *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alpha + beta * x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 = (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 ** 2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/2  #(y_hat-y)^2/2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미분하면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-y)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됨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기록을 건드리지 않기 위해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alpha_j+1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alpha_j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beta_j+1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beta_j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x * 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beta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다음 반복을 위해 기울기 초기화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f"Iteration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{iteration}: alpha={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\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beta={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error={(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y).item():.4f}")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iteration += 1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95D80-1965-E9EF-FD9B-071FD52325B3}"/>
              </a:ext>
            </a:extLst>
          </p:cNvPr>
          <p:cNvSpPr txBox="1"/>
          <p:nvPr/>
        </p:nvSpPr>
        <p:spPr>
          <a:xfrm>
            <a:off x="613223" y="1314829"/>
            <a:ext cx="357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3"/>
              </a:rPr>
              <a:t>sgd.xlsx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예제를 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12287B-57AD-1713-2D34-689C3872A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0138" y="3015581"/>
            <a:ext cx="1702369" cy="6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5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2D0A-5D07-F026-511C-2A5BFC23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50F38-937E-F755-580F-AE17EBFC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C91F776-8B9B-98BC-8E11-9635E9A04D0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D69CF31-4A39-9AB8-FCC2-916BEE125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D5DA5-375F-BBD5-5460-D40A69A58F64}"/>
              </a:ext>
            </a:extLst>
          </p:cNvPr>
          <p:cNvSpPr txBox="1"/>
          <p:nvPr/>
        </p:nvSpPr>
        <p:spPr>
          <a:xfrm>
            <a:off x="638982" y="1346628"/>
            <a:ext cx="10628574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PyTorch의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기능을 통해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a와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b를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학습(최적화)하는 전체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9CB94-5A27-0BFD-6BB8-559463C11FAD}"/>
              </a:ext>
            </a:extLst>
          </p:cNvPr>
          <p:cNvSpPr txBox="1"/>
          <p:nvPr/>
        </p:nvSpPr>
        <p:spPr>
          <a:xfrm>
            <a:off x="715326" y="1926290"/>
            <a:ext cx="4656774" cy="437042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Tensor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형태이므로 그대로 사용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이므로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(y).view(-1, 1)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a, b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정의 및 초기화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미분 가능하도록 설정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epochs = 1000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556DF-C93B-5239-CCDC-23DA6FDC6BBE}"/>
              </a:ext>
            </a:extLst>
          </p:cNvPr>
          <p:cNvSpPr txBox="1"/>
          <p:nvPr/>
        </p:nvSpPr>
        <p:spPr>
          <a:xfrm>
            <a:off x="5538683" y="1926290"/>
            <a:ext cx="5352099" cy="449353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(Forward Pass)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 + b * X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(MSE)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 y)**2)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 Pass): dL/da, dL/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자동 계산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및 기울기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b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업데이트 후에는 반드시 기울기를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print("-" * 30)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실제 계수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coef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{coef:.4f}")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b 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b.item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():.4f}")</a:t>
            </a:r>
          </a:p>
        </p:txBody>
      </p:sp>
    </p:spTree>
    <p:extLst>
      <p:ext uri="{BB962C8B-B14F-4D97-AF65-F5344CB8AC3E}">
        <p14:creationId xmlns:p14="http://schemas.microsoft.com/office/powerpoint/2010/main" val="129990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BCD33C-36A8-2406-5A3F-36994C0AE701}"/>
              </a:ext>
            </a:extLst>
          </p:cNvPr>
          <p:cNvSpPr txBox="1"/>
          <p:nvPr/>
        </p:nvSpPr>
        <p:spPr>
          <a:xfrm>
            <a:off x="500606" y="1304253"/>
            <a:ext cx="1101620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형태의 데이터는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선형결합식의 어떠한 조합으로도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Positive(1)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Negative(0)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하지 못하기 때문에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각 노드마다 도입하여 비선형으로 인공지능을 구성하여 예측 분류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FC96B868-5D45-9DB3-23EC-345A8DAFC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236" y="4494029"/>
            <a:ext cx="2582775" cy="2119435"/>
          </a:xfrm>
          <a:prstGeom prst="rect">
            <a:avLst/>
          </a:prstGeom>
        </p:spPr>
      </p:pic>
      <p:pic>
        <p:nvPicPr>
          <p:cNvPr id="1029" name="그림 1028">
            <a:extLst>
              <a:ext uri="{FF2B5EF4-FFF2-40B4-BE49-F238E27FC236}">
                <a16:creationId xmlns:a16="http://schemas.microsoft.com/office/drawing/2014/main" id="{10E9D52F-1AD9-729A-CF4D-AB9697B6C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235" y="2320793"/>
            <a:ext cx="2582775" cy="2026485"/>
          </a:xfrm>
          <a:prstGeom prst="rect">
            <a:avLst/>
          </a:prstGeom>
        </p:spPr>
      </p:pic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D18E881C-469B-AC71-8FD8-B021F8E80BA3}"/>
              </a:ext>
            </a:extLst>
          </p:cNvPr>
          <p:cNvCxnSpPr>
            <a:stCxn id="57" idx="3"/>
            <a:endCxn id="1029" idx="1"/>
          </p:cNvCxnSpPr>
          <p:nvPr/>
        </p:nvCxnSpPr>
        <p:spPr>
          <a:xfrm flipV="1">
            <a:off x="4550953" y="3334036"/>
            <a:ext cx="3380282" cy="115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8B8FA355-D964-8286-2084-CB01783B4E7D}"/>
              </a:ext>
            </a:extLst>
          </p:cNvPr>
          <p:cNvCxnSpPr>
            <a:cxnSpLocks/>
            <a:stCxn id="57" idx="3"/>
            <a:endCxn id="1026" idx="1"/>
          </p:cNvCxnSpPr>
          <p:nvPr/>
        </p:nvCxnSpPr>
        <p:spPr>
          <a:xfrm>
            <a:off x="4550953" y="4494029"/>
            <a:ext cx="3380283" cy="105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0C0A2111-AA3F-1327-DD5D-7EF1098835CF}"/>
              </a:ext>
            </a:extLst>
          </p:cNvPr>
          <p:cNvSpPr txBox="1"/>
          <p:nvPr/>
        </p:nvSpPr>
        <p:spPr>
          <a:xfrm rot="20482373">
            <a:off x="5048332" y="3067854"/>
            <a:ext cx="24876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데이터자체를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공간이동 후 선형식으로 분류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4461D5D0-9910-5322-B982-450A79839777}"/>
              </a:ext>
            </a:extLst>
          </p:cNvPr>
          <p:cNvSpPr txBox="1"/>
          <p:nvPr/>
        </p:nvSpPr>
        <p:spPr>
          <a:xfrm rot="1145019">
            <a:off x="5026856" y="5123938"/>
            <a:ext cx="245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 알고리즘을 데이터에 적용하여 분류</a:t>
            </a:r>
          </a:p>
        </p:txBody>
      </p:sp>
      <p:pic>
        <p:nvPicPr>
          <p:cNvPr id="1041" name="Picture 8">
            <a:extLst>
              <a:ext uri="{FF2B5EF4-FFF2-40B4-BE49-F238E27FC236}">
                <a16:creationId xmlns:a16="http://schemas.microsoft.com/office/drawing/2014/main" id="{0CCA9A08-B7BD-63D8-5E03-A729AA377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2" y="2767387"/>
            <a:ext cx="3606501" cy="345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A20783F-30F0-D4B7-012A-63D6D5CC1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44" y="2768311"/>
            <a:ext cx="3626509" cy="345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9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" grpId="0"/>
      <p:bldP spid="10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88A6-C9D4-C594-7386-21D381B9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8292C-48F8-5B5D-EC3D-7872AF78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126D9EC8-2573-34A0-2202-68309B0D1117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Neural Network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15B8025-02B8-A5E7-B976-C2C15FDB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60" y="1693518"/>
            <a:ext cx="8782050" cy="44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1462-6263-5D7F-4E6C-449689AB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9AEE1-E36A-FAAA-E19F-3BCB49A5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722EA60-9816-0D47-A0DC-38408052C222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A48CA-FBC3-2463-86B0-7EDF7679084B}"/>
              </a:ext>
            </a:extLst>
          </p:cNvPr>
          <p:cNvSpPr txBox="1"/>
          <p:nvPr/>
        </p:nvSpPr>
        <p:spPr>
          <a:xfrm>
            <a:off x="656620" y="1764051"/>
            <a:ext cx="4687023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XOR 데이터 정의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([[0.0, 0.0], [0.0, 1.0],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	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[1.0, 0.0], [1.0, 1.0]])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([[0.0], [1.0], [1.0], [0.0]])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파라미터 설정 (노드 2개)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입력(2)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2),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1),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0.5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D8D79-0BBE-25BC-5DB0-838980C0289D}"/>
              </a:ext>
            </a:extLst>
          </p:cNvPr>
          <p:cNvSpPr txBox="1"/>
          <p:nvPr/>
        </p:nvSpPr>
        <p:spPr>
          <a:xfrm>
            <a:off x="5459391" y="1764051"/>
            <a:ext cx="6323637" cy="440120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학습 루프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W1) + b1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(a1, W2) + b2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손실 함수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Binary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Entropy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-(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 + 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 계산)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파라미터 업데이트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W1.grad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b1.grad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W2.grad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b2.grad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b1.grad.zero_()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b2.grad.zero_()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441044D-4B58-E474-EB53-A0C083248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437890"/>
          </a:xfrm>
        </p:spPr>
        <p:txBody>
          <a:bodyPr>
            <a:normAutofit lnSpcReduction="10000"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노드 개수를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3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Hidden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Layer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 등 인공지능망 구조를 변경하면서 실습하라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73BBA46-E25C-D9B7-3D3C-55DB5924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00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173F-0EA7-5332-5B71-1F194878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AF317-7A4D-0EDB-C867-141D167C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E10A7B3-6DA7-9C2C-93C6-819876A0FA91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neural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network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scikit-learn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estimator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API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290014-81CE-C841-AC7E-9067310A1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326" y="1313348"/>
            <a:ext cx="6287545" cy="538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FA6556-DBA7-499A-3D0C-10C7A8D42BEF}"/>
              </a:ext>
            </a:extLst>
          </p:cNvPr>
          <p:cNvSpPr/>
          <p:nvPr/>
        </p:nvSpPr>
        <p:spPr>
          <a:xfrm>
            <a:off x="4747326" y="1313348"/>
            <a:ext cx="3250781" cy="26220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0C32B9-3EFB-57B4-4B81-7A55193A56D0}"/>
              </a:ext>
            </a:extLst>
          </p:cNvPr>
          <p:cNvSpPr/>
          <p:nvPr/>
        </p:nvSpPr>
        <p:spPr>
          <a:xfrm>
            <a:off x="4737678" y="3965880"/>
            <a:ext cx="3250781" cy="262204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FA820-AD5A-168F-D412-57DCC3958699}"/>
              </a:ext>
            </a:extLst>
          </p:cNvPr>
          <p:cNvSpPr txBox="1"/>
          <p:nvPr/>
        </p:nvSpPr>
        <p:spPr>
          <a:xfrm>
            <a:off x="656619" y="1313348"/>
            <a:ext cx="3848374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인공지능망과 다른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분류한 결과를 의사결정경계선을 시각화한 것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 구조인 로지스틱 회귀식은 분류를 못함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텍스트 데이터와 같이 고차원 데이터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비선형을 가진 데이터는 인공지능망의 성능이 높음</a:t>
            </a:r>
          </a:p>
        </p:txBody>
      </p:sp>
    </p:spTree>
    <p:extLst>
      <p:ext uri="{BB962C8B-B14F-4D97-AF65-F5344CB8AC3E}">
        <p14:creationId xmlns:p14="http://schemas.microsoft.com/office/powerpoint/2010/main" val="1534555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CD14-C5EB-9287-8D73-F9F1BB28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B0587-D91B-8580-6E0F-BD875D1A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9D7CF7-62C2-EF58-A712-6F1CA1C6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DE5B218-DB00-6927-3154-13E34DC8DC40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B3273-5808-C357-A26E-D8D5B7FC9953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9E4D-3AB5-541E-8D0B-A6AC490A60A2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7791B-4972-60A0-42AF-E11FBE129692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227774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6907-6B9A-B691-FA60-CB5742F0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F6028-E971-D2D2-A37C-A4B681D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F6427EA-47CE-DD8E-2ECD-17D2CF70C816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 functions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514FD8-2DC4-4FAB-2375-F50B8E928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01" y="2174702"/>
            <a:ext cx="6005080" cy="39398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8A7B801-0A51-4A98-B12E-63322EDD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66" y="2624079"/>
            <a:ext cx="4587433" cy="478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537F47-2CF7-D84F-42A1-EB257E1F5295}"/>
              </a:ext>
            </a:extLst>
          </p:cNvPr>
          <p:cNvSpPr txBox="1"/>
          <p:nvPr/>
        </p:nvSpPr>
        <p:spPr>
          <a:xfrm>
            <a:off x="512180" y="1348385"/>
            <a:ext cx="11212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확률값만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남는다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087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C948-29E9-8735-2FB6-BC707123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201F9-D791-B84F-532F-E5201113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046C5C9-7FC9-878D-B677-5BF98F4B925D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loss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E7BB11-E633-A94D-2501-F36DA50C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20" y="2029703"/>
            <a:ext cx="5713174" cy="437168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D74360-CCF4-B8C7-480C-D7341F47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56620" y="2691805"/>
            <a:ext cx="3240913" cy="844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0762F-5B79-568D-9980-2E386885B9C5}"/>
              </a:ext>
            </a:extLst>
          </p:cNvPr>
          <p:cNvSpPr txBox="1"/>
          <p:nvPr/>
        </p:nvSpPr>
        <p:spPr>
          <a:xfrm>
            <a:off x="543286" y="1280721"/>
            <a:ext cx="10992093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확률값만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남으며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Log-loss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Cross-Entropy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이진분류의 특수한 경우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057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833C-0702-7FB9-CA68-E9F604F9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EBE41-3AF7-AB83-DEB8-CFAA6D3B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A6AC6CE-12FA-975E-AED0-B7F1423238CC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Logistic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5E958-F0D6-D564-FD8F-0ABCBD009E33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분류모델인 로지스틱 회귀는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/08_odds_ratio_logit_sigmoid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 참고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223FD0-ADC8-B76A-10E9-7FF52DA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596" y="2038228"/>
            <a:ext cx="3976808" cy="29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72A7111D-DEE6-F645-A881-641D0B0B8098}"/>
              </a:ext>
            </a:extLst>
          </p:cNvPr>
          <p:cNvGrpSpPr/>
          <p:nvPr/>
        </p:nvGrpSpPr>
        <p:grpSpPr>
          <a:xfrm>
            <a:off x="656620" y="2038228"/>
            <a:ext cx="7087128" cy="3638672"/>
            <a:chOff x="656620" y="2038228"/>
            <a:chExt cx="7087128" cy="363867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3668DD-F69F-352A-2678-065F4B07A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56620" y="2038228"/>
              <a:ext cx="7087128" cy="363867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9CC41A3-5878-CDD8-C521-016FE5C04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916084" y="5032462"/>
              <a:ext cx="2672452" cy="644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71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199" y="66676"/>
            <a:ext cx="1657351" cy="10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1856" y="2346102"/>
            <a:ext cx="10516592" cy="3690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791856" y="6201755"/>
            <a:ext cx="9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Tube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FD12-73D2-3353-A8C4-7E7C0383DD21}"/>
              </a:ext>
            </a:extLst>
          </p:cNvPr>
          <p:cNvSpPr txBox="1"/>
          <p:nvPr/>
        </p:nvSpPr>
        <p:spPr>
          <a:xfrm>
            <a:off x="544946" y="1415177"/>
            <a:ext cx="111482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0F3AF9-A173-B593-4230-2FE3E7921A68}"/>
              </a:ext>
            </a:extLst>
          </p:cNvPr>
          <p:cNvSpPr txBox="1"/>
          <p:nvPr/>
        </p:nvSpPr>
        <p:spPr>
          <a:xfrm>
            <a:off x="704850" y="2082568"/>
            <a:ext cx="516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XOR_perceptron_optimization_backprpagation_sgd.xlsx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99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50" y="1480521"/>
            <a:ext cx="3592964" cy="373439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Tutorial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배우고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오른쪽 그림을 바탕으로 입력과 출력데이터를 생성하고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네크워크를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구성하고 학습한 후 예측하라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예측하여야 하는 총 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parameters(w,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b)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몇 개인가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?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4939-FECE-E50C-F0C1-06C4C442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4" y="1448109"/>
            <a:ext cx="7505700" cy="4431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0D858-72FF-9996-DDB4-58889C397859}"/>
              </a:ext>
            </a:extLst>
          </p:cNvPr>
          <p:cNvSpPr txBox="1"/>
          <p:nvPr/>
        </p:nvSpPr>
        <p:spPr>
          <a:xfrm>
            <a:off x="2600325" y="634753"/>
            <a:ext cx="3082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EDEB4-CC20-F660-9DB2-96EED65201AC}"/>
              </a:ext>
            </a:extLst>
          </p:cNvPr>
          <p:cNvSpPr txBox="1"/>
          <p:nvPr/>
        </p:nvSpPr>
        <p:spPr>
          <a:xfrm>
            <a:off x="4100514" y="5880269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utube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D66E-3002-A56F-DF76-AA82152E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61D28-EFC5-6097-DEE8-D30506D42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72781A-2383-4E2D-7B76-619F7FA06A3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50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CCFD-463F-7127-518A-5DC5407A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9266F11-C291-BAA9-5735-0A5A7CFF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 err="1">
                <a:cs typeface="Segoe UI Light" panose="020B0502040204020203" pitchFamily="34" charset="0"/>
              </a:rPr>
              <a:t>pytorch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tutorial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2A3FE8-AC2B-31B3-C63B-4CF02B6CB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BC71BA-4391-0FA8-6E62-1CDC58F5E7DD}"/>
              </a:ext>
            </a:extLst>
          </p:cNvPr>
          <p:cNvSpPr txBox="1"/>
          <p:nvPr/>
        </p:nvSpPr>
        <p:spPr>
          <a:xfrm>
            <a:off x="950697" y="1402638"/>
            <a:ext cx="105531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Installation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 Basics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With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Training Pipeline: Model, Loss, and Optimizer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Logistic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and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DataLoader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Transforms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Softmax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Cross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Feed-Forward Neural Net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Convolutional Neural Net (CNN)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Transfer Learning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Tensorboard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Save and Load Models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0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406C-F485-A977-D3B2-7B4BA9E3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179BE79-7BA8-0175-B313-2D6723C2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 err="1">
                <a:cs typeface="Segoe UI Light" panose="020B0502040204020203" pitchFamily="34" charset="0"/>
              </a:rPr>
              <a:t>pytorch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tutorial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88294E6-B883-D278-E8DC-F84991EBC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AF9C1-28B2-597E-AF92-5E1F56D31EFB}"/>
              </a:ext>
            </a:extLst>
          </p:cNvPr>
          <p:cNvSpPr txBox="1"/>
          <p:nvPr/>
        </p:nvSpPr>
        <p:spPr>
          <a:xfrm>
            <a:off x="950697" y="1402638"/>
            <a:ext cx="105531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Installation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 Basics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With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Training Pipeline: Model, Loss, and Optimizer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Logistic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and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DataLoader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Transforms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Softmax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Cross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Feed-Forward Neural Net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Convolutional Neural Net (CNN)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Transfer Learning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Tensorboard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Save and Load Models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596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2396</TotalTime>
  <Words>2658</Words>
  <Application>Microsoft Office PowerPoint</Application>
  <PresentationFormat>와이드스크린</PresentationFormat>
  <Paragraphs>324</Paragraphs>
  <Slides>21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D2Coding</vt:lpstr>
      <vt:lpstr>맑은 고딕</vt:lpstr>
      <vt:lpstr>맑은 고딕 Semilight</vt:lpstr>
      <vt:lpstr>Batang</vt:lpstr>
      <vt:lpstr>ADLaM Display</vt:lpstr>
      <vt:lpstr>Arial</vt:lpstr>
      <vt:lpstr>Segoe UI Light</vt:lpstr>
      <vt:lpstr>Wingdings</vt:lpstr>
      <vt:lpstr>WelcomeDoc</vt:lpstr>
      <vt:lpstr>Deep Learning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Deep Learning</vt:lpstr>
      <vt:lpstr>pytorch tutorial</vt:lpstr>
      <vt:lpstr>pytorch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75</cp:revision>
  <dcterms:created xsi:type="dcterms:W3CDTF">2026-04-06T01:00:39Z</dcterms:created>
  <dcterms:modified xsi:type="dcterms:W3CDTF">2026-04-27T14:22:00Z</dcterms:modified>
  <cp:version/>
</cp:coreProperties>
</file>