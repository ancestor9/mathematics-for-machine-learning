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1074" r:id="rId2"/>
    <p:sldId id="1035" r:id="rId3"/>
    <p:sldId id="1034" r:id="rId4"/>
    <p:sldId id="1036" r:id="rId5"/>
    <p:sldId id="1037" r:id="rId6"/>
    <p:sldId id="1039" r:id="rId7"/>
    <p:sldId id="1040" r:id="rId8"/>
    <p:sldId id="1041" r:id="rId9"/>
    <p:sldId id="1042" r:id="rId10"/>
    <p:sldId id="1043" r:id="rId11"/>
    <p:sldId id="1044" r:id="rId12"/>
    <p:sldId id="1045" r:id="rId13"/>
    <p:sldId id="1046" r:id="rId14"/>
    <p:sldId id="1047" r:id="rId15"/>
    <p:sldId id="1054" r:id="rId16"/>
    <p:sldId id="1048" r:id="rId17"/>
    <p:sldId id="1051" r:id="rId18"/>
    <p:sldId id="1052" r:id="rId19"/>
    <p:sldId id="1053" r:id="rId20"/>
    <p:sldId id="1049" r:id="rId21"/>
    <p:sldId id="1055" r:id="rId22"/>
    <p:sldId id="1056" r:id="rId23"/>
    <p:sldId id="1057" r:id="rId24"/>
    <p:sldId id="1058" r:id="rId25"/>
    <p:sldId id="1064" r:id="rId26"/>
    <p:sldId id="1059" r:id="rId27"/>
    <p:sldId id="1061" r:id="rId28"/>
    <p:sldId id="1062" r:id="rId29"/>
    <p:sldId id="1063" r:id="rId30"/>
    <p:sldId id="1065" r:id="rId31"/>
    <p:sldId id="1066" r:id="rId32"/>
    <p:sldId id="1067" r:id="rId33"/>
    <p:sldId id="1069" r:id="rId34"/>
    <p:sldId id="1068" r:id="rId35"/>
    <p:sldId id="1075" r:id="rId36"/>
    <p:sldId id="1070" r:id="rId37"/>
    <p:sldId id="1076" r:id="rId38"/>
    <p:sldId id="1072" r:id="rId39"/>
    <p:sldId id="1073" r:id="rId40"/>
    <p:sldId id="1077" r:id="rId41"/>
    <p:sldId id="1085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35"/>
            <p14:sldId id="1034"/>
            <p14:sldId id="1036"/>
            <p14:sldId id="1037"/>
            <p14:sldId id="1039"/>
            <p14:sldId id="1040"/>
            <p14:sldId id="1041"/>
            <p14:sldId id="1042"/>
            <p14:sldId id="1043"/>
            <p14:sldId id="1044"/>
            <p14:sldId id="1045"/>
            <p14:sldId id="1046"/>
            <p14:sldId id="1047"/>
            <p14:sldId id="1054"/>
            <p14:sldId id="1048"/>
            <p14:sldId id="1051"/>
            <p14:sldId id="1052"/>
            <p14:sldId id="1053"/>
            <p14:sldId id="1049"/>
            <p14:sldId id="1055"/>
            <p14:sldId id="1056"/>
            <p14:sldId id="1057"/>
            <p14:sldId id="1058"/>
            <p14:sldId id="1064"/>
            <p14:sldId id="1059"/>
            <p14:sldId id="1061"/>
            <p14:sldId id="1062"/>
            <p14:sldId id="1063"/>
            <p14:sldId id="1065"/>
            <p14:sldId id="1066"/>
            <p14:sldId id="1067"/>
            <p14:sldId id="1069"/>
            <p14:sldId id="1068"/>
            <p14:sldId id="1075"/>
            <p14:sldId id="1070"/>
            <p14:sldId id="1076"/>
            <p14:sldId id="1072"/>
            <p14:sldId id="1073"/>
            <p14:sldId id="1077"/>
            <p14:sldId id="108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11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8AFA5-2A28-E0FA-1331-E366ED1B5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A59851-0EC1-7510-0392-246AAD13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25BF6D-E989-4F95-E729-328AD707B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C11B73-D9E6-0299-3FE2-E92D1AEC0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477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BDC8E-7F0E-907B-2BAF-20F99E3A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BAA35B-7894-BA7E-9D9A-F1FC332B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2BD385-D689-8B89-FFE0-0D67F77F9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EE5AF-E0C8-66B3-4D58-23F63187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4915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00AF-D3AE-B77B-7EC0-CF3D4F8E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3D778-3868-BF3C-7EAF-A7C2CF270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DC6DD8-FBF7-588B-843C-3776A2150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C6334F-5520-9DAD-CD88-3C171FC1D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897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010E-9454-9518-3438-3F8F9246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8DCD-512F-2CF4-8485-E53F17D1E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568C5B-0EF2-7F3B-B222-202CAEB8E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5B4A24-155D-5AA2-2E5A-0EDF90A95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9196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9B918-6E44-3FE1-7BC8-5231D688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406B9-224F-E5C1-8F60-0D00F2A36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98AA6-B9F5-7A33-F42F-44C8046C3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485C4-AA7D-6D42-7BD7-A607568C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46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A2115-A10F-C460-4738-A473F9E9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B2C630-7BE1-1360-D62F-0561F3BAB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C1E048-7FD7-CE74-1479-A3AC8DC98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8F06E-49A3-9FCB-4A43-12BC1831C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323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C6D11-1436-51DC-48A2-44D011A5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73E44-722E-A8D1-86BB-27D268E0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EE3189-0598-EC98-E494-120364A18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3902D-1BFC-B887-BA1C-477762F68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388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C58-D80C-D72D-41E5-F8C944CD0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AE6771-EBC8-BA8D-16A5-7A12A20E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DFB275-C88D-703F-001C-6D43D0292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1A2811-1B23-A14C-37B1-54FABBA36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5235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983-BBC9-BFB7-CF11-3CA02830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B6D556-8E73-FD52-8A7D-26CC53F7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4C70A0-8C86-24E4-C2D8-7D08F549A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CA07F-250F-DB43-8AD7-6A3D0FD30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0079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136BA-139B-ECBE-8DA7-2700C1CB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B14D9-29CD-514E-2DD3-84C65B0EA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BC75-8BA8-4DA5-D5BE-506F38AA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FAA75-CE5B-47C3-E566-B2CD4997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056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C412A-366C-7C79-7B09-F1F084D9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619307-B57B-C27A-E75D-894D972AA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D64E3-7147-DD2D-D9E6-1C547C2DF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369F9-78AD-7580-5921-61EDA36F3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3630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60D6-61D4-03F6-36B1-3E8FDC04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7DF52E-48E7-F2C7-88A2-8279EAF56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5B8C6C-EE8F-1C90-B094-31123C12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4918A-A164-0882-1761-8C0B962B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1185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348-B70A-153A-EADB-890861C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30D64C-462E-F9BB-3808-48856450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24865-6B27-D3A3-B149-DCE991165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E668B1-9B71-23FE-6C4E-CC5E3026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3919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5E89-2A31-2CC4-F7F1-4D51996E9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A7A6B1-ECD9-ABF2-E890-021D0BEB2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DB40C-2B67-F630-BAA4-71C32BD63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7D41-1E0B-54FF-BE09-81EB997C2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421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3ACB-EA22-B300-4E53-E89C9EFE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7D1229-7366-F52A-11C2-E20DE196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D734-D3C8-5A44-9A1A-34845A094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18078-40BD-BEA5-A7AD-3BD572A3D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0963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06485-B700-F3A6-49C6-FCDF1A6B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086A01-6DD7-F870-AD78-97A1FD0459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6043F-C5B3-9079-952A-A2D35550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88413-FC6B-32B1-1905-D846D67EF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79766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82D7F-46EC-B525-4E31-AC88A795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E42688-F0C9-BEB6-47A0-80F808D7E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3EB3AE-BF41-8D3B-44BD-9162F9B5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0B4FC-E046-6167-1F10-0BF32E12F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9551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4F7B-6CA9-A206-9103-CA4E52D5F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D2730-8478-8562-C400-2113907F5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B9814-F5BD-69FF-643B-7992B113C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52E7B2-2595-92CC-50E6-D056B0F03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5666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71F9-1A0A-FB56-B197-AFA03E8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E8EBF-932A-2096-29CA-CE3F814B1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AC5E36-B60B-8D9F-3317-F266CA4B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98373-BD84-31DB-3443-415FF6C6B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69440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06BD-B7C1-B47D-1DC5-8AB3D279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952E6-333D-90B7-062E-2B016B790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4B9AA4-078D-5F3F-125D-DBBBEBBFB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E9580-BA5A-FA7A-8EC8-685B983C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6079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CAA4-FAC2-3691-5E38-88D64E2F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1F96A4-05A9-7CE6-0E40-8630E8953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C50F95-993E-00FC-98F4-9B02DE80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0544D-7AD0-6800-1A25-6EF9DCCA9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59023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75DF-3267-9DF4-BB4E-01EB2D0B8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84DD6-1FF3-B1EC-2CFC-174D7816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A71B0-C542-CAE1-44F8-78CFAB9F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B7B12-A458-89EC-3B5B-D0E50F534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623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CD8E0-ADDF-AF8C-502A-F573E2D0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3FFB0D-3616-F733-4012-15A99A3B9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0E2FB-ABB0-22F1-3569-A7E572BA8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E952C-4795-76EA-83A4-80145D0FE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2026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574C9-01E5-B002-604F-037A5BCD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D76262-36B9-DED3-3C05-77A8DCAA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19D5F-AE61-2959-01E4-E3D89A73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A3709-4106-3FB9-EB1D-CD78FAF0D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83214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CA473-175A-92BA-7512-2E961EE5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E15890-4C9A-50B7-E6FA-6B2D83D77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64823-2FE6-F97E-7960-3A143DE70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648F-F51A-0F67-B54F-EC8DC6715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08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8E49-6B84-9D6D-C926-B18ED1FC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0A10F9-3429-537D-631C-F245F586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BEB09-3AEA-698E-F75E-4595E7660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B4589-D606-D6BC-2A36-6052EBA4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6048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0EA22-54F6-F16F-4402-7C4F8548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8B51F-2F96-C30C-8937-5B7C04760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E47763-9265-5DEB-AD9D-FB4DA96CE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8A4B3-F8FA-C395-90DD-5EE9B9CCE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5934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5686-8E03-3F2D-F69D-44269F0B1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67184-B2BD-EC47-62F4-890A6795A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4EB9-1C98-CDF4-645C-76468AA1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B3ABD-7EA6-7220-7C89-2E28A4465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352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1C3D-F971-F7E6-BC4E-53C486FB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015CA-43D8-8955-3F94-3690D838B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F023FE-2E8F-46FC-E491-93C1A8AB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F0778-2415-1683-8319-2AF661649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1947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D7D2-CD8B-1B45-8AC7-4469FAF01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CD7F60-8C66-CDA4-ADED-7D5FFC515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5885F-47D5-2807-EF6D-045C52EA6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9C7DAC-D5FF-3253-B526-4C5078A9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99925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3D60-BB96-97FA-8553-5F7617C45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0164E-BFF0-A851-EB30-3D9F2B560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59E00-5EC6-C5B4-D5A8-322EAA760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642574-D771-E2BA-139A-692A29107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1937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5F5F-8BF4-B77A-0643-74B505497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E85069-4DE7-BEE8-2A1B-74B6337E3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1A324-259E-4CFE-46F6-EAED9DE8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60088-5E9C-83AD-EC98-107F2FDA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229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25E0-8C3B-414E-DBC6-C859F03A6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D3DF74-A737-A7A3-E62F-F1138E664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F94A4B-C75B-91ED-C88E-648BC19CB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40326-2ECC-678C-23E3-AA3B7E144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41069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F1B2-C174-E815-D409-0A3F77E5D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2F3EB6-6D78-86EC-C34E-AC16F6838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803FFD-0CAF-439F-9645-8DFDBEEC0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B9B655-4B54-32DD-0A1C-BBBE25F5C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241316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7560D-60B5-CBEE-2F03-3A123D207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1AF83A-0425-14D8-7169-A42513D0E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D1CB96-AE80-F4E7-D3FD-BA86D28B9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8AF8D-086C-219C-9037-D25A219E2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73488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hyperlink" Target="https://docs.pytorch.org/tutorials/beginner/basics/quickstart_tutorial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5AC59-0083-118C-D987-B51E0F38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6CB441-EAB3-FD95-1F2A-AB05C71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BD49B7-3296-FE61-5F97-047B791F5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B7B84AC7-7795-1752-5B65-8879C1AC3DA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26A1E-1204-8CB3-DBA1-2D8E74C78693}"/>
              </a:ext>
            </a:extLst>
          </p:cNvPr>
          <p:cNvSpPr txBox="1"/>
          <p:nvPr/>
        </p:nvSpPr>
        <p:spPr>
          <a:xfrm>
            <a:off x="1390650" y="1962150"/>
            <a:ext cx="93996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From Scratch</a:t>
            </a:r>
          </a:p>
          <a:p>
            <a:pPr algn="ctr"/>
            <a:endParaRPr lang="en-US" altLang="ko-KR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The Forward Pass</a:t>
            </a:r>
            <a:endParaRPr lang="ko-KR" altLang="en-US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85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A331-3002-F24D-2D8E-B950731A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72177F-609A-7F4A-9A17-F555DC0C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57532C8-27C1-952D-9ADD-62F7D7185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02BDC1D-8216-BE4A-66E9-D03229AD092D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1901F9-98B8-D7F6-BD4F-D1756630C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22" y="1757064"/>
            <a:ext cx="9166506" cy="421204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10164D3-305B-9C90-ECDA-BB56E19552EF}"/>
              </a:ext>
            </a:extLst>
          </p:cNvPr>
          <p:cNvSpPr/>
          <p:nvPr/>
        </p:nvSpPr>
        <p:spPr>
          <a:xfrm>
            <a:off x="573673" y="2647950"/>
            <a:ext cx="10656302" cy="65722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133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299F-D9A1-3463-861C-6A85303F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1B87D7-7C3A-10AA-064A-7FCEBDBC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C105565-980A-EEE1-58B5-F9C875E26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9AC5167-9431-D6CB-5077-5A8F2F761DC9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87690-CC59-02E0-ACE5-47AA8BE98C78}"/>
              </a:ext>
            </a:extLst>
          </p:cNvPr>
          <p:cNvSpPr txBox="1"/>
          <p:nvPr/>
        </p:nvSpPr>
        <p:spPr>
          <a:xfrm>
            <a:off x="831533" y="1642141"/>
            <a:ext cx="10188892" cy="38213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US" altLang="ko-KR" sz="44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MAKING A GUESS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THINK OF THE FORWARD PASS AS THE MODEL'S </a:t>
            </a:r>
            <a:r>
              <a:rPr lang="en-US" altLang="ko-KR" sz="2400" b="1" dirty="0">
                <a:highlight>
                  <a:srgbClr val="FFFF00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FIRST GUESS.</a:t>
            </a:r>
            <a:endParaRPr lang="en-US" altLang="ko-KR" sz="2400" dirty="0">
              <a:highlight>
                <a:srgbClr val="FFFF00"/>
              </a:highlight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INITIALLY, ITS GUESS IS </a:t>
            </a:r>
            <a:r>
              <a:rPr lang="en-US" altLang="ko-KR" sz="3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COMPLETELY RANDOM.</a:t>
            </a:r>
            <a:endParaRPr lang="en-US" altLang="ko-KR" sz="32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4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GOAL IS SIMPLE: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IMPLEMENT A MODEL'S FIRST GUESS USING ONLY THE </a:t>
            </a:r>
            <a:r>
              <a:rPr lang="en-US" altLang="ko-KR" sz="20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RAW TENSOR OPERATIONS</a:t>
            </a: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5E7-D801-EAF5-C375-1C2E121C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570696-0F43-DAF6-90F2-C554BC093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9C2938-13E6-89E8-D952-BD01AB4E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80FC8FE6-60C8-A1E5-9FE9-C5F1A73C6872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E573-66C3-31D6-4083-73084A83E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246" y="1735075"/>
            <a:ext cx="9462255" cy="23359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F9D59E4-1591-BE25-B03D-10A5C6F9E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715" y="4070995"/>
            <a:ext cx="10268568" cy="7944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4CDA3E-71D7-D6B9-A12C-AE76AC024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3" y="4865445"/>
            <a:ext cx="9248819" cy="100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5D79D-CD12-247D-9F6C-523286ED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7471EC-FE65-3A0A-098A-BD57FBE10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BEF9F36-C910-1A6E-1A95-169C8F000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4D34085F-E56D-C68C-BF07-A65646E20AF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40FD5D-9A3D-FE60-5F31-DC3CE1227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844816"/>
            <a:ext cx="9541067" cy="10440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37069F-911D-5660-07AC-01238374A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68" y="3253640"/>
            <a:ext cx="3579607" cy="31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7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0E7-86B3-6B7B-8D90-210E56F0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992619E-318D-F078-8903-3413377D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302516-03B1-FED3-A9B8-CC415E410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AC682E-C4D2-6AFA-42C7-796FF858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293" y="1462845"/>
            <a:ext cx="8904618" cy="474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33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251F0-374A-576E-35BE-4139D8F3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15C4987-16B0-8E1A-6656-F091530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EFE8EA-87F1-21B9-7121-97B2BE558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100C34BD-42D1-69B1-7504-AC4F6664D5D0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962C5-979E-095A-BADB-63132946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830655"/>
            <a:ext cx="9548687" cy="11583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35A5ADB-8896-7191-EF88-21E4080C6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59" y="2919928"/>
            <a:ext cx="8992379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0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7EE0-C1CF-CFF7-56B7-1EAE5BD1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CFB4702-AE57-86EB-8315-1ECC080D8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E548E9-6E37-3839-60D4-C955A2294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089A2D8-3F2E-6CCB-67E1-853EE3A94EE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DC61E9-84A8-F5D4-534D-0279B0B20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1" y="1512469"/>
            <a:ext cx="10181217" cy="27642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80C5C61-2B4E-DA6B-1E6D-FD2CC9B9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70" y="4276724"/>
            <a:ext cx="8504657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09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4112-54D9-5086-F391-006AE7E4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C576F7-9444-9301-6B69-A7F19ADD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DCD99C-4B4B-CFA9-FADF-1B7132572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621E208E-EE03-F9A7-21AB-8B88F7CA837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ACD8B-83AC-FB5B-E70F-86AC75086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728" y="1516214"/>
            <a:ext cx="6637595" cy="19127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4305A6-9A7F-A5B2-450A-D9916A74D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46" y="3429000"/>
            <a:ext cx="7811177" cy="14250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951CDA-58E9-6578-2CA2-86B40B76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5402" y="4855506"/>
            <a:ext cx="6687921" cy="155443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AD5F60-4B8C-3876-424F-FE76C7D76C03}"/>
              </a:ext>
            </a:extLst>
          </p:cNvPr>
          <p:cNvSpPr/>
          <p:nvPr/>
        </p:nvSpPr>
        <p:spPr>
          <a:xfrm>
            <a:off x="5844919" y="4979836"/>
            <a:ext cx="167030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6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1D3F5-0A38-D4A0-3F7C-17EF1456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039E8F4-FB08-A263-F89D-6818E163D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F77589E-208B-EF25-4234-6BEDB6B99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DA3602C3-0ACF-82C9-FF07-FED5CAFD2F5E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1A01F0-1969-C14A-E3C4-AE1A692B46F7}"/>
              </a:ext>
            </a:extLst>
          </p:cNvPr>
          <p:cNvSpPr txBox="1"/>
          <p:nvPr/>
        </p:nvSpPr>
        <p:spPr>
          <a:xfrm>
            <a:off x="1521708" y="2770669"/>
            <a:ext cx="5439283" cy="871713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altLang="ko-KR" dirty="0"/>
              <a:t>y_hat = X@W + b</a:t>
            </a:r>
          </a:p>
          <a:p>
            <a:pPr>
              <a:lnSpc>
                <a:spcPct val="150000"/>
              </a:lnSpc>
            </a:pPr>
            <a:r>
              <a:rPr lang="es-ES" altLang="ko-KR" dirty="0"/>
              <a:t>y_hat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47BB780-5172-1BC9-D81E-BF8CD1FC2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708" y="3642382"/>
            <a:ext cx="3877216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4767E0-B28C-4EA4-5A4E-F35ED14626DC}"/>
              </a:ext>
            </a:extLst>
          </p:cNvPr>
          <p:cNvSpPr txBox="1"/>
          <p:nvPr/>
        </p:nvSpPr>
        <p:spPr>
          <a:xfrm>
            <a:off x="1525864" y="1659018"/>
            <a:ext cx="7784217" cy="11116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8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LET'S SEE OUR FIRST GUESS...</a:t>
            </a:r>
          </a:p>
          <a:p>
            <a:pPr algn="r">
              <a:lnSpc>
                <a:spcPct val="15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result is a </a:t>
            </a:r>
            <a:r>
              <a:rPr lang="en-US" altLang="ko-KR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disaster</a:t>
            </a: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as expected: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34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7FD8-A529-D5A9-1856-70E23D0F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06E303-396E-84E9-00A1-38D589DD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0A0B46E-4A8D-12ED-4FAC-91535BD9F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A6FB43B-9D9C-6A9B-9B9D-5CF0B64273A1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6CC00E-70BF-C4EB-2DA9-F5BDE0148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34" y="3310155"/>
            <a:ext cx="6799346" cy="15501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77C4DA-ADB9-CA67-2B15-895C60654370}"/>
              </a:ext>
            </a:extLst>
          </p:cNvPr>
          <p:cNvSpPr txBox="1"/>
          <p:nvPr/>
        </p:nvSpPr>
        <p:spPr>
          <a:xfrm>
            <a:off x="1026034" y="1932895"/>
            <a:ext cx="7938325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GUESS IS TERRIBLE. THEY AREN'T EVEN CLOSE.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1E2D-E062-E397-9A53-3D971E3269FE}"/>
              </a:ext>
            </a:extLst>
          </p:cNvPr>
          <p:cNvSpPr txBox="1"/>
          <p:nvPr/>
        </p:nvSpPr>
        <p:spPr>
          <a:xfrm>
            <a:off x="1026034" y="2386825"/>
            <a:ext cx="9906000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54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BUT NOTICE SOMETHING ELSE...</a:t>
            </a:r>
            <a:endParaRPr lang="ko-KR" altLang="en-US" sz="5400" b="1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376EC8-5E1B-C3BD-C058-81A7C5F691DE}"/>
              </a:ext>
            </a:extLst>
          </p:cNvPr>
          <p:cNvSpPr txBox="1"/>
          <p:nvPr/>
        </p:nvSpPr>
        <p:spPr>
          <a:xfrm>
            <a:off x="1026034" y="4765137"/>
            <a:ext cx="1026795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AUTOGRAD WAS WATCHING. THE NERVOUS SYSTEM IS ACTIVE.</a:t>
            </a:r>
            <a:endParaRPr lang="ko-KR" altLang="en-US" sz="2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130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5A80-4BA6-E340-17C7-FA14906C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AEE6B05-7ED9-33C5-1EF7-27D7B95D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260592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4BF66B2-6C69-F409-F14A-651B4CAC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916597DF-2B69-82E8-B940-C93A6E55FE6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C21EA-DB69-3168-9B5C-8D451705F601}"/>
              </a:ext>
            </a:extLst>
          </p:cNvPr>
          <p:cNvSpPr txBox="1"/>
          <p:nvPr/>
        </p:nvSpPr>
        <p:spPr>
          <a:xfrm>
            <a:off x="1118168" y="1490795"/>
            <a:ext cx="9692127" cy="12700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</a:rPr>
              <a:t>OUR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Y_HAT</a:t>
            </a:r>
            <a:r>
              <a:rPr lang="en-US" altLang="ko-KR" b="1" dirty="0">
                <a:solidFill>
                  <a:schemeClr val="bg1"/>
                </a:solidFill>
              </a:rPr>
              <a:t> IS NOWHERE NEAR THE TRUE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</a:t>
            </a:r>
            <a:r>
              <a:rPr lang="en-US" altLang="ko-KR" b="1" dirty="0">
                <a:solidFill>
                  <a:schemeClr val="bg1"/>
                </a:solidFill>
              </a:rPr>
              <a:t>. BUT THAT'S OKAY! THE QUESTION IS:</a:t>
            </a:r>
            <a:endParaRPr lang="en-US" altLang="ko-KR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  <a:buNone/>
            </a:pPr>
            <a:r>
              <a:rPr lang="en-US" altLang="ko-KR" sz="2400" b="1" dirty="0">
                <a:solidFill>
                  <a:srgbClr val="FF0000"/>
                </a:solidFill>
              </a:rPr>
              <a:t>HOW DO WE QUANTIFY </a:t>
            </a:r>
            <a:r>
              <a:rPr lang="en-US" altLang="ko-KR" sz="2400" b="1" i="1" dirty="0">
                <a:solidFill>
                  <a:srgbClr val="FF0000"/>
                </a:solidFill>
              </a:rPr>
              <a:t>EXACTLY HOW WRONG</a:t>
            </a:r>
            <a:r>
              <a:rPr lang="en-US" altLang="ko-KR" sz="2400" b="1" dirty="0">
                <a:solidFill>
                  <a:srgbClr val="FF0000"/>
                </a:solidFill>
              </a:rPr>
              <a:t> WE ARE?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E8C29-0883-9470-2388-3697025F13F6}"/>
              </a:ext>
            </a:extLst>
          </p:cNvPr>
          <p:cNvSpPr txBox="1"/>
          <p:nvPr/>
        </p:nvSpPr>
        <p:spPr>
          <a:xfrm>
            <a:off x="1118169" y="3044279"/>
            <a:ext cx="9692126" cy="10701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 IS THE BACKWARD PASS. STEP 2 OF OUR LOOP.</a:t>
            </a:r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 THE FORWARD PASS WAS THE "GUESS," THE BACKWARD PASS IS THE </a:t>
            </a:r>
            <a:r>
              <a:rPr lang="en-US" altLang="ko-KR" sz="16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"POST-MORTEM ANALYSIS."</a:t>
            </a:r>
            <a:endParaRPr lang="ko-KR" altLang="en-US" sz="1600" dirty="0">
              <a:solidFill>
                <a:schemeClr val="accent6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DB4E4-5AF6-9EF7-F0D2-9B684B2FF7C0}"/>
              </a:ext>
            </a:extLst>
          </p:cNvPr>
          <p:cNvSpPr txBox="1"/>
          <p:nvPr/>
        </p:nvSpPr>
        <p:spPr>
          <a:xfrm>
            <a:off x="1118168" y="4308740"/>
            <a:ext cx="9692126" cy="17009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200" b="1" dirty="0">
                <a:solidFill>
                  <a:schemeClr val="bg1"/>
                </a:solidFill>
              </a:rPr>
              <a:t>WE COMPARE OUR GUESS TO THE TRUTH...</a:t>
            </a:r>
            <a:r>
              <a:rPr lang="en-US" altLang="ko-KR" sz="3200" dirty="0">
                <a:solidFill>
                  <a:schemeClr val="bg1"/>
                </a:solidFill>
              </a:rPr>
              <a:t> </a:t>
            </a: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bg1"/>
                </a:solidFill>
              </a:rPr>
              <a:t>...AND THEN WE FIGURE OUT </a:t>
            </a:r>
            <a:r>
              <a:rPr lang="en-US" altLang="ko-KR" sz="2400" b="1" dirty="0">
                <a:solidFill>
                  <a:srgbClr val="FF0000"/>
                </a:solidFill>
              </a:rPr>
              <a:t>EXACTLY WHO TO BLAME.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4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69CD-B1B0-3D9F-D68E-BBD789AE3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DC3A43-DF1A-1B5B-3F00-9213A9A9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257C445-6251-04F9-4AF7-B41D1B2B1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4D8976-5881-DBED-7000-381519134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58" y="1742910"/>
            <a:ext cx="8809483" cy="1905165"/>
          </a:xfrm>
          <a:prstGeom prst="rect">
            <a:avLst/>
          </a:prstGeom>
        </p:spPr>
      </p:pic>
      <p:sp>
        <p:nvSpPr>
          <p:cNvPr id="11" name="제목 7">
            <a:extLst>
              <a:ext uri="{FF2B5EF4-FFF2-40B4-BE49-F238E27FC236}">
                <a16:creationId xmlns:a16="http://schemas.microsoft.com/office/drawing/2014/main" id="{722ABE70-47FA-6470-689E-A45BF183AF9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8C6D4-4E23-C2EE-F395-1243B741935C}"/>
              </a:ext>
            </a:extLst>
          </p:cNvPr>
          <p:cNvSpPr txBox="1"/>
          <p:nvPr/>
        </p:nvSpPr>
        <p:spPr>
          <a:xfrm>
            <a:off x="1181849" y="4198666"/>
            <a:ext cx="9675899" cy="145469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chemeClr val="bg1"/>
                </a:solidFill>
              </a:rPr>
              <a:t>The backward pass is figuring out </a:t>
            </a:r>
            <a:r>
              <a:rPr lang="en-US" altLang="ko-KR" sz="2400" dirty="0">
                <a:solidFill>
                  <a:srgbClr val="00B050"/>
                </a:solidFill>
              </a:rPr>
              <a:t>which direction to turn each knob</a:t>
            </a:r>
            <a:r>
              <a:rPr lang="en-US" altLang="ko-KR" sz="2400" dirty="0">
                <a:solidFill>
                  <a:schemeClr val="bg1"/>
                </a:solidFill>
              </a:rPr>
              <a:t> to make the static go away.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16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13EA-CAC6-D348-683B-98D933DA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C052856-143B-73D6-86EB-8D36CF9B1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8C0881C-5F23-D83A-85FE-D4345900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54A07FA6-8B43-463C-D25E-61248CE6D61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3564A-88FB-3141-112C-42F5D256D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447744"/>
            <a:ext cx="9541067" cy="12955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328A79C-F743-3710-DB32-FD67AF9F1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139" y="3227052"/>
            <a:ext cx="9487722" cy="40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E967D1C-B62B-7F4E-4CD0-E56424F88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932" y="3985193"/>
            <a:ext cx="9563929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4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A52-191C-B7AC-2325-7CF94F43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B949E955-CA52-FFAC-01B0-969F29CA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6" y="2287793"/>
            <a:ext cx="5926741" cy="1377410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68B91F3-A2A3-1EFA-1C72-D4C7A87C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0C539D0-8FFA-2600-BA95-C52DDDF26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73DEDA8B-233E-08FE-48DA-9859F0BD991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6F69DC-71CF-074F-3A59-AC99B884A7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76" y="1401968"/>
            <a:ext cx="4610500" cy="25681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676C48-CCC3-8AB4-8FC5-3107B7812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54" y="4008231"/>
            <a:ext cx="6950042" cy="929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A2145A-9975-CE0B-535D-432075A71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54" y="4937952"/>
            <a:ext cx="6950042" cy="5334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493225-0172-9D1E-5939-CC62E42674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55" y="5449507"/>
            <a:ext cx="6950042" cy="44199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859600-411A-9209-9F8B-0A18BE1A1077}"/>
              </a:ext>
            </a:extLst>
          </p:cNvPr>
          <p:cNvSpPr/>
          <p:nvPr/>
        </p:nvSpPr>
        <p:spPr>
          <a:xfrm>
            <a:off x="9626344" y="2655736"/>
            <a:ext cx="2022182" cy="100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639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AF2F-0926-C7F3-9FD8-BF678FCF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C27E12-1711-AC55-2897-B9E13D6C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03E79E-FEE4-8F1B-6786-20472F713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F8C26AEF-60A6-C0C4-AE6F-54BDF498291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521E3A-E739-C5D2-1187-F1FB0274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29" y="1828661"/>
            <a:ext cx="809314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0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18CE-6891-394B-C232-1BF77168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4CEDAE6-B046-D882-CD04-FCF3B8ED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1AC10A-50F2-17E4-1288-5A58CEDAC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22C17EB7-2F04-CC65-A1E1-F2A651D0E9D8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B8FEEA-8910-E162-7B42-1D50A4CBF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48" y="1481984"/>
            <a:ext cx="9809499" cy="2956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A81377-9E0C-3A26-D671-2091D9515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448" y="4818337"/>
            <a:ext cx="9812611" cy="10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7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1F11-9B43-A828-9E4B-45ED3C1F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C68424E-D312-5734-3A93-9F2F1AB6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EB99DDC-39CA-3C4D-E202-F04F1A14F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69F6807B-C0B1-6F74-7F1C-30218F679CF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938CDC-AE0C-D990-A6EF-0BE8513A0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268" y="1421047"/>
            <a:ext cx="9502964" cy="19204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7719F4-17B3-3099-FCFE-CCE4E8559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475" y="4193532"/>
            <a:ext cx="9426757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7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BC8F-36BC-7873-3EAF-412DFD6F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4C727A8-BCE2-3304-57F5-58A461571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5243D0-FB41-EC5F-3DA4-539310267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4D28-4B80-C563-EA79-BA4D1FEE3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E75B3596-6C5C-570B-C084-010D85D5627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9FFCA4E-1676-9FFE-C45A-BF2F6AFA3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66" y="2638012"/>
            <a:ext cx="9510584" cy="7011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CB6D02-B993-68FE-8A0A-1954420638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285" y="3518888"/>
            <a:ext cx="7018628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61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B33D-8066-28A2-EC2E-8EAFC39D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22627C6-D0E3-B02A-6E95-8610F1573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0147DA7-E789-DBFA-4F04-CC637D3C1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DB3DA57-7167-B289-8BF3-F18E7E3FD79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9D2ACB-BBB8-26E1-C8EF-5D22E14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93" y="1325754"/>
            <a:ext cx="7815146" cy="2655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5FA0F9-7A84-1052-DA29-B25F61E96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451" y="4103100"/>
            <a:ext cx="7274481" cy="210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30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DB3-F6D9-C88A-4893-F6C0FC94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ECD763E-B552-3544-3F39-0833BAFAD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7DE9EF2-D8EF-87B1-220C-4AFB3E335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458475AF-D92B-18F9-50AB-D1FD6F2C62E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9B9F78-8D46-A912-B3B9-AB8699A0C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26" y="1804078"/>
            <a:ext cx="9464860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C21382-4B96-D4C3-A483-3555784D0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45" y="2257816"/>
            <a:ext cx="10012562" cy="15490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B77B2F-E865-F23E-904F-795B3FF6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608" y="3806899"/>
            <a:ext cx="8903836" cy="23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74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93C1-179E-CBDD-7437-86266EE6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58D9D41-4E6D-E7C2-BB08-5D90A066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28404CE-55DD-3D68-739A-15180942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52940EC0-6993-32F4-D837-F9BB4D3943F1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EC9C3E-3473-F918-8536-CB53266C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45" y="1509640"/>
            <a:ext cx="8898555" cy="31911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16D975-EB40-4057-5BFD-27703A851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92" y="4754636"/>
            <a:ext cx="4174069" cy="16553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38428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4ED2-100C-6ECD-16AE-A5F3FBAA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9CF4004-422A-B65E-5463-B84E4D5C4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99797F-21A6-E605-863C-10A0C74B5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AD6DD463-1198-01DF-DD0E-475C13EBF05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ADDF6F-3A82-1350-2AA4-53B63F9B5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05" y="1640090"/>
            <a:ext cx="10139950" cy="301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EE5-B7B4-E6BE-C0EB-21DE528A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B47F1C2-35C1-5116-A414-F6874F2F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26F162F-FA06-F75B-015D-8D4F14F86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8A30AD-8E68-9665-D664-D0C1B731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003F7729-CF1F-5831-3FBD-EEEAACDBABBE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E75393-E00E-3E35-821A-63327A5F3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963" y="2460830"/>
            <a:ext cx="5928874" cy="5563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443C67-BD07-BF3B-0EDE-40A90E4D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272" y="2988563"/>
            <a:ext cx="6134255" cy="659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F57FA1-5815-9723-7C1F-1A6D9AF27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549" y="3588221"/>
            <a:ext cx="6509468" cy="6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54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27CC-1152-C799-1412-6CB2C94E5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1E172-2A53-5C40-B7B1-B11F02A7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E370946-B615-6B87-94B7-E1F4809BF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FB964181-AA3D-7F5C-166D-82EE2161CC3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7E1276F-50CE-7A93-CB3F-1DD4270E0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73488"/>
            <a:ext cx="9548687" cy="9678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2613CD-B2F2-33FC-A644-630B9C8E0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541312"/>
            <a:ext cx="6687921" cy="155443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2AA89C8-9554-1975-1F79-0C5E779F1326}"/>
              </a:ext>
            </a:extLst>
          </p:cNvPr>
          <p:cNvSpPr/>
          <p:nvPr/>
        </p:nvSpPr>
        <p:spPr>
          <a:xfrm>
            <a:off x="8188069" y="3257550"/>
            <a:ext cx="759337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7D9549-4BE9-6652-353F-E3FB7BFA91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156" y="4535763"/>
            <a:ext cx="5608806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26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805-DF28-4B30-8BE7-1D5E0B92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2A5BAA-E9EC-4FD9-0E8D-CB6CD7B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FA404A-BB0E-B816-6F17-E2EFE2030C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F98435E-2DA9-D848-29E2-D2A404D5243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8C259-BEFD-231C-54DD-AEE51998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554" y="1450518"/>
            <a:ext cx="7776622" cy="1978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0FF4C6B-AD08-BE17-40E1-BBE32CE9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5554" y="3429000"/>
            <a:ext cx="7776622" cy="12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4B14F-CD33-288D-C9CF-EC4A13DF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72E52C-BA5C-2070-8209-533D23E18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7E971AC-93D4-55A1-44D6-70102AB764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6889CF3D-9A31-783A-2245-AF951B22563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55D38DE-C8E4-3001-9750-CC58150E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95" y="1474399"/>
            <a:ext cx="9464860" cy="739204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39C064-68C7-BA09-AA4F-90460A4EF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695" y="3941870"/>
            <a:ext cx="2909053" cy="244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5D2660-ECE9-CBB2-E9C7-0A7B3A30F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696" y="2213603"/>
            <a:ext cx="9464860" cy="6955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9C68E2-7595-2EEE-0686-E4B953FFB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0695" y="2899360"/>
            <a:ext cx="9464860" cy="57840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4C6537-CC80-E0C8-7958-1ED8ADB52D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168" y="4521107"/>
            <a:ext cx="6237387" cy="8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706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8357-E907-A3FE-8496-30ED17DB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355C600-EE0D-035D-4C22-4DB996FC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E179D1-9AB1-9271-B6D9-8748BC97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030856D-12E4-EB81-0D08-AFD5D05D5E3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D54DF5-3E74-6BB3-33A7-2E02A957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504" y="1402038"/>
            <a:ext cx="7457722" cy="7601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CDBA3C-43CC-A1E8-C9A6-4E18C4CB1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455587"/>
            <a:ext cx="6687921" cy="155443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1527-55FF-7A35-EEC5-E9D1C8CBAAEC}"/>
              </a:ext>
            </a:extLst>
          </p:cNvPr>
          <p:cNvSpPr/>
          <p:nvPr/>
        </p:nvSpPr>
        <p:spPr>
          <a:xfrm>
            <a:off x="8188069" y="3076575"/>
            <a:ext cx="759337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EB365B-E1A8-A5D7-341C-03DC71345397}"/>
              </a:ext>
            </a:extLst>
          </p:cNvPr>
          <p:cNvSpPr/>
          <p:nvPr/>
        </p:nvSpPr>
        <p:spPr>
          <a:xfrm>
            <a:off x="5749669" y="3286125"/>
            <a:ext cx="1298831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A12B7A-AC59-3EBC-F136-3B4CA15F7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320" y="4594227"/>
            <a:ext cx="9464860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3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E2C3-8DC3-FF1A-F9AA-1516DBA0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A6D2C2-901A-2EEB-1516-EC5791440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9CB5B1-EA09-B0CB-9FAA-32F615EC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763B68F9-FED4-A037-3870-7A760A42CE2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102FEE-AD00-2E33-E34B-2BD1D6AEA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19" y="1714351"/>
            <a:ext cx="6256562" cy="171464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00BCDF-2B59-AE8F-B9DC-CAFC164DF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531" y="4960689"/>
            <a:ext cx="8702794" cy="4826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9F37F8-EA4B-C27A-3472-30B37895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531" y="4093835"/>
            <a:ext cx="8702794" cy="43437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688A40-67F4-6FB9-8761-658880B97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531" y="4482492"/>
            <a:ext cx="8702794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5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76B9A-6D92-9025-8ED3-0B568376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064C80B-7FBB-D36E-C436-F67175202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60FE33-1E55-C59E-1E71-1DF672A47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D47E8D4D-6F2E-4668-8AB0-B8A8F9D4DD4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D9DCC9-F3D0-AE23-2ED3-316BF1BF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79" y="2228746"/>
            <a:ext cx="9015241" cy="24005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5AC273-CA40-E373-6E8E-B2597B759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0" y="4629254"/>
            <a:ext cx="9426757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2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4BC7-436A-5893-47E7-B3F642AD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97CDD1-0104-19B9-0F01-ED0C830A7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FFF182C-9697-5D66-9105-EB2523CBB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EEF571A-8F00-DF55-7684-DDCA86965C4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85F1C-5FC6-A8C1-B31E-8BB8B07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390" y="1603834"/>
            <a:ext cx="5589536" cy="13927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888E2B-6908-0ADE-C6EB-D19808EE3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847" y="2998343"/>
            <a:ext cx="6864622" cy="11410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49283-1FD6-1831-AD8F-7B1F54890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631" y="5175163"/>
            <a:ext cx="2787244" cy="1084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349352-DF3C-5571-47F9-2FF2DA2C80EF}"/>
              </a:ext>
            </a:extLst>
          </p:cNvPr>
          <p:cNvSpPr txBox="1"/>
          <p:nvPr/>
        </p:nvSpPr>
        <p:spPr>
          <a:xfrm>
            <a:off x="771455" y="4330470"/>
            <a:ext cx="1087707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Accumulation :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디자인 철학은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호출할 때마다 기울기를 덮어쓰는 것이 아니라 기존 값에 더하도록 되어 있기 때문에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리셋을 안 하면 다음과 같이 작동하여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안됨</a:t>
            </a:r>
          </a:p>
        </p:txBody>
      </p:sp>
    </p:spTree>
    <p:extLst>
      <p:ext uri="{BB962C8B-B14F-4D97-AF65-F5344CB8AC3E}">
        <p14:creationId xmlns:p14="http://schemas.microsoft.com/office/powerpoint/2010/main" val="131066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F4098F80-6FE3-3C11-28BF-538A6FF2E02E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14E02A3F-9F3A-67C0-DDDE-7E3FE2FE52D5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D5FA2-480D-48B4-1617-ED963356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F338134-1336-BCEF-A661-3669130ED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48C3192-C32A-B043-A6E6-90FDAB2C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99D5CB41-7AE4-631E-B58D-A5CBFE7C7956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9079928-D83C-011F-039A-B0517E686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47" y="1350193"/>
            <a:ext cx="8429076" cy="9549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B0EDD-6719-8243-E118-2657EEE3BCA1}"/>
              </a:ext>
            </a:extLst>
          </p:cNvPr>
          <p:cNvSpPr txBox="1"/>
          <p:nvPr/>
        </p:nvSpPr>
        <p:spPr>
          <a:xfrm>
            <a:off x="1125947" y="2288962"/>
            <a:ext cx="10437404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epoch % 30 == 0: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f"Epoch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{epoch:02d}: Loss={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():.4f},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print(f"\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nFinal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 W=2.000, b=1.000")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18991-C713-849F-402E-C9D666712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47" y="3612401"/>
            <a:ext cx="4191164" cy="259155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3EB0FED-9B67-B38D-E41A-DFB33A05190D}"/>
              </a:ext>
            </a:extLst>
          </p:cNvPr>
          <p:cNvSpPr/>
          <p:nvPr/>
        </p:nvSpPr>
        <p:spPr>
          <a:xfrm>
            <a:off x="946760" y="5723659"/>
            <a:ext cx="4927567" cy="6400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35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44FF-528C-3172-B3A5-8E6FCFEED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133B7D-43FE-8E0E-AABD-8B1A0E8FC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0C24D238-261F-57FC-6FEC-DB4F77D22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4244BB9-E8AA-000E-0633-6024CB121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E1B744-0516-6F99-FF31-BAA1C47DE541}"/>
              </a:ext>
            </a:extLst>
          </p:cNvPr>
          <p:cNvSpPr txBox="1"/>
          <p:nvPr/>
        </p:nvSpPr>
        <p:spPr>
          <a:xfrm>
            <a:off x="646545" y="1681018"/>
            <a:ext cx="10538691" cy="1286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5</a:t>
            </a:r>
            <a:r>
              <a:rPr lang="ko-KR" altLang="en-US" dirty="0"/>
              <a:t>개 </a:t>
            </a:r>
            <a:r>
              <a:rPr lang="en-US" altLang="ko-KR" dirty="0"/>
              <a:t>100</a:t>
            </a:r>
            <a:r>
              <a:rPr lang="ko-KR" altLang="en-US" dirty="0"/>
              <a:t>개의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입력변수가 </a:t>
            </a:r>
            <a:r>
              <a:rPr lang="en-US" altLang="ko-KR" dirty="0"/>
              <a:t>3</a:t>
            </a:r>
            <a:r>
              <a:rPr lang="ko-KR" altLang="en-US" dirty="0"/>
              <a:t>개 출력변수가 </a:t>
            </a:r>
            <a:r>
              <a:rPr lang="en-US" altLang="ko-KR" dirty="0"/>
              <a:t>5</a:t>
            </a:r>
            <a:r>
              <a:rPr lang="ko-KR" altLang="en-US" dirty="0"/>
              <a:t>개인 가상데이터를 학습하고 총 몇 개의 </a:t>
            </a:r>
            <a:r>
              <a:rPr lang="en-US" altLang="ko-KR" dirty="0"/>
              <a:t>parameter</a:t>
            </a:r>
            <a:r>
              <a:rPr lang="ko-KR" altLang="en-US" dirty="0"/>
              <a:t>를 찾아내는가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5725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6F69F-5F21-9965-5FF5-3C563F827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36A6429-98B6-0EEE-AEE1-F592305EC2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77043BCF-860E-7E9C-4462-D6539A246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9EA13C3-4AEE-C90F-56A0-A0BA7A0EA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F47D98B-3A5A-EA27-BD67-65ED7F2E9C89}"/>
              </a:ext>
            </a:extLst>
          </p:cNvPr>
          <p:cNvSpPr txBox="1"/>
          <p:nvPr/>
        </p:nvSpPr>
        <p:spPr>
          <a:xfrm>
            <a:off x="589396" y="1280968"/>
            <a:ext cx="80497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beginner tutorials 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beginner/basics/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quickstart_tutorial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실습하기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A247DB-62BC-D297-EEBF-9C1ADD451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197" y="1928092"/>
            <a:ext cx="8660628" cy="438200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348AE8C-9754-5F92-FDF7-7599B2467D74}"/>
              </a:ext>
            </a:extLst>
          </p:cNvPr>
          <p:cNvSpPr/>
          <p:nvPr/>
        </p:nvSpPr>
        <p:spPr>
          <a:xfrm>
            <a:off x="742950" y="2695575"/>
            <a:ext cx="1600201" cy="3171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F3AC939-CEC8-D94D-6832-3F219F350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4075" y="3048557"/>
            <a:ext cx="2088991" cy="214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578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E7E7B-0F19-1E16-CBC6-51DC89735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C9ECA61-0EEC-A8B4-30D5-AF32553C5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4C073D-8DB8-7B88-625B-A1F53826E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5671"/>
            <a:ext cx="9248775" cy="3973066"/>
          </a:xfrm>
          <a:prstGeom prst="rect">
            <a:avLst/>
          </a:prstGeom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16A9DD86-4E9A-1A71-D4E7-9627164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54C62C5-03F9-52C5-6C25-FCF862E23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63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2702</TotalTime>
  <Words>1508</Words>
  <Application>Microsoft Office PowerPoint</Application>
  <PresentationFormat>와이드스크린</PresentationFormat>
  <Paragraphs>293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D2Coding</vt:lpstr>
      <vt:lpstr>맑은 고딕</vt:lpstr>
      <vt:lpstr>맑은 고딕 Semilight</vt:lpstr>
      <vt:lpstr>Arial</vt:lpstr>
      <vt:lpstr>Courier New</vt:lpstr>
      <vt:lpstr>Wingdings</vt:lpstr>
      <vt:lpstr>WelcomeDoc</vt:lpstr>
      <vt:lpstr>Deep Learning II</vt:lpstr>
      <vt:lpstr>The Forward Pass</vt:lpstr>
      <vt:lpstr>The Forward Pass</vt:lpstr>
      <vt:lpstr>The Forward Pass</vt:lpstr>
      <vt:lpstr>The Forward Pass</vt:lpstr>
      <vt:lpstr>The Forward Pass</vt:lpstr>
      <vt:lpstr>Generate Data</vt:lpstr>
      <vt:lpstr>The Forward Pass</vt:lpstr>
      <vt:lpstr>The Forward Pass</vt:lpstr>
      <vt:lpstr>The Forward Pass</vt:lpstr>
      <vt:lpstr>The Forward Pass</vt:lpstr>
      <vt:lpstr>The Forward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Training Loop </vt:lpstr>
      <vt:lpstr>The Training Loop </vt:lpstr>
      <vt:lpstr>The Entire Training Process </vt:lpstr>
      <vt:lpstr>The Entire Training Process </vt:lpstr>
      <vt:lpstr>The Training Loop </vt:lpstr>
      <vt:lpstr>Hands-on</vt:lpstr>
      <vt:lpstr>Optimizer</vt:lpstr>
      <vt:lpstr>model (like pro)</vt:lpstr>
      <vt:lpstr>Hands-on : FNN(feed-forward neural networks) </vt:lpstr>
      <vt:lpstr>Hands-on : FNN(feed-forward neural networks)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91</cp:revision>
  <dcterms:created xsi:type="dcterms:W3CDTF">2026-04-06T01:00:39Z</dcterms:created>
  <dcterms:modified xsi:type="dcterms:W3CDTF">2026-05-02T03:55:02Z</dcterms:modified>
  <cp:version/>
</cp:coreProperties>
</file>