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2"/>
  </p:notesMasterIdLst>
  <p:handoutMasterIdLst>
    <p:handoutMasterId r:id="rId43"/>
  </p:handoutMasterIdLst>
  <p:sldIdLst>
    <p:sldId id="1074" r:id="rId2"/>
    <p:sldId id="1035" r:id="rId3"/>
    <p:sldId id="1034" r:id="rId4"/>
    <p:sldId id="1036" r:id="rId5"/>
    <p:sldId id="1037" r:id="rId6"/>
    <p:sldId id="1039" r:id="rId7"/>
    <p:sldId id="1040" r:id="rId8"/>
    <p:sldId id="1041" r:id="rId9"/>
    <p:sldId id="1042" r:id="rId10"/>
    <p:sldId id="1043" r:id="rId11"/>
    <p:sldId id="1044" r:id="rId12"/>
    <p:sldId id="1045" r:id="rId13"/>
    <p:sldId id="1046" r:id="rId14"/>
    <p:sldId id="1047" r:id="rId15"/>
    <p:sldId id="1054" r:id="rId16"/>
    <p:sldId id="1048" r:id="rId17"/>
    <p:sldId id="1051" r:id="rId18"/>
    <p:sldId id="1052" r:id="rId19"/>
    <p:sldId id="1053" r:id="rId20"/>
    <p:sldId id="1049" r:id="rId21"/>
    <p:sldId id="1055" r:id="rId22"/>
    <p:sldId id="1056" r:id="rId23"/>
    <p:sldId id="1057" r:id="rId24"/>
    <p:sldId id="1058" r:id="rId25"/>
    <p:sldId id="1064" r:id="rId26"/>
    <p:sldId id="1059" r:id="rId27"/>
    <p:sldId id="1061" r:id="rId28"/>
    <p:sldId id="1062" r:id="rId29"/>
    <p:sldId id="1063" r:id="rId30"/>
    <p:sldId id="1065" r:id="rId31"/>
    <p:sldId id="1066" r:id="rId32"/>
    <p:sldId id="1067" r:id="rId33"/>
    <p:sldId id="1069" r:id="rId34"/>
    <p:sldId id="1068" r:id="rId35"/>
    <p:sldId id="1075" r:id="rId36"/>
    <p:sldId id="1070" r:id="rId37"/>
    <p:sldId id="1076" r:id="rId38"/>
    <p:sldId id="1072" r:id="rId39"/>
    <p:sldId id="1073" r:id="rId40"/>
    <p:sldId id="980" r:id="rId4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/>
        </p14:section>
        <p14:section name="디자인, 모핑, 주석 달기, 공동 작업, 입력하세요" id="{B9B51309-D148-4332-87C2-07BE32FBCA3B}">
          <p14:sldIdLst>
            <p14:sldId id="1074"/>
            <p14:sldId id="1035"/>
            <p14:sldId id="1034"/>
            <p14:sldId id="1036"/>
            <p14:sldId id="1037"/>
            <p14:sldId id="1039"/>
            <p14:sldId id="1040"/>
            <p14:sldId id="1041"/>
            <p14:sldId id="1042"/>
            <p14:sldId id="1043"/>
            <p14:sldId id="1044"/>
            <p14:sldId id="1045"/>
            <p14:sldId id="1046"/>
            <p14:sldId id="1047"/>
            <p14:sldId id="1054"/>
            <p14:sldId id="1048"/>
            <p14:sldId id="1051"/>
            <p14:sldId id="1052"/>
            <p14:sldId id="1053"/>
            <p14:sldId id="1049"/>
            <p14:sldId id="1055"/>
            <p14:sldId id="1056"/>
            <p14:sldId id="1057"/>
            <p14:sldId id="1058"/>
            <p14:sldId id="1064"/>
            <p14:sldId id="1059"/>
            <p14:sldId id="1061"/>
            <p14:sldId id="1062"/>
            <p14:sldId id="1063"/>
            <p14:sldId id="1065"/>
            <p14:sldId id="1066"/>
            <p14:sldId id="1067"/>
            <p14:sldId id="1069"/>
            <p14:sldId id="1068"/>
            <p14:sldId id="1075"/>
            <p14:sldId id="1070"/>
            <p14:sldId id="1076"/>
            <p14:sldId id="1072"/>
            <p14:sldId id="1073"/>
            <p14:sldId id="98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D24726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7576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1296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698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2026-04-30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2026-04-30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A0EC4-4CCD-D180-7CE5-4CC12C927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33438F7-CA7E-9FBD-E7B6-560DAE4924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9C84BBD-C3BE-7D11-041A-32AF7BA225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9E2FD9-95EC-2678-60BC-325581B8A7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44123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8AFA5-2A28-E0FA-1331-E366ED1B5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A59851-0EC1-7510-0392-246AAD133A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25BF6D-E989-4F95-E729-328AD707BB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C11B73-D9E6-0299-3FE2-E92D1AEC08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4779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BDC8E-7F0E-907B-2BAF-20F99E3AA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BAA35B-7894-BA7E-9D9A-F1FC332BF2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2BD385-D689-8B89-FFE0-0D67F77F98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BEE5AF-E0C8-66B3-4D58-23F6318765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34915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A00AF-D3AE-B77B-7EC0-CF3D4F8EF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BE3D778-3868-BF3C-7EAF-A7C2CF270E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BDC6DD8-FBF7-588B-843C-3776A2150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C6334F-5520-9DAD-CD88-3C171FC1D5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48978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D010E-9454-9518-3438-3F8F9246D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5D08DCD-512F-2CF4-8485-E53F17D1E2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F568C5B-0EF2-7F3B-B222-202CAEB8EF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5B4A24-155D-5AA2-2E5A-0EDF90A952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091963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9B918-6E44-3FE1-7BC8-5231D688E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9406B9-224F-E5C1-8F60-0D00F2A366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7498AA6-B9F5-7A33-F42F-44C8046C3F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A485C4-AA7D-6D42-7BD7-A607568C9D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00468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A2115-A10F-C460-4738-A473F9E96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B2C630-7BE1-1360-D62F-0561F3BAB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C1E048-7FD7-CE74-1479-A3AC8DC98E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F8F06E-49A3-9FCB-4A43-12BC1831CB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643233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C6D11-1436-51DC-48A2-44D011A56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073E44-722E-A8D1-86BB-27D268E0CA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EE3189-0598-EC98-E494-120364A180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3902D-1BFC-B887-BA1C-477762F682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413882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B7C58-D80C-D72D-41E5-F8C944CD0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CAE6771-EBC8-BA8D-16A5-7A12A20EFF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1DFB275-C88D-703F-001C-6D43D0292C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1A2811-1B23-A14C-37B1-54FABBA36F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352352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A0983-BBC9-BFB7-CF11-3CA02830E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B6D556-8E73-FD52-8A7D-26CC53F79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14C70A0-8C86-24E4-C2D8-7D08F549AE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BCA07F-250F-DB43-8AD7-6A3D0FD30A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00792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136BA-139B-ECBE-8DA7-2700C1CBF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CB14D9-29CD-514E-2DD3-84C65B0EA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30BC75-8BA8-4DA5-D5BE-506F38AA3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8FAA75-CE5B-47C3-E566-B2CD49977E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7056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C412A-366C-7C79-7B09-F1F084D9A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619307-B57B-C27A-E75D-894D972AA3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CED64E3-7147-DD2D-D9E6-1C547C2DF8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5369F9-78AD-7580-5921-61EDA36F3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36300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160D6-61D4-03F6-36B1-3E8FDC044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C7DF52E-48E7-F2C7-88A2-8279EAF56C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5B8C6C-EE8F-1C90-B094-31123C1248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C4918A-A164-0882-1761-8C0B962B6A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41185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76348-B70A-153A-EADB-890861C8C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E30D64C-462E-F9BB-3808-48856450B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D24865-6B27-D3A3-B149-DCE991165F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E668B1-9B71-23FE-6C4E-CC5E3026DE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853919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35E89-2A31-2CC4-F7F1-4D51996E9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4A7A6B1-ECD9-ABF2-E890-021D0BEB2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37DB40C-2B67-F630-BAA4-71C32BD630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E17D41-1E0B-54FF-BE09-81EB997C2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6421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83ACB-EA22-B300-4E53-E89C9EFE3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7D1229-7366-F52A-11C2-E20DE196C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A25D734-D3C8-5A44-9A1A-34845A0943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318078-40BD-BEA5-A7AD-3BD572A3D2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430963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06485-B700-F3A6-49C6-FCDF1A6B6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086A01-6DD7-F870-AD78-97A1FD0459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96043F-C5B3-9079-952A-A2D355504B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688413-FC6B-32B1-1905-D846D67EFC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079766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82D7F-46EC-B525-4E31-AC88A7958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E42688-F0C9-BEB6-47A0-80F808D7EE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13EB3AE-BF41-8D3B-44BD-9162F9B59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00B4FC-E046-6167-1F10-0BF32E12FE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895519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64F7B-6CA9-A206-9103-CA4E52D5F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5D2730-8478-8562-C400-2113907F53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CB9814-F5BD-69FF-643B-7992B113C3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52E7B2-2595-92CC-50E6-D056B0F03C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1656669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671F9-1A0A-FB56-B197-AFA03E817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AE8EBF-932A-2096-29CA-CE3F814B1F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BAC5E36-B60B-8D9F-3317-F266CA4BDD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698373-BD84-31DB-3443-415FF6C6BE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694403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206BD-B7C1-B47D-1DC5-8AB3D2799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5952E6-333D-90B7-062E-2B016B7909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4B9AA4-078D-5F3F-125D-DBBBEBBFB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2E9580-BA5A-FA7A-8EC8-685B983CFE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86079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8CAA4-FAC2-3691-5E38-88D64E2F6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1F96A4-05A9-7CE6-0E40-8630E8953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C50F95-993E-00FC-98F4-9B02DE80A4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80544D-7AD0-6800-1A25-6EF9DCCA92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590237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D75DF-3267-9DF4-BB4E-01EB2D0B8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884DD6-1FF3-B1EC-2CFC-174D7816C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BA71B0-C542-CAE1-44F8-78CFAB9F72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8B7B12-A458-89EC-3B5B-D0E50F5342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24623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CD8E0-ADDF-AF8C-502A-F573E2D0E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93FFB0D-3616-F733-4012-15A99A3B9E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790E2FB-ABB0-22F1-3569-A7E572BA8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4E952C-4795-76EA-83A4-80145D0FE8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8520265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574C9-01E5-B002-604F-037A5BCDD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D76262-36B9-DED3-3C05-77A8DCAAF7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3C19D5F-AE61-2959-01E4-E3D89A7391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7A3709-4106-3FB9-EB1D-CD78FAF0D2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832142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CA473-175A-92BA-7512-2E961EE50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8E15890-4C9A-50B7-E6FA-6B2D83D77F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D64823-2FE6-F97E-7960-3A143DE70D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20648F-F51A-0F67-B54F-EC8DC67152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626089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78E49-6B84-9D6D-C926-B18ED1FC6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40A10F9-3429-537D-631C-F245F5865F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27BEB09-3AEA-698E-F75E-4595E76602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FB4589-D606-D6BC-2A36-6052EBA454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6360483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0EA22-54F6-F16F-4402-7C4F85488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BA8B51F-2F96-C30C-8937-5B7C047600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1E47763-9265-5DEB-AD9D-FB4DA96CE0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C8A4B3-F8FA-C395-90DD-5EE9B9CCE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195934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85686-8E03-3F2D-F69D-44269F0B1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E67184-B2BD-EC47-62F4-890A6795AC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0B4EB9-1C98-CDF4-645C-76468AA16C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7B3ABD-7EA6-7220-7C89-2E28A44651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88352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01C3D-F971-F7E6-BC4E-53C486FB5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E015CA-43D8-8955-3F94-3690D838B1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DF023FE-2E8F-46FC-E491-93C1A8ABA8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1F0778-2415-1683-8319-2AF6616492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2919472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CD7D2-CD8B-1B45-8AC7-4469FAF01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CD7F60-8C66-CDA4-ADED-7D5FFC515A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35885F-47D5-2807-EF6D-045C52EA6A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9C7DAC-D5FF-3253-B526-4C5078A956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5999250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D3D60-BB96-97FA-8553-5F7617C45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800164E-BFF0-A851-EB30-3D9F2B5604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559E00-5EC6-C5B4-D5A8-322EAA7602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642574-D771-E2BA-139A-692A291079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319378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DD80A-8B76-52BF-E69C-29962CC12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3D950B-4ED0-28FA-2652-23900E0F10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98A501B-A5D4-A5E7-D48D-FE613F71FC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6A66E5-0D8A-84A9-6CAD-C8823B0AA7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783724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A58F7-5F3A-6690-5EE8-E87C257C9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4B0770-5C70-8F6A-2D8D-F499FE7AED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E4C637-A408-7122-170A-346A2F3878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D40E65-7F57-4622-5720-C9A563CAB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2749320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1F5D0-C04B-3291-9B91-EFBB6DE3E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F14C60-E517-0B9C-87A0-744BC0E22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67C385-3E2E-E870-9DBF-D13E63AF7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FFEB7D-1C99-79FB-E3EB-82C6322583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095782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D5F5F-8BF4-B77A-0643-74B505497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DE85069-4DE7-BEE8-2A1B-74B6337E3B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351A324-259E-4CFE-46F6-EAED9DE85F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60088-5E9C-83AD-EC98-107F2FDA51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702295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625E0-8C3B-414E-DBC6-C859F03A6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FD3DF74-A737-A7A3-E62F-F1138E6643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5F94A4B-C75B-91ED-C88E-648BC19CBF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540326-2ECC-678C-23E3-AA3B7E144B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9410698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15650-9BE8-51E4-45B0-6CC4EC873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775A53-BA10-CC4C-0FD7-9A05BBCEF3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BF9564-7015-92A0-DE91-51DF0DE0CE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016B6E-46FA-490C-ADC4-BFD4E53E6F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196583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6EDAF-507D-30A7-4D36-4B1C3987B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0E7D58A-F007-F03D-80A7-47BA8340EC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E42AEEE-7901-9BD8-0C5A-D040E79A56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B7704-7EE3-7F57-8A60-1BD9BBB3CD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653331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3F987-F2FF-8FE5-C93A-60FA8597F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FE57C7-7F72-B9F3-D10C-DF821448FC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A86459-E845-2D50-AAA1-9332006DD1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1FD7CA-87C4-81E5-E6F3-143D2EFED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99611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2026-04-30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2026-04-30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1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1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tree/main/pytorch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11B49-D207-1D9F-14A3-955BEC48B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1C5D1A-761F-4793-7D8A-193E85BF7F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 II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1D67DA4-A1FE-7561-5777-76BB33E67B4C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with </a:t>
            </a:r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F1570563-672F-169B-BB52-6E04FB25DD3E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785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5AC59-0083-118C-D987-B51E0F384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C6CB441-EAB3-FD95-1F2A-AB05C713A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0BD49B7-3296-FE61-5F97-047B791F5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B7B84AC7-7795-1752-5B65-8879C1AC3DA7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426A1E-1204-8CB3-DBA1-2D8E74C78693}"/>
              </a:ext>
            </a:extLst>
          </p:cNvPr>
          <p:cNvSpPr txBox="1"/>
          <p:nvPr/>
        </p:nvSpPr>
        <p:spPr>
          <a:xfrm>
            <a:off x="1390650" y="1962150"/>
            <a:ext cx="939968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latin typeface="D2Coding" panose="020B0609020101020101" pitchFamily="49" charset="-127"/>
                <a:ea typeface="D2Coding" panose="020B0609020101020101" pitchFamily="49" charset="-127"/>
                <a:cs typeface="Cascadia Mono SemiBold" panose="020B0609020000020004" pitchFamily="49" charset="0"/>
              </a:rPr>
              <a:t>From Scratch</a:t>
            </a:r>
          </a:p>
          <a:p>
            <a:pPr algn="ctr"/>
            <a:endParaRPr lang="en-US" altLang="ko-KR" sz="4000" dirty="0">
              <a:latin typeface="D2Coding" panose="020B0609020101020101" pitchFamily="49" charset="-127"/>
              <a:ea typeface="D2Coding" panose="020B0609020101020101" pitchFamily="49" charset="-127"/>
              <a:cs typeface="Cascadia Mono SemiBold" panose="020B0609020000020004" pitchFamily="49" charset="0"/>
            </a:endParaRPr>
          </a:p>
          <a:p>
            <a:pPr algn="ctr"/>
            <a:r>
              <a:rPr lang="en-US" altLang="ko-KR" sz="4000" dirty="0">
                <a:latin typeface="D2Coding" panose="020B0609020101020101" pitchFamily="49" charset="-127"/>
                <a:ea typeface="D2Coding" panose="020B0609020101020101" pitchFamily="49" charset="-127"/>
                <a:cs typeface="Cascadia Mono SemiBold" panose="020B0609020000020004" pitchFamily="49" charset="0"/>
              </a:rPr>
              <a:t>The Forward Pass</a:t>
            </a:r>
            <a:endParaRPr lang="ko-KR" altLang="en-US" sz="4000" dirty="0">
              <a:latin typeface="D2Coding" panose="020B0609020101020101" pitchFamily="49" charset="-127"/>
              <a:ea typeface="D2Coding" panose="020B0609020101020101" pitchFamily="49" charset="-127"/>
              <a:cs typeface="Cascadia Mono SemiBold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78555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0A331-3002-F24D-2D8E-B950731A2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72177F-609A-7F4A-9A17-F555DC0C6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57532C8-27C1-952D-9ADD-62F7D71851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002BDC1D-8216-BE4A-66E9-D03229AD092D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A1901F9-98B8-D7F6-BD4F-D1756630C8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3522" y="1757064"/>
            <a:ext cx="9166506" cy="4212047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210164D3-305B-9C90-ECDA-BB56E19552EF}"/>
              </a:ext>
            </a:extLst>
          </p:cNvPr>
          <p:cNvSpPr/>
          <p:nvPr/>
        </p:nvSpPr>
        <p:spPr>
          <a:xfrm>
            <a:off x="573673" y="2647950"/>
            <a:ext cx="10656302" cy="657225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0133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7299F-D9A1-3463-861C-6A85303F2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C1B87D7-7C3A-10AA-064A-7FCEBDBC1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C105565-980A-EEE1-58B5-F9C875E265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E9AC5167-9431-D6CB-5077-5A8F2F761DC9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887690-CC59-02E0-ACE5-47AA8BE98C78}"/>
              </a:ext>
            </a:extLst>
          </p:cNvPr>
          <p:cNvSpPr txBox="1"/>
          <p:nvPr/>
        </p:nvSpPr>
        <p:spPr>
          <a:xfrm>
            <a:off x="831533" y="1642141"/>
            <a:ext cx="10188892" cy="38213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lang="en-US" altLang="ko-KR" sz="4400" b="1" dirty="0">
                <a:solidFill>
                  <a:schemeClr val="accent6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MAKING A GUESS</a:t>
            </a:r>
          </a:p>
          <a:p>
            <a:pPr algn="ctr">
              <a:lnSpc>
                <a:spcPct val="150000"/>
              </a:lnSpc>
              <a:buNone/>
            </a:pPr>
            <a:r>
              <a:rPr lang="en-US" altLang="ko-KR" sz="2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THINK OF THE FORWARD PASS AS THE MODEL'S </a:t>
            </a:r>
            <a:r>
              <a:rPr lang="en-US" altLang="ko-KR" sz="2400" b="1" dirty="0">
                <a:highlight>
                  <a:srgbClr val="FFFF00"/>
                </a:highlight>
                <a:latin typeface="D2Coding" panose="020B0609020101020101" pitchFamily="49" charset="-127"/>
                <a:ea typeface="D2Coding" panose="020B0609020101020101" pitchFamily="49" charset="-127"/>
              </a:rPr>
              <a:t>FIRST GUESS.</a:t>
            </a:r>
            <a:endParaRPr lang="en-US" altLang="ko-KR" sz="2400" dirty="0">
              <a:highlight>
                <a:srgbClr val="FFFF00"/>
              </a:highlight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  <a:buNone/>
            </a:pPr>
            <a:r>
              <a:rPr lang="en-U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INITIALLY, ITS GUESS IS </a:t>
            </a:r>
            <a:r>
              <a:rPr lang="en-US" altLang="ko-KR" sz="32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COMPLETELY RANDOM.</a:t>
            </a:r>
            <a:endParaRPr lang="en-US" altLang="ko-KR" sz="3200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  <a:buNone/>
            </a:pPr>
            <a:r>
              <a:rPr lang="en-US" altLang="ko-KR" sz="40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OUR GOAL IS SIMPLE:</a:t>
            </a:r>
          </a:p>
          <a:p>
            <a:pPr algn="ctr">
              <a:lnSpc>
                <a:spcPct val="150000"/>
              </a:lnSpc>
              <a:buNone/>
            </a:pPr>
            <a:r>
              <a:rPr lang="en-US" altLang="ko-KR" sz="20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IMPLEMENT A MODEL'S FIRST GUESS USING ONLY THE </a:t>
            </a:r>
            <a:r>
              <a:rPr lang="en-US" altLang="ko-KR" sz="2000" b="1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RAW TENSOR OPERATIONS</a:t>
            </a:r>
            <a:r>
              <a:rPr lang="en-US" altLang="ko-KR" sz="20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en-US" altLang="ko-KR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08302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F25E7-D801-EAF5-C375-1C2E121CB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4570696-0F43-DAF6-90F2-C554BC093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39C2938-13E6-89E8-D952-BD01AB4EC9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80FC8FE6-60C8-A1E5-9FE9-C5F1A73C6872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3D0E573-66C3-31D6-4083-73084A83EE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3246" y="1735075"/>
            <a:ext cx="9462255" cy="233592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F9D59E4-1591-BE25-B03D-10A5C6F9E1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715" y="4070995"/>
            <a:ext cx="10268568" cy="7944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D4CDA3E-71D7-D6B9-A12C-AE76AC024E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9963" y="4865445"/>
            <a:ext cx="9248819" cy="1007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5234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5D79D-CD12-247D-9F6C-523286ED0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D7471EC-FE65-3A0A-098A-BD57FBE10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BEF9F36-C910-1A6E-1A95-169C8F0001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4D34085F-E56D-C68C-BF07-A65646E20AF6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D40FD5D-9A3D-FE60-5F31-DC3CE1227E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466" y="1844816"/>
            <a:ext cx="9541067" cy="104403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637069F-911D-5660-07AC-01238374A2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2268" y="3253640"/>
            <a:ext cx="3579607" cy="3197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277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C30E7-86B3-6B7B-8D90-210E56F04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A992619E-318D-F078-8903-3413377D99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Generate Data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A302516-03B1-FED3-A9B8-CC415E4105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7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BAC682E-C4D2-6AFA-42C7-796FF858FA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1293" y="1462845"/>
            <a:ext cx="8904618" cy="4741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233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251F0-374A-576E-35BE-4139D8F3F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15C4987-16B0-8E1A-6656-F0915305D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BEFE8EA-87F1-21B9-7121-97B2BE5584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100C34BD-42D1-69B1-7504-AC4F6664D5D0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F9962C5-979E-095A-BADB-631329467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1656" y="1830655"/>
            <a:ext cx="9548687" cy="115834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35A5ADB-8896-7191-EF88-21E4080C60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6959" y="2919928"/>
            <a:ext cx="8992379" cy="3353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203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D7EE0-C1CF-CFF7-56B7-1EAE5BD12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CFB4702-AE57-86EB-8315-1ECC080D8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BE548E9-6E37-3839-60D4-C955A22942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E089A2D8-3F2E-6CCB-67E1-853EE3A94EE7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3DC61E9-84A8-F5D4-534D-0279B0B20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391" y="1512469"/>
            <a:ext cx="10181217" cy="276425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80C5C61-2B4E-DA6B-1E6D-FD2CC9B96E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3670" y="4276724"/>
            <a:ext cx="8504657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809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74112-54D9-5086-F391-006AE7E41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CC576F7-9444-9301-6B69-A7F19ADD0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DCD99C-4B4B-CFA9-FADF-1B7132572B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621E208E-EE03-F9A7-21AB-8B88F7CA8376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44ACD8B-83AC-FB5B-E70F-86AC75086B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5728" y="1516214"/>
            <a:ext cx="6637595" cy="191278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B4305A6-9A7F-A5B2-450A-D9916A74DE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2146" y="3429000"/>
            <a:ext cx="7811177" cy="142506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5951CDA-58E9-6578-2CA2-86B40B7656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5402" y="4855506"/>
            <a:ext cx="6687921" cy="155443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C8AD5F60-4B8C-3876-424F-FE76C7D76C03}"/>
              </a:ext>
            </a:extLst>
          </p:cNvPr>
          <p:cNvSpPr/>
          <p:nvPr/>
        </p:nvSpPr>
        <p:spPr>
          <a:xfrm>
            <a:off x="5844919" y="4979836"/>
            <a:ext cx="1670306" cy="3333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762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1D3F5-0A38-D4A0-3F7C-17EF14569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039E8F4-FB08-A263-F89D-6818E163D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F77589E-208B-EF25-4234-6BEDB6B998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11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DA3602C3-0ACF-82C9-FF07-FED5CAFD2F5E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1A01F0-1969-C14A-E3C4-AE1A692B46F7}"/>
              </a:ext>
            </a:extLst>
          </p:cNvPr>
          <p:cNvSpPr txBox="1"/>
          <p:nvPr/>
        </p:nvSpPr>
        <p:spPr>
          <a:xfrm>
            <a:off x="1521708" y="2770669"/>
            <a:ext cx="5439283" cy="871713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ES" altLang="ko-KR" dirty="0"/>
              <a:t>y_hat = X@W + b</a:t>
            </a:r>
          </a:p>
          <a:p>
            <a:pPr>
              <a:lnSpc>
                <a:spcPct val="150000"/>
              </a:lnSpc>
            </a:pPr>
            <a:r>
              <a:rPr lang="es-ES" altLang="ko-KR" dirty="0"/>
              <a:t>y_hat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47BB780-5172-1BC9-D81E-BF8CD1FC26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708" y="3642382"/>
            <a:ext cx="3877216" cy="219105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A4767E0-B28C-4EA4-5A4E-F35ED14626DC}"/>
              </a:ext>
            </a:extLst>
          </p:cNvPr>
          <p:cNvSpPr txBox="1"/>
          <p:nvPr/>
        </p:nvSpPr>
        <p:spPr>
          <a:xfrm>
            <a:off x="1525864" y="1659018"/>
            <a:ext cx="7784217" cy="11116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800" b="1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LET'S SEE OUR FIRST GUESS...</a:t>
            </a:r>
          </a:p>
          <a:p>
            <a:pPr algn="r">
              <a:lnSpc>
                <a:spcPct val="150000"/>
              </a:lnSpc>
              <a:buNone/>
            </a:pPr>
            <a:r>
              <a:rPr lang="en-US" altLang="ko-KR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result is a </a:t>
            </a:r>
            <a:r>
              <a:rPr lang="en-US" altLang="ko-KR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disaster</a:t>
            </a:r>
            <a:r>
              <a:rPr lang="en-US" altLang="ko-KR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as expected: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3457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D7FD8-A529-D5A9-1856-70E23D0F3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06E303-396E-84E9-00A1-38D589DD9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0A0B46E-4A8D-12ED-4FAC-91535BD9F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0A6FB43B-9D9C-6A9B-9B9D-5CF0B64273A1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B6CC00E-70BF-C4EB-2DA9-F5BDE0148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034" y="3310155"/>
            <a:ext cx="6799346" cy="155018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977C4DA-ADB9-CA67-2B15-895C60654370}"/>
              </a:ext>
            </a:extLst>
          </p:cNvPr>
          <p:cNvSpPr txBox="1"/>
          <p:nvPr/>
        </p:nvSpPr>
        <p:spPr>
          <a:xfrm>
            <a:off x="1026034" y="1932895"/>
            <a:ext cx="7938325" cy="46166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OUR GUESS IS TERRIBLE. THEY AREN'T EVEN CLOSE.</a:t>
            </a:r>
            <a:endParaRPr lang="ko-KR" altLang="en-US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0D1E2D-E062-E397-9A53-3D971E3269FE}"/>
              </a:ext>
            </a:extLst>
          </p:cNvPr>
          <p:cNvSpPr txBox="1"/>
          <p:nvPr/>
        </p:nvSpPr>
        <p:spPr>
          <a:xfrm>
            <a:off x="1026034" y="2386825"/>
            <a:ext cx="9906000" cy="92333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5400" b="1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BUT NOTICE SOMETHING ELSE...</a:t>
            </a:r>
            <a:endParaRPr lang="ko-KR" altLang="en-US" sz="5400" b="1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376EC8-5E1B-C3BD-C058-81A7C5F691DE}"/>
              </a:ext>
            </a:extLst>
          </p:cNvPr>
          <p:cNvSpPr txBox="1"/>
          <p:nvPr/>
        </p:nvSpPr>
        <p:spPr>
          <a:xfrm>
            <a:off x="1026034" y="4765137"/>
            <a:ext cx="1026795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AUTOGRAD WAS WATCHING. THE NERVOUS SYSTEM IS ACTIVE.</a:t>
            </a:r>
            <a:endParaRPr lang="ko-KR" altLang="en-US" sz="28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01309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45A80-4BA6-E340-17C7-FA14906CD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AEE6B05-7ED9-33C5-1EF7-27D7B95DB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6260592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4BF66B2-6C69-F409-F14A-651B4CAC4C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916597DF-2B69-82E8-B940-C93A6E55FE66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EC21EA-DB69-3168-9B5C-8D451705F601}"/>
              </a:ext>
            </a:extLst>
          </p:cNvPr>
          <p:cNvSpPr txBox="1"/>
          <p:nvPr/>
        </p:nvSpPr>
        <p:spPr>
          <a:xfrm>
            <a:off x="1118168" y="1490795"/>
            <a:ext cx="9692127" cy="127002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b="1" dirty="0">
                <a:solidFill>
                  <a:schemeClr val="bg1"/>
                </a:solidFill>
              </a:rPr>
              <a:t>OUR </a:t>
            </a:r>
            <a:r>
              <a:rPr lang="en-US" altLang="ko-KR" b="1" dirty="0">
                <a:solidFill>
                  <a:schemeClr val="bg1"/>
                </a:solidFill>
                <a:latin typeface="Courier New" panose="02070309020205020404" pitchFamily="49" charset="0"/>
              </a:rPr>
              <a:t>Y_HAT</a:t>
            </a:r>
            <a:r>
              <a:rPr lang="en-US" altLang="ko-KR" b="1" dirty="0">
                <a:solidFill>
                  <a:schemeClr val="bg1"/>
                </a:solidFill>
              </a:rPr>
              <a:t> IS NOWHERE NEAR THE TRUE </a:t>
            </a:r>
            <a:r>
              <a:rPr lang="en-US" altLang="ko-KR" b="1" dirty="0">
                <a:solidFill>
                  <a:schemeClr val="bg1"/>
                </a:solidFill>
                <a:latin typeface="Courier New" panose="02070309020205020404" pitchFamily="49" charset="0"/>
              </a:rPr>
              <a:t>Y</a:t>
            </a:r>
            <a:r>
              <a:rPr lang="en-US" altLang="ko-KR" b="1" dirty="0">
                <a:solidFill>
                  <a:schemeClr val="bg1"/>
                </a:solidFill>
              </a:rPr>
              <a:t>. BUT THAT'S OKAY! THE QUESTION IS:</a:t>
            </a:r>
            <a:endParaRPr lang="en-US" altLang="ko-KR" dirty="0">
              <a:solidFill>
                <a:schemeClr val="bg1"/>
              </a:solidFill>
            </a:endParaRPr>
          </a:p>
          <a:p>
            <a:pPr>
              <a:lnSpc>
                <a:spcPct val="200000"/>
              </a:lnSpc>
              <a:buNone/>
            </a:pPr>
            <a:r>
              <a:rPr lang="en-US" altLang="ko-KR" sz="2400" b="1" dirty="0">
                <a:solidFill>
                  <a:srgbClr val="FF0000"/>
                </a:solidFill>
              </a:rPr>
              <a:t>HOW DO WE QUANTIFY </a:t>
            </a:r>
            <a:r>
              <a:rPr lang="en-US" altLang="ko-KR" sz="2400" b="1" i="1" dirty="0">
                <a:solidFill>
                  <a:srgbClr val="FF0000"/>
                </a:solidFill>
              </a:rPr>
              <a:t>EXACTLY HOW WRONG</a:t>
            </a:r>
            <a:r>
              <a:rPr lang="en-US" altLang="ko-KR" sz="2400" b="1" dirty="0">
                <a:solidFill>
                  <a:srgbClr val="FF0000"/>
                </a:solidFill>
              </a:rPr>
              <a:t> WE ARE?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3E8C29-0883-9470-2388-3697025F13F6}"/>
              </a:ext>
            </a:extLst>
          </p:cNvPr>
          <p:cNvSpPr txBox="1"/>
          <p:nvPr/>
        </p:nvSpPr>
        <p:spPr>
          <a:xfrm>
            <a:off x="1118169" y="3044279"/>
            <a:ext cx="9692126" cy="107016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8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THIS IS THE BACKWARD PASS. STEP 2 OF OUR LOOP.</a:t>
            </a:r>
            <a:r>
              <a:rPr lang="en-US" altLang="ko-KR" sz="2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IF THE FORWARD PASS WAS THE "GUESS," THE BACKWARD PASS IS THE </a:t>
            </a:r>
            <a:r>
              <a:rPr lang="en-US" altLang="ko-KR" sz="1600" b="1" dirty="0">
                <a:solidFill>
                  <a:schemeClr val="accent6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"POST-MORTEM ANALYSIS."</a:t>
            </a:r>
            <a:endParaRPr lang="ko-KR" altLang="en-US" sz="1600" dirty="0">
              <a:solidFill>
                <a:schemeClr val="accent6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0DB4E4-5AF6-9EF7-F0D2-9B684B2FF7C0}"/>
              </a:ext>
            </a:extLst>
          </p:cNvPr>
          <p:cNvSpPr txBox="1"/>
          <p:nvPr/>
        </p:nvSpPr>
        <p:spPr>
          <a:xfrm>
            <a:off x="1118168" y="4308740"/>
            <a:ext cx="9692126" cy="170091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3200" b="1" dirty="0">
                <a:solidFill>
                  <a:schemeClr val="bg1"/>
                </a:solidFill>
              </a:rPr>
              <a:t>WE COMPARE OUR GUESS TO THE TRUTH...</a:t>
            </a:r>
            <a:r>
              <a:rPr lang="en-US" altLang="ko-KR" sz="3200" dirty="0">
                <a:solidFill>
                  <a:schemeClr val="bg1"/>
                </a:solidFill>
              </a:rPr>
              <a:t> </a:t>
            </a:r>
          </a:p>
          <a:p>
            <a:pPr>
              <a:lnSpc>
                <a:spcPct val="200000"/>
              </a:lnSpc>
            </a:pPr>
            <a:r>
              <a:rPr lang="en-US" altLang="ko-KR" sz="2400" b="1" dirty="0">
                <a:solidFill>
                  <a:schemeClr val="bg1"/>
                </a:solidFill>
              </a:rPr>
              <a:t>...AND THEN WE FIGURE OUT </a:t>
            </a:r>
            <a:r>
              <a:rPr lang="en-US" altLang="ko-KR" sz="2400" b="1" dirty="0">
                <a:solidFill>
                  <a:srgbClr val="FF0000"/>
                </a:solidFill>
              </a:rPr>
              <a:t>EXACTLY WHO TO BLAME.</a:t>
            </a:r>
            <a:endParaRPr lang="ko-KR" altLang="en-US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5485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969CD-B1B0-3D9F-D68E-BBD789AE3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7DC3A43-DF1A-1B5B-3F00-9213A9A9C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257C445-6251-04F9-4AF7-B41D1B2B13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94D8976-5881-DBED-7000-381519134B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5058" y="1742910"/>
            <a:ext cx="8809483" cy="1905165"/>
          </a:xfrm>
          <a:prstGeom prst="rect">
            <a:avLst/>
          </a:prstGeom>
        </p:spPr>
      </p:pic>
      <p:sp>
        <p:nvSpPr>
          <p:cNvPr id="11" name="제목 7">
            <a:extLst>
              <a:ext uri="{FF2B5EF4-FFF2-40B4-BE49-F238E27FC236}">
                <a16:creationId xmlns:a16="http://schemas.microsoft.com/office/drawing/2014/main" id="{722ABE70-47FA-6470-689E-A45BF183AF9F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58C6D4-4E23-C2EE-F395-1243B741935C}"/>
              </a:ext>
            </a:extLst>
          </p:cNvPr>
          <p:cNvSpPr txBox="1"/>
          <p:nvPr/>
        </p:nvSpPr>
        <p:spPr>
          <a:xfrm>
            <a:off x="1181849" y="4198666"/>
            <a:ext cx="9675899" cy="145469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>
                <a:solidFill>
                  <a:schemeClr val="bg1"/>
                </a:solidFill>
              </a:rPr>
              <a:t>The backward pass is figuring out </a:t>
            </a:r>
            <a:r>
              <a:rPr lang="en-US" altLang="ko-KR" sz="2400" dirty="0">
                <a:solidFill>
                  <a:srgbClr val="00B050"/>
                </a:solidFill>
              </a:rPr>
              <a:t>which direction to turn each knob</a:t>
            </a:r>
            <a:r>
              <a:rPr lang="en-US" altLang="ko-KR" sz="2400" dirty="0">
                <a:solidFill>
                  <a:schemeClr val="bg1"/>
                </a:solidFill>
              </a:rPr>
              <a:t> to make the static go away.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0162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D13EA-CAC6-D348-683B-98D933DAD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C052856-143B-73D6-86EB-8D36CF9B1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8C0881C-5F23-D83A-85FE-D43459004F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54A07FA6-8B43-463C-D25E-61248CE6D614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B3564A-88FB-3141-112C-42F5D256D6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466" y="1447744"/>
            <a:ext cx="9541067" cy="129551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328A79C-F743-3710-DB32-FD67AF9F1C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2139" y="3227052"/>
            <a:ext cx="9487722" cy="40389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E967D1C-B62B-7F4E-4CD0-E56424F88C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5932" y="3985193"/>
            <a:ext cx="9563929" cy="1425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3341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E0A52-191C-B7AC-2325-7CF94F43B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B949E955-CA52-FFAC-01B0-969F29CAA8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4526" y="2287793"/>
            <a:ext cx="5926741" cy="1377410"/>
          </a:xfrm>
          <a:prstGeom prst="rect">
            <a:avLst/>
          </a:prstGeom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E68B91F3-A2A3-1EFA-1C72-D4C7A87C0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0C539D0-8FFA-2600-BA95-C52DDDF262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16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73DEDA8B-233E-08FE-48DA-9859F0BD991F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6F69DC-71CF-074F-3A59-AC99B884A7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276" y="1401968"/>
            <a:ext cx="4610500" cy="256816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2676C48-CCC3-8AB4-8FC5-3107B78125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554" y="4008231"/>
            <a:ext cx="6950042" cy="92972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9A2145A-9975-CE0B-535D-432075A71A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554" y="4937952"/>
            <a:ext cx="6950042" cy="53344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A0493225-0172-9D1E-5939-CC62E42674C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555" y="5449507"/>
            <a:ext cx="6950042" cy="441998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DF859600-411A-9209-9F8B-0A18BE1A1077}"/>
              </a:ext>
            </a:extLst>
          </p:cNvPr>
          <p:cNvSpPr/>
          <p:nvPr/>
        </p:nvSpPr>
        <p:spPr>
          <a:xfrm>
            <a:off x="9626344" y="2655736"/>
            <a:ext cx="2022182" cy="10094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26399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AF2F-0926-C7F3-9FD8-BF678FCF8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CC27E12-1711-AC55-2897-B9E13D6CC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D03E79E-FEE4-8F1B-6786-20472F713E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17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F8C26AEF-60A6-C0C4-AE6F-54BDF4982917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0521E3A-E739-C5D2-1187-F1FB0274F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429" y="1828661"/>
            <a:ext cx="8093141" cy="3200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4032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218CE-6891-394B-C232-1BF77168C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4CEDAE6-B046-D882-CD04-FCF3B8EDF3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B1AC10A-50F2-17E4-1288-5A58CEDAC4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22C17EB7-2F04-CC65-A1E1-F2A651D0E9D8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6B8FEEA-8910-E162-7B42-1D50A4CBF8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448" y="1481984"/>
            <a:ext cx="9809499" cy="295666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9A81377-9E0C-3A26-D671-2091D9515B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448" y="4818337"/>
            <a:ext cx="9812611" cy="103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57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B1F11-9B43-A828-9E4B-45ED3C1F8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C68424E-D312-5734-3A93-9F2F1AB6A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EB99DDC-39CA-3C4D-E202-F04F1A14FB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19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69F6807B-C0B1-6F74-7F1C-30218F679CF6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A938CDC-AE0C-D990-A6EF-0BE8513A01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268" y="1421047"/>
            <a:ext cx="9502964" cy="192040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E7719F4-17B3-3099-FCFE-CCE4E85599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475" y="4193532"/>
            <a:ext cx="9426757" cy="115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677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8BC8F-36BC-7873-3EAF-412DFD6F0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4C727A8-BCE2-3304-57F5-58A4615712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85243D0-FB41-EC5F-3DA4-5393102672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20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60F4D28-4B80-C563-EA79-BA4D1FEE3B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066" y="1596351"/>
            <a:ext cx="9541067" cy="883997"/>
          </a:xfrm>
          <a:prstGeom prst="rect">
            <a:avLst/>
          </a:prstGeom>
        </p:spPr>
      </p:pic>
      <p:sp>
        <p:nvSpPr>
          <p:cNvPr id="5" name="제목 7">
            <a:extLst>
              <a:ext uri="{FF2B5EF4-FFF2-40B4-BE49-F238E27FC236}">
                <a16:creationId xmlns:a16="http://schemas.microsoft.com/office/drawing/2014/main" id="{E75B3596-6C5C-570B-C084-010D85D56272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9FFCA4E-1676-9FFE-C45A-BF2F6AFA36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3066" y="2638012"/>
            <a:ext cx="9510584" cy="70110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4CB6D02-B993-68FE-8A0A-1954420638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34285" y="3518888"/>
            <a:ext cx="7018628" cy="2613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561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7B33D-8066-28A2-EC2E-8EAFC39DF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22627C6-D0E3-B02A-6E95-8610F1573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0147DA7-E789-DBFA-4F04-CC637D3C17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21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1DB3DA57-7167-B289-8BF3-F18E7E3FD792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29D2ACB-BBB8-26E1-C8EF-5D22E148CB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5093" y="1325754"/>
            <a:ext cx="7815146" cy="265569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45FA0F9-7A84-1052-DA29-B25F61E960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6451" y="4103100"/>
            <a:ext cx="7274481" cy="210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303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EADB3-F6D9-C88A-4893-F6C0FC94F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CECD763E-B552-3544-3F39-0833BAFAD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7DE9EF2-D8EF-87B1-220C-4AFB3E335E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22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458475AF-D92B-18F9-50AB-D1FD6F2C62E9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C9B9F78-8D46-A912-B3B9-AB8699A0CD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526" y="1804078"/>
            <a:ext cx="9464860" cy="47248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9C21382-4B96-D4C3-A483-3555784D0F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245" y="2257816"/>
            <a:ext cx="10012562" cy="1549083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FBB77B2F-E865-F23E-904F-795B3FF6EE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2608" y="3806899"/>
            <a:ext cx="8903836" cy="2327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66744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093C1-179E-CBDD-7437-86266EE6B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58D9D41-4E6D-E7C2-BB08-5D90A066A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28404CE-55DD-3D68-739A-15180942F0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52940EC0-6993-32F4-D837-F9BB4D3943F1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7EC9C3E-3473-F918-8536-CB53266C87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645" y="1509640"/>
            <a:ext cx="8898555" cy="319115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416D975-EB40-4057-5BFD-27703A8511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1792" y="4754636"/>
            <a:ext cx="4174069" cy="1655307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13842882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B4ED2-100C-6ECD-16AE-A5F3FBAAD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9CF4004-422A-B65E-5463-B84E4D5C4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999797F-21A6-E605-863C-10A0C74B58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24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AD6DD463-1198-01DF-DD0E-475C13EBF055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0ADDF6F-3A82-1350-2AA4-53B63F9B52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305" y="1640090"/>
            <a:ext cx="10139950" cy="3017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175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E0EE5-B7B4-E6BE-C0EB-21DE528AF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B47F1C2-35C1-5116-A414-F6874F2FF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26F162F-FA06-F75B-015D-8D4F14F86D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25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8A30AD-8E68-9665-D664-D0C1B731F1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066" y="1596351"/>
            <a:ext cx="9541067" cy="883997"/>
          </a:xfrm>
          <a:prstGeom prst="rect">
            <a:avLst/>
          </a:prstGeom>
        </p:spPr>
      </p:pic>
      <p:sp>
        <p:nvSpPr>
          <p:cNvPr id="5" name="제목 7">
            <a:extLst>
              <a:ext uri="{FF2B5EF4-FFF2-40B4-BE49-F238E27FC236}">
                <a16:creationId xmlns:a16="http://schemas.microsoft.com/office/drawing/2014/main" id="{003F7729-CF1F-5831-3FBD-EEEAACDBABBE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DE75393-E00E-3E35-821A-63327A5F3A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1963" y="2460830"/>
            <a:ext cx="5928874" cy="55630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F443C67-BD07-BF3B-0EDE-40A90E4DDA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19272" y="2988563"/>
            <a:ext cx="6134255" cy="65951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EF57FA1-5815-9723-7C1F-1A6D9AF279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9549" y="3588221"/>
            <a:ext cx="6509468" cy="659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543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A27CC-1152-C799-1412-6CB2C94E5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181E172-2A53-5C40-B7B1-B11F02A7F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E370946-B615-6B87-94B7-E1F4809BF2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26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FB964181-AA3D-7F5C-166D-82EE2161CC3F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7E1276F-50CE-7A93-CB3F-1DD4270E0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1656" y="1573488"/>
            <a:ext cx="9548687" cy="96782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92613CD-B2F2-33FC-A644-630B9C8E08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9599" y="2541312"/>
            <a:ext cx="6687921" cy="1554438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92AA89C8-9554-1975-1F79-0C5E779F1326}"/>
              </a:ext>
            </a:extLst>
          </p:cNvPr>
          <p:cNvSpPr/>
          <p:nvPr/>
        </p:nvSpPr>
        <p:spPr>
          <a:xfrm>
            <a:off x="8188069" y="3257550"/>
            <a:ext cx="759337" cy="3333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77D9549-4BE9-6652-353F-E3FB7BFA91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9156" y="4535763"/>
            <a:ext cx="5608806" cy="662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262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A1805-DF28-4B30-8BE7-1D5E0B921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E2A5BAA-E9EC-4FD9-0E8D-CB6CD7B4B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BFA404A-BB0E-B816-6F17-E2EFE2030C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27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0F98435E-2DA9-D848-29E2-D2A404D52439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CC8C259-BEFD-231C-54DD-AEE51998A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5554" y="1450518"/>
            <a:ext cx="7776622" cy="197848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0FF4C6B-AD08-BE17-40E1-BBE32CE986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5554" y="3429000"/>
            <a:ext cx="7776622" cy="129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003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4B14F-CD33-288D-C9CF-EC4A13DFA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672E52C-BA5C-2070-8209-533D23E18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7E971AC-93D4-55A1-44D6-70102AB764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28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6889CF3D-9A31-783A-2245-AF951B225637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55D38DE-C8E4-3001-9750-CC58150E8D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695" y="1474399"/>
            <a:ext cx="9464860" cy="739204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BF39C064-68C7-BA09-AA4F-90460A4EF8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0695" y="3941870"/>
            <a:ext cx="2909053" cy="2444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E95D2660-ECE9-CBB2-E9C7-0A7B3A30FB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0696" y="2213603"/>
            <a:ext cx="9464860" cy="6955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9C68E2-7595-2EEE-0686-E4B953FFB4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0695" y="2899360"/>
            <a:ext cx="9464860" cy="57840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E4C6537-CC80-E0C8-7958-1ED8ADB52D5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8168" y="4521107"/>
            <a:ext cx="6237387" cy="800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7706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38357-E907-A3FE-8496-30ED17DB8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355C600-EE0D-035D-4C22-4DB996FCE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4E179D1-9AB1-9271-B6D9-8748BC97C7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29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1030856D-12E4-EB81-0D08-AFD5D05D5E32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4D54DF5-3E74-6BB3-33A7-2E02A957E4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5504" y="1402038"/>
            <a:ext cx="7457722" cy="76013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4CDBA3C-43CC-A1E8-C9A6-4E18C4CB14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9599" y="2455587"/>
            <a:ext cx="6687921" cy="1554438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D3CB1527-55FF-7A35-EEC5-E9D1C8CBAAEC}"/>
              </a:ext>
            </a:extLst>
          </p:cNvPr>
          <p:cNvSpPr/>
          <p:nvPr/>
        </p:nvSpPr>
        <p:spPr>
          <a:xfrm>
            <a:off x="8188069" y="3076575"/>
            <a:ext cx="759337" cy="7239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8EB365B-E1A8-A5D7-341C-03DC71345397}"/>
              </a:ext>
            </a:extLst>
          </p:cNvPr>
          <p:cNvSpPr/>
          <p:nvPr/>
        </p:nvSpPr>
        <p:spPr>
          <a:xfrm>
            <a:off x="5749669" y="3286125"/>
            <a:ext cx="1298831" cy="7239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3A12B7A-AC59-3EBC-F136-3B4CA15F7C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8320" y="4594227"/>
            <a:ext cx="9464860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139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8E2C3-8DC3-FF1A-F9AA-1516DBA00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CA6D2C2-901A-2EEB-1516-EC5791440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39CB5B1-EA09-B0CB-9FAA-32F615ECF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30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763B68F9-FED4-A037-3870-7A760A42CE24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B102FEE-AD00-2E33-E34B-2BD1D6AEA3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8119" y="1714351"/>
            <a:ext cx="6256562" cy="171464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4000BCDF-2B59-AE8F-B9DC-CAFC164DFE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531" y="4960689"/>
            <a:ext cx="8702794" cy="482664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B59F37F8-EA4B-C27A-3472-30B3789520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531" y="4093835"/>
            <a:ext cx="8702794" cy="43437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FC688A40-67F4-6FB9-8761-658880B97A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531" y="4482492"/>
            <a:ext cx="8702794" cy="50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7500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76B9A-6D92-9025-8ED3-0B5683761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064C80B-7FBB-D36E-C436-F67175202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860FE33-1E55-C59E-1E71-1DF672A478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31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D47E8D4D-6F2E-4668-8AB0-B8A8F9D4DD45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8D9DCC9-F3D0-AE23-2ED3-316BF1BF44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8379" y="2228746"/>
            <a:ext cx="9015241" cy="240050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65AC273-CA40-E373-6E8E-B2597B759E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2620" y="4629254"/>
            <a:ext cx="9426757" cy="92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6223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A4BC7-436A-5893-47E7-B3F642ADE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F97CDD1-0104-19B9-0F01-ED0C830A7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Training Loop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FFF182C-9697-5D66-9105-EB2523CBB3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32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0EEF571A-8F00-DF55-7684-DDCA86965C4B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4,5. Parameter Update &amp; reset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7685F1C-5FC6-A8C1-B31E-8BB8B073E3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2390" y="1603834"/>
            <a:ext cx="5589536" cy="139277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C888E2B-6908-0ADE-C6EB-D19808EE33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4847" y="2998343"/>
            <a:ext cx="6864622" cy="114106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7E49283-1FD6-1831-AD8F-7B1F548905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1631" y="5175163"/>
            <a:ext cx="2787244" cy="108437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3349352-DF3C-5571-47F9-2FF2DA2C80EF}"/>
              </a:ext>
            </a:extLst>
          </p:cNvPr>
          <p:cNvSpPr txBox="1"/>
          <p:nvPr/>
        </p:nvSpPr>
        <p:spPr>
          <a:xfrm>
            <a:off x="771455" y="4330470"/>
            <a:ext cx="10877071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Accumulation :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디자인 철학은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호출할 때마다 기울기를 덮어쓰는 것이 아니라 기존 값에 더하도록 되어 있기 때문에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 리셋을 안 하면 다음과 같이 작동하여 학습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훈련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안됨</a:t>
            </a:r>
          </a:p>
        </p:txBody>
      </p:sp>
    </p:spTree>
    <p:extLst>
      <p:ext uri="{BB962C8B-B14F-4D97-AF65-F5344CB8AC3E}">
        <p14:creationId xmlns:p14="http://schemas.microsoft.com/office/powerpoint/2010/main" val="1310664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9AB49-3330-86A0-D10A-41A1F2753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087A3EE-CFD5-93E2-42F2-440E95A3CD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33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8AECFECB-4936-39F3-7595-D00F1072B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Training Loop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E8E1E637-D7D3-6F3A-EF0C-089043C72F5B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4,5. Parameter Update &amp; reset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67F79A2-E9CE-79F5-590E-F7FC051B2D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8292" y="1754973"/>
            <a:ext cx="3183467" cy="414409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2CBE5944-12BC-0F6A-6FDA-CF6B28057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0241" y="2258553"/>
            <a:ext cx="4901087" cy="3104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181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085D0-E40D-6319-65CF-CDF22EB8F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46DD5E0-4589-F6F3-318A-D985B71F45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34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8C5ECE83-B258-E8FA-26D3-41DF82484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5203319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Entire Training Process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F4098F80-6FE3-3C11-28BF-538A6FF2E02E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Generate Data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B840E-DF80-14F4-3624-15A2E02BF76A}"/>
              </a:ext>
            </a:extLst>
          </p:cNvPr>
          <p:cNvSpPr txBox="1"/>
          <p:nvPr/>
        </p:nvSpPr>
        <p:spPr>
          <a:xfrm>
            <a:off x="639015" y="1433415"/>
            <a:ext cx="8429076" cy="477053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Our batch of data will have 10 data points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 = 10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Each data point has 1 input feature and 1 output value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D_in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D_out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Create our input data X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D_in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Create our true target labels y by using the "true" W and b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The "true" W is 2.0, the "true" b is 1.0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([[2.0]])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(1.0)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X @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D_out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* 0.1 # Add a little noise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Hyperparameters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0.01,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3909903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EFA36-00AC-A287-F93C-D47C0F174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3B21E1B-9F32-E4A0-EEE6-396CE5EBC7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35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D11157D5-88C0-D570-CE46-D896CD48C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5203319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Entire Training Process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14E02A3F-9F3A-67C0-DDDE-7E3FE2FE52D5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Parameter Update &amp; reset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795FA8-01D4-A678-2D10-F56BCDEE5E05}"/>
              </a:ext>
            </a:extLst>
          </p:cNvPr>
          <p:cNvSpPr txBox="1"/>
          <p:nvPr/>
        </p:nvSpPr>
        <p:spPr>
          <a:xfrm>
            <a:off x="648250" y="1292721"/>
            <a:ext cx="8429076" cy="501675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Re-initialize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)**2)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W.grad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W.grad.zero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_();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914360A-9527-B548-6FB1-3E8295F92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8703" y="3049726"/>
            <a:ext cx="3875272" cy="29332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86931AD6-9B84-91C1-B0B1-C2694A832A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31" y="4035971"/>
            <a:ext cx="3492869" cy="26137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68B8E914-2DA8-98A3-E183-6477582251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3300" y="4785916"/>
            <a:ext cx="4429125" cy="276820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010D7A38-2DC4-0AD6-E6FC-33B2A17BE2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6322" y="5932939"/>
            <a:ext cx="3492869" cy="28819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E3D5CAF1-EF4D-5838-3CA3-F43F49CAF447}"/>
              </a:ext>
            </a:extLst>
          </p:cNvPr>
          <p:cNvSpPr/>
          <p:nvPr/>
        </p:nvSpPr>
        <p:spPr>
          <a:xfrm>
            <a:off x="1053843" y="3056191"/>
            <a:ext cx="4014859" cy="5321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10CEAC8-4B18-C5D3-4F20-9601158BF239}"/>
              </a:ext>
            </a:extLst>
          </p:cNvPr>
          <p:cNvSpPr/>
          <p:nvPr/>
        </p:nvSpPr>
        <p:spPr>
          <a:xfrm>
            <a:off x="1053843" y="4037744"/>
            <a:ext cx="1841757" cy="2881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A778F37-BF6E-5760-1E89-BA2DBC2E8B72}"/>
              </a:ext>
            </a:extLst>
          </p:cNvPr>
          <p:cNvSpPr/>
          <p:nvPr/>
        </p:nvSpPr>
        <p:spPr>
          <a:xfrm>
            <a:off x="1053843" y="4790219"/>
            <a:ext cx="6299457" cy="77506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4DFF235-5C9B-2984-5DB1-5011A38031CD}"/>
              </a:ext>
            </a:extLst>
          </p:cNvPr>
          <p:cNvSpPr/>
          <p:nvPr/>
        </p:nvSpPr>
        <p:spPr>
          <a:xfrm>
            <a:off x="1053843" y="5936102"/>
            <a:ext cx="3222479" cy="2945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7357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D5FA2-480D-48B4-1617-ED963356B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F338134-1336-BCEF-A661-3669130ED7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36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F48C3192-C32A-B043-A6E6-90FDAB2CF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Training Loop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99D5CB41-7AE4-631E-B58D-A5CBFE7C7956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Parameter Update &amp; reset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9079928-D83C-011F-039A-B0517E6869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947" y="1350193"/>
            <a:ext cx="8429076" cy="9549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D3B0EDD-6719-8243-E118-2657EEE3BCA1}"/>
              </a:ext>
            </a:extLst>
          </p:cNvPr>
          <p:cNvSpPr txBox="1"/>
          <p:nvPr/>
        </p:nvSpPr>
        <p:spPr>
          <a:xfrm>
            <a:off x="1125947" y="2288962"/>
            <a:ext cx="10437404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if epoch % 30 == 0: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f"Epoch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{epoch:02d}: Loss={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loss.item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():.4f}, W={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W.item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():.3f}, b={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():.3f}")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print(f"\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nFinal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Parameters: W={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W.item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():.3f}, b={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():.3f}")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f"True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Parameters:  W=2.000, b=1.000")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9E18991-C713-849F-402E-C9D666712A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5947" y="3612401"/>
            <a:ext cx="4191164" cy="2591551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23EB0FED-9B67-B38D-E41A-DFB33A05190D}"/>
              </a:ext>
            </a:extLst>
          </p:cNvPr>
          <p:cNvSpPr/>
          <p:nvPr/>
        </p:nvSpPr>
        <p:spPr>
          <a:xfrm>
            <a:off x="946760" y="5723659"/>
            <a:ext cx="4927567" cy="6400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3598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344FF-528C-3172-B3A5-8E6FCFEED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B133B7D-43FE-8E0E-AABD-8B1A0E8FC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37</a:t>
            </a:fld>
            <a:endParaRPr lang="ko-KR" altLang="en-US" noProof="0"/>
          </a:p>
        </p:txBody>
      </p:sp>
      <p:sp>
        <p:nvSpPr>
          <p:cNvPr id="6" name="제목 7">
            <a:extLst>
              <a:ext uri="{FF2B5EF4-FFF2-40B4-BE49-F238E27FC236}">
                <a16:creationId xmlns:a16="http://schemas.microsoft.com/office/drawing/2014/main" id="{0C24D238-261F-57FC-6FEC-DB4F77D22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Hands-on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4244BB9-E8AA-000E-0633-6024CB1211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7455" y="2124"/>
            <a:ext cx="1775896" cy="108601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EE1B744-0516-6F99-FF31-BAA1C47DE541}"/>
              </a:ext>
            </a:extLst>
          </p:cNvPr>
          <p:cNvSpPr txBox="1"/>
          <p:nvPr/>
        </p:nvSpPr>
        <p:spPr>
          <a:xfrm>
            <a:off x="646545" y="1681018"/>
            <a:ext cx="10538691" cy="1286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입력변수가 </a:t>
            </a:r>
            <a:r>
              <a:rPr lang="en-US" altLang="ko-KR" dirty="0"/>
              <a:t>5</a:t>
            </a:r>
            <a:r>
              <a:rPr lang="ko-KR" altLang="en-US" dirty="0"/>
              <a:t>개 </a:t>
            </a:r>
            <a:r>
              <a:rPr lang="en-US" altLang="ko-KR" dirty="0"/>
              <a:t>100</a:t>
            </a:r>
            <a:r>
              <a:rPr lang="ko-KR" altLang="en-US" dirty="0"/>
              <a:t>개의 가상데이터를 학습하고 총 몇 개의 </a:t>
            </a:r>
            <a:r>
              <a:rPr lang="en-US" altLang="ko-KR" dirty="0"/>
              <a:t>parameter</a:t>
            </a:r>
            <a:r>
              <a:rPr lang="ko-KR" altLang="en-US" dirty="0"/>
              <a:t>를 찾아내는가</a:t>
            </a:r>
            <a:r>
              <a:rPr lang="en-US" altLang="ko-KR" dirty="0"/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입력변수가 </a:t>
            </a:r>
            <a:r>
              <a:rPr lang="en-US" altLang="ko-KR" dirty="0"/>
              <a:t>3</a:t>
            </a:r>
            <a:r>
              <a:rPr lang="ko-KR" altLang="en-US" dirty="0"/>
              <a:t>개 출력변수가 </a:t>
            </a:r>
            <a:r>
              <a:rPr lang="en-US" altLang="ko-KR" dirty="0"/>
              <a:t>5</a:t>
            </a:r>
            <a:r>
              <a:rPr lang="ko-KR" altLang="en-US" dirty="0"/>
              <a:t>개인 가상데이터를 학습하고 총 몇 개의 </a:t>
            </a:r>
            <a:r>
              <a:rPr lang="en-US" altLang="ko-KR" dirty="0"/>
              <a:t>parameter</a:t>
            </a:r>
            <a:r>
              <a:rPr lang="ko-KR" altLang="en-US" dirty="0"/>
              <a:t>를 찾아내는가</a:t>
            </a:r>
            <a:r>
              <a:rPr lang="en-US" altLang="ko-KR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657254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74FAC-B223-469F-E1F4-C97CEF859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F55043D-FC03-8D46-C9F4-B31597F8A0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38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E4AB6FB6-8CB9-3B10-A733-F29F1590A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Optimizer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FF9961-7108-DC6D-FBD5-4479DA899F99}"/>
              </a:ext>
            </a:extLst>
          </p:cNvPr>
          <p:cNvSpPr txBox="1"/>
          <p:nvPr/>
        </p:nvSpPr>
        <p:spPr>
          <a:xfrm>
            <a:off x="543474" y="1433415"/>
            <a:ext cx="8295726" cy="4770537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1. 설정 및 데이터 준비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0.01, 100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정의 (여기서는 확률적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SGD 사용)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torch.optim.SGD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)**2)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--- 핵심 세 줄 (The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Three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Lines) ---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optimizer.zero_grad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# 1. 기울기 초기화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 # 2. 기울기 계산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Backpropagation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optimizer.step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# 3. 파라미터 업데이트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382592-89FE-C19F-F26F-AD1B07F74070}"/>
              </a:ext>
            </a:extLst>
          </p:cNvPr>
          <p:cNvSpPr txBox="1"/>
          <p:nvPr/>
        </p:nvSpPr>
        <p:spPr>
          <a:xfrm>
            <a:off x="8371926" y="4880513"/>
            <a:ext cx="3552825" cy="1323439"/>
          </a:xfrm>
          <a:prstGeom prst="rect">
            <a:avLst/>
          </a:prstGeom>
          <a:solidFill>
            <a:schemeClr val="accent4"/>
          </a:solidFill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학습된 가중치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(W)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편향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f"Weights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(W):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W.data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Bias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(b):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b.data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미분 가능한지 정보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print(W,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791219B-0CEE-EDD2-761E-FD1FBCE22D08}"/>
              </a:ext>
            </a:extLst>
          </p:cNvPr>
          <p:cNvSpPr/>
          <p:nvPr/>
        </p:nvSpPr>
        <p:spPr>
          <a:xfrm>
            <a:off x="958593" y="5342037"/>
            <a:ext cx="6356607" cy="8142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6677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CE097-C711-6CF6-8DE7-2B7B8AD1B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502C0A7-A6A8-B895-32F2-0FA366C806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39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43FBE808-6515-6DB7-0F50-D8426B9CE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model (like pro)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327140-F2A9-19E7-B045-CFFC37E9B382}"/>
              </a:ext>
            </a:extLst>
          </p:cNvPr>
          <p:cNvSpPr txBox="1"/>
          <p:nvPr/>
        </p:nvSpPr>
        <p:spPr>
          <a:xfrm>
            <a:off x="600253" y="1371860"/>
            <a:ext cx="5030260" cy="483209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클래스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상속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super(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self).__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W, 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자동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Linear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(1, 1)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예측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X @ W + b)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0.01; epochs = 100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(Mean Squared Error)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criterion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nn.MSELoss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F9E2D7-CAE7-EBF8-88FC-ED6E4DF6D0C7}"/>
              </a:ext>
            </a:extLst>
          </p:cNvPr>
          <p:cNvSpPr txBox="1"/>
          <p:nvPr/>
        </p:nvSpPr>
        <p:spPr>
          <a:xfrm>
            <a:off x="6400897" y="1371860"/>
            <a:ext cx="5190850" cy="4616648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옵티마이저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(SGD)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optimizer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optim.SGD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model.parameters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루프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(Training Loop)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epoch in range(epochs):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optimizer.zero_grad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초기화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model(X)     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모델을 통한 예측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loss = criterion(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손실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 	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계산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optimizer.step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if (epoch + 1) % 10 == 0: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f'Epoch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[{epoch+1}/{epochs}], Loss: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loss.item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():.4f}’)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저장 및 확인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print("\n[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파라미터 확인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model.state_dict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torch.save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model.state_dict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model.pth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</p:txBody>
      </p:sp>
    </p:spTree>
    <p:extLst>
      <p:ext uri="{BB962C8B-B14F-4D97-AF65-F5344CB8AC3E}">
        <p14:creationId xmlns:p14="http://schemas.microsoft.com/office/powerpoint/2010/main" val="3543152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CCFD-463F-7127-518A-5DC5407A9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9266F11-C291-BAA9-5735-0A5A7CFF4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 err="1">
                <a:cs typeface="Segoe UI Light" panose="020B0502040204020203" pitchFamily="34" charset="0"/>
              </a:rPr>
              <a:t>pytorch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tutorial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D2A3FE8-AC2B-31B3-C63B-4CF02B6CB5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40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BC71BA-4391-0FA8-6E62-1CDC58F5E7DD}"/>
              </a:ext>
            </a:extLst>
          </p:cNvPr>
          <p:cNvSpPr txBox="1"/>
          <p:nvPr/>
        </p:nvSpPr>
        <p:spPr>
          <a:xfrm>
            <a:off x="950697" y="1402638"/>
            <a:ext cx="1055319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Installation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 Basics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Descent With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Training Pipeline: Model, Loss, and Optimizer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Logistic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and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DataLoader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Transforms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Softmax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Cross Entropy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 Functions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Feed-Forward Neural Net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Convolutional Neural Net (CNN)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Transfer Learning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Tensorboard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Save and Load Models</a:t>
            </a: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61090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2689</TotalTime>
  <Words>1532</Words>
  <Application>Microsoft Office PowerPoint</Application>
  <PresentationFormat>와이드스크린</PresentationFormat>
  <Paragraphs>308</Paragraphs>
  <Slides>40</Slides>
  <Notes>40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8" baseType="lpstr">
      <vt:lpstr>D2Coding</vt:lpstr>
      <vt:lpstr>맑은 고딕</vt:lpstr>
      <vt:lpstr>맑은 고딕 Semilight</vt:lpstr>
      <vt:lpstr>Arial</vt:lpstr>
      <vt:lpstr>Courier New</vt:lpstr>
      <vt:lpstr>Segoe UI Light</vt:lpstr>
      <vt:lpstr>Wingdings</vt:lpstr>
      <vt:lpstr>WelcomeDoc</vt:lpstr>
      <vt:lpstr>Deep Learning II</vt:lpstr>
      <vt:lpstr>The Forward Pass</vt:lpstr>
      <vt:lpstr>The Forward Pass</vt:lpstr>
      <vt:lpstr>The Forward Pass</vt:lpstr>
      <vt:lpstr>The Forward Pass</vt:lpstr>
      <vt:lpstr>The Forward Pass</vt:lpstr>
      <vt:lpstr>Generate Data</vt:lpstr>
      <vt:lpstr>The Forward Pass</vt:lpstr>
      <vt:lpstr>The Forward Pass</vt:lpstr>
      <vt:lpstr>The Forward Pass</vt:lpstr>
      <vt:lpstr>The Forward Pass</vt:lpstr>
      <vt:lpstr>The Forward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Training Loop </vt:lpstr>
      <vt:lpstr>The Training Loop </vt:lpstr>
      <vt:lpstr>The Entire Training Process </vt:lpstr>
      <vt:lpstr>The Entire Training Process </vt:lpstr>
      <vt:lpstr>The Training Loop </vt:lpstr>
      <vt:lpstr>Hands-on</vt:lpstr>
      <vt:lpstr>Optimizer</vt:lpstr>
      <vt:lpstr>model (like pro)</vt:lpstr>
      <vt:lpstr>pytorch tutorial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88</cp:revision>
  <dcterms:created xsi:type="dcterms:W3CDTF">2026-04-06T01:00:39Z</dcterms:created>
  <dcterms:modified xsi:type="dcterms:W3CDTF">2026-04-30T06:03:26Z</dcterms:modified>
  <cp:version/>
</cp:coreProperties>
</file>