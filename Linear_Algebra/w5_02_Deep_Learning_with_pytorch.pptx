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2"/>
  </p:notesMasterIdLst>
  <p:handoutMasterIdLst>
    <p:handoutMasterId r:id="rId43"/>
  </p:handoutMasterIdLst>
  <p:sldIdLst>
    <p:sldId id="1074" r:id="rId2"/>
    <p:sldId id="1035" r:id="rId3"/>
    <p:sldId id="1026" r:id="rId4"/>
    <p:sldId id="1034" r:id="rId5"/>
    <p:sldId id="1036" r:id="rId6"/>
    <p:sldId id="1037" r:id="rId7"/>
    <p:sldId id="1039" r:id="rId8"/>
    <p:sldId id="1040" r:id="rId9"/>
    <p:sldId id="1041" r:id="rId10"/>
    <p:sldId id="1042" r:id="rId11"/>
    <p:sldId id="1043" r:id="rId12"/>
    <p:sldId id="1044" r:id="rId13"/>
    <p:sldId id="1045" r:id="rId14"/>
    <p:sldId id="1046" r:id="rId15"/>
    <p:sldId id="1047" r:id="rId16"/>
    <p:sldId id="1054" r:id="rId17"/>
    <p:sldId id="1048" r:id="rId18"/>
    <p:sldId id="1051" r:id="rId19"/>
    <p:sldId id="1052" r:id="rId20"/>
    <p:sldId id="1053" r:id="rId21"/>
    <p:sldId id="1049" r:id="rId22"/>
    <p:sldId id="1055" r:id="rId23"/>
    <p:sldId id="1056" r:id="rId24"/>
    <p:sldId id="1057" r:id="rId25"/>
    <p:sldId id="1058" r:id="rId26"/>
    <p:sldId id="1064" r:id="rId27"/>
    <p:sldId id="1059" r:id="rId28"/>
    <p:sldId id="1061" r:id="rId29"/>
    <p:sldId id="1062" r:id="rId30"/>
    <p:sldId id="1063" r:id="rId31"/>
    <p:sldId id="1065" r:id="rId32"/>
    <p:sldId id="1066" r:id="rId33"/>
    <p:sldId id="1067" r:id="rId34"/>
    <p:sldId id="1069" r:id="rId35"/>
    <p:sldId id="1068" r:id="rId36"/>
    <p:sldId id="1070" r:id="rId37"/>
    <p:sldId id="1071" r:id="rId38"/>
    <p:sldId id="1072" r:id="rId39"/>
    <p:sldId id="1073" r:id="rId40"/>
    <p:sldId id="980" r:id="rId41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감사합니다." id="{E75E278A-FF0E-49A4-B170-79828D63BBAD}">
          <p14:sldIdLst/>
        </p14:section>
        <p14:section name="디자인, 모핑, 주석 달기, 공동 작업, 입력하세요" id="{B9B51309-D148-4332-87C2-07BE32FBCA3B}">
          <p14:sldIdLst>
            <p14:sldId id="1074"/>
            <p14:sldId id="1035"/>
            <p14:sldId id="1026"/>
            <p14:sldId id="1034"/>
            <p14:sldId id="1036"/>
            <p14:sldId id="1037"/>
            <p14:sldId id="1039"/>
            <p14:sldId id="1040"/>
            <p14:sldId id="1041"/>
            <p14:sldId id="1042"/>
            <p14:sldId id="1043"/>
            <p14:sldId id="1044"/>
            <p14:sldId id="1045"/>
            <p14:sldId id="1046"/>
            <p14:sldId id="1047"/>
            <p14:sldId id="1054"/>
            <p14:sldId id="1048"/>
            <p14:sldId id="1051"/>
            <p14:sldId id="1052"/>
            <p14:sldId id="1053"/>
            <p14:sldId id="1049"/>
            <p14:sldId id="1055"/>
            <p14:sldId id="1056"/>
            <p14:sldId id="1057"/>
            <p14:sldId id="1058"/>
            <p14:sldId id="1064"/>
            <p14:sldId id="1059"/>
            <p14:sldId id="1061"/>
            <p14:sldId id="1062"/>
            <p14:sldId id="1063"/>
            <p14:sldId id="1065"/>
            <p14:sldId id="1066"/>
            <p14:sldId id="1067"/>
            <p14:sldId id="1069"/>
            <p14:sldId id="1068"/>
            <p14:sldId id="1070"/>
            <p14:sldId id="1071"/>
            <p14:sldId id="1072"/>
            <p14:sldId id="1073"/>
            <p14:sldId id="980"/>
          </p14:sldIdLst>
        </p14:section>
        <p14:section name="자세한 정보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만든 이" initials="오전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E3FF"/>
    <a:srgbClr val="DD462F"/>
    <a:srgbClr val="D24726"/>
    <a:srgbClr val="404040"/>
    <a:srgbClr val="FF9B45"/>
    <a:srgbClr val="F8CFB6"/>
    <a:srgbClr val="F8CAB6"/>
    <a:srgbClr val="923922"/>
    <a:srgbClr val="F5F5F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7576" autoAdjust="0"/>
    <p:restoredTop sz="94297" autoAdjust="0"/>
  </p:normalViewPr>
  <p:slideViewPr>
    <p:cSldViewPr snapToGrid="0">
      <p:cViewPr varScale="1">
        <p:scale>
          <a:sx n="80" d="100"/>
          <a:sy n="80" d="100"/>
        </p:scale>
        <p:origin x="1123" y="5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59582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-451"/>
    </p:cViewPr>
  </p:sorterViewPr>
  <p:notesViewPr>
    <p:cSldViewPr snapToGrid="0">
      <p:cViewPr varScale="1">
        <p:scale>
          <a:sx n="104" d="100"/>
          <a:sy n="104" d="100"/>
        </p:scale>
        <p:origin x="460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4059DE-6CD5-4C59-8233-088CE5808E67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2026-04-27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3E1C3DD-4A19-441D-907C-380838DB51C4}" type="datetime1">
              <a:rPr lang="ko-KR" altLang="en-US" noProof="0" smtClean="0"/>
              <a:t>2026-04-27</a:t>
            </a:fld>
            <a:endParaRPr lang="ko-KR" altLang="en-US" noProof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F61EA0F-A667-4B49-8422-0062BC55E249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A0EC4-4CCD-D180-7CE5-4CC12C927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33438F7-CA7E-9FBD-E7B6-560DAE4924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9C84BBD-C3BE-7D11-041A-32AF7BA225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C9E2FD9-95EC-2678-60BC-325581B8A7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644123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8AFA5-2A28-E0FA-1331-E366ED1B5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AA59851-0EC1-7510-0392-246AAD133A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125BF6D-E989-4F95-E729-328AD707BB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8C11B73-D9E6-0299-3FE2-E92D1AEC08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634779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5FAA2-52A1-22EA-64D4-05526BB29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140C6B4-C8DC-D763-6A27-BB22B10234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F33D486-8E15-1234-0602-9801AE92C0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9AF6BFE-7A9A-DC3B-5A5F-88159F4FB8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710998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BDC8E-7F0E-907B-2BAF-20F99E3AA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2BAA35B-7894-BA7E-9D9A-F1FC332BF2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E2BD385-D689-8B89-FFE0-0D67F77F98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BEE5AF-E0C8-66B3-4D58-23F6318765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434915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A00AF-D3AE-B77B-7EC0-CF3D4F8EF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BE3D778-3868-BF3C-7EAF-A7C2CF270E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BDC6DD8-FBF7-588B-843C-3776A21508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1C6334F-5520-9DAD-CD88-3C171FC1D5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848978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3D010E-9454-9518-3438-3F8F9246D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5D08DCD-512F-2CF4-8485-E53F17D1E2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F568C5B-0EF2-7F3B-B222-202CAEB8EF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5B4A24-155D-5AA2-2E5A-0EDF90A952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091963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9B918-6E44-3FE1-7BC8-5231D688E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39406B9-224F-E5C1-8F60-0D00F2A366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7498AA6-B9F5-7A33-F42F-44C8046C3F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8A485C4-AA7D-6D42-7BD7-A607568C9D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7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00468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A2115-A10F-C460-4738-A473F9E96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4B2C630-7BE1-1360-D62F-0561F3BABC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4C1E048-7FD7-CE74-1479-A3AC8DC98E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F8F06E-49A3-9FCB-4A43-12BC1831CB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8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643233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C6D11-1436-51DC-48A2-44D011A56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0073E44-722E-A8D1-86BB-27D268E0CA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DEE3189-0598-EC98-E494-120364A180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1E3902D-1BFC-B887-BA1C-477762F682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9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413882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B7C58-D80C-D72D-41E5-F8C944CD0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CAE6771-EBC8-BA8D-16A5-7A12A20EFF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1DFB275-C88D-703F-001C-6D43D0292C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41A2811-1B23-A14C-37B1-54FABBA36F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352352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A0983-BBC9-BFB7-CF11-3CA02830E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FB6D556-8E73-FD52-8A7D-26CC53F79C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14C70A0-8C86-24E4-C2D8-7D08F549AE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BCA07F-250F-DB43-8AD7-6A3D0FD30A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400792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136BA-139B-ECBE-8DA7-2700C1CBF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DCB14D9-29CD-514E-2DD3-84C65B0EA5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A30BC75-8BA8-4DA5-D5BE-506F38AA31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58FAA75-CE5B-47C3-E566-B2CD49977E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12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47056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C412A-366C-7C79-7B09-F1F084D9A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A619307-B57B-C27A-E75D-894D972AA3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CED64E3-7147-DD2D-D9E6-1C547C2DF8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5369F9-78AD-7580-5921-61EDA36F3C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13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436300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160D6-61D4-03F6-36B1-3E8FDC044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C7DF52E-48E7-F2C7-88A2-8279EAF56C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D5B8C6C-EE8F-1C90-B094-31123C1248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8C4918A-A164-0882-1761-8C0B962B6A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14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41185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76348-B70A-153A-EADB-890861C8C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E30D64C-462E-F9BB-3808-48856450B3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7D24865-6B27-D3A3-B149-DCE991165F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E668B1-9B71-23FE-6C4E-CC5E3026DE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15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853919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35E89-2A31-2CC4-F7F1-4D51996E9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4A7A6B1-ECD9-ABF2-E890-021D0BEB2A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37DB40C-2B67-F630-BAA4-71C32BD630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CE17D41-1E0B-54FF-BE09-81EB997C26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16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86421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83ACB-EA22-B300-4E53-E89C9EFE3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B7D1229-7366-F52A-11C2-E20DE196CB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A25D734-D3C8-5A44-9A1A-34845A0943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4318078-40BD-BEA5-A7AD-3BD572A3D2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17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4309638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06485-B700-F3A6-49C6-FCDF1A6B6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9086A01-6DD7-F870-AD78-97A1FD0459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596043F-C5B3-9079-952A-A2D355504B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3688413-FC6B-32B1-1905-D846D67EFC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18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0797667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82D7F-46EC-B525-4E31-AC88A7958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0E42688-F0C9-BEB6-47A0-80F808D7EE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13EB3AE-BF41-8D3B-44BD-9162F9B59D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00B4FC-E046-6167-1F10-0BF32E12FE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19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8955192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964F7B-6CA9-A206-9103-CA4E52D5F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25D2730-8478-8562-C400-2113907F53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7CB9814-F5BD-69FF-643B-7992B113C3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552E7B2-2595-92CC-50E6-D056B0F03C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1656669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671F9-1A0A-FB56-B197-AFA03E817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4AE8EBF-932A-2096-29CA-CE3F814B1F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BAC5E36-B60B-8D9F-3317-F266CA4BDD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C698373-BD84-31DB-3443-415FF6C6BE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9694403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6206BD-B7C1-B47D-1DC5-8AB3D2799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75952E6-333D-90B7-062E-2B016B7909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E4B9AA4-078D-5F3F-125D-DBBBEBBFBB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D2E9580-BA5A-FA7A-8EC8-685B983CFE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22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9860798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28CAA4-FAC2-3691-5E38-88D64E2F6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91F96A4-05A9-7CE6-0E40-8630E8953B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6C50F95-993E-00FC-98F4-9B02DE80A4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080544D-7AD0-6800-1A25-6EF9DCCA92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23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7590237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D75DF-3267-9DF4-BB4E-01EB2D0B8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0884DD6-1FF3-B1EC-2CFC-174D7816CF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CBA71B0-C542-CAE1-44F8-78CFAB9F72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8B7B12-A458-89EC-3B5B-D0E50F5342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24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3246231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CD8E0-ADDF-AF8C-502A-F573E2D0E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93FFB0D-3616-F733-4012-15A99A3B9E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790E2FB-ABB0-22F1-3569-A7E572BA87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4E952C-4795-76EA-83A4-80145D0FE8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25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8520265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1574C9-01E5-B002-604F-037A5BCDD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2D76262-36B9-DED3-3C05-77A8DCAAF7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3C19D5F-AE61-2959-01E4-E3D89A7391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77A3709-4106-3FB9-EB1D-CD78FAF0D2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26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6832142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CA473-175A-92BA-7512-2E961EE50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8E15890-4C9A-50B7-E6FA-6B2D83D77F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ED64823-2FE6-F97E-7960-3A143DE70D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20648F-F51A-0F67-B54F-EC8DC67152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27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6260894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78E49-6B84-9D6D-C926-B18ED1FC6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40A10F9-3429-537D-631C-F245F5865F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27BEB09-3AEA-698E-F75E-4595E76602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4FB4589-D606-D6BC-2A36-6052EBA454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28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6360483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0EA22-54F6-F16F-4402-7C4F85488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BA8B51F-2F96-C30C-8937-5B7C047600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1E47763-9265-5DEB-AD9D-FB4DA96CE0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BC8A4B3-F8FA-C395-90DD-5EE9B9CCE6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29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1959341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85686-8E03-3F2D-F69D-44269F0B1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3E67184-B2BD-EC47-62F4-890A6795AC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E0B4EB9-1C98-CDF4-645C-76468AA16C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7B3ABD-7EA6-7220-7C89-2E28A44651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30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883522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E01C3D-F971-F7E6-BC4E-53C486FB5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AE015CA-43D8-8955-3F94-3690D838B1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DF023FE-2E8F-46FC-E491-93C1A8ABA8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C1F0778-2415-1683-8319-2AF6616492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919472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CD7D2-CD8B-1B45-8AC7-4469FAF01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5CD7F60-8C66-CDA4-ADED-7D5FFC515A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B35885F-47D5-2807-EF6D-045C52EA6A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59C7DAC-D5FF-3253-B526-4C5078A956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32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5999250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D3D60-BB96-97FA-8553-5F7617C45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800164E-BFF0-A851-EB30-3D9F2B5604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1559E00-5EC6-C5B4-D5A8-322EAA7602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642574-D771-E2BA-139A-692A291079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33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9319378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DD80A-8B76-52BF-E69C-29962CC12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03D950B-4ED0-28FA-2652-23900E0F10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98A501B-A5D4-A5E7-D48D-FE613F71FC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36A66E5-0D8A-84A9-6CAD-C8823B0AA7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34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2783724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A58F7-5F3A-6690-5EE8-E87C257C9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24B0770-5C70-8F6A-2D8D-F499FE7AED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8E4C637-A408-7122-170A-346A2F3878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BD40E65-7F57-4622-5720-C9A563CAB7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35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2749320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D5F5F-8BF4-B77A-0643-74B505497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DE85069-4DE7-BEE8-2A1B-74B6337E3B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351A324-259E-4CFE-46F6-EAED9DE85F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960088-5E9C-83AD-EC98-107F2FDA51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36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0702295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21A96-4812-5C20-20C8-856D41D4D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BAB5F67-9289-D4C6-A36C-1A1747A2B2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779C911-5840-6A94-5615-574064892F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AF763B-011F-B6A9-C79C-E011D0EA11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37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9358545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15650-9BE8-51E4-45B0-6CC4EC873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F775A53-BA10-CC4C-0FD7-9A05BBCEF3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1BF9564-7015-92A0-DE91-51DF0DE0CE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016B6E-46FA-490C-ADC4-BFD4E53E6F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38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3196583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6EDAF-507D-30A7-4D36-4B1C3987B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0E7D58A-F007-F03D-80A7-47BA8340EC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E42AEEE-7901-9BD8-0C5A-D040E79A56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7B7704-7EE3-7F57-8A60-1BD9BBB3CD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39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3653331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3F987-F2FF-8FE5-C93A-60FA8597F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6FE57C7-7F72-B9F3-D10C-DF821448FC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2A86459-E845-2D50-AAA1-9332006DD1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1FD7CA-87C4-81E5-E6F3-143D2EFEDB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40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699611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" name="직선 연결선(S)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  <p:sp>
        <p:nvSpPr>
          <p:cNvPr id="6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90475B5-67CA-4281-BDCA-DA943C3C8EB3}" type="datetime1">
              <a:rPr lang="ko-KR" altLang="en-US" noProof="0" smtClean="0"/>
              <a:t>2026-04-27</a:t>
            </a:fld>
            <a:endParaRPr lang="ko-KR" altLang="en-US" noProof="0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C655C81E-72E7-4D05-94B5-F45B321A525D}" type="datetime1">
              <a:rPr lang="ko-KR" altLang="en-US" noProof="0" smtClean="0"/>
              <a:t>2026-04-27</a:t>
            </a:fld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(S)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0" indent="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228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685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1430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6002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0574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7.png"/><Relationship Id="rId4" Type="http://schemas.openxmlformats.org/officeDocument/2006/relationships/image" Target="../media/image2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6.png"/><Relationship Id="rId4" Type="http://schemas.openxmlformats.org/officeDocument/2006/relationships/image" Target="../media/image2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ncestor9/mathematics-for-machine-learning/tree/main/pytorch" TargetMode="Externa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11B49-D207-1D9F-14A3-955BEC48B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1C5D1A-761F-4793-7D8A-193E85BF7F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164324"/>
            <a:ext cx="10515600" cy="2387600"/>
          </a:xfrm>
        </p:spPr>
        <p:txBody>
          <a:bodyPr rtlCol="0" anchor="ctr" anchorCtr="0">
            <a:normAutofit/>
          </a:bodyPr>
          <a:lstStyle/>
          <a:p>
            <a:pPr rtl="0"/>
            <a:r>
              <a:rPr lang="en-US" altLang="ko-KR" sz="4800" dirty="0">
                <a:solidFill>
                  <a:schemeClr val="bg1"/>
                </a:solidFill>
              </a:rPr>
              <a:t>Deep Learning II</a:t>
            </a:r>
            <a:endParaRPr lang="ko-KR" altLang="en-US" sz="4800" dirty="0">
              <a:solidFill>
                <a:schemeClr val="bg1"/>
              </a:solidFill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1D67DA4-A1FE-7561-5777-76BB33E67B4C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855620" y="2933105"/>
            <a:ext cx="9582736" cy="1137793"/>
          </a:xfrm>
        </p:spPr>
        <p:txBody>
          <a:bodyPr rtlCol="0">
            <a:normAutofit/>
          </a:bodyPr>
          <a:lstStyle/>
          <a:p>
            <a:r>
              <a:rPr lang="en-US" altLang="ko-KR" sz="2400" dirty="0">
                <a:solidFill>
                  <a:schemeClr val="bg1"/>
                </a:solidFill>
              </a:rPr>
              <a:t>with </a:t>
            </a:r>
            <a:r>
              <a:rPr lang="en-US" altLang="ko-KR" sz="2400" dirty="0" err="1">
                <a:solidFill>
                  <a:schemeClr val="bg1"/>
                </a:solidFill>
              </a:rPr>
              <a:t>pytorch</a:t>
            </a:r>
            <a:endParaRPr lang="ko-KR" altLang="en-US" sz="2400" dirty="0">
              <a:solidFill>
                <a:schemeClr val="bg1"/>
              </a:solidFill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F1570563-672F-169B-BB52-6E04FB25DD3E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</a:rPr>
              <a:t>2026 Spring</a:t>
            </a:r>
          </a:p>
          <a:p>
            <a:r>
              <a:rPr lang="ko-KR" altLang="en-US" sz="2400" dirty="0" err="1">
                <a:solidFill>
                  <a:schemeClr val="bg1"/>
                </a:solidFill>
              </a:rPr>
              <a:t>조상구교수</a:t>
            </a:r>
            <a:endParaRPr lang="en-US" altLang="ko-KR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6785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5AC59-0083-118C-D987-B51E0F384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BC6CB441-EAB3-FD95-1F2A-AB05C713A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448056"/>
            <a:ext cx="5203318" cy="640080"/>
          </a:xfrm>
        </p:spPr>
        <p:txBody>
          <a:bodyPr rtlCol="0">
            <a:noAutofit/>
          </a:bodyPr>
          <a:lstStyle/>
          <a:p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The Forward Pass</a:t>
            </a:r>
            <a:endParaRPr lang="ko-KR" altLang="en-US" b="1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10BD49B7-3296-FE61-5F97-047B791F5B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2</a:t>
            </a:fld>
            <a:endParaRPr lang="ko-KR" altLang="en-US" noProof="0"/>
          </a:p>
        </p:txBody>
      </p:sp>
      <p:sp>
        <p:nvSpPr>
          <p:cNvPr id="2" name="제목 7">
            <a:extLst>
              <a:ext uri="{FF2B5EF4-FFF2-40B4-BE49-F238E27FC236}">
                <a16:creationId xmlns:a16="http://schemas.microsoft.com/office/drawing/2014/main" id="{B7B84AC7-7795-1752-5B65-8879C1AC3DA7}"/>
              </a:ext>
            </a:extLst>
          </p:cNvPr>
          <p:cNvSpPr txBox="1">
            <a:spLocks/>
          </p:cNvSpPr>
          <p:nvPr/>
        </p:nvSpPr>
        <p:spPr>
          <a:xfrm>
            <a:off x="7064883" y="448056"/>
            <a:ext cx="4498467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800" kern="12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algn="r"/>
            <a:r>
              <a:rPr lang="en-US" altLang="ko-KR" b="1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1. Prediction</a:t>
            </a:r>
            <a:endParaRPr lang="ko-KR" altLang="en-US" b="1" dirty="0">
              <a:solidFill>
                <a:srgbClr val="0070C0"/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5AF4F96-C06C-1152-9D3C-0A9E408307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466" y="2354487"/>
            <a:ext cx="9541067" cy="2149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855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051FE-A58D-DAC6-DAFB-16832843B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16CF1C93-BA0F-37EC-F6A2-2157D958E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448056"/>
            <a:ext cx="5203318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5 STEP RECIPE From Scratch</a:t>
            </a:r>
            <a:endParaRPr lang="ko-KR" altLang="en-US" b="1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20BED787-3FDF-35E3-CBFB-FDE5EBC07F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3</a:t>
            </a:fld>
            <a:endParaRPr lang="ko-KR" altLang="en-US" noProof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B903BE0-FD6B-8FC7-79A7-7D2CFFC960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3577" y="1706152"/>
            <a:ext cx="3183467" cy="414409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80D74E5F-9535-9DAD-B1DC-CC4CBB721C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2601" y="1706152"/>
            <a:ext cx="4555101" cy="2884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195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0A331-3002-F24D-2D8E-B950731A2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1E72177F-609A-7F4A-9A17-F555DC0C6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448056"/>
            <a:ext cx="5203318" cy="640080"/>
          </a:xfrm>
        </p:spPr>
        <p:txBody>
          <a:bodyPr rtlCol="0">
            <a:noAutofit/>
          </a:bodyPr>
          <a:lstStyle/>
          <a:p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The Forward Pass</a:t>
            </a:r>
            <a:endParaRPr lang="ko-KR" altLang="en-US" b="1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57532C8-27C1-952D-9ADD-62F7D71851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4</a:t>
            </a:fld>
            <a:endParaRPr lang="ko-KR" altLang="en-US" noProof="0"/>
          </a:p>
        </p:txBody>
      </p:sp>
      <p:sp>
        <p:nvSpPr>
          <p:cNvPr id="2" name="제목 7">
            <a:extLst>
              <a:ext uri="{FF2B5EF4-FFF2-40B4-BE49-F238E27FC236}">
                <a16:creationId xmlns:a16="http://schemas.microsoft.com/office/drawing/2014/main" id="{002BDC1D-8216-BE4A-66E9-D03229AD092D}"/>
              </a:ext>
            </a:extLst>
          </p:cNvPr>
          <p:cNvSpPr txBox="1">
            <a:spLocks/>
          </p:cNvSpPr>
          <p:nvPr/>
        </p:nvSpPr>
        <p:spPr>
          <a:xfrm>
            <a:off x="7064883" y="448056"/>
            <a:ext cx="4498467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800" kern="12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algn="r"/>
            <a:r>
              <a:rPr lang="en-US" altLang="ko-KR" b="1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1. Prediction</a:t>
            </a:r>
            <a:endParaRPr lang="ko-KR" altLang="en-US" b="1" dirty="0">
              <a:solidFill>
                <a:srgbClr val="0070C0"/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A1901F9-98B8-D7F6-BD4F-D1756630C8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3522" y="1757064"/>
            <a:ext cx="9166506" cy="4212047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210164D3-305B-9C90-ECDA-BB56E19552EF}"/>
              </a:ext>
            </a:extLst>
          </p:cNvPr>
          <p:cNvSpPr/>
          <p:nvPr/>
        </p:nvSpPr>
        <p:spPr>
          <a:xfrm>
            <a:off x="573673" y="2647950"/>
            <a:ext cx="10656302" cy="657225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0133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7299F-D9A1-3463-861C-6A85303F2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BC1B87D7-7C3A-10AA-064A-7FCEBDBC1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448056"/>
            <a:ext cx="5203318" cy="640080"/>
          </a:xfrm>
        </p:spPr>
        <p:txBody>
          <a:bodyPr rtlCol="0">
            <a:noAutofit/>
          </a:bodyPr>
          <a:lstStyle/>
          <a:p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The Forward Pass</a:t>
            </a:r>
            <a:endParaRPr lang="ko-KR" altLang="en-US" b="1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DC105565-980A-EEE1-58B5-F9C875E265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5</a:t>
            </a:fld>
            <a:endParaRPr lang="ko-KR" altLang="en-US" noProof="0"/>
          </a:p>
        </p:txBody>
      </p:sp>
      <p:sp>
        <p:nvSpPr>
          <p:cNvPr id="2" name="제목 7">
            <a:extLst>
              <a:ext uri="{FF2B5EF4-FFF2-40B4-BE49-F238E27FC236}">
                <a16:creationId xmlns:a16="http://schemas.microsoft.com/office/drawing/2014/main" id="{E9AC5167-9431-D6CB-5077-5A8F2F761DC9}"/>
              </a:ext>
            </a:extLst>
          </p:cNvPr>
          <p:cNvSpPr txBox="1">
            <a:spLocks/>
          </p:cNvSpPr>
          <p:nvPr/>
        </p:nvSpPr>
        <p:spPr>
          <a:xfrm>
            <a:off x="7064883" y="448056"/>
            <a:ext cx="4498467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800" kern="12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algn="r"/>
            <a:r>
              <a:rPr lang="en-US" altLang="ko-KR" b="1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1. Prediction</a:t>
            </a:r>
            <a:endParaRPr lang="ko-KR" altLang="en-US" b="1" dirty="0">
              <a:solidFill>
                <a:srgbClr val="0070C0"/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A118931-93A8-BC4E-455B-F43A5DAE21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1171" y="1607768"/>
            <a:ext cx="9426757" cy="120406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29251924-8CA7-D866-F4E6-67800D05F7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1171" y="3047967"/>
            <a:ext cx="9457240" cy="76206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1228568-0932-7C64-8510-154E4F49EE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1170" y="4138237"/>
            <a:ext cx="9426757" cy="57917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51302378-7DAA-D920-09A1-357FBD8E76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1170" y="4956302"/>
            <a:ext cx="9487722" cy="1463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302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F25E7-D801-EAF5-C375-1C2E121CB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94570696-0F43-DAF6-90F2-C554BC093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448056"/>
            <a:ext cx="5203318" cy="640080"/>
          </a:xfrm>
        </p:spPr>
        <p:txBody>
          <a:bodyPr rtlCol="0">
            <a:noAutofit/>
          </a:bodyPr>
          <a:lstStyle/>
          <a:p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The Forward Pass</a:t>
            </a:r>
            <a:endParaRPr lang="ko-KR" altLang="en-US" b="1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F39C2938-13E6-89E8-D952-BD01AB4EC9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6</a:t>
            </a:fld>
            <a:endParaRPr lang="ko-KR" altLang="en-US" noProof="0"/>
          </a:p>
        </p:txBody>
      </p:sp>
      <p:sp>
        <p:nvSpPr>
          <p:cNvPr id="2" name="제목 7">
            <a:extLst>
              <a:ext uri="{FF2B5EF4-FFF2-40B4-BE49-F238E27FC236}">
                <a16:creationId xmlns:a16="http://schemas.microsoft.com/office/drawing/2014/main" id="{80FC8FE6-60C8-A1E5-9FE9-C5F1A73C6872}"/>
              </a:ext>
            </a:extLst>
          </p:cNvPr>
          <p:cNvSpPr txBox="1">
            <a:spLocks/>
          </p:cNvSpPr>
          <p:nvPr/>
        </p:nvSpPr>
        <p:spPr>
          <a:xfrm>
            <a:off x="7064883" y="448056"/>
            <a:ext cx="4498467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800" kern="12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algn="r"/>
            <a:r>
              <a:rPr lang="en-US" altLang="ko-KR" b="1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1. Prediction</a:t>
            </a:r>
            <a:endParaRPr lang="ko-KR" altLang="en-US" b="1" dirty="0">
              <a:solidFill>
                <a:srgbClr val="0070C0"/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3D0E573-66C3-31D6-4083-73084A83EE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1446" y="1735075"/>
            <a:ext cx="7749107" cy="1913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F9D59E4-1591-BE25-B03D-10A5C6F9E1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6158" y="3648075"/>
            <a:ext cx="8409433" cy="65061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D4CDA3E-71D7-D6B9-A12C-AE76AC024E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34666" y="4297541"/>
            <a:ext cx="7574315" cy="825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523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5D79D-CD12-247D-9F6C-523286ED0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9D7471EC-FE65-3A0A-098A-BD57FBE10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448056"/>
            <a:ext cx="5203318" cy="640080"/>
          </a:xfrm>
        </p:spPr>
        <p:txBody>
          <a:bodyPr rtlCol="0">
            <a:noAutofit/>
          </a:bodyPr>
          <a:lstStyle/>
          <a:p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The Forward Pass</a:t>
            </a:r>
            <a:endParaRPr lang="ko-KR" altLang="en-US" b="1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1BEF9F36-C910-1A6E-1A95-169C8F0001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7</a:t>
            </a:fld>
            <a:endParaRPr lang="ko-KR" altLang="en-US" noProof="0"/>
          </a:p>
        </p:txBody>
      </p:sp>
      <p:sp>
        <p:nvSpPr>
          <p:cNvPr id="2" name="제목 7">
            <a:extLst>
              <a:ext uri="{FF2B5EF4-FFF2-40B4-BE49-F238E27FC236}">
                <a16:creationId xmlns:a16="http://schemas.microsoft.com/office/drawing/2014/main" id="{4D34085F-E56D-C68C-BF07-A65646E20AF6}"/>
              </a:ext>
            </a:extLst>
          </p:cNvPr>
          <p:cNvSpPr txBox="1">
            <a:spLocks/>
          </p:cNvSpPr>
          <p:nvPr/>
        </p:nvSpPr>
        <p:spPr>
          <a:xfrm>
            <a:off x="7064883" y="448056"/>
            <a:ext cx="4498467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800" kern="12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algn="r"/>
            <a:r>
              <a:rPr lang="en-US" altLang="ko-KR" b="1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1. Prediction</a:t>
            </a:r>
            <a:endParaRPr lang="ko-KR" altLang="en-US" b="1" dirty="0">
              <a:solidFill>
                <a:srgbClr val="0070C0"/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CD40FD5D-9A3D-FE60-5F31-DC3CE1227E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466" y="1844816"/>
            <a:ext cx="9541067" cy="104403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637069F-911D-5660-07AC-01238374A2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2268" y="3253640"/>
            <a:ext cx="3579607" cy="3197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277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2C30E7-86B3-6B7B-8D90-210E56F04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A992619E-318D-F078-8903-3413377D9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448056"/>
            <a:ext cx="5203318" cy="640080"/>
          </a:xfrm>
        </p:spPr>
        <p:txBody>
          <a:bodyPr rtlCol="0">
            <a:noAutofit/>
          </a:bodyPr>
          <a:lstStyle/>
          <a:p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Generate Data</a:t>
            </a:r>
            <a:endParaRPr lang="ko-KR" altLang="en-US" b="1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3A302516-03B1-FED3-A9B8-CC415E4105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8</a:t>
            </a:fld>
            <a:endParaRPr lang="ko-KR" altLang="en-US" noProof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BAC682E-C4D2-6AFA-42C7-796FF858FA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1293" y="1462845"/>
            <a:ext cx="8904618" cy="4741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233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251F0-374A-576E-35BE-4139D8F3F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115C4987-16B0-8E1A-6656-F0915305D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448056"/>
            <a:ext cx="5203318" cy="640080"/>
          </a:xfrm>
        </p:spPr>
        <p:txBody>
          <a:bodyPr rtlCol="0">
            <a:noAutofit/>
          </a:bodyPr>
          <a:lstStyle/>
          <a:p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The Forward Pass</a:t>
            </a:r>
            <a:endParaRPr lang="ko-KR" altLang="en-US" b="1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7BEFE8EA-87F1-21B9-7121-97B2BE5584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9</a:t>
            </a:fld>
            <a:endParaRPr lang="ko-KR" altLang="en-US" noProof="0"/>
          </a:p>
        </p:txBody>
      </p:sp>
      <p:sp>
        <p:nvSpPr>
          <p:cNvPr id="2" name="제목 7">
            <a:extLst>
              <a:ext uri="{FF2B5EF4-FFF2-40B4-BE49-F238E27FC236}">
                <a16:creationId xmlns:a16="http://schemas.microsoft.com/office/drawing/2014/main" id="{100C34BD-42D1-69B1-7504-AC4F6664D5D0}"/>
              </a:ext>
            </a:extLst>
          </p:cNvPr>
          <p:cNvSpPr txBox="1">
            <a:spLocks/>
          </p:cNvSpPr>
          <p:nvPr/>
        </p:nvSpPr>
        <p:spPr>
          <a:xfrm>
            <a:off x="7064883" y="448056"/>
            <a:ext cx="4498467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800" kern="12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algn="r"/>
            <a:r>
              <a:rPr lang="en-US" altLang="ko-KR" b="1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1. Prediction</a:t>
            </a:r>
            <a:endParaRPr lang="ko-KR" altLang="en-US" b="1" dirty="0">
              <a:solidFill>
                <a:srgbClr val="0070C0"/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F9962C5-979E-095A-BADB-6313294670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1656" y="1830655"/>
            <a:ext cx="9548687" cy="115834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35A5ADB-8896-7191-EF88-21E4080C60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6959" y="2919928"/>
            <a:ext cx="8992379" cy="3353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203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D7EE0-C1CF-CFF7-56B7-1EAE5BD12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8CFB4702-AE57-86EB-8315-1ECC080D8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448056"/>
            <a:ext cx="5203318" cy="640080"/>
          </a:xfrm>
        </p:spPr>
        <p:txBody>
          <a:bodyPr rtlCol="0">
            <a:noAutofit/>
          </a:bodyPr>
          <a:lstStyle/>
          <a:p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The Forward Pass</a:t>
            </a:r>
            <a:endParaRPr lang="ko-KR" altLang="en-US" b="1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4BE548E9-6E37-3839-60D4-C955A22942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10</a:t>
            </a:fld>
            <a:endParaRPr lang="ko-KR" altLang="en-US" noProof="0"/>
          </a:p>
        </p:txBody>
      </p:sp>
      <p:sp>
        <p:nvSpPr>
          <p:cNvPr id="2" name="제목 7">
            <a:extLst>
              <a:ext uri="{FF2B5EF4-FFF2-40B4-BE49-F238E27FC236}">
                <a16:creationId xmlns:a16="http://schemas.microsoft.com/office/drawing/2014/main" id="{E089A2D8-3F2E-6CCB-67E1-853EE3A94EE7}"/>
              </a:ext>
            </a:extLst>
          </p:cNvPr>
          <p:cNvSpPr txBox="1">
            <a:spLocks/>
          </p:cNvSpPr>
          <p:nvPr/>
        </p:nvSpPr>
        <p:spPr>
          <a:xfrm>
            <a:off x="7064883" y="448056"/>
            <a:ext cx="4498467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800" kern="12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algn="r"/>
            <a:r>
              <a:rPr lang="en-US" altLang="ko-KR" b="1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1. Prediction</a:t>
            </a:r>
            <a:endParaRPr lang="ko-KR" altLang="en-US" b="1" dirty="0">
              <a:solidFill>
                <a:srgbClr val="0070C0"/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3DC61E9-84A8-F5D4-534D-0279B0B20F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391" y="1512469"/>
            <a:ext cx="10181217" cy="276425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E80C5C61-2B4E-DA6B-1E6D-FD2CC9B96E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3670" y="4276724"/>
            <a:ext cx="8504657" cy="518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809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74112-54D9-5086-F391-006AE7E41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BCC576F7-9444-9301-6B69-A7F19ADD0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448056"/>
            <a:ext cx="5203318" cy="640080"/>
          </a:xfrm>
        </p:spPr>
        <p:txBody>
          <a:bodyPr rtlCol="0">
            <a:noAutofit/>
          </a:bodyPr>
          <a:lstStyle/>
          <a:p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The Forward Pass</a:t>
            </a:r>
            <a:endParaRPr lang="ko-KR" altLang="en-US" b="1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83DCD99C-4B4B-CFA9-FADF-1B7132572B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11</a:t>
            </a:fld>
            <a:endParaRPr lang="ko-KR" altLang="en-US" noProof="0"/>
          </a:p>
        </p:txBody>
      </p:sp>
      <p:sp>
        <p:nvSpPr>
          <p:cNvPr id="2" name="제목 7">
            <a:extLst>
              <a:ext uri="{FF2B5EF4-FFF2-40B4-BE49-F238E27FC236}">
                <a16:creationId xmlns:a16="http://schemas.microsoft.com/office/drawing/2014/main" id="{621E208E-EE03-F9A7-21AB-8B88F7CA8376}"/>
              </a:ext>
            </a:extLst>
          </p:cNvPr>
          <p:cNvSpPr txBox="1">
            <a:spLocks/>
          </p:cNvSpPr>
          <p:nvPr/>
        </p:nvSpPr>
        <p:spPr>
          <a:xfrm>
            <a:off x="7064883" y="448056"/>
            <a:ext cx="4498467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800" kern="12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algn="r"/>
            <a:r>
              <a:rPr lang="en-US" altLang="ko-KR" b="1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1. Prediction</a:t>
            </a:r>
            <a:endParaRPr lang="ko-KR" altLang="en-US" b="1" dirty="0">
              <a:solidFill>
                <a:srgbClr val="0070C0"/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44ACD8B-83AC-FB5B-E70F-86AC75086B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5728" y="1516214"/>
            <a:ext cx="6637595" cy="191278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5B4305A6-9A7F-A5B2-450A-D9916A74DE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2146" y="3429000"/>
            <a:ext cx="7811177" cy="142506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25951CDA-58E9-6578-2CA2-86B40B7656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55402" y="4855506"/>
            <a:ext cx="6687921" cy="1554438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C8AD5F60-4B8C-3876-424F-FE76C7D76C03}"/>
              </a:ext>
            </a:extLst>
          </p:cNvPr>
          <p:cNvSpPr/>
          <p:nvPr/>
        </p:nvSpPr>
        <p:spPr>
          <a:xfrm>
            <a:off x="5844919" y="4979836"/>
            <a:ext cx="1670306" cy="33337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762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1D3F5-0A38-D4A0-3F7C-17EF14569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7039E8F4-FB08-A263-F89D-6818E163D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448056"/>
            <a:ext cx="5203318" cy="640080"/>
          </a:xfrm>
        </p:spPr>
        <p:txBody>
          <a:bodyPr rtlCol="0">
            <a:noAutofit/>
          </a:bodyPr>
          <a:lstStyle/>
          <a:p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The Forward Pass</a:t>
            </a:r>
            <a:endParaRPr lang="ko-KR" altLang="en-US" b="1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2F77589E-208B-EF25-4234-6BEDB6B998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12</a:t>
            </a:fld>
            <a:endParaRPr lang="ko-KR" altLang="en-US" noProof="0"/>
          </a:p>
        </p:txBody>
      </p:sp>
      <p:sp>
        <p:nvSpPr>
          <p:cNvPr id="2" name="제목 7">
            <a:extLst>
              <a:ext uri="{FF2B5EF4-FFF2-40B4-BE49-F238E27FC236}">
                <a16:creationId xmlns:a16="http://schemas.microsoft.com/office/drawing/2014/main" id="{DA3602C3-0ACF-82C9-FF07-FED5CAFD2F5E}"/>
              </a:ext>
            </a:extLst>
          </p:cNvPr>
          <p:cNvSpPr txBox="1">
            <a:spLocks/>
          </p:cNvSpPr>
          <p:nvPr/>
        </p:nvSpPr>
        <p:spPr>
          <a:xfrm>
            <a:off x="7064883" y="448056"/>
            <a:ext cx="4498467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800" kern="12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algn="r"/>
            <a:r>
              <a:rPr lang="en-US" altLang="ko-KR" b="1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1. Prediction</a:t>
            </a:r>
            <a:endParaRPr lang="ko-KR" altLang="en-US" b="1" dirty="0">
              <a:solidFill>
                <a:srgbClr val="0070C0"/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DD8D746-25EA-AAE3-AA44-1998D636AF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833" y="1581037"/>
            <a:ext cx="10878473" cy="3362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457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5D7FD8-A529-D5A9-1856-70E23D0F3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5306E303-396E-84E9-00A1-38D589DD9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448056"/>
            <a:ext cx="5203318" cy="640080"/>
          </a:xfrm>
        </p:spPr>
        <p:txBody>
          <a:bodyPr rtlCol="0">
            <a:noAutofit/>
          </a:bodyPr>
          <a:lstStyle/>
          <a:p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The Forward Pass</a:t>
            </a:r>
            <a:endParaRPr lang="ko-KR" altLang="en-US" b="1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30A0B46E-4A8D-12ED-4FAC-91535BD9F9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13</a:t>
            </a:fld>
            <a:endParaRPr lang="ko-KR" altLang="en-US" noProof="0"/>
          </a:p>
        </p:txBody>
      </p:sp>
      <p:sp>
        <p:nvSpPr>
          <p:cNvPr id="2" name="제목 7">
            <a:extLst>
              <a:ext uri="{FF2B5EF4-FFF2-40B4-BE49-F238E27FC236}">
                <a16:creationId xmlns:a16="http://schemas.microsoft.com/office/drawing/2014/main" id="{0A6FB43B-9D9C-6A9B-9B9D-5CF0B64273A1}"/>
              </a:ext>
            </a:extLst>
          </p:cNvPr>
          <p:cNvSpPr txBox="1">
            <a:spLocks/>
          </p:cNvSpPr>
          <p:nvPr/>
        </p:nvSpPr>
        <p:spPr>
          <a:xfrm>
            <a:off x="7064883" y="448056"/>
            <a:ext cx="4498467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800" kern="12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algn="r"/>
            <a:r>
              <a:rPr lang="en-US" altLang="ko-KR" b="1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1. Prediction</a:t>
            </a:r>
            <a:endParaRPr lang="ko-KR" altLang="en-US" b="1" dirty="0">
              <a:solidFill>
                <a:srgbClr val="0070C0"/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A16F0F7-083F-96EB-2EBB-B8C69ACC0D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4518" y="1421101"/>
            <a:ext cx="9502964" cy="66299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C122894-1BDA-7F1C-019C-8995469FB4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5449" y="2084098"/>
            <a:ext cx="9701101" cy="3368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309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45A80-4BA6-E340-17C7-FA14906CD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0AEE6B05-7ED9-33C5-1EF7-27D7B95DB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448056"/>
            <a:ext cx="6260592" cy="640080"/>
          </a:xfrm>
        </p:spPr>
        <p:txBody>
          <a:bodyPr rtlCol="0">
            <a:noAutofit/>
          </a:bodyPr>
          <a:lstStyle/>
          <a:p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The Backward Pass</a:t>
            </a:r>
            <a:endParaRPr lang="ko-KR" altLang="en-US" b="1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04BF66B2-6C69-F409-F14A-651B4CAC4C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14</a:t>
            </a:fld>
            <a:endParaRPr lang="ko-KR" altLang="en-US" noProof="0"/>
          </a:p>
        </p:txBody>
      </p:sp>
      <p:sp>
        <p:nvSpPr>
          <p:cNvPr id="2" name="제목 7">
            <a:extLst>
              <a:ext uri="{FF2B5EF4-FFF2-40B4-BE49-F238E27FC236}">
                <a16:creationId xmlns:a16="http://schemas.microsoft.com/office/drawing/2014/main" id="{916597DF-2B69-82E8-B940-C93A6E55FE66}"/>
              </a:ext>
            </a:extLst>
          </p:cNvPr>
          <p:cNvSpPr txBox="1">
            <a:spLocks/>
          </p:cNvSpPr>
          <p:nvPr/>
        </p:nvSpPr>
        <p:spPr>
          <a:xfrm>
            <a:off x="6534151" y="448056"/>
            <a:ext cx="5029200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800" kern="12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algn="r"/>
            <a:r>
              <a:rPr lang="en-US" altLang="ko-KR" b="1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2,3. Gradient Calculation</a:t>
            </a:r>
            <a:endParaRPr lang="ko-KR" altLang="en-US" b="1" dirty="0">
              <a:solidFill>
                <a:srgbClr val="0070C0"/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306C5CC-EA6B-BBCD-A40A-6A2DB97764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1656" y="1598249"/>
            <a:ext cx="9548687" cy="105165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67AA37A-4C6C-759D-BB3C-21756777CB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2604" y="2758382"/>
            <a:ext cx="9586791" cy="1341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485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969CD-B1B0-3D9F-D68E-BBD789AE3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F7DC3A43-DF1A-1B5B-3F00-9213A9A9C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448056"/>
            <a:ext cx="5203318" cy="640080"/>
          </a:xfrm>
        </p:spPr>
        <p:txBody>
          <a:bodyPr rtlCol="0">
            <a:noAutofit/>
          </a:bodyPr>
          <a:lstStyle/>
          <a:p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The Backward Pass</a:t>
            </a:r>
            <a:endParaRPr lang="ko-KR" altLang="en-US" b="1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3257C445-6251-04F9-4AF7-B41D1B2B13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15</a:t>
            </a:fld>
            <a:endParaRPr lang="ko-KR" altLang="en-US" noProof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94D8976-5881-DBED-7000-381519134B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5058" y="1523835"/>
            <a:ext cx="8809483" cy="190516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DB8E60F-2BF9-F2E1-454B-88D2C0DCC7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2627" y="3627081"/>
            <a:ext cx="9274344" cy="89923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82ADFD7-EE08-2E29-70F5-6F7B3E9BD8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7363" y="4741506"/>
            <a:ext cx="9617273" cy="1386960"/>
          </a:xfrm>
          <a:prstGeom prst="rect">
            <a:avLst/>
          </a:prstGeom>
        </p:spPr>
      </p:pic>
      <p:sp>
        <p:nvSpPr>
          <p:cNvPr id="11" name="제목 7">
            <a:extLst>
              <a:ext uri="{FF2B5EF4-FFF2-40B4-BE49-F238E27FC236}">
                <a16:creationId xmlns:a16="http://schemas.microsoft.com/office/drawing/2014/main" id="{722ABE70-47FA-6470-689E-A45BF183AF9F}"/>
              </a:ext>
            </a:extLst>
          </p:cNvPr>
          <p:cNvSpPr txBox="1">
            <a:spLocks/>
          </p:cNvSpPr>
          <p:nvPr/>
        </p:nvSpPr>
        <p:spPr>
          <a:xfrm>
            <a:off x="6534151" y="448056"/>
            <a:ext cx="5029200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800" kern="12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algn="r"/>
            <a:r>
              <a:rPr lang="en-US" altLang="ko-KR" b="1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2,3. Gradient Calculation</a:t>
            </a:r>
            <a:endParaRPr lang="ko-KR" altLang="en-US" b="1" dirty="0">
              <a:solidFill>
                <a:srgbClr val="0070C0"/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0162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1D13EA-CAC6-D348-683B-98D933DAD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6C052856-143B-73D6-86EB-8D36CF9B1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448056"/>
            <a:ext cx="5203318" cy="640080"/>
          </a:xfrm>
        </p:spPr>
        <p:txBody>
          <a:bodyPr rtlCol="0">
            <a:noAutofit/>
          </a:bodyPr>
          <a:lstStyle/>
          <a:p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The Backward Pass</a:t>
            </a:r>
            <a:endParaRPr lang="ko-KR" altLang="en-US" b="1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78C0881C-5F23-D83A-85FE-D43459004F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16</a:t>
            </a:fld>
            <a:endParaRPr lang="ko-KR" altLang="en-US" noProof="0"/>
          </a:p>
        </p:txBody>
      </p:sp>
      <p:sp>
        <p:nvSpPr>
          <p:cNvPr id="3" name="제목 7">
            <a:extLst>
              <a:ext uri="{FF2B5EF4-FFF2-40B4-BE49-F238E27FC236}">
                <a16:creationId xmlns:a16="http://schemas.microsoft.com/office/drawing/2014/main" id="{54A07FA6-8B43-463C-D25E-61248CE6D614}"/>
              </a:ext>
            </a:extLst>
          </p:cNvPr>
          <p:cNvSpPr txBox="1">
            <a:spLocks/>
          </p:cNvSpPr>
          <p:nvPr/>
        </p:nvSpPr>
        <p:spPr>
          <a:xfrm>
            <a:off x="6534151" y="448056"/>
            <a:ext cx="5029200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800" kern="12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algn="r"/>
            <a:r>
              <a:rPr lang="en-US" altLang="ko-KR" b="1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2,3. Gradient Calculation</a:t>
            </a:r>
            <a:endParaRPr lang="ko-KR" altLang="en-US" b="1" dirty="0">
              <a:solidFill>
                <a:srgbClr val="0070C0"/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DB3564A-88FB-3141-112C-42F5D256D6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466" y="1447744"/>
            <a:ext cx="9541067" cy="129551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328A79C-F743-3710-DB32-FD67AF9F1C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2139" y="3227052"/>
            <a:ext cx="9487722" cy="40389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EE967D1C-B62B-7F4E-4CD0-E56424F88C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5932" y="3985193"/>
            <a:ext cx="9563929" cy="1425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341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E0A52-191C-B7AC-2325-7CF94F43B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22">
            <a:extLst>
              <a:ext uri="{FF2B5EF4-FFF2-40B4-BE49-F238E27FC236}">
                <a16:creationId xmlns:a16="http://schemas.microsoft.com/office/drawing/2014/main" id="{B949E955-CA52-FFAC-01B0-969F29CAA8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4526" y="2287793"/>
            <a:ext cx="5926741" cy="1377410"/>
          </a:xfrm>
          <a:prstGeom prst="rect">
            <a:avLst/>
          </a:prstGeom>
        </p:spPr>
      </p:pic>
      <p:sp>
        <p:nvSpPr>
          <p:cNvPr id="8" name="제목 7">
            <a:extLst>
              <a:ext uri="{FF2B5EF4-FFF2-40B4-BE49-F238E27FC236}">
                <a16:creationId xmlns:a16="http://schemas.microsoft.com/office/drawing/2014/main" id="{E68B91F3-A2A3-1EFA-1C72-D4C7A87C0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448056"/>
            <a:ext cx="5203318" cy="640080"/>
          </a:xfrm>
        </p:spPr>
        <p:txBody>
          <a:bodyPr rtlCol="0">
            <a:noAutofit/>
          </a:bodyPr>
          <a:lstStyle/>
          <a:p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The Backward Pass</a:t>
            </a:r>
            <a:endParaRPr lang="ko-KR" altLang="en-US" b="1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E0C539D0-8FFA-2600-BA95-C52DDDF262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17</a:t>
            </a:fld>
            <a:endParaRPr lang="ko-KR" altLang="en-US" noProof="0"/>
          </a:p>
        </p:txBody>
      </p:sp>
      <p:sp>
        <p:nvSpPr>
          <p:cNvPr id="3" name="제목 7">
            <a:extLst>
              <a:ext uri="{FF2B5EF4-FFF2-40B4-BE49-F238E27FC236}">
                <a16:creationId xmlns:a16="http://schemas.microsoft.com/office/drawing/2014/main" id="{73DEDA8B-233E-08FE-48DA-9859F0BD991F}"/>
              </a:ext>
            </a:extLst>
          </p:cNvPr>
          <p:cNvSpPr txBox="1">
            <a:spLocks/>
          </p:cNvSpPr>
          <p:nvPr/>
        </p:nvSpPr>
        <p:spPr>
          <a:xfrm>
            <a:off x="6534151" y="448056"/>
            <a:ext cx="5029200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800" kern="12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algn="r"/>
            <a:r>
              <a:rPr lang="en-US" altLang="ko-KR" b="1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2,3. Gradient Calculation</a:t>
            </a:r>
            <a:endParaRPr lang="ko-KR" altLang="en-US" b="1" dirty="0">
              <a:solidFill>
                <a:srgbClr val="0070C0"/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16F69DC-71CF-074F-3A59-AC99B884A7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276" y="1401968"/>
            <a:ext cx="4610500" cy="256816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2676C48-CCC3-8AB4-8FC5-3107B78125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554" y="4008231"/>
            <a:ext cx="6950042" cy="92972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19A2145A-9975-CE0B-535D-432075A71A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4554" y="4937952"/>
            <a:ext cx="6950042" cy="533446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A0493225-0172-9D1E-5939-CC62E42674C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4555" y="5449507"/>
            <a:ext cx="6950042" cy="441998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DF859600-411A-9209-9F8B-0A18BE1A1077}"/>
              </a:ext>
            </a:extLst>
          </p:cNvPr>
          <p:cNvSpPr/>
          <p:nvPr/>
        </p:nvSpPr>
        <p:spPr>
          <a:xfrm>
            <a:off x="9626344" y="2655736"/>
            <a:ext cx="2022182" cy="10094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2639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8AF2F-0926-C7F3-9FD8-BF678FCF8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1CC27E12-1711-AC55-2897-B9E13D6CC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448056"/>
            <a:ext cx="5203318" cy="640080"/>
          </a:xfrm>
        </p:spPr>
        <p:txBody>
          <a:bodyPr rtlCol="0">
            <a:noAutofit/>
          </a:bodyPr>
          <a:lstStyle/>
          <a:p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The Backward Pass</a:t>
            </a:r>
            <a:endParaRPr lang="ko-KR" altLang="en-US" b="1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AD03E79E-FEE4-8F1B-6786-20472F713E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18</a:t>
            </a:fld>
            <a:endParaRPr lang="ko-KR" altLang="en-US" noProof="0"/>
          </a:p>
        </p:txBody>
      </p:sp>
      <p:sp>
        <p:nvSpPr>
          <p:cNvPr id="3" name="제목 7">
            <a:extLst>
              <a:ext uri="{FF2B5EF4-FFF2-40B4-BE49-F238E27FC236}">
                <a16:creationId xmlns:a16="http://schemas.microsoft.com/office/drawing/2014/main" id="{F8C26AEF-60A6-C0C4-AE6F-54BDF4982917}"/>
              </a:ext>
            </a:extLst>
          </p:cNvPr>
          <p:cNvSpPr txBox="1">
            <a:spLocks/>
          </p:cNvSpPr>
          <p:nvPr/>
        </p:nvSpPr>
        <p:spPr>
          <a:xfrm>
            <a:off x="6534151" y="448056"/>
            <a:ext cx="5029200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800" kern="12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algn="r"/>
            <a:r>
              <a:rPr lang="en-US" altLang="ko-KR" b="1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2,3. Gradient Calculation</a:t>
            </a:r>
            <a:endParaRPr lang="ko-KR" altLang="en-US" b="1" dirty="0">
              <a:solidFill>
                <a:srgbClr val="0070C0"/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0521E3A-E739-C5D2-1187-F1FB0274FA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9429" y="1828661"/>
            <a:ext cx="8093141" cy="3200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403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218CE-6891-394B-C232-1BF77168C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84CEDAE6-B046-D882-CD04-FCF3B8EDF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448056"/>
            <a:ext cx="5203318" cy="640080"/>
          </a:xfrm>
        </p:spPr>
        <p:txBody>
          <a:bodyPr rtlCol="0">
            <a:noAutofit/>
          </a:bodyPr>
          <a:lstStyle/>
          <a:p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The Backward Pass</a:t>
            </a:r>
            <a:endParaRPr lang="ko-KR" altLang="en-US" b="1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4B1AC10A-50F2-17E4-1288-5A58CEDAC4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19</a:t>
            </a:fld>
            <a:endParaRPr lang="ko-KR" altLang="en-US" noProof="0"/>
          </a:p>
        </p:txBody>
      </p:sp>
      <p:sp>
        <p:nvSpPr>
          <p:cNvPr id="3" name="제목 7">
            <a:extLst>
              <a:ext uri="{FF2B5EF4-FFF2-40B4-BE49-F238E27FC236}">
                <a16:creationId xmlns:a16="http://schemas.microsoft.com/office/drawing/2014/main" id="{22C17EB7-2F04-CC65-A1E1-F2A651D0E9D8}"/>
              </a:ext>
            </a:extLst>
          </p:cNvPr>
          <p:cNvSpPr txBox="1">
            <a:spLocks/>
          </p:cNvSpPr>
          <p:nvPr/>
        </p:nvSpPr>
        <p:spPr>
          <a:xfrm>
            <a:off x="6534151" y="448056"/>
            <a:ext cx="5029200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800" kern="12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algn="r"/>
            <a:r>
              <a:rPr lang="en-US" altLang="ko-KR" b="1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2,3. Gradient Calculation</a:t>
            </a:r>
            <a:endParaRPr lang="ko-KR" altLang="en-US" b="1" dirty="0">
              <a:solidFill>
                <a:srgbClr val="0070C0"/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6B8FEEA-8910-E162-7B42-1D50A4CBF8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448" y="1481984"/>
            <a:ext cx="9809499" cy="295666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C9A81377-9E0C-3A26-D671-2091D9515B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448" y="4818337"/>
            <a:ext cx="9812611" cy="1039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570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B1F11-9B43-A828-9E4B-45ED3C1F8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FC68424E-D312-5734-3A93-9F2F1AB6A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448056"/>
            <a:ext cx="5203318" cy="640080"/>
          </a:xfrm>
        </p:spPr>
        <p:txBody>
          <a:bodyPr rtlCol="0">
            <a:noAutofit/>
          </a:bodyPr>
          <a:lstStyle/>
          <a:p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The Backward Pass</a:t>
            </a:r>
            <a:endParaRPr lang="ko-KR" altLang="en-US" b="1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6EB99DDC-39CA-3C4D-E202-F04F1A14FB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20</a:t>
            </a:fld>
            <a:endParaRPr lang="ko-KR" altLang="en-US" noProof="0"/>
          </a:p>
        </p:txBody>
      </p:sp>
      <p:sp>
        <p:nvSpPr>
          <p:cNvPr id="3" name="제목 7">
            <a:extLst>
              <a:ext uri="{FF2B5EF4-FFF2-40B4-BE49-F238E27FC236}">
                <a16:creationId xmlns:a16="http://schemas.microsoft.com/office/drawing/2014/main" id="{69F6807B-C0B1-6F74-7F1C-30218F679CF6}"/>
              </a:ext>
            </a:extLst>
          </p:cNvPr>
          <p:cNvSpPr txBox="1">
            <a:spLocks/>
          </p:cNvSpPr>
          <p:nvPr/>
        </p:nvSpPr>
        <p:spPr>
          <a:xfrm>
            <a:off x="6534151" y="448056"/>
            <a:ext cx="5029200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800" kern="12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algn="r"/>
            <a:r>
              <a:rPr lang="en-US" altLang="ko-KR" b="1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2,3. Gradient Calculation</a:t>
            </a:r>
            <a:endParaRPr lang="ko-KR" altLang="en-US" b="1" dirty="0">
              <a:solidFill>
                <a:srgbClr val="0070C0"/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A938CDC-AE0C-D990-A6EF-0BE8513A01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9268" y="1421047"/>
            <a:ext cx="9502964" cy="192040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E7719F4-17B3-3099-FCFE-CCE4E85599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5475" y="4193532"/>
            <a:ext cx="9426757" cy="1158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677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8BC8F-36BC-7873-3EAF-412DFD6F0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74C727A8-BCE2-3304-57F5-58A461571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448056"/>
            <a:ext cx="5203318" cy="640080"/>
          </a:xfrm>
        </p:spPr>
        <p:txBody>
          <a:bodyPr rtlCol="0">
            <a:noAutofit/>
          </a:bodyPr>
          <a:lstStyle/>
          <a:p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The Backward Pass</a:t>
            </a:r>
            <a:endParaRPr lang="ko-KR" altLang="en-US" b="1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B85243D0-FB41-EC5F-3DA4-5393102672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21</a:t>
            </a:fld>
            <a:endParaRPr lang="ko-KR" altLang="en-US" noProof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60F4D28-4B80-C563-EA79-BA4D1FEE3B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3066" y="1596351"/>
            <a:ext cx="9541067" cy="883997"/>
          </a:xfrm>
          <a:prstGeom prst="rect">
            <a:avLst/>
          </a:prstGeom>
        </p:spPr>
      </p:pic>
      <p:sp>
        <p:nvSpPr>
          <p:cNvPr id="5" name="제목 7">
            <a:extLst>
              <a:ext uri="{FF2B5EF4-FFF2-40B4-BE49-F238E27FC236}">
                <a16:creationId xmlns:a16="http://schemas.microsoft.com/office/drawing/2014/main" id="{E75B3596-6C5C-570B-C084-010D85D56272}"/>
              </a:ext>
            </a:extLst>
          </p:cNvPr>
          <p:cNvSpPr txBox="1">
            <a:spLocks/>
          </p:cNvSpPr>
          <p:nvPr/>
        </p:nvSpPr>
        <p:spPr>
          <a:xfrm>
            <a:off x="6534151" y="448056"/>
            <a:ext cx="5029200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800" kern="12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algn="r"/>
            <a:r>
              <a:rPr lang="en-US" altLang="ko-KR" b="1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2,3. Gradient Calculation</a:t>
            </a:r>
            <a:endParaRPr lang="ko-KR" altLang="en-US" b="1" dirty="0">
              <a:solidFill>
                <a:srgbClr val="0070C0"/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9FFCA4E-1676-9FFE-C45A-BF2F6AFA36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3066" y="2638012"/>
            <a:ext cx="9510584" cy="70110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E4CB6D02-B993-68FE-8A0A-1954420638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34285" y="3518888"/>
            <a:ext cx="7018628" cy="2613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561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7B33D-8066-28A2-EC2E-8EAFC39DF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622627C6-D0E3-B02A-6E95-8610F1573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448056"/>
            <a:ext cx="5203318" cy="640080"/>
          </a:xfrm>
        </p:spPr>
        <p:txBody>
          <a:bodyPr rtlCol="0">
            <a:noAutofit/>
          </a:bodyPr>
          <a:lstStyle/>
          <a:p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The Backward Pass</a:t>
            </a:r>
            <a:endParaRPr lang="ko-KR" altLang="en-US" b="1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D0147DA7-E789-DBFA-4F04-CC637D3C17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22</a:t>
            </a:fld>
            <a:endParaRPr lang="ko-KR" altLang="en-US" noProof="0"/>
          </a:p>
        </p:txBody>
      </p:sp>
      <p:sp>
        <p:nvSpPr>
          <p:cNvPr id="5" name="제목 7">
            <a:extLst>
              <a:ext uri="{FF2B5EF4-FFF2-40B4-BE49-F238E27FC236}">
                <a16:creationId xmlns:a16="http://schemas.microsoft.com/office/drawing/2014/main" id="{1DB3DA57-7167-B289-8BF3-F18E7E3FD792}"/>
              </a:ext>
            </a:extLst>
          </p:cNvPr>
          <p:cNvSpPr txBox="1">
            <a:spLocks/>
          </p:cNvSpPr>
          <p:nvPr/>
        </p:nvSpPr>
        <p:spPr>
          <a:xfrm>
            <a:off x="6534151" y="448056"/>
            <a:ext cx="5029200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800" kern="12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algn="r"/>
            <a:r>
              <a:rPr lang="en-US" altLang="ko-KR" b="1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2,3. Gradient Calculation</a:t>
            </a:r>
            <a:endParaRPr lang="ko-KR" altLang="en-US" b="1" dirty="0">
              <a:solidFill>
                <a:srgbClr val="0070C0"/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29D2ACB-BBB8-26E1-C8EF-5D22E148CB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5093" y="1325754"/>
            <a:ext cx="7815146" cy="265569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45FA0F9-7A84-1052-DA29-B25F61E960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6451" y="4103100"/>
            <a:ext cx="7274481" cy="2100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303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EADB3-F6D9-C88A-4893-F6C0FC94F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CECD763E-B552-3544-3F39-0833BAFAD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448056"/>
            <a:ext cx="5203318" cy="640080"/>
          </a:xfrm>
        </p:spPr>
        <p:txBody>
          <a:bodyPr rtlCol="0">
            <a:noAutofit/>
          </a:bodyPr>
          <a:lstStyle/>
          <a:p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The Backward Pass</a:t>
            </a:r>
            <a:endParaRPr lang="ko-KR" altLang="en-US" b="1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87DE9EF2-D8EF-87B1-220C-4AFB3E335E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23</a:t>
            </a:fld>
            <a:endParaRPr lang="ko-KR" altLang="en-US" noProof="0"/>
          </a:p>
        </p:txBody>
      </p:sp>
      <p:sp>
        <p:nvSpPr>
          <p:cNvPr id="5" name="제목 7">
            <a:extLst>
              <a:ext uri="{FF2B5EF4-FFF2-40B4-BE49-F238E27FC236}">
                <a16:creationId xmlns:a16="http://schemas.microsoft.com/office/drawing/2014/main" id="{458475AF-D92B-18F9-50AB-D1FD6F2C62E9}"/>
              </a:ext>
            </a:extLst>
          </p:cNvPr>
          <p:cNvSpPr txBox="1">
            <a:spLocks/>
          </p:cNvSpPr>
          <p:nvPr/>
        </p:nvSpPr>
        <p:spPr>
          <a:xfrm>
            <a:off x="6534151" y="448056"/>
            <a:ext cx="5029200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800" kern="12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algn="r"/>
            <a:r>
              <a:rPr lang="en-US" altLang="ko-KR" b="1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2,3. Gradient Calculation</a:t>
            </a:r>
            <a:endParaRPr lang="ko-KR" altLang="en-US" b="1" dirty="0">
              <a:solidFill>
                <a:srgbClr val="0070C0"/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C9B9F78-8D46-A912-B3B9-AB8699A0CD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526" y="1804078"/>
            <a:ext cx="9464860" cy="472481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59C21382-4B96-D4C3-A483-3555784D0F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869" y="2276559"/>
            <a:ext cx="10012562" cy="1549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674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093C1-179E-CBDD-7437-86266EE6B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158D9D41-4E6D-E7C2-BB08-5D90A066A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448056"/>
            <a:ext cx="5203318" cy="640080"/>
          </a:xfrm>
        </p:spPr>
        <p:txBody>
          <a:bodyPr rtlCol="0">
            <a:noAutofit/>
          </a:bodyPr>
          <a:lstStyle/>
          <a:p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The Backward Pass</a:t>
            </a:r>
            <a:endParaRPr lang="ko-KR" altLang="en-US" b="1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C28404CE-55DD-3D68-739A-15180942F0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24</a:t>
            </a:fld>
            <a:endParaRPr lang="ko-KR" altLang="en-US" noProof="0"/>
          </a:p>
        </p:txBody>
      </p:sp>
      <p:sp>
        <p:nvSpPr>
          <p:cNvPr id="5" name="제목 7">
            <a:extLst>
              <a:ext uri="{FF2B5EF4-FFF2-40B4-BE49-F238E27FC236}">
                <a16:creationId xmlns:a16="http://schemas.microsoft.com/office/drawing/2014/main" id="{52940EC0-6993-32F4-D837-F9BB4D3943F1}"/>
              </a:ext>
            </a:extLst>
          </p:cNvPr>
          <p:cNvSpPr txBox="1">
            <a:spLocks/>
          </p:cNvSpPr>
          <p:nvPr/>
        </p:nvSpPr>
        <p:spPr>
          <a:xfrm>
            <a:off x="6534151" y="448056"/>
            <a:ext cx="5029200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800" kern="12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algn="r"/>
            <a:r>
              <a:rPr lang="en-US" altLang="ko-KR" b="1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2,3. Gradient Calculation</a:t>
            </a:r>
            <a:endParaRPr lang="ko-KR" altLang="en-US" b="1" dirty="0">
              <a:solidFill>
                <a:srgbClr val="0070C0"/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7EC9C3E-3473-F918-8536-CB53266C87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4645" y="1509640"/>
            <a:ext cx="8898555" cy="319115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4416D975-EB40-4057-5BFD-27703A8511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1792" y="4754636"/>
            <a:ext cx="4174069" cy="1655307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1384288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B4ED2-100C-6ECD-16AE-A5F3FBAAD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39CF4004-422A-B65E-5463-B84E4D5C4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448056"/>
            <a:ext cx="5203318" cy="640080"/>
          </a:xfrm>
        </p:spPr>
        <p:txBody>
          <a:bodyPr rtlCol="0">
            <a:noAutofit/>
          </a:bodyPr>
          <a:lstStyle/>
          <a:p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The Backward Pass</a:t>
            </a:r>
            <a:endParaRPr lang="ko-KR" altLang="en-US" b="1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4999797F-21A6-E605-863C-10A0C74B58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25</a:t>
            </a:fld>
            <a:endParaRPr lang="ko-KR" altLang="en-US" noProof="0"/>
          </a:p>
        </p:txBody>
      </p:sp>
      <p:sp>
        <p:nvSpPr>
          <p:cNvPr id="5" name="제목 7">
            <a:extLst>
              <a:ext uri="{FF2B5EF4-FFF2-40B4-BE49-F238E27FC236}">
                <a16:creationId xmlns:a16="http://schemas.microsoft.com/office/drawing/2014/main" id="{AD6DD463-1198-01DF-DD0E-475C13EBF055}"/>
              </a:ext>
            </a:extLst>
          </p:cNvPr>
          <p:cNvSpPr txBox="1">
            <a:spLocks/>
          </p:cNvSpPr>
          <p:nvPr/>
        </p:nvSpPr>
        <p:spPr>
          <a:xfrm>
            <a:off x="6534151" y="448056"/>
            <a:ext cx="5029200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800" kern="12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algn="r"/>
            <a:r>
              <a:rPr lang="en-US" altLang="ko-KR" b="1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2,3. Gradient Calculation</a:t>
            </a:r>
            <a:endParaRPr lang="ko-KR" altLang="en-US" b="1" dirty="0">
              <a:solidFill>
                <a:srgbClr val="0070C0"/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0ADDF6F-3A82-1350-2AA4-53B63F9B52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305" y="1640090"/>
            <a:ext cx="10139950" cy="3017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175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E0EE5-B7B4-E6BE-C0EB-21DE528AF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EB47F1C2-35C1-5116-A414-F6874F2FF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448056"/>
            <a:ext cx="5203318" cy="640080"/>
          </a:xfrm>
        </p:spPr>
        <p:txBody>
          <a:bodyPr rtlCol="0">
            <a:noAutofit/>
          </a:bodyPr>
          <a:lstStyle/>
          <a:p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The Backward Pass</a:t>
            </a:r>
            <a:endParaRPr lang="ko-KR" altLang="en-US" b="1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B26F162F-FA06-F75B-015D-8D4F14F86D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26</a:t>
            </a:fld>
            <a:endParaRPr lang="ko-KR" altLang="en-US" noProof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D8A30AD-8E68-9665-D664-D0C1B731F1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3066" y="1596351"/>
            <a:ext cx="9541067" cy="883997"/>
          </a:xfrm>
          <a:prstGeom prst="rect">
            <a:avLst/>
          </a:prstGeom>
        </p:spPr>
      </p:pic>
      <p:sp>
        <p:nvSpPr>
          <p:cNvPr id="5" name="제목 7">
            <a:extLst>
              <a:ext uri="{FF2B5EF4-FFF2-40B4-BE49-F238E27FC236}">
                <a16:creationId xmlns:a16="http://schemas.microsoft.com/office/drawing/2014/main" id="{003F7729-CF1F-5831-3FBD-EEEAACDBABBE}"/>
              </a:ext>
            </a:extLst>
          </p:cNvPr>
          <p:cNvSpPr txBox="1">
            <a:spLocks/>
          </p:cNvSpPr>
          <p:nvPr/>
        </p:nvSpPr>
        <p:spPr>
          <a:xfrm>
            <a:off x="6534151" y="448056"/>
            <a:ext cx="5029200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800" kern="12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algn="r"/>
            <a:r>
              <a:rPr lang="en-US" altLang="ko-KR" b="1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2,3. Gradient Calculation</a:t>
            </a:r>
            <a:endParaRPr lang="ko-KR" altLang="en-US" b="1" dirty="0">
              <a:solidFill>
                <a:srgbClr val="0070C0"/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DE75393-E00E-3E35-821A-63327A5F3A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1963" y="2460830"/>
            <a:ext cx="5928874" cy="55630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F443C67-BD07-BF3B-0EDE-40A90E4DDA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19272" y="2988563"/>
            <a:ext cx="6134255" cy="65951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3EF57FA1-5815-9723-7C1F-1A6D9AF279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09549" y="3588221"/>
            <a:ext cx="6509468" cy="659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543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A27CC-1152-C799-1412-6CB2C94E5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7181E172-2A53-5C40-B7B1-B11F02A7F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448056"/>
            <a:ext cx="5203318" cy="640080"/>
          </a:xfrm>
        </p:spPr>
        <p:txBody>
          <a:bodyPr rtlCol="0">
            <a:noAutofit/>
          </a:bodyPr>
          <a:lstStyle/>
          <a:p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The Backward Pass</a:t>
            </a:r>
            <a:endParaRPr lang="ko-KR" altLang="en-US" b="1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BE370946-B615-6B87-94B7-E1F4809BF2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27</a:t>
            </a:fld>
            <a:endParaRPr lang="ko-KR" altLang="en-US" noProof="0"/>
          </a:p>
        </p:txBody>
      </p:sp>
      <p:sp>
        <p:nvSpPr>
          <p:cNvPr id="5" name="제목 7">
            <a:extLst>
              <a:ext uri="{FF2B5EF4-FFF2-40B4-BE49-F238E27FC236}">
                <a16:creationId xmlns:a16="http://schemas.microsoft.com/office/drawing/2014/main" id="{FB964181-AA3D-7F5C-166D-82EE2161CC3F}"/>
              </a:ext>
            </a:extLst>
          </p:cNvPr>
          <p:cNvSpPr txBox="1">
            <a:spLocks/>
          </p:cNvSpPr>
          <p:nvPr/>
        </p:nvSpPr>
        <p:spPr>
          <a:xfrm>
            <a:off x="6534151" y="448056"/>
            <a:ext cx="5029200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800" kern="12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algn="r"/>
            <a:r>
              <a:rPr lang="en-US" altLang="ko-KR" b="1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2,3. Gradient Calculation</a:t>
            </a:r>
            <a:endParaRPr lang="ko-KR" altLang="en-US" b="1" dirty="0">
              <a:solidFill>
                <a:srgbClr val="0070C0"/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7E1276F-50CE-7A93-CB3F-1DD4270E09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1656" y="1573488"/>
            <a:ext cx="9548687" cy="96782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92613CD-B2F2-33FC-A644-630B9C8E08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9599" y="2541312"/>
            <a:ext cx="6687921" cy="1554438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92AA89C8-9554-1975-1F79-0C5E779F1326}"/>
              </a:ext>
            </a:extLst>
          </p:cNvPr>
          <p:cNvSpPr/>
          <p:nvPr/>
        </p:nvSpPr>
        <p:spPr>
          <a:xfrm>
            <a:off x="8188069" y="3257550"/>
            <a:ext cx="759337" cy="33337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777D9549-4BE9-6652-353F-E3FB7BFA91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89156" y="4535763"/>
            <a:ext cx="5608806" cy="662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262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A1805-DF28-4B30-8BE7-1D5E0B921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3E2A5BAA-E9EC-4FD9-0E8D-CB6CD7B4B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448056"/>
            <a:ext cx="5203318" cy="640080"/>
          </a:xfrm>
        </p:spPr>
        <p:txBody>
          <a:bodyPr rtlCol="0">
            <a:noAutofit/>
          </a:bodyPr>
          <a:lstStyle/>
          <a:p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The Backward Pass</a:t>
            </a:r>
            <a:endParaRPr lang="ko-KR" altLang="en-US" b="1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0BFA404A-BB0E-B816-6F17-E2EFE2030C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28</a:t>
            </a:fld>
            <a:endParaRPr lang="ko-KR" altLang="en-US" noProof="0"/>
          </a:p>
        </p:txBody>
      </p:sp>
      <p:sp>
        <p:nvSpPr>
          <p:cNvPr id="5" name="제목 7">
            <a:extLst>
              <a:ext uri="{FF2B5EF4-FFF2-40B4-BE49-F238E27FC236}">
                <a16:creationId xmlns:a16="http://schemas.microsoft.com/office/drawing/2014/main" id="{0F98435E-2DA9-D848-29E2-D2A404D52439}"/>
              </a:ext>
            </a:extLst>
          </p:cNvPr>
          <p:cNvSpPr txBox="1">
            <a:spLocks/>
          </p:cNvSpPr>
          <p:nvPr/>
        </p:nvSpPr>
        <p:spPr>
          <a:xfrm>
            <a:off x="6534151" y="448056"/>
            <a:ext cx="5029200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800" kern="12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algn="r"/>
            <a:r>
              <a:rPr lang="en-US" altLang="ko-KR" b="1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2,3. Gradient Calculation</a:t>
            </a:r>
            <a:endParaRPr lang="ko-KR" altLang="en-US" b="1" dirty="0">
              <a:solidFill>
                <a:srgbClr val="0070C0"/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CC8C259-BEFD-231C-54DD-AEE51998A6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5554" y="1450518"/>
            <a:ext cx="7776622" cy="197848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0FF4C6B-AD08-BE17-40E1-BBE32CE986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5554" y="3429000"/>
            <a:ext cx="7776622" cy="129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003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4B14F-CD33-288D-C9CF-EC4A13DFA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1672E52C-BA5C-2070-8209-533D23E18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448056"/>
            <a:ext cx="5203318" cy="640080"/>
          </a:xfrm>
        </p:spPr>
        <p:txBody>
          <a:bodyPr rtlCol="0">
            <a:noAutofit/>
          </a:bodyPr>
          <a:lstStyle/>
          <a:p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The Backward Pass</a:t>
            </a:r>
            <a:endParaRPr lang="ko-KR" altLang="en-US" b="1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27E971AC-93D4-55A1-44D6-70102AB764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29</a:t>
            </a:fld>
            <a:endParaRPr lang="ko-KR" altLang="en-US" noProof="0"/>
          </a:p>
        </p:txBody>
      </p:sp>
      <p:sp>
        <p:nvSpPr>
          <p:cNvPr id="5" name="제목 7">
            <a:extLst>
              <a:ext uri="{FF2B5EF4-FFF2-40B4-BE49-F238E27FC236}">
                <a16:creationId xmlns:a16="http://schemas.microsoft.com/office/drawing/2014/main" id="{6889CF3D-9A31-783A-2245-AF951B225637}"/>
              </a:ext>
            </a:extLst>
          </p:cNvPr>
          <p:cNvSpPr txBox="1">
            <a:spLocks/>
          </p:cNvSpPr>
          <p:nvPr/>
        </p:nvSpPr>
        <p:spPr>
          <a:xfrm>
            <a:off x="6534151" y="448056"/>
            <a:ext cx="5029200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800" kern="12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algn="r"/>
            <a:r>
              <a:rPr lang="en-US" altLang="ko-KR" b="1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2,3. Gradient Calculation</a:t>
            </a:r>
            <a:endParaRPr lang="ko-KR" altLang="en-US" b="1" dirty="0">
              <a:solidFill>
                <a:srgbClr val="0070C0"/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55D38DE-C8E4-3001-9750-CC58150E8D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0695" y="1474399"/>
            <a:ext cx="9464860" cy="739204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BF39C064-68C7-BA09-AA4F-90460A4EF8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0695" y="3941870"/>
            <a:ext cx="2909053" cy="2444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E95D2660-ECE9-CBB2-E9C7-0A7B3A30FB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0696" y="2213603"/>
            <a:ext cx="9464860" cy="69550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F9C68E2-7595-2EEE-0686-E4B953FFB4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0695" y="2899360"/>
            <a:ext cx="9464860" cy="578408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7E4C6537-CC80-E0C8-7958-1ED8ADB52D5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48168" y="4521107"/>
            <a:ext cx="6237387" cy="800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706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38357-E907-A3FE-8496-30ED17DB8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E355C600-EE0D-035D-4C22-4DB996FCE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448056"/>
            <a:ext cx="5203318" cy="640080"/>
          </a:xfrm>
        </p:spPr>
        <p:txBody>
          <a:bodyPr rtlCol="0">
            <a:noAutofit/>
          </a:bodyPr>
          <a:lstStyle/>
          <a:p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The Backward Pass</a:t>
            </a:r>
            <a:endParaRPr lang="ko-KR" altLang="en-US" b="1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E4E179D1-9AB1-9271-B6D9-8748BC97C7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30</a:t>
            </a:fld>
            <a:endParaRPr lang="ko-KR" altLang="en-US" noProof="0"/>
          </a:p>
        </p:txBody>
      </p:sp>
      <p:sp>
        <p:nvSpPr>
          <p:cNvPr id="5" name="제목 7">
            <a:extLst>
              <a:ext uri="{FF2B5EF4-FFF2-40B4-BE49-F238E27FC236}">
                <a16:creationId xmlns:a16="http://schemas.microsoft.com/office/drawing/2014/main" id="{1030856D-12E4-EB81-0D08-AFD5D05D5E32}"/>
              </a:ext>
            </a:extLst>
          </p:cNvPr>
          <p:cNvSpPr txBox="1">
            <a:spLocks/>
          </p:cNvSpPr>
          <p:nvPr/>
        </p:nvSpPr>
        <p:spPr>
          <a:xfrm>
            <a:off x="6534151" y="448056"/>
            <a:ext cx="5029200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800" kern="12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algn="r"/>
            <a:r>
              <a:rPr lang="en-US" altLang="ko-KR" b="1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2,3. Gradient Calculation</a:t>
            </a:r>
            <a:endParaRPr lang="ko-KR" altLang="en-US" b="1" dirty="0">
              <a:solidFill>
                <a:srgbClr val="0070C0"/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4D54DF5-3E74-6BB3-33A7-2E02A957E4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5504" y="1402038"/>
            <a:ext cx="7457722" cy="76013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84CDBA3C-43CC-A1E8-C9A6-4E18C4CB14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9599" y="2455587"/>
            <a:ext cx="6687921" cy="1554438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D3CB1527-55FF-7A35-EEC5-E9D1C8CBAAEC}"/>
              </a:ext>
            </a:extLst>
          </p:cNvPr>
          <p:cNvSpPr/>
          <p:nvPr/>
        </p:nvSpPr>
        <p:spPr>
          <a:xfrm>
            <a:off x="8188069" y="3076575"/>
            <a:ext cx="759337" cy="7239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8EB365B-E1A8-A5D7-341C-03DC71345397}"/>
              </a:ext>
            </a:extLst>
          </p:cNvPr>
          <p:cNvSpPr/>
          <p:nvPr/>
        </p:nvSpPr>
        <p:spPr>
          <a:xfrm>
            <a:off x="5749669" y="3286125"/>
            <a:ext cx="1298831" cy="7239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53A12B7A-AC59-3EBC-F136-3B4CA15F7C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8320" y="4594227"/>
            <a:ext cx="9464860" cy="518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139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8E2C3-8DC3-FF1A-F9AA-1516DBA00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2CA6D2C2-901A-2EEB-1516-EC5791440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448056"/>
            <a:ext cx="5203318" cy="640080"/>
          </a:xfrm>
        </p:spPr>
        <p:txBody>
          <a:bodyPr rtlCol="0">
            <a:noAutofit/>
          </a:bodyPr>
          <a:lstStyle/>
          <a:p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The Backward Pass</a:t>
            </a:r>
            <a:endParaRPr lang="ko-KR" altLang="en-US" b="1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A39CB5B1-EA09-B0CB-9FAA-32F615ECF1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31</a:t>
            </a:fld>
            <a:endParaRPr lang="ko-KR" altLang="en-US" noProof="0"/>
          </a:p>
        </p:txBody>
      </p:sp>
      <p:sp>
        <p:nvSpPr>
          <p:cNvPr id="5" name="제목 7">
            <a:extLst>
              <a:ext uri="{FF2B5EF4-FFF2-40B4-BE49-F238E27FC236}">
                <a16:creationId xmlns:a16="http://schemas.microsoft.com/office/drawing/2014/main" id="{763B68F9-FED4-A037-3870-7A760A42CE24}"/>
              </a:ext>
            </a:extLst>
          </p:cNvPr>
          <p:cNvSpPr txBox="1">
            <a:spLocks/>
          </p:cNvSpPr>
          <p:nvPr/>
        </p:nvSpPr>
        <p:spPr>
          <a:xfrm>
            <a:off x="6534151" y="448056"/>
            <a:ext cx="5029200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800" kern="12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algn="r"/>
            <a:r>
              <a:rPr lang="en-US" altLang="ko-KR" b="1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2,3. Gradient Calculation</a:t>
            </a:r>
            <a:endParaRPr lang="ko-KR" altLang="en-US" b="1" dirty="0">
              <a:solidFill>
                <a:srgbClr val="0070C0"/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B102FEE-AD00-2E33-E34B-2BD1D6AEA3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8119" y="1714351"/>
            <a:ext cx="6256562" cy="1714649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4000BCDF-2B59-AE8F-B9DC-CAFC164DFE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6531" y="4960689"/>
            <a:ext cx="8702794" cy="482664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B59F37F8-EA4B-C27A-3472-30B3789520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6531" y="4093835"/>
            <a:ext cx="8702794" cy="434378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FC688A40-67F4-6FB9-8761-658880B97A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6531" y="4482492"/>
            <a:ext cx="8702794" cy="502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750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76B9A-6D92-9025-8ED3-0B5683761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3064C80B-7FBB-D36E-C436-F67175202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448056"/>
            <a:ext cx="5203318" cy="640080"/>
          </a:xfrm>
        </p:spPr>
        <p:txBody>
          <a:bodyPr rtlCol="0">
            <a:noAutofit/>
          </a:bodyPr>
          <a:lstStyle/>
          <a:p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The Backward Pass</a:t>
            </a:r>
            <a:endParaRPr lang="ko-KR" altLang="en-US" b="1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8860FE33-1E55-C59E-1E71-1DF672A478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32</a:t>
            </a:fld>
            <a:endParaRPr lang="ko-KR" altLang="en-US" noProof="0"/>
          </a:p>
        </p:txBody>
      </p:sp>
      <p:sp>
        <p:nvSpPr>
          <p:cNvPr id="5" name="제목 7">
            <a:extLst>
              <a:ext uri="{FF2B5EF4-FFF2-40B4-BE49-F238E27FC236}">
                <a16:creationId xmlns:a16="http://schemas.microsoft.com/office/drawing/2014/main" id="{D47E8D4D-6F2E-4668-8AB0-B8A8F9D4DD45}"/>
              </a:ext>
            </a:extLst>
          </p:cNvPr>
          <p:cNvSpPr txBox="1">
            <a:spLocks/>
          </p:cNvSpPr>
          <p:nvPr/>
        </p:nvSpPr>
        <p:spPr>
          <a:xfrm>
            <a:off x="6534151" y="448056"/>
            <a:ext cx="5029200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800" kern="12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algn="r"/>
            <a:r>
              <a:rPr lang="en-US" altLang="ko-KR" b="1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2,3. Gradient Calculation</a:t>
            </a:r>
            <a:endParaRPr lang="ko-KR" altLang="en-US" b="1" dirty="0">
              <a:solidFill>
                <a:srgbClr val="0070C0"/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8D9DCC9-F3D0-AE23-2ED3-316BF1BF44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8379" y="2228746"/>
            <a:ext cx="9015241" cy="240050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65AC273-CA40-E373-6E8E-B2597B759E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2620" y="4629254"/>
            <a:ext cx="9426757" cy="92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223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A4BC7-436A-5893-47E7-B3F642ADE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FF97CDD1-0104-19B9-0F01-ED0C830A7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3888868" cy="640080"/>
          </a:xfrm>
        </p:spPr>
        <p:txBody>
          <a:bodyPr rtlCol="0">
            <a:noAutofit/>
          </a:bodyPr>
          <a:lstStyle/>
          <a:p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The Training Loop </a:t>
            </a:r>
            <a:endParaRPr lang="ko-KR" altLang="en-US" b="1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4FFF182C-9697-5D66-9105-EB2523CBB3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33</a:t>
            </a:fld>
            <a:endParaRPr lang="ko-KR" altLang="en-US" noProof="0"/>
          </a:p>
        </p:txBody>
      </p:sp>
      <p:sp>
        <p:nvSpPr>
          <p:cNvPr id="5" name="제목 7">
            <a:extLst>
              <a:ext uri="{FF2B5EF4-FFF2-40B4-BE49-F238E27FC236}">
                <a16:creationId xmlns:a16="http://schemas.microsoft.com/office/drawing/2014/main" id="{0EEF571A-8F00-DF55-7684-DDCA86965C4B}"/>
              </a:ext>
            </a:extLst>
          </p:cNvPr>
          <p:cNvSpPr txBox="1">
            <a:spLocks/>
          </p:cNvSpPr>
          <p:nvPr/>
        </p:nvSpPr>
        <p:spPr>
          <a:xfrm>
            <a:off x="5724526" y="448056"/>
            <a:ext cx="5838825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800" kern="12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algn="r"/>
            <a:r>
              <a:rPr lang="en-US" altLang="ko-KR" b="1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4,5. Parameter Update &amp; reset</a:t>
            </a:r>
            <a:endParaRPr lang="ko-KR" altLang="en-US" b="1" dirty="0">
              <a:solidFill>
                <a:srgbClr val="0070C0"/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7685F1C-5FC6-A8C1-B31E-8BB8B073E3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2390" y="1603834"/>
            <a:ext cx="5589536" cy="1392773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C888E2B-6908-0ADE-C6EB-D19808EE33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4847" y="2998343"/>
            <a:ext cx="6864622" cy="1141061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77E49283-1FD6-1831-AD8F-7B1F548905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1631" y="5175163"/>
            <a:ext cx="2787244" cy="108437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3349352-DF3C-5571-47F9-2FF2DA2C80EF}"/>
              </a:ext>
            </a:extLst>
          </p:cNvPr>
          <p:cNvSpPr txBox="1"/>
          <p:nvPr/>
        </p:nvSpPr>
        <p:spPr>
          <a:xfrm>
            <a:off x="771455" y="4330470"/>
            <a:ext cx="10877071" cy="783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Gradient Accumulation : </a:t>
            </a:r>
            <a:r>
              <a:rPr lang="en-US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PyTorch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디자인 철학은 </a:t>
            </a:r>
            <a:r>
              <a:rPr lang="en-US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loss.backward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호출할 때마다 기울기를 덮어쓰는 것이 아니라 기존 값에 더하도록 되어 있기 때문에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만약 리셋을 안 하면 다음과 같이 작동하여 학습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훈련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 안됨</a:t>
            </a:r>
          </a:p>
        </p:txBody>
      </p:sp>
    </p:spTree>
    <p:extLst>
      <p:ext uri="{BB962C8B-B14F-4D97-AF65-F5344CB8AC3E}">
        <p14:creationId xmlns:p14="http://schemas.microsoft.com/office/powerpoint/2010/main" val="1310664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9AB49-3330-86A0-D10A-41A1F2753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1087A3EE-CFD5-93E2-42F2-440E95A3CD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34</a:t>
            </a:fld>
            <a:endParaRPr lang="ko-KR" altLang="en-US" noProof="0"/>
          </a:p>
        </p:txBody>
      </p:sp>
      <p:sp>
        <p:nvSpPr>
          <p:cNvPr id="9" name="제목 7">
            <a:extLst>
              <a:ext uri="{FF2B5EF4-FFF2-40B4-BE49-F238E27FC236}">
                <a16:creationId xmlns:a16="http://schemas.microsoft.com/office/drawing/2014/main" id="{8AECFECB-4936-39F3-7595-D00F1072B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3888868" cy="640080"/>
          </a:xfrm>
        </p:spPr>
        <p:txBody>
          <a:bodyPr rtlCol="0">
            <a:noAutofit/>
          </a:bodyPr>
          <a:lstStyle/>
          <a:p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The Training Loop </a:t>
            </a:r>
            <a:endParaRPr lang="ko-KR" altLang="en-US" b="1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0" name="제목 7">
            <a:extLst>
              <a:ext uri="{FF2B5EF4-FFF2-40B4-BE49-F238E27FC236}">
                <a16:creationId xmlns:a16="http://schemas.microsoft.com/office/drawing/2014/main" id="{E8E1E637-D7D3-6F3A-EF0C-089043C72F5B}"/>
              </a:ext>
            </a:extLst>
          </p:cNvPr>
          <p:cNvSpPr txBox="1">
            <a:spLocks/>
          </p:cNvSpPr>
          <p:nvPr/>
        </p:nvSpPr>
        <p:spPr>
          <a:xfrm>
            <a:off x="5724526" y="448056"/>
            <a:ext cx="5838825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800" kern="12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algn="r"/>
            <a:r>
              <a:rPr lang="en-US" altLang="ko-KR" b="1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4,5. Parameter Update &amp; reset</a:t>
            </a:r>
            <a:endParaRPr lang="ko-KR" altLang="en-US" b="1" dirty="0">
              <a:solidFill>
                <a:srgbClr val="0070C0"/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967F79A2-E9CE-79F5-590E-F7FC051B2D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8292" y="1754973"/>
            <a:ext cx="3183467" cy="4144092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2CBE5944-12BC-0F6A-6FDA-CF6B28057A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0241" y="2258553"/>
            <a:ext cx="4901087" cy="3104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181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085D0-E40D-6319-65CF-CDF22EB8F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C46DD5E0-4589-F6F3-318A-D985B71F45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35</a:t>
            </a:fld>
            <a:endParaRPr lang="ko-KR" altLang="en-US" noProof="0"/>
          </a:p>
        </p:txBody>
      </p:sp>
      <p:sp>
        <p:nvSpPr>
          <p:cNvPr id="9" name="제목 7">
            <a:extLst>
              <a:ext uri="{FF2B5EF4-FFF2-40B4-BE49-F238E27FC236}">
                <a16:creationId xmlns:a16="http://schemas.microsoft.com/office/drawing/2014/main" id="{8C5ECE83-B258-E8FA-26D3-41DF82484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6" y="448056"/>
            <a:ext cx="5203319" cy="640080"/>
          </a:xfrm>
        </p:spPr>
        <p:txBody>
          <a:bodyPr rtlCol="0">
            <a:noAutofit/>
          </a:bodyPr>
          <a:lstStyle/>
          <a:p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The Entire Training Process </a:t>
            </a:r>
            <a:endParaRPr lang="ko-KR" altLang="en-US" b="1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0" name="제목 7">
            <a:extLst>
              <a:ext uri="{FF2B5EF4-FFF2-40B4-BE49-F238E27FC236}">
                <a16:creationId xmlns:a16="http://schemas.microsoft.com/office/drawing/2014/main" id="{F4098F80-6FE3-3C11-28BF-538A6FF2E02E}"/>
              </a:ext>
            </a:extLst>
          </p:cNvPr>
          <p:cNvSpPr txBox="1">
            <a:spLocks/>
          </p:cNvSpPr>
          <p:nvPr/>
        </p:nvSpPr>
        <p:spPr>
          <a:xfrm>
            <a:off x="5724526" y="448056"/>
            <a:ext cx="5838825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800" kern="12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algn="r"/>
            <a:r>
              <a:rPr lang="en-US" altLang="ko-KR" b="1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4,5. Parameter Update &amp; reset</a:t>
            </a:r>
            <a:endParaRPr lang="ko-KR" altLang="en-US" b="1" dirty="0">
              <a:solidFill>
                <a:srgbClr val="0070C0"/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8FB840E-DF80-14F4-3624-15A2E02BF76A}"/>
              </a:ext>
            </a:extLst>
          </p:cNvPr>
          <p:cNvSpPr txBox="1"/>
          <p:nvPr/>
        </p:nvSpPr>
        <p:spPr>
          <a:xfrm>
            <a:off x="648250" y="1292721"/>
            <a:ext cx="8429076" cy="5016758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Hyperparameters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learning_rate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epochs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0.01, 100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Re-initialize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parameters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torch.randn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(1, 1,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requires_grad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True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),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torch.randn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(1,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requires_grad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True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Training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Loop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for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epoch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range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epochs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):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#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Forward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pass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and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loss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y_hat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@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+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loss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torch.mean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y_hat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-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y_true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)**2)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#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Backward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pass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loss.backward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#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Update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parameters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with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torch.no_grad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():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-=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learning_rate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*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W.grad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;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-=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learning_rate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*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b.grad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#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Zero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gradients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W.grad.zero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_();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b.grad.zero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_()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D85C4E01-AA78-FB62-55A3-22E0F4B02B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8703" y="3271401"/>
            <a:ext cx="3875272" cy="29332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2ABB1AE1-8C23-B6C3-51FD-D1B047A84C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931" y="4257646"/>
            <a:ext cx="3492869" cy="261371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3CE4BD6B-C73A-A2F9-69C2-F7247AD34D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3300" y="5007591"/>
            <a:ext cx="4429125" cy="276820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8A7E1F7E-5F41-56F3-0930-19CCD9EF99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76322" y="5942181"/>
            <a:ext cx="3492869" cy="288190"/>
          </a:xfrm>
          <a:prstGeom prst="rect">
            <a:avLst/>
          </a:prstGeom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3A1D4662-4F54-6439-A636-18C11EE8FFD5}"/>
              </a:ext>
            </a:extLst>
          </p:cNvPr>
          <p:cNvSpPr/>
          <p:nvPr/>
        </p:nvSpPr>
        <p:spPr>
          <a:xfrm>
            <a:off x="1053843" y="3277866"/>
            <a:ext cx="4014859" cy="53213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65E7C9D-1B7A-4ECB-AF5E-9C77D9711AC7}"/>
              </a:ext>
            </a:extLst>
          </p:cNvPr>
          <p:cNvSpPr/>
          <p:nvPr/>
        </p:nvSpPr>
        <p:spPr>
          <a:xfrm>
            <a:off x="1053843" y="4259419"/>
            <a:ext cx="1841757" cy="28817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5C91F33-069E-61D4-2E5F-735F7CA3C149}"/>
              </a:ext>
            </a:extLst>
          </p:cNvPr>
          <p:cNvSpPr/>
          <p:nvPr/>
        </p:nvSpPr>
        <p:spPr>
          <a:xfrm>
            <a:off x="1053843" y="5011894"/>
            <a:ext cx="6299457" cy="50168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C1E5607D-DE56-563B-D7B9-4F806CF25DBB}"/>
              </a:ext>
            </a:extLst>
          </p:cNvPr>
          <p:cNvSpPr/>
          <p:nvPr/>
        </p:nvSpPr>
        <p:spPr>
          <a:xfrm>
            <a:off x="1053843" y="5945344"/>
            <a:ext cx="3222479" cy="29455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9903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26" grpId="0" animBg="1"/>
      <p:bldP spid="27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D5FA2-480D-48B4-1617-ED963356B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BF338134-1336-BCEF-A661-3669130ED7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36</a:t>
            </a:fld>
            <a:endParaRPr lang="ko-KR" altLang="en-US" noProof="0"/>
          </a:p>
        </p:txBody>
      </p:sp>
      <p:sp>
        <p:nvSpPr>
          <p:cNvPr id="9" name="제목 7">
            <a:extLst>
              <a:ext uri="{FF2B5EF4-FFF2-40B4-BE49-F238E27FC236}">
                <a16:creationId xmlns:a16="http://schemas.microsoft.com/office/drawing/2014/main" id="{F48C3192-C32A-B043-A6E6-90FDAB2CF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3888868" cy="640080"/>
          </a:xfrm>
        </p:spPr>
        <p:txBody>
          <a:bodyPr rtlCol="0">
            <a:noAutofit/>
          </a:bodyPr>
          <a:lstStyle/>
          <a:p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The Training Loop </a:t>
            </a:r>
            <a:endParaRPr lang="ko-KR" altLang="en-US" b="1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0" name="제목 7">
            <a:extLst>
              <a:ext uri="{FF2B5EF4-FFF2-40B4-BE49-F238E27FC236}">
                <a16:creationId xmlns:a16="http://schemas.microsoft.com/office/drawing/2014/main" id="{99D5CB41-7AE4-631E-B58D-A5CBFE7C7956}"/>
              </a:ext>
            </a:extLst>
          </p:cNvPr>
          <p:cNvSpPr txBox="1">
            <a:spLocks/>
          </p:cNvSpPr>
          <p:nvPr/>
        </p:nvSpPr>
        <p:spPr>
          <a:xfrm>
            <a:off x="5724526" y="448056"/>
            <a:ext cx="5838825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800" kern="12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algn="r"/>
            <a:r>
              <a:rPr lang="en-US" altLang="ko-KR" b="1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4,5. Parameter Update &amp; reset</a:t>
            </a:r>
            <a:endParaRPr lang="ko-KR" altLang="en-US" b="1" dirty="0">
              <a:solidFill>
                <a:srgbClr val="0070C0"/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9FEE991-FF38-C943-D89B-CE473DB3D1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365" y="1487650"/>
            <a:ext cx="9449270" cy="2800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359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7DB1C-A6FB-BEE0-EE98-5B47049C2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6A039669-C7F4-7FAF-68AB-6F7FDC65E4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37</a:t>
            </a:fld>
            <a:endParaRPr lang="ko-KR" altLang="en-US" noProof="0"/>
          </a:p>
        </p:txBody>
      </p:sp>
      <p:sp>
        <p:nvSpPr>
          <p:cNvPr id="9" name="제목 7">
            <a:extLst>
              <a:ext uri="{FF2B5EF4-FFF2-40B4-BE49-F238E27FC236}">
                <a16:creationId xmlns:a16="http://schemas.microsoft.com/office/drawing/2014/main" id="{E828FB88-61DD-E700-CD65-418EAC551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3888868" cy="640080"/>
          </a:xfrm>
        </p:spPr>
        <p:txBody>
          <a:bodyPr rtlCol="0">
            <a:noAutofit/>
          </a:bodyPr>
          <a:lstStyle/>
          <a:p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The Training Loop </a:t>
            </a:r>
            <a:endParaRPr lang="ko-KR" altLang="en-US" b="1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0" name="제목 7">
            <a:extLst>
              <a:ext uri="{FF2B5EF4-FFF2-40B4-BE49-F238E27FC236}">
                <a16:creationId xmlns:a16="http://schemas.microsoft.com/office/drawing/2014/main" id="{6092DA6B-948D-8B1F-59A5-A39F16852C18}"/>
              </a:ext>
            </a:extLst>
          </p:cNvPr>
          <p:cNvSpPr txBox="1">
            <a:spLocks/>
          </p:cNvSpPr>
          <p:nvPr/>
        </p:nvSpPr>
        <p:spPr>
          <a:xfrm>
            <a:off x="5724526" y="448056"/>
            <a:ext cx="5838825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800" kern="12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algn="r"/>
            <a:r>
              <a:rPr lang="en-US" altLang="ko-KR" b="1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4,5. Parameter Update &amp; reset</a:t>
            </a:r>
            <a:endParaRPr lang="ko-KR" altLang="en-US" b="1" dirty="0">
              <a:solidFill>
                <a:srgbClr val="0070C0"/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27A0950-AD62-003D-2B59-F7E4405E5E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8160" y="1482275"/>
            <a:ext cx="5838825" cy="4483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753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74FAC-B223-469F-E1F4-C97CEF859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EF55043D-FC03-8D46-C9F4-B31597F8A0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38</a:t>
            </a:fld>
            <a:endParaRPr lang="ko-KR" altLang="en-US" noProof="0"/>
          </a:p>
        </p:txBody>
      </p:sp>
      <p:sp>
        <p:nvSpPr>
          <p:cNvPr id="9" name="제목 7">
            <a:extLst>
              <a:ext uri="{FF2B5EF4-FFF2-40B4-BE49-F238E27FC236}">
                <a16:creationId xmlns:a16="http://schemas.microsoft.com/office/drawing/2014/main" id="{E4AB6FB6-8CB9-3B10-A733-F29F1590A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3888868" cy="640080"/>
          </a:xfrm>
        </p:spPr>
        <p:txBody>
          <a:bodyPr rtlCol="0">
            <a:noAutofit/>
          </a:bodyPr>
          <a:lstStyle/>
          <a:p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Optimizer</a:t>
            </a:r>
            <a:endParaRPr lang="ko-KR" altLang="en-US" b="1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FF9961-7108-DC6D-FBD5-4479DA899F99}"/>
              </a:ext>
            </a:extLst>
          </p:cNvPr>
          <p:cNvSpPr txBox="1"/>
          <p:nvPr/>
        </p:nvSpPr>
        <p:spPr>
          <a:xfrm>
            <a:off x="543474" y="1433415"/>
            <a:ext cx="8295726" cy="4770537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import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torch.optim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as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optim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1. 설정 및 데이터 준비</a:t>
            </a:r>
          </a:p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learning_rate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epochs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0.01, 100</a:t>
            </a:r>
          </a:p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torch.randn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(1, 1,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requires_grad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True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),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torch.randn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(1,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requires_grad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True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Optimizer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정의 (여기서는 확률적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경사하강법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SGD 사용)</a:t>
            </a:r>
          </a:p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optimizer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torch.optim.SGD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([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],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learning_rate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Training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Loop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for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epoch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range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epochs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):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#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Forward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pass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y_hat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@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+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loss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torch.mean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y_hat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-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y_true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)**2)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# --- 핵심 세 줄 (The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Three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Lines) ---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optimizer.zero_grad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()  # 1. 기울기 초기화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loss.backward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()        # 2. 기울기 계산 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Backpropagation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optimizer.step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()       # 3. 파라미터 업데이트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382592-89FE-C19F-F26F-AD1B07F74070}"/>
              </a:ext>
            </a:extLst>
          </p:cNvPr>
          <p:cNvSpPr txBox="1"/>
          <p:nvPr/>
        </p:nvSpPr>
        <p:spPr>
          <a:xfrm>
            <a:off x="8371926" y="4880513"/>
            <a:ext cx="3552825" cy="1323439"/>
          </a:xfrm>
          <a:prstGeom prst="rect">
            <a:avLst/>
          </a:prstGeom>
          <a:solidFill>
            <a:schemeClr val="accent4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현재 학습된 가중치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(W)</a:t>
            </a:r>
            <a:r>
              <a:rPr lang="ko-KR" altLang="en-US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와 편향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(b)</a:t>
            </a:r>
            <a:endParaRPr lang="ko-KR" altLang="en-US" sz="16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print(</a:t>
            </a:r>
            <a:r>
              <a:rPr lang="en-US" altLang="ko-KR" sz="16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f"Weights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(W): {</a:t>
            </a:r>
            <a:r>
              <a:rPr lang="en-US" altLang="ko-KR" sz="16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W.data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“)</a:t>
            </a:r>
          </a:p>
          <a:p>
            <a:pPr>
              <a:buNone/>
            </a:pP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print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f"</a:t>
            </a:r>
            <a:r>
              <a:rPr lang="en-US" altLang="ko-KR" sz="16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Bias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(b): {</a:t>
            </a:r>
            <a:r>
              <a:rPr lang="en-US" altLang="ko-KR" sz="16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b.data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}")</a:t>
            </a:r>
            <a:endParaRPr lang="ko-KR" altLang="en-US" sz="16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미분 가능한지 정보</a:t>
            </a:r>
          </a:p>
          <a:p>
            <a:pPr>
              <a:buNone/>
            </a:pP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print(W,</a:t>
            </a:r>
            <a:r>
              <a:rPr lang="ko-KR" altLang="en-US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b)</a:t>
            </a:r>
            <a:endParaRPr lang="ko-KR" altLang="en-US" sz="16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791219B-0CEE-EDD2-761E-FD1FBCE22D08}"/>
              </a:ext>
            </a:extLst>
          </p:cNvPr>
          <p:cNvSpPr/>
          <p:nvPr/>
        </p:nvSpPr>
        <p:spPr>
          <a:xfrm>
            <a:off x="958593" y="5342037"/>
            <a:ext cx="6356607" cy="81429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667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CE097-C711-6CF6-8DE7-2B7B8AD1B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0502C0A7-A6A8-B895-32F2-0FA366C806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39</a:t>
            </a:fld>
            <a:endParaRPr lang="ko-KR" altLang="en-US" noProof="0"/>
          </a:p>
        </p:txBody>
      </p:sp>
      <p:sp>
        <p:nvSpPr>
          <p:cNvPr id="9" name="제목 7">
            <a:extLst>
              <a:ext uri="{FF2B5EF4-FFF2-40B4-BE49-F238E27FC236}">
                <a16:creationId xmlns:a16="http://schemas.microsoft.com/office/drawing/2014/main" id="{43FBE808-6515-6DB7-0F50-D8426B9CE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3888868" cy="640080"/>
          </a:xfrm>
        </p:spPr>
        <p:txBody>
          <a:bodyPr rtlCol="0">
            <a:noAutofit/>
          </a:bodyPr>
          <a:lstStyle/>
          <a:p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model (like pro)</a:t>
            </a:r>
            <a:endParaRPr lang="ko-KR" altLang="en-US" b="1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327140-F2A9-19E7-B045-CFFC37E9B382}"/>
              </a:ext>
            </a:extLst>
          </p:cNvPr>
          <p:cNvSpPr txBox="1"/>
          <p:nvPr/>
        </p:nvSpPr>
        <p:spPr>
          <a:xfrm>
            <a:off x="600253" y="1371860"/>
            <a:ext cx="5030260" cy="4832092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import torch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import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torch.nn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as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nn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import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torch.optim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as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optim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모델 클래스 정의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nn.Module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상속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class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LinearRegressionModel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nn.Module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):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def __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init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__(self):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super(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LinearRegressionModel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self).__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init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__()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# W, b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를 자동 생성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Linear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레이어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입력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1,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출력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1)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self.linear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nn.Linear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(1, 1)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def forward(self, x):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# 1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단계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예측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y_hat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X @ W + b)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return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self.linear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(x)</a:t>
            </a:r>
          </a:p>
          <a:p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learning_rate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0.01; epochs = 100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model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LinearRegressionModel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손실 함수 정의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(Mean Squared Error)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criterion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nn.MSELoss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F9E2D7-CAE7-EBF8-88FC-ED6E4DF6D0C7}"/>
              </a:ext>
            </a:extLst>
          </p:cNvPr>
          <p:cNvSpPr txBox="1"/>
          <p:nvPr/>
        </p:nvSpPr>
        <p:spPr>
          <a:xfrm>
            <a:off x="6400897" y="1371860"/>
            <a:ext cx="5190850" cy="4616648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옵티마이저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정의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(SGD)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optimizer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optim.SGD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model.parameters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(),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learning_rate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학습 루프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(Training Loop)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for epoch in range(epochs):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optimizer.zero_grad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() 	#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기울기 초기화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y_hat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model(X)      	#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모델을 통한 예측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loss = criterion(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y_hat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y_true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 	#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손실 계산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loss.backward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()        	#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역전파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기울기 계산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optimizer.step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()       	#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파라미터 업데이트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if (epoch + 1) % 10 == 0: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print(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f'Epoch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[{epoch+1}/{epochs}], Loss: {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loss.item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():.4f}’)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모델 저장 및 확인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print("\n[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학습된 파라미터 확인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]")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print(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model.state_dict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())</a:t>
            </a:r>
          </a:p>
          <a:p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torch.save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model.state_dict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(), '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model.pth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')</a:t>
            </a:r>
          </a:p>
        </p:txBody>
      </p:sp>
    </p:spTree>
    <p:extLst>
      <p:ext uri="{BB962C8B-B14F-4D97-AF65-F5344CB8AC3E}">
        <p14:creationId xmlns:p14="http://schemas.microsoft.com/office/powerpoint/2010/main" val="3543152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ECCFD-463F-7127-518A-5DC5407A9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99266F11-C291-BAA9-5735-0A5A7CFF4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 err="1">
                <a:cs typeface="Segoe UI Light" panose="020B0502040204020203" pitchFamily="34" charset="0"/>
              </a:rPr>
              <a:t>pytorch</a:t>
            </a:r>
            <a:r>
              <a:rPr lang="ko-KR" altLang="en-US" dirty="0">
                <a:cs typeface="Segoe UI Light" panose="020B0502040204020203" pitchFamily="34" charset="0"/>
              </a:rPr>
              <a:t> </a:t>
            </a:r>
            <a:r>
              <a:rPr lang="en-US" altLang="ko-KR" dirty="0">
                <a:cs typeface="Segoe UI Light" panose="020B0502040204020203" pitchFamily="34" charset="0"/>
              </a:rPr>
              <a:t>tutorial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2A3FE8-AC2B-31B3-C63B-4CF02B6CB5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40</a:t>
            </a:fld>
            <a:endParaRPr lang="ko-KR" altLang="en-US" noProof="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DBC71BA-4391-0FA8-6E62-1CDC58F5E7DD}"/>
              </a:ext>
            </a:extLst>
          </p:cNvPr>
          <p:cNvSpPr txBox="1"/>
          <p:nvPr/>
        </p:nvSpPr>
        <p:spPr>
          <a:xfrm>
            <a:off x="950697" y="1402638"/>
            <a:ext cx="10553194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Installation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Tensor Basics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Autograd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Backpropagation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Gradient Descent With </a:t>
            </a:r>
            <a:r>
              <a:rPr lang="en-US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Autograd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and Backpropagation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Training Pipeline: Model, Loss, and Optimizer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Linear Regression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Logistic Regression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Dataset and </a:t>
            </a:r>
            <a:r>
              <a:rPr lang="en-US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DataLoader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Dataset Transforms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Softmax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And Cross Entropy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Activation Functions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Feed-Forward Neural Net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Convolutional Neural Net (CNN)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Transfer Learning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Tensorboard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Save and Load Models</a:t>
            </a:r>
          </a:p>
          <a:p>
            <a:pPr marL="342900" indent="-342900">
              <a:buFont typeface="+mj-lt"/>
              <a:buAutoNum type="arabicPeriod"/>
            </a:pP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r>
              <a:rPr lang="en-US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pytorch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61090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23_TF10001108_Win32.potx" id="{89E2DA47-811B-41FC-8101-7BA0FB62AE2C}" vid="{0AAAB8A4-2457-4279-BA92-56392840B1F0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{9FD8D820-F221-4C2D-97F8-71B66FDCF583}TF2989475c-5427-4edb-9ec1-00f4ce72165be756b0ce_win32-2ff1dad8fff0</Template>
  <TotalTime>2615</TotalTime>
  <Words>1100</Words>
  <Application>Microsoft Office PowerPoint</Application>
  <PresentationFormat>와이드스크린</PresentationFormat>
  <Paragraphs>260</Paragraphs>
  <Slides>40</Slides>
  <Notes>40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40</vt:i4>
      </vt:variant>
    </vt:vector>
  </HeadingPairs>
  <TitlesOfParts>
    <vt:vector size="46" baseType="lpstr">
      <vt:lpstr>D2Coding</vt:lpstr>
      <vt:lpstr>맑은 고딕</vt:lpstr>
      <vt:lpstr>맑은 고딕 Semilight</vt:lpstr>
      <vt:lpstr>Arial</vt:lpstr>
      <vt:lpstr>Segoe UI Light</vt:lpstr>
      <vt:lpstr>WelcomeDoc</vt:lpstr>
      <vt:lpstr>Deep Learning II</vt:lpstr>
      <vt:lpstr>The Forward Pass</vt:lpstr>
      <vt:lpstr> 5 STEP RECIPE From Scratch</vt:lpstr>
      <vt:lpstr>The Forward Pass</vt:lpstr>
      <vt:lpstr>The Forward Pass</vt:lpstr>
      <vt:lpstr>The Forward Pass</vt:lpstr>
      <vt:lpstr>The Forward Pass</vt:lpstr>
      <vt:lpstr>Generate Data</vt:lpstr>
      <vt:lpstr>The Forward Pass</vt:lpstr>
      <vt:lpstr>The Forward Pass</vt:lpstr>
      <vt:lpstr>The Forward Pass</vt:lpstr>
      <vt:lpstr>The Forward Pass</vt:lpstr>
      <vt:lpstr>The Forward Pass</vt:lpstr>
      <vt:lpstr>The Backward Pass</vt:lpstr>
      <vt:lpstr>The Backward Pass</vt:lpstr>
      <vt:lpstr>The Backward Pass</vt:lpstr>
      <vt:lpstr>The Backward Pass</vt:lpstr>
      <vt:lpstr>The Backward Pass</vt:lpstr>
      <vt:lpstr>The Backward Pass</vt:lpstr>
      <vt:lpstr>The Backward Pass</vt:lpstr>
      <vt:lpstr>The Backward Pass</vt:lpstr>
      <vt:lpstr>The Backward Pass</vt:lpstr>
      <vt:lpstr>The Backward Pass</vt:lpstr>
      <vt:lpstr>The Backward Pass</vt:lpstr>
      <vt:lpstr>The Backward Pass</vt:lpstr>
      <vt:lpstr>The Backward Pass</vt:lpstr>
      <vt:lpstr>The Backward Pass</vt:lpstr>
      <vt:lpstr>The Backward Pass</vt:lpstr>
      <vt:lpstr>The Backward Pass</vt:lpstr>
      <vt:lpstr>The Backward Pass</vt:lpstr>
      <vt:lpstr>The Backward Pass</vt:lpstr>
      <vt:lpstr>The Backward Pass</vt:lpstr>
      <vt:lpstr>The Training Loop </vt:lpstr>
      <vt:lpstr>The Training Loop </vt:lpstr>
      <vt:lpstr>The Entire Training Process </vt:lpstr>
      <vt:lpstr>The Training Loop </vt:lpstr>
      <vt:lpstr>The Training Loop </vt:lpstr>
      <vt:lpstr>Optimizer</vt:lpstr>
      <vt:lpstr>model (like pro)</vt:lpstr>
      <vt:lpstr>pytorch tutorial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조상구</dc:creator>
  <cp:keywords/>
  <cp:lastModifiedBy>Sanggoo Cho</cp:lastModifiedBy>
  <cp:revision>80</cp:revision>
  <dcterms:created xsi:type="dcterms:W3CDTF">2026-04-06T01:00:39Z</dcterms:created>
  <dcterms:modified xsi:type="dcterms:W3CDTF">2026-04-27T14:13:15Z</dcterms:modified>
  <cp:version/>
</cp:coreProperties>
</file>