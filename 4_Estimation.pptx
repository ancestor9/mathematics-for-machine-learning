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6" r:id="rId5"/>
    <p:sldId id="367" r:id="rId6"/>
    <p:sldId id="361" r:id="rId7"/>
    <p:sldId id="368" r:id="rId8"/>
    <p:sldId id="314" r:id="rId9"/>
    <p:sldId id="366" r:id="rId10"/>
    <p:sldId id="272" r:id="rId11"/>
    <p:sldId id="273" r:id="rId12"/>
    <p:sldId id="274" r:id="rId13"/>
    <p:sldId id="275" r:id="rId14"/>
    <p:sldId id="277" r:id="rId15"/>
    <p:sldId id="362" r:id="rId16"/>
    <p:sldId id="369" r:id="rId17"/>
    <p:sldId id="278" r:id="rId18"/>
    <p:sldId id="370" r:id="rId19"/>
    <p:sldId id="371" r:id="rId20"/>
    <p:sldId id="372" r:id="rId21"/>
    <p:sldId id="363" r:id="rId22"/>
    <p:sldId id="279" r:id="rId23"/>
    <p:sldId id="364" r:id="rId24"/>
    <p:sldId id="281" r:id="rId25"/>
    <p:sldId id="365" r:id="rId26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73" autoAdjust="0"/>
    <p:restoredTop sz="94660"/>
  </p:normalViewPr>
  <p:slideViewPr>
    <p:cSldViewPr>
      <p:cViewPr varScale="1">
        <p:scale>
          <a:sx n="85" d="100"/>
          <a:sy n="85" d="100"/>
        </p:scale>
        <p:origin x="883" y="58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90" d="100"/>
          <a:sy n="90" d="100"/>
        </p:scale>
        <p:origin x="281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A85425-0F1F-4C65-805F-C7280B9ECE9F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2026-04-08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8ED8CD-4E4C-49AC-BDC6-2963BA49E54F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9DBE7D5-AA2D-4B26-8C69-8B60D39FD5EE}" type="datetime1">
              <a:rPr lang="ko-KR" altLang="en-US" smtClean="0"/>
              <a:pPr/>
              <a:t>2026-04-08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B91549-43BF-425A-AF25-75262019208C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14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758FD-2C12-1255-2213-930ACA980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91F035-FBFF-018B-062F-FF5CF7C2D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38ECAE-F9D4-7DB5-E691-AFFDA64BF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2181B1-B00E-C719-0EF9-5FEAA0355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9972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64F9D-56F3-951B-50D6-A387C6DB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C41E97-65AE-AFF8-F9CE-0EBF59907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491CBB-2C0A-B61E-F741-0D34DDCD8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277E39-D60D-B26E-335C-19610E5427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701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639D0-F699-8809-3719-F8E445C76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3FB303-7948-E37D-0C0F-F8DD25156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83EB6C-5742-6DC9-A310-DB05D80EB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DCAF1B-A07E-983D-4871-70EE64A6E9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484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3B65B-4D46-A4B6-4A55-CF7F725D8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EC8E50-C409-8198-1011-7B049358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BC7159-0CFA-4FF6-3C88-1A3B88DBE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161A9-E2C3-ED47-AF62-F9F227017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7275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87B48-8513-9B9E-4380-3E3374508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F1336B-6871-F396-D140-FD7AD04F5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E6D0FA-0181-2A77-D825-163A3FFE9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764640-F1C9-5255-D057-4BD377B261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3473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2635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2811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9237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8120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9391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9997E-FCBA-57BD-FA26-6E0D97434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C5868B-65CA-7446-67AA-687959BA6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53A8AB-378C-BFC6-6F41-4B8191A69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8861B1-46FB-45DE-209A-49F5883A2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95812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9873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3997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23442-A5EC-0FAD-F94B-E1A10A7B0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62C5AE-96F6-A968-5ACC-FA1847E7CA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AC4473-587F-1D61-5A0E-C02468D11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EC91CB-DDF0-00B9-9E06-B7F5D57FB7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5089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939FB-546E-2250-712A-55136F037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C70418-8F36-BBD6-E31F-7FA7C79DA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3D12AF-48F0-0001-592D-692CB10D6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1F92F5-B689-744D-67AB-9030A526CE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02465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F794A-4B67-554B-2857-A5FC16BA6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7FDCB3-6052-3F4F-9110-A582273FF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E432C9-D0A8-0BE1-41E0-26F2DCBC5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D509EC-14BC-0FC9-60D6-A050BEA32A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00849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AA8D9-600A-F975-AF39-7C4A71BDC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17B488-9014-47F4-B025-68110CD11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4C337A-0E33-780B-F888-436B2DCF5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3F98F-1801-D05E-7B68-8901BBFD81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21423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58689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B0E1B-93AF-FF85-F781-97C74771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8BEF73-EC5B-45F0-8957-614B1CF49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1D8B4C-753F-4EC2-9EB9-1B5812533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0A74EC-1E8C-0429-EE5F-0040A8C47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0903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15531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EC3E5-1FC4-3931-3614-A706DB64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6B2BAB-1785-A207-B681-4BCABEA62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9899FA-1451-2BED-2B0B-D845302ED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4EF80B-F482-CBA7-1243-C185C23344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1770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유리 벽으로 된 건물로 둘러싸인 파란 하늘과 구름을 아래에서 올려다본 사진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 rtlCol="0">
            <a:normAutofit/>
          </a:bodyPr>
          <a:lstStyle>
            <a:lvl1pPr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29CEB-779D-4AB3-81CB-8FCEEAE03F61}" type="datetime1">
              <a:rPr lang="ko-KR" altLang="en-US" smtClean="0"/>
              <a:t>2026-04-08</a:t>
            </a:fld>
            <a:endParaRPr lang="ko-KR" altLang="en-US" dirty="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6306AB-75A0-421C-B431-0E4E30A5C28E}" type="datetime1">
              <a:rPr lang="ko-KR" altLang="en-US" noProof="0" smtClean="0"/>
              <a:t>2026-04-08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rtlCol="0" anchor="b">
            <a:normAutofit/>
          </a:bodyPr>
          <a:lstStyle>
            <a:lvl1pPr algn="l">
              <a:defRPr sz="4800" b="0" cap="none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rtlCol="0" anchor="t">
            <a:normAutofit/>
          </a:bodyPr>
          <a:lstStyle>
            <a:lvl1pPr marL="0" indent="0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D969EE-F1EB-462E-B70D-5B36B3806A4E}" type="datetime1">
              <a:rPr lang="ko-KR" altLang="en-US" noProof="0" smtClean="0"/>
              <a:t>2026-04-08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pPr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 rtlCol="0"/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CBB1B7-E0A1-46A3-B5B5-C69931095FF6}" type="datetime1">
              <a:rPr lang="ko-KR" altLang="en-US" noProof="0" smtClean="0"/>
              <a:t>2026-04-08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FC0E65-06AB-44D7-AAEE-8F4C7ED84A0C}" type="datetime1">
              <a:rPr lang="ko-KR" altLang="en-US" noProof="0" smtClean="0"/>
              <a:t>2026-04-08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189E66-D439-4767-B911-EB49CB20E313}" type="datetime1">
              <a:rPr lang="ko-KR" altLang="en-US" noProof="0" smtClean="0"/>
              <a:t>2026-04-08</a:t>
            </a:fld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E4FFC0-DB28-4291-80A0-63DBF8428320}" type="datetime1">
              <a:rPr lang="ko-KR" altLang="en-US" noProof="0" smtClean="0"/>
              <a:t>2026-04-08</a:t>
            </a:fld>
            <a:endParaRPr lang="ko-KR" altLang="en-US" noProof="0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 rtlCol="0">
            <a:normAutofit/>
          </a:bodyPr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B5804B-C38E-4214-93DF-3E6DA00134E8}" type="datetime1">
              <a:rPr lang="ko-KR" altLang="en-US" noProof="0" smtClean="0"/>
              <a:t>2026-04-08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BEE384-F18F-4153-AC21-608599869F84}" type="datetime1">
              <a:rPr lang="ko-KR" altLang="en-US" noProof="0" smtClean="0"/>
              <a:t>2026-04-08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B7A883-0BF0-4B4B-84D5-D747A0111A56}" type="datetime1">
              <a:rPr lang="ko-KR" altLang="en-US" noProof="0" smtClean="0"/>
              <a:t>2026-04-08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A7EA29-F2BB-4FB1-BB4B-C55A7FA3FC5C}" type="datetime1">
              <a:rPr lang="ko-KR" altLang="en-US" noProof="0" smtClean="0"/>
              <a:t>2026-04-08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7A4C69-65FB-481C-AC2A-84D254D33675}" type="datetime1">
              <a:rPr lang="ko-KR" altLang="en-US" smtClean="0"/>
              <a:t>2026-04-08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15950" indent="-28575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996696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380744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764792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148840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hyperlink" Target="https://www.mathsisfun.com/data/confidence-interval.html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hyperlink" Target="https://www.mathsisfun.com/data/index.html#stats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eamstime.com/illustration/ringer-horseshoe-game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hyperlink" Target="https://www.rossmanchance.com/applets/2021/confsim/ConfSim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hyperlink" Target="https://www.omnicalculator.com/statistics/confidence-interval" TargetMode="External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.jpeg"/><Relationship Id="rId4" Type="http://schemas.openxmlformats.org/officeDocument/2006/relationships/hyperlink" Target="https://www.omnicalculator.com/statistics/confidence-interval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.jpeg"/><Relationship Id="rId4" Type="http://schemas.openxmlformats.org/officeDocument/2006/relationships/hyperlink" Target="https://www.omnicalculator.com/statistics/confidence-interval" TargetMode="External"/><Relationship Id="rId9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log.naver.com/angryking/222425038366" TargetMode="Externa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2959223"/>
          </a:xfrm>
        </p:spPr>
        <p:txBody>
          <a:bodyPr rtlCol="0">
            <a:normAutofit/>
          </a:bodyPr>
          <a:lstStyle/>
          <a:p>
            <a:r>
              <a:rPr lang="ko-KR" altLang="en-US" b="1" dirty="0"/>
              <a:t>통계학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3200" b="1" dirty="0"/>
              <a:t>- </a:t>
            </a:r>
            <a:r>
              <a:rPr lang="ko-KR" altLang="en-US" sz="3200" b="1" dirty="0"/>
              <a:t>추정</a:t>
            </a:r>
            <a:r>
              <a:rPr lang="en-US" altLang="ko-KR" sz="3200" b="1" dirty="0"/>
              <a:t>(Estimation)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- </a:t>
            </a:r>
            <a:br>
              <a:rPr lang="en-US" altLang="ko-KR" dirty="0"/>
            </a:br>
            <a:endParaRPr lang="ko-KR" altLang="en-US" sz="2400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589537" y="4293096"/>
            <a:ext cx="3962400" cy="2016224"/>
          </a:xfrm>
        </p:spPr>
        <p:txBody>
          <a:bodyPr rtlCol="0">
            <a:normAutofit/>
          </a:bodyPr>
          <a:lstStyle/>
          <a:p>
            <a:pPr>
              <a:lnSpc>
                <a:spcPct val="120000"/>
              </a:lnSpc>
            </a:pPr>
            <a:br>
              <a:rPr lang="en-US" altLang="ko-KR" dirty="0"/>
            </a:br>
            <a:r>
              <a:rPr lang="en-US" altLang="ko-KR" dirty="0"/>
              <a:t>2026_Spring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 rtl="0">
              <a:lnSpc>
                <a:spcPct val="120000"/>
              </a:lnSpc>
            </a:pPr>
            <a:r>
              <a:rPr lang="ko-KR" altLang="en-US" dirty="0" err="1"/>
              <a:t>조상구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EFBF4-C854-8B0C-402B-64EA26703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F9FE9E7-8E5C-1FC2-1EE6-F20BF189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FF4407-06FD-C08E-3FB8-E256F08DB85E}"/>
              </a:ext>
            </a:extLst>
          </p:cNvPr>
          <p:cNvSpPr txBox="1"/>
          <p:nvPr/>
        </p:nvSpPr>
        <p:spPr>
          <a:xfrm>
            <a:off x="246509" y="198588"/>
            <a:ext cx="11191750" cy="660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Summary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BF83CB-FCBF-055A-5E05-21C631832BD5}"/>
              </a:ext>
            </a:extLst>
          </p:cNvPr>
          <p:cNvSpPr/>
          <p:nvPr/>
        </p:nvSpPr>
        <p:spPr>
          <a:xfrm>
            <a:off x="4870276" y="836712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통계학</a:t>
            </a:r>
            <a:endParaRPr lang="ko-KR" altLang="en-US" sz="32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79824AE-C6FC-79CD-A30A-40E889349193}"/>
              </a:ext>
            </a:extLst>
          </p:cNvPr>
          <p:cNvSpPr/>
          <p:nvPr/>
        </p:nvSpPr>
        <p:spPr>
          <a:xfrm>
            <a:off x="1413892" y="2420888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기술통계</a:t>
            </a:r>
            <a:endParaRPr lang="ko-KR" altLang="en-US" sz="32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C41D334-29FF-4873-077B-1CA764FC20AA}"/>
              </a:ext>
            </a:extLst>
          </p:cNvPr>
          <p:cNvSpPr/>
          <p:nvPr/>
        </p:nvSpPr>
        <p:spPr>
          <a:xfrm>
            <a:off x="8398668" y="2420888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추론통계</a:t>
            </a:r>
            <a:endParaRPr lang="ko-KR" altLang="en-US" sz="32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628176-F633-25A0-F7CB-B44223ECE667}"/>
              </a:ext>
            </a:extLst>
          </p:cNvPr>
          <p:cNvSpPr/>
          <p:nvPr/>
        </p:nvSpPr>
        <p:spPr>
          <a:xfrm>
            <a:off x="9856113" y="4049950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가설검정</a:t>
            </a:r>
            <a:endParaRPr lang="ko-KR" altLang="en-US" sz="28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4138A7-8A11-225A-36D5-14E270727BAE}"/>
              </a:ext>
            </a:extLst>
          </p:cNvPr>
          <p:cNvSpPr/>
          <p:nvPr/>
        </p:nvSpPr>
        <p:spPr>
          <a:xfrm>
            <a:off x="6526460" y="4049950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추정</a:t>
            </a:r>
            <a:endParaRPr lang="ko-KR" altLang="en-US" sz="28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DC9EE40-F079-ED83-22D5-957CBE13B387}"/>
              </a:ext>
            </a:extLst>
          </p:cNvPr>
          <p:cNvSpPr/>
          <p:nvPr/>
        </p:nvSpPr>
        <p:spPr>
          <a:xfrm>
            <a:off x="5215061" y="5517232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점 추정</a:t>
            </a:r>
            <a:endParaRPr lang="ko-KR" altLang="en-US" sz="24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7FCA7F-CA07-F0BA-17EE-A0120E977AEE}"/>
              </a:ext>
            </a:extLst>
          </p:cNvPr>
          <p:cNvSpPr/>
          <p:nvPr/>
        </p:nvSpPr>
        <p:spPr>
          <a:xfrm>
            <a:off x="7678588" y="5517232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구간 추정</a:t>
            </a:r>
            <a:endParaRPr lang="ko-KR" altLang="en-US" sz="24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79974693-FA6C-1B23-6CAE-B0D257ECD77F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5400000">
            <a:off x="3574132" y="152636"/>
            <a:ext cx="1080120" cy="3456384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8C593572-D7B4-2E80-44D4-089E8626D8F4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16200000" flipH="1">
            <a:off x="7066520" y="116632"/>
            <a:ext cx="1080120" cy="3528392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4895DAF6-3C2C-DE41-F201-F449A30C8BC2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5400000">
            <a:off x="7872169" y="2551343"/>
            <a:ext cx="1125006" cy="1872208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80DFB1D7-9D5F-44C8-960C-163848C3219C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rot="16200000" flipH="1">
            <a:off x="9536995" y="2758724"/>
            <a:ext cx="1125006" cy="1457445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770B1B04-1989-43E7-958B-11AB127AA072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5400000">
            <a:off x="6361256" y="4379920"/>
            <a:ext cx="963226" cy="1311399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36C17717-5923-BF72-668E-9BBB810AE42C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rot="16200000" flipH="1">
            <a:off x="7593019" y="4459555"/>
            <a:ext cx="963226" cy="1152128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F455240-824F-1FFC-FDF1-FF857BFE6523}"/>
              </a:ext>
            </a:extLst>
          </p:cNvPr>
          <p:cNvSpPr txBox="1"/>
          <p:nvPr/>
        </p:nvSpPr>
        <p:spPr>
          <a:xfrm>
            <a:off x="1256042" y="3362479"/>
            <a:ext cx="207620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모집단과</a:t>
            </a:r>
            <a:r>
              <a:rPr lang="en-US" altLang="ko-KR" sz="1400" dirty="0"/>
              <a:t> </a:t>
            </a:r>
            <a:r>
              <a:rPr lang="ko-KR" altLang="en-US" sz="1400" dirty="0"/>
              <a:t>표본</a:t>
            </a:r>
            <a:r>
              <a:rPr lang="en-US" altLang="ko-KR" sz="1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평균</a:t>
            </a:r>
            <a:r>
              <a:rPr lang="en-US" altLang="ko-KR" sz="1400" dirty="0"/>
              <a:t>, </a:t>
            </a:r>
            <a:r>
              <a:rPr lang="ko-KR" altLang="en-US" sz="1400" dirty="0"/>
              <a:t>분산</a:t>
            </a:r>
            <a:r>
              <a:rPr lang="en-US" altLang="ko-KR" sz="1400" dirty="0"/>
              <a:t>, </a:t>
            </a:r>
            <a:r>
              <a:rPr lang="ko-KR" altLang="en-US" sz="1400" dirty="0"/>
              <a:t>표준편차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기술 통계량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히스토그램</a:t>
            </a:r>
            <a:r>
              <a:rPr lang="en-US" altLang="ko-KR" sz="1400" dirty="0"/>
              <a:t>. </a:t>
            </a:r>
            <a:r>
              <a:rPr lang="ko-KR" altLang="en-US" sz="1400" dirty="0"/>
              <a:t>산포도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상관관계</a:t>
            </a:r>
            <a:r>
              <a:rPr lang="en-US" altLang="ko-KR" sz="1400" dirty="0"/>
              <a:t>, </a:t>
            </a:r>
            <a:r>
              <a:rPr lang="ko-KR" altLang="en-US" sz="1400" dirty="0"/>
              <a:t>공분산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A5CDD18-9280-6EB1-D8BD-A56DE168DF14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358108" y="2672916"/>
            <a:ext cx="50405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D5A98A7-C86E-3D41-319D-BA1E4ECEC36E}"/>
              </a:ext>
            </a:extLst>
          </p:cNvPr>
          <p:cNvSpPr/>
          <p:nvPr/>
        </p:nvSpPr>
        <p:spPr>
          <a:xfrm>
            <a:off x="4894706" y="2420887"/>
            <a:ext cx="1944216" cy="50405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확률론</a:t>
            </a:r>
            <a:endParaRPr lang="ko-KR" altLang="en-US" sz="32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99A9F2-C66D-BE34-1C34-A3E25F200FBA}"/>
              </a:ext>
            </a:extLst>
          </p:cNvPr>
          <p:cNvSpPr txBox="1"/>
          <p:nvPr/>
        </p:nvSpPr>
        <p:spPr>
          <a:xfrm>
            <a:off x="4849771" y="3376616"/>
            <a:ext cx="1191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확률변수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확률분포</a:t>
            </a:r>
          </a:p>
        </p:txBody>
      </p:sp>
    </p:spTree>
    <p:extLst>
      <p:ext uri="{BB962C8B-B14F-4D97-AF65-F5344CB8AC3E}">
        <p14:creationId xmlns:p14="http://schemas.microsoft.com/office/powerpoint/2010/main" val="335798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26249-DF82-F305-751E-127F3A71C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5A9C867-CB37-476A-DE58-40E42281C49F}"/>
              </a:ext>
            </a:extLst>
          </p:cNvPr>
          <p:cNvSpPr/>
          <p:nvPr/>
        </p:nvSpPr>
        <p:spPr>
          <a:xfrm>
            <a:off x="598421" y="1484784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8B211BD-7338-379D-8BC3-3149D048B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786082-2314-C632-A520-B7C165520AFC}"/>
              </a:ext>
            </a:extLst>
          </p:cNvPr>
          <p:cNvSpPr txBox="1"/>
          <p:nvPr/>
        </p:nvSpPr>
        <p:spPr>
          <a:xfrm>
            <a:off x="1629916" y="147612"/>
            <a:ext cx="8928992" cy="538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추정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(Estimation)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점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추정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(Point Estimation)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구간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추정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(Interval Estimation)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신뢰구간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(Confidence Interval)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P-value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469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46073-7279-7FC6-6076-BD1A511E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0BE6BBF-95E7-CFFF-A607-ABAB58CB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</a:t>
            </a:fld>
            <a:endParaRPr lang="en-US" altLang="ko-KR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A6F860-9205-44B2-9458-977C5E64335E}"/>
              </a:ext>
            </a:extLst>
          </p:cNvPr>
          <p:cNvSpPr txBox="1"/>
          <p:nvPr/>
        </p:nvSpPr>
        <p:spPr>
          <a:xfrm>
            <a:off x="117748" y="260648"/>
            <a:ext cx="11521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추정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(Estimation) : Quiz</a:t>
            </a:r>
            <a:endParaRPr lang="ko-KR" altLang="en-US" sz="32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EB9E82-688B-ADBB-0D67-CCBDC1A92689}"/>
              </a:ext>
            </a:extLst>
          </p:cNvPr>
          <p:cNvSpPr txBox="1"/>
          <p:nvPr/>
        </p:nvSpPr>
        <p:spPr>
          <a:xfrm>
            <a:off x="4117068" y="1877979"/>
            <a:ext cx="23996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confidence-interval.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F3F11B-9B57-937F-56F9-9C49A7E19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0196" y="2364302"/>
            <a:ext cx="6324946" cy="36375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D182C9-95DC-50D0-9771-D49F55BD40F1}"/>
              </a:ext>
            </a:extLst>
          </p:cNvPr>
          <p:cNvSpPr txBox="1"/>
          <p:nvPr/>
        </p:nvSpPr>
        <p:spPr>
          <a:xfrm>
            <a:off x="4117068" y="611392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source : 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https://www.mathsisfun.com/data/index.html#stats</a:t>
            </a:r>
            <a:r>
              <a:rPr lang="ko-KR" altLang="en-US" sz="12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7D1D14-2658-C448-44A6-4D15DC65B523}"/>
              </a:ext>
            </a:extLst>
          </p:cNvPr>
          <p:cNvSpPr txBox="1"/>
          <p:nvPr/>
        </p:nvSpPr>
        <p:spPr>
          <a:xfrm>
            <a:off x="693812" y="1709421"/>
            <a:ext cx="3273234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표본의 크기가 커지면 신뢰구간의 크기는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80%,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95%, 99%, 100%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신뢰구간의 크기는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1D181E2-2F89-86C8-6BA4-B634A34D1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래픽 13" descr="전구 및 기어">
            <a:extLst>
              <a:ext uri="{FF2B5EF4-FFF2-40B4-BE49-F238E27FC236}">
                <a16:creationId xmlns:a16="http://schemas.microsoft.com/office/drawing/2014/main" id="{F168260D-B7FB-7755-43BD-28CCD3DE4D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6612" y="90922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0E2C1-BB1A-4FCC-4EBC-8B540F59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2F7740F9-27E4-C53E-CB3B-D47E195CF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883" y="2025771"/>
            <a:ext cx="8183021" cy="3937695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F241B0-03F6-4174-6351-DEA7C302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69E69D-4C2D-C812-DDC5-4721F324AC9B}"/>
              </a:ext>
            </a:extLst>
          </p:cNvPr>
          <p:cNvSpPr txBox="1"/>
          <p:nvPr/>
        </p:nvSpPr>
        <p:spPr>
          <a:xfrm>
            <a:off x="387634" y="1057456"/>
            <a:ext cx="11191750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표본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(Sample)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으로부터 얻은 정보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통계량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바탕으로 우리가 직접 확인할 수 없는 모집단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(Population)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특성인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(Parameter)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추정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(Estimate)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하는 과정으로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점추정과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구간추정이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있음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88E14C8-D847-8386-AF10-B67948C80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173" y="5290763"/>
            <a:ext cx="1562186" cy="47287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244365C-50E4-FE33-6E55-3A63E827AB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367" y="5373860"/>
            <a:ext cx="1200453" cy="40464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8CA8D10-EEED-BFF4-9620-A60E713E16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6649" y="4814616"/>
            <a:ext cx="1065642" cy="51248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9C56E69-4866-ACDC-66C9-09E7DD22E0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3197" y="4828243"/>
            <a:ext cx="1170979" cy="513882"/>
          </a:xfrm>
          <a:prstGeom prst="rect">
            <a:avLst/>
          </a:prstGeom>
        </p:spPr>
      </p:pic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CB68CFCC-51B8-9ADE-A862-33AB5157120C}"/>
              </a:ext>
            </a:extLst>
          </p:cNvPr>
          <p:cNvCxnSpPr>
            <a:cxnSpLocks/>
            <a:stCxn id="31" idx="2"/>
            <a:endCxn id="33" idx="2"/>
          </p:cNvCxnSpPr>
          <p:nvPr/>
        </p:nvCxnSpPr>
        <p:spPr>
          <a:xfrm rot="5400000">
            <a:off x="5342974" y="3541658"/>
            <a:ext cx="422756" cy="4248472"/>
          </a:xfrm>
          <a:prstGeom prst="bentConnector3">
            <a:avLst>
              <a:gd name="adj1" fmla="val 154074"/>
            </a:avLst>
          </a:prstGeom>
          <a:ln w="28575">
            <a:solidFill>
              <a:srgbClr val="0070C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789674A-A293-AAF4-63E2-45D1C3A1DA84}"/>
              </a:ext>
            </a:extLst>
          </p:cNvPr>
          <p:cNvSpPr txBox="1"/>
          <p:nvPr/>
        </p:nvSpPr>
        <p:spPr>
          <a:xfrm>
            <a:off x="6814492" y="5085184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4EE4B9-6EFF-6D7D-BFB7-C176B643F6B2}"/>
              </a:ext>
            </a:extLst>
          </p:cNvPr>
          <p:cNvSpPr txBox="1"/>
          <p:nvPr/>
        </p:nvSpPr>
        <p:spPr>
          <a:xfrm>
            <a:off x="2566020" y="5507940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03C50B-5D70-FE55-B239-837D71B20DFC}"/>
              </a:ext>
            </a:extLst>
          </p:cNvPr>
          <p:cNvSpPr txBox="1"/>
          <p:nvPr/>
        </p:nvSpPr>
        <p:spPr>
          <a:xfrm>
            <a:off x="6264245" y="5597584"/>
            <a:ext cx="2091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추정</a:t>
            </a:r>
            <a:r>
              <a:rPr lang="en-US" altLang="ko-KR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(Estimation)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520330-6716-566F-04D7-966CD4390CB1}"/>
              </a:ext>
            </a:extLst>
          </p:cNvPr>
          <p:cNvSpPr txBox="1"/>
          <p:nvPr/>
        </p:nvSpPr>
        <p:spPr>
          <a:xfrm>
            <a:off x="117748" y="260648"/>
            <a:ext cx="11521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모수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추정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(Parameter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Estimation)</a:t>
            </a:r>
            <a:endParaRPr lang="ko-KR" altLang="en-US" sz="32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090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54015-ADDA-92BD-7F38-1BEC743F1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CB4D634-499F-CD50-C036-D96BD5B63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71" y="1306143"/>
            <a:ext cx="6958934" cy="5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587F499-F5E0-E97A-9C8F-E31A474C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</a:t>
            </a:fld>
            <a:endParaRPr lang="en-US" altLang="ko-K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3E592A-440A-E612-612A-AEDC2A1FF057}"/>
              </a:ext>
            </a:extLst>
          </p:cNvPr>
          <p:cNvSpPr txBox="1"/>
          <p:nvPr/>
        </p:nvSpPr>
        <p:spPr>
          <a:xfrm>
            <a:off x="117748" y="260648"/>
            <a:ext cx="11521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추정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(Estimation)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종류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AE5862-B20E-9A87-F6FA-0CA2178BB1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340" y="2852936"/>
            <a:ext cx="5790263" cy="2263862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C7CDA69-C9E5-A28D-12F0-A9E66891BBE5}"/>
              </a:ext>
            </a:extLst>
          </p:cNvPr>
          <p:cNvSpPr/>
          <p:nvPr/>
        </p:nvSpPr>
        <p:spPr>
          <a:xfrm>
            <a:off x="668502" y="5634065"/>
            <a:ext cx="4129766" cy="28803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82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7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964" y="462445"/>
            <a:ext cx="8744729" cy="585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00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8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908" y="807636"/>
            <a:ext cx="8557668" cy="5242727"/>
          </a:xfrm>
          <a:prstGeom prst="rect">
            <a:avLst/>
          </a:prstGeom>
        </p:spPr>
      </p:pic>
      <p:sp>
        <p:nvSpPr>
          <p:cNvPr id="4" name="설명선: 굽은 선 3">
            <a:extLst>
              <a:ext uri="{FF2B5EF4-FFF2-40B4-BE49-F238E27FC236}">
                <a16:creationId xmlns:a16="http://schemas.microsoft.com/office/drawing/2014/main" id="{FF8186BA-969A-7173-6760-0B277D3B0EB1}"/>
              </a:ext>
            </a:extLst>
          </p:cNvPr>
          <p:cNvSpPr/>
          <p:nvPr/>
        </p:nvSpPr>
        <p:spPr>
          <a:xfrm>
            <a:off x="10232245" y="4437113"/>
            <a:ext cx="1694815" cy="50405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77466"/>
              <a:gd name="adj6" fmla="val -113109"/>
            </a:avLst>
          </a:prstGeom>
          <a:solidFill>
            <a:schemeClr val="bg1">
              <a:lumMod val="8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모수와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 err="1">
                <a:solidFill>
                  <a:schemeClr val="tx1"/>
                </a:solidFill>
              </a:rPr>
              <a:t>추정량의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 err="1">
                <a:solidFill>
                  <a:schemeClr val="tx1"/>
                </a:solidFill>
              </a:rPr>
              <a:t>기대값의</a:t>
            </a:r>
            <a:r>
              <a:rPr lang="ko-KR" altLang="en-US" sz="1600" dirty="0">
                <a:solidFill>
                  <a:schemeClr val="tx1"/>
                </a:solidFill>
              </a:rPr>
              <a:t> 차이</a:t>
            </a:r>
          </a:p>
        </p:txBody>
      </p:sp>
    </p:spTree>
    <p:extLst>
      <p:ext uri="{BB962C8B-B14F-4D97-AF65-F5344CB8AC3E}">
        <p14:creationId xmlns:p14="http://schemas.microsoft.com/office/powerpoint/2010/main" val="1933005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9</a:t>
            </a:fld>
            <a:endParaRPr lang="en-US" altLang="ko-KR" noProof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780" y="1601264"/>
            <a:ext cx="7559835" cy="125891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53" y="4293096"/>
            <a:ext cx="2664296" cy="8674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909836" y="3573016"/>
                <a:ext cx="111612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모집단 평균에 대한 </a:t>
                </a:r>
                <a:r>
                  <a:rPr lang="ko-KR" altLang="en-US" sz="20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불편추정량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(Unbiased Estimator of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은 </a:t>
                </a:r>
                <a:r>
                  <a:rPr lang="ko-KR" altLang="en-US" sz="20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표본평균</a:t>
                </a:r>
                <a:endParaRPr lang="ko-KR" altLang="en-US" sz="20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36" y="3573016"/>
                <a:ext cx="11161240" cy="400110"/>
              </a:xfrm>
              <a:prstGeom prst="rect">
                <a:avLst/>
              </a:prstGeom>
              <a:blipFill>
                <a:blip r:embed="rId5"/>
                <a:stretch>
                  <a:fillRect l="-492" t="-7576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B261840-E42D-89D5-94C4-189F0954CD4F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실습하기</a:t>
            </a:r>
          </a:p>
        </p:txBody>
      </p:sp>
      <p:pic>
        <p:nvPicPr>
          <p:cNvPr id="6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BAE13FD5-E6E3-B98A-63C3-AD0C55C58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51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10</a:t>
            </a:fld>
            <a:endParaRPr lang="en-US" altLang="ko-KR" noProof="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DDB505-F65C-7ED8-BC6B-911FDE3D6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56" y="1052736"/>
            <a:ext cx="6247314" cy="3672408"/>
          </a:xfrm>
          <a:prstGeom prst="rect">
            <a:avLst/>
          </a:prstGeom>
        </p:spPr>
      </p:pic>
      <p:pic>
        <p:nvPicPr>
          <p:cNvPr id="5" name="Picture 2" descr="https://wikidocs.net/images/page/163985/ci02.png">
            <a:extLst>
              <a:ext uri="{FF2B5EF4-FFF2-40B4-BE49-F238E27FC236}">
                <a16:creationId xmlns:a16="http://schemas.microsoft.com/office/drawing/2014/main" id="{A38F5258-87D3-D73E-CCD9-A8598D8F4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316" y="3528301"/>
            <a:ext cx="5773003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F76A63-858E-F27B-01C0-77EB20992B61}"/>
              </a:ext>
            </a:extLst>
          </p:cNvPr>
          <p:cNvSpPr txBox="1"/>
          <p:nvPr/>
        </p:nvSpPr>
        <p:spPr>
          <a:xfrm>
            <a:off x="117748" y="260648"/>
            <a:ext cx="11521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구간 추정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(Interval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Estimation)</a:t>
            </a:r>
            <a:endParaRPr lang="ko-KR" altLang="en-US" sz="32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080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11</a:t>
            </a:fld>
            <a:endParaRPr lang="en-US" altLang="ko-KR" noProof="0" dirty="0"/>
          </a:p>
        </p:txBody>
      </p:sp>
      <p:sp>
        <p:nvSpPr>
          <p:cNvPr id="2" name="직사각형 1"/>
          <p:cNvSpPr/>
          <p:nvPr/>
        </p:nvSpPr>
        <p:spPr>
          <a:xfrm>
            <a:off x="657752" y="5032173"/>
            <a:ext cx="57606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https://www.dreamstime.com/illustration/ringer-horseshoe-game.html</a:t>
            </a:r>
            <a:r>
              <a:rPr lang="ko-KR" altLang="en-US" sz="1400" dirty="0"/>
              <a:t>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20" y="2996952"/>
            <a:ext cx="6521168" cy="1976800"/>
          </a:xfrm>
          <a:prstGeom prst="rect">
            <a:avLst/>
          </a:prstGeom>
        </p:spPr>
      </p:pic>
      <p:pic>
        <p:nvPicPr>
          <p:cNvPr id="1026" name="Picture 2" descr="Improving Data Estimation Skills">
            <a:extLst>
              <a:ext uri="{FF2B5EF4-FFF2-40B4-BE49-F238E27FC236}">
                <a16:creationId xmlns:a16="http://schemas.microsoft.com/office/drawing/2014/main" id="{ECF4E215-2C7F-CB7F-E11A-15ACF8AF0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293590">
            <a:off x="8179180" y="2623184"/>
            <a:ext cx="3027025" cy="313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74A933-AC54-79CE-7472-7CEB25D5DD76}"/>
              </a:ext>
            </a:extLst>
          </p:cNvPr>
          <p:cNvSpPr txBox="1"/>
          <p:nvPr/>
        </p:nvSpPr>
        <p:spPr>
          <a:xfrm>
            <a:off x="477788" y="1105678"/>
            <a:ext cx="11233248" cy="1142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ko-KR" altLang="en-US" sz="1600" dirty="0">
                <a:latin typeface="+mn-ea"/>
              </a:rPr>
              <a:t>구간추정은</a:t>
            </a:r>
            <a:r>
              <a:rPr lang="en-US" altLang="ko-KR" sz="1600" dirty="0">
                <a:latin typeface="+mn-ea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말편자(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Horseshoe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)를 던져서 막대에 끼우는 게임</a:t>
            </a:r>
            <a:r>
              <a:rPr lang="ko-KR" altLang="en-US" sz="1600" dirty="0">
                <a:latin typeface="+mn-ea"/>
              </a:rPr>
              <a:t>으로</a:t>
            </a:r>
            <a:r>
              <a:rPr lang="en-US" altLang="ko-KR" sz="1600" dirty="0">
                <a:latin typeface="+mn-ea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막대'는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우리가 알고 싶은 진짜 값(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모수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)이고, 말편자는 우리가 데이터를 통해 추정한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신뢰구간</a:t>
            </a:r>
            <a:r>
              <a:rPr lang="ko-KR" altLang="en-US" sz="1600" dirty="0">
                <a:latin typeface="+mn-ea"/>
              </a:rPr>
              <a:t>으로</a:t>
            </a:r>
            <a:r>
              <a:rPr lang="en-US" altLang="ko-KR" sz="1600" dirty="0">
                <a:latin typeface="+mn-ea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말편자가 막대를 포함하면(끼워지면) 예측이 성공한 것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이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신뢰구간임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(90%, 95%, 99%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등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E4996-11B8-D682-0EF3-84AD784BACC7}"/>
              </a:ext>
            </a:extLst>
          </p:cNvPr>
          <p:cNvSpPr txBox="1"/>
          <p:nvPr/>
        </p:nvSpPr>
        <p:spPr>
          <a:xfrm>
            <a:off x="117748" y="260648"/>
            <a:ext cx="11521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구간 추정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(Interval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Estimation)</a:t>
            </a:r>
            <a:endParaRPr lang="ko-KR" altLang="en-US" sz="32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745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9CBA5-0897-61E1-8F3A-B36C83CB0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B1B8307-C04A-2546-5139-0F2C30654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12" y="1136017"/>
            <a:ext cx="8645713" cy="5461335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FAE84D3-1511-D91D-B5F7-4FFD5A03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12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92C6CD-0717-8F5E-8CE7-27DD74AA0D55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실습하기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EBCE46-A2C4-FE9B-FB3C-C83E9244E97E}"/>
              </a:ext>
            </a:extLst>
          </p:cNvPr>
          <p:cNvSpPr txBox="1"/>
          <p:nvPr/>
        </p:nvSpPr>
        <p:spPr>
          <a:xfrm>
            <a:off x="1845940" y="439890"/>
            <a:ext cx="3754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CI(Confidence Interval)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C9B551A9-CC95-A4CE-D340-861670EC2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FC399D-D19E-309B-8E87-D2835115D142}"/>
              </a:ext>
            </a:extLst>
          </p:cNvPr>
          <p:cNvSpPr txBox="1"/>
          <p:nvPr/>
        </p:nvSpPr>
        <p:spPr>
          <a:xfrm>
            <a:off x="9894993" y="3410944"/>
            <a:ext cx="19432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신뢰수준이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높아지면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신뢰구간은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커진다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163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13</a:t>
            </a:fld>
            <a:endParaRPr lang="en-US" altLang="ko-KR" noProof="0" dirty="0"/>
          </a:p>
        </p:txBody>
      </p:sp>
      <p:sp>
        <p:nvSpPr>
          <p:cNvPr id="4" name="직사각형 3"/>
          <p:cNvSpPr/>
          <p:nvPr/>
        </p:nvSpPr>
        <p:spPr>
          <a:xfrm>
            <a:off x="765820" y="145576"/>
            <a:ext cx="11448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/>
              <a:t>t-</a:t>
            </a:r>
            <a:r>
              <a:rPr lang="ko-KR" altLang="en-US" sz="2800" b="1" dirty="0"/>
              <a:t>분포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B41966-68DE-91D4-C70C-722462A86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59" y="2118108"/>
            <a:ext cx="7949225" cy="433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68CDF7-C63C-F7A3-8D1D-AB7CDE1CD271}"/>
              </a:ext>
            </a:extLst>
          </p:cNvPr>
          <p:cNvSpPr txBox="1"/>
          <p:nvPr/>
        </p:nvSpPr>
        <p:spPr>
          <a:xfrm>
            <a:off x="776644" y="734288"/>
            <a:ext cx="11294431" cy="119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표본의 크기가 작을 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미만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모집단의 표준편차를 모르는 상태에서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모평균을 추정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하거나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가설 검정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하기 위해 사용하는 확률 분포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흔히 사용하는 정규분포와 비슷하게 생겼지만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그보다 양 끝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꼬리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더 두터운 것이 특징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5CDD14-9033-98B0-8A7B-8064D2699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60" y="3142130"/>
            <a:ext cx="1251576" cy="6873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D2F579-63EA-BC4E-E878-E5213AF5CFBE}"/>
              </a:ext>
            </a:extLst>
          </p:cNvPr>
          <p:cNvSpPr txBox="1"/>
          <p:nvPr/>
        </p:nvSpPr>
        <p:spPr>
          <a:xfrm>
            <a:off x="9046740" y="2118108"/>
            <a:ext cx="2736304" cy="2260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머신러닝에서</a:t>
            </a:r>
            <a:r>
              <a:rPr lang="ko-KR" altLang="en-US" sz="1600" u="sng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활용</a:t>
            </a:r>
            <a:endParaRPr lang="en-US" altLang="ko-KR" sz="1600" u="sng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p-value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0.05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작다면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모델의 성능 차이는 우연이 아니라 통계적으로 유의미하다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 결론짓고 더 나은 모델을 선택</a:t>
            </a:r>
          </a:p>
        </p:txBody>
      </p:sp>
    </p:spTree>
    <p:extLst>
      <p:ext uri="{BB962C8B-B14F-4D97-AF65-F5344CB8AC3E}">
        <p14:creationId xmlns:p14="http://schemas.microsoft.com/office/powerpoint/2010/main" val="588309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14</a:t>
            </a:fld>
            <a:endParaRPr lang="en-US" altLang="ko-KR" noProof="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F74F3D8-0A4E-54B2-328D-11F6479A0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85" y="1318740"/>
            <a:ext cx="7925639" cy="45160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AB9E89-A254-FE41-6681-958549BA43F6}"/>
              </a:ext>
            </a:extLst>
          </p:cNvPr>
          <p:cNvSpPr txBox="1"/>
          <p:nvPr/>
        </p:nvSpPr>
        <p:spPr>
          <a:xfrm>
            <a:off x="117748" y="260648"/>
            <a:ext cx="11521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모평균의 구간추정 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모분산을 </a:t>
            </a:r>
            <a:r>
              <a:rPr lang="ko-KR" altLang="en-US" sz="3200" b="1" dirty="0">
                <a:solidFill>
                  <a:srgbClr val="0070C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아는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경우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(1/2)</a:t>
            </a:r>
            <a:endParaRPr lang="ko-KR" altLang="en-US" sz="32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8A2DB3-7321-6D9E-26DC-CE4532059DDB}"/>
              </a:ext>
            </a:extLst>
          </p:cNvPr>
          <p:cNvSpPr/>
          <p:nvPr/>
        </p:nvSpPr>
        <p:spPr>
          <a:xfrm>
            <a:off x="3286100" y="5157192"/>
            <a:ext cx="3024336" cy="67760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721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4505A-F8D5-016F-14F3-781C2F40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469378A-1A3F-970B-6E6D-C6D6DC0FB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15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60BAC-D1A6-1227-1ADC-C12ED2A77465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실습하기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8D82CB-6E3B-0EFA-3C43-E12735035FAB}"/>
              </a:ext>
            </a:extLst>
          </p:cNvPr>
          <p:cNvSpPr txBox="1"/>
          <p:nvPr/>
        </p:nvSpPr>
        <p:spPr>
          <a:xfrm>
            <a:off x="1845940" y="439890"/>
            <a:ext cx="3490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to simulate confidence-interval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F096812A-964E-75A4-D7EA-5AFC6BA2F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5D5FEC3-B9E7-86BC-424E-F5C27A175EE3}"/>
              </a:ext>
            </a:extLst>
          </p:cNvPr>
          <p:cNvSpPr txBox="1"/>
          <p:nvPr/>
        </p:nvSpPr>
        <p:spPr>
          <a:xfrm>
            <a:off x="765820" y="1941998"/>
            <a:ext cx="3698818" cy="1747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sample data : </a:t>
            </a:r>
          </a:p>
          <a:p>
            <a:pPr>
              <a:lnSpc>
                <a:spcPct val="200000"/>
              </a:lnSpc>
              <a:buNone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21, 13, 11, 14, 52, 23, 12, 11, 50, 55, 0, 1, 1, 7, 33, 51, 41, 44, 47, 9, 19, 10, 20, 30, 26, 38, 41, 5, 40, 2, 39, 42, 55, 22, 48, 50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E8C22A7-D166-BD09-3405-7D7CB988F2C5}"/>
              </a:ext>
            </a:extLst>
          </p:cNvPr>
          <p:cNvGrpSpPr/>
          <p:nvPr/>
        </p:nvGrpSpPr>
        <p:grpSpPr>
          <a:xfrm>
            <a:off x="5950396" y="1196752"/>
            <a:ext cx="2443968" cy="1302764"/>
            <a:chOff x="5676672" y="1458315"/>
            <a:chExt cx="1713883" cy="913590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4D10F905-F101-D847-02D1-C9F81F1C2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76672" y="1458315"/>
              <a:ext cx="1713883" cy="522619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53994FB4-51E1-51B9-D2BE-2559AE5E3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76672" y="1980934"/>
              <a:ext cx="1713610" cy="390971"/>
            </a:xfrm>
            <a:prstGeom prst="rect">
              <a:avLst/>
            </a:prstGeom>
          </p:spPr>
        </p:pic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079531A-475A-8225-A54A-E39E0798B9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270" y="5229200"/>
            <a:ext cx="1769340" cy="792088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A539416D-4BF6-87A9-839C-BE9CF3DC69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0396" y="2499516"/>
            <a:ext cx="4620034" cy="380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7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B3D95-DA7E-B40C-728B-C36C906EB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D30D31E6-C30F-BF0E-21D6-7905BE80D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383" y="1684978"/>
            <a:ext cx="3998389" cy="795320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629066B-4BE0-48BF-BB78-5B1D4E5E9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16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15C363-0268-B2BD-5423-178D94482F47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실습하기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BB664A-AA88-889B-7748-BF5D9E410302}"/>
              </a:ext>
            </a:extLst>
          </p:cNvPr>
          <p:cNvSpPr txBox="1"/>
          <p:nvPr/>
        </p:nvSpPr>
        <p:spPr>
          <a:xfrm>
            <a:off x="1845940" y="439890"/>
            <a:ext cx="3490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to simulate confidence-interval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C8E553D3-57A0-264F-F3F7-30585922B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B33F72B-80CF-AB76-8879-007D1EAFE47E}"/>
              </a:ext>
            </a:extLst>
          </p:cNvPr>
          <p:cNvSpPr txBox="1"/>
          <p:nvPr/>
        </p:nvSpPr>
        <p:spPr>
          <a:xfrm>
            <a:off x="189451" y="845423"/>
            <a:ext cx="3698818" cy="1747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sample data : </a:t>
            </a:r>
          </a:p>
          <a:p>
            <a:pPr>
              <a:lnSpc>
                <a:spcPct val="200000"/>
              </a:lnSpc>
              <a:buNone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21, 13, 11, 14, 52, 23, 12, 11, 50, 55, 0, 1, 1, 7, 33, 51, 41, 44, 47, 9, 19, 10, 20, 30, 26, 38, 41, 5, 40, 2, 39, 42, 55, 22, 48, 50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9EA4591-303D-C412-420A-3FF1DC870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533" y="2448116"/>
            <a:ext cx="7033400" cy="3908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73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158EC-26A9-77F8-F109-62D0A3765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F4B6589C-F072-8B63-6BF6-9ED19A96241A}"/>
              </a:ext>
            </a:extLst>
          </p:cNvPr>
          <p:cNvGrpSpPr/>
          <p:nvPr/>
        </p:nvGrpSpPr>
        <p:grpSpPr>
          <a:xfrm>
            <a:off x="5086300" y="3551917"/>
            <a:ext cx="1800200" cy="863994"/>
            <a:chOff x="5086300" y="3551917"/>
            <a:chExt cx="1800200" cy="863994"/>
          </a:xfrm>
        </p:grpSpPr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BFE8C411-BAC0-5667-BCFE-26657CB5C261}"/>
                </a:ext>
              </a:extLst>
            </p:cNvPr>
            <p:cNvCxnSpPr>
              <a:cxnSpLocks/>
            </p:cNvCxnSpPr>
            <p:nvPr/>
          </p:nvCxnSpPr>
          <p:spPr>
            <a:xfrm>
              <a:off x="5086300" y="4050118"/>
              <a:ext cx="1800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5FDA5E0-D207-CD8A-ADE4-D123D3380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6384" y="3551917"/>
              <a:ext cx="1322992" cy="863994"/>
            </a:xfrm>
            <a:prstGeom prst="rect">
              <a:avLst/>
            </a:prstGeom>
          </p:spPr>
        </p:pic>
      </p:grp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FB17874-3E14-F822-2BF4-202E0D1CA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17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A19FC2-DA61-19C2-B82E-6B1D365BACD0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실습하기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DDA7DE-F983-AAAA-A13B-AEE0CE431A18}"/>
              </a:ext>
            </a:extLst>
          </p:cNvPr>
          <p:cNvSpPr txBox="1"/>
          <p:nvPr/>
        </p:nvSpPr>
        <p:spPr>
          <a:xfrm>
            <a:off x="1845940" y="439890"/>
            <a:ext cx="3490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to simulate confidence-interval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4E41EDCC-B54C-4DD7-5079-D50318096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E88D85A-30B0-662A-7B0D-AC9A5059B204}"/>
              </a:ext>
            </a:extLst>
          </p:cNvPr>
          <p:cNvSpPr txBox="1"/>
          <p:nvPr/>
        </p:nvSpPr>
        <p:spPr>
          <a:xfrm>
            <a:off x="189451" y="845423"/>
            <a:ext cx="6409017" cy="885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sample data : 21, 13, 11, 14, 52, 23, 12, 11, 50, 55, 0, 1, 1, 7, 33, 51, 41, 44, 47, 9, 19, 10, 20, 30, 26, 38, 41, 5, 40, 2, 39, 42, 55, 22, 48, 50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E98EF79-1EB6-F7B9-6227-1FDC47016907}"/>
              </a:ext>
            </a:extLst>
          </p:cNvPr>
          <p:cNvGrpSpPr/>
          <p:nvPr/>
        </p:nvGrpSpPr>
        <p:grpSpPr>
          <a:xfrm>
            <a:off x="261764" y="2272398"/>
            <a:ext cx="4911027" cy="3871298"/>
            <a:chOff x="261764" y="2272398"/>
            <a:chExt cx="4911027" cy="3871298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B6B154D-E527-12B8-EC60-04D6C70E4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1764" y="2272398"/>
              <a:ext cx="1881987" cy="796562"/>
            </a:xfrm>
            <a:prstGeom prst="rect">
              <a:avLst/>
            </a:prstGeom>
          </p:spPr>
        </p:pic>
        <p:pic>
          <p:nvPicPr>
            <p:cNvPr id="3076" name="Picture 4">
              <a:extLst>
                <a:ext uri="{FF2B5EF4-FFF2-40B4-BE49-F238E27FC236}">
                  <a16:creationId xmlns:a16="http://schemas.microsoft.com/office/drawing/2014/main" id="{BB15E5F7-B5AB-CEAB-B7EE-2C1E6A015A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765" y="2924944"/>
              <a:ext cx="4911026" cy="32187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1E533E3-8E3C-9DD3-D4E1-2B84E1C1BC45}"/>
              </a:ext>
            </a:extLst>
          </p:cNvPr>
          <p:cNvGrpSpPr/>
          <p:nvPr/>
        </p:nvGrpSpPr>
        <p:grpSpPr>
          <a:xfrm>
            <a:off x="7025722" y="2265370"/>
            <a:ext cx="5045354" cy="3918343"/>
            <a:chOff x="7025722" y="2265370"/>
            <a:chExt cx="5045354" cy="3918343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4783C540-818E-3284-4BC7-015BD51231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25722" y="2931481"/>
              <a:ext cx="5045354" cy="32522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5C052C4F-E36D-D489-4A1C-54E917C53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030100" y="2265370"/>
              <a:ext cx="1463164" cy="7315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2586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C8D64-2465-85C7-D991-C725B4D0D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66F2910-2209-1475-49C6-6EC7DDC3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18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73BBB-662E-79D0-E653-928BFAC00570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5B5F45-07E8-2B83-9D55-0E0CE4EB3311}"/>
              </a:ext>
            </a:extLst>
          </p:cNvPr>
          <p:cNvSpPr txBox="1"/>
          <p:nvPr/>
        </p:nvSpPr>
        <p:spPr>
          <a:xfrm>
            <a:off x="679785" y="1268760"/>
            <a:ext cx="9923077" cy="19493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1.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 준비 및 탐색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점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>
              <a:lnSpc>
                <a:spcPct val="150000"/>
              </a:lnSpc>
              <a:buNone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Python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seaborn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라이브러리를 이용하여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penguins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데이터를 불러오고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결측치를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제거한 후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'Gentoo'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종의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flipper_length_mm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 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지느러미 길이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데이터만을 추출하여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gentoo_flipper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변수에 저장하고 이 데이터의 전체 평균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모평균으로 가정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구하시오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29A51BF-DD34-1792-CF22-6628F22DD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784" y="3866947"/>
            <a:ext cx="10899599" cy="15220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 2. 표본 추출 및 </a:t>
            </a:r>
            <a:r>
              <a:rPr lang="ko-KR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점추정</a:t>
            </a: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(20점)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ko-KR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gentoo_flipper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데이터에서 무작위로 5개의 표본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표본평균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50개의 표본을 추출하여 표본평균을 구하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두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표본의 각각의 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점추정치 중 어느 것이 모평균에 더 근접한지 비교하고, 그 이유를 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기술하시오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lang="ko-KR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6DDA0167-5D81-180E-B46C-B01272867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26" y="260648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339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19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CB3059-A022-2D32-14B1-3AA231140C92}"/>
              </a:ext>
            </a:extLst>
          </p:cNvPr>
          <p:cNvSpPr txBox="1"/>
          <p:nvPr/>
        </p:nvSpPr>
        <p:spPr>
          <a:xfrm>
            <a:off x="117748" y="260648"/>
            <a:ext cx="11521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모평균의 구간추정 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모분산을 </a:t>
            </a:r>
            <a:r>
              <a:rPr lang="ko-KR" altLang="en-US" sz="3200" b="1" dirty="0">
                <a:solidFill>
                  <a:srgbClr val="FF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모르는</a:t>
            </a:r>
            <a:r>
              <a:rPr lang="ko-KR" altLang="en-US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경우</a:t>
            </a:r>
            <a:r>
              <a:rPr lang="en-US" altLang="ko-KR" sz="32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(1/2)</a:t>
            </a:r>
            <a:endParaRPr lang="ko-KR" altLang="en-US" sz="32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49F7EC-0571-71A7-1435-F3AA96FF7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12" y="1268760"/>
            <a:ext cx="6834969" cy="486285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E05CCBC-2ED7-7D24-7448-0A549E48D9FE}"/>
              </a:ext>
            </a:extLst>
          </p:cNvPr>
          <p:cNvSpPr/>
          <p:nvPr/>
        </p:nvSpPr>
        <p:spPr>
          <a:xfrm>
            <a:off x="2854052" y="5454012"/>
            <a:ext cx="3600400" cy="67760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37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CFA6D-7BDE-F4CB-ECB4-44A7CEB8F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613359B-04AB-2B7A-0694-56AD7107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20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3136A9-4ED2-A9C4-59EA-DC5ABFD71B4B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7FC9AE-9BFA-3C11-A9C0-7DCCB2B04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12" y="1124744"/>
            <a:ext cx="10972380" cy="24616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 3. </a:t>
            </a:r>
            <a:r>
              <a:rPr lang="ko-KR" altLang="ko-KR" sz="16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</a:t>
            </a:r>
            <a:r>
              <a:rPr lang="ko-KR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-분포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이용한 신뢰구간 계산 (40점)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Gentoo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 펭귄 중 무작위로 추출된 15마리의 지느러미 길이 데이터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random_state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=11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추출한 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바탕으로 다음을 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계산하시오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(소수점 둘째 자리까지 표기)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표본평균과 표본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표준편차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95% 신뢰수준에서의 신뢰구간 (단, </a:t>
            </a:r>
            <a:r>
              <a:rPr lang="ko-KR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scipy.stats를</a:t>
            </a: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활용할 것)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만약 동일한 데이터로 99% 신뢰구간을 구한다면, 95% 때보다 구간의 너비(</a:t>
            </a:r>
            <a:r>
              <a:rPr lang="ko-KR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Width</a:t>
            </a: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)는 어떻게 변하겠는가?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9812D-4BDB-71D7-0078-C7761D0F87A7}"/>
              </a:ext>
            </a:extLst>
          </p:cNvPr>
          <p:cNvSpPr txBox="1"/>
          <p:nvPr/>
        </p:nvSpPr>
        <p:spPr>
          <a:xfrm>
            <a:off x="693813" y="3990985"/>
            <a:ext cx="10972380" cy="21846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Z</a:t>
            </a:r>
            <a:r>
              <a:rPr lang="ko-KR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-분포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이용한 신뢰구간 계산 (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0점)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ko-KR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Gentoo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 펭귄 중 무작위로 추출된 15마리의 지느러미 길이 데이터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random_state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=11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추출한 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바탕으로 다음을 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계산하시오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(소수점 둘째 자리까지 표기)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9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% 신뢰수준에서의 신뢰구간 (단, </a:t>
            </a:r>
            <a:r>
              <a:rPr lang="ko-KR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scipy.stats를</a:t>
            </a: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활용할 것)</a:t>
            </a: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만약 동일한 데이터로 99% 신뢰구간을 구한다면, 95% 때보다 구간의 너비(</a:t>
            </a:r>
            <a:r>
              <a:rPr lang="ko-KR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Width</a:t>
            </a:r>
            <a:r>
              <a:rPr lang="ko-KR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)는 어떻게 변하겠는가?</a:t>
            </a:r>
          </a:p>
        </p:txBody>
      </p:sp>
    </p:spTree>
    <p:extLst>
      <p:ext uri="{BB962C8B-B14F-4D97-AF65-F5344CB8AC3E}">
        <p14:creationId xmlns:p14="http://schemas.microsoft.com/office/powerpoint/2010/main" val="291562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21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95" y="1268760"/>
            <a:ext cx="7638434" cy="132152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95" y="2451675"/>
            <a:ext cx="7638434" cy="395809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735325" y="2590288"/>
            <a:ext cx="2952328" cy="2641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p-value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는 실험 수행 결과의 극단성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유의수준은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이를 평가할 기준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연구자가 설정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두 값이 어떻게 비교되는 지에 따라 </a:t>
            </a:r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귀무가설을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기각할지 여부를 결정</a:t>
            </a:r>
          </a:p>
        </p:txBody>
      </p:sp>
      <p:sp>
        <p:nvSpPr>
          <p:cNvPr id="6" name="이등변 삼각형 5"/>
          <p:cNvSpPr/>
          <p:nvPr/>
        </p:nvSpPr>
        <p:spPr>
          <a:xfrm>
            <a:off x="5662364" y="5248574"/>
            <a:ext cx="216024" cy="216078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F0"/>
              </a:solidFill>
            </a:endParaRPr>
          </a:p>
        </p:txBody>
      </p:sp>
      <p:sp>
        <p:nvSpPr>
          <p:cNvPr id="9" name="이등변 삼각형 8"/>
          <p:cNvSpPr/>
          <p:nvPr/>
        </p:nvSpPr>
        <p:spPr>
          <a:xfrm>
            <a:off x="6939311" y="5229200"/>
            <a:ext cx="216024" cy="216078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939311" y="5415530"/>
            <a:ext cx="13163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dirty="0" err="1">
                <a:solidFill>
                  <a:srgbClr val="FF0000"/>
                </a:solidFill>
              </a:rPr>
              <a:t>귀무가설</a:t>
            </a:r>
            <a:r>
              <a:rPr lang="ko-KR" altLang="en-US" sz="1400" b="1" dirty="0">
                <a:solidFill>
                  <a:srgbClr val="FF0000"/>
                </a:solidFill>
              </a:rPr>
              <a:t> 기각 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220195" y="5415530"/>
            <a:ext cx="13163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dirty="0" err="1">
                <a:solidFill>
                  <a:srgbClr val="00B0F0"/>
                </a:solidFill>
              </a:rPr>
              <a:t>귀무가설</a:t>
            </a:r>
            <a:r>
              <a:rPr lang="ko-KR" altLang="en-US" sz="1400" b="1" dirty="0">
                <a:solidFill>
                  <a:srgbClr val="00B0F0"/>
                </a:solidFill>
              </a:rPr>
              <a:t> 채택 </a:t>
            </a:r>
            <a:endParaRPr lang="ko-KR" altLang="en-US" sz="1400" dirty="0">
              <a:solidFill>
                <a:srgbClr val="00B0F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61764" y="6430589"/>
            <a:ext cx="438053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hlinkClick r:id="rId5"/>
              </a:rPr>
              <a:t>https://blog.naver.com/angryking/222425038366</a:t>
            </a:r>
            <a:r>
              <a:rPr lang="ko-KR" altLang="en-US" sz="1400" dirty="0"/>
              <a:t> 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790156" y="209243"/>
            <a:ext cx="36166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200" b="1" dirty="0" err="1"/>
              <a:t>유의수준과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P-value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10128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7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83651-8592-BC92-0FEB-A21678516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DB9E036-08D3-F313-6005-D3CC1C47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22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04E12C-BFC2-1F82-72D3-5DAEDC5B6D54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5A8D74C-0F5C-23EF-5F89-76BBB7EF5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02" y="1170351"/>
            <a:ext cx="11538750" cy="11065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"이 동전, 수상하다?“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어떤 사람이 동전을 10번 던졌는데, 앞면이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 나왔습니다.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"정상적인 동전에서 이런 일이 일어날 확률(</a:t>
            </a:r>
            <a:r>
              <a:rPr lang="ko-KR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P-value</a:t>
            </a:r>
            <a:r>
              <a:rPr lang="ko-KR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)은 얼마일까?“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당신은 아 동전이 정상이 아니라고 얼마의 확률로 주장할 것인가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ko-KR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43D9F-DFD3-3BBC-D8BC-96D1D04B0DFE}"/>
              </a:ext>
            </a:extLst>
          </p:cNvPr>
          <p:cNvSpPr txBox="1"/>
          <p:nvPr/>
        </p:nvSpPr>
        <p:spPr>
          <a:xfrm>
            <a:off x="6526461" y="2772722"/>
            <a:ext cx="237626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동전 앞면 출현과 </a:t>
            </a:r>
            <a:r>
              <a:rPr lang="ko-KR" altLang="en-US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비율</a:t>
            </a:r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: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0 0.0010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1 0.0120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2 0.0500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3 0.1240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4 0.1980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5 0.2390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6 0.2230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7 0.1050 </a:t>
            </a:r>
          </a:p>
          <a:p>
            <a:r>
              <a:rPr lang="en-US" altLang="ko-KR" sz="1400" b="0" i="0" dirty="0">
                <a:solidFill>
                  <a:srgbClr val="FF0000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8 0.0400 </a:t>
            </a:r>
          </a:p>
          <a:p>
            <a:r>
              <a:rPr lang="en-US" altLang="ko-KR" sz="1400" b="0" i="0" dirty="0">
                <a:solidFill>
                  <a:srgbClr val="FF0000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9 0.0070 </a:t>
            </a:r>
          </a:p>
          <a:p>
            <a:r>
              <a:rPr lang="en-US" altLang="ko-KR" sz="1400" b="0" i="0" dirty="0">
                <a:solidFill>
                  <a:srgbClr val="FF0000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10 0.0010</a:t>
            </a:r>
          </a:p>
          <a:p>
            <a:endParaRPr lang="en-US" altLang="ko-KR" sz="1400" dirty="0">
              <a:solidFill>
                <a:srgbClr val="FF00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비율을 다 더하면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1.00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5125" name="Picture 5">
            <a:extLst>
              <a:ext uri="{FF2B5EF4-FFF2-40B4-BE49-F238E27FC236}">
                <a16:creationId xmlns:a16="http://schemas.microsoft.com/office/drawing/2014/main" id="{3C765005-FE41-0C4E-3F64-1257638E1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02" y="2755721"/>
            <a:ext cx="5603155" cy="360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3DEAD083-D828-6D4D-C882-C46563CFEC18}"/>
              </a:ext>
            </a:extLst>
          </p:cNvPr>
          <p:cNvSpPr/>
          <p:nvPr/>
        </p:nvSpPr>
        <p:spPr>
          <a:xfrm rot="16200000">
            <a:off x="4114192" y="6230337"/>
            <a:ext cx="468052" cy="25202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93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마케팅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154_TF02801084.potx" id="{B893C259-098E-47F8-8877-587E0721A18C}" vid="{F842517E-B3F6-4577-896B-5E1D47976B3A}"/>
    </a:ext>
  </a:extLst>
</a:theme>
</file>

<file path=ppt/theme/theme2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7F9B8BCC-BF24-4800-92E1-9F891BBB27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CB2C71-1ED8-4540-B003-293B5E75C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AACE6D-8EB6-447A-8DFD-C2C0C52916AC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40262f94-9f35-4ac3-9a90-690165a166b7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a4f35948-e619-41b3-aa29-22878b09cfd2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유리 건물 배경의 비즈니스 마케팅 프레젠테이션(와이드스크린)</Template>
  <TotalTime>976</TotalTime>
  <Words>1013</Words>
  <Application>Microsoft Office PowerPoint</Application>
  <PresentationFormat>사용자 지정</PresentationFormat>
  <Paragraphs>153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맑은 고딕</vt:lpstr>
      <vt:lpstr>맑은 고딕 Semilight</vt:lpstr>
      <vt:lpstr>한컴 말랑말랑 Bold</vt:lpstr>
      <vt:lpstr>휴먼모음T</vt:lpstr>
      <vt:lpstr>Arial</vt:lpstr>
      <vt:lpstr>Cambria Math</vt:lpstr>
      <vt:lpstr>Corbel</vt:lpstr>
      <vt:lpstr>Wingdings</vt:lpstr>
      <vt:lpstr>마케팅 16x9</vt:lpstr>
      <vt:lpstr>통계학  - 추정(Estimation) -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ADsP 특강   2024_Summer</dc:title>
  <dc:creator>조상구</dc:creator>
  <cp:lastModifiedBy>Sanggoo Cho</cp:lastModifiedBy>
  <cp:revision>53</cp:revision>
  <dcterms:created xsi:type="dcterms:W3CDTF">2024-06-03T06:10:16Z</dcterms:created>
  <dcterms:modified xsi:type="dcterms:W3CDTF">2026-04-08T02:33:24Z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