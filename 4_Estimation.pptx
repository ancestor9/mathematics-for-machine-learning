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26"/>
  </p:notesMasterIdLst>
  <p:handoutMasterIdLst>
    <p:handoutMasterId r:id="rId27"/>
  </p:handoutMasterIdLst>
  <p:sldIdLst>
    <p:sldId id="256" r:id="rId5"/>
    <p:sldId id="314" r:id="rId6"/>
    <p:sldId id="366" r:id="rId7"/>
    <p:sldId id="361" r:id="rId8"/>
    <p:sldId id="270" r:id="rId9"/>
    <p:sldId id="271" r:id="rId10"/>
    <p:sldId id="272" r:id="rId11"/>
    <p:sldId id="273" r:id="rId12"/>
    <p:sldId id="274" r:id="rId13"/>
    <p:sldId id="282" r:id="rId14"/>
    <p:sldId id="275" r:id="rId15"/>
    <p:sldId id="280" r:id="rId16"/>
    <p:sldId id="277" r:id="rId17"/>
    <p:sldId id="362" r:id="rId18"/>
    <p:sldId id="276" r:id="rId19"/>
    <p:sldId id="363" r:id="rId20"/>
    <p:sldId id="278" r:id="rId21"/>
    <p:sldId id="279" r:id="rId22"/>
    <p:sldId id="364" r:id="rId23"/>
    <p:sldId id="281" r:id="rId24"/>
    <p:sldId id="365" r:id="rId25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8673" autoAdjust="0"/>
    <p:restoredTop sz="94660"/>
  </p:normalViewPr>
  <p:slideViewPr>
    <p:cSldViewPr>
      <p:cViewPr varScale="1">
        <p:scale>
          <a:sx n="85" d="100"/>
          <a:sy n="85" d="100"/>
        </p:scale>
        <p:origin x="883" y="58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2026-03-25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2026-03-25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87B48-8513-9B9E-4380-3E3374508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EF1336B-6871-F396-D140-FD7AD04F5E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E6D0FA-0181-2A77-D825-163A3FFE9E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764640-F1C9-5255-D057-4BD377B261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934734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64F9D-56F3-951B-50D6-A387C6DB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C41E97-65AE-AFF8-F9CE-0EBF599074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491CBB-2C0A-B61E-F741-0D34DDCD8E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277E39-D60D-B26E-335C-19610E5427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7015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741281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26356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128113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592375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E48B6-8181-F485-483D-74B530894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BA4750D-9A32-1465-3219-6D24F3105F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012341-B157-0FA0-B642-6A8375F855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637A8C-9EC5-48D4-4FED-AD011394FD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106868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281201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236781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93918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9997E-FCBA-57BD-FA26-6E0D97434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C5868B-65CA-7446-67AA-687959BA6E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53A8AB-378C-BFC6-6F41-4B8191A695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8861B1-46FB-45DE-209A-49F5883A26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958124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949612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AA8D9-600A-F975-AF39-7C4A71BDC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B17B488-9014-47F4-B025-68110CD113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74C337A-0E33-780B-F888-436B2DCF50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D3F98F-1801-D05E-7B68-8901BBFD81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5214234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43997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4586892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B0E1B-93AF-FF85-F781-97C74771B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68BEF73-EC5B-45F0-8957-614B1CF499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71D8B4C-753F-4EC2-9EB9-1B5812533C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A0A74EC-1E8C-0429-EE5F-0040A8C472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609039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155315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2EC3E5-1FC4-3931-3614-A706DB648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6B2BAB-1785-A207-B681-4BCABEA624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09899FA-1451-2BED-2B0B-D845302EDA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4EF80B-F482-CBA7-1243-C185C23344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517707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2026-03-25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2026-03-25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hyperlink" Target="https://www.mathsisfun.com/data/standard-normal-distribution.html" TargetMode="External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ikidocs.net/163985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reamstime.com/illustration/ringer-horseshoe-game.html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jpeg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ossmanchance.com/applets/2021/confsim/ConfSim.html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blog.naver.com/angryking/222425038366" TargetMode="External"/><Relationship Id="rId4" Type="http://schemas.openxmlformats.org/officeDocument/2006/relationships/image" Target="../media/image3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r>
              <a:rPr lang="ko-KR" altLang="en-US" b="1" dirty="0"/>
              <a:t>통계학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3200" b="1" dirty="0"/>
              <a:t>- </a:t>
            </a:r>
            <a:r>
              <a:rPr lang="ko-KR" altLang="en-US" sz="3200" b="1" dirty="0"/>
              <a:t>추정</a:t>
            </a:r>
            <a:r>
              <a:rPr lang="en-US" altLang="ko-KR" sz="3200" b="1" dirty="0"/>
              <a:t>(Estimation)</a:t>
            </a:r>
            <a:r>
              <a:rPr lang="ko-KR" altLang="en-US" sz="3200" b="1" dirty="0"/>
              <a:t> </a:t>
            </a:r>
            <a:r>
              <a:rPr lang="en-US" altLang="ko-KR" sz="3200" b="1" dirty="0"/>
              <a:t>-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2F7740F9-27E4-C53E-CB3B-D47E195CF1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9784" y="1638552"/>
            <a:ext cx="9407156" cy="4526752"/>
          </a:xfrm>
          <a:prstGeom prst="rect">
            <a:avLst/>
          </a:prstGeom>
        </p:spPr>
      </p:pic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69E69D-4C2D-C812-DDC5-4721F324AC9B}"/>
              </a:ext>
            </a:extLst>
          </p:cNvPr>
          <p:cNvSpPr txBox="1"/>
          <p:nvPr/>
        </p:nvSpPr>
        <p:spPr>
          <a:xfrm>
            <a:off x="591294" y="423483"/>
            <a:ext cx="11191750" cy="8731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표본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(Sample)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으로부터 얻은 정보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통계량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)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를 바탕으로 우리가 직접 확인할 수 없는 모집단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(Population)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의 특성인 </a:t>
            </a:r>
            <a:r>
              <a:rPr lang="ko-KR" altLang="en-US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모수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(Parameter)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를 추정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(Estimate)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하는 과정</a:t>
            </a:r>
            <a:endParaRPr lang="en-US" altLang="ko-KR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88E14C8-D847-8386-AF10-B67948C804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4321" y="5540251"/>
            <a:ext cx="1817526" cy="550170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C244365C-50E4-FE33-6E55-3A63E827AB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39056" y="5593611"/>
            <a:ext cx="1396668" cy="47078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D8CA8D10-EEED-BFF4-9620-A60E713E16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9056" y="4941169"/>
            <a:ext cx="1239822" cy="596250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99C56E69-4866-ACDC-66C9-09E7DD22E0B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59017" y="4939541"/>
            <a:ext cx="1362377" cy="597877"/>
          </a:xfrm>
          <a:prstGeom prst="rect">
            <a:avLst/>
          </a:prstGeom>
        </p:spPr>
      </p:pic>
      <p:cxnSp>
        <p:nvCxnSpPr>
          <p:cNvPr id="30" name="연결선: 꺾임 29">
            <a:extLst>
              <a:ext uri="{FF2B5EF4-FFF2-40B4-BE49-F238E27FC236}">
                <a16:creationId xmlns:a16="http://schemas.microsoft.com/office/drawing/2014/main" id="{CB68CFCC-51B8-9ADE-A862-33AB5157120C}"/>
              </a:ext>
            </a:extLst>
          </p:cNvPr>
          <p:cNvCxnSpPr>
            <a:cxnSpLocks/>
            <a:stCxn id="31" idx="2"/>
            <a:endCxn id="33" idx="2"/>
          </p:cNvCxnSpPr>
          <p:nvPr/>
        </p:nvCxnSpPr>
        <p:spPr>
          <a:xfrm rot="5400000">
            <a:off x="5595002" y="3289630"/>
            <a:ext cx="422756" cy="4752528"/>
          </a:xfrm>
          <a:prstGeom prst="bentConnector3">
            <a:avLst>
              <a:gd name="adj1" fmla="val 234412"/>
            </a:avLst>
          </a:prstGeom>
          <a:ln w="28575">
            <a:solidFill>
              <a:srgbClr val="0070C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789674A-A293-AAF4-63E2-45D1C3A1DA84}"/>
              </a:ext>
            </a:extLst>
          </p:cNvPr>
          <p:cNvSpPr txBox="1"/>
          <p:nvPr/>
        </p:nvSpPr>
        <p:spPr>
          <a:xfrm>
            <a:off x="7318548" y="5085184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  </a:t>
            </a:r>
            <a:endParaRPr lang="ko-KR" alt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64EE4B9-6EFF-6D7D-BFB7-C176B643F6B2}"/>
              </a:ext>
            </a:extLst>
          </p:cNvPr>
          <p:cNvSpPr txBox="1"/>
          <p:nvPr/>
        </p:nvSpPr>
        <p:spPr>
          <a:xfrm>
            <a:off x="2566020" y="5507940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  </a:t>
            </a:r>
            <a:endParaRPr lang="ko-KR" alt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B03C50B-5D70-FE55-B239-837D71B20DFC}"/>
              </a:ext>
            </a:extLst>
          </p:cNvPr>
          <p:cNvSpPr txBox="1"/>
          <p:nvPr/>
        </p:nvSpPr>
        <p:spPr>
          <a:xfrm>
            <a:off x="6205191" y="6007350"/>
            <a:ext cx="18222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>
                <a:solidFill>
                  <a:schemeClr val="bg2">
                    <a:lumMod val="75000"/>
                  </a:schemeClr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추정</a:t>
            </a:r>
            <a:r>
              <a:rPr lang="en-US" altLang="ko-KR" b="1" dirty="0">
                <a:solidFill>
                  <a:schemeClr val="bg2">
                    <a:lumMod val="75000"/>
                  </a:schemeClr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(Estimation)</a:t>
            </a:r>
            <a:endParaRPr lang="ko-KR" altLang="en-US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0907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54015-ADDA-92BD-7F38-1BEC743F1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587F499-F5E0-E97A-9C8F-E31A474CD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8BBA99-4B6A-6EF5-6482-A1415497604F}"/>
              </a:ext>
            </a:extLst>
          </p:cNvPr>
          <p:cNvSpPr txBox="1"/>
          <p:nvPr/>
        </p:nvSpPr>
        <p:spPr>
          <a:xfrm>
            <a:off x="591295" y="423483"/>
            <a:ext cx="2088232" cy="856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점 추정</a:t>
            </a:r>
            <a:endParaRPr lang="en-US" altLang="ko-KR" sz="24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1028" name="Picture 4" descr="물에 노란색과 흰색 물고기">
            <a:extLst>
              <a:ext uri="{FF2B5EF4-FFF2-40B4-BE49-F238E27FC236}">
                <a16:creationId xmlns:a16="http://schemas.microsoft.com/office/drawing/2014/main" id="{BE796E06-CD0D-2419-11B1-4B0F224A85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793" y="1382526"/>
            <a:ext cx="2905468" cy="43582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F9C0BBA-6483-3157-F202-FFF9CCAD4BFF}"/>
              </a:ext>
            </a:extLst>
          </p:cNvPr>
          <p:cNvSpPr txBox="1"/>
          <p:nvPr/>
        </p:nvSpPr>
        <p:spPr>
          <a:xfrm>
            <a:off x="6166420" y="423483"/>
            <a:ext cx="2160240" cy="856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구간 추정</a:t>
            </a:r>
          </a:p>
        </p:txBody>
      </p:sp>
      <p:pic>
        <p:nvPicPr>
          <p:cNvPr id="1032" name="Picture 8" descr="물 속에 서서 호수 옆에서 그물을 잡고 낚시를 하는 행복한 어린 소년.">
            <a:extLst>
              <a:ext uri="{FF2B5EF4-FFF2-40B4-BE49-F238E27FC236}">
                <a16:creationId xmlns:a16="http://schemas.microsoft.com/office/drawing/2014/main" id="{8CE60872-C0D1-82A9-A742-A31C752725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2524" y="1412776"/>
            <a:ext cx="4297712" cy="29969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1828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26249-DF82-F305-751E-127F3A71C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65A9C867-CB37-476A-DE58-40E42281C49F}"/>
              </a:ext>
            </a:extLst>
          </p:cNvPr>
          <p:cNvSpPr/>
          <p:nvPr/>
        </p:nvSpPr>
        <p:spPr>
          <a:xfrm>
            <a:off x="598421" y="148478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8B211BD-7338-379D-8BC3-3149D048B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786082-2314-C632-A520-B7C165520AFC}"/>
              </a:ext>
            </a:extLst>
          </p:cNvPr>
          <p:cNvSpPr txBox="1"/>
          <p:nvPr/>
        </p:nvSpPr>
        <p:spPr>
          <a:xfrm>
            <a:off x="1629916" y="147612"/>
            <a:ext cx="8928992" cy="46916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추정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(Estimation)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점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추정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(Point Estimation)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구간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추정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(Interval Estimation)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신뢰구간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(Confidence Interval)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94691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pic>
        <p:nvPicPr>
          <p:cNvPr id="11" name="Picture 2" descr="빅데이터 시대 표본 추출이 필요할까?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0051" y="1610634"/>
            <a:ext cx="7704856" cy="44813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/>
          <p:cNvSpPr/>
          <p:nvPr/>
        </p:nvSpPr>
        <p:spPr>
          <a:xfrm>
            <a:off x="981844" y="4626133"/>
            <a:ext cx="1872629" cy="86177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 err="1"/>
              <a:t>모수</a:t>
            </a:r>
            <a:r>
              <a:rPr lang="ko-KR" altLang="en-US" b="1" dirty="0"/>
              <a:t> </a:t>
            </a:r>
            <a:r>
              <a:rPr lang="en-US" altLang="ko-KR" b="1" dirty="0"/>
              <a:t>(parameter)</a:t>
            </a:r>
          </a:p>
          <a:p>
            <a:pPr marL="285750" indent="-285750">
              <a:buFontTx/>
              <a:buChar char="-"/>
            </a:pPr>
            <a:r>
              <a:rPr lang="ko-KR" altLang="en-US" sz="1600" b="1" dirty="0"/>
              <a:t>모집단 평균</a:t>
            </a:r>
            <a:endParaRPr lang="en-US" altLang="ko-KR" sz="1600" b="1" dirty="0"/>
          </a:p>
          <a:p>
            <a:pPr marL="285750" indent="-285750">
              <a:buFontTx/>
              <a:buChar char="-"/>
            </a:pPr>
            <a:r>
              <a:rPr lang="ko-KR" altLang="en-US" sz="1600" b="1" dirty="0"/>
              <a:t>모집단</a:t>
            </a:r>
            <a:r>
              <a:rPr lang="en-US" altLang="ko-KR" sz="1600" b="1" dirty="0"/>
              <a:t> </a:t>
            </a:r>
            <a:r>
              <a:rPr lang="ko-KR" altLang="en-US" sz="1600" b="1" dirty="0"/>
              <a:t>분산</a:t>
            </a:r>
            <a:endParaRPr lang="ko-KR" altLang="en-US" sz="1600" dirty="0"/>
          </a:p>
        </p:txBody>
      </p:sp>
      <p:sp>
        <p:nvSpPr>
          <p:cNvPr id="15" name="직사각형 14"/>
          <p:cNvSpPr/>
          <p:nvPr/>
        </p:nvSpPr>
        <p:spPr>
          <a:xfrm>
            <a:off x="9766820" y="4070813"/>
            <a:ext cx="1566454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dirty="0"/>
              <a:t>표본 통계량</a:t>
            </a:r>
            <a:endParaRPr lang="en-US" altLang="ko-KR" sz="1600" b="1" dirty="0"/>
          </a:p>
          <a:p>
            <a:pPr marL="285750" indent="-285750">
              <a:buFontTx/>
              <a:buChar char="-"/>
            </a:pPr>
            <a:r>
              <a:rPr lang="ko-KR" altLang="en-US" sz="1600" b="1" dirty="0"/>
              <a:t>표본 평균</a:t>
            </a:r>
            <a:endParaRPr lang="en-US" altLang="ko-KR" sz="1600" b="1" dirty="0"/>
          </a:p>
          <a:p>
            <a:pPr marL="285750" indent="-285750">
              <a:buFontTx/>
              <a:buChar char="-"/>
            </a:pPr>
            <a:r>
              <a:rPr lang="ko-KR" altLang="en-US" sz="1600" b="1" dirty="0"/>
              <a:t>표본 분산 등</a:t>
            </a:r>
            <a:endParaRPr lang="ko-KR" altLang="en-US" sz="16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4881" y="143802"/>
            <a:ext cx="8954657" cy="736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548680"/>
            <a:ext cx="8640960" cy="5660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3515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1964" y="462445"/>
            <a:ext cx="8744729" cy="5858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400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908" y="807636"/>
            <a:ext cx="8557668" cy="5242727"/>
          </a:xfrm>
          <a:prstGeom prst="rect">
            <a:avLst/>
          </a:prstGeom>
        </p:spPr>
      </p:pic>
      <p:sp>
        <p:nvSpPr>
          <p:cNvPr id="4" name="설명선: 굽은 선 3">
            <a:extLst>
              <a:ext uri="{FF2B5EF4-FFF2-40B4-BE49-F238E27FC236}">
                <a16:creationId xmlns:a16="http://schemas.microsoft.com/office/drawing/2014/main" id="{FF8186BA-969A-7173-6760-0B277D3B0EB1}"/>
              </a:ext>
            </a:extLst>
          </p:cNvPr>
          <p:cNvSpPr/>
          <p:nvPr/>
        </p:nvSpPr>
        <p:spPr>
          <a:xfrm>
            <a:off x="10232245" y="4437113"/>
            <a:ext cx="1694815" cy="50405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77466"/>
              <a:gd name="adj6" fmla="val -113109"/>
            </a:avLst>
          </a:prstGeom>
          <a:solidFill>
            <a:schemeClr val="bg1">
              <a:lumMod val="8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err="1">
                <a:solidFill>
                  <a:schemeClr val="tx1"/>
                </a:solidFill>
              </a:rPr>
              <a:t>모수와</a:t>
            </a:r>
            <a:r>
              <a:rPr lang="ko-KR" altLang="en-US" sz="1600" dirty="0">
                <a:solidFill>
                  <a:schemeClr val="tx1"/>
                </a:solidFill>
              </a:rPr>
              <a:t> </a:t>
            </a:r>
            <a:r>
              <a:rPr lang="ko-KR" altLang="en-US" sz="1600" dirty="0" err="1">
                <a:solidFill>
                  <a:schemeClr val="tx1"/>
                </a:solidFill>
              </a:rPr>
              <a:t>추정량의</a:t>
            </a:r>
            <a:r>
              <a:rPr lang="ko-KR" altLang="en-US" sz="1600" dirty="0">
                <a:solidFill>
                  <a:schemeClr val="tx1"/>
                </a:solidFill>
              </a:rPr>
              <a:t> </a:t>
            </a:r>
            <a:r>
              <a:rPr lang="ko-KR" altLang="en-US" sz="1600" dirty="0" err="1">
                <a:solidFill>
                  <a:schemeClr val="tx1"/>
                </a:solidFill>
              </a:rPr>
              <a:t>기대값의</a:t>
            </a:r>
            <a:r>
              <a:rPr lang="ko-KR" altLang="en-US" sz="1600" dirty="0">
                <a:solidFill>
                  <a:schemeClr val="tx1"/>
                </a:solidFill>
              </a:rPr>
              <a:t> 차이</a:t>
            </a:r>
          </a:p>
        </p:txBody>
      </p:sp>
    </p:spTree>
    <p:extLst>
      <p:ext uri="{BB962C8B-B14F-4D97-AF65-F5344CB8AC3E}">
        <p14:creationId xmlns:p14="http://schemas.microsoft.com/office/powerpoint/2010/main" val="1933005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844" y="980728"/>
            <a:ext cx="9513061" cy="158417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252" y="4293096"/>
            <a:ext cx="3352667" cy="109156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909836" y="3573016"/>
                <a:ext cx="111612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Wingdings" panose="05000000000000000000" pitchFamily="2" charset="2"/>
                  <a:buChar char="v"/>
                </a:pPr>
                <a:r>
                  <a:rPr lang="ko-KR" altLang="en-US" sz="2400" dirty="0"/>
                  <a:t>모집단 평균에 대한 </a:t>
                </a:r>
                <a:r>
                  <a:rPr lang="ko-KR" altLang="en-US" sz="2400" dirty="0" err="1"/>
                  <a:t>불편추정량</a:t>
                </a:r>
                <a:r>
                  <a:rPr lang="en-US" altLang="ko-KR" sz="2400" dirty="0"/>
                  <a:t>(Unbiased Estimator of</a:t>
                </a:r>
                <a:r>
                  <a:rPr lang="ko-KR" altLang="en-US" sz="2400" dirty="0"/>
                  <a:t> </a:t>
                </a:r>
                <a14:m>
                  <m:oMath xmlns:m="http://schemas.openxmlformats.org/officeDocument/2006/math">
                    <m:r>
                      <a:rPr lang="ko-KR" altLang="en-US" sz="240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altLang="ko-KR" sz="2400" dirty="0"/>
                  <a:t>)</a:t>
                </a:r>
                <a:r>
                  <a:rPr lang="ko-KR" altLang="en-US" sz="2400" dirty="0"/>
                  <a:t>은 </a:t>
                </a:r>
                <a:r>
                  <a:rPr lang="ko-KR" altLang="en-US" sz="2400" dirty="0" err="1"/>
                  <a:t>표본평균</a:t>
                </a:r>
                <a:endParaRPr lang="ko-KR" altLang="en-US" sz="2400" dirty="0"/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836" y="3573016"/>
                <a:ext cx="11161240" cy="461665"/>
              </a:xfrm>
              <a:prstGeom prst="rect">
                <a:avLst/>
              </a:prstGeom>
              <a:blipFill>
                <a:blip r:embed="rId5"/>
                <a:stretch>
                  <a:fillRect l="-710" t="-15789" b="-302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85132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9E9C0-81B0-8C4F-5C8C-787A71062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BD3D25E-EFF0-5F40-330C-23098F2AD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B8A57C6-BE01-3B58-9166-EA79E5C13F5A}"/>
                  </a:ext>
                </a:extLst>
              </p:cNvPr>
              <p:cNvSpPr txBox="1"/>
              <p:nvPr/>
            </p:nvSpPr>
            <p:spPr>
              <a:xfrm>
                <a:off x="562161" y="1112067"/>
                <a:ext cx="11017223" cy="5354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2000" b="1" dirty="0">
                    <a:latin typeface="+mj-ea"/>
                    <a:ea typeface="+mj-ea"/>
                    <a:hlinkClick r:id="rId3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standard-normal-distribution</a:t>
                </a:r>
                <a:r>
                  <a:rPr lang="en-US" altLang="ko-KR" sz="2000" b="1" dirty="0">
                    <a:latin typeface="+mj-ea"/>
                    <a:ea typeface="+mj-ea"/>
                  </a:rPr>
                  <a:t> </a:t>
                </a:r>
                <a:r>
                  <a:rPr lang="ko-KR" altLang="en-US" sz="2000" b="1" dirty="0">
                    <a:latin typeface="+mj-ea"/>
                    <a:ea typeface="+mj-ea"/>
                  </a:rPr>
                  <a:t>통계량 </a:t>
                </a:r>
                <a14:m>
                  <m:oMath xmlns:m="http://schemas.openxmlformats.org/officeDocument/2006/math">
                    <m:r>
                      <a:rPr lang="en-US" altLang="ko-KR" sz="2000" b="1" i="1" smtClean="0">
                        <a:latin typeface="Cambria Math" panose="02040503050406030204" pitchFamily="18" charset="0"/>
                        <a:ea typeface="+mj-ea"/>
                      </a:rPr>
                      <m:t>𝒁</m:t>
                    </m:r>
                    <m:r>
                      <a:rPr lang="en-US" altLang="ko-KR" sz="2000" b="1" i="1" smtClean="0">
                        <a:latin typeface="Cambria Math" panose="02040503050406030204" pitchFamily="18" charset="0"/>
                        <a:ea typeface="+mj-ea"/>
                      </a:rPr>
                      <m:t>=</m:t>
                    </m:r>
                    <m:f>
                      <m:fPr>
                        <m:ctrlPr>
                          <a:rPr lang="en-US" altLang="ko-KR" sz="2000" b="1" i="1" smtClean="0">
                            <a:latin typeface="Cambria Math" panose="02040503050406030204" pitchFamily="18" charset="0"/>
                            <a:ea typeface="+mj-ea"/>
                          </a:rPr>
                        </m:ctrlPr>
                      </m:fPr>
                      <m:num>
                        <m:r>
                          <a:rPr lang="en-US" altLang="ko-KR" sz="2000" b="1" i="1" smtClean="0">
                            <a:latin typeface="Cambria Math" panose="02040503050406030204" pitchFamily="18" charset="0"/>
                            <a:ea typeface="+mj-ea"/>
                          </a:rPr>
                          <m:t>𝑿</m:t>
                        </m:r>
                        <m:r>
                          <a:rPr lang="en-US" altLang="ko-KR" sz="2000" b="1" i="1" smtClean="0">
                            <a:latin typeface="Cambria Math" panose="02040503050406030204" pitchFamily="18" charset="0"/>
                            <a:ea typeface="+mj-ea"/>
                          </a:rPr>
                          <m:t>−</m:t>
                        </m:r>
                        <m:r>
                          <a:rPr lang="ko-KR" altLang="en-US" sz="2000" b="1" i="1" smtClean="0">
                            <a:latin typeface="Cambria Math" panose="02040503050406030204" pitchFamily="18" charset="0"/>
                            <a:ea typeface="+mj-ea"/>
                          </a:rPr>
                          <m:t>𝝁</m:t>
                        </m:r>
                      </m:num>
                      <m:den>
                        <m:r>
                          <a:rPr lang="ko-KR" altLang="en-US" sz="2000" b="1" i="1" smtClean="0">
                            <a:latin typeface="Cambria Math" panose="02040503050406030204" pitchFamily="18" charset="0"/>
                            <a:ea typeface="+mj-ea"/>
                          </a:rPr>
                          <m:t>𝝈</m:t>
                        </m:r>
                      </m:den>
                    </m:f>
                  </m:oMath>
                </a14:m>
                <a:r>
                  <a:rPr lang="ko-KR" altLang="en-US" sz="2000" b="1" dirty="0">
                    <a:latin typeface="+mj-ea"/>
                    <a:ea typeface="+mj-ea"/>
                  </a:rPr>
                  <a:t> 을 바탕으로 모집단에 대한 신뢰구간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B8A57C6-BE01-3B58-9166-EA79E5C13F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161" y="1112067"/>
                <a:ext cx="11017223" cy="535468"/>
              </a:xfrm>
              <a:prstGeom prst="rect">
                <a:avLst/>
              </a:prstGeom>
              <a:blipFill>
                <a:blip r:embed="rId4"/>
                <a:stretch>
                  <a:fillRect l="-553" b="-340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그룹 16">
            <a:extLst>
              <a:ext uri="{FF2B5EF4-FFF2-40B4-BE49-F238E27FC236}">
                <a16:creationId xmlns:a16="http://schemas.microsoft.com/office/drawing/2014/main" id="{FF56E844-D725-AF36-2B16-EC85B405439E}"/>
              </a:ext>
            </a:extLst>
          </p:cNvPr>
          <p:cNvGrpSpPr/>
          <p:nvPr/>
        </p:nvGrpSpPr>
        <p:grpSpPr>
          <a:xfrm>
            <a:off x="693812" y="2010408"/>
            <a:ext cx="10585176" cy="4338013"/>
            <a:chOff x="261764" y="1323235"/>
            <a:chExt cx="11317620" cy="4801390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D0AEC730-96C0-FDED-EAAB-33E4F3BFD9D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078188" y="1323235"/>
              <a:ext cx="1882303" cy="800169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9EDC347C-1170-0C74-BF60-0FE9675C19C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455784" y="2425451"/>
              <a:ext cx="5123600" cy="3699174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4A8B8853-47C3-831B-B202-1FEE598974B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61764" y="2435450"/>
              <a:ext cx="4392488" cy="2800906"/>
            </a:xfrm>
            <a:prstGeom prst="rect">
              <a:avLst/>
            </a:prstGeom>
          </p:spPr>
        </p:pic>
        <p:cxnSp>
          <p:nvCxnSpPr>
            <p:cNvPr id="12" name="연결선: 구부러짐 11">
              <a:extLst>
                <a:ext uri="{FF2B5EF4-FFF2-40B4-BE49-F238E27FC236}">
                  <a16:creationId xmlns:a16="http://schemas.microsoft.com/office/drawing/2014/main" id="{2B89B2F7-740E-AE2E-91B8-B7CD467955D1}"/>
                </a:ext>
              </a:extLst>
            </p:cNvPr>
            <p:cNvCxnSpPr>
              <a:cxnSpLocks/>
              <a:stCxn id="10" idx="0"/>
              <a:endCxn id="4" idx="1"/>
            </p:cNvCxnSpPr>
            <p:nvPr/>
          </p:nvCxnSpPr>
          <p:spPr>
            <a:xfrm rot="5400000" flipH="1" flipV="1">
              <a:off x="2912033" y="1269295"/>
              <a:ext cx="712130" cy="1620180"/>
            </a:xfrm>
            <a:prstGeom prst="curvedConnector2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연결선: 구부러짐 12">
              <a:extLst>
                <a:ext uri="{FF2B5EF4-FFF2-40B4-BE49-F238E27FC236}">
                  <a16:creationId xmlns:a16="http://schemas.microsoft.com/office/drawing/2014/main" id="{88D6A85B-4015-7ACD-5625-59966C8135C8}"/>
                </a:ext>
              </a:extLst>
            </p:cNvPr>
            <p:cNvCxnSpPr>
              <a:cxnSpLocks/>
              <a:stCxn id="4" idx="3"/>
              <a:endCxn id="7" idx="0"/>
            </p:cNvCxnSpPr>
            <p:nvPr/>
          </p:nvCxnSpPr>
          <p:spPr>
            <a:xfrm>
              <a:off x="5960491" y="1723320"/>
              <a:ext cx="3057093" cy="702131"/>
            </a:xfrm>
            <a:prstGeom prst="curvedConnector2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4BD754D0-C57D-8D91-5E7B-716F723F92E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05980" y="225036"/>
            <a:ext cx="6904318" cy="548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1967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9996" y="836712"/>
            <a:ext cx="8159176" cy="5519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08096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pic>
        <p:nvPicPr>
          <p:cNvPr id="2050" name="Picture 2" descr="https://wikidocs.net/images/page/163985/ci02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8204" y="1484784"/>
            <a:ext cx="8439150" cy="410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/>
          <p:cNvSpPr/>
          <p:nvPr/>
        </p:nvSpPr>
        <p:spPr>
          <a:xfrm>
            <a:off x="1629916" y="5661248"/>
            <a:ext cx="286649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>
                <a:hlinkClick r:id="rId4"/>
              </a:rPr>
              <a:t>https://wikidocs.net/163985</a:t>
            </a:r>
            <a:r>
              <a:rPr lang="ko-KR" alt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272391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365332" y="5517232"/>
            <a:ext cx="576064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https://www.dreamstime.com/illustration/ringer-horseshoe-game.html</a:t>
            </a:r>
            <a:r>
              <a:rPr lang="ko-KR" altLang="en-US" sz="1400" dirty="0"/>
              <a:t> 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332" y="3320685"/>
            <a:ext cx="7056784" cy="2139164"/>
          </a:xfrm>
          <a:prstGeom prst="rect">
            <a:avLst/>
          </a:prstGeom>
        </p:spPr>
      </p:pic>
      <p:pic>
        <p:nvPicPr>
          <p:cNvPr id="1026" name="Picture 2" descr="Improving Data Estimation Skills">
            <a:extLst>
              <a:ext uri="{FF2B5EF4-FFF2-40B4-BE49-F238E27FC236}">
                <a16:creationId xmlns:a16="http://schemas.microsoft.com/office/drawing/2014/main" id="{ECF4E215-2C7F-CB7F-E11A-15ACF8AF05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0556" y="2164988"/>
            <a:ext cx="4035842" cy="4176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E74A933-AC54-79CE-7472-7CEB25D5DD76}"/>
              </a:ext>
            </a:extLst>
          </p:cNvPr>
          <p:cNvSpPr txBox="1"/>
          <p:nvPr/>
        </p:nvSpPr>
        <p:spPr>
          <a:xfrm>
            <a:off x="477788" y="764704"/>
            <a:ext cx="11233248" cy="1512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ko-KR" altLang="en-US" sz="1600" dirty="0">
                <a:latin typeface="+mn-ea"/>
              </a:rPr>
              <a:t>구간추정은</a:t>
            </a:r>
            <a:r>
              <a:rPr lang="en-US" altLang="ko-KR" sz="1600" dirty="0">
                <a:latin typeface="+mn-ea"/>
              </a:rPr>
              <a:t>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말편자(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Horseshoe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)를 던져서 막대에 끼우는 게임</a:t>
            </a:r>
            <a:r>
              <a:rPr lang="ko-KR" altLang="en-US" sz="1600" dirty="0">
                <a:latin typeface="+mn-ea"/>
              </a:rPr>
              <a:t>으로</a:t>
            </a:r>
            <a:r>
              <a:rPr lang="en-US" altLang="ko-KR" sz="1600" dirty="0">
                <a:latin typeface="+mn-ea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막대'는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우리가 알고 싶은 진짜 값(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모수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)이고, 말편자는 우리가 데이터를 통해 추정한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신뢰구간</a:t>
            </a:r>
            <a:r>
              <a:rPr lang="ko-KR" altLang="en-US" sz="1600" dirty="0">
                <a:latin typeface="+mn-ea"/>
              </a:rPr>
              <a:t>으로</a:t>
            </a:r>
            <a:r>
              <a:rPr lang="en-US" altLang="ko-KR" sz="1600" dirty="0">
                <a:latin typeface="+mn-ea"/>
              </a:rPr>
              <a:t> 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말편자가 막대를 포함하면(끼워지면) 예측이 성공한 것이고, 비껴가면 실패한 것</a:t>
            </a:r>
            <a:r>
              <a:rPr lang="ko-KR" altLang="en-US" sz="1600" dirty="0">
                <a:latin typeface="+mn-ea"/>
              </a:rPr>
              <a:t>으로</a:t>
            </a:r>
            <a:endParaRPr lang="en-US" altLang="ko-KR" sz="1600" dirty="0">
              <a:latin typeface="+mn-ea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신뢰구간이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99%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는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말편자</a:t>
            </a:r>
            <a:r>
              <a:rPr lang="en-US" altLang="ko-KR" sz="1600" dirty="0">
                <a:latin typeface="+mn-ea"/>
              </a:rPr>
              <a:t> </a:t>
            </a:r>
            <a:r>
              <a:rPr lang="ko-KR" altLang="en-US" sz="1600" dirty="0">
                <a:latin typeface="+mn-ea"/>
              </a:rPr>
              <a:t>폭이</a:t>
            </a:r>
            <a:r>
              <a:rPr lang="en-US" altLang="ko-KR" sz="1600" dirty="0">
                <a:latin typeface="+mn-ea"/>
              </a:rPr>
              <a:t> 90% </a:t>
            </a:r>
            <a:r>
              <a:rPr lang="ko-KR" altLang="en-US" sz="1600" dirty="0">
                <a:latin typeface="+mn-ea"/>
              </a:rPr>
              <a:t>편자보다</a:t>
            </a:r>
            <a:r>
              <a:rPr lang="en-US" altLang="ko-KR" sz="1600" dirty="0">
                <a:latin typeface="+mn-ea"/>
              </a:rPr>
              <a:t> </a:t>
            </a:r>
            <a:r>
              <a:rPr lang="ko-KR" altLang="en-US" sz="1600" dirty="0">
                <a:latin typeface="+mn-ea"/>
              </a:rPr>
              <a:t>넓다</a:t>
            </a:r>
            <a:r>
              <a:rPr lang="en-US" altLang="ko-KR" sz="1600" dirty="0">
                <a:latin typeface="+mn-ea"/>
              </a:rPr>
              <a:t>.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7454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9CBA5-0897-61E1-8F3A-B36C83CB0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B1B8307-C04A-2546-5139-0F2C30654F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852" y="1147876"/>
            <a:ext cx="8645713" cy="5461335"/>
          </a:xfrm>
          <a:prstGeom prst="rect">
            <a:avLst/>
          </a:prstGeom>
        </p:spPr>
      </p:pic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FAE84D3-1511-D91D-B5F7-4FFD5A038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92C6CD-0717-8F5E-8CE7-27DD74AA0D55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실습하기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EBCE46-A2C4-FE9B-FB3C-C83E9244E97E}"/>
              </a:ext>
            </a:extLst>
          </p:cNvPr>
          <p:cNvSpPr txBox="1"/>
          <p:nvPr/>
        </p:nvSpPr>
        <p:spPr>
          <a:xfrm>
            <a:off x="6886500" y="1196752"/>
            <a:ext cx="35750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latin typeface="Trebuchet MS" panose="020B0603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Click</a:t>
            </a:r>
            <a:r>
              <a:rPr lang="ko-KR" altLang="en-US" sz="1400" b="1" dirty="0">
                <a:latin typeface="Trebuchet MS" panose="020B0603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400" b="1" dirty="0">
                <a:latin typeface="Trebuchet MS" panose="020B0603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</a:t>
            </a:r>
            <a:r>
              <a:rPr lang="ko-KR" altLang="en-US" sz="1400" b="1" dirty="0">
                <a:latin typeface="Trebuchet MS" panose="020B0603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400" b="1" dirty="0">
                <a:latin typeface="Trebuchet MS" panose="020B0603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simulate</a:t>
            </a:r>
            <a:r>
              <a:rPr lang="ko-KR" altLang="en-US" sz="1400" b="1" dirty="0">
                <a:latin typeface="Trebuchet MS" panose="020B0603020202020204" pitchFamily="34" charset="0"/>
              </a:rPr>
              <a:t> </a:t>
            </a:r>
            <a:r>
              <a:rPr lang="en-US" altLang="ko-KR" sz="1400" b="1" dirty="0">
                <a:latin typeface="Trebuchet MS" panose="020B0603020202020204" pitchFamily="34" charset="0"/>
              </a:rPr>
              <a:t>CI(Confidence Interval)</a:t>
            </a:r>
            <a:endParaRPr lang="ko-KR" altLang="en-US" sz="1400" b="1" dirty="0"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1636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1521" y="735980"/>
            <a:ext cx="8594436" cy="5626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69714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C8D64-2465-85C7-D991-C725B4D0D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66F2910-2209-1475-49C6-6EC7DDC33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C73BBB-662E-79D0-E653-928BFAC00570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5B5F45-07E8-2B83-9D55-0E0CE4EB3311}"/>
              </a:ext>
            </a:extLst>
          </p:cNvPr>
          <p:cNvSpPr txBox="1"/>
          <p:nvPr/>
        </p:nvSpPr>
        <p:spPr>
          <a:xfrm>
            <a:off x="679785" y="1268760"/>
            <a:ext cx="9923077" cy="194931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1.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 준비 및 탐색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(10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점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</a:p>
          <a:p>
            <a:pPr>
              <a:lnSpc>
                <a:spcPct val="150000"/>
              </a:lnSpc>
              <a:buNone/>
            </a:pP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Python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라이브러리를 이용하여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penguins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데이터를 불러오고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결측치를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제거한 후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'Gentoo'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종의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flipper_length_mm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 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지느러미 길이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데이터만을 추출하여 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gentoo_flipper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변수에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저장하시오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이후 이 데이터의 전체 평균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모평균으로 가정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구하시오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A29A51BF-DD34-1792-CF22-6628F22DDD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9785" y="3861048"/>
            <a:ext cx="9923076" cy="153381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indent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문제 2. 표본 추출 및 </a:t>
            </a:r>
            <a:r>
              <a:rPr lang="ko-KR" altLang="ko-KR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점추정</a:t>
            </a:r>
            <a:r>
              <a:rPr lang="ko-KR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(20점)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R="0" lvl="0" indent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ko-KR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R="0" lvl="0" indent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gentoo_flipper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데이터에서 무작위로 5개의 표본을 추출하여 표본평균을 </a:t>
            </a: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구하시오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다시 50개의 표본을 추출하여 표본평균을 </a:t>
            </a: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구하시오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두 점추정치 중 어느 것이 모평균에 더 근접한지 비교하고, 그 이유를 </a:t>
            </a: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기술하시오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  <a:endParaRPr lang="ko-KR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93394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456767"/>
            <a:ext cx="8928992" cy="5864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721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606BEF1-983A-18E7-B4E7-AC329BEE84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4929" y="305927"/>
            <a:ext cx="8142425" cy="6246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1370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CFA6D-7BDE-F4CB-ECB4-44A7CEB8F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613359B-04AB-2B7A-0694-56AD7107F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3136A9-4ED2-A9C4-59EA-DC5ABFD71B4B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47FC9AE-9BFA-3C11-A9C0-7DCCB2B046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812" y="1124744"/>
            <a:ext cx="10972380" cy="246163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문제 3. </a:t>
            </a:r>
            <a:r>
              <a:rPr lang="ko-KR" altLang="ko-KR" sz="16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t</a:t>
            </a:r>
            <a:r>
              <a:rPr lang="ko-KR" altLang="ko-KR" sz="16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-분포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이용한 신뢰구간 계산 (40점)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ko-KR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Gentoo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 펭귄 중 무작위로 추출된 15마리의 지느러미 길이 데이터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random_state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=11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추출한 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데이터를 바탕으로 다음을 </a:t>
            </a: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계산하시오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(소수점 둘째 자리까지 표기)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ko-KR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표본평균과 표본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표준편차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ko-KR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95% 신뢰수준에서의 신뢰구간 (단, </a:t>
            </a:r>
            <a:r>
              <a:rPr lang="ko-KR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scipy.stats를</a:t>
            </a:r>
            <a:r>
              <a:rPr lang="ko-KR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활용할 것)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ko-KR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만약 동일한 데이터로 99% 신뢰구간을 구한다면, 95% 때보다 구간의 너비(</a:t>
            </a:r>
            <a:r>
              <a:rPr lang="ko-KR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Width</a:t>
            </a:r>
            <a:r>
              <a:rPr lang="ko-KR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)는 어떻게 변하겠는가?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B9812D-4BDB-71D7-0078-C7761D0F87A7}"/>
              </a:ext>
            </a:extLst>
          </p:cNvPr>
          <p:cNvSpPr txBox="1"/>
          <p:nvPr/>
        </p:nvSpPr>
        <p:spPr>
          <a:xfrm>
            <a:off x="693813" y="3990985"/>
            <a:ext cx="10972380" cy="218463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4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  <a:r>
              <a:rPr lang="en-US" altLang="ko-KR" sz="16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Z</a:t>
            </a:r>
            <a:r>
              <a:rPr lang="ko-KR" altLang="ko-KR" sz="16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-분포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이용한 신뢰구간 계산 (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0점)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lang="ko-KR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Gentoo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 펭귄 중 무작위로 추출된 15마리의 지느러미 길이 데이터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random_state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=11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추출한 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데이터를 바탕으로 다음을 </a:t>
            </a: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계산하시오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(소수점 둘째 자리까지 표기)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ko-KR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9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% 신뢰수준에서의 신뢰구간 (단, </a:t>
            </a:r>
            <a:r>
              <a:rPr lang="ko-KR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scipy.stats를</a:t>
            </a:r>
            <a:r>
              <a:rPr lang="ko-KR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활용할 것)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ko-KR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만약 동일한 데이터로 99% 신뢰구간을 구한다면, 95% 때보다 구간의 너비(</a:t>
            </a:r>
            <a:r>
              <a:rPr lang="ko-KR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Width</a:t>
            </a:r>
            <a:r>
              <a:rPr lang="ko-KR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)는 어떻게 변하겠는가?</a:t>
            </a:r>
          </a:p>
        </p:txBody>
      </p:sp>
    </p:spTree>
    <p:extLst>
      <p:ext uri="{BB962C8B-B14F-4D97-AF65-F5344CB8AC3E}">
        <p14:creationId xmlns:p14="http://schemas.microsoft.com/office/powerpoint/2010/main" val="2915621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195" y="1268760"/>
            <a:ext cx="7638434" cy="1321528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195" y="2451675"/>
            <a:ext cx="7638434" cy="3958098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8735325" y="2590288"/>
            <a:ext cx="2952328" cy="26418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p-value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실험 수행 결과의 극단성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유의수준은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이를 평가할 기준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연구자가 설정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두 값이 어떻게 비교되는 지에 따라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귀무가설을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기각할지 여부를 결정</a:t>
            </a:r>
          </a:p>
        </p:txBody>
      </p:sp>
      <p:sp>
        <p:nvSpPr>
          <p:cNvPr id="6" name="이등변 삼각형 5"/>
          <p:cNvSpPr/>
          <p:nvPr/>
        </p:nvSpPr>
        <p:spPr>
          <a:xfrm>
            <a:off x="5662364" y="5248574"/>
            <a:ext cx="216024" cy="216078"/>
          </a:xfrm>
          <a:prstGeom prst="triangl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B0F0"/>
              </a:solidFill>
            </a:endParaRPr>
          </a:p>
        </p:txBody>
      </p:sp>
      <p:sp>
        <p:nvSpPr>
          <p:cNvPr id="9" name="이등변 삼각형 8"/>
          <p:cNvSpPr/>
          <p:nvPr/>
        </p:nvSpPr>
        <p:spPr>
          <a:xfrm>
            <a:off x="6939311" y="5229200"/>
            <a:ext cx="216024" cy="216078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6939311" y="5415530"/>
            <a:ext cx="131638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400" b="1" dirty="0" err="1">
                <a:solidFill>
                  <a:srgbClr val="FF0000"/>
                </a:solidFill>
              </a:rPr>
              <a:t>귀무가설</a:t>
            </a:r>
            <a:r>
              <a:rPr lang="ko-KR" altLang="en-US" sz="1400" b="1" dirty="0">
                <a:solidFill>
                  <a:srgbClr val="FF0000"/>
                </a:solidFill>
              </a:rPr>
              <a:t> 기각 </a:t>
            </a:r>
            <a:endParaRPr lang="ko-KR" altLang="en-US" sz="1400" dirty="0">
              <a:solidFill>
                <a:srgbClr val="FF0000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5220195" y="5415530"/>
            <a:ext cx="131638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400" b="1" dirty="0" err="1">
                <a:solidFill>
                  <a:srgbClr val="00B0F0"/>
                </a:solidFill>
              </a:rPr>
              <a:t>귀무가설</a:t>
            </a:r>
            <a:r>
              <a:rPr lang="ko-KR" altLang="en-US" sz="1400" b="1" dirty="0">
                <a:solidFill>
                  <a:srgbClr val="00B0F0"/>
                </a:solidFill>
              </a:rPr>
              <a:t> 채택 </a:t>
            </a:r>
            <a:endParaRPr lang="ko-KR" altLang="en-US" sz="1400" dirty="0">
              <a:solidFill>
                <a:srgbClr val="00B0F0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261764" y="6430589"/>
            <a:ext cx="438053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dirty="0">
                <a:hlinkClick r:id="rId5"/>
              </a:rPr>
              <a:t>https://blog.naver.com/angryking/222425038366</a:t>
            </a:r>
            <a:r>
              <a:rPr lang="ko-KR" altLang="en-US" sz="1400" dirty="0"/>
              <a:t> </a:t>
            </a:r>
          </a:p>
        </p:txBody>
      </p:sp>
      <p:sp>
        <p:nvSpPr>
          <p:cNvPr id="12" name="직사각형 11"/>
          <p:cNvSpPr/>
          <p:nvPr/>
        </p:nvSpPr>
        <p:spPr>
          <a:xfrm>
            <a:off x="3790156" y="209243"/>
            <a:ext cx="361669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3200" b="1" dirty="0" err="1"/>
              <a:t>유의수준과</a:t>
            </a:r>
            <a:r>
              <a:rPr lang="ko-KR" altLang="en-US" sz="3200" b="1" dirty="0"/>
              <a:t> </a:t>
            </a:r>
            <a:r>
              <a:rPr lang="en-US" altLang="ko-KR" sz="3200" b="1" dirty="0"/>
              <a:t>P-value</a:t>
            </a:r>
            <a:endParaRPr lang="ko-KR" altLang="en-US" sz="3200" dirty="0"/>
          </a:p>
        </p:txBody>
      </p:sp>
    </p:spTree>
    <p:extLst>
      <p:ext uri="{BB962C8B-B14F-4D97-AF65-F5344CB8AC3E}">
        <p14:creationId xmlns:p14="http://schemas.microsoft.com/office/powerpoint/2010/main" val="1710128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7" grpId="0"/>
      <p:bldP spid="1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83651-8592-BC92-0FEB-A21678516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DB9E036-08D3-F313-6005-D3CC1C479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04E12C-BFC2-1F82-72D3-5DAEDC5B6D54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35A8D74C-0F5C-23EF-5F89-76BBB7EF55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6302" y="1048852"/>
            <a:ext cx="11017224" cy="148765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"이 동전, 수상하다?“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어떤 사람이 동전을 10번 던졌는데, 앞면이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 나왔습니다.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"정상적인 동전에서 이런 일이 일어날 확률(</a:t>
            </a: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P-value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)은 얼마일까?“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당신은 아 동전이 정상이 아니라고 얼마의 확률로 주장할 것인가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endParaRPr lang="ko-KR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543D9F-DFD3-3BBC-D8BC-96D1D04B0DFE}"/>
              </a:ext>
            </a:extLst>
          </p:cNvPr>
          <p:cNvSpPr txBox="1"/>
          <p:nvPr/>
        </p:nvSpPr>
        <p:spPr>
          <a:xfrm>
            <a:off x="6526461" y="2772722"/>
            <a:ext cx="2376264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동전 앞면 출현과 </a:t>
            </a:r>
            <a:r>
              <a:rPr lang="ko-KR" altLang="en-US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비율</a:t>
            </a:r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:</a:t>
            </a:r>
          </a:p>
          <a:p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</a:p>
          <a:p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0 0.0010 </a:t>
            </a:r>
          </a:p>
          <a:p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1 0.0120 </a:t>
            </a:r>
          </a:p>
          <a:p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2 0.0500 </a:t>
            </a:r>
          </a:p>
          <a:p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3 0.1240 </a:t>
            </a:r>
          </a:p>
          <a:p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4 0.1980 </a:t>
            </a:r>
          </a:p>
          <a:p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5 0.2390 </a:t>
            </a:r>
          </a:p>
          <a:p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6 0.2230 </a:t>
            </a:r>
          </a:p>
          <a:p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7 0.1050 </a:t>
            </a:r>
          </a:p>
          <a:p>
            <a:r>
              <a:rPr lang="en-US" altLang="ko-KR" sz="1400" b="0" i="0" dirty="0">
                <a:solidFill>
                  <a:srgbClr val="FF0000"/>
                </a:solidFill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8 0.0400 </a:t>
            </a:r>
          </a:p>
          <a:p>
            <a:r>
              <a:rPr lang="en-US" altLang="ko-KR" sz="1400" b="0" i="0" dirty="0">
                <a:solidFill>
                  <a:srgbClr val="FF0000"/>
                </a:solidFill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9 0.0070 </a:t>
            </a:r>
          </a:p>
          <a:p>
            <a:r>
              <a:rPr lang="en-US" altLang="ko-KR" sz="1400" b="0" i="0" dirty="0">
                <a:solidFill>
                  <a:srgbClr val="FF0000"/>
                </a:solidFill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10 0.0010</a:t>
            </a:r>
          </a:p>
          <a:p>
            <a:endParaRPr lang="en-US" altLang="ko-KR" sz="1400" dirty="0">
              <a:solidFill>
                <a:srgbClr val="FF0000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비율을 다 더하면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1.00</a:t>
            </a:r>
            <a:endParaRPr lang="ko-KR" altLang="en-US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5125" name="Picture 5">
            <a:extLst>
              <a:ext uri="{FF2B5EF4-FFF2-40B4-BE49-F238E27FC236}">
                <a16:creationId xmlns:a16="http://schemas.microsoft.com/office/drawing/2014/main" id="{3C765005-FE41-0C4E-3F64-1257638E1B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302" y="2755721"/>
            <a:ext cx="5603155" cy="3600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3DEAD083-D828-6D4D-C882-C46563CFEC18}"/>
              </a:ext>
            </a:extLst>
          </p:cNvPr>
          <p:cNvSpPr/>
          <p:nvPr/>
        </p:nvSpPr>
        <p:spPr>
          <a:xfrm rot="16200000">
            <a:off x="4114192" y="6230337"/>
            <a:ext cx="468052" cy="252028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19340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0AACE6D-8EB6-447A-8DFD-C2C0C52916AC}">
  <ds:schemaRefs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purl.org/dc/terms/"/>
    <ds:schemaRef ds:uri="40262f94-9f35-4ac3-9a90-690165a166b7"/>
    <ds:schemaRef ds:uri="http://www.w3.org/XML/1998/namespace"/>
    <ds:schemaRef ds:uri="http://schemas.microsoft.com/office/2006/metadata/properties"/>
    <ds:schemaRef ds:uri="http://schemas.openxmlformats.org/package/2006/metadata/core-properties"/>
    <ds:schemaRef ds:uri="a4f35948-e619-41b3-aa29-22878b09cfd2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661</TotalTime>
  <Words>633</Words>
  <Application>Microsoft Office PowerPoint</Application>
  <PresentationFormat>사용자 지정</PresentationFormat>
  <Paragraphs>117</Paragraphs>
  <Slides>21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30" baseType="lpstr">
      <vt:lpstr>맑은 고딕</vt:lpstr>
      <vt:lpstr>한컴 말랑말랑 Bold</vt:lpstr>
      <vt:lpstr>휴먼모음T</vt:lpstr>
      <vt:lpstr>Arial</vt:lpstr>
      <vt:lpstr>Cambria Math</vt:lpstr>
      <vt:lpstr>Corbel</vt:lpstr>
      <vt:lpstr>Trebuchet MS</vt:lpstr>
      <vt:lpstr>Wingdings</vt:lpstr>
      <vt:lpstr>마케팅 16x9</vt:lpstr>
      <vt:lpstr>통계학  - 추정(Estimation)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Sanggoo Cho</cp:lastModifiedBy>
  <cp:revision>50</cp:revision>
  <dcterms:created xsi:type="dcterms:W3CDTF">2024-06-03T06:10:16Z</dcterms:created>
  <dcterms:modified xsi:type="dcterms:W3CDTF">2026-03-25T01:57:58Z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