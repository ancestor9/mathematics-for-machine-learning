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9"/>
  </p:notesMasterIdLst>
  <p:handoutMasterIdLst>
    <p:handoutMasterId r:id="rId70"/>
  </p:handoutMasterIdLst>
  <p:sldIdLst>
    <p:sldId id="256" r:id="rId5"/>
    <p:sldId id="314" r:id="rId6"/>
    <p:sldId id="361" r:id="rId7"/>
    <p:sldId id="369" r:id="rId8"/>
    <p:sldId id="370" r:id="rId9"/>
    <p:sldId id="270" r:id="rId10"/>
    <p:sldId id="371" r:id="rId11"/>
    <p:sldId id="380" r:id="rId12"/>
    <p:sldId id="379" r:id="rId13"/>
    <p:sldId id="362" r:id="rId14"/>
    <p:sldId id="272" r:id="rId15"/>
    <p:sldId id="410" r:id="rId16"/>
    <p:sldId id="403" r:id="rId17"/>
    <p:sldId id="387" r:id="rId18"/>
    <p:sldId id="276" r:id="rId19"/>
    <p:sldId id="307" r:id="rId20"/>
    <p:sldId id="308" r:id="rId21"/>
    <p:sldId id="340" r:id="rId22"/>
    <p:sldId id="363" r:id="rId23"/>
    <p:sldId id="277" r:id="rId24"/>
    <p:sldId id="278" r:id="rId25"/>
    <p:sldId id="364" r:id="rId26"/>
    <p:sldId id="279" r:id="rId27"/>
    <p:sldId id="409" r:id="rId28"/>
    <p:sldId id="280" r:id="rId29"/>
    <p:sldId id="412" r:id="rId30"/>
    <p:sldId id="284" r:id="rId31"/>
    <p:sldId id="377" r:id="rId32"/>
    <p:sldId id="382" r:id="rId33"/>
    <p:sldId id="395" r:id="rId34"/>
    <p:sldId id="283" r:id="rId35"/>
    <p:sldId id="383" r:id="rId36"/>
    <p:sldId id="288" r:id="rId37"/>
    <p:sldId id="289" r:id="rId38"/>
    <p:sldId id="413" r:id="rId39"/>
    <p:sldId id="286" r:id="rId40"/>
    <p:sldId id="287" r:id="rId41"/>
    <p:sldId id="375" r:id="rId42"/>
    <p:sldId id="414" r:id="rId43"/>
    <p:sldId id="374" r:id="rId44"/>
    <p:sldId id="365" r:id="rId45"/>
    <p:sldId id="293" r:id="rId46"/>
    <p:sldId id="324" r:id="rId47"/>
    <p:sldId id="338" r:id="rId48"/>
    <p:sldId id="406" r:id="rId49"/>
    <p:sldId id="330" r:id="rId50"/>
    <p:sldId id="407" r:id="rId51"/>
    <p:sldId id="389" r:id="rId52"/>
    <p:sldId id="401" r:id="rId53"/>
    <p:sldId id="367" r:id="rId54"/>
    <p:sldId id="402" r:id="rId55"/>
    <p:sldId id="405" r:id="rId56"/>
    <p:sldId id="397" r:id="rId57"/>
    <p:sldId id="399" r:id="rId58"/>
    <p:sldId id="301" r:id="rId59"/>
    <p:sldId id="404" r:id="rId60"/>
    <p:sldId id="388" r:id="rId61"/>
    <p:sldId id="398" r:id="rId62"/>
    <p:sldId id="390" r:id="rId63"/>
    <p:sldId id="391" r:id="rId64"/>
    <p:sldId id="400" r:id="rId65"/>
    <p:sldId id="305" r:id="rId66"/>
    <p:sldId id="394" r:id="rId67"/>
    <p:sldId id="304" r:id="rId68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ggoo Cho" initials="SC" lastIdx="1" clrIdx="0">
    <p:extLst>
      <p:ext uri="{19B8F6BF-5375-455C-9EA6-DF929625EA0E}">
        <p15:presenceInfo xmlns:p15="http://schemas.microsoft.com/office/powerpoint/2012/main" userId="17a7d6351fc7ea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 varScale="1">
        <p:scale>
          <a:sx n="110" d="100"/>
          <a:sy n="110" d="100"/>
        </p:scale>
        <p:origin x="996" y="11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156"/>
    </p:cViewPr>
  </p:sorterViewPr>
  <p:notesViewPr>
    <p:cSldViewPr showGuides="1">
      <p:cViewPr varScale="1">
        <p:scale>
          <a:sx n="64" d="100"/>
          <a:sy n="64" d="100"/>
        </p:scale>
        <p:origin x="3192" y="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2026-04-09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2026-04-09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4F9D-56F3-951B-50D6-A387C6DB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41E97-65AE-AFF8-F9CE-0EBF5990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491CBB-2C0A-B61E-F741-0D34DDCD8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77E39-D60D-B26E-335C-19610E542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0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64F1-E5C4-6358-593C-A9CA2848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C1DBD8-0BBF-5360-FF60-654782767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D4DA56-C4FA-DEDD-AC32-D35ACFC99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1D40D-3E45-9FEE-32E1-052BF2B76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478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38BF-5238-8DEC-113F-F8CF98C9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D7386D-E89C-B77A-3543-D4E6998EB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18C3-1948-D230-233A-234193B99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1789C-50D5-F748-0E68-73492ACAB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0883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8B2E-CE9B-332C-ECAC-6E96C9B6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FEE594-EB81-B9B3-43E1-8B5400E27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93C604-D67D-E9F0-3B80-8B31937C5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68C89-F771-0225-D12F-1F032598B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0028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0AAC-DC71-22FD-567E-F9417987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70311-34B3-38EB-1F92-F1F620954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4AC722-197F-E460-53F8-8EAA601A9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38FAA-B235-47FF-C58A-EBB0424113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94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9C03-7ED9-E18F-2704-FAAEAED1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A04D1D-D6EF-0A87-11EC-F8B7A52CC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64788F-B000-9A16-1526-CBDD7B483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B442F-FF04-49E8-21D8-AED1C028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135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172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EDFD-50D0-FFC6-C7E6-6FB08352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BF405D-3F61-F72E-6EDA-8C06298DD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F94725-6A25-1BC9-3F11-F8B07A06E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0AF7F-0422-2343-63D2-017A7AB7AE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244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9D94-84CA-A7EF-195A-B720F2DF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89F605-83F1-96C0-E8A4-43D23F188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64E87F-6520-2A21-1C3A-FAEF58570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2C412-BE22-D3CF-3E28-0C725DC41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875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AD08-7835-CADF-5460-8361621F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694997-EB59-9254-FAEE-BA6F8DAE4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77949-6F43-2A0A-9390-AEF193365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34CF9-D16D-0DDF-82DE-C615D3E56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793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89921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8D5A-D51F-1C5A-6E1C-7E7CFFD9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FDDC52-2D6D-9F68-47BD-A3A6FA72F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3978E6-2168-14AF-C3F5-302A5E4CF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A7C7C-47A3-65B7-64BF-164C1F10F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073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121C-7738-75D6-0814-6A4E7CB0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7A3E81-B9FA-E91D-7C38-C8ED94736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01535F-59A7-36A0-5D62-31F70F035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2A0D9-A0EE-C08B-64CD-FA00E4A03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3969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209C-0183-4045-FDF0-C7DCBDA4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3F8734-82DB-BF23-C798-DD3B47DB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E339CF-C307-706C-BF73-EAE540CE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50BCB-255F-06D5-FC44-87040ECD5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930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2669-78C2-F717-9704-0E894CBD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B16FEF-5E87-D8CE-BD8E-41E60A986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FBE45-66DE-47AF-1B30-E4AD74745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ED67A-0522-075F-7C24-93992D1BF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2897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80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9911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0713-FD03-D49C-FBF0-0EF02047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B0937-21B6-B13F-3650-F4F6DF3C2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D0767-8F2A-2DCC-2223-416758193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E6568-4A54-77FA-F9F1-1AE7B4089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004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854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5730-3895-6A12-65CE-B1FD3295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6B37E9-4517-3A88-A2DE-21D4A3AC6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4ABD13-9438-A116-8745-7E8A9C93D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5B4F2-A58A-9141-A89B-42BB54EB2E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7285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3240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F428-71C5-38F9-C9C6-1867E7C8D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2F6592-97B6-7310-E9A4-B125BA68F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10512-C0DC-EFA8-DC74-7A81A17BC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C9174-DBDA-CEB5-6B2E-4FF0320A8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8679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3698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47D4D-C235-703F-B078-1CFBCF55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4D27E7-9F66-FECF-2412-630CACD27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D08BD3-9AE2-4B4F-7258-FA9C83A86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CFB8F5-6BC3-3E55-9486-A39D975BF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342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8D17-F7C6-2CCC-3C7C-0EF7F37A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F20E2F-FA8D-1384-A711-C71590008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509E81-4322-1CFB-1958-7F9309183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190D1-BF97-284F-1EA8-FBB823275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1304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FF25-1E93-FF84-634E-FCAAECF2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15EBB-FC1A-8DD1-F03A-966F2653F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0EFC97-64A0-15A9-D3AD-2D038123E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EAA46F-E152-7545-1C04-95F2B086A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31985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566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C747-327C-CFAB-069C-0CF056E1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538D64-15DC-C38D-8311-7A4D71359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74F02-157E-2E5D-678A-B6AFF21AD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898E22-6367-5850-D245-DDC5F8EFA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2853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9104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0352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8A203-9D89-5772-98E4-4931AF4D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D35614-5A1F-964F-7548-A4833C508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12FC77-B01D-7C2A-6E5B-AC52770CE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C93FDB-67AF-B321-D5DD-20B9F5080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71634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1751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75807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25533-850A-7869-CA12-753FB705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1ED54A-5032-D0F7-63F4-AB6240734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A5B978-9327-65B4-CE69-6245BA609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B1688-95B3-3BA5-7585-18FE836ED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78376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0C74-2F56-0776-FB63-885E262E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3FB491-D5C3-B125-D3A5-20D93BA21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D0D449-C2FB-4671-E754-A2794CA3B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854A31-D57F-3BA8-8830-B7867C5DD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25741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D2C4-EE41-28EE-C5C1-A243913D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7966DF-079E-F20B-596D-7A0B51C66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DA50D-E5B3-5033-2DBD-3561111B7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4BC94A-BCEB-D884-4437-5D9E2C1DA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12738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5D09-9630-A0FD-FC35-81F7718C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B0427-9D47-D5BB-6BC3-909D99355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112FA0-4D0B-3533-41B3-61991C397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D6190-EF8A-6106-9D3E-ABF957FE3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7351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5359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FEA8-EC05-73F5-A0EE-A91BF981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6C3209-2357-5ACF-2202-D54B7D71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642F0-A7DB-6287-60F9-78806E4AE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3EDCE-8D13-18A3-1D4E-CF7160507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5105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2E2F2-3E59-A6ED-89F7-474F531F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96518D-B7F9-22BE-B506-6685530C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3734E8-139E-46C5-E787-096289EA3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879914-E3BB-D6BD-030C-90FE70F8A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4541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EC47-9CD8-DDD5-55D5-6A5F0347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01884-EDA3-A271-1C7E-4E8285FD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7E2C4-3994-5C5F-CABE-D9AF20D5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B9912-1704-9F51-F3D8-B86D2186D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2874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F4CE-A706-128C-507B-39B0F161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6170D2-5FC3-158A-6770-97BAC38A2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29410-0503-5FB7-27EF-06FA66090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23591C-27CA-652E-ADE4-C07E18DFB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7257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0B01-8EC8-F584-5279-E03AB622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84F56-4920-0661-8748-35A97FE2A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1EF42C-656C-972E-0B7F-366005FD1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5456FC-9C6E-3376-2B21-810E64B71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4648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134A2-01A0-60F0-1ACE-F8FCB03C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4B6B2D-08FA-53E5-41F4-EABF226FA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3693F2-B540-BB63-EC81-A71DF084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D4E956-4F78-9147-CE7B-2A6F133A8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72744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C352-D5B7-6775-5989-ACEF0EEF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FD1DF0-4C8F-0BAE-18E6-3DCD08646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B2904B-32C4-1767-279B-6CA68D62E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FAC79-AB10-F320-DF1E-C29C6C2BD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05779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B73F-CC8A-57AE-A258-29D083B1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7B8A4C-77FC-5715-5B9C-487379281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8368C0-8FB8-4E21-5CB8-7DDD7D2F2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D7BF6-CA60-8C78-2200-7F0A85ABF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5554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A98C-AC6D-D045-3360-E5101100F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B7DF42-103B-0A8E-1A5F-F34F28092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9A903-E5AD-2A02-4125-D59886AFF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A7200-9482-F7B8-C538-EDAB68449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08272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1C50-A8E1-DD36-52DB-8CC4FDA4F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3B7B2A-2CD2-5B8F-1B65-4D6B160CD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1183C9-2696-4D2D-9002-EE8886517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E82FC-BC08-B835-0348-4C2DA5000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48850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D46F-2A9E-75F5-A7EB-33B6DE9E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8F9475-55EB-87E3-62AD-5EF464216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17FCEA-C875-5FDA-15D4-F0F44593C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2429F9-012C-795F-8AC7-4F9F7F18E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34185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BA54-3E23-8531-EFF8-D7921108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50DF9E-AD58-C646-0B5D-B623B9AF2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7059EA-816D-B7E8-820C-C5FE0264B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E07F8-E011-1C30-D9D5-B76C650B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69134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3AD9-91B4-70C7-2656-14A5085A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312053-789B-ABD5-54C9-101E4409C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2D146F-CDEC-79AA-63DC-DBF423D83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F8AB7-B950-496B-C190-B18914967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24195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1D6E8-9885-77D2-367D-EC83135E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C9D32B-005C-BA70-41E3-BD7103EDE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70BE54-9A0E-F02E-3A7E-570BC437C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FB9D0D-1C9A-D3CF-1ABB-5B1557A96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87256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AEB6-C4B0-467B-A68D-CD9C1462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21369E-2F19-BE1D-267E-1ADDB7D0B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BB514F-924E-BD08-1E87-9EB049435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4CD82-D291-FDCF-B425-6E05032D4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11943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FD5E-B918-724F-4B0C-A5446FDD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F02D7B-4112-3EE2-9406-62AE90027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8F48DC-E289-34B8-67E9-35A0E4916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A91D9F-BEE8-AA1A-E6EC-2CBB6F42C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53599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BED6B-EE44-064E-7F3B-3902F056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773CD-566A-6A40-8E93-F5C8460D6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5CEF1C-27B1-1039-2CE9-2C322F39E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589616-3879-3773-5F54-A52D426EE7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76971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D940-D9C7-60C4-EB5F-52831DD9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76873B-009E-2D63-0475-FB90D74BB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2523D3-D7F8-1DA9-56E2-01BBB04E8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F54688-4066-BC66-8D8F-EE29C6555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20014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F7BB-F0AD-4DAF-9FC7-AB22B819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F8231D-BFAF-ED2F-4D76-6AAA07BFA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5D4824-F3C3-47FE-8282-3E9B08602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669B45-2404-4D36-0865-E80A334FD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3523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D913-3C15-0BDB-7362-6BB56DB5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EB8880-A7F4-AAA0-DCA2-9703FE343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70D2AA-0236-C8AF-16B7-E1B26D6C5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4C9BD-5FD6-0000-7395-09E6C0DDD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385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www.youtube.com/watch?v=DfQH3o6dKss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auto_examples/neighbors/plot_kde_1d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hyperlink" Target="https://en.wikipedia.org/wiki/Bernoulli_distribution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7.png"/><Relationship Id="rId7" Type="http://schemas.microsoft.com/office/2007/relationships/hdphoto" Target="../media/hdphoto4.wd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microsoft.com/office/2007/relationships/hdphoto" Target="../media/hdphoto3.wdp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6qxA9JDLSpw?feature=shar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dgu3MNjB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7.svg"/><Relationship Id="rId3" Type="http://schemas.openxmlformats.org/officeDocument/2006/relationships/image" Target="../media/image59.png"/><Relationship Id="rId7" Type="http://schemas.microsoft.com/office/2007/relationships/hdphoto" Target="../media/hdphoto7.wdp"/><Relationship Id="rId12" Type="http://schemas.openxmlformats.org/officeDocument/2006/relationships/image" Target="../media/image66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5.svg"/><Relationship Id="rId5" Type="http://schemas.microsoft.com/office/2007/relationships/hdphoto" Target="../media/hdphoto6.wdp"/><Relationship Id="rId10" Type="http://schemas.openxmlformats.org/officeDocument/2006/relationships/image" Target="../media/image64.svg"/><Relationship Id="rId4" Type="http://schemas.openxmlformats.org/officeDocument/2006/relationships/image" Target="../media/image60.png"/><Relationship Id="rId9" Type="http://schemas.openxmlformats.org/officeDocument/2006/relationships/image" Target="../media/image6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image" Target="../media/image530.png"/><Relationship Id="rId7" Type="http://schemas.openxmlformats.org/officeDocument/2006/relationships/image" Target="../media/image59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0.png"/><Relationship Id="rId5" Type="http://schemas.openxmlformats.org/officeDocument/2006/relationships/hyperlink" Target="https://seaborn.pydata.org/examples/hexbin_marginals.html" TargetMode="External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image" Target="../media/image79.png"/><Relationship Id="rId7" Type="http://schemas.openxmlformats.org/officeDocument/2006/relationships/image" Target="../media/image5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60.png"/><Relationship Id="rId10" Type="http://schemas.openxmlformats.org/officeDocument/2006/relationships/image" Target="../media/image650.png"/><Relationship Id="rId4" Type="http://schemas.openxmlformats.org/officeDocument/2006/relationships/image" Target="../media/image630.png"/><Relationship Id="rId9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jpeg"/><Relationship Id="rId4" Type="http://schemas.openxmlformats.org/officeDocument/2006/relationships/hyperlink" Target="https://kosis.kr/statHtml/statHtml.do?sso=ok&amp;returnurl=https%3A%2F%2Fkosis.kr%3A443%2FstatHtml%2FstatHtml.do%3FmarkType%3DC%26tblId%3DDT_1K52D03%26orgId%3D101%26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hyperlink" Target="https://en.wikipedia.org/wiki/Survivorship_bias" TargetMode="External"/><Relationship Id="rId7" Type="http://schemas.openxmlformats.org/officeDocument/2006/relationships/image" Target="../media/image75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ive_Bayes_classifier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e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75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GEFxFVESQXc" TargetMode="External"/><Relationship Id="rId4" Type="http://schemas.openxmlformats.org/officeDocument/2006/relationships/image" Target="../media/image10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jpeg"/><Relationship Id="rId4" Type="http://schemas.openxmlformats.org/officeDocument/2006/relationships/hyperlink" Target="https://seaborn.pydata.org/examples/layered_bivariate_plot.html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확률론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 err="1"/>
              <a:t>머신러닝을</a:t>
            </a:r>
            <a:r>
              <a:rPr lang="ko-KR" altLang="en-US" sz="2400" b="1" dirty="0"/>
              <a:t> 위한 </a:t>
            </a:r>
            <a:r>
              <a:rPr lang="en-US" altLang="ko-KR" sz="2400" b="1" dirty="0"/>
              <a:t>-</a:t>
            </a:r>
            <a:r>
              <a:rPr lang="en-US" altLang="ko-KR" sz="3200" b="1" dirty="0"/>
              <a:t>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  <p:pic>
        <p:nvPicPr>
          <p:cNvPr id="4" name="Picture 4" descr="깊은 생각에 잠긴 남자의 청동 조각상">
            <a:extLst>
              <a:ext uri="{FF2B5EF4-FFF2-40B4-BE49-F238E27FC236}">
                <a16:creationId xmlns:a16="http://schemas.microsoft.com/office/drawing/2014/main" id="{A0238B7E-7B42-DB8C-B129-8BF4F937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9E69D-4C2D-C812-DDC5-4721F324AC9B}"/>
              </a:ext>
            </a:extLst>
          </p:cNvPr>
          <p:cNvSpPr txBox="1"/>
          <p:nvPr/>
        </p:nvSpPr>
        <p:spPr>
          <a:xfrm>
            <a:off x="5014292" y="1772816"/>
            <a:ext cx="6840760" cy="1111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32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신은 주사위를 던진다</a:t>
            </a:r>
            <a:r>
              <a:rPr lang="en-US" altLang="ko-KR" sz="32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90AE170-3683-EFA7-B712-EC521F940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88" y="586522"/>
            <a:ext cx="3960440" cy="594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17ED819C-A92D-0523-A715-6D68E5DE878F}"/>
              </a:ext>
            </a:extLst>
          </p:cNvPr>
          <p:cNvGrpSpPr/>
          <p:nvPr/>
        </p:nvGrpSpPr>
        <p:grpSpPr>
          <a:xfrm>
            <a:off x="5106256" y="2887857"/>
            <a:ext cx="3004380" cy="3639325"/>
            <a:chOff x="3456989" y="836712"/>
            <a:chExt cx="4766522" cy="5877272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F600781-8FD3-14FC-2693-76DE51BA184A}"/>
                </a:ext>
              </a:extLst>
            </p:cNvPr>
            <p:cNvGrpSpPr/>
            <p:nvPr/>
          </p:nvGrpSpPr>
          <p:grpSpPr>
            <a:xfrm>
              <a:off x="3461256" y="836712"/>
              <a:ext cx="4762255" cy="2951030"/>
              <a:chOff x="2368021" y="2035369"/>
              <a:chExt cx="4568717" cy="2243003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17B717E9-D47E-9023-371C-CD5D08010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4867706" y="2209340"/>
                <a:ext cx="2243002" cy="1895062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460927E5-5AAA-401A-AB29-B6758919B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8021" y="2035369"/>
                <a:ext cx="2683596" cy="2241355"/>
              </a:xfrm>
              <a:prstGeom prst="rect">
                <a:avLst/>
              </a:prstGeom>
            </p:spPr>
          </p:pic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367E98E-E69C-3E84-DA2A-EA6F257D172E}"/>
                </a:ext>
              </a:extLst>
            </p:cNvPr>
            <p:cNvGrpSpPr/>
            <p:nvPr/>
          </p:nvGrpSpPr>
          <p:grpSpPr>
            <a:xfrm>
              <a:off x="3456989" y="3694559"/>
              <a:ext cx="4763086" cy="3019425"/>
              <a:chOff x="2374321" y="4472205"/>
              <a:chExt cx="4562417" cy="2244651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B133F645-1E07-FE01-EAC0-5247662C3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4321" y="4472205"/>
                <a:ext cx="2721554" cy="2244509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AD976E4D-787C-E660-AE7C-0FC94D6D48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4867706" y="4647824"/>
                <a:ext cx="2243002" cy="189506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6249-DF82-F305-751E-127F3A71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A9C867-CB37-476A-DE58-40E42281C49F}"/>
              </a:ext>
            </a:extLst>
          </p:cNvPr>
          <p:cNvSpPr/>
          <p:nvPr/>
        </p:nvSpPr>
        <p:spPr>
          <a:xfrm>
            <a:off x="598421" y="148478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8B211BD-7338-379D-8BC3-3149D048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86082-2314-C632-A520-B7C165520AFC}"/>
              </a:ext>
            </a:extLst>
          </p:cNvPr>
          <p:cNvSpPr txBox="1"/>
          <p:nvPr/>
        </p:nvSpPr>
        <p:spPr>
          <a:xfrm>
            <a:off x="1629916" y="147612"/>
            <a:ext cx="8928992" cy="5261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2194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0B18E-31A8-3601-E7A2-1949493A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014C26-A6A8-6228-9BB1-92D3E708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04074-B23E-0A42-B4B0-593C8F030385}"/>
              </a:ext>
            </a:extLst>
          </p:cNvPr>
          <p:cNvSpPr txBox="1"/>
          <p:nvPr/>
        </p:nvSpPr>
        <p:spPr>
          <a:xfrm>
            <a:off x="477788" y="1844824"/>
            <a:ext cx="10081120" cy="343203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억의 상금이 걸린 게임이 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A, B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사람이 라운드마다 각각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확률로 승패 결과가 있는 경우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누구나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번을 이기면 게임이 끝나게 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현재까지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번의 라운드에서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 이겼다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 상금을 각각 공평하게 나누려면 얼마씩 배분하여야 하는가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A,B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각각 이길 확률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5FE29-FE08-A648-1595-0410244C467F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E4739-A87B-0562-0D6E-42C8155E0247}"/>
              </a:ext>
            </a:extLst>
          </p:cNvPr>
          <p:cNvSpPr txBox="1"/>
          <p:nvPr/>
        </p:nvSpPr>
        <p:spPr>
          <a:xfrm>
            <a:off x="2171074" y="1200842"/>
            <a:ext cx="6113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동시확률을 이해하기 위한 문제</a:t>
            </a:r>
            <a:endParaRPr lang="ko-KR" altLang="en-US" b="1" dirty="0"/>
          </a:p>
        </p:txBody>
      </p:sp>
      <p:pic>
        <p:nvPicPr>
          <p:cNvPr id="11" name="그래픽 10" descr="연필">
            <a:extLst>
              <a:ext uri="{FF2B5EF4-FFF2-40B4-BE49-F238E27FC236}">
                <a16:creationId xmlns:a16="http://schemas.microsoft.com/office/drawing/2014/main" id="{8550D6BA-66AF-CB61-0B13-5C584A2A1E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5980" y="404664"/>
            <a:ext cx="707668" cy="707668"/>
          </a:xfrm>
          <a:prstGeom prst="rect">
            <a:avLst/>
          </a:prstGeom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F655AF7-7D7C-7E65-E8E7-2DE0BF41E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62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F62E-E81B-9926-EE39-212E26B1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C83D71-A537-5230-595B-3FB17D20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CC3755-3917-B5AD-AC51-02A04E516082}"/>
                  </a:ext>
                </a:extLst>
              </p:cNvPr>
              <p:cNvSpPr txBox="1"/>
              <p:nvPr/>
            </p:nvSpPr>
            <p:spPr>
              <a:xfrm>
                <a:off x="333772" y="1124744"/>
                <a:ext cx="5544616" cy="4274568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30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Pascal(1623~1662)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해법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경우의 수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tree</a:t>
                </a:r>
              </a:p>
              <a:p>
                <a:pPr marL="742950" lvl="1" indent="-285750">
                  <a:lnSpc>
                    <a:spcPct val="30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𝑃</m:t>
                    </m:r>
                    <m:d>
                      <m:dPr>
                        <m:ctrlP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𝐵</m:t>
                        </m:r>
                        <m: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 </m:t>
                        </m:r>
                        <m: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𝑤𝑖𝑛</m:t>
                        </m:r>
                      </m:e>
                    </m:d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= </m:t>
                    </m:r>
                  </m:oMath>
                </a14:m>
                <a:r>
                  <a:rPr lang="en-US" altLang="ko-KR" sz="200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½*½*½</a:t>
                </a:r>
                <a:endParaRPr lang="en-US" altLang="ko-KR" sz="16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>
                  <a:lnSpc>
                    <a:spcPct val="30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𝐴</m:t>
                        </m:r>
                        <m: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 </m:t>
                        </m:r>
                        <m: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𝑤𝑖𝑛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= </m:t>
                    </m:r>
                  </m:oMath>
                </a14:m>
                <a:r>
                  <a:rPr lang="en-US" altLang="ko-KR" sz="2000" dirty="0">
                    <a:solidFill>
                      <a:srgbClr val="0070C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½ + ½*½ + ½*½*½</a:t>
                </a:r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 marL="285750" indent="-285750">
                  <a:lnSpc>
                    <a:spcPct val="30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Ferma(1607~1665)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해법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모든 경우의 수 나열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>
                  <a:lnSpc>
                    <a:spcPct val="30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AAA,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AAB, ABA, ABB, BAA, BAB, BBA, BBB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CC3755-3917-B5AD-AC51-02A04E516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72" y="1124744"/>
                <a:ext cx="5544616" cy="4274568"/>
              </a:xfrm>
              <a:prstGeom prst="rect">
                <a:avLst/>
              </a:prstGeom>
              <a:blipFill>
                <a:blip r:embed="rId3"/>
                <a:stretch>
                  <a:fillRect l="-770" b="-12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C06BB00-60F3-FF70-19B2-65D76BA29A3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F23058-6F96-959E-2647-25B48863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3" y="1132709"/>
            <a:ext cx="5907564" cy="511893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BE35038-E87C-73A9-D28B-6C2AF2FC9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3028" y="1155103"/>
            <a:ext cx="966550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58578B27-4E49-C70D-D8A8-F65A4BE5E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8E3EC-D771-756F-093A-AB7D963427E9}"/>
              </a:ext>
            </a:extLst>
          </p:cNvPr>
          <p:cNvSpPr txBox="1"/>
          <p:nvPr/>
        </p:nvSpPr>
        <p:spPr>
          <a:xfrm>
            <a:off x="6429650" y="708505"/>
            <a:ext cx="5155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Pascal Decision Tree</a:t>
            </a:r>
            <a:endParaRPr lang="ko-KR" altLang="en-US" b="1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F3D3E35-B97F-56A2-6930-A65C324260E6}"/>
              </a:ext>
            </a:extLst>
          </p:cNvPr>
          <p:cNvSpPr/>
          <p:nvPr/>
        </p:nvSpPr>
        <p:spPr>
          <a:xfrm rot="14528965">
            <a:off x="8197200" y="3075052"/>
            <a:ext cx="3920306" cy="7207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4F89812-095B-AA85-7CF8-594CCAD0AE00}"/>
              </a:ext>
            </a:extLst>
          </p:cNvPr>
          <p:cNvSpPr/>
          <p:nvPr/>
        </p:nvSpPr>
        <p:spPr>
          <a:xfrm rot="18566868">
            <a:off x="7317838" y="2481848"/>
            <a:ext cx="1357399" cy="63910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BF7B28A-3998-42E5-40AA-50004FF5C8FD}"/>
              </a:ext>
            </a:extLst>
          </p:cNvPr>
          <p:cNvSpPr/>
          <p:nvPr/>
        </p:nvSpPr>
        <p:spPr>
          <a:xfrm rot="18566868">
            <a:off x="8089773" y="3836767"/>
            <a:ext cx="1357399" cy="63910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1C7E9D2-043A-C058-4DB4-3204ED484D69}"/>
              </a:ext>
            </a:extLst>
          </p:cNvPr>
          <p:cNvSpPr/>
          <p:nvPr/>
        </p:nvSpPr>
        <p:spPr>
          <a:xfrm rot="18566868">
            <a:off x="8770172" y="5190628"/>
            <a:ext cx="1357399" cy="63910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FBDFD-A513-423F-E73F-8EF59F705A9D}"/>
              </a:ext>
            </a:extLst>
          </p:cNvPr>
          <p:cNvSpPr txBox="1"/>
          <p:nvPr/>
        </p:nvSpPr>
        <p:spPr>
          <a:xfrm>
            <a:off x="8298240" y="3273535"/>
            <a:ext cx="470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44FB1-AA3E-BF3A-E256-9C78DE82EEC4}"/>
              </a:ext>
            </a:extLst>
          </p:cNvPr>
          <p:cNvSpPr txBox="1"/>
          <p:nvPr/>
        </p:nvSpPr>
        <p:spPr>
          <a:xfrm>
            <a:off x="8923020" y="4608583"/>
            <a:ext cx="470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11C743-729D-10B5-C1B7-C561E7CDCBBE}"/>
              </a:ext>
            </a:extLst>
          </p:cNvPr>
          <p:cNvSpPr txBox="1"/>
          <p:nvPr/>
        </p:nvSpPr>
        <p:spPr>
          <a:xfrm>
            <a:off x="10270877" y="2636912"/>
            <a:ext cx="470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99BCC-0879-EA81-CD7B-866DA81127C1}"/>
              </a:ext>
            </a:extLst>
          </p:cNvPr>
          <p:cNvSpPr txBox="1"/>
          <p:nvPr/>
        </p:nvSpPr>
        <p:spPr>
          <a:xfrm>
            <a:off x="10736122" y="3563724"/>
            <a:ext cx="470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9420A-87FA-2B3D-6FAC-4A3B7FFDC0E5}"/>
              </a:ext>
            </a:extLst>
          </p:cNvPr>
          <p:cNvSpPr txBox="1"/>
          <p:nvPr/>
        </p:nvSpPr>
        <p:spPr>
          <a:xfrm>
            <a:off x="11096162" y="4571836"/>
            <a:ext cx="470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95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1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7877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확률론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(probability theory)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은 사건의 빈도를 분석</a:t>
            </a:r>
            <a:endParaRPr lang="ko-KR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16A5B1-8581-2EBB-623F-214389405908}"/>
                  </a:ext>
                </a:extLst>
              </p:cNvPr>
              <p:cNvSpPr txBox="1"/>
              <p:nvPr/>
            </p:nvSpPr>
            <p:spPr>
              <a:xfrm>
                <a:off x="1354248" y="1484784"/>
                <a:ext cx="10225136" cy="4732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2000" dirty="0">
                    <a:latin typeface="+mj-ea"/>
                    <a:ea typeface="+mj-ea"/>
                  </a:rPr>
                  <a:t>✔ 확률실험</a:t>
                </a:r>
                <a:r>
                  <a:rPr lang="en-US" altLang="ko-KR" sz="2000" dirty="0">
                    <a:latin typeface="+mj-ea"/>
                    <a:ea typeface="+mj-ea"/>
                  </a:rPr>
                  <a:t>(Random Experiments)</a:t>
                </a:r>
                <a:r>
                  <a:rPr lang="ko-KR" altLang="en-US" sz="2000" dirty="0">
                    <a:latin typeface="+mj-ea"/>
                    <a:ea typeface="+mj-ea"/>
                  </a:rPr>
                  <a:t> </a:t>
                </a:r>
                <a:r>
                  <a:rPr lang="en-US" altLang="ko-KR" sz="2000" dirty="0">
                    <a:latin typeface="+mj-ea"/>
                    <a:ea typeface="+mj-ea"/>
                  </a:rPr>
                  <a:t>: </a:t>
                </a:r>
                <a:r>
                  <a:rPr lang="ko-KR" altLang="en-US" sz="2000" dirty="0">
                    <a:latin typeface="+mj-ea"/>
                    <a:ea typeface="+mj-ea"/>
                  </a:rPr>
                  <a:t>발생가능한 결과가 정해져 있는 실험</a:t>
                </a: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+mj-ea"/>
                    <a:ea typeface="+mj-ea"/>
                  </a:rPr>
                  <a:t>동전을 </a:t>
                </a:r>
                <a:r>
                  <a:rPr lang="en-US" altLang="ko-KR" dirty="0">
                    <a:latin typeface="+mj-ea"/>
                    <a:ea typeface="+mj-ea"/>
                  </a:rPr>
                  <a:t>2</a:t>
                </a:r>
                <a:r>
                  <a:rPr lang="ko-KR" altLang="en-US" dirty="0">
                    <a:latin typeface="+mj-ea"/>
                    <a:ea typeface="+mj-ea"/>
                  </a:rPr>
                  <a:t>번 던짐</a:t>
                </a:r>
                <a:r>
                  <a:rPr lang="en-US" altLang="ko-KR" dirty="0">
                    <a:latin typeface="+mj-ea"/>
                    <a:ea typeface="+mj-ea"/>
                  </a:rPr>
                  <a:t>(</a:t>
                </a:r>
                <a:r>
                  <a:rPr lang="ko-KR" altLang="en-US" dirty="0">
                    <a:latin typeface="+mj-ea"/>
                    <a:ea typeface="+mj-ea"/>
                  </a:rPr>
                  <a:t>혹은 </a:t>
                </a:r>
                <a:r>
                  <a:rPr lang="en-US" altLang="ko-KR" dirty="0">
                    <a:latin typeface="+mj-ea"/>
                    <a:ea typeface="+mj-ea"/>
                  </a:rPr>
                  <a:t>2</a:t>
                </a:r>
                <a:r>
                  <a:rPr lang="ko-KR" altLang="en-US" dirty="0">
                    <a:latin typeface="+mj-ea"/>
                    <a:ea typeface="+mj-ea"/>
                  </a:rPr>
                  <a:t>개를 동시에 던짐</a:t>
                </a:r>
                <a:r>
                  <a:rPr lang="en-US" altLang="ko-KR" dirty="0">
                    <a:latin typeface="+mj-ea"/>
                    <a:ea typeface="+mj-ea"/>
                  </a:rPr>
                  <a:t>)</a:t>
                </a: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endParaRPr lang="ko-KR" altLang="en-US" sz="2000" dirty="0">
                  <a:latin typeface="+mj-ea"/>
                  <a:ea typeface="+mj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2000" dirty="0">
                    <a:latin typeface="+mj-ea"/>
                    <a:ea typeface="+mj-ea"/>
                  </a:rPr>
                  <a:t>✔ 표본공간 </a:t>
                </a:r>
                <a:r>
                  <a:rPr lang="en-US" altLang="ko-KR" sz="2000" dirty="0">
                    <a:latin typeface="+mj-ea"/>
                    <a:ea typeface="+mj-ea"/>
                  </a:rPr>
                  <a:t>(Sample Space) : </a:t>
                </a:r>
                <a:r>
                  <a:rPr lang="ko-KR" altLang="en-US" sz="2000" dirty="0">
                    <a:latin typeface="+mj-ea"/>
                    <a:ea typeface="+mj-ea"/>
                  </a:rPr>
                  <a:t>실험에서 발생하는 모든 경우의 수</a:t>
                </a:r>
                <a:endParaRPr lang="en-US" altLang="ko-KR" sz="2000" dirty="0">
                  <a:latin typeface="+mj-ea"/>
                  <a:ea typeface="+mj-ea"/>
                </a:endParaRP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  <a:ea typeface="+mj-ea"/>
                      </a:rPr>
                      <m:t>𝑆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={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HH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HT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TH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TT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}</m:t>
                    </m:r>
                  </m:oMath>
                </a14:m>
                <a:endParaRPr lang="ko-KR" altLang="en-US" sz="2000" dirty="0">
                  <a:latin typeface="+mj-ea"/>
                  <a:ea typeface="+mj-ea"/>
                </a:endParaRPr>
              </a:p>
              <a:p>
                <a:pPr>
                  <a:lnSpc>
                    <a:spcPct val="200000"/>
                  </a:lnSpc>
                </a:pPr>
                <a:endParaRPr lang="en-US" altLang="ko-KR" sz="2000" dirty="0">
                  <a:latin typeface="+mj-ea"/>
                  <a:ea typeface="+mj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2000" dirty="0">
                    <a:latin typeface="+mj-ea"/>
                    <a:ea typeface="+mj-ea"/>
                  </a:rPr>
                  <a:t>✔ 확률변수 정의 </a:t>
                </a:r>
                <a:r>
                  <a:rPr lang="en-US" altLang="ko-KR" sz="2000" dirty="0">
                    <a:latin typeface="+mj-ea"/>
                    <a:ea typeface="+mj-ea"/>
                  </a:rPr>
                  <a:t>: </a:t>
                </a:r>
                <a:r>
                  <a:rPr lang="ko-KR" altLang="en-US" sz="2000" dirty="0">
                    <a:latin typeface="+mj-ea"/>
                    <a:ea typeface="+mj-ea"/>
                  </a:rPr>
                  <a:t>확률실험의 결과</a:t>
                </a:r>
                <a:r>
                  <a:rPr lang="en-US" altLang="ko-KR" sz="2000" dirty="0">
                    <a:latin typeface="+mj-ea"/>
                    <a:ea typeface="+mj-ea"/>
                  </a:rPr>
                  <a:t>(Event)</a:t>
                </a:r>
                <a:r>
                  <a:rPr lang="ko-KR" altLang="en-US" sz="2000" dirty="0">
                    <a:latin typeface="+mj-ea"/>
                    <a:ea typeface="+mj-ea"/>
                  </a:rPr>
                  <a:t>들을 실수로 변환해주는 함수</a:t>
                </a:r>
                <a:endParaRPr lang="en-US" altLang="ko-KR" sz="2000" dirty="0">
                  <a:latin typeface="+mj-ea"/>
                  <a:ea typeface="+mj-ea"/>
                </a:endParaRP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+mj-ea"/>
                    <a:ea typeface="+mj-ea"/>
                  </a:rPr>
                  <a:t>확률변수는 사건 → 숫자 값으로 매핑하는 함수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16A5B1-8581-2EBB-623F-214389405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248" y="1484784"/>
                <a:ext cx="10225136" cy="4732834"/>
              </a:xfrm>
              <a:prstGeom prst="rect">
                <a:avLst/>
              </a:prstGeom>
              <a:blipFill>
                <a:blip r:embed="rId3"/>
                <a:stretch>
                  <a:fillRect l="-596" b="-11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0914-4B59-AAA1-1AF8-32746A9E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822C6E-52B8-6527-1731-B766251B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5940DF-C3FB-B03A-72C1-A809344A711F}"/>
              </a:ext>
            </a:extLst>
          </p:cNvPr>
          <p:cNvSpPr/>
          <p:nvPr/>
        </p:nvSpPr>
        <p:spPr>
          <a:xfrm>
            <a:off x="189756" y="338469"/>
            <a:ext cx="47420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(Random variable)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47546817-2FA8-9C89-8C56-9362F7FBF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5273" y="2007697"/>
            <a:ext cx="6120680" cy="4501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3BE7-4C25-C85D-3506-419B0757094F}"/>
              </a:ext>
            </a:extLst>
          </p:cNvPr>
          <p:cNvSpPr txBox="1"/>
          <p:nvPr/>
        </p:nvSpPr>
        <p:spPr>
          <a:xfrm>
            <a:off x="693812" y="1052736"/>
            <a:ext cx="11089232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500"/>
              </a:spcAft>
              <a:buNone/>
            </a:pPr>
            <a:r>
              <a:rPr lang="en-US" altLang="ko-KR" sz="2000" b="0" i="0" dirty="0">
                <a:solidFill>
                  <a:srgbClr val="202122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 variable is a function from all possible outcomes to numerical quantities and it is used for defining probability functions.</a:t>
            </a:r>
            <a:b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614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A1F99-A4EC-7F3F-934E-66005ED4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9D4F466-55C4-B16A-4029-996A9BC5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5CCBDF-6705-3634-936B-9CB9066C4DBC}"/>
                  </a:ext>
                </a:extLst>
              </p:cNvPr>
              <p:cNvSpPr txBox="1"/>
              <p:nvPr/>
            </p:nvSpPr>
            <p:spPr>
              <a:xfrm>
                <a:off x="45740" y="3400962"/>
                <a:ext cx="43924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𝑃𝑟𝑜𝑏𝑎𝑏𝑖𝑙𝑖𝑡𝑦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   =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5CCBDF-6705-3634-936B-9CB9066C4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0" y="3400962"/>
                <a:ext cx="439248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E0838-E578-53A7-A2BC-EBA1A3F1DD08}"/>
                  </a:ext>
                </a:extLst>
              </p:cNvPr>
              <p:cNvSpPr txBox="1"/>
              <p:nvPr/>
            </p:nvSpPr>
            <p:spPr>
              <a:xfrm>
                <a:off x="4222204" y="3144705"/>
                <a:ext cx="2398340" cy="1126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4400" b="0" i="1" smtClean="0">
                            <a:latin typeface="Cambria Math" panose="02040503050406030204" pitchFamily="18" charset="0"/>
                          </a:rPr>
                          <m:t>𝑆𝑢𝑝𝑟𝑖𝑠𝑒</m:t>
                        </m:r>
                      </m:den>
                    </m:f>
                  </m:oMath>
                </a14:m>
                <a:r>
                  <a:rPr lang="en-US" altLang="ko-KR" sz="4400" dirty="0"/>
                  <a:t>   </a:t>
                </a:r>
                <a:endParaRPr lang="ko-KR" alt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E0838-E578-53A7-A2BC-EBA1A3F1D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204" y="3144705"/>
                <a:ext cx="2398340" cy="11264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608F7D0-B773-D11F-1994-D0C93D3D8818}"/>
              </a:ext>
            </a:extLst>
          </p:cNvPr>
          <p:cNvSpPr txBox="1"/>
          <p:nvPr/>
        </p:nvSpPr>
        <p:spPr>
          <a:xfrm>
            <a:off x="463614" y="1383666"/>
            <a:ext cx="9303206" cy="4944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500"/>
              </a:spcAft>
            </a:pP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에이스 포커와 로열 스트레이트 플러시 중에서 어느 것의 발생확률이 더 높은가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2E37D284-95E6-99C2-9F6F-D7E1D3297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9F4675-C598-E22C-0ADD-968BDBF9E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48" y="2254450"/>
            <a:ext cx="2107146" cy="16065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994939-B9DA-EE07-6F21-48DD3B489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4871" y="4357795"/>
            <a:ext cx="2057687" cy="1790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AF42AA-30B7-7FCA-DE7B-4D819B567A40}"/>
              </a:ext>
            </a:extLst>
          </p:cNvPr>
          <p:cNvSpPr txBox="1"/>
          <p:nvPr/>
        </p:nvSpPr>
        <p:spPr>
          <a:xfrm>
            <a:off x="9425694" y="2480201"/>
            <a:ext cx="2357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에이스 포커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algn="ctr"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(Four of a Kind - Aces) 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D0D5AC-E76B-0B6F-4CD4-628F6CA2A116}"/>
              </a:ext>
            </a:extLst>
          </p:cNvPr>
          <p:cNvSpPr txBox="1"/>
          <p:nvPr/>
        </p:nvSpPr>
        <p:spPr>
          <a:xfrm>
            <a:off x="9437628" y="4360678"/>
            <a:ext cx="2398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로열 스트레이트 플러시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(Royal Straight Flush) 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49FFA72-CDE0-1042-0553-40E2E4C25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B6AEA99-33A7-D646-75E2-8F12BBB0419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28626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1AA2-7665-89C3-A8AC-74C2F1B4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6AD45C6-4544-A375-0C8B-F71C226E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AC118F-BF0C-2737-5E5C-6AA784F48F3F}"/>
              </a:ext>
            </a:extLst>
          </p:cNvPr>
          <p:cNvSpPr/>
          <p:nvPr/>
        </p:nvSpPr>
        <p:spPr>
          <a:xfrm>
            <a:off x="765820" y="764704"/>
            <a:ext cx="7877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확률론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(probability theory)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은 사건의 빈도를 분석</a:t>
            </a:r>
            <a:endParaRPr lang="ko-KR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834C025-9C4C-1B40-6FCA-44C2E88F7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5002338"/>
                  </p:ext>
                </p:extLst>
              </p:nvPr>
            </p:nvGraphicFramePr>
            <p:xfrm>
              <a:off x="981844" y="2636913"/>
              <a:ext cx="10441161" cy="324035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231131">
                      <a:extLst>
                        <a:ext uri="{9D8B030D-6E8A-4147-A177-3AD203B41FA5}">
                          <a16:colId xmlns:a16="http://schemas.microsoft.com/office/drawing/2014/main" val="287144223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460948932"/>
                        </a:ext>
                      </a:extLst>
                    </a:gridCol>
                    <a:gridCol w="2173244">
                      <a:extLst>
                        <a:ext uri="{9D8B030D-6E8A-4147-A177-3AD203B41FA5}">
                          <a16:colId xmlns:a16="http://schemas.microsoft.com/office/drawing/2014/main" val="2817877067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5349110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2594679281"/>
                        </a:ext>
                      </a:extLst>
                    </a:gridCol>
                  </a:tblGrid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표본</a:t>
                          </a:r>
                          <a:r>
                            <a:rPr lang="en-US" altLang="ko-KR" sz="1800" b="1" baseline="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 </a:t>
                          </a:r>
                          <a:r>
                            <a:rPr lang="ko-KR" altLang="en-US" sz="1800" b="1" baseline="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공간</a:t>
                          </a:r>
                          <a:endParaRPr lang="en-US" altLang="ko-KR" sz="1800" b="1" baseline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  <a:p>
                          <a:pPr algn="ctr" latinLnBrk="1"/>
                          <a:r>
                            <a:rPr lang="en-US" altLang="ko-KR" sz="1800" b="1" baseline="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(Sample Space)</a:t>
                          </a:r>
                          <a:endParaRPr lang="ko-KR" altLang="en-US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HH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HT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TH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TT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732645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관측빈도</a:t>
                          </a:r>
                          <a:endParaRPr lang="en-US" altLang="ko-KR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  <a:p>
                          <a:pPr algn="ctr" latinLnBrk="1"/>
                          <a:r>
                            <a:rPr lang="en-US" altLang="ko-KR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(Frequency)</a:t>
                          </a:r>
                          <a:endParaRPr lang="ko-KR" altLang="en-US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24</a:t>
                          </a:r>
                          <a:r>
                            <a:rPr lang="ko-KR" altLang="en-US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21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28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27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857031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확률변수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8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𝑿</m:t>
                              </m:r>
                            </m:oMath>
                          </a14:m>
                          <a:r>
                            <a:rPr lang="ko-KR" altLang="en-US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 </a:t>
                          </a:r>
                          <a:endParaRPr lang="en-US" altLang="ko-KR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  <a:p>
                          <a:pPr algn="ctr" latinLnBrk="1"/>
                          <a:r>
                            <a:rPr lang="en-US" altLang="ko-KR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(</a:t>
                          </a:r>
                          <a:r>
                            <a:rPr lang="ko-KR" altLang="en-US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빈도</a:t>
                          </a:r>
                          <a:r>
                            <a:rPr lang="en-US" altLang="ko-KR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)</a:t>
                          </a:r>
                          <a:endParaRPr lang="ko-KR" altLang="en-US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𝑋</m:t>
                                </m:r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=24</m:t>
                                </m:r>
                              </m:oMath>
                            </m:oMathPara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𝑋</m:t>
                                </m:r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=21</m:t>
                                </m:r>
                              </m:oMath>
                            </m:oMathPara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𝑋</m:t>
                                </m:r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=28</m:t>
                                </m:r>
                              </m:oMath>
                            </m:oMathPara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𝑋</m:t>
                                </m:r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=27</m:t>
                                </m:r>
                              </m:oMath>
                            </m:oMathPara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5869906"/>
                      </a:ext>
                    </a:extLst>
                  </a:tr>
                  <a:tr h="96395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1" kern="12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확률 </a:t>
                          </a:r>
                          <a:endParaRPr lang="en-US" altLang="ko-KR" sz="1800" b="1" kern="12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ko-KR" sz="18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𝑿</m:t>
                                    </m:r>
                                    <m:r>
                                      <a:rPr lang="en-US" altLang="ko-KR" sz="18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=</m:t>
                                    </m:r>
                                    <m:r>
                                      <a:rPr lang="en-US" altLang="ko-KR" sz="18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=24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=21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=28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28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=27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86941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834C025-9C4C-1B40-6FCA-44C2E88F7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5002338"/>
                  </p:ext>
                </p:extLst>
              </p:nvPr>
            </p:nvGraphicFramePr>
            <p:xfrm>
              <a:off x="981844" y="2636913"/>
              <a:ext cx="10441161" cy="324035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231131">
                      <a:extLst>
                        <a:ext uri="{9D8B030D-6E8A-4147-A177-3AD203B41FA5}">
                          <a16:colId xmlns:a16="http://schemas.microsoft.com/office/drawing/2014/main" val="287144223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460948932"/>
                        </a:ext>
                      </a:extLst>
                    </a:gridCol>
                    <a:gridCol w="2173244">
                      <a:extLst>
                        <a:ext uri="{9D8B030D-6E8A-4147-A177-3AD203B41FA5}">
                          <a16:colId xmlns:a16="http://schemas.microsoft.com/office/drawing/2014/main" val="2817877067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5349110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2594679281"/>
                        </a:ext>
                      </a:extLst>
                    </a:gridCol>
                  </a:tblGrid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표본</a:t>
                          </a:r>
                          <a:r>
                            <a:rPr lang="en-US" altLang="ko-KR" sz="1800" b="1" baseline="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 </a:t>
                          </a:r>
                          <a:r>
                            <a:rPr lang="ko-KR" altLang="en-US" sz="1800" b="1" baseline="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공간</a:t>
                          </a:r>
                          <a:endParaRPr lang="en-US" altLang="ko-KR" sz="1800" b="1" baseline="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  <a:p>
                          <a:pPr algn="ctr" latinLnBrk="1"/>
                          <a:r>
                            <a:rPr lang="en-US" altLang="ko-KR" sz="1800" b="1" baseline="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(Sample Space)</a:t>
                          </a:r>
                          <a:endParaRPr lang="ko-KR" altLang="en-US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HH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HT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TH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TT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732645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관측빈도</a:t>
                          </a:r>
                          <a:endParaRPr lang="en-US" altLang="ko-KR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  <a:p>
                          <a:pPr algn="ctr" latinLnBrk="1"/>
                          <a:r>
                            <a:rPr lang="en-US" altLang="ko-KR" sz="1800" b="1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(Frequency)</a:t>
                          </a:r>
                          <a:endParaRPr lang="ko-KR" altLang="en-US" sz="1800" b="1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24</a:t>
                          </a:r>
                          <a:r>
                            <a:rPr lang="ko-KR" altLang="en-US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21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28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  <a:latin typeface="맑은 고딕 Semilight" panose="020B0502040204020203" pitchFamily="50" charset="-127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a:t>27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  <a:latin typeface="맑은 고딕 Semilight" panose="020B0502040204020203" pitchFamily="50" charset="-127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857031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3" t="-205645" r="-369399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1212" t="-205645" r="-309697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95238" t="-205645" r="-186275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9394" t="-205645" r="-101515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19394" t="-205645" r="-1515" b="-129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5869906"/>
                      </a:ext>
                    </a:extLst>
                  </a:tr>
                  <a:tr h="9639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3" t="-238365" r="-369399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1212" t="-238365" r="-309697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95238" t="-238365" r="-186275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9394" t="-238365" r="-101515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19394" t="-238365" r="-1515" b="-1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6941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173628-CC13-B114-9DA6-28C51EA63682}"/>
              </a:ext>
            </a:extLst>
          </p:cNvPr>
          <p:cNvSpPr txBox="1"/>
          <p:nvPr/>
        </p:nvSpPr>
        <p:spPr>
          <a:xfrm>
            <a:off x="784448" y="1484784"/>
            <a:ext cx="10926588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동전 던지기 실험에서 나온 앞면과 뒷면이 나온 순서의 쌍을 확률변수로 설정하고 확률을 구하라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확률변수의 확률이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¼(0.25)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아닌 이유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02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F737-4D84-A348-6FE1-9D35471C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BF54B44-AEF4-5A91-28A0-B7F04F80476A}"/>
              </a:ext>
            </a:extLst>
          </p:cNvPr>
          <p:cNvSpPr/>
          <p:nvPr/>
        </p:nvSpPr>
        <p:spPr>
          <a:xfrm>
            <a:off x="598421" y="220486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19A402-6026-8725-BF04-5D3962A6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A1178-92B0-2653-5C2D-55676F0F0DEC}"/>
              </a:ext>
            </a:extLst>
          </p:cNvPr>
          <p:cNvSpPr txBox="1"/>
          <p:nvPr/>
        </p:nvSpPr>
        <p:spPr>
          <a:xfrm>
            <a:off x="1629916" y="147612"/>
            <a:ext cx="8928992" cy="5261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133282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101531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이산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vs </a:t>
            </a:r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(Discrete vs Continuous Variables)</a:t>
            </a:r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 변수</a:t>
            </a:r>
            <a:endParaRPr lang="en-US" altLang="ko-KR" sz="2800" dirty="0">
              <a:solidFill>
                <a:srgbClr val="3131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5820" y="1480069"/>
            <a:ext cx="1081356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동전의 앞과 뒤면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주사위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카드의 종류 등은 수자가 양의 </a:t>
            </a:r>
            <a:r>
              <a:rPr lang="ko-KR" altLang="en-US" b="1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정수</a:t>
            </a: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셀 수 있으면 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  </a:t>
            </a:r>
            <a:r>
              <a:rPr lang="ko-KR" altLang="en-US" b="1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</a:t>
            </a:r>
            <a:r>
              <a:rPr lang="en-US" altLang="ko-KR" b="1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(Discrete)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키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몸무게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나이 등은 </a:t>
            </a:r>
            <a:r>
              <a:rPr lang="ko-KR" altLang="en-US" b="1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실수</a:t>
            </a:r>
            <a:r>
              <a:rPr lang="ko-KR" altLang="en-US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형으로 연속되어 관측하지 못하면 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en-US" altLang="ko-KR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	       </a:t>
            </a:r>
            <a:r>
              <a:rPr lang="ko-KR" altLang="en-US" b="1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연속</a:t>
            </a:r>
            <a:r>
              <a:rPr lang="en-US" altLang="ko-KR" b="1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(Continuous)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423B1F-95FC-3C82-A06C-8B557E5F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011" y="3068960"/>
            <a:ext cx="6108314" cy="314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9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365E-DCFF-96F3-298F-F5F247338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6324E70-6F84-6311-F6B2-1040987F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A4A8F3-1193-4C29-9A0D-EA47EA38719C}"/>
              </a:ext>
            </a:extLst>
          </p:cNvPr>
          <p:cNvSpPr/>
          <p:nvPr/>
        </p:nvSpPr>
        <p:spPr>
          <a:xfrm>
            <a:off x="765820" y="764704"/>
            <a:ext cx="101531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이산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vs </a:t>
            </a:r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(Discrete vs Continuous Variables)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F7F8C68-98B9-D150-4485-D71247D99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45" y="2040962"/>
            <a:ext cx="10278028" cy="383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1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04A3-11C6-A4B6-FEB7-9B521201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0A3193A-5C37-1295-0D77-79B1BC12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5E54ED-270C-EBD6-7186-358A63F3796F}"/>
              </a:ext>
            </a:extLst>
          </p:cNvPr>
          <p:cNvSpPr/>
          <p:nvPr/>
        </p:nvSpPr>
        <p:spPr>
          <a:xfrm>
            <a:off x="765820" y="281951"/>
            <a:ext cx="101531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Wave Particle Duality Explained</a:t>
            </a:r>
            <a:endParaRPr lang="en-US" altLang="ko-KR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3A2659-57A1-160B-7F71-392DA19F874D}"/>
              </a:ext>
            </a:extLst>
          </p:cNvPr>
          <p:cNvSpPr txBox="1"/>
          <p:nvPr/>
        </p:nvSpPr>
        <p:spPr>
          <a:xfrm>
            <a:off x="3718148" y="892402"/>
            <a:ext cx="36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Double Slit Experiment(</a:t>
            </a:r>
            <a:r>
              <a:rPr lang="ko-KR" altLang="en-US" sz="14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양자역학</a:t>
            </a:r>
            <a:r>
              <a:rPr lang="en-US" altLang="ko-KR" sz="14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5B315E-BBB3-6FA1-CBB0-3A782525DDC8}"/>
              </a:ext>
            </a:extLst>
          </p:cNvPr>
          <p:cNvGrpSpPr/>
          <p:nvPr/>
        </p:nvGrpSpPr>
        <p:grpSpPr>
          <a:xfrm>
            <a:off x="3786494" y="1239628"/>
            <a:ext cx="4258988" cy="5251467"/>
            <a:chOff x="3456989" y="836712"/>
            <a:chExt cx="4766522" cy="5877272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343D174-FA76-A565-AE83-817FFA5171E8}"/>
                </a:ext>
              </a:extLst>
            </p:cNvPr>
            <p:cNvGrpSpPr/>
            <p:nvPr/>
          </p:nvGrpSpPr>
          <p:grpSpPr>
            <a:xfrm>
              <a:off x="3461256" y="836712"/>
              <a:ext cx="4762255" cy="2951030"/>
              <a:chOff x="2368021" y="2035369"/>
              <a:chExt cx="4568717" cy="2243003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8C012A9E-82CB-2131-A251-48868C8EF4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4867706" y="2209340"/>
                <a:ext cx="2243002" cy="1895062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E00FED4F-7CA4-E1E2-4EE5-8A370BABC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8021" y="2035369"/>
                <a:ext cx="2683596" cy="2241355"/>
              </a:xfrm>
              <a:prstGeom prst="rect">
                <a:avLst/>
              </a:prstGeom>
            </p:spPr>
          </p:pic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BBCB4992-A854-50D2-0597-925AFA91D501}"/>
                </a:ext>
              </a:extLst>
            </p:cNvPr>
            <p:cNvGrpSpPr/>
            <p:nvPr/>
          </p:nvGrpSpPr>
          <p:grpSpPr>
            <a:xfrm>
              <a:off x="3456989" y="3694559"/>
              <a:ext cx="4763086" cy="3019425"/>
              <a:chOff x="2374321" y="4472205"/>
              <a:chExt cx="4562417" cy="2244651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85251753-1FC5-E322-6D64-8C0D9885B7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4321" y="4472205"/>
                <a:ext cx="2721554" cy="2244509"/>
              </a:xfrm>
              <a:prstGeom prst="rect">
                <a:avLst/>
              </a:prstGeom>
            </p:spPr>
          </p:pic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1A9BBBF0-7385-7534-391D-655A4EB6B2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4867706" y="4647824"/>
                <a:ext cx="2243002" cy="1895062"/>
              </a:xfrm>
              <a:prstGeom prst="rect">
                <a:avLst/>
              </a:prstGeom>
            </p:spPr>
          </p:pic>
        </p:grp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A36015E5-2211-C3C8-0AC6-9F0E846C9A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964369" y="2773371"/>
            <a:ext cx="3965901" cy="20396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3D0142-B2BB-A8FB-44D8-614DF08C3313}"/>
              </a:ext>
            </a:extLst>
          </p:cNvPr>
          <p:cNvSpPr txBox="1"/>
          <p:nvPr/>
        </p:nvSpPr>
        <p:spPr>
          <a:xfrm>
            <a:off x="829757" y="2372397"/>
            <a:ext cx="1127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Laser</a:t>
            </a:r>
          </a:p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(Wave)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17A8BE-7028-9BD7-1E05-B77A85CFA83B}"/>
              </a:ext>
            </a:extLst>
          </p:cNvPr>
          <p:cNvSpPr txBox="1"/>
          <p:nvPr/>
        </p:nvSpPr>
        <p:spPr>
          <a:xfrm>
            <a:off x="795225" y="4036830"/>
            <a:ext cx="1887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Electron gun</a:t>
            </a:r>
          </a:p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(Particle)</a:t>
            </a:r>
            <a:endParaRPr lang="en-US" altLang="ko-KR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098" name="Picture 2" descr="schoolphysics ::Welcome::">
            <a:extLst>
              <a:ext uri="{FF2B5EF4-FFF2-40B4-BE49-F238E27FC236}">
                <a16:creationId xmlns:a16="http://schemas.microsoft.com/office/drawing/2014/main" id="{970AF06D-1B9B-E5E8-B7EF-AA9A644CD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176" y="4847310"/>
            <a:ext cx="2096303" cy="58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우주와 은하수 별 복고풍 스타일의 3d 그림에서 광속 줌 여행. 우주와 은하수 스타 복고풍 스타일의 3d 그림에서 광속 줌 여행.">
            <a:extLst>
              <a:ext uri="{FF2B5EF4-FFF2-40B4-BE49-F238E27FC236}">
                <a16:creationId xmlns:a16="http://schemas.microsoft.com/office/drawing/2014/main" id="{CBBB60F5-979B-B075-0424-7877AE3AA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835" y="1950798"/>
            <a:ext cx="823019" cy="143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41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A1BE-5319-9B17-AC27-C21C5490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B05A11E-C51B-54E0-6AE8-D2470373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757F0F-DCD9-2DCB-6113-CB0A8074D20D}"/>
              </a:ext>
            </a:extLst>
          </p:cNvPr>
          <p:cNvSpPr/>
          <p:nvPr/>
        </p:nvSpPr>
        <p:spPr>
          <a:xfrm>
            <a:off x="765820" y="764704"/>
            <a:ext cx="101531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(Continuous Variables)</a:t>
            </a:r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 변수</a:t>
            </a:r>
            <a:endParaRPr lang="en-US" altLang="ko-KR" sz="2800" dirty="0">
              <a:solidFill>
                <a:srgbClr val="3131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C16F32-1436-4987-9DBA-9A41EB3CF136}"/>
              </a:ext>
            </a:extLst>
          </p:cNvPr>
          <p:cNvSpPr/>
          <p:nvPr/>
        </p:nvSpPr>
        <p:spPr>
          <a:xfrm>
            <a:off x="765820" y="1480069"/>
            <a:ext cx="10813564" cy="57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당신의 정확한 키</a:t>
            </a:r>
            <a:r>
              <a:rPr lang="en-US" altLang="ko-KR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몸무게</a:t>
            </a:r>
            <a:r>
              <a:rPr lang="en-US" altLang="ko-KR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나이 등 실수형 변수는 알 수가 없다</a:t>
            </a:r>
            <a:r>
              <a:rPr lang="en-US" altLang="ko-KR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CC9085-109A-009A-A979-332B07FAB49A}"/>
              </a:ext>
            </a:extLst>
          </p:cNvPr>
          <p:cNvSpPr txBox="1"/>
          <p:nvPr/>
        </p:nvSpPr>
        <p:spPr>
          <a:xfrm>
            <a:off x="1845940" y="2492896"/>
            <a:ext cx="12385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X = 0.1</a:t>
            </a:r>
          </a:p>
          <a:p>
            <a:r>
              <a:rPr lang="en-US" altLang="ko-KR" sz="2400" dirty="0"/>
              <a:t>y = 0.2</a:t>
            </a:r>
          </a:p>
          <a:p>
            <a:r>
              <a:rPr lang="en-US" altLang="ko-KR" sz="2400" dirty="0"/>
              <a:t>Z</a:t>
            </a:r>
            <a:r>
              <a:rPr lang="ko-KR" altLang="en-US" sz="2400" dirty="0"/>
              <a:t> </a:t>
            </a:r>
            <a:r>
              <a:rPr lang="en-US" altLang="ko-KR" sz="2400" dirty="0"/>
              <a:t>=</a:t>
            </a:r>
            <a:r>
              <a:rPr lang="ko-KR" altLang="en-US" sz="2400" dirty="0"/>
              <a:t> </a:t>
            </a:r>
            <a:r>
              <a:rPr lang="en-US" altLang="ko-KR" sz="2400" dirty="0"/>
              <a:t>X</a:t>
            </a:r>
            <a:r>
              <a:rPr lang="ko-KR" altLang="en-US" sz="2400" dirty="0"/>
              <a:t> </a:t>
            </a:r>
            <a:r>
              <a:rPr lang="en-US" altLang="ko-KR" sz="2400" dirty="0"/>
              <a:t>+</a:t>
            </a:r>
            <a:r>
              <a:rPr lang="ko-KR" altLang="en-US" sz="2400" dirty="0"/>
              <a:t> </a:t>
            </a:r>
            <a:r>
              <a:rPr lang="en-US" altLang="ko-KR" sz="2400" dirty="0"/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57E4D-8854-5028-D6CD-1F0257DFA71A}"/>
              </a:ext>
            </a:extLst>
          </p:cNvPr>
          <p:cNvSpPr txBox="1"/>
          <p:nvPr/>
        </p:nvSpPr>
        <p:spPr>
          <a:xfrm>
            <a:off x="4822948" y="2564904"/>
            <a:ext cx="6096000" cy="73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2400" dirty="0"/>
              <a:t>print(0.1+0.2)</a:t>
            </a:r>
          </a:p>
          <a:p>
            <a:pPr>
              <a:lnSpc>
                <a:spcPts val="1575"/>
              </a:lnSpc>
              <a:buNone/>
            </a:pPr>
            <a:endParaRPr lang="en-US" altLang="ko-KR" sz="2400" dirty="0"/>
          </a:p>
          <a:p>
            <a:pPr>
              <a:lnSpc>
                <a:spcPts val="1575"/>
              </a:lnSpc>
              <a:buNone/>
            </a:pPr>
            <a:r>
              <a:rPr lang="en-US" altLang="ko-KR" sz="2400" dirty="0"/>
              <a:t># 0.30000000000000004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8AD78-BD84-025B-68E3-977E3020D467}"/>
              </a:ext>
            </a:extLst>
          </p:cNvPr>
          <p:cNvSpPr txBox="1"/>
          <p:nvPr/>
        </p:nvSpPr>
        <p:spPr>
          <a:xfrm>
            <a:off x="5492575" y="3410072"/>
            <a:ext cx="6096000" cy="2531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소수점 아래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번째 자리에서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튀어나온 것을 볼 수 있습니다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자리 근처에서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비트가 표현할 수 있는 한계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도달했음을 의미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10진수 0.3을 2진수로 변환하면 0.01001100110011...</a:t>
            </a:r>
            <a:r>
              <a:rPr lang="ko-KR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처럼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무한 순환 소수가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되어서</a:t>
            </a:r>
            <a:endParaRPr lang="ko-KR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395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이산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vs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연속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(Discrete vs Continuous Variables)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0" y="2996952"/>
            <a:ext cx="4128993" cy="30243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275" y="2980913"/>
            <a:ext cx="4438836" cy="30243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940" y="4553863"/>
            <a:ext cx="817247" cy="864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1752" y="1846455"/>
            <a:ext cx="6048672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실수형 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(height)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존재하고 관측할 수 있는가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No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분에 버스를 탈 확률은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C8450-EB6E-751C-CE3F-07709D4FB308}"/>
              </a:ext>
            </a:extLst>
          </p:cNvPr>
          <p:cNvSpPr txBox="1"/>
          <p:nvPr/>
        </p:nvSpPr>
        <p:spPr>
          <a:xfrm>
            <a:off x="837828" y="1844824"/>
            <a:ext cx="4536504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주사위를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 던져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~ 6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나오는 빈도를 히스토그램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868BD-FAB2-A805-D17E-154EA0FDECCE}"/>
              </a:ext>
            </a:extLst>
          </p:cNvPr>
          <p:cNvSpPr txBox="1"/>
          <p:nvPr/>
        </p:nvSpPr>
        <p:spPr>
          <a:xfrm>
            <a:off x="8680520" y="5462005"/>
            <a:ext cx="1318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175.231…………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12" name="그래픽 11" descr="물음표 단색으로 채워진">
            <a:extLst>
              <a:ext uri="{FF2B5EF4-FFF2-40B4-BE49-F238E27FC236}">
                <a16:creationId xmlns:a16="http://schemas.microsoft.com/office/drawing/2014/main" id="{A9341DF1-1021-D53B-A9F0-6C5CADBED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8668" y="5229200"/>
            <a:ext cx="465610" cy="46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7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7604-2327-5558-3C23-5FD763C9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902671-99DC-0704-3E05-870C0172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6FA2E-CCA4-9C6D-219C-3A10969775BC}"/>
              </a:ext>
            </a:extLst>
          </p:cNvPr>
          <p:cNvSpPr txBox="1"/>
          <p:nvPr/>
        </p:nvSpPr>
        <p:spPr>
          <a:xfrm>
            <a:off x="117747" y="260648"/>
            <a:ext cx="8617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이산 확률변수</a:t>
            </a:r>
            <a:r>
              <a:rPr lang="en-US" altLang="ko-KR" sz="3200" b="1" dirty="0"/>
              <a:t>(Discrete Random Variable)</a:t>
            </a:r>
            <a:endParaRPr lang="ko-KR" altLang="en-US" sz="3200" b="1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A0AA3B4A-A17D-3D7E-5AE2-8EDF1FCF3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" y="2498610"/>
            <a:ext cx="5395189" cy="404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CEAFFF4A-8D79-A378-369A-56B6E02C3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499" y="2498610"/>
            <a:ext cx="5303537" cy="403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2518F2-F2C5-B7F4-7D14-1EFF0BC5E3B6}"/>
              </a:ext>
            </a:extLst>
          </p:cNvPr>
          <p:cNvSpPr txBox="1"/>
          <p:nvPr/>
        </p:nvSpPr>
        <p:spPr>
          <a:xfrm>
            <a:off x="545028" y="1244332"/>
            <a:ext cx="11166008" cy="8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주사위의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합을 확률변수로 가정하여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확률질량함수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(Probability Mass Function)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누적분포함수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(Cumulative Distribution Function)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만들고 토론하자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68FED-814B-0837-726E-1CD03044A571}"/>
              </a:ext>
            </a:extLst>
          </p:cNvPr>
          <p:cNvSpPr txBox="1"/>
          <p:nvPr/>
        </p:nvSpPr>
        <p:spPr>
          <a:xfrm>
            <a:off x="1269876" y="2780928"/>
            <a:ext cx="1512168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P(X=2) = 0.028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P(X=3) = 0.056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P(X=4) = 0.083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P(X=5) = 0.111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P(X=6) = 0.139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P(X=7) = 0.167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P(X=8) = 0.139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P(X=9) = 0.111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P(X=10) = 0.083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P(X=11) = 0.056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P(X=12) = 0.028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6035C-B9F4-DC4A-2764-D3E3D8BBA76B}"/>
              </a:ext>
            </a:extLst>
          </p:cNvPr>
          <p:cNvSpPr txBox="1"/>
          <p:nvPr/>
        </p:nvSpPr>
        <p:spPr>
          <a:xfrm>
            <a:off x="10157354" y="3854360"/>
            <a:ext cx="14171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2) = 0.028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3) = 0.083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4) = 0.167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5) = 0.278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6) = 0.417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7) = 0.583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8) = 0.722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9) = 0.833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10) = 0.917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11) = 0.972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12) = 1.000</a:t>
            </a:r>
          </a:p>
        </p:txBody>
      </p:sp>
    </p:spTree>
    <p:extLst>
      <p:ext uri="{BB962C8B-B14F-4D97-AF65-F5344CB8AC3E}">
        <p14:creationId xmlns:p14="http://schemas.microsoft.com/office/powerpoint/2010/main" val="202053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DB1FC-FA00-8A5B-93A2-45FA9014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7D0911-F317-C20F-9ED7-4D63DC3E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6A8E8-F46D-B882-CD19-F702C4184415}"/>
              </a:ext>
            </a:extLst>
          </p:cNvPr>
          <p:cNvSpPr txBox="1"/>
          <p:nvPr/>
        </p:nvSpPr>
        <p:spPr>
          <a:xfrm>
            <a:off x="117748" y="260648"/>
            <a:ext cx="993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연속형 확률변수</a:t>
            </a:r>
            <a:r>
              <a:rPr lang="en-US" altLang="ko-KR" sz="3200" b="1" dirty="0"/>
              <a:t>(Continuous Random Variable)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684D3-3797-6450-5C1A-643E2674B164}"/>
              </a:ext>
            </a:extLst>
          </p:cNvPr>
          <p:cNvSpPr txBox="1"/>
          <p:nvPr/>
        </p:nvSpPr>
        <p:spPr>
          <a:xfrm>
            <a:off x="549796" y="1268760"/>
            <a:ext cx="3173120" cy="454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sns.load_dataset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(“titanic“)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age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변수로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Histogram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바탕으로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PMF, CDF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시각화하고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KDE=True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를 사용하여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PDF(probability density function)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CDF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만들고 토론하자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이산형 변수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age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KDE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fitting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pdf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왜 확률이 아닌가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그렇다면 확률은 무엇인가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확률은 특정 구간의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적분이다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92C1C3-7BD6-6C78-DD43-BC315F7BB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180" y="1268759"/>
            <a:ext cx="7200800" cy="510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34463F8-063B-AE3C-F94A-CE78D30AC6AF}"/>
              </a:ext>
            </a:extLst>
          </p:cNvPr>
          <p:cNvCxnSpPr/>
          <p:nvPr/>
        </p:nvCxnSpPr>
        <p:spPr>
          <a:xfrm flipV="1">
            <a:off x="6183838" y="4437112"/>
            <a:ext cx="0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C08847-DED1-FA39-1682-8BE3AAACBB0B}"/>
              </a:ext>
            </a:extLst>
          </p:cNvPr>
          <p:cNvCxnSpPr/>
          <p:nvPr/>
        </p:nvCxnSpPr>
        <p:spPr>
          <a:xfrm flipV="1">
            <a:off x="6958508" y="4437112"/>
            <a:ext cx="0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92568C-F1FE-36E7-5BAD-CB2402E110AA}"/>
                  </a:ext>
                </a:extLst>
              </p:cNvPr>
              <p:cNvSpPr txBox="1"/>
              <p:nvPr/>
            </p:nvSpPr>
            <p:spPr>
              <a:xfrm>
                <a:off x="6022404" y="1844824"/>
                <a:ext cx="14401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=55</m:t>
                          </m:r>
                        </m:e>
                      </m:d>
                    </m:oMath>
                  </m:oMathPara>
                </a14:m>
                <a:endParaRPr lang="en-US" altLang="ko-KR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92568C-F1FE-36E7-5BAD-CB2402E11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04" y="1844824"/>
                <a:ext cx="144015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6A1032-7851-6067-E5E6-825F9118E6E4}"/>
                  </a:ext>
                </a:extLst>
              </p:cNvPr>
              <p:cNvSpPr txBox="1"/>
              <p:nvPr/>
            </p:nvSpPr>
            <p:spPr>
              <a:xfrm>
                <a:off x="5662364" y="4188348"/>
                <a:ext cx="1854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55</m:t>
                          </m:r>
                        </m:e>
                      </m:d>
                    </m:oMath>
                  </m:oMathPara>
                </a14:m>
                <a:endParaRPr lang="en-US" altLang="ko-KR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6A1032-7851-6067-E5E6-825F9118E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4" y="4188348"/>
                <a:ext cx="185479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6654FE7-FA3E-D7CA-1AA9-57AEAE41A356}"/>
              </a:ext>
            </a:extLst>
          </p:cNvPr>
          <p:cNvCxnSpPr/>
          <p:nvPr/>
        </p:nvCxnSpPr>
        <p:spPr>
          <a:xfrm flipV="1">
            <a:off x="6166420" y="1988840"/>
            <a:ext cx="0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783FDFE-90EB-3F74-8A5F-57245085A571}"/>
              </a:ext>
            </a:extLst>
          </p:cNvPr>
          <p:cNvCxnSpPr/>
          <p:nvPr/>
        </p:nvCxnSpPr>
        <p:spPr>
          <a:xfrm>
            <a:off x="6183838" y="4869160"/>
            <a:ext cx="77467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39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B0B1-AC43-276B-0D54-6930E968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7E9029-7CE6-C1E0-0D99-33279614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307B2-E487-A983-92DA-289CC6D0FD3B}"/>
              </a:ext>
            </a:extLst>
          </p:cNvPr>
          <p:cNvSpPr txBox="1"/>
          <p:nvPr/>
        </p:nvSpPr>
        <p:spPr>
          <a:xfrm>
            <a:off x="333771" y="989460"/>
            <a:ext cx="1137726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Histogram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bins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개수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따라 이산적인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(Discrete)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데이터의 분포 모양이 달라짐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이산데이터를 연속데이터로 가정하여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Gaussian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KDE(Kernel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Density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 적용하여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확률밀도함수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생성하고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모든 무한한 실수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(Unseen data)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확률밀도를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80877-4248-8305-6897-65878F33FD87}"/>
              </a:ext>
            </a:extLst>
          </p:cNvPr>
          <p:cNvSpPr txBox="1"/>
          <p:nvPr/>
        </p:nvSpPr>
        <p:spPr>
          <a:xfrm>
            <a:off x="117748" y="260648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히스토그램과</a:t>
            </a:r>
            <a:r>
              <a:rPr lang="en-US" altLang="ko-KR" sz="3200" b="1" dirty="0"/>
              <a:t> KDE</a:t>
            </a:r>
            <a:endParaRPr lang="ko-KR" altLang="en-US" sz="3200" b="1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D2C2A6F-AA51-181B-2EE7-B31827536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2" y="2584478"/>
            <a:ext cx="11321047" cy="37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D4DD41-5CA4-AFE6-2137-9A1AD55D735D}"/>
              </a:ext>
            </a:extLst>
          </p:cNvPr>
          <p:cNvSpPr txBox="1"/>
          <p:nvPr/>
        </p:nvSpPr>
        <p:spPr>
          <a:xfrm>
            <a:off x="621804" y="2286185"/>
            <a:ext cx="2966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1D Kernel Density Estimation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95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E592-91C4-33F7-AABF-0D38957D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0002C89-B43D-5CD1-AC62-40F09F0C9282}"/>
              </a:ext>
            </a:extLst>
          </p:cNvPr>
          <p:cNvSpPr/>
          <p:nvPr/>
        </p:nvSpPr>
        <p:spPr>
          <a:xfrm>
            <a:off x="598421" y="2811259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B1ABEE2-B3AC-0D1F-5C46-5A166B81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ACB671-6FA8-153A-D9F5-AFBE4E30AF40}"/>
              </a:ext>
            </a:extLst>
          </p:cNvPr>
          <p:cNvSpPr txBox="1"/>
          <p:nvPr/>
        </p:nvSpPr>
        <p:spPr>
          <a:xfrm>
            <a:off x="1629916" y="147612"/>
            <a:ext cx="8928992" cy="5261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34081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이산형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확률변수의 </a:t>
            </a:r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기대값과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 분산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400168"/>
              </p:ext>
            </p:extLst>
          </p:nvPr>
        </p:nvGraphicFramePr>
        <p:xfrm>
          <a:off x="1557908" y="1916832"/>
          <a:ext cx="10153126" cy="1800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352">
                  <a:extLst>
                    <a:ext uri="{9D8B030D-6E8A-4147-A177-3AD203B41FA5}">
                      <a16:colId xmlns:a16="http://schemas.microsoft.com/office/drawing/2014/main" val="2871442239"/>
                    </a:ext>
                  </a:extLst>
                </a:gridCol>
                <a:gridCol w="1450447">
                  <a:extLst>
                    <a:ext uri="{9D8B030D-6E8A-4147-A177-3AD203B41FA5}">
                      <a16:colId xmlns:a16="http://schemas.microsoft.com/office/drawing/2014/main" val="1460948932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153491109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1461923300"/>
                    </a:ext>
                  </a:extLst>
                </a:gridCol>
                <a:gridCol w="1369863">
                  <a:extLst>
                    <a:ext uri="{9D8B030D-6E8A-4147-A177-3AD203B41FA5}">
                      <a16:colId xmlns:a16="http://schemas.microsoft.com/office/drawing/2014/main" val="744697576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1322659708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2261868981"/>
                    </a:ext>
                  </a:extLst>
                </a:gridCol>
              </a:tblGrid>
              <a:tr h="5194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주사위 수자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324275"/>
                  </a:ext>
                </a:extLst>
              </a:tr>
              <a:tr h="4696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확률변수 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=1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=2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=3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=4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</a:t>
                      </a:r>
                      <a:r>
                        <a:rPr lang="en-US" altLang="ko-KR" sz="16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 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0152"/>
                  </a:ext>
                </a:extLst>
              </a:tr>
              <a:tr h="811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(Probability)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P(X =1) =1/6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P(X =2) =1/6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P(X =3) =1/6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P(X =4)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P(X =5)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P(X =6)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39572"/>
                  </a:ext>
                </a:extLst>
              </a:tr>
            </a:tbl>
          </a:graphicData>
        </a:graphic>
      </p:graphicFrame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339" y="4091514"/>
            <a:ext cx="3067478" cy="237205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268" y="4091514"/>
            <a:ext cx="707806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8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연속형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확률변수의 평균과 분산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34" y="2135306"/>
            <a:ext cx="2562583" cy="7716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406" y="3028888"/>
            <a:ext cx="5020376" cy="70494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255BAE0-71B0-460B-6D36-535DEC231007}"/>
              </a:ext>
            </a:extLst>
          </p:cNvPr>
          <p:cNvGrpSpPr/>
          <p:nvPr/>
        </p:nvGrpSpPr>
        <p:grpSpPr>
          <a:xfrm>
            <a:off x="827586" y="1212123"/>
            <a:ext cx="5744136" cy="5144228"/>
            <a:chOff x="795052" y="1916832"/>
            <a:chExt cx="4438836" cy="381642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5052" y="2204864"/>
              <a:ext cx="4438836" cy="3024336"/>
            </a:xfrm>
            <a:prstGeom prst="rect">
              <a:avLst/>
            </a:prstGeom>
          </p:spPr>
        </p:pic>
        <p:cxnSp>
          <p:nvCxnSpPr>
            <p:cNvPr id="12" name="직선 연결선 11"/>
            <p:cNvCxnSpPr/>
            <p:nvPr/>
          </p:nvCxnSpPr>
          <p:spPr>
            <a:xfrm>
              <a:off x="2710428" y="1916832"/>
              <a:ext cx="0" cy="3816424"/>
            </a:xfrm>
            <a:prstGeom prst="line">
              <a:avLst/>
            </a:prstGeom>
            <a:ln w="127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3790156" y="1916832"/>
              <a:ext cx="0" cy="3816424"/>
            </a:xfrm>
            <a:prstGeom prst="line">
              <a:avLst/>
            </a:prstGeom>
            <a:ln w="127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>
              <a:off x="2735595" y="5517232"/>
              <a:ext cx="100811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837828" y="5939988"/>
            <a:ext cx="587212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algn="ctr" latinLnBrk="1">
              <a:defRPr/>
            </a:pP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P(X &lt;= 185)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P(X &lt;= 135) = 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키가 </a:t>
            </a: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135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</a:t>
            </a: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185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이하인 확률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600" dirty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5DB406-4AFF-BE7F-8019-A998F12969B0}"/>
              </a:ext>
            </a:extLst>
          </p:cNvPr>
          <p:cNvSpPr txBox="1"/>
          <p:nvPr/>
        </p:nvSpPr>
        <p:spPr>
          <a:xfrm>
            <a:off x="7081460" y="4288739"/>
            <a:ext cx="5094313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축의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Density(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확률밀도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확률의 의미인가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확률과 밀도는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다른가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밀도를 다 더하면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462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4A9B-1D9E-9BEC-0C9D-41CFEB45C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1BF237D-153C-A49F-C3D0-25C7655BE83A}"/>
              </a:ext>
            </a:extLst>
          </p:cNvPr>
          <p:cNvSpPr/>
          <p:nvPr/>
        </p:nvSpPr>
        <p:spPr>
          <a:xfrm>
            <a:off x="598421" y="412230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9D1503E-938B-93E6-F7E1-D009295A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0C209-B81A-81D0-EC40-74FBAB65EE81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298991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0F45A2-DF52-7961-5A68-876CC4DB03F7}"/>
              </a:ext>
            </a:extLst>
          </p:cNvPr>
          <p:cNvSpPr/>
          <p:nvPr/>
        </p:nvSpPr>
        <p:spPr>
          <a:xfrm>
            <a:off x="981844" y="1196752"/>
            <a:ext cx="10513168" cy="3033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실험에 대해 가능한 사건의 발생 확률을 제공하는 함수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표본공간의 확률분포를 안다는 것은 표본을 통해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이해하는 열쇠</a:t>
            </a:r>
            <a:endParaRPr lang="en-US" altLang="ko-KR" sz="2000" dirty="0">
              <a:solidFill>
                <a:srgbClr val="31313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예를 들어 표본의 데이터가 정규분포라면 </a:t>
            </a:r>
            <a:r>
              <a:rPr lang="ko-KR" altLang="en-US" sz="2000" dirty="0" err="1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모수</a:t>
            </a:r>
            <a:r>
              <a:rPr lang="en-US" altLang="ko-KR" sz="2000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</a:t>
            </a:r>
            <a:r>
              <a:rPr lang="en-US" altLang="ko-KR" sz="2000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표준편차</a:t>
            </a:r>
            <a:r>
              <a:rPr lang="en-US" altLang="ko-KR" sz="2000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000" dirty="0">
                <a:solidFill>
                  <a:srgbClr val="31313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의해 모집단을 식별 </a:t>
            </a:r>
            <a:endParaRPr lang="en-US" altLang="ko-KR" sz="2000" dirty="0">
              <a:solidFill>
                <a:srgbClr val="31313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확률분포를 알면 그 데이터를 통해 미래를 예측하거나 의사결정이 가능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5B90D-86E6-A35E-711F-56D42882C9B7}"/>
              </a:ext>
            </a:extLst>
          </p:cNvPr>
          <p:cNvSpPr txBox="1"/>
          <p:nvPr/>
        </p:nvSpPr>
        <p:spPr>
          <a:xfrm>
            <a:off x="117747" y="260648"/>
            <a:ext cx="8617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확률분포</a:t>
            </a:r>
            <a:r>
              <a:rPr lang="en-US" altLang="ko-KR" sz="3200" b="1" dirty="0"/>
              <a:t>(Probability Distribution)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4125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358E-0FD8-8D4D-55EB-747ABCD8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E4F2655-5364-03C5-86C1-05CA69A82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75720-9674-05CA-5EC7-B72F51CE1346}"/>
              </a:ext>
            </a:extLst>
          </p:cNvPr>
          <p:cNvSpPr txBox="1"/>
          <p:nvPr/>
        </p:nvSpPr>
        <p:spPr>
          <a:xfrm>
            <a:off x="117747" y="260648"/>
            <a:ext cx="8617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확률분포</a:t>
            </a:r>
            <a:r>
              <a:rPr lang="en-US" altLang="ko-KR" sz="3200" b="1" dirty="0"/>
              <a:t>(Probability Distribution)</a:t>
            </a:r>
            <a:r>
              <a:rPr lang="ko-KR" altLang="en-US" sz="3200" b="1" dirty="0"/>
              <a:t> 종류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F536EE2-D653-2938-819F-44CC1ABF1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52" y="1177925"/>
            <a:ext cx="7343819" cy="536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E0E119-95F5-EEB9-E625-9F6DB75AC222}"/>
              </a:ext>
            </a:extLst>
          </p:cNvPr>
          <p:cNvSpPr txBox="1"/>
          <p:nvPr/>
        </p:nvSpPr>
        <p:spPr>
          <a:xfrm>
            <a:off x="8542684" y="1916832"/>
            <a:ext cx="2459328" cy="2427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이산형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(Discrete)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연속형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(Continuous)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EF43F-DE46-6F11-EA18-8A95D86D25AE}"/>
              </a:ext>
            </a:extLst>
          </p:cNvPr>
          <p:cNvSpPr txBox="1"/>
          <p:nvPr/>
        </p:nvSpPr>
        <p:spPr>
          <a:xfrm>
            <a:off x="1125860" y="6202462"/>
            <a:ext cx="13451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출처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: Medium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0525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DB7D8A94-DE93-FC11-E184-2F9DEC91E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836" y="1078937"/>
                <a:ext cx="10081120" cy="13716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매 번 시행에서 </a:t>
                </a:r>
                <a:r>
                  <a:rPr kumimoji="0" lang="ko-KR" altLang="ko-KR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가지 결과</a:t>
                </a:r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만 나타남 (성공, 실패)</a:t>
                </a:r>
                <a:endParaRPr kumimoji="0" lang="en-US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성공의 확률(</a:t>
                </a:r>
                <a14:m>
                  <m:oMath xmlns:m="http://schemas.openxmlformats.org/officeDocument/2006/math">
                    <m:r>
                      <a:rPr kumimoji="0" lang="ko-KR" altLang="ko-K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)은 매 시행</a:t>
                </a:r>
                <a:r>
                  <a:rPr kumimoji="0" lang="en-US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때 마다 동일. 실패의 확률은 </a:t>
                </a:r>
                <a14:m>
                  <m:oMath xmlns:m="http://schemas.openxmlformats.org/officeDocument/2006/math">
                    <m:r>
                      <a:rPr kumimoji="0" lang="ko-KR" altLang="ko-K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kumimoji="0" lang="ko-KR" altLang="ko-K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ko-KR" altLang="ko-K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ko-KR" altLang="ko-K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ko-KR" altLang="ko-K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ko-KR" altLang="ko-KR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독립시행</a:t>
                </a:r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(어느 한 시행 결과가 다른 시행에 영향을 미치지 않음)</a:t>
                </a:r>
              </a:p>
            </p:txBody>
          </p:sp>
        </mc:Choice>
        <mc:Fallback xmlns="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DB7D8A94-DE93-FC11-E184-2F9DEC91E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9836" y="1078937"/>
                <a:ext cx="10081120" cy="1371658"/>
              </a:xfrm>
              <a:prstGeom prst="rect">
                <a:avLst/>
              </a:prstGeom>
              <a:blipFill>
                <a:blip r:embed="rId3"/>
                <a:stretch>
                  <a:fillRect b="-75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3BC42F7-E36A-B971-1F2A-E341466C6063}"/>
              </a:ext>
            </a:extLst>
          </p:cNvPr>
          <p:cNvSpPr txBox="1"/>
          <p:nvPr/>
        </p:nvSpPr>
        <p:spPr>
          <a:xfrm>
            <a:off x="117747" y="-27384"/>
            <a:ext cx="11161241" cy="931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3200" b="1" dirty="0"/>
              <a:t>베르누이 시행 (</a:t>
            </a:r>
            <a:r>
              <a:rPr lang="en-US" altLang="ko-KR" sz="3200" b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Bernoulli_distribution</a:t>
            </a:r>
            <a:r>
              <a:rPr lang="en-US" altLang="ko-KR" sz="3200" b="1" dirty="0"/>
              <a:t>)</a:t>
            </a:r>
            <a:endParaRPr lang="ko-KR" altLang="ko-KR" sz="32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4EC9F19-01A1-8DA4-7CE5-9EE0D94F8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550" y="3060957"/>
            <a:ext cx="5533154" cy="3463104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953587" y="2708920"/>
            <a:ext cx="49410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던져 앞면과 뒷면이 나온 회수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　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EF03B-9957-A805-FF29-77609E29B133}"/>
                  </a:ext>
                </a:extLst>
              </p:cNvPr>
              <p:cNvSpPr txBox="1"/>
              <p:nvPr/>
            </p:nvSpPr>
            <p:spPr>
              <a:xfrm>
                <a:off x="4601968" y="3735701"/>
                <a:ext cx="1459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ko-KR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0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0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EF03B-9957-A805-FF29-77609E29B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968" y="3735701"/>
                <a:ext cx="1459026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1D4FCA2-4212-B942-A676-C172067D23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5946" y="3108205"/>
            <a:ext cx="2743438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3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A910-1819-BD86-5671-925D1EC7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7684187-74AE-ABB9-05E2-4BC14A4B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9DB984DF-1E2F-11D3-24BE-EF116A54E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820" y="1133938"/>
                <a:ext cx="10081120" cy="1179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742950" lvl="1" indent="-28575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kumimoji="0" lang="ko-KR" altLang="ko-KR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번</a:t>
                </a:r>
                <a:r>
                  <a:rPr kumimoji="0" lang="ko-K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</a:t>
                </a:r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kumimoji="0" lang="ko-K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베르누이 </a:t>
                </a:r>
                <a:r>
                  <a:rPr kumimoji="0" lang="ko-KR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시행에서 </a:t>
                </a:r>
                <a:r>
                  <a:rPr kumimoji="0" lang="ko-K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성공횟수에 대한 분포</a:t>
                </a:r>
                <a:r>
                  <a:rPr kumimoji="0" lang="en-US" altLang="ko-K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altLang="ko-K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  <m:r>
                      <a:rPr kumimoji="0" lang="en-US" altLang="ko-K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kumimoji="0" lang="en-US" altLang="ko-K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𝑛</m:t>
                    </m:r>
                    <m:r>
                      <a:rPr kumimoji="0" lang="en-US" altLang="ko-K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, </m:t>
                    </m:r>
                    <m:r>
                      <a:rPr kumimoji="0" lang="en-US" altLang="ko-K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𝑝</m:t>
                    </m:r>
                    <m:r>
                      <a:rPr kumimoji="0" lang="en-US" altLang="ko-K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kumimoji="0" lang="ko-K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표현</a:t>
                </a:r>
                <a:endPara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ko-K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확률질량함수</a:t>
                </a:r>
                <a:endPara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9DB984DF-1E2F-11D3-24BE-EF116A54E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820" y="1133938"/>
                <a:ext cx="10081120" cy="1179297"/>
              </a:xfrm>
              <a:prstGeom prst="rect">
                <a:avLst/>
              </a:prstGeom>
              <a:blipFill>
                <a:blip r:embed="rId3"/>
                <a:stretch>
                  <a:fillRect b="-88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7F0A4C8-BBDB-A173-5E91-10627155D5B8}"/>
              </a:ext>
            </a:extLst>
          </p:cNvPr>
          <p:cNvSpPr txBox="1"/>
          <p:nvPr/>
        </p:nvSpPr>
        <p:spPr>
          <a:xfrm>
            <a:off x="117748" y="-27384"/>
            <a:ext cx="6096000" cy="931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3200" b="1" dirty="0"/>
              <a:t>이항분포</a:t>
            </a:r>
            <a:r>
              <a:rPr lang="ko-KR" altLang="ko-KR" sz="3200" b="1" dirty="0"/>
              <a:t> (</a:t>
            </a:r>
            <a:r>
              <a:rPr lang="ko-KR" altLang="ko-KR" sz="3200" b="1" dirty="0" err="1"/>
              <a:t>B</a:t>
            </a:r>
            <a:r>
              <a:rPr lang="en-US" altLang="ko-KR" sz="3200" b="1" dirty="0" err="1"/>
              <a:t>inomial</a:t>
            </a:r>
            <a:r>
              <a:rPr lang="en-US" altLang="ko-KR" sz="3200" b="1" dirty="0"/>
              <a:t> Distribution</a:t>
            </a:r>
            <a:r>
              <a:rPr lang="ko-KR" altLang="ko-KR" sz="3200" b="1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D1AED9-B871-711A-5DC9-5CD8802068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20107" y="1772816"/>
            <a:ext cx="4246513" cy="78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28144B-84F0-E988-29DC-8B94A615A6E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6620" y="1797703"/>
            <a:ext cx="1767235" cy="7120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ED30526-A382-B96C-5933-28764E767D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1884" y="2952113"/>
            <a:ext cx="5450341" cy="342173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9F6B3D-630B-8CEA-61E8-99A5F93B8B9B}"/>
              </a:ext>
            </a:extLst>
          </p:cNvPr>
          <p:cNvSpPr/>
          <p:nvPr/>
        </p:nvSpPr>
        <p:spPr>
          <a:xfrm>
            <a:off x="6958508" y="3209007"/>
            <a:ext cx="475970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던져서 앞면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성공확률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(0.5))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나올 횟수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확률변수로 분포를 그리면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시행을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수행해서 분포를 그리면</a:t>
            </a:r>
            <a:endParaRPr lang="ko-KR" altLang="en-US" sz="1600" b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C4A17E7-1ADA-C2BB-CB2C-4EA7498386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4292" y="3573016"/>
            <a:ext cx="1506942" cy="51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0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6598468" y="980728"/>
            <a:ext cx="2736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/>
              <a:t> </a:t>
            </a:r>
            <a:r>
              <a:rPr lang="en-US" altLang="ko-KR" sz="20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GALTON BOARD</a:t>
            </a:r>
            <a:r>
              <a:rPr lang="ko-KR" altLang="en-US" sz="2000" b="1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388" y="1480432"/>
            <a:ext cx="3820058" cy="505848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6DBC183-847F-AA14-7A37-BEF6DF137A1F}"/>
              </a:ext>
            </a:extLst>
          </p:cNvPr>
          <p:cNvSpPr/>
          <p:nvPr/>
        </p:nvSpPr>
        <p:spPr>
          <a:xfrm>
            <a:off x="261764" y="1760006"/>
            <a:ext cx="5328592" cy="1490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Arial Narrow" panose="020B0606020202030204" pitchFamily="34" charset="0"/>
              </a:rPr>
              <a:t>동영상에서 떨어지는 구슬</a:t>
            </a:r>
            <a:r>
              <a:rPr lang="en-US" altLang="ko-KR" sz="1600" b="1" dirty="0">
                <a:latin typeface="Arial Narrow" panose="020B0606020202030204" pitchFamily="34" charset="0"/>
              </a:rPr>
              <a:t>,</a:t>
            </a:r>
            <a:r>
              <a:rPr lang="ko-KR" altLang="en-US" sz="1600" b="1" dirty="0">
                <a:latin typeface="Arial Narrow" panose="020B0606020202030204" pitchFamily="34" charset="0"/>
              </a:rPr>
              <a:t> 고정된 구슬과 각 </a:t>
            </a:r>
            <a:r>
              <a:rPr lang="en-US" altLang="ko-KR" sz="1600" b="1" dirty="0">
                <a:latin typeface="Arial Narrow" panose="020B0606020202030204" pitchFamily="34" charset="0"/>
              </a:rPr>
              <a:t>Layer</a:t>
            </a:r>
            <a:r>
              <a:rPr lang="ko-KR" altLang="en-US" sz="1600" b="1" dirty="0">
                <a:latin typeface="Arial Narrow" panose="020B0606020202030204" pitchFamily="34" charset="0"/>
              </a:rPr>
              <a:t>의 의미를 설명하라</a:t>
            </a:r>
            <a:endParaRPr lang="en-US" altLang="ko-KR" sz="1600" b="1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Arial Narrow" panose="020B0606020202030204" pitchFamily="34" charset="0"/>
              </a:rPr>
              <a:t>베르누이</a:t>
            </a:r>
            <a:r>
              <a:rPr lang="en-US" altLang="ko-KR" sz="1600" b="1" dirty="0">
                <a:latin typeface="Arial Narrow" panose="020B0606020202030204" pitchFamily="34" charset="0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</a:rPr>
              <a:t>이항분포</a:t>
            </a:r>
            <a:r>
              <a:rPr lang="en-US" altLang="ko-KR" sz="1600" b="1" dirty="0">
                <a:latin typeface="Arial Narrow" panose="020B0606020202030204" pitchFamily="34" charset="0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</a:rPr>
              <a:t>정규분포를 그림에서 설명하라</a:t>
            </a:r>
            <a:endParaRPr lang="en-US" altLang="ko-KR" sz="1600" b="1" dirty="0">
              <a:latin typeface="Arial Narrow" panose="020B0606020202030204" pitchFamily="34" charset="0"/>
            </a:endParaRP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AD29AEC-24CA-8B11-B307-9A15642C8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5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277C-B59B-CF94-9FF4-C63DC4AE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0668DA3-DFBF-0862-F6CE-A061D146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5BCF6-C520-CBBD-FA85-6EBD5619CAE6}"/>
              </a:ext>
            </a:extLst>
          </p:cNvPr>
          <p:cNvSpPr txBox="1"/>
          <p:nvPr/>
        </p:nvSpPr>
        <p:spPr>
          <a:xfrm>
            <a:off x="1413892" y="2671939"/>
            <a:ext cx="28762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geogebra_Galton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Board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B8CA67-0689-B3B2-BC44-161899058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92" y="3063354"/>
            <a:ext cx="3593215" cy="31458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0172FC-9D4E-FA46-6142-945B3B8D4296}"/>
              </a:ext>
            </a:extLst>
          </p:cNvPr>
          <p:cNvSpPr txBox="1"/>
          <p:nvPr/>
        </p:nvSpPr>
        <p:spPr>
          <a:xfrm>
            <a:off x="483969" y="990607"/>
            <a:ext cx="9282851" cy="152202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실험을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동전던지기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실험으로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설명하고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던지기 실험을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1490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수행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시각화하는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코드를 제시하라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동전을 한꺼번에 던지는 실험을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149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수행하고 그 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(H:1, T:-1)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차감하는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실험과 동일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4E198F2-1890-5CC6-BFDE-0DB08DC4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436" y="3063354"/>
            <a:ext cx="4578635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6801BA-2725-9BA4-409C-426A6AF9CCEC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FFF009EE-06A6-8A54-242C-B31D7E242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7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2AAA-395D-04DF-EB0A-F9B81D0F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92229D-EE16-1E5B-90DF-46FC56A0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CDE1B-C06C-0D19-2BBA-24EDD1B3F8FA}"/>
              </a:ext>
            </a:extLst>
          </p:cNvPr>
          <p:cNvSpPr txBox="1"/>
          <p:nvPr/>
        </p:nvSpPr>
        <p:spPr>
          <a:xfrm>
            <a:off x="765820" y="1196752"/>
            <a:ext cx="11233248" cy="151220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동전을 던져서 베르누이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시행과 이항분포</a:t>
            </a:r>
            <a:r>
              <a:rPr lang="en-US" altLang="ko-KR" sz="1600" dirty="0">
                <a:latin typeface="+mj-ea"/>
                <a:ea typeface="+mj-ea"/>
              </a:rPr>
              <a:t>(N=10</a:t>
            </a:r>
            <a:r>
              <a:rPr lang="ko-KR" altLang="en-US" sz="1600" dirty="0">
                <a:latin typeface="+mj-ea"/>
                <a:ea typeface="+mj-ea"/>
              </a:rPr>
              <a:t>화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r>
              <a:rPr lang="ko-KR" altLang="en-US" sz="1600" dirty="0">
                <a:latin typeface="+mj-ea"/>
                <a:ea typeface="+mj-ea"/>
              </a:rPr>
              <a:t>를 파이썬 코드로 만들고 시각화하자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이항분포의 횟수를 </a:t>
            </a:r>
            <a:r>
              <a:rPr lang="en-US" altLang="ko-KR" sz="1600" dirty="0">
                <a:latin typeface="+mj-ea"/>
                <a:ea typeface="+mj-ea"/>
              </a:rPr>
              <a:t>100</a:t>
            </a:r>
            <a:r>
              <a:rPr lang="ko-KR" altLang="en-US" sz="1600" dirty="0">
                <a:latin typeface="+mj-ea"/>
                <a:ea typeface="+mj-ea"/>
              </a:rPr>
              <a:t>번 실험하면 어떤 그래프 모양이 되는지 토론하라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</a:rPr>
              <a:t>from </a:t>
            </a:r>
            <a:r>
              <a:rPr lang="en-US" altLang="ko-KR" sz="1400" dirty="0" err="1">
                <a:latin typeface="+mj-ea"/>
                <a:ea typeface="+mj-ea"/>
              </a:rPr>
              <a:t>scipy.stats</a:t>
            </a:r>
            <a:r>
              <a:rPr lang="en-US" altLang="ko-KR" sz="1400" dirty="0">
                <a:latin typeface="+mj-ea"/>
                <a:ea typeface="+mj-ea"/>
              </a:rPr>
              <a:t> import </a:t>
            </a:r>
            <a:r>
              <a:rPr lang="en-US" altLang="ko-KR" sz="1400" dirty="0" err="1">
                <a:latin typeface="+mj-ea"/>
                <a:ea typeface="+mj-ea"/>
              </a:rPr>
              <a:t>binom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bernoulli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모듈을 사용하여 코딩과 시각화를 하라</a:t>
            </a:r>
            <a:endParaRPr lang="en-US" altLang="ko-KR" sz="14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동전의 찌그러져 있다면 앞면이 나올 확률이 </a:t>
            </a:r>
            <a:r>
              <a:rPr lang="en-US" altLang="ko-KR" sz="1600" dirty="0">
                <a:latin typeface="+mj-ea"/>
                <a:ea typeface="+mj-ea"/>
              </a:rPr>
              <a:t>0.7</a:t>
            </a:r>
            <a:r>
              <a:rPr lang="ko-KR" altLang="en-US" sz="1600" dirty="0">
                <a:latin typeface="+mj-ea"/>
                <a:ea typeface="+mj-ea"/>
              </a:rPr>
              <a:t>이고 뒷면은 </a:t>
            </a:r>
            <a:r>
              <a:rPr lang="en-US" altLang="ko-KR" sz="1600" dirty="0">
                <a:latin typeface="+mj-ea"/>
                <a:ea typeface="+mj-ea"/>
              </a:rPr>
              <a:t>0.3 </a:t>
            </a:r>
            <a:r>
              <a:rPr lang="ko-KR" altLang="en-US" sz="1600" dirty="0" err="1">
                <a:latin typeface="+mj-ea"/>
                <a:ea typeface="+mj-ea"/>
              </a:rPr>
              <a:t>인경우</a:t>
            </a:r>
            <a:r>
              <a:rPr lang="ko-KR" altLang="en-US" sz="1600" dirty="0">
                <a:latin typeface="+mj-ea"/>
                <a:ea typeface="+mj-ea"/>
              </a:rPr>
              <a:t> 베르누이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이항분포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정규분포를 만들라</a:t>
            </a:r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FF8CBB-401C-02EA-2D8A-3655A2CB4CF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611C94A-5849-A344-CF5A-DADF35BD6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20" y="3140968"/>
            <a:ext cx="11233248" cy="308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9BC2EC6-7AF8-33B1-DA19-1F4294107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83FC-77E3-D439-E109-6220E05E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9620C70-4388-784B-E96F-088F1C9A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B2D1B-762F-E54A-EBFF-F2E3FABCD47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5B150-C037-D6A6-4888-89073D4169DB}"/>
              </a:ext>
            </a:extLst>
          </p:cNvPr>
          <p:cNvSpPr txBox="1"/>
          <p:nvPr/>
        </p:nvSpPr>
        <p:spPr>
          <a:xfrm>
            <a:off x="693811" y="1050968"/>
            <a:ext cx="9073009" cy="78335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확률분포의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변경하면서 분포의 모양새의 변화를 확인하고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코드의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bold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코드를 이해하라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D6FCF-BF3F-BCA4-26F5-3C837B16E992}"/>
              </a:ext>
            </a:extLst>
          </p:cNvPr>
          <p:cNvSpPr txBox="1"/>
          <p:nvPr/>
        </p:nvSpPr>
        <p:spPr>
          <a:xfrm>
            <a:off x="698983" y="2174748"/>
            <a:ext cx="4917508" cy="4247317"/>
          </a:xfrm>
          <a:prstGeom prst="rect">
            <a:avLst/>
          </a:prstGeom>
          <a:solidFill>
            <a:srgbClr val="D7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 err="1">
                <a:latin typeface="Arial Narrow" panose="020B0606020202030204" pitchFamily="34" charset="0"/>
              </a:rPr>
              <a:t>import</a:t>
            </a:r>
            <a:r>
              <a:rPr lang="ko-KR" altLang="en-US" sz="1500" dirty="0">
                <a:latin typeface="Arial Narrow" panose="020B0606020202030204" pitchFamily="34" charset="0"/>
              </a:rPr>
              <a:t> </a:t>
            </a:r>
            <a:r>
              <a:rPr lang="ko-KR" altLang="en-US" sz="1500" dirty="0" err="1">
                <a:latin typeface="Arial Narrow" panose="020B0606020202030204" pitchFamily="34" charset="0"/>
              </a:rPr>
              <a:t>numpy</a:t>
            </a:r>
            <a:r>
              <a:rPr lang="ko-KR" altLang="en-US" sz="1500" dirty="0">
                <a:latin typeface="Arial Narrow" panose="020B0606020202030204" pitchFamily="34" charset="0"/>
              </a:rPr>
              <a:t> </a:t>
            </a:r>
            <a:r>
              <a:rPr lang="ko-KR" altLang="en-US" sz="1500" dirty="0" err="1">
                <a:latin typeface="Arial Narrow" panose="020B0606020202030204" pitchFamily="34" charset="0"/>
              </a:rPr>
              <a:t>as</a:t>
            </a:r>
            <a:r>
              <a:rPr lang="ko-KR" altLang="en-US" sz="1500" dirty="0">
                <a:latin typeface="Arial Narrow" panose="020B0606020202030204" pitchFamily="34" charset="0"/>
              </a:rPr>
              <a:t> </a:t>
            </a:r>
            <a:r>
              <a:rPr lang="ko-KR" altLang="en-US" sz="1500" dirty="0" err="1">
                <a:latin typeface="Arial Narrow" panose="020B0606020202030204" pitchFamily="34" charset="0"/>
              </a:rPr>
              <a:t>np</a:t>
            </a:r>
            <a:endParaRPr lang="ko-KR" altLang="en-US" sz="1500" dirty="0">
              <a:latin typeface="Arial Narrow" panose="020B0606020202030204" pitchFamily="34" charset="0"/>
            </a:endParaRP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import</a:t>
            </a:r>
            <a:r>
              <a:rPr lang="ko-KR" altLang="en-US" sz="1500" dirty="0">
                <a:latin typeface="Arial Narrow" panose="020B0606020202030204" pitchFamily="34" charset="0"/>
              </a:rPr>
              <a:t> </a:t>
            </a:r>
            <a:r>
              <a:rPr lang="ko-KR" altLang="en-US" sz="1500" dirty="0" err="1">
                <a:latin typeface="Arial Narrow" panose="020B0606020202030204" pitchFamily="34" charset="0"/>
              </a:rPr>
              <a:t>matplotlib.pyplot</a:t>
            </a:r>
            <a:r>
              <a:rPr lang="ko-KR" altLang="en-US" sz="1500" dirty="0">
                <a:latin typeface="Arial Narrow" panose="020B0606020202030204" pitchFamily="34" charset="0"/>
              </a:rPr>
              <a:t> </a:t>
            </a:r>
            <a:r>
              <a:rPr lang="ko-KR" altLang="en-US" sz="1500" dirty="0" err="1">
                <a:latin typeface="Arial Narrow" panose="020B0606020202030204" pitchFamily="34" charset="0"/>
              </a:rPr>
              <a:t>as</a:t>
            </a:r>
            <a:r>
              <a:rPr lang="ko-KR" altLang="en-US" sz="1500" dirty="0">
                <a:latin typeface="Arial Narrow" panose="020B0606020202030204" pitchFamily="34" charset="0"/>
              </a:rPr>
              <a:t> </a:t>
            </a:r>
            <a:r>
              <a:rPr lang="ko-KR" altLang="en-US" sz="1500" dirty="0" err="1">
                <a:latin typeface="Arial Narrow" panose="020B0606020202030204" pitchFamily="34" charset="0"/>
              </a:rPr>
              <a:t>plt</a:t>
            </a:r>
            <a:endParaRPr lang="ko-KR" altLang="en-US" sz="1500" dirty="0">
              <a:latin typeface="Arial Narrow" panose="020B0606020202030204" pitchFamily="34" charset="0"/>
            </a:endParaRPr>
          </a:p>
          <a:p>
            <a:r>
              <a:rPr lang="ko-KR" altLang="en-US" sz="1500" b="1" dirty="0" err="1">
                <a:latin typeface="Arial Narrow" panose="020B0606020202030204" pitchFamily="34" charset="0"/>
              </a:rPr>
              <a:t>from</a:t>
            </a:r>
            <a:r>
              <a:rPr lang="ko-KR" altLang="en-US" sz="1500" b="1" dirty="0">
                <a:latin typeface="Arial Narrow" panose="020B0606020202030204" pitchFamily="34" charset="0"/>
              </a:rPr>
              <a:t>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scipy.stats</a:t>
            </a:r>
            <a:r>
              <a:rPr lang="ko-KR" altLang="en-US" sz="1500" b="1" dirty="0">
                <a:latin typeface="Arial Narrow" panose="020B0606020202030204" pitchFamily="34" charset="0"/>
              </a:rPr>
              <a:t>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import</a:t>
            </a:r>
            <a:r>
              <a:rPr lang="ko-KR" altLang="en-US" sz="1500" b="1" dirty="0">
                <a:latin typeface="Arial Narrow" panose="020B0606020202030204" pitchFamily="34" charset="0"/>
              </a:rPr>
              <a:t>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bernoulli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binom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norm</a:t>
            </a:r>
            <a:endParaRPr lang="ko-KR" altLang="en-US" sz="1500" b="1" dirty="0">
              <a:latin typeface="Arial Narrow" panose="020B0606020202030204" pitchFamily="34" charset="0"/>
            </a:endParaRPr>
          </a:p>
          <a:p>
            <a:endParaRPr lang="ko-KR" altLang="en-US" sz="1500" dirty="0">
              <a:latin typeface="Arial Narrow" panose="020B0606020202030204" pitchFamily="34" charset="0"/>
            </a:endParaRPr>
          </a:p>
          <a:p>
            <a:r>
              <a:rPr lang="ko-KR" altLang="en-US" sz="1500" dirty="0">
                <a:latin typeface="Arial Narrow" panose="020B0606020202030204" pitchFamily="34" charset="0"/>
              </a:rPr>
              <a:t># 설정: 샘플 수 1000개</a:t>
            </a: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n_samples</a:t>
            </a:r>
            <a:r>
              <a:rPr lang="ko-KR" altLang="en-US" sz="1500" dirty="0">
                <a:latin typeface="Arial Narrow" panose="020B0606020202030204" pitchFamily="34" charset="0"/>
              </a:rPr>
              <a:t> = 1000</a:t>
            </a:r>
          </a:p>
          <a:p>
            <a:r>
              <a:rPr lang="ko-KR" altLang="en-US" sz="1500" dirty="0">
                <a:latin typeface="Arial Narrow" panose="020B0606020202030204" pitchFamily="34" charset="0"/>
              </a:rPr>
              <a:t># 1. 베르누이 분포 (</a:t>
            </a:r>
            <a:r>
              <a:rPr lang="ko-KR" altLang="en-US" sz="1500" dirty="0" err="1">
                <a:latin typeface="Arial Narrow" panose="020B0606020202030204" pitchFamily="34" charset="0"/>
              </a:rPr>
              <a:t>p</a:t>
            </a:r>
            <a:r>
              <a:rPr lang="ko-KR" altLang="en-US" sz="1500" dirty="0">
                <a:latin typeface="Arial Narrow" panose="020B0606020202030204" pitchFamily="34" charset="0"/>
              </a:rPr>
              <a:t>=0.</a:t>
            </a:r>
            <a:r>
              <a:rPr lang="en-US" altLang="ko-KR" sz="1500" dirty="0">
                <a:latin typeface="Arial Narrow" panose="020B0606020202030204" pitchFamily="34" charset="0"/>
              </a:rPr>
              <a:t>5</a:t>
            </a:r>
            <a:r>
              <a:rPr lang="ko-KR" altLang="en-US" sz="1500" dirty="0">
                <a:latin typeface="Arial Narrow" panose="020B0606020202030204" pitchFamily="34" charset="0"/>
              </a:rPr>
              <a:t>) </a:t>
            </a:r>
            <a:r>
              <a:rPr lang="en-US" altLang="ko-KR" sz="1500" dirty="0">
                <a:latin typeface="Arial Narrow" panose="020B0606020202030204" pitchFamily="34" charset="0"/>
              </a:rPr>
              <a:t>: parameter</a:t>
            </a:r>
            <a:endParaRPr lang="ko-KR" altLang="en-US" sz="1500" dirty="0">
              <a:latin typeface="Arial Narrow" panose="020B0606020202030204" pitchFamily="34" charset="0"/>
            </a:endParaRPr>
          </a:p>
          <a:p>
            <a:r>
              <a:rPr lang="ko-KR" altLang="en-US" sz="1500" b="1" dirty="0" err="1">
                <a:latin typeface="Arial Narrow" panose="020B0606020202030204" pitchFamily="34" charset="0"/>
              </a:rPr>
              <a:t>p_bern</a:t>
            </a:r>
            <a:r>
              <a:rPr lang="ko-KR" altLang="en-US" sz="1500" b="1" dirty="0">
                <a:latin typeface="Arial Narrow" panose="020B0606020202030204" pitchFamily="34" charset="0"/>
              </a:rPr>
              <a:t> = 0.</a:t>
            </a:r>
            <a:r>
              <a:rPr lang="en-US" altLang="ko-KR" sz="1500" b="1" dirty="0">
                <a:latin typeface="Arial Narrow" panose="020B0606020202030204" pitchFamily="34" charset="0"/>
              </a:rPr>
              <a:t>5</a:t>
            </a:r>
            <a:endParaRPr lang="ko-KR" altLang="en-US" sz="1500" b="1" dirty="0">
              <a:latin typeface="Arial Narrow" panose="020B0606020202030204" pitchFamily="34" charset="0"/>
            </a:endParaRP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data_bern</a:t>
            </a:r>
            <a:r>
              <a:rPr lang="ko-KR" altLang="en-US" sz="1500" dirty="0">
                <a:latin typeface="Arial Narrow" panose="020B0606020202030204" pitchFamily="34" charset="0"/>
              </a:rPr>
              <a:t> =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bernoulli.rvs</a:t>
            </a:r>
            <a:r>
              <a:rPr lang="ko-KR" altLang="en-US" sz="1500" b="1" dirty="0">
                <a:latin typeface="Arial Narrow" panose="020B0606020202030204" pitchFamily="34" charset="0"/>
              </a:rPr>
              <a:t>(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p_bern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size</a:t>
            </a:r>
            <a:r>
              <a:rPr lang="ko-KR" altLang="en-US" sz="1500" b="1" dirty="0">
                <a:latin typeface="Arial Narrow" panose="020B0606020202030204" pitchFamily="34" charset="0"/>
              </a:rPr>
              <a:t>=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n_samples</a:t>
            </a:r>
            <a:r>
              <a:rPr lang="ko-KR" altLang="en-US" sz="1500" b="1" dirty="0">
                <a:latin typeface="Arial Narrow" panose="020B0606020202030204" pitchFamily="34" charset="0"/>
              </a:rPr>
              <a:t>)</a:t>
            </a: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x_bern</a:t>
            </a:r>
            <a:r>
              <a:rPr lang="ko-KR" altLang="en-US" sz="1500" dirty="0">
                <a:latin typeface="Arial Narrow" panose="020B0606020202030204" pitchFamily="34" charset="0"/>
              </a:rPr>
              <a:t> = [0, 1]</a:t>
            </a:r>
          </a:p>
          <a:p>
            <a:r>
              <a:rPr lang="ko-KR" altLang="en-US" sz="1500" dirty="0">
                <a:latin typeface="Arial Narrow" panose="020B0606020202030204" pitchFamily="34" charset="0"/>
              </a:rPr>
              <a:t># 2. 이항 분포 (</a:t>
            </a:r>
            <a:r>
              <a:rPr lang="ko-KR" altLang="en-US" sz="1500" dirty="0" err="1">
                <a:latin typeface="Arial Narrow" panose="020B0606020202030204" pitchFamily="34" charset="0"/>
              </a:rPr>
              <a:t>n</a:t>
            </a:r>
            <a:r>
              <a:rPr lang="ko-KR" altLang="en-US" sz="1500" dirty="0">
                <a:latin typeface="Arial Narrow" panose="020B0606020202030204" pitchFamily="34" charset="0"/>
              </a:rPr>
              <a:t>=10, </a:t>
            </a:r>
            <a:r>
              <a:rPr lang="ko-KR" altLang="en-US" sz="1500" dirty="0" err="1">
                <a:latin typeface="Arial Narrow" panose="020B0606020202030204" pitchFamily="34" charset="0"/>
              </a:rPr>
              <a:t>p</a:t>
            </a:r>
            <a:r>
              <a:rPr lang="ko-KR" altLang="en-US" sz="1500" dirty="0">
                <a:latin typeface="Arial Narrow" panose="020B0606020202030204" pitchFamily="34" charset="0"/>
              </a:rPr>
              <a:t>=0.5) </a:t>
            </a:r>
            <a:r>
              <a:rPr lang="en-US" altLang="ko-KR" sz="1500" dirty="0">
                <a:latin typeface="Arial Narrow" panose="020B0606020202030204" pitchFamily="34" charset="0"/>
              </a:rPr>
              <a:t>: parameter</a:t>
            </a:r>
            <a:endParaRPr lang="ko-KR" altLang="en-US" sz="1500" dirty="0">
              <a:latin typeface="Arial Narrow" panose="020B0606020202030204" pitchFamily="34" charset="0"/>
            </a:endParaRPr>
          </a:p>
          <a:p>
            <a:r>
              <a:rPr lang="ko-KR" altLang="en-US" sz="1500" b="1" dirty="0" err="1">
                <a:latin typeface="Arial Narrow" panose="020B0606020202030204" pitchFamily="34" charset="0"/>
              </a:rPr>
              <a:t>n_bin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p_bin</a:t>
            </a:r>
            <a:r>
              <a:rPr lang="ko-KR" altLang="en-US" sz="1500" b="1" dirty="0">
                <a:latin typeface="Arial Narrow" panose="020B0606020202030204" pitchFamily="34" charset="0"/>
              </a:rPr>
              <a:t> = 10, 0.5</a:t>
            </a: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data_bin</a:t>
            </a:r>
            <a:r>
              <a:rPr lang="ko-KR" altLang="en-US" sz="1500" dirty="0">
                <a:latin typeface="Arial Narrow" panose="020B0606020202030204" pitchFamily="34" charset="0"/>
              </a:rPr>
              <a:t> =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binom.rvs</a:t>
            </a:r>
            <a:r>
              <a:rPr lang="ko-KR" altLang="en-US" sz="1500" b="1" dirty="0">
                <a:latin typeface="Arial Narrow" panose="020B0606020202030204" pitchFamily="34" charset="0"/>
              </a:rPr>
              <a:t>(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n_bin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p_bin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size</a:t>
            </a:r>
            <a:r>
              <a:rPr lang="ko-KR" altLang="en-US" sz="1500" b="1" dirty="0">
                <a:latin typeface="Arial Narrow" panose="020B0606020202030204" pitchFamily="34" charset="0"/>
              </a:rPr>
              <a:t>=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n_samples</a:t>
            </a:r>
            <a:r>
              <a:rPr lang="ko-KR" altLang="en-US" sz="1500" b="1" dirty="0">
                <a:latin typeface="Arial Narrow" panose="020B0606020202030204" pitchFamily="34" charset="0"/>
              </a:rPr>
              <a:t>)</a:t>
            </a: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x_bin</a:t>
            </a:r>
            <a:r>
              <a:rPr lang="ko-KR" altLang="en-US" sz="1500" dirty="0">
                <a:latin typeface="Arial Narrow" panose="020B0606020202030204" pitchFamily="34" charset="0"/>
              </a:rPr>
              <a:t> = </a:t>
            </a:r>
            <a:r>
              <a:rPr lang="ko-KR" altLang="en-US" sz="1500" dirty="0" err="1">
                <a:latin typeface="Arial Narrow" panose="020B0606020202030204" pitchFamily="34" charset="0"/>
              </a:rPr>
              <a:t>np.arange</a:t>
            </a:r>
            <a:r>
              <a:rPr lang="ko-KR" altLang="en-US" sz="1500" dirty="0">
                <a:latin typeface="Arial Narrow" panose="020B0606020202030204" pitchFamily="34" charset="0"/>
              </a:rPr>
              <a:t>(0, </a:t>
            </a:r>
            <a:r>
              <a:rPr lang="ko-KR" altLang="en-US" sz="1500" dirty="0" err="1">
                <a:latin typeface="Arial Narrow" panose="020B0606020202030204" pitchFamily="34" charset="0"/>
              </a:rPr>
              <a:t>n_bin</a:t>
            </a:r>
            <a:r>
              <a:rPr lang="ko-KR" altLang="en-US" sz="1500" dirty="0">
                <a:latin typeface="Arial Narrow" panose="020B0606020202030204" pitchFamily="34" charset="0"/>
              </a:rPr>
              <a:t> + 1)</a:t>
            </a:r>
          </a:p>
          <a:p>
            <a:r>
              <a:rPr lang="ko-KR" altLang="en-US" sz="1500" dirty="0">
                <a:latin typeface="Arial Narrow" panose="020B0606020202030204" pitchFamily="34" charset="0"/>
              </a:rPr>
              <a:t># 3. 정규 분포 (</a:t>
            </a:r>
            <a:r>
              <a:rPr lang="ko-KR" altLang="en-US" sz="1500" dirty="0" err="1">
                <a:latin typeface="Arial Narrow" panose="020B0606020202030204" pitchFamily="34" charset="0"/>
              </a:rPr>
              <a:t>mu</a:t>
            </a:r>
            <a:r>
              <a:rPr lang="ko-KR" altLang="en-US" sz="1500" dirty="0">
                <a:latin typeface="Arial Narrow" panose="020B0606020202030204" pitchFamily="34" charset="0"/>
              </a:rPr>
              <a:t>=0, </a:t>
            </a:r>
            <a:r>
              <a:rPr lang="ko-KR" altLang="en-US" sz="1500" dirty="0" err="1">
                <a:latin typeface="Arial Narrow" panose="020B0606020202030204" pitchFamily="34" charset="0"/>
              </a:rPr>
              <a:t>sigma</a:t>
            </a:r>
            <a:r>
              <a:rPr lang="ko-KR" altLang="en-US" sz="1500" dirty="0">
                <a:latin typeface="Arial Narrow" panose="020B0606020202030204" pitchFamily="34" charset="0"/>
              </a:rPr>
              <a:t>=1) </a:t>
            </a:r>
            <a:r>
              <a:rPr lang="en-US" altLang="ko-KR" sz="1500" dirty="0">
                <a:latin typeface="Arial Narrow" panose="020B0606020202030204" pitchFamily="34" charset="0"/>
              </a:rPr>
              <a:t>: parameter</a:t>
            </a:r>
            <a:endParaRPr lang="ko-KR" altLang="en-US" sz="1500" dirty="0">
              <a:latin typeface="Arial Narrow" panose="020B0606020202030204" pitchFamily="34" charset="0"/>
            </a:endParaRPr>
          </a:p>
          <a:p>
            <a:r>
              <a:rPr lang="ko-KR" altLang="en-US" sz="1500" b="1" dirty="0" err="1">
                <a:latin typeface="Arial Narrow" panose="020B0606020202030204" pitchFamily="34" charset="0"/>
              </a:rPr>
              <a:t>mu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std</a:t>
            </a:r>
            <a:r>
              <a:rPr lang="ko-KR" altLang="en-US" sz="1500" b="1" dirty="0">
                <a:latin typeface="Arial Narrow" panose="020B0606020202030204" pitchFamily="34" charset="0"/>
              </a:rPr>
              <a:t> = 0, 1</a:t>
            </a: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data_norm</a:t>
            </a:r>
            <a:r>
              <a:rPr lang="ko-KR" altLang="en-US" sz="1500" dirty="0">
                <a:latin typeface="Arial Narrow" panose="020B0606020202030204" pitchFamily="34" charset="0"/>
              </a:rPr>
              <a:t> =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norm.rvs</a:t>
            </a:r>
            <a:r>
              <a:rPr lang="ko-KR" altLang="en-US" sz="1500" b="1" dirty="0">
                <a:latin typeface="Arial Narrow" panose="020B0606020202030204" pitchFamily="34" charset="0"/>
              </a:rPr>
              <a:t>(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mu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std</a:t>
            </a:r>
            <a:r>
              <a:rPr lang="ko-KR" altLang="en-US" sz="1500" b="1" dirty="0">
                <a:latin typeface="Arial Narrow" panose="020B0606020202030204" pitchFamily="34" charset="0"/>
              </a:rPr>
              <a:t>, 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size</a:t>
            </a:r>
            <a:r>
              <a:rPr lang="ko-KR" altLang="en-US" sz="1500" b="1" dirty="0">
                <a:latin typeface="Arial Narrow" panose="020B0606020202030204" pitchFamily="34" charset="0"/>
              </a:rPr>
              <a:t>=</a:t>
            </a:r>
            <a:r>
              <a:rPr lang="ko-KR" altLang="en-US" sz="1500" b="1" dirty="0" err="1">
                <a:latin typeface="Arial Narrow" panose="020B0606020202030204" pitchFamily="34" charset="0"/>
              </a:rPr>
              <a:t>n_samples</a:t>
            </a:r>
            <a:r>
              <a:rPr lang="ko-KR" altLang="en-US" sz="1500" b="1" dirty="0">
                <a:latin typeface="Arial Narrow" panose="020B0606020202030204" pitchFamily="34" charset="0"/>
              </a:rPr>
              <a:t>)</a:t>
            </a: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x_norm</a:t>
            </a:r>
            <a:r>
              <a:rPr lang="ko-KR" altLang="en-US" sz="1500" dirty="0">
                <a:latin typeface="Arial Narrow" panose="020B0606020202030204" pitchFamily="34" charset="0"/>
              </a:rPr>
              <a:t> = </a:t>
            </a:r>
            <a:r>
              <a:rPr lang="ko-KR" altLang="en-US" sz="1500" dirty="0" err="1">
                <a:latin typeface="Arial Narrow" panose="020B0606020202030204" pitchFamily="34" charset="0"/>
              </a:rPr>
              <a:t>np.linspace</a:t>
            </a:r>
            <a:r>
              <a:rPr lang="ko-KR" altLang="en-US" sz="1500" dirty="0">
                <a:latin typeface="Arial Narrow" panose="020B0606020202030204" pitchFamily="34" charset="0"/>
              </a:rPr>
              <a:t>(-4, 4, 100)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458EE-171F-61C5-9CAE-90A01D9DCBDF}"/>
              </a:ext>
            </a:extLst>
          </p:cNvPr>
          <p:cNvSpPr txBox="1"/>
          <p:nvPr/>
        </p:nvSpPr>
        <p:spPr>
          <a:xfrm>
            <a:off x="5950396" y="2174748"/>
            <a:ext cx="5976663" cy="4478149"/>
          </a:xfrm>
          <a:prstGeom prst="rect">
            <a:avLst/>
          </a:prstGeom>
          <a:solidFill>
            <a:srgbClr val="D7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 err="1">
                <a:latin typeface="Arial Narrow" panose="020B0606020202030204" pitchFamily="34" charset="0"/>
              </a:rPr>
              <a:t>fig</a:t>
            </a:r>
            <a:r>
              <a:rPr lang="ko-KR" altLang="en-US" sz="1500" dirty="0">
                <a:latin typeface="Arial Narrow" panose="020B0606020202030204" pitchFamily="34" charset="0"/>
              </a:rPr>
              <a:t>, </a:t>
            </a:r>
            <a:r>
              <a:rPr lang="ko-KR" altLang="en-US" sz="1500" dirty="0" err="1">
                <a:latin typeface="Arial Narrow" panose="020B0606020202030204" pitchFamily="34" charset="0"/>
              </a:rPr>
              <a:t>axes</a:t>
            </a:r>
            <a:r>
              <a:rPr lang="ko-KR" altLang="en-US" sz="1500" dirty="0">
                <a:latin typeface="Arial Narrow" panose="020B0606020202030204" pitchFamily="34" charset="0"/>
              </a:rPr>
              <a:t> = </a:t>
            </a:r>
            <a:r>
              <a:rPr lang="ko-KR" altLang="en-US" sz="1500" dirty="0" err="1">
                <a:latin typeface="Arial Narrow" panose="020B0606020202030204" pitchFamily="34" charset="0"/>
              </a:rPr>
              <a:t>plt.subplots</a:t>
            </a:r>
            <a:r>
              <a:rPr lang="ko-KR" altLang="en-US" sz="1500" dirty="0">
                <a:latin typeface="Arial Narrow" panose="020B0606020202030204" pitchFamily="34" charset="0"/>
              </a:rPr>
              <a:t>(3, 2, </a:t>
            </a:r>
            <a:r>
              <a:rPr lang="ko-KR" altLang="en-US" sz="1500" dirty="0" err="1">
                <a:latin typeface="Arial Narrow" panose="020B0606020202030204" pitchFamily="34" charset="0"/>
              </a:rPr>
              <a:t>figsize</a:t>
            </a:r>
            <a:r>
              <a:rPr lang="ko-KR" altLang="en-US" sz="1500" dirty="0">
                <a:latin typeface="Arial Narrow" panose="020B0606020202030204" pitchFamily="34" charset="0"/>
              </a:rPr>
              <a:t>=(1</a:t>
            </a:r>
            <a:r>
              <a:rPr lang="en-US" altLang="ko-KR" sz="1500" dirty="0">
                <a:latin typeface="Arial Narrow" panose="020B0606020202030204" pitchFamily="34" charset="0"/>
              </a:rPr>
              <a:t>0</a:t>
            </a:r>
            <a:r>
              <a:rPr lang="ko-KR" altLang="en-US" sz="1500" dirty="0">
                <a:latin typeface="Arial Narrow" panose="020B0606020202030204" pitchFamily="34" charset="0"/>
              </a:rPr>
              <a:t>, 1</a:t>
            </a:r>
            <a:r>
              <a:rPr lang="en-US" altLang="ko-KR" sz="1500" dirty="0">
                <a:latin typeface="Arial Narrow" panose="020B0606020202030204" pitchFamily="34" charset="0"/>
              </a:rPr>
              <a:t>0</a:t>
            </a:r>
            <a:r>
              <a:rPr lang="ko-KR" altLang="en-US" sz="1500" dirty="0">
                <a:latin typeface="Arial Narrow" panose="020B0606020202030204" pitchFamily="34" charset="0"/>
              </a:rPr>
              <a:t>))</a:t>
            </a:r>
          </a:p>
          <a:p>
            <a:endParaRPr lang="en-US" altLang="ko-KR" sz="1500" dirty="0">
              <a:latin typeface="Arial Narrow" panose="020B0606020202030204" pitchFamily="34" charset="0"/>
            </a:endParaRPr>
          </a:p>
          <a:p>
            <a:r>
              <a:rPr lang="en-US" altLang="ko-KR" sz="1500" dirty="0">
                <a:latin typeface="Arial Narrow" panose="020B0606020202030204" pitchFamily="34" charset="0"/>
              </a:rPr>
              <a:t># --- Bernoulli ---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axes[0, 0].bar(</a:t>
            </a:r>
            <a:r>
              <a:rPr lang="en-US" altLang="ko-KR" sz="1500" dirty="0" err="1">
                <a:latin typeface="Arial Narrow" panose="020B0606020202030204" pitchFamily="34" charset="0"/>
              </a:rPr>
              <a:t>x_bern</a:t>
            </a:r>
            <a:r>
              <a:rPr lang="en-US" altLang="ko-KR" sz="1500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bernoulli.pmf</a:t>
            </a:r>
            <a:r>
              <a:rPr lang="en-US" altLang="ko-KR" sz="1500" b="1" dirty="0">
                <a:latin typeface="Arial Narrow" panose="020B0606020202030204" pitchFamily="34" charset="0"/>
              </a:rPr>
              <a:t>(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x_bern</a:t>
            </a:r>
            <a:r>
              <a:rPr lang="en-US" altLang="ko-KR" sz="1500" b="1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p_bern</a:t>
            </a:r>
            <a:r>
              <a:rPr lang="en-US" altLang="ko-KR" sz="1500" b="1" dirty="0">
                <a:latin typeface="Arial Narrow" panose="020B0606020202030204" pitchFamily="34" charset="0"/>
              </a:rPr>
              <a:t>)</a:t>
            </a:r>
            <a:r>
              <a:rPr lang="en-US" altLang="ko-KR" sz="1500" dirty="0">
                <a:latin typeface="Arial Narrow" panose="020B0606020202030204" pitchFamily="34" charset="0"/>
              </a:rPr>
              <a:t>, color='</a:t>
            </a:r>
            <a:r>
              <a:rPr lang="en-US" altLang="ko-KR" sz="1500" dirty="0" err="1">
                <a:latin typeface="Arial Narrow" panose="020B0606020202030204" pitchFamily="34" charset="0"/>
              </a:rPr>
              <a:t>skyblue</a:t>
            </a:r>
            <a:r>
              <a:rPr lang="en-US" altLang="ko-KR" sz="1500" dirty="0">
                <a:latin typeface="Arial Narrow" panose="020B0606020202030204" pitchFamily="34" charset="0"/>
              </a:rPr>
              <a:t>')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axes[0, 0].</a:t>
            </a:r>
            <a:r>
              <a:rPr lang="en-US" altLang="ko-KR" sz="1500" dirty="0" err="1">
                <a:latin typeface="Arial Narrow" panose="020B0606020202030204" pitchFamily="34" charset="0"/>
              </a:rPr>
              <a:t>set_title</a:t>
            </a:r>
            <a:r>
              <a:rPr lang="en-US" altLang="ko-KR" sz="1500" dirty="0">
                <a:latin typeface="Arial Narrow" panose="020B0606020202030204" pitchFamily="34" charset="0"/>
              </a:rPr>
              <a:t>(</a:t>
            </a:r>
            <a:r>
              <a:rPr lang="en-US" altLang="ko-KR" sz="1500" dirty="0" err="1">
                <a:latin typeface="Arial Narrow" panose="020B0606020202030204" pitchFamily="34" charset="0"/>
              </a:rPr>
              <a:t>f"Bernoulli</a:t>
            </a:r>
            <a:r>
              <a:rPr lang="en-US" altLang="ko-KR" sz="1500" dirty="0">
                <a:latin typeface="Arial Narrow" panose="020B0606020202030204" pitchFamily="34" charset="0"/>
              </a:rPr>
              <a:t> PMF (p={</a:t>
            </a:r>
            <a:r>
              <a:rPr lang="en-US" altLang="ko-KR" sz="1500" dirty="0" err="1">
                <a:latin typeface="Arial Narrow" panose="020B0606020202030204" pitchFamily="34" charset="0"/>
              </a:rPr>
              <a:t>p_bern</a:t>
            </a:r>
            <a:r>
              <a:rPr lang="en-US" altLang="ko-KR" sz="1500" dirty="0">
                <a:latin typeface="Arial Narrow" panose="020B0606020202030204" pitchFamily="34" charset="0"/>
              </a:rPr>
              <a:t>})")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axes[0, 1].step(</a:t>
            </a:r>
            <a:r>
              <a:rPr lang="en-US" altLang="ko-KR" sz="1500" dirty="0" err="1">
                <a:latin typeface="Arial Narrow" panose="020B0606020202030204" pitchFamily="34" charset="0"/>
              </a:rPr>
              <a:t>x_bern</a:t>
            </a:r>
            <a:r>
              <a:rPr lang="en-US" altLang="ko-KR" sz="1500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bernoulli.cdf</a:t>
            </a:r>
            <a:r>
              <a:rPr lang="en-US" altLang="ko-KR" sz="1500" b="1" dirty="0">
                <a:latin typeface="Arial Narrow" panose="020B0606020202030204" pitchFamily="34" charset="0"/>
              </a:rPr>
              <a:t>(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x_bern</a:t>
            </a:r>
            <a:r>
              <a:rPr lang="en-US" altLang="ko-KR" sz="1500" b="1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p_bern</a:t>
            </a:r>
            <a:r>
              <a:rPr lang="en-US" altLang="ko-KR" sz="1500" b="1" dirty="0">
                <a:latin typeface="Arial Narrow" panose="020B0606020202030204" pitchFamily="34" charset="0"/>
              </a:rPr>
              <a:t>)</a:t>
            </a:r>
            <a:r>
              <a:rPr lang="en-US" altLang="ko-KR" sz="1500" dirty="0">
                <a:latin typeface="Arial Narrow" panose="020B0606020202030204" pitchFamily="34" charset="0"/>
              </a:rPr>
              <a:t>, where='post', color='blue')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axes[0, 1].</a:t>
            </a:r>
            <a:r>
              <a:rPr lang="en-US" altLang="ko-KR" sz="1500" dirty="0" err="1">
                <a:latin typeface="Arial Narrow" panose="020B0606020202030204" pitchFamily="34" charset="0"/>
              </a:rPr>
              <a:t>set_title</a:t>
            </a:r>
            <a:r>
              <a:rPr lang="en-US" altLang="ko-KR" sz="1500" dirty="0">
                <a:latin typeface="Arial Narrow" panose="020B0606020202030204" pitchFamily="34" charset="0"/>
              </a:rPr>
              <a:t>("Bernoulli CDF")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# --- Binomial ---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axes[1, 0].bar(</a:t>
            </a:r>
            <a:r>
              <a:rPr lang="en-US" altLang="ko-KR" sz="1500" dirty="0" err="1">
                <a:latin typeface="Arial Narrow" panose="020B0606020202030204" pitchFamily="34" charset="0"/>
              </a:rPr>
              <a:t>x_bin</a:t>
            </a:r>
            <a:r>
              <a:rPr lang="en-US" altLang="ko-KR" sz="1500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binom.pmf</a:t>
            </a:r>
            <a:r>
              <a:rPr lang="en-US" altLang="ko-KR" sz="1500" b="1" dirty="0">
                <a:latin typeface="Arial Narrow" panose="020B0606020202030204" pitchFamily="34" charset="0"/>
              </a:rPr>
              <a:t>(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x_bin</a:t>
            </a:r>
            <a:r>
              <a:rPr lang="en-US" altLang="ko-KR" sz="1500" b="1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n_bin</a:t>
            </a:r>
            <a:r>
              <a:rPr lang="en-US" altLang="ko-KR" sz="1500" b="1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p_bin</a:t>
            </a:r>
            <a:r>
              <a:rPr lang="en-US" altLang="ko-KR" sz="1500" b="1" dirty="0">
                <a:latin typeface="Arial Narrow" panose="020B0606020202030204" pitchFamily="34" charset="0"/>
              </a:rPr>
              <a:t>)</a:t>
            </a:r>
            <a:r>
              <a:rPr lang="en-US" altLang="ko-KR" sz="1500" dirty="0">
                <a:latin typeface="Arial Narrow" panose="020B0606020202030204" pitchFamily="34" charset="0"/>
              </a:rPr>
              <a:t>, color='salmon')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axes[1, 0].</a:t>
            </a:r>
            <a:r>
              <a:rPr lang="en-US" altLang="ko-KR" sz="1500" dirty="0" err="1">
                <a:latin typeface="Arial Narrow" panose="020B0606020202030204" pitchFamily="34" charset="0"/>
              </a:rPr>
              <a:t>set_title</a:t>
            </a:r>
            <a:r>
              <a:rPr lang="en-US" altLang="ko-KR" sz="1500" dirty="0">
                <a:latin typeface="Arial Narrow" panose="020B0606020202030204" pitchFamily="34" charset="0"/>
              </a:rPr>
              <a:t>(</a:t>
            </a:r>
            <a:r>
              <a:rPr lang="en-US" altLang="ko-KR" sz="1500" dirty="0" err="1">
                <a:latin typeface="Arial Narrow" panose="020B0606020202030204" pitchFamily="34" charset="0"/>
              </a:rPr>
              <a:t>f"Binomial</a:t>
            </a:r>
            <a:r>
              <a:rPr lang="en-US" altLang="ko-KR" sz="1500" dirty="0">
                <a:latin typeface="Arial Narrow" panose="020B0606020202030204" pitchFamily="34" charset="0"/>
              </a:rPr>
              <a:t> PMF (n={</a:t>
            </a:r>
            <a:r>
              <a:rPr lang="en-US" altLang="ko-KR" sz="1500" dirty="0" err="1">
                <a:latin typeface="Arial Narrow" panose="020B0606020202030204" pitchFamily="34" charset="0"/>
              </a:rPr>
              <a:t>n_bin</a:t>
            </a:r>
            <a:r>
              <a:rPr lang="en-US" altLang="ko-KR" sz="1500" dirty="0">
                <a:latin typeface="Arial Narrow" panose="020B0606020202030204" pitchFamily="34" charset="0"/>
              </a:rPr>
              <a:t>}, p={</a:t>
            </a:r>
            <a:r>
              <a:rPr lang="en-US" altLang="ko-KR" sz="1500" dirty="0" err="1">
                <a:latin typeface="Arial Narrow" panose="020B0606020202030204" pitchFamily="34" charset="0"/>
              </a:rPr>
              <a:t>p_bin</a:t>
            </a:r>
            <a:r>
              <a:rPr lang="en-US" altLang="ko-KR" sz="1500" dirty="0">
                <a:latin typeface="Arial Narrow" panose="020B0606020202030204" pitchFamily="34" charset="0"/>
              </a:rPr>
              <a:t>})")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axes[1, 1].step(</a:t>
            </a:r>
            <a:r>
              <a:rPr lang="en-US" altLang="ko-KR" sz="1500" dirty="0" err="1">
                <a:latin typeface="Arial Narrow" panose="020B0606020202030204" pitchFamily="34" charset="0"/>
              </a:rPr>
              <a:t>x_bin</a:t>
            </a:r>
            <a:r>
              <a:rPr lang="en-US" altLang="ko-KR" sz="1500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binom.cdf</a:t>
            </a:r>
            <a:r>
              <a:rPr lang="en-US" altLang="ko-KR" sz="1500" b="1" dirty="0">
                <a:latin typeface="Arial Narrow" panose="020B0606020202030204" pitchFamily="34" charset="0"/>
              </a:rPr>
              <a:t>(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x_bin</a:t>
            </a:r>
            <a:r>
              <a:rPr lang="en-US" altLang="ko-KR" sz="1500" b="1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n_bin</a:t>
            </a:r>
            <a:r>
              <a:rPr lang="en-US" altLang="ko-KR" sz="1500" b="1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p_bin</a:t>
            </a:r>
            <a:r>
              <a:rPr lang="en-US" altLang="ko-KR" sz="1500" b="1" dirty="0">
                <a:latin typeface="Arial Narrow" panose="020B0606020202030204" pitchFamily="34" charset="0"/>
              </a:rPr>
              <a:t>)</a:t>
            </a:r>
            <a:r>
              <a:rPr lang="en-US" altLang="ko-KR" sz="1500" dirty="0">
                <a:latin typeface="Arial Narrow" panose="020B0606020202030204" pitchFamily="34" charset="0"/>
              </a:rPr>
              <a:t>, where='post', color='red')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axes[1, 1].</a:t>
            </a:r>
            <a:r>
              <a:rPr lang="en-US" altLang="ko-KR" sz="1500" dirty="0" err="1">
                <a:latin typeface="Arial Narrow" panose="020B0606020202030204" pitchFamily="34" charset="0"/>
              </a:rPr>
              <a:t>set_title</a:t>
            </a:r>
            <a:r>
              <a:rPr lang="en-US" altLang="ko-KR" sz="1500" dirty="0">
                <a:latin typeface="Arial Narrow" panose="020B0606020202030204" pitchFamily="34" charset="0"/>
              </a:rPr>
              <a:t>("Binomial CDF")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# --- Normal ---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axes[2, 0].plot(</a:t>
            </a:r>
            <a:r>
              <a:rPr lang="en-US" altLang="ko-KR" sz="1500" dirty="0" err="1">
                <a:latin typeface="Arial Narrow" panose="020B0606020202030204" pitchFamily="34" charset="0"/>
              </a:rPr>
              <a:t>x_norm</a:t>
            </a:r>
            <a:r>
              <a:rPr lang="en-US" altLang="ko-KR" sz="1500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>
                <a:latin typeface="Arial Narrow" panose="020B0606020202030204" pitchFamily="34" charset="0"/>
              </a:rPr>
              <a:t>norm.pdf(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x_norm</a:t>
            </a:r>
            <a:r>
              <a:rPr lang="en-US" altLang="ko-KR" sz="1500" b="1" dirty="0">
                <a:latin typeface="Arial Narrow" panose="020B0606020202030204" pitchFamily="34" charset="0"/>
              </a:rPr>
              <a:t>, mu, std)</a:t>
            </a:r>
            <a:r>
              <a:rPr lang="en-US" altLang="ko-KR" sz="1500" dirty="0">
                <a:latin typeface="Arial Narrow" panose="020B0606020202030204" pitchFamily="34" charset="0"/>
              </a:rPr>
              <a:t>, color='</a:t>
            </a:r>
            <a:r>
              <a:rPr lang="en-US" altLang="ko-KR" sz="1500" dirty="0" err="1">
                <a:latin typeface="Arial Narrow" panose="020B0606020202030204" pitchFamily="34" charset="0"/>
              </a:rPr>
              <a:t>lightgreen</a:t>
            </a:r>
            <a:r>
              <a:rPr lang="en-US" altLang="ko-KR" sz="1500" dirty="0">
                <a:latin typeface="Arial Narrow" panose="020B0606020202030204" pitchFamily="34" charset="0"/>
              </a:rPr>
              <a:t>', </a:t>
            </a:r>
            <a:r>
              <a:rPr lang="en-US" altLang="ko-KR" sz="1500" dirty="0" err="1">
                <a:latin typeface="Arial Narrow" panose="020B0606020202030204" pitchFamily="34" charset="0"/>
              </a:rPr>
              <a:t>lw</a:t>
            </a:r>
            <a:r>
              <a:rPr lang="en-US" altLang="ko-KR" sz="1500" dirty="0">
                <a:latin typeface="Arial Narrow" panose="020B0606020202030204" pitchFamily="34" charset="0"/>
              </a:rPr>
              <a:t>=3)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axes[2, 0].</a:t>
            </a:r>
            <a:r>
              <a:rPr lang="en-US" altLang="ko-KR" sz="1500" dirty="0" err="1">
                <a:latin typeface="Arial Narrow" panose="020B0606020202030204" pitchFamily="34" charset="0"/>
              </a:rPr>
              <a:t>set_title</a:t>
            </a:r>
            <a:r>
              <a:rPr lang="en-US" altLang="ko-KR" sz="1500" dirty="0">
                <a:latin typeface="Arial Narrow" panose="020B0606020202030204" pitchFamily="34" charset="0"/>
              </a:rPr>
              <a:t>(</a:t>
            </a:r>
            <a:r>
              <a:rPr lang="en-US" altLang="ko-KR" sz="1500" dirty="0" err="1">
                <a:latin typeface="Arial Narrow" panose="020B0606020202030204" pitchFamily="34" charset="0"/>
              </a:rPr>
              <a:t>f"Normal</a:t>
            </a:r>
            <a:r>
              <a:rPr lang="en-US" altLang="ko-KR" sz="1500" dirty="0">
                <a:latin typeface="Arial Narrow" panose="020B0606020202030204" pitchFamily="34" charset="0"/>
              </a:rPr>
              <a:t> PDF (mu={mu}, sigma={std})")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axes[2, 1].plot(</a:t>
            </a:r>
            <a:r>
              <a:rPr lang="en-US" altLang="ko-KR" sz="1500" dirty="0" err="1">
                <a:latin typeface="Arial Narrow" panose="020B0606020202030204" pitchFamily="34" charset="0"/>
              </a:rPr>
              <a:t>x_norm</a:t>
            </a:r>
            <a:r>
              <a:rPr lang="en-US" altLang="ko-KR" sz="1500" dirty="0">
                <a:latin typeface="Arial Narrow" panose="020B0606020202030204" pitchFamily="34" charset="0"/>
              </a:rPr>
              <a:t>, 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norm.cdf</a:t>
            </a:r>
            <a:r>
              <a:rPr lang="en-US" altLang="ko-KR" sz="1500" b="1" dirty="0">
                <a:latin typeface="Arial Narrow" panose="020B0606020202030204" pitchFamily="34" charset="0"/>
              </a:rPr>
              <a:t>(</a:t>
            </a:r>
            <a:r>
              <a:rPr lang="en-US" altLang="ko-KR" sz="1500" b="1" dirty="0" err="1">
                <a:latin typeface="Arial Narrow" panose="020B0606020202030204" pitchFamily="34" charset="0"/>
              </a:rPr>
              <a:t>x_norm</a:t>
            </a:r>
            <a:r>
              <a:rPr lang="en-US" altLang="ko-KR" sz="1500" b="1" dirty="0">
                <a:latin typeface="Arial Narrow" panose="020B0606020202030204" pitchFamily="34" charset="0"/>
              </a:rPr>
              <a:t>, mu, std)</a:t>
            </a:r>
            <a:r>
              <a:rPr lang="en-US" altLang="ko-KR" sz="1500" dirty="0">
                <a:latin typeface="Arial Narrow" panose="020B0606020202030204" pitchFamily="34" charset="0"/>
              </a:rPr>
              <a:t>, color='green', </a:t>
            </a:r>
            <a:r>
              <a:rPr lang="en-US" altLang="ko-KR" sz="1500" dirty="0" err="1">
                <a:latin typeface="Arial Narrow" panose="020B0606020202030204" pitchFamily="34" charset="0"/>
              </a:rPr>
              <a:t>lw</a:t>
            </a:r>
            <a:r>
              <a:rPr lang="en-US" altLang="ko-KR" sz="1500" dirty="0">
                <a:latin typeface="Arial Narrow" panose="020B0606020202030204" pitchFamily="34" charset="0"/>
              </a:rPr>
              <a:t>=3)</a:t>
            </a:r>
          </a:p>
          <a:p>
            <a:r>
              <a:rPr lang="en-US" altLang="ko-KR" sz="1500" dirty="0">
                <a:latin typeface="Arial Narrow" panose="020B0606020202030204" pitchFamily="34" charset="0"/>
              </a:rPr>
              <a:t>axes[2, 1].</a:t>
            </a:r>
            <a:r>
              <a:rPr lang="en-US" altLang="ko-KR" sz="1500" dirty="0" err="1">
                <a:latin typeface="Arial Narrow" panose="020B0606020202030204" pitchFamily="34" charset="0"/>
              </a:rPr>
              <a:t>set_title</a:t>
            </a:r>
            <a:r>
              <a:rPr lang="en-US" altLang="ko-KR" sz="1500" dirty="0">
                <a:latin typeface="Arial Narrow" panose="020B0606020202030204" pitchFamily="34" charset="0"/>
              </a:rPr>
              <a:t>("Normal CDF")</a:t>
            </a:r>
            <a:endParaRPr lang="ko-KR" altLang="en-US" sz="1500" dirty="0">
              <a:latin typeface="Arial Narrow" panose="020B0606020202030204" pitchFamily="34" charset="0"/>
            </a:endParaRP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plt.tight_layout</a:t>
            </a:r>
            <a:r>
              <a:rPr lang="ko-KR" altLang="en-US" sz="1500" dirty="0">
                <a:latin typeface="Arial Narrow" panose="020B0606020202030204" pitchFamily="34" charset="0"/>
              </a:rPr>
              <a:t>()</a:t>
            </a:r>
          </a:p>
          <a:p>
            <a:r>
              <a:rPr lang="ko-KR" altLang="en-US" sz="1500" dirty="0" err="1">
                <a:latin typeface="Arial Narrow" panose="020B0606020202030204" pitchFamily="34" charset="0"/>
              </a:rPr>
              <a:t>plt.show</a:t>
            </a:r>
            <a:r>
              <a:rPr lang="ko-KR" altLang="en-US" sz="1500" dirty="0">
                <a:latin typeface="Arial Narrow" panose="020B0606020202030204" pitchFamily="34" charset="0"/>
              </a:rPr>
              <a:t>()</a:t>
            </a:r>
          </a:p>
        </p:txBody>
      </p:sp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F1DEA8C8-216E-95AB-3B25-6F180F4F9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88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542" y="1409428"/>
            <a:ext cx="7136311" cy="494097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4853" y="1403478"/>
            <a:ext cx="1287365" cy="1602133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9118748" y="3197708"/>
            <a:ext cx="259398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i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Gaussian distribution(</a:t>
            </a:r>
            <a:r>
              <a:rPr lang="ko-KR" altLang="en-US" sz="1100" b="1" i="1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가우시안</a:t>
            </a:r>
            <a:r>
              <a:rPr lang="ko-KR" altLang="en-US" sz="1100" b="1" i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분포</a:t>
            </a:r>
            <a:r>
              <a:rPr lang="en-US" altLang="ko-KR" sz="1100" b="1" i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8FA58-E0E6-EE17-B9B0-C4CB26295C71}"/>
              </a:ext>
            </a:extLst>
          </p:cNvPr>
          <p:cNvSpPr txBox="1"/>
          <p:nvPr/>
        </p:nvSpPr>
        <p:spPr>
          <a:xfrm>
            <a:off x="377313" y="455276"/>
            <a:ext cx="11233248" cy="44319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정규분포와 표준정규분포를 통해 확률을 알 수가 있음</a:t>
            </a: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3161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544D-6B52-407A-3C50-AA730AD3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071C10-5F52-BBAE-A6FC-685EA26F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32</a:t>
            </a:fld>
            <a:endParaRPr lang="en-US" altLang="ko-KR" noProof="0" dirty="0"/>
          </a:p>
        </p:txBody>
      </p:sp>
      <p:sp>
        <p:nvSpPr>
          <p:cNvPr id="2" name="AutoShape 2" descr="정규 분포 - 위키백과, 우리 모두의 백과사전">
            <a:extLst>
              <a:ext uri="{FF2B5EF4-FFF2-40B4-BE49-F238E27FC236}">
                <a16:creationId xmlns:a16="http://schemas.microsoft.com/office/drawing/2014/main" id="{B49CE699-1970-20F6-73A6-0FB2077D8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8" name="Picture 4" descr="붉은 색은 표준정규분포">
            <a:extLst>
              <a:ext uri="{FF2B5EF4-FFF2-40B4-BE49-F238E27FC236}">
                <a16:creationId xmlns:a16="http://schemas.microsoft.com/office/drawing/2014/main" id="{4DA95171-E006-1105-F498-281BC73CD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56" y="2564904"/>
            <a:ext cx="5518338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확률밀도함수의 색과 같은 색">
            <a:extLst>
              <a:ext uri="{FF2B5EF4-FFF2-40B4-BE49-F238E27FC236}">
                <a16:creationId xmlns:a16="http://schemas.microsoft.com/office/drawing/2014/main" id="{860DD08D-A404-043D-43FE-553EE0B0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444" y="2564904"/>
            <a:ext cx="5518338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D8539E0-E36E-53E5-892D-B42729139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3076" y="2772544"/>
            <a:ext cx="1793501" cy="5040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4278C7-3CAD-ABD1-9F9B-EA4DC24CE93B}"/>
                  </a:ext>
                </a:extLst>
              </p:cNvPr>
              <p:cNvSpPr txBox="1"/>
              <p:nvPr/>
            </p:nvSpPr>
            <p:spPr>
              <a:xfrm>
                <a:off x="1413892" y="1169540"/>
                <a:ext cx="6096000" cy="8705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r>
                      <a:rPr kumimoji="0" lang="ko-KR" altLang="en-US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𝝁</m:t>
                    </m:r>
                  </m:oMath>
                </a14:m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: 위치 </a:t>
                </a:r>
                <a:r>
                  <a:rPr kumimoji="0" lang="ko-KR" altLang="ko-KR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모수</a:t>
                </a:r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(</a:t>
                </a:r>
                <a:r>
                  <a:rPr kumimoji="0" lang="ko-KR" altLang="ko-KR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location</a:t>
                </a:r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kumimoji="0" lang="ko-KR" altLang="ko-KR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parameter</a:t>
                </a:r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𝝈</m:t>
                    </m:r>
                  </m:oMath>
                </a14:m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: 척도 </a:t>
                </a:r>
                <a:r>
                  <a:rPr kumimoji="0" lang="ko-KR" altLang="ko-KR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모수</a:t>
                </a:r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(</a:t>
                </a:r>
                <a:r>
                  <a:rPr kumimoji="0" lang="ko-KR" altLang="ko-KR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scale</a:t>
                </a:r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kumimoji="0" lang="ko-KR" altLang="ko-KR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parameter</a:t>
                </a:r>
                <a:r>
                  <a:rPr kumimoji="0" lang="ko-KR" altLang="ko-K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endPara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4278C7-3CAD-ABD1-9F9B-EA4DC24CE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892" y="1169540"/>
                <a:ext cx="6096000" cy="870559"/>
              </a:xfrm>
              <a:prstGeom prst="rect">
                <a:avLst/>
              </a:prstGeom>
              <a:blipFill>
                <a:blip r:embed="rId7"/>
                <a:stretch>
                  <a:fillRect l="-700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4A1789D-CBA6-494A-7D0F-07DE39E0AC89}"/>
              </a:ext>
            </a:extLst>
          </p:cNvPr>
          <p:cNvSpPr txBox="1"/>
          <p:nvPr/>
        </p:nvSpPr>
        <p:spPr>
          <a:xfrm>
            <a:off x="117748" y="-27384"/>
            <a:ext cx="10225136" cy="92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가지 </a:t>
            </a:r>
            <a:r>
              <a:rPr lang="ko-KR" altLang="ko-KR" sz="32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모수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(parameters)</a:t>
            </a:r>
            <a:r>
              <a:rPr lang="ko-KR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따른 정규분포</a:t>
            </a:r>
          </a:p>
        </p:txBody>
      </p:sp>
    </p:spTree>
    <p:extLst>
      <p:ext uri="{BB962C8B-B14F-4D97-AF65-F5344CB8AC3E}">
        <p14:creationId xmlns:p14="http://schemas.microsoft.com/office/powerpoint/2010/main" val="399116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33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2105444"/>
            <a:ext cx="10081120" cy="42509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3120" y="1537628"/>
            <a:ext cx="1497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원자료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Orignal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Data)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4346" y="1537628"/>
            <a:ext cx="1809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평균중심화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(Mean Centering)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02313" y="1537628"/>
            <a:ext cx="17520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표준화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(Standardization)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3718148" y="1870488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7390556" y="1860793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80EF7-C7C9-069B-B8B2-92D4E34B8356}"/>
                  </a:ext>
                </a:extLst>
              </p:cNvPr>
              <p:cNvSpPr txBox="1"/>
              <p:nvPr/>
            </p:nvSpPr>
            <p:spPr>
              <a:xfrm>
                <a:off x="10546714" y="1436928"/>
                <a:ext cx="1497526" cy="668516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𝒁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𝑿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 </m:t>
                          </m:r>
                          <m:r>
                            <a:rPr lang="ko-KR" altLang="en-US" sz="20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𝝁</m:t>
                          </m:r>
                        </m:num>
                        <m:den>
                          <m:r>
                            <a:rPr lang="ko-KR" altLang="en-US" sz="20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80EF7-C7C9-069B-B8B2-92D4E34B8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714" y="1436928"/>
                <a:ext cx="1497526" cy="66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9B7F199-243F-FB77-27CA-BD6E566F6563}"/>
              </a:ext>
            </a:extLst>
          </p:cNvPr>
          <p:cNvSpPr txBox="1"/>
          <p:nvPr/>
        </p:nvSpPr>
        <p:spPr>
          <a:xfrm>
            <a:off x="693812" y="1050968"/>
            <a:ext cx="8928992" cy="41402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원자료를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Z-scores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변경하는 이유와 그 의미는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통계학적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토론하자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ED210D-26A6-52A0-9E74-18213BC7D1F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28155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34</a:t>
            </a:fld>
            <a:endParaRPr lang="en-US" altLang="ko-KR" noProof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710AF8-D840-52D4-C7A2-447326300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068" y="1172054"/>
            <a:ext cx="8199918" cy="5159599"/>
          </a:xfrm>
          <a:prstGeom prst="rect">
            <a:avLst/>
          </a:prstGeom>
        </p:spPr>
      </p:pic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A7FB755-4DC4-8AAF-3365-6F7DF1B41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C2414-8A74-A50A-99C6-C88682A3DEBD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785A30-2A10-B8B5-D614-B067538AA4E7}"/>
                  </a:ext>
                </a:extLst>
              </p:cNvPr>
              <p:cNvSpPr txBox="1"/>
              <p:nvPr/>
            </p:nvSpPr>
            <p:spPr>
              <a:xfrm>
                <a:off x="261764" y="1147356"/>
                <a:ext cx="3672408" cy="12860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i="0" smtClean="0">
                            <a:latin typeface="Cambria Math" panose="02040503050406030204" pitchFamily="18" charset="0"/>
                          </a:rPr>
                          <m:t>≦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ko-KR" dirty="0">
                    <a:latin typeface="맑은 고딕" panose="020B0503020000020004" pitchFamily="50" charset="-127"/>
                  </a:rPr>
                  <a:t> = ?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altLang="ko-KR" smtClean="0">
                            <a:latin typeface="Cambria Math" panose="02040503050406030204" pitchFamily="18" charset="0"/>
                          </a:rPr>
                          <m:t>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>
                    <a:latin typeface="맑은 고딕" panose="020B0503020000020004" pitchFamily="50" charset="-127"/>
                  </a:rPr>
                  <a:t>= ?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.58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.58</m:t>
                        </m:r>
                      </m:e>
                    </m:d>
                  </m:oMath>
                </a14:m>
                <a:r>
                  <a:rPr lang="en-US" altLang="ko-KR" dirty="0">
                    <a:latin typeface="맑은 고딕" panose="020B0503020000020004" pitchFamily="50" charset="-127"/>
                  </a:rPr>
                  <a:t> = 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785A30-2A10-B8B5-D614-B067538AA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64" y="1147356"/>
                <a:ext cx="3672408" cy="1286058"/>
              </a:xfrm>
              <a:prstGeom prst="rect">
                <a:avLst/>
              </a:prstGeom>
              <a:blipFill>
                <a:blip r:embed="rId5"/>
                <a:stretch>
                  <a:fillRect l="-1163" b="-66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A6EAB66-B804-346C-D68E-C21D678B8A9F}"/>
              </a:ext>
            </a:extLst>
          </p:cNvPr>
          <p:cNvCxnSpPr/>
          <p:nvPr/>
        </p:nvCxnSpPr>
        <p:spPr>
          <a:xfrm>
            <a:off x="9289947" y="5337356"/>
            <a:ext cx="53312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90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46FF-2C75-7EB9-F384-E16690ED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E856447-2E7A-2825-18E6-80D7CC9F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35</a:t>
            </a:fld>
            <a:endParaRPr lang="en-US" altLang="ko-K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B0462-C14C-D682-4496-87CFB980365F}"/>
              </a:ext>
            </a:extLst>
          </p:cNvPr>
          <p:cNvSpPr txBox="1"/>
          <p:nvPr/>
        </p:nvSpPr>
        <p:spPr>
          <a:xfrm>
            <a:off x="117748" y="260648"/>
            <a:ext cx="748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신뢰구간</a:t>
            </a:r>
            <a:r>
              <a:rPr lang="en-US" altLang="ko-KR" sz="3200" b="1" dirty="0"/>
              <a:t>(Confidence Interval)</a:t>
            </a:r>
            <a:endParaRPr lang="ko-KR" altLang="en-US" sz="3200" b="1" dirty="0"/>
          </a:p>
        </p:txBody>
      </p:sp>
      <p:pic>
        <p:nvPicPr>
          <p:cNvPr id="2050" name="Picture 2" descr="N(0,1) 95% cutoff values">
            <a:extLst>
              <a:ext uri="{FF2B5EF4-FFF2-40B4-BE49-F238E27FC236}">
                <a16:creationId xmlns:a16="http://schemas.microsoft.com/office/drawing/2014/main" id="{02C9E87C-0B29-12D8-55BE-8044943B3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586630"/>
            <a:ext cx="8064896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6A9268-D201-FE8C-2B7C-1228A94D81CC}"/>
              </a:ext>
            </a:extLst>
          </p:cNvPr>
          <p:cNvSpPr txBox="1"/>
          <p:nvPr/>
        </p:nvSpPr>
        <p:spPr>
          <a:xfrm>
            <a:off x="1473351" y="5918143"/>
            <a:ext cx="249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출처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: NORTHWESTERN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University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125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36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60" y="1340768"/>
            <a:ext cx="10224283" cy="437935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F1554E9-3961-D2B2-C96C-0636C558719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9998" y="2385609"/>
            <a:ext cx="2848190" cy="800472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D318373-0A08-06B2-91BA-0A41D3474C11}"/>
              </a:ext>
            </a:extLst>
          </p:cNvPr>
          <p:cNvCxnSpPr/>
          <p:nvPr/>
        </p:nvCxnSpPr>
        <p:spPr>
          <a:xfrm>
            <a:off x="4222204" y="2780928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86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37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1916832"/>
            <a:ext cx="4777171" cy="32755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476" y="1916832"/>
            <a:ext cx="4799254" cy="3312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9996" y="141277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8559" y="141277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표준정규분포</a:t>
            </a:r>
          </a:p>
        </p:txBody>
      </p:sp>
    </p:spTree>
    <p:extLst>
      <p:ext uri="{BB962C8B-B14F-4D97-AF65-F5344CB8AC3E}">
        <p14:creationId xmlns:p14="http://schemas.microsoft.com/office/powerpoint/2010/main" val="72694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F7E9-1FE7-2EBC-35C8-B2B2C621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7C678DC-E0FA-3ABC-B06D-0B4F099AF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2" y="2843639"/>
            <a:ext cx="12083779" cy="351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F40D37-F604-11F7-60C6-6208E65A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21057-03B1-184F-DD09-1DD99A12995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D5899-55B7-98D1-1DCB-BAF688C29F1D}"/>
              </a:ext>
            </a:extLst>
          </p:cNvPr>
          <p:cNvSpPr txBox="1"/>
          <p:nvPr/>
        </p:nvSpPr>
        <p:spPr>
          <a:xfrm>
            <a:off x="10486900" y="3296617"/>
            <a:ext cx="1512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Outliers →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이상치 튀어나옴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A4235-19EA-715C-7139-7101D316FA54}"/>
              </a:ext>
            </a:extLst>
          </p:cNvPr>
          <p:cNvSpPr txBox="1"/>
          <p:nvPr/>
        </p:nvSpPr>
        <p:spPr>
          <a:xfrm>
            <a:off x="2449692" y="2442374"/>
            <a:ext cx="75774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모집단의 분포는 제 각각이지만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표본의 평균은 같은 언어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정규분포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따른다”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C735DF-E00B-8759-15BA-EA8CC9109A32}"/>
              </a:ext>
            </a:extLst>
          </p:cNvPr>
          <p:cNvSpPr txBox="1"/>
          <p:nvPr/>
        </p:nvSpPr>
        <p:spPr>
          <a:xfrm>
            <a:off x="693812" y="3714057"/>
            <a:ext cx="2016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Uniform → 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평평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49BE78-8871-9D8E-A657-65BCF1973E2D}"/>
              </a:ext>
            </a:extLst>
          </p:cNvPr>
          <p:cNvSpPr txBox="1"/>
          <p:nvPr/>
        </p:nvSpPr>
        <p:spPr>
          <a:xfrm>
            <a:off x="3646140" y="3274699"/>
            <a:ext cx="2592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Skewed →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한쪽으로 치우침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7E706-DAE6-5266-8D86-3CF44CCF8B23}"/>
              </a:ext>
            </a:extLst>
          </p:cNvPr>
          <p:cNvSpPr txBox="1"/>
          <p:nvPr/>
        </p:nvSpPr>
        <p:spPr>
          <a:xfrm>
            <a:off x="7102524" y="3460581"/>
            <a:ext cx="2136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Heavy Tail →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긴 꼬리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4DD40-BF9D-37F2-2E9B-FBAA331C9BD3}"/>
              </a:ext>
            </a:extLst>
          </p:cNvPr>
          <p:cNvSpPr txBox="1"/>
          <p:nvPr/>
        </p:nvSpPr>
        <p:spPr>
          <a:xfrm>
            <a:off x="483969" y="990607"/>
            <a:ext cx="9383932" cy="102021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왜 서로 다른 분포인데 결과는 같아지는가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이상치가 있어도 평균은 왜 안정적인가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이게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머신러닝과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딥러닝과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무슨 관계인가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이게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A/B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테스트와 무슨 관계인가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아래 경우를 바탕으로 다양한 예를 들어 중심극한정리를 적용하여 시각화하고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머신러닝과의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접목점도 시각화 하고 설명하는 보고서를 제출하라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78538E0-23E4-A86D-1292-242EEF100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11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A5E5-E5F1-56EF-A565-D0AEBA7F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EE190DF-0FB1-D5E9-A68E-4C10939C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39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3F800-0205-80AA-9527-CED57CA8DCB9}"/>
              </a:ext>
            </a:extLst>
          </p:cNvPr>
          <p:cNvSpPr txBox="1"/>
          <p:nvPr/>
        </p:nvSpPr>
        <p:spPr>
          <a:xfrm>
            <a:off x="117747" y="-27384"/>
            <a:ext cx="12071077" cy="92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중심극한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정리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(Central Limit </a:t>
            </a:r>
            <a:r>
              <a:rPr lang="en-US" altLang="ko-KR" sz="32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Theorm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ko-KR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A4D0C-AE04-33CD-48FA-AE76EC243CDD}"/>
              </a:ext>
            </a:extLst>
          </p:cNvPr>
          <p:cNvSpPr txBox="1"/>
          <p:nvPr/>
        </p:nvSpPr>
        <p:spPr>
          <a:xfrm>
            <a:off x="333772" y="1196752"/>
            <a:ext cx="1152128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확률분포를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모르는 모집단에서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표본을 추출한 표본평균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확률변수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모집단의 평균과 분산을 따르는 정규분포에 근접한다는 정리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(axiom)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통계적 모형에서 표본의 평균과 분산을 정규분포로 가정하는 근거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F309543-8DC3-44CA-8160-31F2286914E7}"/>
              </a:ext>
            </a:extLst>
          </p:cNvPr>
          <p:cNvGrpSpPr/>
          <p:nvPr/>
        </p:nvGrpSpPr>
        <p:grpSpPr>
          <a:xfrm>
            <a:off x="7605654" y="2927971"/>
            <a:ext cx="3682528" cy="3147846"/>
            <a:chOff x="7605654" y="2927971"/>
            <a:chExt cx="3682528" cy="3147846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C1B55FC-1A92-C807-D7D6-DC9C68CE5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654" y="3429000"/>
              <a:ext cx="3682528" cy="264681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1AE4D26-81E1-6DB5-8EDC-D70E2641F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726838" y="2927971"/>
              <a:ext cx="1220221" cy="52649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B8FD5A7-A3D1-A999-CB13-9EA1028EB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848022" y="2927971"/>
              <a:ext cx="1440160" cy="511025"/>
            </a:xfrm>
            <a:prstGeom prst="rect">
              <a:avLst/>
            </a:prstGeom>
          </p:spPr>
        </p:pic>
      </p:grpSp>
      <p:pic>
        <p:nvPicPr>
          <p:cNvPr id="13" name="그래픽 12" descr="가로 막대형 차트 단색으로 채워진">
            <a:extLst>
              <a:ext uri="{FF2B5EF4-FFF2-40B4-BE49-F238E27FC236}">
                <a16:creationId xmlns:a16="http://schemas.microsoft.com/office/drawing/2014/main" id="{11BB02EC-B2F6-3AC7-AD51-E85829F89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2244" y="2563820"/>
            <a:ext cx="576064" cy="576064"/>
          </a:xfrm>
          <a:prstGeom prst="rect">
            <a:avLst/>
          </a:prstGeom>
        </p:spPr>
      </p:pic>
      <p:pic>
        <p:nvPicPr>
          <p:cNvPr id="15" name="그래픽 14" descr="가로 막대형 차트 윤곽선">
            <a:extLst>
              <a:ext uri="{FF2B5EF4-FFF2-40B4-BE49-F238E27FC236}">
                <a16:creationId xmlns:a16="http://schemas.microsoft.com/office/drawing/2014/main" id="{77747C22-1DC2-2FE1-B99E-3CF72F9DA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5463" y="3534435"/>
            <a:ext cx="576064" cy="576064"/>
          </a:xfrm>
          <a:prstGeom prst="rect">
            <a:avLst/>
          </a:prstGeom>
        </p:spPr>
      </p:pic>
      <p:pic>
        <p:nvPicPr>
          <p:cNvPr id="19" name="그래픽 18" descr="막대 그래프 하향 추세 윤곽선">
            <a:extLst>
              <a:ext uri="{FF2B5EF4-FFF2-40B4-BE49-F238E27FC236}">
                <a16:creationId xmlns:a16="http://schemas.microsoft.com/office/drawing/2014/main" id="{67E95CDF-10F3-0FCC-2F08-FE4EC5D4A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93740" y="5445224"/>
            <a:ext cx="576064" cy="576064"/>
          </a:xfrm>
          <a:prstGeom prst="rect">
            <a:avLst/>
          </a:prstGeom>
        </p:spPr>
      </p:pic>
      <p:pic>
        <p:nvPicPr>
          <p:cNvPr id="21" name="그래픽 20" descr="막대 그래프 상향 추세 윤곽선">
            <a:extLst>
              <a:ext uri="{FF2B5EF4-FFF2-40B4-BE49-F238E27FC236}">
                <a16:creationId xmlns:a16="http://schemas.microsoft.com/office/drawing/2014/main" id="{D5D8F014-18CC-9817-4C9C-EBE5E5F685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02151" y="4577855"/>
            <a:ext cx="576064" cy="576064"/>
          </a:xfrm>
          <a:prstGeom prst="rect">
            <a:avLst/>
          </a:prstGeom>
        </p:spPr>
      </p:pic>
      <p:pic>
        <p:nvPicPr>
          <p:cNvPr id="23" name="그래픽 22" descr="막대 그래프 상향 추세 단색으로 채워진">
            <a:extLst>
              <a:ext uri="{FF2B5EF4-FFF2-40B4-BE49-F238E27FC236}">
                <a16:creationId xmlns:a16="http://schemas.microsoft.com/office/drawing/2014/main" id="{15F12ECC-1244-E705-4E99-BF4FB0811F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6091" y="5291520"/>
            <a:ext cx="576064" cy="576064"/>
          </a:xfrm>
          <a:prstGeom prst="rect">
            <a:avLst/>
          </a:prstGeom>
        </p:spPr>
      </p:pic>
      <p:pic>
        <p:nvPicPr>
          <p:cNvPr id="25" name="그래픽 24" descr="별과 행성이 있는 우주">
            <a:extLst>
              <a:ext uri="{FF2B5EF4-FFF2-40B4-BE49-F238E27FC236}">
                <a16:creationId xmlns:a16="http://schemas.microsoft.com/office/drawing/2014/main" id="{F8DAC86F-90C8-00C9-903A-5C577B799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9585776">
            <a:off x="596334" y="3505009"/>
            <a:ext cx="3467740" cy="1950604"/>
          </a:xfrm>
          <a:prstGeom prst="rect">
            <a:avLst/>
          </a:prstGeom>
        </p:spPr>
      </p:pic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5FEC3A41-376D-269C-DBC3-449053C6537E}"/>
              </a:ext>
            </a:extLst>
          </p:cNvPr>
          <p:cNvCxnSpPr>
            <a:stCxn id="25" idx="3"/>
          </p:cNvCxnSpPr>
          <p:nvPr/>
        </p:nvCxnSpPr>
        <p:spPr>
          <a:xfrm flipV="1">
            <a:off x="3774877" y="2996952"/>
            <a:ext cx="735359" cy="5245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43B33A39-90D4-045E-B9D8-998FB4E1D9A3}"/>
              </a:ext>
            </a:extLst>
          </p:cNvPr>
          <p:cNvCxnSpPr>
            <a:cxnSpLocks/>
          </p:cNvCxnSpPr>
          <p:nvPr/>
        </p:nvCxnSpPr>
        <p:spPr>
          <a:xfrm flipV="1">
            <a:off x="4257564" y="3748427"/>
            <a:ext cx="794130" cy="23198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4F1F3E9-AEEC-4F34-20E8-645F0317FF01}"/>
              </a:ext>
            </a:extLst>
          </p:cNvPr>
          <p:cNvCxnSpPr>
            <a:cxnSpLocks/>
          </p:cNvCxnSpPr>
          <p:nvPr/>
        </p:nvCxnSpPr>
        <p:spPr>
          <a:xfrm>
            <a:off x="2782044" y="5291520"/>
            <a:ext cx="792998" cy="4417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38DC9AA1-C87D-F7FE-810E-52FEE1C0614D}"/>
              </a:ext>
            </a:extLst>
          </p:cNvPr>
          <p:cNvCxnSpPr>
            <a:cxnSpLocks/>
          </p:cNvCxnSpPr>
          <p:nvPr/>
        </p:nvCxnSpPr>
        <p:spPr>
          <a:xfrm>
            <a:off x="3533944" y="4873083"/>
            <a:ext cx="976292" cy="4184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CC60EED6-C64C-8123-E405-5F0558AE618A}"/>
              </a:ext>
            </a:extLst>
          </p:cNvPr>
          <p:cNvCxnSpPr>
            <a:cxnSpLocks/>
          </p:cNvCxnSpPr>
          <p:nvPr/>
        </p:nvCxnSpPr>
        <p:spPr>
          <a:xfrm>
            <a:off x="3916155" y="4480311"/>
            <a:ext cx="1526000" cy="32082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076A2818-CD9C-879D-4D68-404BDD248AC2}"/>
              </a:ext>
            </a:extLst>
          </p:cNvPr>
          <p:cNvSpPr/>
          <p:nvPr/>
        </p:nvSpPr>
        <p:spPr>
          <a:xfrm>
            <a:off x="6526460" y="3864421"/>
            <a:ext cx="688733" cy="71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44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A21B-0B46-FCE1-79D8-2485820A9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AAFB6A-2F92-0D94-43A3-5F5C7806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40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E5AA0-92F8-F123-B4E8-D4FA1D20838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77B24-B972-3430-22FD-5B037A7CFCE0}"/>
              </a:ext>
            </a:extLst>
          </p:cNvPr>
          <p:cNvSpPr txBox="1"/>
          <p:nvPr/>
        </p:nvSpPr>
        <p:spPr>
          <a:xfrm>
            <a:off x="333772" y="1772816"/>
            <a:ext cx="5112569" cy="33689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Problem :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현실 데이터는 왜 어려운가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None/>
            </a:pP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분포를 모른다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(uniform,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exponential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(abnormality, outliers)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존재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아님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(skewed, heavy tail)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👉 질문</a:t>
            </a:r>
            <a:b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“이런 데이터로 어떻게 분석과 학습을 할까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?”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1EE9F-6901-C6DC-5EB0-FF4F18BEB070}"/>
              </a:ext>
            </a:extLst>
          </p:cNvPr>
          <p:cNvSpPr txBox="1"/>
          <p:nvPr/>
        </p:nvSpPr>
        <p:spPr>
          <a:xfrm>
            <a:off x="6382444" y="1772816"/>
            <a:ext cx="5090965" cy="33689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Solution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평균이 문제를 해결한다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개별 데이터 → 불규칙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 → 안정적 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👉 핵심 메시지</a:t>
            </a:r>
            <a:b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“평균을 보면 질서가 보인다”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E22FDCF-DC6C-3F46-ED1B-7A7098390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06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CC26-4A6F-3EA6-8212-862648D1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1C6FDF6-4C1F-E672-780E-582262BBC0EF}"/>
              </a:ext>
            </a:extLst>
          </p:cNvPr>
          <p:cNvSpPr/>
          <p:nvPr/>
        </p:nvSpPr>
        <p:spPr>
          <a:xfrm>
            <a:off x="598421" y="484238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2CCE3C-C8AB-36C2-563E-166AEFF8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41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4B3A6C-81F2-1538-0FA3-857F7B49C526}"/>
              </a:ext>
            </a:extLst>
          </p:cNvPr>
          <p:cNvSpPr txBox="1"/>
          <p:nvPr/>
        </p:nvSpPr>
        <p:spPr>
          <a:xfrm>
            <a:off x="1629916" y="147612"/>
            <a:ext cx="8928992" cy="5261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133799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42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333772" y="692696"/>
            <a:ext cx="11737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000" dirty="0"/>
              <a:t>AI</a:t>
            </a:r>
            <a:r>
              <a:rPr lang="ko-KR" altLang="en-US" sz="2000" dirty="0"/>
              <a:t>는 스스로 어떻게 학습하고 답변하는가</a:t>
            </a:r>
            <a:r>
              <a:rPr lang="en-US" altLang="ko-KR" sz="2000" dirty="0"/>
              <a:t>? </a:t>
            </a:r>
            <a:r>
              <a:rPr lang="ko-KR" altLang="en-US" sz="2000" dirty="0"/>
              <a:t>당신은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43DF403-EEB4-C91B-32EE-23EFD899536D}"/>
              </a:ext>
            </a:extLst>
          </p:cNvPr>
          <p:cNvSpPr txBox="1">
            <a:spLocks/>
          </p:cNvSpPr>
          <p:nvPr/>
        </p:nvSpPr>
        <p:spPr>
          <a:xfrm>
            <a:off x="2159350" y="2540901"/>
            <a:ext cx="4861565" cy="5748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68580" tIns="34290" rIns="68580" bIns="3429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</a:t>
            </a:r>
            <a:r>
              <a:rPr lang="en-US" altLang="ko-KR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    ?     )</a:t>
            </a:r>
            <a:endParaRPr lang="ko-KR" altLang="en-US" sz="21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74DF30-B848-CCCB-2DB9-DD0CA5B281F0}"/>
              </a:ext>
            </a:extLst>
          </p:cNvPr>
          <p:cNvGrpSpPr/>
          <p:nvPr/>
        </p:nvGrpSpPr>
        <p:grpSpPr>
          <a:xfrm>
            <a:off x="3317348" y="2164000"/>
            <a:ext cx="4861565" cy="2288032"/>
            <a:chOff x="2849632" y="1003319"/>
            <a:chExt cx="6482087" cy="3050709"/>
          </a:xfrm>
        </p:grpSpPr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C626DF26-B724-97BC-A10D-E431B47870AF}"/>
                </a:ext>
              </a:extLst>
            </p:cNvPr>
            <p:cNvSpPr txBox="1">
              <a:spLocks/>
            </p:cNvSpPr>
            <p:nvPr/>
          </p:nvSpPr>
          <p:spPr>
            <a:xfrm>
              <a:off x="2849632" y="2427345"/>
              <a:ext cx="648208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68580" tIns="34290" rIns="68580" bIns="3429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블랙 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(   </a:t>
              </a:r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  )</a:t>
              </a:r>
              <a:endPara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0E1A835-2913-35D9-5D81-DBC9A0297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6815" y="1003319"/>
              <a:ext cx="2245415" cy="3050709"/>
            </a:xfrm>
            <a:prstGeom prst="rect">
              <a:avLst/>
            </a:prstGeom>
          </p:spPr>
        </p:pic>
      </p:grpSp>
      <p:sp>
        <p:nvSpPr>
          <p:cNvPr id="12" name="화살표: 위로 구부러짐 11">
            <a:extLst>
              <a:ext uri="{FF2B5EF4-FFF2-40B4-BE49-F238E27FC236}">
                <a16:creationId xmlns:a16="http://schemas.microsoft.com/office/drawing/2014/main" id="{9F817D84-17B2-D951-EB88-B0662D0F17C3}"/>
              </a:ext>
            </a:extLst>
          </p:cNvPr>
          <p:cNvSpPr/>
          <p:nvPr/>
        </p:nvSpPr>
        <p:spPr>
          <a:xfrm>
            <a:off x="2559345" y="3068811"/>
            <a:ext cx="758003" cy="300253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C74A294-C947-F052-218E-F469143481B8}"/>
              </a:ext>
            </a:extLst>
          </p:cNvPr>
          <p:cNvGrpSpPr/>
          <p:nvPr/>
        </p:nvGrpSpPr>
        <p:grpSpPr>
          <a:xfrm>
            <a:off x="3319460" y="3751877"/>
            <a:ext cx="4861565" cy="1389875"/>
            <a:chOff x="2863098" y="3031378"/>
            <a:chExt cx="6482087" cy="1853167"/>
          </a:xfrm>
        </p:grpSpPr>
        <p:sp>
          <p:nvSpPr>
            <p:cNvPr id="14" name="제목 1">
              <a:extLst>
                <a:ext uri="{FF2B5EF4-FFF2-40B4-BE49-F238E27FC236}">
                  <a16:creationId xmlns:a16="http://schemas.microsoft.com/office/drawing/2014/main" id="{0D8D4BD9-11FB-7468-47D3-DFF0B2105F20}"/>
                </a:ext>
              </a:extLst>
            </p:cNvPr>
            <p:cNvSpPr txBox="1">
              <a:spLocks/>
            </p:cNvSpPr>
            <p:nvPr/>
          </p:nvSpPr>
          <p:spPr>
            <a:xfrm>
              <a:off x="2863098" y="3386409"/>
              <a:ext cx="648208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68580" tIns="34290" rIns="68580" bIns="3429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블랙 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(   </a:t>
              </a:r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커피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  )</a:t>
              </a:r>
              <a:endPara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283A527B-1B23-7081-228C-351D5B790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42000" y="3031378"/>
              <a:ext cx="1906530" cy="1853167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CB8FEAC-2DAC-73AA-796B-494D17313748}"/>
              </a:ext>
            </a:extLst>
          </p:cNvPr>
          <p:cNvGrpSpPr/>
          <p:nvPr/>
        </p:nvGrpSpPr>
        <p:grpSpPr>
          <a:xfrm>
            <a:off x="3309358" y="4735839"/>
            <a:ext cx="5873234" cy="1573481"/>
            <a:chOff x="2849630" y="4343328"/>
            <a:chExt cx="7830978" cy="2097974"/>
          </a:xfrm>
        </p:grpSpPr>
        <p:sp>
          <p:nvSpPr>
            <p:cNvPr id="17" name="제목 1">
              <a:extLst>
                <a:ext uri="{FF2B5EF4-FFF2-40B4-BE49-F238E27FC236}">
                  <a16:creationId xmlns:a16="http://schemas.microsoft.com/office/drawing/2014/main" id="{C9808973-FFA6-DF6A-0193-D1B8A5EC9FB0}"/>
                </a:ext>
              </a:extLst>
            </p:cNvPr>
            <p:cNvSpPr txBox="1">
              <a:spLocks/>
            </p:cNvSpPr>
            <p:nvPr/>
          </p:nvSpPr>
          <p:spPr>
            <a:xfrm>
              <a:off x="2849630" y="4343328"/>
              <a:ext cx="648208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68580" tIns="34290" rIns="68580" bIns="3429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블랙 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(   </a:t>
              </a:r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  )</a:t>
              </a:r>
              <a:endPara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2ED243F-70AE-496C-682F-A2C3A7B75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5265" y="4454168"/>
              <a:ext cx="3885343" cy="19871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697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43</a:t>
            </a:fld>
            <a:endParaRPr lang="en-US" altLang="ko-KR" noProof="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3BA925-346A-92DA-54AD-5E1487C17764}"/>
              </a:ext>
            </a:extLst>
          </p:cNvPr>
          <p:cNvGrpSpPr/>
          <p:nvPr/>
        </p:nvGrpSpPr>
        <p:grpSpPr>
          <a:xfrm>
            <a:off x="4027821" y="2348883"/>
            <a:ext cx="3218720" cy="3810977"/>
            <a:chOff x="5190488" y="1060752"/>
            <a:chExt cx="3148402" cy="3159825"/>
          </a:xfrm>
        </p:grpSpPr>
        <p:sp>
          <p:nvSpPr>
            <p:cNvPr id="2" name="AutoShape 2" descr="숲 한가운데에 있는 형형색색의 나무들판">
              <a:extLst>
                <a:ext uri="{FF2B5EF4-FFF2-40B4-BE49-F238E27FC236}">
                  <a16:creationId xmlns:a16="http://schemas.microsoft.com/office/drawing/2014/main" id="{92ADEB6C-595F-D022-1FA7-A6F276B90D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2013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18EE12F-0606-75E2-2B43-F3AFCA455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0488" y="3077522"/>
              <a:ext cx="3148402" cy="1143055"/>
            </a:xfrm>
            <a:prstGeom prst="rect">
              <a:avLst/>
            </a:prstGeom>
          </p:spPr>
        </p:pic>
        <p:pic>
          <p:nvPicPr>
            <p:cNvPr id="1032" name="Picture 8" descr="베이즈 정리(Bayes' Theorem)의 정의와 의미">
              <a:extLst>
                <a:ext uri="{FF2B5EF4-FFF2-40B4-BE49-F238E27FC236}">
                  <a16:creationId xmlns:a16="http://schemas.microsoft.com/office/drawing/2014/main" id="{B067FD7D-5954-1B2D-36F6-A25C17C1F9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0488" y="1060752"/>
              <a:ext cx="3148402" cy="2016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9C1E87A-9767-8287-7253-CF05F7BA0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892" y="2348883"/>
            <a:ext cx="2736304" cy="3810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84390B-04B7-B557-EA80-3E403DB78D61}"/>
              </a:ext>
            </a:extLst>
          </p:cNvPr>
          <p:cNvSpPr txBox="1"/>
          <p:nvPr/>
        </p:nvSpPr>
        <p:spPr>
          <a:xfrm>
            <a:off x="1053852" y="938799"/>
            <a:ext cx="10301549" cy="9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사실이 바뀌면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나는 생각을 바꿉니다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당신은 어떻게 하십니까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?"</a:t>
            </a:r>
            <a:endParaRPr lang="ko-KR" altLang="en-US" sz="2000" dirty="0">
              <a:latin typeface="Cambria" panose="02040503050406030204" pitchFamily="18" charset="0"/>
              <a:ea typeface="LG Smart UI Light" panose="020B0300000101010101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“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When the facts change, I change my mind. What do you do, sir?”   - Keynes, Economist</a:t>
            </a: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76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5A24-82DF-449D-2B2D-95454CE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28C64F-9D89-54F0-37FA-27D8C00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44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30866-87BA-AFD5-382F-50D5BE9390CE}"/>
              </a:ext>
            </a:extLst>
          </p:cNvPr>
          <p:cNvSpPr txBox="1"/>
          <p:nvPr/>
        </p:nvSpPr>
        <p:spPr>
          <a:xfrm>
            <a:off x="621804" y="980728"/>
            <a:ext cx="9361040" cy="11428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던지기를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+mj-ea"/>
                <a:ea typeface="+mj-ea"/>
                <a:cs typeface="맑은 고딕 Semilight" panose="020B0502040204020203" pitchFamily="50" charset="-127"/>
              </a:rPr>
              <a:t>모의실험하여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직접 실제 동전의 확률과 시행 횟수를 조절하면서 </a:t>
            </a:r>
            <a:r>
              <a:rPr lang="ko-KR" altLang="en-US" sz="1600" b="1" dirty="0">
                <a:latin typeface="+mj-ea"/>
                <a:ea typeface="+mj-ea"/>
              </a:rPr>
              <a:t>나의 믿음이 변하는</a:t>
            </a:r>
            <a:r>
              <a:rPr lang="ko-KR" altLang="en-US" sz="1600" dirty="0">
                <a:latin typeface="+mj-ea"/>
                <a:ea typeface="+mj-ea"/>
              </a:rPr>
              <a:t> 과정을 실시간으로 관찰할 수 있도록 </a:t>
            </a:r>
            <a:r>
              <a:rPr lang="en-US" altLang="ko-KR" sz="1600" dirty="0" err="1">
                <a:latin typeface="+mj-ea"/>
                <a:ea typeface="+mj-ea"/>
              </a:rPr>
              <a:t>gradio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UI</a:t>
            </a:r>
            <a:r>
              <a:rPr lang="ko-KR" altLang="en-US" sz="1600" dirty="0">
                <a:latin typeface="+mj-ea"/>
                <a:ea typeface="+mj-ea"/>
              </a:rPr>
              <a:t>로 만들어 시뮬레이션하고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이러한 실험을 바탕으로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한강에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가장 큰 물고기의 크기는 몇 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cm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라고 답해야 할까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4593E-7CFB-04F9-BFB4-4925595F004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597588D-E806-B02C-F459-1E6EE33CB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052" y="2480096"/>
            <a:ext cx="6269971" cy="411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25CCB96-6516-8B28-5A7F-87B5B8070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47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3921-3021-A2F4-41DD-E491B58E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CD7C2C-546B-CF7F-95E2-45B41C17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45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0754B-67CB-90D7-5964-4967D165198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문제풀이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4C03BD1-6447-6817-9667-38649654BB2D}"/>
              </a:ext>
            </a:extLst>
          </p:cNvPr>
          <p:cNvGrpSpPr/>
          <p:nvPr/>
        </p:nvGrpSpPr>
        <p:grpSpPr>
          <a:xfrm>
            <a:off x="674731" y="1700809"/>
            <a:ext cx="5491689" cy="4655542"/>
            <a:chOff x="674731" y="1700808"/>
            <a:chExt cx="5161191" cy="4255855"/>
          </a:xfrm>
        </p:grpSpPr>
        <p:pic>
          <p:nvPicPr>
            <p:cNvPr id="5128" name="Picture 8" descr="img">
              <a:extLst>
                <a:ext uri="{FF2B5EF4-FFF2-40B4-BE49-F238E27FC236}">
                  <a16:creationId xmlns:a16="http://schemas.microsoft.com/office/drawing/2014/main" id="{75D943D4-565B-F046-7CFC-EA8B4D5FC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409" y="1700808"/>
              <a:ext cx="5147513" cy="2903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7B0180D-05D5-1FE4-B49F-0D42F72C2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4731" y="4509401"/>
              <a:ext cx="5161191" cy="1447262"/>
            </a:xfrm>
            <a:prstGeom prst="rect">
              <a:avLst/>
            </a:prstGeom>
          </p:spPr>
        </p:pic>
      </p:grpSp>
      <p:pic>
        <p:nvPicPr>
          <p:cNvPr id="5132" name="Picture 12" descr="How to Decipher False Positives (and Negatives) with Bayes' Theorem – The  Stats Ninja">
            <a:extLst>
              <a:ext uri="{FF2B5EF4-FFF2-40B4-BE49-F238E27FC236}">
                <a16:creationId xmlns:a16="http://schemas.microsoft.com/office/drawing/2014/main" id="{852883A4-4EC5-633C-C569-9305FEE7A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508" y="1700809"/>
            <a:ext cx="4787436" cy="29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87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8151-C46B-CD5E-E821-A0F68F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6760EB-0648-59D8-3629-82571919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46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93FFA3-F7AB-2DB1-F22A-1ECB6018AABD}"/>
                  </a:ext>
                </a:extLst>
              </p:cNvPr>
              <p:cNvSpPr txBox="1"/>
              <p:nvPr/>
            </p:nvSpPr>
            <p:spPr>
              <a:xfrm>
                <a:off x="5969877" y="1772816"/>
                <a:ext cx="5832648" cy="4446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중앙 육각형 격자 </a:t>
                </a:r>
                <a:r>
                  <a:rPr lang="en-US" altLang="ko-KR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(Joint Distribution)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변수가 동시에 나타나는 빈도이며 색이 진할수록 해당 데이터 포인트가 많이 몰려 있다는 뜻이며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결합 확률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𝑷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𝑿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,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𝒀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높은 지점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상단</a:t>
                </a:r>
                <a:r>
                  <a:rPr lang="en-US" altLang="ko-KR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/</a:t>
                </a:r>
                <a:r>
                  <a:rPr lang="ko-KR" altLang="en-US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우측 막대그래프 </a:t>
                </a:r>
                <a:r>
                  <a:rPr lang="en-US" altLang="ko-KR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(Marginal Distribution)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 변수 하나의 분포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주변 확률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𝑷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𝑿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와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𝑷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𝒀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상단 막대는 부리 길이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𝑿</m:t>
                    </m:r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분포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우측 막대는 날개 길이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𝒀</m:t>
                    </m:r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분포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93FFA3-F7AB-2DB1-F22A-1ECB6018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877" y="1772816"/>
                <a:ext cx="5832648" cy="4446602"/>
              </a:xfrm>
              <a:prstGeom prst="rect">
                <a:avLst/>
              </a:prstGeom>
              <a:blipFill>
                <a:blip r:embed="rId3"/>
                <a:stretch>
                  <a:fillRect l="-418" b="-8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4D1BEF79-7545-09AC-1482-F1F72B45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" y="1772816"/>
            <a:ext cx="485758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A2A39A-1188-3272-3076-8B01A836614A}"/>
              </a:ext>
            </a:extLst>
          </p:cNvPr>
          <p:cNvSpPr txBox="1"/>
          <p:nvPr/>
        </p:nvSpPr>
        <p:spPr>
          <a:xfrm>
            <a:off x="532365" y="1465039"/>
            <a:ext cx="2914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hexbin_with</a:t>
            </a:r>
            <a:r>
              <a:rPr lang="en-US" altLang="ko-KR" sz="1400" dirty="0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marginal distribution.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5E9CAD-E07C-3779-E540-0EBB161CB89F}"/>
                  </a:ext>
                </a:extLst>
              </p:cNvPr>
              <p:cNvSpPr txBox="1"/>
              <p:nvPr/>
            </p:nvSpPr>
            <p:spPr>
              <a:xfrm>
                <a:off x="3446945" y="5208295"/>
                <a:ext cx="10275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𝑿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,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5E9CAD-E07C-3779-E540-0EBB161CB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945" y="5208295"/>
                <a:ext cx="1027593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6B1C5-A810-ADFB-3987-64C5E3225901}"/>
                  </a:ext>
                </a:extLst>
              </p:cNvPr>
              <p:cNvSpPr txBox="1"/>
              <p:nvPr/>
            </p:nvSpPr>
            <p:spPr>
              <a:xfrm>
                <a:off x="4798268" y="226758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6B1C5-A810-ADFB-3987-64C5E3225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268" y="2267580"/>
                <a:ext cx="648072" cy="369332"/>
              </a:xfrm>
              <a:prstGeom prst="rect">
                <a:avLst/>
              </a:prstGeom>
              <a:blipFill>
                <a:blip r:embed="rId7"/>
                <a:stretch>
                  <a:fillRect r="-8491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88395A-7CDF-DA9D-FE70-9353060EBF3D}"/>
                  </a:ext>
                </a:extLst>
              </p:cNvPr>
              <p:cNvSpPr txBox="1"/>
              <p:nvPr/>
            </p:nvSpPr>
            <p:spPr>
              <a:xfrm>
                <a:off x="763770" y="1895927"/>
                <a:ext cx="7941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𝑿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88395A-7CDF-DA9D-FE70-9353060EB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70" y="1895927"/>
                <a:ext cx="794138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DCA833E-B55B-A6F6-4B65-00A54D9DAF32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 1/2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1907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7A16-70FD-5F9C-82F2-BFBB18AD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E0D05F-AB83-DCDF-6007-1D057B50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47</a:t>
            </a:fld>
            <a:endParaRPr lang="en-US" altLang="ko-KR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500329-A5D7-F9B1-1F3C-BE517A639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" y="1772816"/>
            <a:ext cx="485758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DE6E5-2F8D-EE24-6061-C94F699F7675}"/>
                  </a:ext>
                </a:extLst>
              </p:cNvPr>
              <p:cNvSpPr txBox="1"/>
              <p:nvPr/>
            </p:nvSpPr>
            <p:spPr>
              <a:xfrm>
                <a:off x="3383414" y="5229200"/>
                <a:ext cx="10275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𝑿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,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DE6E5-2F8D-EE24-6061-C94F699F7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414" y="5229200"/>
                <a:ext cx="102759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FE2885-AFF1-2062-4D1E-B7C732F82842}"/>
                  </a:ext>
                </a:extLst>
              </p:cNvPr>
              <p:cNvSpPr txBox="1"/>
              <p:nvPr/>
            </p:nvSpPr>
            <p:spPr>
              <a:xfrm>
                <a:off x="4798268" y="226758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6B1C5-A810-ADFB-3987-64C5E3225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268" y="2267580"/>
                <a:ext cx="648072" cy="369332"/>
              </a:xfrm>
              <a:prstGeom prst="rect">
                <a:avLst/>
              </a:prstGeom>
              <a:blipFill>
                <a:blip r:embed="rId7"/>
                <a:stretch>
                  <a:fillRect r="-8491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581A04-0990-6007-2C98-A6ACE0C5F247}"/>
                  </a:ext>
                </a:extLst>
              </p:cNvPr>
              <p:cNvSpPr txBox="1"/>
              <p:nvPr/>
            </p:nvSpPr>
            <p:spPr>
              <a:xfrm>
                <a:off x="763770" y="1895927"/>
                <a:ext cx="7941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𝑿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88395A-7CDF-DA9D-FE70-9353060EB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70" y="1895927"/>
                <a:ext cx="794138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F875AC9-947E-AE64-7E06-C31EC5893D0F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A96610-0088-A1E2-DEA7-0B10C6C165A4}"/>
              </a:ext>
            </a:extLst>
          </p:cNvPr>
          <p:cNvSpPr/>
          <p:nvPr/>
        </p:nvSpPr>
        <p:spPr>
          <a:xfrm>
            <a:off x="1269876" y="2564904"/>
            <a:ext cx="1027593" cy="34563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9FBC6A-B071-CD5C-374D-DA25EAF8FD1E}"/>
              </a:ext>
            </a:extLst>
          </p:cNvPr>
          <p:cNvSpPr/>
          <p:nvPr/>
        </p:nvSpPr>
        <p:spPr>
          <a:xfrm>
            <a:off x="3430116" y="2564904"/>
            <a:ext cx="1152128" cy="345638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059F18F0-B3DE-7DB5-777C-97C03BD5A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229" y="2263731"/>
            <a:ext cx="6336108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E2FBE8-2BCA-A291-3941-96F82417E54A}"/>
              </a:ext>
            </a:extLst>
          </p:cNvPr>
          <p:cNvSpPr/>
          <p:nvPr/>
        </p:nvSpPr>
        <p:spPr>
          <a:xfrm>
            <a:off x="5690229" y="2263731"/>
            <a:ext cx="3284503" cy="25922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0F7786-04E7-76CC-7447-9570B35EDDBA}"/>
              </a:ext>
            </a:extLst>
          </p:cNvPr>
          <p:cNvSpPr/>
          <p:nvPr/>
        </p:nvSpPr>
        <p:spPr>
          <a:xfrm>
            <a:off x="9022844" y="2263731"/>
            <a:ext cx="3003493" cy="259228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F6A536-A564-8934-6B25-CFA8F9AC8B34}"/>
              </a:ext>
            </a:extLst>
          </p:cNvPr>
          <p:cNvSpPr txBox="1"/>
          <p:nvPr/>
        </p:nvSpPr>
        <p:spPr>
          <a:xfrm>
            <a:off x="338480" y="1005885"/>
            <a:ext cx="115885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빨강색 박스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 날개의 길이에 대한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조건부확률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히스토그램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713ED6-BB3B-3A3C-9AA4-942D897FD766}"/>
                  </a:ext>
                </a:extLst>
              </p:cNvPr>
              <p:cNvSpPr txBox="1"/>
              <p:nvPr/>
            </p:nvSpPr>
            <p:spPr>
              <a:xfrm>
                <a:off x="6565331" y="5017329"/>
                <a:ext cx="21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altLang="ko-K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m:t>𝑿</m:t>
                          </m:r>
                        </m:e>
                      </m:d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&lt;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𝟒𝟎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713ED6-BB3B-3A3C-9AA4-942D897FD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31" y="5017329"/>
                <a:ext cx="2111696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EB33B1-F482-301C-F5FF-F9CF2349DB08}"/>
                  </a:ext>
                </a:extLst>
              </p:cNvPr>
              <p:cNvSpPr txBox="1"/>
              <p:nvPr/>
            </p:nvSpPr>
            <p:spPr>
              <a:xfrm>
                <a:off x="9550796" y="5016250"/>
                <a:ext cx="21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altLang="ko-K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</m:ctrlPr>
                        </m:dPr>
                        <m:e>
                          <m:r>
                            <a:rPr lang="en-US" altLang="ko-KR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맑은 고딕 Semilight" panose="020B0502040204020203" pitchFamily="50" charset="-127"/>
                              <a:cs typeface="맑은 고딕 Semilight" panose="020B0502040204020203" pitchFamily="50" charset="-127"/>
                            </a:rPr>
                            <m:t>𝑿</m:t>
                          </m:r>
                        </m:e>
                      </m:d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&gt;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𝟓𝟎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EB33B1-F482-301C-F5FF-F9CF2349D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796" y="5016250"/>
                <a:ext cx="2111696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19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7F4F-4C66-5C79-57DA-B16A4F68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6427ED6-85A8-D777-FF95-6E6E6E0B2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048" y="2877923"/>
            <a:ext cx="6819001" cy="357541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D0E083-68EA-01E8-7806-63208565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48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09F8D-EFC5-817A-F173-BD0C07583ADB}"/>
              </a:ext>
            </a:extLst>
          </p:cNvPr>
          <p:cNvSpPr txBox="1"/>
          <p:nvPr/>
        </p:nvSpPr>
        <p:spPr>
          <a:xfrm>
            <a:off x="549796" y="986059"/>
            <a:ext cx="11233248" cy="156818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매일 아침 출근시간에 지하철을 타는 남자가 금융 및 보험업에 종사할 확률을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통계청 자료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(KOSIS)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따르면 전체 종업원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(6,246,489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금융 및 보험업에 종사자 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(66,014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사전확률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 넥타이 착용율은 금융업과 다른 업종 종사자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각각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90%, 15%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새로운 사실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Evidence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새로운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사실에 근거하여 이 남자의 금융 및 보험업에 종사할 사후확률은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36591-4C41-D85C-1F64-DE57588364E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F460A-5DE2-6573-C2AD-53241F59FD97}"/>
              </a:ext>
            </a:extLst>
          </p:cNvPr>
          <p:cNvSpPr txBox="1"/>
          <p:nvPr/>
        </p:nvSpPr>
        <p:spPr>
          <a:xfrm>
            <a:off x="2266048" y="4221088"/>
            <a:ext cx="1704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산업별 종사자 수</a:t>
            </a:r>
            <a:endParaRPr lang="ko-KR" altLang="en-US" sz="1600" b="1" dirty="0"/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9B17EF7-974C-F17F-A3E1-3C07DADAC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887" y="26166"/>
            <a:ext cx="1389505" cy="91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61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7DCD-302D-9CE6-CF1A-29A1F798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39A17B-2AF0-818F-A73D-451C46F5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49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6AA4D-FC6B-90BE-73F7-96601C63D0D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C163C18-E4BD-3852-BAA6-70931793C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065" y="1412776"/>
            <a:ext cx="5402622" cy="19260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E7BB718-61FE-04FE-B2D1-43C39954A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887" y="26166"/>
            <a:ext cx="1389505" cy="91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361246A-9F8A-8504-DCC6-CDFC9CF6A864}"/>
              </a:ext>
            </a:extLst>
          </p:cNvPr>
          <p:cNvSpPr/>
          <p:nvPr/>
        </p:nvSpPr>
        <p:spPr>
          <a:xfrm>
            <a:off x="1125860" y="1418735"/>
            <a:ext cx="5184576" cy="45775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F1791C-BFD0-81F6-0238-53A019D300B3}"/>
              </a:ext>
            </a:extLst>
          </p:cNvPr>
          <p:cNvSpPr/>
          <p:nvPr/>
        </p:nvSpPr>
        <p:spPr>
          <a:xfrm>
            <a:off x="1125860" y="5561680"/>
            <a:ext cx="5184576" cy="459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FCDD9-2C91-94CC-01AB-D5583E086587}"/>
              </a:ext>
            </a:extLst>
          </p:cNvPr>
          <p:cNvSpPr txBox="1"/>
          <p:nvPr/>
        </p:nvSpPr>
        <p:spPr>
          <a:xfrm>
            <a:off x="4208748" y="1631541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6,246,489</a:t>
            </a:r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CEFF2-63C9-7F4C-22C0-5CA67338FE38}"/>
              </a:ext>
            </a:extLst>
          </p:cNvPr>
          <p:cNvSpPr txBox="1"/>
          <p:nvPr/>
        </p:nvSpPr>
        <p:spPr>
          <a:xfrm>
            <a:off x="4582244" y="55799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66,014</a:t>
            </a:r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FBB397-009A-3A7A-BD3B-7CFE19F66409}"/>
              </a:ext>
            </a:extLst>
          </p:cNvPr>
          <p:cNvSpPr/>
          <p:nvPr/>
        </p:nvSpPr>
        <p:spPr>
          <a:xfrm>
            <a:off x="1125860" y="1412776"/>
            <a:ext cx="1215752" cy="414890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9CA-535E-080C-37F6-7AF47C310362}"/>
              </a:ext>
            </a:extLst>
          </p:cNvPr>
          <p:cNvSpPr txBox="1"/>
          <p:nvPr/>
        </p:nvSpPr>
        <p:spPr>
          <a:xfrm>
            <a:off x="1197868" y="314096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927,071</a:t>
            </a:r>
            <a:endParaRPr lang="ko-KR" altLang="en-US" b="1" dirty="0">
              <a:solidFill>
                <a:srgbClr val="00B0F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05E66E-3339-AA81-D7A5-041A65FD4649}"/>
              </a:ext>
            </a:extLst>
          </p:cNvPr>
          <p:cNvSpPr/>
          <p:nvPr/>
        </p:nvSpPr>
        <p:spPr>
          <a:xfrm>
            <a:off x="1125860" y="5561680"/>
            <a:ext cx="1215752" cy="4596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CA83E4-6418-DD70-4D5D-FA4A6F0B3052}"/>
              </a:ext>
            </a:extLst>
          </p:cNvPr>
          <p:cNvSpPr txBox="1"/>
          <p:nvPr/>
        </p:nvSpPr>
        <p:spPr>
          <a:xfrm>
            <a:off x="1413892" y="557994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59,413</a:t>
            </a:r>
            <a:endParaRPr lang="ko-KR" altLang="en-US" b="1" dirty="0">
              <a:solidFill>
                <a:srgbClr val="00B0F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2807C-6FA0-58BD-494F-96F36B7A968B}"/>
              </a:ext>
            </a:extLst>
          </p:cNvPr>
          <p:cNvSpPr txBox="1"/>
          <p:nvPr/>
        </p:nvSpPr>
        <p:spPr>
          <a:xfrm>
            <a:off x="2355957" y="1631541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 사업자수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9D222-0C3A-B0EB-4FB1-D22EACF4B9ED}"/>
              </a:ext>
            </a:extLst>
          </p:cNvPr>
          <p:cNvSpPr txBox="1"/>
          <p:nvPr/>
        </p:nvSpPr>
        <p:spPr>
          <a:xfrm>
            <a:off x="2422004" y="561609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금융업</a:t>
            </a:r>
          </a:p>
        </p:txBody>
      </p:sp>
    </p:spTree>
    <p:extLst>
      <p:ext uri="{BB962C8B-B14F-4D97-AF65-F5344CB8AC3E}">
        <p14:creationId xmlns:p14="http://schemas.microsoft.com/office/powerpoint/2010/main" val="1946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2" grpId="0"/>
      <p:bldP spid="13" grpId="0" animBg="1"/>
      <p:bldP spid="14" grpId="0"/>
      <p:bldP spid="15" grpId="0" animBg="1"/>
      <p:bldP spid="16" grpId="0"/>
      <p:bldP spid="17" grpId="0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A6959-3FDA-7BAB-FE1C-37C38430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2CCF16-E4C8-B281-2560-EF8AC6BA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50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1CD95-6DF8-C777-DD11-8433525A9632}"/>
              </a:ext>
            </a:extLst>
          </p:cNvPr>
          <p:cNvSpPr txBox="1"/>
          <p:nvPr/>
        </p:nvSpPr>
        <p:spPr>
          <a:xfrm>
            <a:off x="621804" y="1988840"/>
            <a:ext cx="11089232" cy="211628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사전지식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도시의 택시 중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85%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녹색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15%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청색입니다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밤에 뺑소니 사고가 났고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목격자가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청색 택시였다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라고 증언했는데 목격자의 판별 정확도는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사고를 낸 택시가 청색일 확률은 얼마일까요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AF396-AAAE-5BAE-BFB3-B38F66CABDB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93067AFA-8755-5368-A0AA-D8E719585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8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922A-B4E2-9B3B-8884-35141823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E88A9C1-D6C7-C3A5-77FA-2F21FA84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51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7A3CA-C4A8-3A86-8700-9BE35E13CAA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문제풀이</a:t>
            </a: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CBDCFB8-77BB-C6AF-4736-FC07CFB1C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CB38759-9120-8BCC-0CA6-3BC87B649AB6}"/>
              </a:ext>
            </a:extLst>
          </p:cNvPr>
          <p:cNvSpPr/>
          <p:nvPr/>
        </p:nvSpPr>
        <p:spPr>
          <a:xfrm>
            <a:off x="837828" y="3501008"/>
            <a:ext cx="432048" cy="4320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8BA668F-32EB-AFEB-A7FE-F40B7612C911}"/>
              </a:ext>
            </a:extLst>
          </p:cNvPr>
          <p:cNvSpPr/>
          <p:nvPr/>
        </p:nvSpPr>
        <p:spPr>
          <a:xfrm>
            <a:off x="3572729" y="2276872"/>
            <a:ext cx="432048" cy="43204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6E9AFB1-718B-D08B-9DD6-9086D7049B63}"/>
              </a:ext>
            </a:extLst>
          </p:cNvPr>
          <p:cNvSpPr/>
          <p:nvPr/>
        </p:nvSpPr>
        <p:spPr>
          <a:xfrm>
            <a:off x="3572729" y="4869160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C4D389C-AA8A-BA3F-2F93-8D0F092A10A0}"/>
              </a:ext>
            </a:extLst>
          </p:cNvPr>
          <p:cNvSpPr/>
          <p:nvPr/>
        </p:nvSpPr>
        <p:spPr>
          <a:xfrm>
            <a:off x="6454452" y="2859467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76705E5-551A-E4DB-F803-A54E529A4A75}"/>
              </a:ext>
            </a:extLst>
          </p:cNvPr>
          <p:cNvSpPr/>
          <p:nvPr/>
        </p:nvSpPr>
        <p:spPr>
          <a:xfrm>
            <a:off x="6454452" y="1566589"/>
            <a:ext cx="432048" cy="43204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1B1FD1A-BCC3-C270-BBAF-7C1C525CB989}"/>
              </a:ext>
            </a:extLst>
          </p:cNvPr>
          <p:cNvSpPr/>
          <p:nvPr/>
        </p:nvSpPr>
        <p:spPr>
          <a:xfrm>
            <a:off x="6454452" y="4152345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265CD71-404D-B192-252B-34C63770A173}"/>
              </a:ext>
            </a:extLst>
          </p:cNvPr>
          <p:cNvSpPr/>
          <p:nvPr/>
        </p:nvSpPr>
        <p:spPr>
          <a:xfrm>
            <a:off x="6454452" y="5445224"/>
            <a:ext cx="432048" cy="43204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A0BD02A-D9C9-6A66-C537-95FB5CA6DBE7}"/>
              </a:ext>
            </a:extLst>
          </p:cNvPr>
          <p:cNvCxnSpPr>
            <a:cxnSpLocks/>
            <a:stCxn id="7" idx="6"/>
            <a:endCxn id="8" idx="3"/>
          </p:cNvCxnSpPr>
          <p:nvPr/>
        </p:nvCxnSpPr>
        <p:spPr>
          <a:xfrm flipV="1">
            <a:off x="1269876" y="2645648"/>
            <a:ext cx="2366125" cy="1071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70A6B3F-7B39-A78F-8983-B1F272AFD149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1269876" y="3717032"/>
            <a:ext cx="2366125" cy="121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993C346-3702-BA97-CBF4-E1D6EED12883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004777" y="1782613"/>
            <a:ext cx="2449675" cy="710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2329CB7-77EC-60BB-AC7A-27E06630659F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4004777" y="2492896"/>
            <a:ext cx="2449675" cy="582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4EC6A33-A592-660D-0E92-BE7D25254A99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4004777" y="4368369"/>
            <a:ext cx="2449675" cy="71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366D91C-ACAE-C1DF-C835-B03ABC9A13CC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4004777" y="5085184"/>
            <a:ext cx="244967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A09970E-1881-85BE-180C-F411CC2EC03D}"/>
              </a:ext>
            </a:extLst>
          </p:cNvPr>
          <p:cNvSpPr txBox="1"/>
          <p:nvPr/>
        </p:nvSpPr>
        <p:spPr>
          <a:xfrm>
            <a:off x="1401234" y="2649709"/>
            <a:ext cx="19554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청색 택시 </a:t>
            </a:r>
            <a:r>
              <a:rPr lang="en-US" altLang="ko-KR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(15%)</a:t>
            </a:r>
            <a:endParaRPr lang="ko-KR" altLang="en-US" sz="15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F2C161-ACFE-5430-2505-8EDF3E2F8AA8}"/>
              </a:ext>
            </a:extLst>
          </p:cNvPr>
          <p:cNvSpPr txBox="1"/>
          <p:nvPr/>
        </p:nvSpPr>
        <p:spPr>
          <a:xfrm>
            <a:off x="1401234" y="4556587"/>
            <a:ext cx="19554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녹색 택시 </a:t>
            </a:r>
            <a:r>
              <a:rPr lang="en-US" altLang="ko-KR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(85%)</a:t>
            </a:r>
            <a:endParaRPr lang="ko-KR" altLang="en-US" sz="15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3FAF1A-2BA8-939A-E073-E0E171CF72D8}"/>
              </a:ext>
            </a:extLst>
          </p:cNvPr>
          <p:cNvSpPr txBox="1"/>
          <p:nvPr/>
        </p:nvSpPr>
        <p:spPr>
          <a:xfrm>
            <a:off x="4157816" y="1628800"/>
            <a:ext cx="22333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정답을 말함 </a:t>
            </a:r>
            <a:r>
              <a:rPr lang="en-US" altLang="ko-KR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(80%)</a:t>
            </a:r>
            <a:endParaRPr lang="ko-KR" altLang="en-US" sz="15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3D6BFA-27A2-5569-7B53-2EF1DA57EAFC}"/>
              </a:ext>
            </a:extLst>
          </p:cNvPr>
          <p:cNvSpPr txBox="1"/>
          <p:nvPr/>
        </p:nvSpPr>
        <p:spPr>
          <a:xfrm>
            <a:off x="4157816" y="4221088"/>
            <a:ext cx="22333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정답을 말함 </a:t>
            </a:r>
            <a:r>
              <a:rPr lang="en-US" altLang="ko-KR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(80%)</a:t>
            </a:r>
            <a:endParaRPr lang="ko-KR" altLang="en-US" sz="15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E19FB1-4677-3261-DB55-1455EC7809EE}"/>
              </a:ext>
            </a:extLst>
          </p:cNvPr>
          <p:cNvSpPr txBox="1"/>
          <p:nvPr/>
        </p:nvSpPr>
        <p:spPr>
          <a:xfrm>
            <a:off x="4157816" y="5482099"/>
            <a:ext cx="22333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오답을 말함 </a:t>
            </a:r>
            <a:r>
              <a:rPr lang="en-US" altLang="ko-KR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(20%)</a:t>
            </a:r>
            <a:endParaRPr lang="ko-KR" altLang="en-US" sz="15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FADE8A-4C8D-B05C-311B-44D3AD84D628}"/>
              </a:ext>
            </a:extLst>
          </p:cNvPr>
          <p:cNvSpPr txBox="1"/>
          <p:nvPr/>
        </p:nvSpPr>
        <p:spPr>
          <a:xfrm>
            <a:off x="9118748" y="1628800"/>
            <a:ext cx="216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12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청색이라고 증언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C845BC-2878-3F7D-C224-B0451A2516C3}"/>
              </a:ext>
            </a:extLst>
          </p:cNvPr>
          <p:cNvSpPr txBox="1"/>
          <p:nvPr/>
        </p:nvSpPr>
        <p:spPr>
          <a:xfrm>
            <a:off x="9118748" y="4197666"/>
            <a:ext cx="216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68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녹색이라고 증언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F398D8-11A1-4FB6-A821-B931B5C47189}"/>
              </a:ext>
            </a:extLst>
          </p:cNvPr>
          <p:cNvSpPr txBox="1"/>
          <p:nvPr/>
        </p:nvSpPr>
        <p:spPr>
          <a:xfrm>
            <a:off x="9118748" y="2913233"/>
            <a:ext cx="216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녹색이라고 증언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FF4949-D289-6B6E-BA92-DEBC08BAD186}"/>
              </a:ext>
            </a:extLst>
          </p:cNvPr>
          <p:cNvSpPr txBox="1"/>
          <p:nvPr/>
        </p:nvSpPr>
        <p:spPr>
          <a:xfrm>
            <a:off x="9118748" y="5482099"/>
            <a:ext cx="216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17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청색이라고 증언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34E597-2CEF-D231-F17A-C51165058B07}"/>
              </a:ext>
            </a:extLst>
          </p:cNvPr>
          <p:cNvSpPr txBox="1"/>
          <p:nvPr/>
        </p:nvSpPr>
        <p:spPr>
          <a:xfrm>
            <a:off x="4157816" y="2911056"/>
            <a:ext cx="22333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오답을 말함 </a:t>
            </a:r>
            <a:r>
              <a:rPr lang="en-US" altLang="ko-KR" sz="15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(20%)</a:t>
            </a:r>
            <a:endParaRPr lang="ko-KR" altLang="en-US" sz="15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0C7841-BBD8-85BF-4160-40D3870EAEEF}"/>
              </a:ext>
            </a:extLst>
          </p:cNvPr>
          <p:cNvSpPr txBox="1"/>
          <p:nvPr/>
        </p:nvSpPr>
        <p:spPr>
          <a:xfrm>
            <a:off x="7174532" y="1628800"/>
            <a:ext cx="1872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0.15 * 0.80 = 0.12</a:t>
            </a:r>
            <a:endParaRPr lang="ko-KR" altLang="en-US" sz="1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A5EB86-1741-06D6-C0A4-F0A188D92FBC}"/>
              </a:ext>
            </a:extLst>
          </p:cNvPr>
          <p:cNvSpPr txBox="1"/>
          <p:nvPr/>
        </p:nvSpPr>
        <p:spPr>
          <a:xfrm>
            <a:off x="7174532" y="5489792"/>
            <a:ext cx="1872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0.85 * 0.20 = 0.17</a:t>
            </a:r>
            <a:endParaRPr lang="ko-KR" altLang="en-US" sz="1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89E451-258A-B5E7-AD1A-39F3C9713EB2}"/>
              </a:ext>
            </a:extLst>
          </p:cNvPr>
          <p:cNvSpPr txBox="1"/>
          <p:nvPr/>
        </p:nvSpPr>
        <p:spPr>
          <a:xfrm>
            <a:off x="7174532" y="4202794"/>
            <a:ext cx="1872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0.85 * 0.80 = 0.68</a:t>
            </a:r>
            <a:endParaRPr lang="ko-KR" altLang="en-US" sz="1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E1F854-6031-CCF4-E0FE-3927005C14E6}"/>
              </a:ext>
            </a:extLst>
          </p:cNvPr>
          <p:cNvSpPr txBox="1"/>
          <p:nvPr/>
        </p:nvSpPr>
        <p:spPr>
          <a:xfrm>
            <a:off x="7174532" y="2915797"/>
            <a:ext cx="1872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0.15 * 0.20 = 0.03</a:t>
            </a:r>
            <a:endParaRPr lang="ko-KR" altLang="en-US" sz="1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625DFF8-FF3F-127A-0F04-D062DC1D19BD}"/>
              </a:ext>
            </a:extLst>
          </p:cNvPr>
          <p:cNvSpPr/>
          <p:nvPr/>
        </p:nvSpPr>
        <p:spPr>
          <a:xfrm>
            <a:off x="7174532" y="1484784"/>
            <a:ext cx="4320480" cy="63636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377D7D5-3A1D-389C-A17A-EDD01D0FB378}"/>
              </a:ext>
            </a:extLst>
          </p:cNvPr>
          <p:cNvSpPr/>
          <p:nvPr/>
        </p:nvSpPr>
        <p:spPr>
          <a:xfrm>
            <a:off x="7174532" y="5317806"/>
            <a:ext cx="4320480" cy="63636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37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38" grpId="0"/>
      <p:bldP spid="40" grpId="0"/>
      <p:bldP spid="42" grpId="0"/>
      <p:bldP spid="43" grpId="0"/>
      <p:bldP spid="45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7" grpId="0" animBg="1"/>
      <p:bldP spid="5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032F-C180-E51F-B6F6-EED7B2A0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E3E75D-A15C-F849-694C-CBB7698B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52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8FE96-96FB-D223-D68F-1A0684C4E72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문제풀이</a:t>
            </a: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672DADA1-30EF-355E-BFE6-AA496EEE0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9B0668-6EF9-7583-E30A-3B662FD84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11" y="1628800"/>
            <a:ext cx="4996889" cy="454065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935C308-53F4-64FC-BAEC-E482FB6EF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382" y="1628800"/>
            <a:ext cx="5882654" cy="452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0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8D40-FAF8-29DB-7F3A-0DA706D4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3F4A6F-C4C1-C4F6-DF53-7D1ED5D1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FBF63-9270-C535-65C1-46A8D37BD07A}"/>
              </a:ext>
            </a:extLst>
          </p:cNvPr>
          <p:cNvSpPr txBox="1"/>
          <p:nvPr/>
        </p:nvSpPr>
        <p:spPr>
          <a:xfrm>
            <a:off x="621804" y="1700808"/>
            <a:ext cx="11233248" cy="322428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어느 대학가에 식당 </a:t>
            </a:r>
            <a:r>
              <a:rPr lang="ko-KR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A와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식당 </a:t>
            </a:r>
            <a:r>
              <a:rPr lang="ko-KR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B가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있습니다. 어느 날, 한 학생이 심한 식중독에 걸렸습니다. 이 학생은 어제 점심에 두 식당 중 한 곳에서 식사를 했습니다. 조사 결과 다음과 같은 통계 데이터가 확보되었습니다.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방문 확률: 이 학생은 평소 식당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A를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60%, 식당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B를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40%의 확률로 방문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식중독 발생률: 식당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A에서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식사한 사람이 식중독에 걸릴 확률은 1%(0.01)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식당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B에서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식사한 사람이 식중독에 걸릴 확률은 5%(0.05)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학생이 식중독에 걸렸을 때, 식당 </a:t>
            </a:r>
            <a:r>
              <a:rPr lang="ko-KR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B에서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식사를 했을 확률은 얼마입니까?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90ABA-84C7-AE0E-B8F3-41CDBD92336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</a:p>
        </p:txBody>
      </p:sp>
      <p:pic>
        <p:nvPicPr>
          <p:cNvPr id="6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F74882C-CEA3-35B5-AE1D-20AF16677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90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09BA-F6FF-6EB2-7A9D-1D071414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AF97D6E-E866-A1CB-F98A-72C9C505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54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46B08-E5AA-67CD-1EFC-C9D5B371165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6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21FB08F-9CA6-F65F-220D-2CA2F16BA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07D7F6-C29B-DD6B-1DE5-0CC99C633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92" y="1268761"/>
            <a:ext cx="3185853" cy="17124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C23D90-12D1-BD55-91BC-2844E3E38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921" y="1267096"/>
            <a:ext cx="4485504" cy="17141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382F778-FB31-3C35-FEA5-35F72B3A7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867" y="4067833"/>
            <a:ext cx="4470577" cy="202379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00E5B67-E8B8-A213-272F-F155893DE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6215" y="4067834"/>
            <a:ext cx="3951210" cy="20254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4E14F34-EE84-A0BE-0A5E-8778B43BF960}"/>
              </a:ext>
            </a:extLst>
          </p:cNvPr>
          <p:cNvSpPr txBox="1"/>
          <p:nvPr/>
        </p:nvSpPr>
        <p:spPr>
          <a:xfrm>
            <a:off x="5806380" y="3707471"/>
            <a:ext cx="48965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식중독에 걸렸을 때, 그 원인이 식당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B였을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확률</a:t>
            </a:r>
          </a:p>
        </p:txBody>
      </p:sp>
    </p:spTree>
    <p:extLst>
      <p:ext uri="{BB962C8B-B14F-4D97-AF65-F5344CB8AC3E}">
        <p14:creationId xmlns:p14="http://schemas.microsoft.com/office/powerpoint/2010/main" val="304103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D9F4-C5F3-CD85-C853-83775420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45B113-8CB5-040D-DE1A-2D4127E6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D9FC8-F9C2-78CD-B7EA-3FBF014A1E3A}"/>
              </a:ext>
            </a:extLst>
          </p:cNvPr>
          <p:cNvSpPr txBox="1"/>
          <p:nvPr/>
        </p:nvSpPr>
        <p:spPr>
          <a:xfrm>
            <a:off x="765820" y="1196752"/>
            <a:ext cx="10225136" cy="84132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동체가 손상되었는데도 귀환할 확률은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Survivorship bias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실제 전투상황을 가정하여 여러 전문가와 같이 격추된 비행기 데이터를 모의실험한 결과 증거 데이터를 사용하라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48E73-6700-E57D-39E0-0BB7C83E0458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8B99A4-028F-D2F5-27B8-D8DFC915E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108" y="2199146"/>
            <a:ext cx="4538788" cy="42811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EABA99-C9AC-6EFA-A206-7B58BDD2A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628" y="2984317"/>
            <a:ext cx="4114765" cy="15140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C12D1DC-6944-0036-5AF1-42A767E80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61" y="2199146"/>
            <a:ext cx="2810671" cy="2540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694C621-CD35-2C99-C748-B3917DFD7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D0E90-8B1F-F573-9B4F-82416D6B647E}"/>
              </a:ext>
            </a:extLst>
          </p:cNvPr>
          <p:cNvSpPr txBox="1"/>
          <p:nvPr/>
        </p:nvSpPr>
        <p:spPr>
          <a:xfrm>
            <a:off x="8920188" y="2499544"/>
            <a:ext cx="2283254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모의 실험 결과 자료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EE2F56-779C-D6F8-0A84-F5695FDF5C32}"/>
                  </a:ext>
                </a:extLst>
              </p:cNvPr>
              <p:cNvSpPr txBox="1"/>
              <p:nvPr/>
            </p:nvSpPr>
            <p:spPr>
              <a:xfrm>
                <a:off x="8932759" y="4959270"/>
                <a:ext cx="1933374" cy="312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𝑷</m:t>
                    </m:r>
                    <m:r>
                      <a:rPr lang="en-US" altLang="ko-K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lang="ko-KR" altLang="en-US" sz="14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귀</m:t>
                    </m:r>
                    <m:r>
                      <a:rPr lang="ko-KR" altLang="en-US" sz="1400" b="1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환</m:t>
                    </m:r>
                    <m:r>
                      <a:rPr lang="en-US" altLang="ko-K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|</m:t>
                    </m:r>
                    <m:r>
                      <a:rPr lang="ko-KR" altLang="en-US" sz="14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동</m:t>
                    </m:r>
                    <m:r>
                      <a:rPr lang="ko-KR" altLang="en-US" sz="1400" b="1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체</m:t>
                    </m:r>
                    <m:r>
                      <a:rPr lang="ko-KR" altLang="en-US" sz="14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손</m:t>
                    </m:r>
                    <m:r>
                      <a:rPr lang="ko-KR" altLang="en-US" sz="1400" b="1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상</m:t>
                    </m:r>
                    <m:r>
                      <a:rPr lang="en-US" altLang="ko-K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4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= ?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EE2F56-779C-D6F8-0A84-F5695FDF5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759" y="4959270"/>
                <a:ext cx="1933374" cy="312073"/>
              </a:xfrm>
              <a:prstGeom prst="rect">
                <a:avLst/>
              </a:prstGeom>
              <a:blipFill>
                <a:blip r:embed="rId8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71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4028-5201-06F9-1F7A-3C39BB55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4A6A9FF-A368-0C80-75AA-B198FD8B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56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0204C7-5808-E924-0A93-9CD21F2968DA}"/>
              </a:ext>
            </a:extLst>
          </p:cNvPr>
          <p:cNvSpPr txBox="1"/>
          <p:nvPr/>
        </p:nvSpPr>
        <p:spPr>
          <a:xfrm>
            <a:off x="693812" y="836712"/>
            <a:ext cx="8928992" cy="113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altLang="ko-KR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76582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8580-0708-FBCC-8A60-FE6EC69E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39611B1-EB80-E8EA-E3BE-BE1B111B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17C4E-2BA1-CB46-EEC2-4EB363A328B7}"/>
              </a:ext>
            </a:extLst>
          </p:cNvPr>
          <p:cNvSpPr txBox="1"/>
          <p:nvPr/>
        </p:nvSpPr>
        <p:spPr>
          <a:xfrm>
            <a:off x="765820" y="1196752"/>
            <a:ext cx="10339574" cy="12852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엑셀과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Naive_Bayes_classifier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모듈로 아래 데이터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정규분포를 가정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훈련데이터로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height (feet)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경우 성별은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testing data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성별은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남성인지 여성인지 분류하라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1CB50-6FE4-C1B7-85CE-E17A5DA6272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064202-E9C2-AC94-1FC5-D4EC13CA5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0" y="2636912"/>
            <a:ext cx="4267570" cy="3635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4619E8-5DE8-7A4B-BA6F-E4D2C3C28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859" y="2636912"/>
            <a:ext cx="4328535" cy="1394581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D2A77A7-6C63-8D5E-A0A2-0DF4EFFDBF0A}"/>
              </a:ext>
            </a:extLst>
          </p:cNvPr>
          <p:cNvSpPr/>
          <p:nvPr/>
        </p:nvSpPr>
        <p:spPr>
          <a:xfrm>
            <a:off x="5869432" y="4489009"/>
            <a:ext cx="5049516" cy="1546891"/>
          </a:xfrm>
          <a:prstGeom prst="rightArrow">
            <a:avLst>
              <a:gd name="adj1" fmla="val 67118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Excell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scikit-learn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naïve bayes classifier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모듈로 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성별을 각각 예측하고 비교하라</a:t>
            </a: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944C3FAD-98B6-C1CC-BAEA-7ECF45874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887" y="26166"/>
            <a:ext cx="1389505" cy="91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3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03F1-E2A8-86D9-4A03-9C7FC7A6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9F1EFF-172D-6EB3-4D57-55EB9690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9CFCC-8A0B-F2DC-78E1-EBD24BD431AC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E9B437-586B-0BC4-8557-5CF4DC9A7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49" y="1115154"/>
            <a:ext cx="4884581" cy="25463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8D7291-019F-2B45-CF51-EA24A441D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49" y="3650708"/>
            <a:ext cx="8696155" cy="28026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D76DC13-0067-2A30-103A-1CDB770A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894" y="3038940"/>
            <a:ext cx="5100962" cy="343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D68F726-7013-B76F-BE3D-93ABEA14F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023" y="1983170"/>
            <a:ext cx="4648603" cy="1074513"/>
          </a:xfrm>
          <a:prstGeom prst="rect">
            <a:avLst/>
          </a:prstGeom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0446A3C-0C78-F583-9F72-68D1C1DF8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27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FAD1-646A-3732-0B7E-571B1C23F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059ED99-6F8A-3A9A-3B42-9713629E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59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24805-89AB-BFA8-8E48-AC47CAD1E931}"/>
              </a:ext>
            </a:extLst>
          </p:cNvPr>
          <p:cNvSpPr txBox="1"/>
          <p:nvPr/>
        </p:nvSpPr>
        <p:spPr>
          <a:xfrm>
            <a:off x="909836" y="843677"/>
            <a:ext cx="10225136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사람이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연속으로 카드의 색깔을 맞추었다면 그 사람이 초능력자라고 당신은 얼마나 믿는가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명의 친구 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Stub’, ‘Freq’, ‘Bays’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초능력자라는 믿음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(credibility)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확인해보자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A007FE-1B99-2A83-C3DF-9542719965C8}"/>
                  </a:ext>
                </a:extLst>
              </p:cNvPr>
              <p:cNvSpPr txBox="1"/>
              <p:nvPr/>
            </p:nvSpPr>
            <p:spPr>
              <a:xfrm>
                <a:off x="909836" y="2006739"/>
                <a:ext cx="10297144" cy="4203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Stub(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고집불통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너무 고집스럽고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Freq(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빈도주의자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슈퍼맨의 존재를 너무 신봉하는 경향이 있다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Stub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은 세상에 초능력자는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0.1%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만 존재한다는 사전확률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(Prior probability)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만을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고수하며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누가 카드 색깔을 맞춘 사실에는 관심이 없고 여전히 초능력자일 확률은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0.1%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라고 한다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Freq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가설이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맞다는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전제하에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5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회 연속 맞출 확률인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p-value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에만 관심이 있어 초능력자라면 전부 맞추겠지만 일반인이기에 운 좋게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3.125%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sz="140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  <m:sup>
                        <m:r>
                          <a:rPr lang="en-US" altLang="ko-KR" sz="140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맞추었을 뿐이라고 한다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(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즉 이 사람은 저 사람이 초능력자일 확률을 직접 구하기보다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"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일반인인데 운이 좋았을 확률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"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계산하여 가설을 기각할지 고민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Bays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개를 맞춘 사실을 전제로 초능력자일 확률적 믿음은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3.1%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라고 한다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사전 믿음에 새로운 증거를 결합하여 사후 확률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(Posterior)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계산</a:t>
                </a:r>
                <a:endPara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５개 색깔을 모두 맞춘 경우 ： 초능력자와 일반인이 맞춘 경우에서 초능력자가 맞출 비율</a:t>
                </a:r>
                <a:endPara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베이지안은 확률을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'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고정된 값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'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 아니라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새로운 데이터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증거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 들어올 때마다 업데이트되는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'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믿음의 정도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’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당신은 어느 유형에 속하는가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 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통계학에서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Frequentist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와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Bayesian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설명하는 예제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A007FE-1B99-2A83-C3DF-954271996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6" y="2006739"/>
                <a:ext cx="10297144" cy="4203267"/>
              </a:xfrm>
              <a:prstGeom prst="rect">
                <a:avLst/>
              </a:prstGeom>
              <a:blipFill>
                <a:blip r:embed="rId3"/>
                <a:stretch>
                  <a:fillRect b="-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28162EC-3788-6FC6-7A7D-82BE94197901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Baysians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1786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35FF-F462-BD3A-A6D7-F8BAE388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D444E2-86B9-DA4D-3177-ECBFB5D0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60</a:t>
            </a:fld>
            <a:endParaRPr lang="en-US" altLang="ko-KR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DA6300-4484-FCA7-41F8-1FF7D48638BE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Baysians</a:t>
            </a:r>
            <a:endParaRPr lang="ko-KR" altLang="en-US" sz="32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ACC77ED-DB08-8BAD-0896-EC0F1D9819A0}"/>
              </a:ext>
            </a:extLst>
          </p:cNvPr>
          <p:cNvGrpSpPr/>
          <p:nvPr/>
        </p:nvGrpSpPr>
        <p:grpSpPr>
          <a:xfrm>
            <a:off x="909836" y="972594"/>
            <a:ext cx="9695226" cy="5256584"/>
            <a:chOff x="1110500" y="827911"/>
            <a:chExt cx="8949570" cy="485230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BD6CC51-5DBA-2191-A91F-88C40BE9C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0500" y="3683462"/>
              <a:ext cx="8944352" cy="199675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5D54327-C77A-5451-64F4-89840B35E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0500" y="827911"/>
              <a:ext cx="8208912" cy="2855551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601B954-8524-C070-811E-78EAC25F8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40806" y="827911"/>
              <a:ext cx="819264" cy="197195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9E367A9-DFEF-D3E0-5C8B-960F4F0B1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9830" y="2074398"/>
              <a:ext cx="819264" cy="1971950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6165D0A7-3A95-42C5-3AD7-4923F492F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8788" y="3472327"/>
            <a:ext cx="1069352" cy="129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A6B71-FD27-B2CB-29F5-FAAED35A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1E3BF63-BCAE-6BD2-203D-377C36A2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61</a:t>
            </a:fld>
            <a:endParaRPr lang="en-US" altLang="ko-KR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E3BCC0-CEFE-7769-66E8-E4106026EB31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Baysians</a:t>
            </a:r>
            <a:endParaRPr lang="ko-KR" altLang="en-US" sz="32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A3EA40-0E30-CAB5-979E-6687D658A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" y="938493"/>
            <a:ext cx="7201945" cy="1792112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C45ED5FF-25E1-AB6E-9374-FFB62E690BB2}"/>
              </a:ext>
            </a:extLst>
          </p:cNvPr>
          <p:cNvGrpSpPr/>
          <p:nvPr/>
        </p:nvGrpSpPr>
        <p:grpSpPr>
          <a:xfrm>
            <a:off x="3574131" y="2823674"/>
            <a:ext cx="4321625" cy="3773677"/>
            <a:chOff x="3646140" y="2884874"/>
            <a:chExt cx="4104456" cy="360707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2B54CBD-3000-1060-8EB3-D17780365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6140" y="3224323"/>
              <a:ext cx="4104456" cy="326762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67B6115-5A74-898D-3944-829905F2F23B}"/>
                </a:ext>
              </a:extLst>
            </p:cNvPr>
            <p:cNvSpPr txBox="1"/>
            <p:nvPr/>
          </p:nvSpPr>
          <p:spPr>
            <a:xfrm>
              <a:off x="3646140" y="2884874"/>
              <a:ext cx="410445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Are you Bayesian or Frequentist?</a:t>
              </a:r>
              <a:endParaRPr lang="ko-KR" altLang="en-US" sz="2000" b="1" dirty="0"/>
            </a:p>
          </p:txBody>
        </p:sp>
      </p:grpSp>
      <p:sp>
        <p:nvSpPr>
          <p:cNvPr id="5" name="AutoShape 2" descr="  Frequentist vs. Bayesian">
            <a:extLst>
              <a:ext uri="{FF2B5EF4-FFF2-40B4-BE49-F238E27FC236}">
                <a16:creationId xmlns:a16="http://schemas.microsoft.com/office/drawing/2014/main" id="{EF5FDAAB-F500-7EC4-62FE-08D2F94C68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65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AFE3-9249-75D6-3038-AC8C61D6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FA40D8-ACB6-10D4-2522-32F773F1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62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1E131-6EC6-9AF6-8EE4-8FA35B3A69F2}"/>
              </a:ext>
            </a:extLst>
          </p:cNvPr>
          <p:cNvSpPr txBox="1"/>
          <p:nvPr/>
        </p:nvSpPr>
        <p:spPr>
          <a:xfrm>
            <a:off x="261764" y="1447168"/>
            <a:ext cx="6048672" cy="198368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변수의 평균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공분산 등을 변경하면서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Bivariate plot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모양의 달라짐을 관찰하고 설명하라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변수의 상관관계를 구해보아라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9E8B3-FDAF-488B-031D-4CE2820ED70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586649-46CA-F3B1-8F17-33D69D883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454" y="1437802"/>
            <a:ext cx="4749518" cy="456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06F970-32DF-5B0F-5DC0-7AC4F98B635B}"/>
              </a:ext>
            </a:extLst>
          </p:cNvPr>
          <p:cNvSpPr txBox="1"/>
          <p:nvPr/>
        </p:nvSpPr>
        <p:spPr>
          <a:xfrm>
            <a:off x="6310436" y="1074222"/>
            <a:ext cx="3440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Bivariate plot with multiple elements</a:t>
            </a:r>
            <a:endParaRPr lang="ko-KR" altLang="en-US" sz="16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30A028A-4499-144A-F8F5-32D220A74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50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2CF9-0B29-1F2A-C07C-195B9C85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C86D94-E602-8C12-F77D-1B9D7126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4C582-911B-3721-4146-DD084F2310D9}"/>
              </a:ext>
            </a:extLst>
          </p:cNvPr>
          <p:cNvSpPr txBox="1"/>
          <p:nvPr/>
        </p:nvSpPr>
        <p:spPr>
          <a:xfrm>
            <a:off x="278365" y="1478578"/>
            <a:ext cx="6048672" cy="426123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초나라 양춘백설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陽春白雪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Long-Tail Distribution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주변의 실제 상황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유튜브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 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예를 들어라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아래 내용을 파이썬 코드로 모의실험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(simulation)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하여 설명하라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1️⃣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유튜브 조회수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Long-Tail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시뮬레이션</a:t>
            </a:r>
            <a:b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2️⃣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부의 불평등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(Pareto 80/20)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 실험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(Pareto distribution)</a:t>
            </a:r>
            <a:b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3️⃣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성장 모델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Barabási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–Albert)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Long-Tail Distribution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머신러닝의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불균형 데이터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(Imbalanced data)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인한 학습의 어려움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36DE6-5A9B-A7C4-4CE8-52877D8881F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1026" name="Picture 2" descr="A graph of a sharply sloped power-law distribution curve. The x-axis is items and the y-axis is popularity.">
            <a:extLst>
              <a:ext uri="{FF2B5EF4-FFF2-40B4-BE49-F238E27FC236}">
                <a16:creationId xmlns:a16="http://schemas.microsoft.com/office/drawing/2014/main" id="{D1F61AF9-2FB8-8DC0-D682-88FDE5BE0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037" y="1478578"/>
            <a:ext cx="5268949" cy="4736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21F9F6C-CAF0-1ACE-0E01-3ED6CD896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C8E1E5-D16B-943F-24E2-0CF293C6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64</a:t>
            </a:fld>
            <a:endParaRPr lang="en-US" altLang="ko-KR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34D2AA-A27B-7A54-4084-BC43A781A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6" y="1916832"/>
            <a:ext cx="5759331" cy="388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AE3E526-6D30-8BC9-EB0F-07796576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911" y="1916832"/>
            <a:ext cx="5976664" cy="388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FFDC4E22-ECC3-116A-0A17-0DCCAC0C1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407" y="26166"/>
            <a:ext cx="1877986" cy="12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845D03-0AC9-7720-171E-EF713C8A8E4C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09139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AACE6D-8EB6-447A-8DFD-C2C0C52916AC}">
  <ds:schemaRefs>
    <ds:schemaRef ds:uri="a4f35948-e619-41b3-aa29-22878b09cfd2"/>
    <ds:schemaRef ds:uri="http://purl.org/dc/elements/1.1/"/>
    <ds:schemaRef ds:uri="http://schemas.microsoft.com/office/infopath/2007/PartnerControls"/>
    <ds:schemaRef ds:uri="40262f94-9f35-4ac3-9a90-690165a166b7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2364</TotalTime>
  <Words>3502</Words>
  <Application>Microsoft Office PowerPoint</Application>
  <PresentationFormat>사용자 지정</PresentationFormat>
  <Paragraphs>549</Paragraphs>
  <Slides>64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8" baseType="lpstr">
      <vt:lpstr>맑은 고딕</vt:lpstr>
      <vt:lpstr>맑은 고딕 Semilight</vt:lpstr>
      <vt:lpstr>한컴 말랑말랑 Bold</vt:lpstr>
      <vt:lpstr>휴먼모음T</vt:lpstr>
      <vt:lpstr>Arial</vt:lpstr>
      <vt:lpstr>Arial Narrow</vt:lpstr>
      <vt:lpstr>Britannic Bold</vt:lpstr>
      <vt:lpstr>Cambria</vt:lpstr>
      <vt:lpstr>Cambria Math</vt:lpstr>
      <vt:lpstr>Corbel</vt:lpstr>
      <vt:lpstr>PT Sans</vt:lpstr>
      <vt:lpstr>Times New Roman</vt:lpstr>
      <vt:lpstr>Wingdings</vt:lpstr>
      <vt:lpstr>마케팅 16x9</vt:lpstr>
      <vt:lpstr>확률론  - 머신러닝을 위한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조상구</cp:lastModifiedBy>
  <cp:revision>101</cp:revision>
  <dcterms:created xsi:type="dcterms:W3CDTF">2024-06-03T06:10:16Z</dcterms:created>
  <dcterms:modified xsi:type="dcterms:W3CDTF">2026-04-09T01:44:45Z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