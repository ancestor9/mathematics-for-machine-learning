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1"/>
  </p:notesMasterIdLst>
  <p:handoutMasterIdLst>
    <p:handoutMasterId r:id="rId72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10" r:id="rId16"/>
    <p:sldId id="403" r:id="rId17"/>
    <p:sldId id="387" r:id="rId18"/>
    <p:sldId id="276" r:id="rId19"/>
    <p:sldId id="307" r:id="rId20"/>
    <p:sldId id="308" r:id="rId21"/>
    <p:sldId id="340" r:id="rId22"/>
    <p:sldId id="363" r:id="rId23"/>
    <p:sldId id="277" r:id="rId24"/>
    <p:sldId id="278" r:id="rId25"/>
    <p:sldId id="364" r:id="rId26"/>
    <p:sldId id="279" r:id="rId27"/>
    <p:sldId id="409" r:id="rId28"/>
    <p:sldId id="280" r:id="rId29"/>
    <p:sldId id="412" r:id="rId30"/>
    <p:sldId id="284" r:id="rId31"/>
    <p:sldId id="377" r:id="rId32"/>
    <p:sldId id="382" r:id="rId33"/>
    <p:sldId id="395" r:id="rId34"/>
    <p:sldId id="283" r:id="rId35"/>
    <p:sldId id="383" r:id="rId36"/>
    <p:sldId id="288" r:id="rId37"/>
    <p:sldId id="289" r:id="rId38"/>
    <p:sldId id="286" r:id="rId39"/>
    <p:sldId id="287" r:id="rId40"/>
    <p:sldId id="375" r:id="rId41"/>
    <p:sldId id="415" r:id="rId42"/>
    <p:sldId id="374" r:id="rId43"/>
    <p:sldId id="365" r:id="rId44"/>
    <p:sldId id="293" r:id="rId45"/>
    <p:sldId id="324" r:id="rId46"/>
    <p:sldId id="338" r:id="rId47"/>
    <p:sldId id="406" r:id="rId48"/>
    <p:sldId id="330" r:id="rId49"/>
    <p:sldId id="407" r:id="rId50"/>
    <p:sldId id="389" r:id="rId51"/>
    <p:sldId id="401" r:id="rId52"/>
    <p:sldId id="367" r:id="rId53"/>
    <p:sldId id="402" r:id="rId54"/>
    <p:sldId id="405" r:id="rId55"/>
    <p:sldId id="397" r:id="rId56"/>
    <p:sldId id="399" r:id="rId57"/>
    <p:sldId id="301" r:id="rId58"/>
    <p:sldId id="417" r:id="rId59"/>
    <p:sldId id="418" r:id="rId60"/>
    <p:sldId id="416" r:id="rId61"/>
    <p:sldId id="404" r:id="rId62"/>
    <p:sldId id="388" r:id="rId63"/>
    <p:sldId id="398" r:id="rId64"/>
    <p:sldId id="390" r:id="rId65"/>
    <p:sldId id="391" r:id="rId66"/>
    <p:sldId id="400" r:id="rId67"/>
    <p:sldId id="305" r:id="rId68"/>
    <p:sldId id="394" r:id="rId69"/>
    <p:sldId id="304" r:id="rId70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08" d="100"/>
          <a:sy n="108" d="100"/>
        </p:scale>
        <p:origin x="114" y="156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362"/>
    </p:cViewPr>
  </p:sorterViewPr>
  <p:notesViewPr>
    <p:cSldViewPr showGuides="1">
      <p:cViewPr varScale="1">
        <p:scale>
          <a:sx n="64" d="100"/>
          <a:sy n="64" d="100"/>
        </p:scale>
        <p:origin x="3192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EDFD-50D0-FFC6-C7E6-6FB083521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BF405D-3F61-F72E-6EDA-8C06298DD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94725-6A25-1BC9-3F11-F8B07A06E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0AF7F-0422-2343-63D2-017A7AB7A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44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85730-3895-6A12-65CE-B1FD329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6B37E9-4517-3A88-A2DE-21D4A3AC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4ABD13-9438-A116-8745-7E8A9C93D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5B4F2-A58A-9141-A89B-42BB54EB2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87285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F428-71C5-38F9-C9C6-1867E7C8D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2F6592-97B6-7310-E9A4-B125BA68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10512-C0DC-EFA8-DC74-7A81A17BC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9174-DBDA-CEB5-6B2E-4FF0320A8B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8679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31985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80C74-2F56-0776-FB63-885E262EC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3FB491-D5C3-B125-D3A5-20D93BA21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0D449-C2FB-4671-E754-A2794CA3B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54A31-D57F-3BA8-8830-B7867C5DD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5741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E2F2-3E59-A6ED-89F7-474F531FD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96518D-B7F9-22BE-B506-6685530C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734E8-139E-46C5-E787-096289EA3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9914-E3BB-D6BD-030C-90FE70F8A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4541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F4CE-A706-128C-507B-39B0F161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6170D2-5FC3-158A-6770-97BAC38A2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29410-0503-5FB7-27EF-06FA66090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3591C-27CA-652E-ADE4-C07E18DFB9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7257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DA98C-AC6D-D045-3360-E5101100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B7DF42-103B-0A8E-1A5F-F34F28092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9A903-E5AD-2A02-4125-D59886AFF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EA7200-9482-F7B8-C538-EDAB68449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0827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2026-04-16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7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neighbors/plot_kde_1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1.png"/><Relationship Id="rId4" Type="http://schemas.openxmlformats.org/officeDocument/2006/relationships/hyperlink" Target="https://en.wikipedia.org/wiki/Bernoulli_distribution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7.png"/><Relationship Id="rId7" Type="http://schemas.microsoft.com/office/2007/relationships/hdphoto" Target="../media/hdphoto4.wdp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microsoft.com/office/2007/relationships/hdphoto" Target="../media/hdphoto3.wdp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5.wdp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8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4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3" Type="http://schemas.openxmlformats.org/officeDocument/2006/relationships/image" Target="../media/image58.png"/><Relationship Id="rId7" Type="http://schemas.microsoft.com/office/2007/relationships/hdphoto" Target="../media/hdphoto7.wdp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4.svg"/><Relationship Id="rId5" Type="http://schemas.microsoft.com/office/2007/relationships/hdphoto" Target="../media/hdphoto6.wdp"/><Relationship Id="rId10" Type="http://schemas.openxmlformats.org/officeDocument/2006/relationships/image" Target="../media/image63.svg"/><Relationship Id="rId4" Type="http://schemas.openxmlformats.org/officeDocument/2006/relationships/image" Target="../media/image59.png"/><Relationship Id="rId9" Type="http://schemas.openxmlformats.org/officeDocument/2006/relationships/image" Target="../media/image62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79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60.png"/><Relationship Id="rId10" Type="http://schemas.openxmlformats.org/officeDocument/2006/relationships/image" Target="../media/image650.png"/><Relationship Id="rId4" Type="http://schemas.openxmlformats.org/officeDocument/2006/relationships/image" Target="../media/image630.png"/><Relationship Id="rId9" Type="http://schemas.openxmlformats.org/officeDocument/2006/relationships/image" Target="../media/image8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0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75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hyperlink" Target="https://www.bayesserver.com/examples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jpe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7" Type="http://schemas.openxmlformats.org/officeDocument/2006/relationships/image" Target="../media/image75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110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jpeg"/><Relationship Id="rId4" Type="http://schemas.openxmlformats.org/officeDocument/2006/relationships/hyperlink" Target="https://seaborn.pydata.org/examples/layered_bivariate_plot.html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17ED819C-A92D-0523-A715-6D68E5DE878F}"/>
              </a:ext>
            </a:extLst>
          </p:cNvPr>
          <p:cNvGrpSpPr/>
          <p:nvPr/>
        </p:nvGrpSpPr>
        <p:grpSpPr>
          <a:xfrm>
            <a:off x="5106256" y="2887857"/>
            <a:ext cx="3004380" cy="3639325"/>
            <a:chOff x="3456989" y="836712"/>
            <a:chExt cx="4766522" cy="587727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3F600781-8FD3-14FC-2693-76DE51BA184A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17B717E9-D47E-9023-371C-CD5D08010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460927E5-5AAA-401A-AB29-B6758919B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5367E98E-E69C-3E84-DA2A-EA6F257D172E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B133F645-1E07-FE01-EAC0-5247662C3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AD976E4D-787C-E660-AE7C-0FC94D6D48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E365E-DCFF-96F3-298F-F5F24733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6324E70-6F84-6311-F6B2-1040987F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4A4A8F3-1193-4C29-9A0D-EA47EA38719C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F7F8C68-98B9-D150-4485-D71247D99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945" y="2040962"/>
            <a:ext cx="10278028" cy="383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19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3718148" y="892402"/>
            <a:ext cx="36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Experiment(</a:t>
            </a:r>
            <a:r>
              <a:rPr lang="ko-KR" altLang="en-US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양자역학</a:t>
            </a: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85B315E-BBB3-6FA1-CBB0-3A782525DDC8}"/>
              </a:ext>
            </a:extLst>
          </p:cNvPr>
          <p:cNvGrpSpPr/>
          <p:nvPr/>
        </p:nvGrpSpPr>
        <p:grpSpPr>
          <a:xfrm>
            <a:off x="3786494" y="1239628"/>
            <a:ext cx="4258988" cy="5251467"/>
            <a:chOff x="3456989" y="836712"/>
            <a:chExt cx="4766522" cy="587727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343D174-FA76-A565-AE83-817FFA5171E8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8C012A9E-82CB-2131-A251-48868C8EF4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E00FED4F-7CA4-E1E2-4EE5-8A370BABC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BBCB4992-A854-50D2-0597-925AFA91D501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85251753-1FC5-E322-6D64-8C0D9885B7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1A9BBBF0-7385-7534-391D-655A4EB6B2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964369" y="2773371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829757" y="2372397"/>
            <a:ext cx="1127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(Wave)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(Particle)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176" y="4847310"/>
            <a:ext cx="2096303" cy="588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835" y="1950798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54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PDF(probability density function)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이산데이터를 연속데이터로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확률밀도함수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생성하고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(Unseen data)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확률밀도를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584478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D4DD41-5CA4-AFE6-2137-9A1AD55D735D}"/>
              </a:ext>
            </a:extLst>
          </p:cNvPr>
          <p:cNvSpPr txBox="1"/>
          <p:nvPr/>
        </p:nvSpPr>
        <p:spPr>
          <a:xfrm>
            <a:off x="621804" y="2286185"/>
            <a:ext cx="2966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1D Kernel Density Estimation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2811259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981844" y="1196752"/>
            <a:ext cx="10513168" cy="3033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실험에 대해 가능한 사건의 발생 확률을 제공하는 함수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표본공간의 확률분포를 안다는 것은 표본을 통해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이해하는 열쇠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예를 들어 표본의 데이터가 정규분포라면 </a:t>
            </a:r>
            <a:r>
              <a:rPr lang="ko-KR" altLang="en-US" sz="2000" dirty="0" err="1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의해 모집단을 식별 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 알면 그 데이터를 통해 미래를 예측하거나 의사결정이 가능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5B90D-86E6-A35E-711F-56D42882C9B7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D358E-0FD8-8D4D-55EB-747ABCD8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E4F2655-5364-03C5-86C1-05CA69A82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75720-9674-05CA-5EC7-B72F51CE1346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r>
              <a:rPr lang="ko-KR" altLang="en-US" sz="3200" b="1" dirty="0"/>
              <a:t> 종류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F536EE2-D653-2938-819F-44CC1ABF1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2" y="1177925"/>
            <a:ext cx="7343819" cy="5360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E0E119-95F5-EEB9-E625-9F6DB75AC222}"/>
              </a:ext>
            </a:extLst>
          </p:cNvPr>
          <p:cNvSpPr txBox="1"/>
          <p:nvPr/>
        </p:nvSpPr>
        <p:spPr>
          <a:xfrm>
            <a:off x="8542684" y="1916832"/>
            <a:ext cx="2459328" cy="24279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EF43F-DE46-6F11-EA18-8A95D86D25AE}"/>
              </a:ext>
            </a:extLst>
          </p:cNvPr>
          <p:cNvSpPr txBox="1"/>
          <p:nvPr/>
        </p:nvSpPr>
        <p:spPr>
          <a:xfrm>
            <a:off x="1125860" y="6202462"/>
            <a:ext cx="134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Medium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05251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 번 시행에서 </a:t>
                </a: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가지 결과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 나타남 (성공, 실패)</a:t>
                </a:r>
                <a:endParaRPr kumimoji="0" lang="en-US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성공의 확률(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)은 매 시행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때 마다 동일. 실패의 확률은 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=1−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독립시행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(어느 한 시행 결과가 다른 시행에 영향을 미치지 않음)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blipFill>
                <a:blip r:embed="rId3"/>
                <a:stretch>
                  <a:fillRect b="-755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3BC42F7-E36A-B971-1F2A-E341466C6063}"/>
              </a:ext>
            </a:extLst>
          </p:cNvPr>
          <p:cNvSpPr txBox="1"/>
          <p:nvPr/>
        </p:nvSpPr>
        <p:spPr>
          <a:xfrm>
            <a:off x="117747" y="-27384"/>
            <a:ext cx="11161241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3200" b="1" dirty="0"/>
              <a:t>베르누이 시행 (</a:t>
            </a:r>
            <a:r>
              <a:rPr lang="en-US" altLang="ko-KR" sz="32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Bernoulli_distribution</a:t>
            </a:r>
            <a:r>
              <a:rPr lang="en-US" altLang="ko-KR" sz="3200" b="1" dirty="0"/>
              <a:t>)</a:t>
            </a:r>
            <a:endParaRPr lang="ko-KR" altLang="ko-KR" sz="32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4EC9F19-01A1-8DA4-7CE5-9EE0D94F87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5550" y="3060957"/>
            <a:ext cx="5533154" cy="3463104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2953587" y="2708920"/>
            <a:ext cx="494102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던져 앞면과 뒷면이 나온 회수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/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ko-KR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61D4FCA2-4212-B942-A676-C172067D23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5946" y="3108205"/>
            <a:ext cx="2743438" cy="104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DA910-1819-BD86-5671-925D1EC77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684187-74AE-ABB9-05E2-4BC14A4B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번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베르누이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시행에서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성공횟수에 대한 분포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 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𝑝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표현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확률질량함수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blipFill>
                <a:blip r:embed="rId3"/>
                <a:stretch>
                  <a:fillRect b="-880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7F0A4C8-BBDB-A173-5E91-10627155D5B8}"/>
              </a:ext>
            </a:extLst>
          </p:cNvPr>
          <p:cNvSpPr txBox="1"/>
          <p:nvPr/>
        </p:nvSpPr>
        <p:spPr>
          <a:xfrm>
            <a:off x="117748" y="-27384"/>
            <a:ext cx="6096000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3200" b="1" dirty="0"/>
              <a:t>이항분포</a:t>
            </a:r>
            <a:r>
              <a:rPr lang="ko-KR" altLang="ko-KR" sz="3200" b="1" dirty="0"/>
              <a:t> (</a:t>
            </a:r>
            <a:r>
              <a:rPr lang="ko-KR" altLang="ko-KR" sz="3200" b="1" dirty="0" err="1"/>
              <a:t>B</a:t>
            </a:r>
            <a:r>
              <a:rPr lang="en-US" altLang="ko-KR" sz="3200" b="1" dirty="0" err="1"/>
              <a:t>inomial</a:t>
            </a:r>
            <a:r>
              <a:rPr lang="en-US" altLang="ko-KR" sz="3200" b="1" dirty="0"/>
              <a:t> Distribution</a:t>
            </a:r>
            <a:r>
              <a:rPr lang="ko-KR" altLang="ko-KR" sz="3200" b="1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D1AED9-B871-711A-5DC9-5CD8802068B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20107" y="1772816"/>
            <a:ext cx="4246513" cy="78067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F28144B-84F0-E988-29DC-8B94A615A6EF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1797703"/>
            <a:ext cx="1767235" cy="71204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ED30526-A382-B96C-5933-28764E767D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1884" y="2952113"/>
            <a:ext cx="5450341" cy="342173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9F6B3D-630B-8CEA-61E8-99A5F93B8B9B}"/>
              </a:ext>
            </a:extLst>
          </p:cNvPr>
          <p:cNvSpPr/>
          <p:nvPr/>
        </p:nvSpPr>
        <p:spPr>
          <a:xfrm>
            <a:off x="6958508" y="3209007"/>
            <a:ext cx="475970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던져서 앞면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성공확률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(0.5))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나올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확률변수로 분포를 그리면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시행을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수행해서 분포를 그리면</a:t>
            </a:r>
            <a:endParaRPr lang="ko-KR" altLang="en-US" sz="16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C4A17E7-1ADA-C2BB-CB2C-4EA7498386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4292" y="3573016"/>
            <a:ext cx="1506942" cy="51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0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13892" y="2671939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3063354"/>
            <a:ext cx="3593215" cy="3145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9282851" cy="15220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동전던지기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던지기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제시하라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동전을 한꺼번에 던지는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수행하고 그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(H:1, T:-1)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차감하는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실험과 동일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6" y="3063354"/>
            <a:ext cx="4578635" cy="3096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1" y="1050968"/>
            <a:ext cx="9073009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8983" y="2174748"/>
            <a:ext cx="4917508" cy="4247317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numpy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np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plt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</a:t>
            </a:r>
            <a:r>
              <a:rPr lang="en-US" altLang="ko-KR" sz="1500" dirty="0">
                <a:latin typeface="Arial Narrow" panose="020B0606020202030204" pitchFamily="34" charset="0"/>
              </a:rPr>
              <a:t>5</a:t>
            </a:r>
            <a:r>
              <a:rPr lang="ko-KR" altLang="en-US" sz="1500" dirty="0">
                <a:latin typeface="Arial Narrow" panose="020B0606020202030204" pitchFamily="34" charset="0"/>
              </a:rPr>
              <a:t>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 = 0.</a:t>
            </a:r>
            <a:r>
              <a:rPr lang="en-US" altLang="ko-KR" sz="1500" b="1" dirty="0">
                <a:latin typeface="Arial Narrow" panose="020B0606020202030204" pitchFamily="34" charset="0"/>
              </a:rPr>
              <a:t>5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5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n</a:t>
            </a:r>
            <a:r>
              <a:rPr lang="ko-KR" altLang="en-US" sz="1500" dirty="0">
                <a:latin typeface="Arial Narrow" panose="020B0606020202030204" pitchFamily="34" charset="0"/>
              </a:rPr>
              <a:t>=10, 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=0.5)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500" dirty="0">
                <a:latin typeface="Arial Narrow" panose="020B0606020202030204" pitchFamily="34" charset="0"/>
              </a:rPr>
              <a:t>(0, </a:t>
            </a:r>
            <a:r>
              <a:rPr lang="ko-KR" altLang="en-US" sz="1500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mu</a:t>
            </a:r>
            <a:r>
              <a:rPr lang="ko-KR" altLang="en-US" sz="1500" dirty="0">
                <a:latin typeface="Arial Narrow" panose="020B0606020202030204" pitchFamily="34" charset="0"/>
              </a:rPr>
              <a:t>=0, </a:t>
            </a:r>
            <a:r>
              <a:rPr lang="ko-KR" altLang="en-US" sz="1500" dirty="0" err="1">
                <a:latin typeface="Arial Narrow" panose="020B0606020202030204" pitchFamily="34" charset="0"/>
              </a:rPr>
              <a:t>sigma</a:t>
            </a:r>
            <a:r>
              <a:rPr lang="ko-KR" altLang="en-US" sz="1500" dirty="0">
                <a:latin typeface="Arial Narrow" panose="020B0606020202030204" pitchFamily="34" charset="0"/>
              </a:rPr>
              <a:t>=1)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5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950396" y="2174748"/>
            <a:ext cx="5976663" cy="4478149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fig</a:t>
            </a:r>
            <a:r>
              <a:rPr lang="ko-KR" altLang="en-US" sz="1500" dirty="0">
                <a:latin typeface="Arial Narrow" panose="020B0606020202030204" pitchFamily="34" charset="0"/>
              </a:rPr>
              <a:t>, </a:t>
            </a:r>
            <a:r>
              <a:rPr lang="ko-KR" altLang="en-US" sz="1500" dirty="0" err="1">
                <a:latin typeface="Arial Narrow" panose="020B0606020202030204" pitchFamily="34" charset="0"/>
              </a:rPr>
              <a:t>axes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500" dirty="0">
                <a:latin typeface="Arial Narrow" panose="020B0606020202030204" pitchFamily="34" charset="0"/>
              </a:rPr>
              <a:t>(3, 2, </a:t>
            </a:r>
            <a:r>
              <a:rPr lang="ko-KR" altLang="en-US" sz="15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500" dirty="0">
                <a:latin typeface="Arial Narrow" panose="020B0606020202030204" pitchFamily="34" charset="0"/>
              </a:rPr>
              <a:t>=(1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, 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500" dirty="0">
              <a:latin typeface="Arial Narrow" panose="020B0606020202030204" pitchFamily="34" charset="0"/>
            </a:endParaRP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5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500" dirty="0">
                <a:latin typeface="Arial Narrow" panose="020B0606020202030204" pitchFamily="34" charset="0"/>
              </a:rPr>
              <a:t> PMF (p={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500" dirty="0">
                <a:latin typeface="Arial Narrow" panose="020B0606020202030204" pitchFamily="34" charset="0"/>
              </a:rPr>
              <a:t> PMF (n={</a:t>
            </a:r>
            <a:r>
              <a:rPr lang="en-US" altLang="ko-KR" sz="1500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dirty="0">
                <a:latin typeface="Arial Narrow" panose="020B0606020202030204" pitchFamily="34" charset="0"/>
              </a:rPr>
              <a:t>}, 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500" dirty="0">
                <a:latin typeface="Arial Narrow" panose="020B0606020202030204" pitchFamily="34" charset="0"/>
              </a:rPr>
              <a:t>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5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("Normal CDF")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DEA8C8-216E-95AB-3B25-6F180F4F9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8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2" name="AutoShape 2" descr="정규 분포 - 위키백과, 우리 모두의 백과사전">
            <a:extLst>
              <a:ext uri="{FF2B5EF4-FFF2-40B4-BE49-F238E27FC236}">
                <a16:creationId xmlns:a16="http://schemas.microsoft.com/office/drawing/2014/main" id="{B49CE699-1970-20F6-73A6-0FB2077D8A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28" name="Picture 4" descr="붉은 색은 표준정규분포">
            <a:extLst>
              <a:ext uri="{FF2B5EF4-FFF2-40B4-BE49-F238E27FC236}">
                <a16:creationId xmlns:a16="http://schemas.microsoft.com/office/drawing/2014/main" id="{4DA95171-E006-1105-F498-281BC73CD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56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확률밀도함수의 색과 같은 색">
            <a:extLst>
              <a:ext uri="{FF2B5EF4-FFF2-40B4-BE49-F238E27FC236}">
                <a16:creationId xmlns:a16="http://schemas.microsoft.com/office/drawing/2014/main" id="{860DD08D-A404-043D-43FE-553EE0B06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D8539E0-E36E-53E5-892D-B42729139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03076" y="2772544"/>
            <a:ext cx="1793501" cy="5040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/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kumimoji="0" lang="ko-KR" altLang="en-US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𝝁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위치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location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𝝈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척도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scale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kumimoji="0" lang="ko-KR" altLang="ko-KR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blipFill>
                <a:blip r:embed="rId7"/>
                <a:stretch>
                  <a:fillRect l="-70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4A1789D-CBA6-494A-7D0F-07DE39E0AC89}"/>
              </a:ext>
            </a:extLst>
          </p:cNvPr>
          <p:cNvSpPr txBox="1"/>
          <p:nvPr/>
        </p:nvSpPr>
        <p:spPr>
          <a:xfrm>
            <a:off x="117748" y="-27384"/>
            <a:ext cx="10225136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가지 </a:t>
            </a:r>
            <a:r>
              <a:rPr lang="ko-KR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(parameters)</a:t>
            </a: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따른 정규분포</a:t>
            </a:r>
          </a:p>
        </p:txBody>
      </p:sp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3120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04346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02313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3718148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390556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710AF8-D840-52D4-C7A2-447326300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068" y="1172054"/>
            <a:ext cx="8199918" cy="5159599"/>
          </a:xfrm>
          <a:prstGeom prst="rect">
            <a:avLst/>
          </a:prstGeom>
        </p:spPr>
      </p:pic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7FB755-4DC4-8AAF-3365-6F7DF1B41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C2414-8A74-A50A-99C6-C88682A3DEB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/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  <m:r>
                          <a:rPr lang="en-US" altLang="ko-KR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</a:rPr>
                  <a:t>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.58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.58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blipFill>
                <a:blip r:embed="rId5"/>
                <a:stretch>
                  <a:fillRect l="-1163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A6EAB66-B804-346C-D68E-C21D678B8A9F}"/>
              </a:ext>
            </a:extLst>
          </p:cNvPr>
          <p:cNvCxnSpPr/>
          <p:nvPr/>
        </p:nvCxnSpPr>
        <p:spPr>
          <a:xfrm>
            <a:off x="9289947" y="5337356"/>
            <a:ext cx="533129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F1554E9-3961-D2B2-C96C-0636C5587199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29998" y="2385609"/>
            <a:ext cx="2848190" cy="800472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D318373-0A08-06B2-91BA-0A41D3474C11}"/>
              </a:ext>
            </a:extLst>
          </p:cNvPr>
          <p:cNvCxnSpPr/>
          <p:nvPr/>
        </p:nvCxnSpPr>
        <p:spPr>
          <a:xfrm>
            <a:off x="4222204" y="2780928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A5E5-E5F1-56EF-A565-D0AEBA7FA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E190DF-0FB1-D5E9-A68E-4C10939C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E3F800-0205-80AA-9527-CED57CA8DCB9}"/>
              </a:ext>
            </a:extLst>
          </p:cNvPr>
          <p:cNvSpPr txBox="1"/>
          <p:nvPr/>
        </p:nvSpPr>
        <p:spPr>
          <a:xfrm>
            <a:off x="117747" y="-27384"/>
            <a:ext cx="12071077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정리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(Central Limit </a:t>
            </a:r>
            <a:r>
              <a:rPr lang="en-US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Theorm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ko-KR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4A4D0C-AE04-33CD-48FA-AE76EC243CDD}"/>
              </a:ext>
            </a:extLst>
          </p:cNvPr>
          <p:cNvSpPr txBox="1"/>
          <p:nvPr/>
        </p:nvSpPr>
        <p:spPr>
          <a:xfrm>
            <a:off x="346227" y="1018077"/>
            <a:ext cx="115212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모르는 모집단에서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표본을 추출한 표본의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모집단의 평균과 분산을 따르는 정규분포에 근접한다는 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(Axiom)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평균과 분산을 정규분포로 가정하는 근거로 통계 추정과 가설검정을 가능하게 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9C1B55FC-1A92-C807-D7D6-DC9C68CE5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749" y="3484386"/>
            <a:ext cx="3682528" cy="264681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1AE4D26-81E1-6DB5-8EDC-D70E2641FC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2748552"/>
            <a:ext cx="1764415" cy="7612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B8FD5A7-A3D1-A999-CB13-9EA1028EB4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557835" y="2755451"/>
            <a:ext cx="2082442" cy="738932"/>
          </a:xfrm>
          <a:prstGeom prst="rect">
            <a:avLst/>
          </a:prstGeom>
        </p:spPr>
      </p:pic>
      <p:pic>
        <p:nvPicPr>
          <p:cNvPr id="25" name="그래픽 24" descr="별과 행성이 있는 우주">
            <a:extLst>
              <a:ext uri="{FF2B5EF4-FFF2-40B4-BE49-F238E27FC236}">
                <a16:creationId xmlns:a16="http://schemas.microsoft.com/office/drawing/2014/main" id="{F8DAC86F-90C8-00C9-903A-5C577B7997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9585776">
            <a:off x="596334" y="3505009"/>
            <a:ext cx="3467740" cy="195060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BBDB973-89E8-3462-44BE-8872FFFCD364}"/>
              </a:ext>
            </a:extLst>
          </p:cNvPr>
          <p:cNvGrpSpPr/>
          <p:nvPr/>
        </p:nvGrpSpPr>
        <p:grpSpPr>
          <a:xfrm>
            <a:off x="3774877" y="2563820"/>
            <a:ext cx="1383431" cy="957728"/>
            <a:chOff x="3774877" y="2563820"/>
            <a:chExt cx="1383431" cy="957728"/>
          </a:xfrm>
        </p:grpSpPr>
        <p:pic>
          <p:nvPicPr>
            <p:cNvPr id="13" name="그래픽 12" descr="가로 막대형 차트 단색으로 채워진">
              <a:extLst>
                <a:ext uri="{FF2B5EF4-FFF2-40B4-BE49-F238E27FC236}">
                  <a16:creationId xmlns:a16="http://schemas.microsoft.com/office/drawing/2014/main" id="{11BB02EC-B2F6-3AC7-AD51-E85829F895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582244" y="2563820"/>
              <a:ext cx="576064" cy="576064"/>
            </a:xfrm>
            <a:prstGeom prst="rect">
              <a:avLst/>
            </a:prstGeom>
          </p:spPr>
        </p:pic>
        <p:cxnSp>
          <p:nvCxnSpPr>
            <p:cNvPr id="27" name="연결선: 구부러짐 26">
              <a:extLst>
                <a:ext uri="{FF2B5EF4-FFF2-40B4-BE49-F238E27FC236}">
                  <a16:creationId xmlns:a16="http://schemas.microsoft.com/office/drawing/2014/main" id="{5FEC3A41-376D-269C-DBC3-449053C6537E}"/>
                </a:ext>
              </a:extLst>
            </p:cNvPr>
            <p:cNvCxnSpPr>
              <a:stCxn id="25" idx="3"/>
            </p:cNvCxnSpPr>
            <p:nvPr/>
          </p:nvCxnSpPr>
          <p:spPr>
            <a:xfrm flipV="1">
              <a:off x="3774877" y="2996952"/>
              <a:ext cx="735359" cy="524596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16B71A9-BDCD-2979-B706-60837E2E54AA}"/>
              </a:ext>
            </a:extLst>
          </p:cNvPr>
          <p:cNvGrpSpPr/>
          <p:nvPr/>
        </p:nvGrpSpPr>
        <p:grpSpPr>
          <a:xfrm>
            <a:off x="4257564" y="3534435"/>
            <a:ext cx="1433963" cy="576064"/>
            <a:chOff x="4257564" y="3534435"/>
            <a:chExt cx="1433963" cy="576064"/>
          </a:xfrm>
        </p:grpSpPr>
        <p:pic>
          <p:nvPicPr>
            <p:cNvPr id="15" name="그래픽 14" descr="가로 막대형 차트 윤곽선">
              <a:extLst>
                <a:ext uri="{FF2B5EF4-FFF2-40B4-BE49-F238E27FC236}">
                  <a16:creationId xmlns:a16="http://schemas.microsoft.com/office/drawing/2014/main" id="{77747C22-1DC2-2FE1-B99E-3CF72F9DA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15463" y="3534435"/>
              <a:ext cx="576064" cy="576064"/>
            </a:xfrm>
            <a:prstGeom prst="rect">
              <a:avLst/>
            </a:prstGeom>
          </p:spPr>
        </p:pic>
        <p:cxnSp>
          <p:nvCxnSpPr>
            <p:cNvPr id="28" name="연결선: 구부러짐 27">
              <a:extLst>
                <a:ext uri="{FF2B5EF4-FFF2-40B4-BE49-F238E27FC236}">
                  <a16:creationId xmlns:a16="http://schemas.microsoft.com/office/drawing/2014/main" id="{43B33A39-90D4-045E-B9D8-998FB4E1D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564" y="3748427"/>
              <a:ext cx="794130" cy="231988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8E72DC-3C16-313F-2ADE-2762532F5447}"/>
              </a:ext>
            </a:extLst>
          </p:cNvPr>
          <p:cNvGrpSpPr/>
          <p:nvPr/>
        </p:nvGrpSpPr>
        <p:grpSpPr>
          <a:xfrm>
            <a:off x="2782044" y="5291520"/>
            <a:ext cx="1587760" cy="729768"/>
            <a:chOff x="2782044" y="5291520"/>
            <a:chExt cx="1587760" cy="729768"/>
          </a:xfrm>
        </p:grpSpPr>
        <p:pic>
          <p:nvPicPr>
            <p:cNvPr id="19" name="그래픽 18" descr="막대 그래프 하향 추세 윤곽선">
              <a:extLst>
                <a:ext uri="{FF2B5EF4-FFF2-40B4-BE49-F238E27FC236}">
                  <a16:creationId xmlns:a16="http://schemas.microsoft.com/office/drawing/2014/main" id="{67E95CDF-10F3-0FCC-2F08-FE4EC5D4AB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793740" y="5445224"/>
              <a:ext cx="576064" cy="576064"/>
            </a:xfrm>
            <a:prstGeom prst="rect">
              <a:avLst/>
            </a:prstGeom>
          </p:spPr>
        </p:pic>
        <p:cxnSp>
          <p:nvCxnSpPr>
            <p:cNvPr id="29" name="연결선: 구부러짐 28">
              <a:extLst>
                <a:ext uri="{FF2B5EF4-FFF2-40B4-BE49-F238E27FC236}">
                  <a16:creationId xmlns:a16="http://schemas.microsoft.com/office/drawing/2014/main" id="{94F1F3E9-AEEC-4F34-20E8-645F0317FF01}"/>
                </a:ext>
              </a:extLst>
            </p:cNvPr>
            <p:cNvCxnSpPr>
              <a:cxnSpLocks/>
            </p:cNvCxnSpPr>
            <p:nvPr/>
          </p:nvCxnSpPr>
          <p:spPr>
            <a:xfrm>
              <a:off x="2782044" y="5291520"/>
              <a:ext cx="792998" cy="441736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ED3635DD-513D-68F7-1CBF-B9373581E34B}"/>
              </a:ext>
            </a:extLst>
          </p:cNvPr>
          <p:cNvGrpSpPr/>
          <p:nvPr/>
        </p:nvGrpSpPr>
        <p:grpSpPr>
          <a:xfrm>
            <a:off x="3533944" y="4873083"/>
            <a:ext cx="1908211" cy="994501"/>
            <a:chOff x="3533944" y="4873083"/>
            <a:chExt cx="1908211" cy="994501"/>
          </a:xfrm>
        </p:grpSpPr>
        <p:pic>
          <p:nvPicPr>
            <p:cNvPr id="23" name="그래픽 22" descr="막대 그래프 상향 추세 단색으로 채워진">
              <a:extLst>
                <a:ext uri="{FF2B5EF4-FFF2-40B4-BE49-F238E27FC236}">
                  <a16:creationId xmlns:a16="http://schemas.microsoft.com/office/drawing/2014/main" id="{15F12ECC-1244-E705-4E99-BF4FB0811F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866091" y="5291520"/>
              <a:ext cx="576064" cy="576064"/>
            </a:xfrm>
            <a:prstGeom prst="rect">
              <a:avLst/>
            </a:prstGeom>
          </p:spPr>
        </p:pic>
        <p:cxnSp>
          <p:nvCxnSpPr>
            <p:cNvPr id="34" name="연결선: 구부러짐 33">
              <a:extLst>
                <a:ext uri="{FF2B5EF4-FFF2-40B4-BE49-F238E27FC236}">
                  <a16:creationId xmlns:a16="http://schemas.microsoft.com/office/drawing/2014/main" id="{38DC9AA1-C87D-F7FE-810E-52FEE1C0614D}"/>
                </a:ext>
              </a:extLst>
            </p:cNvPr>
            <p:cNvCxnSpPr>
              <a:cxnSpLocks/>
            </p:cNvCxnSpPr>
            <p:nvPr/>
          </p:nvCxnSpPr>
          <p:spPr>
            <a:xfrm>
              <a:off x="3533944" y="4873083"/>
              <a:ext cx="976292" cy="418437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B66437F-FC77-D716-6CF6-12575356F594}"/>
              </a:ext>
            </a:extLst>
          </p:cNvPr>
          <p:cNvGrpSpPr/>
          <p:nvPr/>
        </p:nvGrpSpPr>
        <p:grpSpPr>
          <a:xfrm>
            <a:off x="3916155" y="4480311"/>
            <a:ext cx="2262060" cy="673608"/>
            <a:chOff x="3916155" y="4480311"/>
            <a:chExt cx="2262060" cy="673608"/>
          </a:xfrm>
        </p:grpSpPr>
        <p:pic>
          <p:nvPicPr>
            <p:cNvPr id="21" name="그래픽 20" descr="막대 그래프 상향 추세 윤곽선">
              <a:extLst>
                <a:ext uri="{FF2B5EF4-FFF2-40B4-BE49-F238E27FC236}">
                  <a16:creationId xmlns:a16="http://schemas.microsoft.com/office/drawing/2014/main" id="{D5D8F014-18CC-9817-4C9C-EBE5E5F68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602151" y="4577855"/>
              <a:ext cx="576064" cy="576064"/>
            </a:xfrm>
            <a:prstGeom prst="rect">
              <a:avLst/>
            </a:prstGeom>
          </p:spPr>
        </p:pic>
        <p:cxnSp>
          <p:nvCxnSpPr>
            <p:cNvPr id="36" name="연결선: 구부러짐 35">
              <a:extLst>
                <a:ext uri="{FF2B5EF4-FFF2-40B4-BE49-F238E27FC236}">
                  <a16:creationId xmlns:a16="http://schemas.microsoft.com/office/drawing/2014/main" id="{CC60EED6-C64C-8123-E405-5F0558AE618A}"/>
                </a:ext>
              </a:extLst>
            </p:cNvPr>
            <p:cNvCxnSpPr>
              <a:cxnSpLocks/>
            </p:cNvCxnSpPr>
            <p:nvPr/>
          </p:nvCxnSpPr>
          <p:spPr>
            <a:xfrm>
              <a:off x="3916155" y="4480311"/>
              <a:ext cx="1526000" cy="320822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076A2818-CD9C-879D-4D68-404BDD248AC2}"/>
              </a:ext>
            </a:extLst>
          </p:cNvPr>
          <p:cNvSpPr/>
          <p:nvPr/>
        </p:nvSpPr>
        <p:spPr>
          <a:xfrm>
            <a:off x="6526460" y="3864421"/>
            <a:ext cx="688733" cy="7134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91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Problem 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현실 데이터는 왜 어려운가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분포를 모른다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(uniform,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exponential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(abnormality, outliers)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아님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👉 질문</a:t>
            </a:r>
            <a:b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?”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평균이 문제를 해결한다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👉 핵심 메시지</a:t>
            </a:r>
            <a:b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“평균을 보면 질서가 보인다”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484238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3921-3021-A2F4-41DD-E491B58E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CD7C2C-546B-CF7F-95E2-45B41C17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0754B-67CB-90D7-5964-4967D16519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4C03BD1-6447-6817-9667-38649654BB2D}"/>
              </a:ext>
            </a:extLst>
          </p:cNvPr>
          <p:cNvGrpSpPr/>
          <p:nvPr/>
        </p:nvGrpSpPr>
        <p:grpSpPr>
          <a:xfrm>
            <a:off x="674731" y="1700809"/>
            <a:ext cx="5491689" cy="4655542"/>
            <a:chOff x="674731" y="1700808"/>
            <a:chExt cx="5161191" cy="4255855"/>
          </a:xfrm>
        </p:grpSpPr>
        <p:pic>
          <p:nvPicPr>
            <p:cNvPr id="5128" name="Picture 8" descr="img">
              <a:extLst>
                <a:ext uri="{FF2B5EF4-FFF2-40B4-BE49-F238E27FC236}">
                  <a16:creationId xmlns:a16="http://schemas.microsoft.com/office/drawing/2014/main" id="{75D943D4-565B-F046-7CFC-EA8B4D5FC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409" y="1700808"/>
              <a:ext cx="5147513" cy="2903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7B0180D-05D5-1FE4-B49F-0D42F72C2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4731" y="4509401"/>
              <a:ext cx="5161191" cy="1447262"/>
            </a:xfrm>
            <a:prstGeom prst="rect">
              <a:avLst/>
            </a:prstGeom>
          </p:spPr>
        </p:pic>
      </p:grpSp>
      <p:pic>
        <p:nvPicPr>
          <p:cNvPr id="5132" name="Picture 12" descr="How to Decipher False Positives (and Negatives) with Bayes' Theorem – The  Stats Ninja">
            <a:extLst>
              <a:ext uri="{FF2B5EF4-FFF2-40B4-BE49-F238E27FC236}">
                <a16:creationId xmlns:a16="http://schemas.microsoft.com/office/drawing/2014/main" id="{852883A4-4EC5-633C-C569-9305FEE7A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508" y="1700809"/>
            <a:ext cx="4787436" cy="295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87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7A16-70FD-5F9C-82F2-BFBB18AD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1E0D05F-AB83-DCDF-6007-1D057B50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1500329-A5D7-F9B1-1F3C-BE517A639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/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FE2885-AFF1-2062-4D1E-B7C732F82842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581A04-0990-6007-2C98-A6ACE0C5F247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F875AC9-947E-AE64-7E06-C31EC5893D0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A96610-0088-A1E2-DEA7-0B10C6C165A4}"/>
              </a:ext>
            </a:extLst>
          </p:cNvPr>
          <p:cNvSpPr/>
          <p:nvPr/>
        </p:nvSpPr>
        <p:spPr>
          <a:xfrm>
            <a:off x="1269876" y="2564904"/>
            <a:ext cx="1027593" cy="34563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D9FBC6A-B071-CD5C-374D-DA25EAF8FD1E}"/>
              </a:ext>
            </a:extLst>
          </p:cNvPr>
          <p:cNvSpPr/>
          <p:nvPr/>
        </p:nvSpPr>
        <p:spPr>
          <a:xfrm>
            <a:off x="3430116" y="2564904"/>
            <a:ext cx="1152128" cy="345638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59F18F0-B3DE-7DB5-777C-97C03BD5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0229" y="2263731"/>
            <a:ext cx="633610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E2FBE8-2BCA-A291-3941-96F82417E54A}"/>
              </a:ext>
            </a:extLst>
          </p:cNvPr>
          <p:cNvSpPr/>
          <p:nvPr/>
        </p:nvSpPr>
        <p:spPr>
          <a:xfrm>
            <a:off x="5690229" y="2263731"/>
            <a:ext cx="3284503" cy="25922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0F7786-04E7-76CC-7447-9570B35EDDBA}"/>
              </a:ext>
            </a:extLst>
          </p:cNvPr>
          <p:cNvSpPr/>
          <p:nvPr/>
        </p:nvSpPr>
        <p:spPr>
          <a:xfrm>
            <a:off x="9022844" y="2263731"/>
            <a:ext cx="3003493" cy="259228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6A536-A564-8934-6B25-CFA8F9AC8B34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빨강색 박스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/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&lt;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𝟒𝟎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/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&gt;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𝟓𝟎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19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14890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927,071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501008"/>
            <a:ext cx="432048" cy="43204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76872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869160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859467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566589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152345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445224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645648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717032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82613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92896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368369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85184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64970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556587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62880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22108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82099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628800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97666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913233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82099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911056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628800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89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20279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915797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84784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317806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032F-C180-E51F-B6F6-EED7B2A0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E3E75D-A15C-F849-694C-CBB7698B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8FE96-96FB-D223-D68F-1A0684C4E7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72DADA1-30EF-355E-BFE6-AA496EEE0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9B0668-6EF9-7583-E30A-3B662FD84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11" y="1628800"/>
            <a:ext cx="4996889" cy="45406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935C308-53F4-64FC-BAEC-E482FB6EF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382" y="1628800"/>
            <a:ext cx="5882654" cy="452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372EE-ED98-7DD8-8ACF-29826546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5EAC3-9829-DE0A-E56A-66A7472CC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6" name="AutoShape 4" descr="Uploaded image preview">
            <a:extLst>
              <a:ext uri="{FF2B5EF4-FFF2-40B4-BE49-F238E27FC236}">
                <a16:creationId xmlns:a16="http://schemas.microsoft.com/office/drawing/2014/main" id="{B51FCEB9-CDD7-C33E-AB71-66C48B658B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5DBAC2-40E3-440E-B5E0-F806F76E04D4}"/>
              </a:ext>
            </a:extLst>
          </p:cNvPr>
          <p:cNvSpPr txBox="1"/>
          <p:nvPr/>
        </p:nvSpPr>
        <p:spPr>
          <a:xfrm>
            <a:off x="117748" y="260648"/>
            <a:ext cx="7848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Bayesian Network examples</a:t>
            </a:r>
            <a:endParaRPr lang="en-US" altLang="ko-KR" sz="3200" b="1" dirty="0"/>
          </a:p>
          <a:p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3729D49-F701-4403-AA5F-AD580346A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23" y="2075412"/>
            <a:ext cx="3386052" cy="312469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3A43E62-E285-A8BA-3526-F6D8E9966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980" y="2075412"/>
            <a:ext cx="3722915" cy="351382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63F55C1-C4C6-089E-DDFA-0B5C8D525A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0700" y="2075412"/>
            <a:ext cx="3670643" cy="3176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6D3AC3-F8C2-1C44-ECB3-8BADF7F2A918}"/>
              </a:ext>
            </a:extLst>
          </p:cNvPr>
          <p:cNvSpPr txBox="1"/>
          <p:nvPr/>
        </p:nvSpPr>
        <p:spPr>
          <a:xfrm>
            <a:off x="152550" y="1153200"/>
            <a:ext cx="511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Bayesian network</a:t>
            </a:r>
            <a:r>
              <a:rPr lang="ko-KR" altLang="en-US" dirty="0"/>
              <a:t>로 별도로 강의</a:t>
            </a:r>
            <a:r>
              <a:rPr lang="en-US" altLang="ko-KR" dirty="0"/>
              <a:t> </a:t>
            </a:r>
            <a:r>
              <a:rPr lang="ko-KR" altLang="en-US" dirty="0"/>
              <a:t>슬라이드</a:t>
            </a:r>
            <a:r>
              <a:rPr lang="en-US" altLang="ko-KR" dirty="0"/>
              <a:t> </a:t>
            </a:r>
            <a:r>
              <a:rPr lang="ko-KR" altLang="en-US" dirty="0"/>
              <a:t>만들기 </a:t>
            </a:r>
          </a:p>
        </p:txBody>
      </p:sp>
    </p:spTree>
    <p:extLst>
      <p:ext uri="{BB962C8B-B14F-4D97-AF65-F5344CB8AC3E}">
        <p14:creationId xmlns:p14="http://schemas.microsoft.com/office/powerpoint/2010/main" val="3162273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954506-47E9-36E9-D79F-88C1FDAA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6C6C339-D677-BAFC-B1BA-C5479B5BE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80" y="548680"/>
            <a:ext cx="5307653" cy="26642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A8E2F3B-C6B4-0BFC-EDE3-F97358E5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336" y="567668"/>
            <a:ext cx="5611057" cy="342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088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3A6D6-5A5C-EAD6-5FBE-F55AFED7D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6" name="AutoShape 4" descr="Uploaded image preview">
            <a:extLst>
              <a:ext uri="{FF2B5EF4-FFF2-40B4-BE49-F238E27FC236}">
                <a16:creationId xmlns:a16="http://schemas.microsoft.com/office/drawing/2014/main" id="{F9A9D122-3D34-FBC2-F1E5-EFB516C054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92E1314-705B-44C5-2C1F-799AADA3E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972" y="1374763"/>
            <a:ext cx="6272873" cy="4413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3E756F-31BD-217A-9C45-E4EF767913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</p:spTree>
    <p:extLst>
      <p:ext uri="{BB962C8B-B14F-4D97-AF65-F5344CB8AC3E}">
        <p14:creationId xmlns:p14="http://schemas.microsoft.com/office/powerpoint/2010/main" val="298634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2374</TotalTime>
  <Words>3509</Words>
  <Application>Microsoft Office PowerPoint</Application>
  <PresentationFormat>사용자 지정</PresentationFormat>
  <Paragraphs>552</Paragraphs>
  <Slides>66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80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106</cp:revision>
  <dcterms:created xsi:type="dcterms:W3CDTF">2024-06-03T06:10:16Z</dcterms:created>
  <dcterms:modified xsi:type="dcterms:W3CDTF">2026-04-16T04:44:16Z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