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8"/>
  </p:notesMasterIdLst>
  <p:handoutMasterIdLst>
    <p:handoutMasterId r:id="rId69"/>
  </p:handoutMasterIdLst>
  <p:sldIdLst>
    <p:sldId id="256" r:id="rId5"/>
    <p:sldId id="314" r:id="rId6"/>
    <p:sldId id="361" r:id="rId7"/>
    <p:sldId id="369" r:id="rId8"/>
    <p:sldId id="370" r:id="rId9"/>
    <p:sldId id="270" r:id="rId10"/>
    <p:sldId id="371" r:id="rId11"/>
    <p:sldId id="380" r:id="rId12"/>
    <p:sldId id="379" r:id="rId13"/>
    <p:sldId id="362" r:id="rId14"/>
    <p:sldId id="272" r:id="rId15"/>
    <p:sldId id="403" r:id="rId16"/>
    <p:sldId id="387" r:id="rId17"/>
    <p:sldId id="276" r:id="rId18"/>
    <p:sldId id="307" r:id="rId19"/>
    <p:sldId id="308" r:id="rId20"/>
    <p:sldId id="340" r:id="rId21"/>
    <p:sldId id="363" r:id="rId22"/>
    <p:sldId id="277" r:id="rId23"/>
    <p:sldId id="278" r:id="rId24"/>
    <p:sldId id="364" r:id="rId25"/>
    <p:sldId id="279" r:id="rId26"/>
    <p:sldId id="284" r:id="rId27"/>
    <p:sldId id="377" r:id="rId28"/>
    <p:sldId id="280" r:id="rId29"/>
    <p:sldId id="281" r:id="rId30"/>
    <p:sldId id="382" r:id="rId31"/>
    <p:sldId id="283" r:id="rId32"/>
    <p:sldId id="383" r:id="rId33"/>
    <p:sldId id="288" r:id="rId34"/>
    <p:sldId id="290" r:id="rId35"/>
    <p:sldId id="289" r:id="rId36"/>
    <p:sldId id="286" r:id="rId37"/>
    <p:sldId id="287" r:id="rId38"/>
    <p:sldId id="393" r:id="rId39"/>
    <p:sldId id="395" r:id="rId40"/>
    <p:sldId id="396" r:id="rId41"/>
    <p:sldId id="291" r:id="rId42"/>
    <p:sldId id="375" r:id="rId43"/>
    <p:sldId id="374" r:id="rId44"/>
    <p:sldId id="365" r:id="rId45"/>
    <p:sldId id="293" r:id="rId46"/>
    <p:sldId id="324" r:id="rId47"/>
    <p:sldId id="338" r:id="rId48"/>
    <p:sldId id="302" r:id="rId49"/>
    <p:sldId id="330" r:id="rId50"/>
    <p:sldId id="327" r:id="rId51"/>
    <p:sldId id="389" r:id="rId52"/>
    <p:sldId id="401" r:id="rId53"/>
    <p:sldId id="367" r:id="rId54"/>
    <p:sldId id="402" r:id="rId55"/>
    <p:sldId id="397" r:id="rId56"/>
    <p:sldId id="399" r:id="rId57"/>
    <p:sldId id="301" r:id="rId58"/>
    <p:sldId id="388" r:id="rId59"/>
    <p:sldId id="404" r:id="rId60"/>
    <p:sldId id="398" r:id="rId61"/>
    <p:sldId id="390" r:id="rId62"/>
    <p:sldId id="391" r:id="rId63"/>
    <p:sldId id="400" r:id="rId64"/>
    <p:sldId id="305" r:id="rId65"/>
    <p:sldId id="394" r:id="rId66"/>
    <p:sldId id="304" r:id="rId67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ggoo Cho" initials="SC" lastIdx="1" clrIdx="0">
    <p:extLst>
      <p:ext uri="{19B8F6BF-5375-455C-9EA6-DF929625EA0E}">
        <p15:presenceInfo xmlns:p15="http://schemas.microsoft.com/office/powerpoint/2012/main" userId="17a7d6351fc7ea1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>
        <p:scale>
          <a:sx n="100" d="100"/>
          <a:sy n="100" d="100"/>
        </p:scale>
        <p:origin x="1356" y="31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78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2026-04-02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2026-04-02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9D94-84CA-A7EF-195A-B720F2DF1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89F605-83F1-96C0-E8A4-43D23F188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64E87F-6520-2A21-1C3A-FAEF58570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2C412-BE22-D3CF-3E28-0C725DC418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98750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8AD08-7835-CADF-5460-8361621FC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94997-EB59-9254-FAEE-BA6F8DAE4F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7949-6F43-2A0A-9390-AEF193365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734CF9-D16D-0DDF-82DE-C615D3E56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2793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9307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2C91-3751-60A0-7751-02C40BD53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1F6EF3-B7B0-8EB0-549D-564D5133D5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865E48-FF3F-5BAC-0369-BCBB35E36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8851B-3E85-2CA0-6DE5-E31B992ED1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601478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BFF25-1E93-FF84-634E-FCAAECF2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915EBB-FC1A-8DD1-F03A-966F2653F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0EFC97-64A0-15A9-D3AD-2D038123E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EAA46F-E152-7545-1C04-95F2B086AD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21877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89664-9175-453F-A8FB-350FC9249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10E0C1-E432-9544-1736-2D90EA83E8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B53BA2-3159-A983-5C44-ACF3F752D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65EB5D-6317-53B9-4CE0-3B33B6DC7D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113259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80B01-8EC8-F584-5279-E03AB622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84F56-4920-0661-8748-35A97FE2A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1EF42C-656C-972E-0B7F-366005FD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5456FC-9C6E-3376-2B21-810E64B710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146487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134A2-01A0-60F0-1ACE-F8FCB03CA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4B6B2D-08FA-53E5-41F4-EABF226FA1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3693F2-B540-BB63-EC81-A71DF0842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4E956-4F78-9147-CE7B-2A6F133A83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727443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905779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8B73F-CC8A-57AE-A258-29D083B15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7B8A4C-77FC-5715-5B9C-487379281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8368C0-8FB8-4E21-5CB8-7DDD7D2F2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D7BF6-CA60-8C78-2200-7F0A85ABFE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3355545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71C50-A8E1-DD36-52DB-8CC4FDA4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3B7B2A-2CD2-5B8F-1B65-4D6B160CD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1183C9-2696-4D2D-9002-EE8886517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E82FC-BC08-B835-0348-4C2DA50001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488503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2D46F-2A9E-75F5-A7EB-33B6DE9E8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8F9475-55EB-87E3-62AD-5EF464216F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17FCEA-C875-5FDA-15D4-F0F44593C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2429F9-012C-795F-8AC7-4F9F7F18E7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341856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D6E8-9885-77D2-367D-EC83135E7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C9D32B-005C-BA70-41E3-BD7103EDE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70BE54-9A0E-F02E-3A7E-570BC437C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FB9D0D-1C9A-D3CF-1ABB-5B1557A96A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1872569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13AD9-91B4-70C7-2656-14A5085A7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312053-789B-ABD5-54C9-101E4409CE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2D146F-CDEC-79AA-63DC-DBF423D83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BF8AB7-B950-496B-C190-B189149670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024195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5AEB6-C4B0-467B-A68D-CD9C1462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21369E-2F19-BE1D-267E-1ADDB7D0B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BB514F-924E-BD08-1E87-9EB049435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4CD82-D291-FDCF-B425-6E05032D4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11943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DFD5E-B918-724F-4B0C-A5446FDD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02D7B-4112-3EE2-9406-62AE90027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8F48DC-E289-34B8-67E9-35A0E4916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A91D9F-BEE8-AA1A-E6EC-2CBB6F42C2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535996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BED6B-EE44-064E-7F3B-3902F056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F773CD-566A-6A40-8E93-F5C8460D6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5CEF1C-27B1-1039-2CE9-2C322F39E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589616-3879-3773-5F54-A52D426EE7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769716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2D940-D9C7-60C4-EB5F-52831DD9A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6873B-009E-2D63-0475-FB90D74BB8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2523D3-D7F8-1DA9-56E2-01BBB04E8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F54688-4066-BC66-8D8F-EE29C6555A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200144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35232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0D913-3C15-0BDB-7362-6BB56DB55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EB8880-A7F4-AAA0-DCA2-9703FE343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70D2AA-0236-C8AF-16B7-E1B26D6C5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4C9BD-5FD6-0000-7395-09E6C0DDD9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73859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2026-04-02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2026-04-02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11.png"/><Relationship Id="rId7" Type="http://schemas.microsoft.com/office/2007/relationships/hdphoto" Target="../media/hdphoto1.wd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hyperlink" Target="https://www.youtube.com/watch?v=DfQH3o6dKss" TargetMode="External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2.svg"/><Relationship Id="rId4" Type="http://schemas.openxmlformats.org/officeDocument/2006/relationships/image" Target="../media/image17.png"/><Relationship Id="rId9" Type="http://schemas.openxmlformats.org/officeDocument/2006/relationships/image" Target="../media/image21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0.png"/><Relationship Id="rId4" Type="http://schemas.openxmlformats.org/officeDocument/2006/relationships/image" Target="../media/image2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0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jpe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jpeg"/><Relationship Id="rId4" Type="http://schemas.openxmlformats.org/officeDocument/2006/relationships/hyperlink" Target="https://en.wikipedia.org/wiki/Sunrise_problem" TargetMode="Externa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30.png"/><Relationship Id="rId7" Type="http://schemas.openxmlformats.org/officeDocument/2006/relationships/image" Target="../media/image59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hyperlink" Target="https://seaborn.pydata.org/examples/hexbin_marginals.html" TargetMode="External"/><Relationship Id="rId4" Type="http://schemas.openxmlformats.org/officeDocument/2006/relationships/image" Target="../media/image6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0.png"/><Relationship Id="rId4" Type="http://schemas.openxmlformats.org/officeDocument/2006/relationships/image" Target="../media/image62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jpeg"/><Relationship Id="rId4" Type="http://schemas.openxmlformats.org/officeDocument/2006/relationships/hyperlink" Target="https://kosis.kr/statHtml/statHtml.do?sso=ok&amp;returnurl=https%3A%2F%2Fkosis.kr%3A443%2FstatHtml%2FstatHtml.do%3FmarkType%3DC%26tblId%3DDT_1K52D03%26orgId%3D101%26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jpe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hyperlink" Target="https://en.wikipedia.org/wiki/Survivorship_bias" TargetMode="External"/><Relationship Id="rId7" Type="http://schemas.openxmlformats.org/officeDocument/2006/relationships/image" Target="../media/image60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aive_Bayes_classifier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jpe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7" Type="http://schemas.openxmlformats.org/officeDocument/2006/relationships/image" Target="../media/image60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GEFxFVESQXc" TargetMode="External"/><Relationship Id="rId4" Type="http://schemas.openxmlformats.org/officeDocument/2006/relationships/image" Target="../media/image8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jpeg"/><Relationship Id="rId4" Type="http://schemas.openxmlformats.org/officeDocument/2006/relationships/hyperlink" Target="https://seaborn.pydata.org/examples/layered_bivariate_plot.html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jpe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111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신은 주사위를 던진다</a:t>
            </a:r>
            <a:r>
              <a:rPr lang="en-US" altLang="ko-KR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477788" y="1844824"/>
            <a:ext cx="10081120" cy="343203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억의 상금이 걸린 게임이 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A, B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사람이 라운드마다 각각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50%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확률로 승패 결과가 있는 경우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누구나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번을 이기면 게임이 끝나게 된다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현재까지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번의 라운드에서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이겼다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A,B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각각 이길 확률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2171074" y="1200842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+mj-ea"/>
                <a:ea typeface="+mj-ea"/>
              </a:rPr>
              <a:t>동시확률을 이해하기 위한 문제</a:t>
            </a:r>
            <a:endParaRPr lang="ko-KR" altLang="en-US" b="1" dirty="0"/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05980" y="404664"/>
            <a:ext cx="707668" cy="707668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F655AF7-7D7C-7E65-E8E7-2DE0BF41E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/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Pascal(1623~1662)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경우의 수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tree</a:t>
                </a: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𝐵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FF000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½*½*½</a:t>
                </a:r>
                <a:endParaRPr lang="en-US" altLang="ko-KR" sz="1600" dirty="0">
                  <a:solidFill>
                    <a:srgbClr val="FF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𝐴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0070C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 + ½*½ + ½*½*½</a:t>
                </a:r>
                <a:r>
                  <a:rPr lang="en-US" altLang="ko-KR" sz="20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</a:p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Ferma(1607~1665)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모든 경우의 수 나열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AAA,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AAB, ABA, ABB, BAA, BAB, BBA, BBB 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blipFill>
                <a:blip r:embed="rId3"/>
                <a:stretch>
                  <a:fillRect l="-770" b="-12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13" y="1132709"/>
            <a:ext cx="5907564" cy="51189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13028" y="1155103"/>
            <a:ext cx="966550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429650" y="708505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F3D3E35-B97F-56A2-6930-A65C324260E6}"/>
              </a:ext>
            </a:extLst>
          </p:cNvPr>
          <p:cNvSpPr/>
          <p:nvPr/>
        </p:nvSpPr>
        <p:spPr>
          <a:xfrm rot="14528965">
            <a:off x="8197200" y="3075052"/>
            <a:ext cx="3920306" cy="7207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4F89812-095B-AA85-7CF8-594CCAD0AE00}"/>
              </a:ext>
            </a:extLst>
          </p:cNvPr>
          <p:cNvSpPr/>
          <p:nvPr/>
        </p:nvSpPr>
        <p:spPr>
          <a:xfrm rot="18566868">
            <a:off x="7317838" y="248184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BF7B28A-3998-42E5-40AA-50004FF5C8FD}"/>
              </a:ext>
            </a:extLst>
          </p:cNvPr>
          <p:cNvSpPr/>
          <p:nvPr/>
        </p:nvSpPr>
        <p:spPr>
          <a:xfrm rot="18566868">
            <a:off x="8089773" y="3836767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1C7E9D2-043A-C058-4DB4-3204ED484D69}"/>
              </a:ext>
            </a:extLst>
          </p:cNvPr>
          <p:cNvSpPr/>
          <p:nvPr/>
        </p:nvSpPr>
        <p:spPr>
          <a:xfrm rot="18566868">
            <a:off x="8770172" y="519062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FBDFD-A513-423F-E73F-8EF59F705A9D}"/>
              </a:ext>
            </a:extLst>
          </p:cNvPr>
          <p:cNvSpPr txBox="1"/>
          <p:nvPr/>
        </p:nvSpPr>
        <p:spPr>
          <a:xfrm>
            <a:off x="8298240" y="3273535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44FB1-AA3E-BF3A-E256-9C78DE82EEC4}"/>
              </a:ext>
            </a:extLst>
          </p:cNvPr>
          <p:cNvSpPr txBox="1"/>
          <p:nvPr/>
        </p:nvSpPr>
        <p:spPr>
          <a:xfrm>
            <a:off x="8923020" y="4608583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11C743-729D-10B5-C1B7-C561E7CDCBBE}"/>
              </a:ext>
            </a:extLst>
          </p:cNvPr>
          <p:cNvSpPr txBox="1"/>
          <p:nvPr/>
        </p:nvSpPr>
        <p:spPr>
          <a:xfrm>
            <a:off x="10270877" y="2636912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399BCC-0879-EA81-CD7B-866DA81127C1}"/>
              </a:ext>
            </a:extLst>
          </p:cNvPr>
          <p:cNvSpPr txBox="1"/>
          <p:nvPr/>
        </p:nvSpPr>
        <p:spPr>
          <a:xfrm>
            <a:off x="10736122" y="3563724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F9420A-87FA-2B3D-6FAC-4A3B7FFDC0E5}"/>
              </a:ext>
            </a:extLst>
          </p:cNvPr>
          <p:cNvSpPr txBox="1"/>
          <p:nvPr/>
        </p:nvSpPr>
        <p:spPr>
          <a:xfrm>
            <a:off x="11096162" y="4571836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11" grpId="0" animBg="1"/>
      <p:bldP spid="13" grpId="0"/>
      <p:bldP spid="14" grpId="0"/>
      <p:bldP spid="15" grpId="0"/>
      <p:bldP spid="16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354248" y="1484784"/>
                <a:ext cx="10225136" cy="47328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확률실험</a:t>
                </a:r>
                <a:r>
                  <a:rPr lang="en-US" altLang="ko-KR" sz="2000" dirty="0">
                    <a:latin typeface="+mj-ea"/>
                    <a:ea typeface="+mj-ea"/>
                  </a:rPr>
                  <a:t>(Random Experiments)</a:t>
                </a:r>
                <a:r>
                  <a:rPr lang="ko-KR" altLang="en-US" sz="2000" dirty="0">
                    <a:latin typeface="+mj-ea"/>
                    <a:ea typeface="+mj-ea"/>
                  </a:rPr>
                  <a:t> </a:t>
                </a:r>
                <a:r>
                  <a:rPr lang="en-US" altLang="ko-KR" sz="2000" dirty="0">
                    <a:latin typeface="+mj-ea"/>
                    <a:ea typeface="+mj-ea"/>
                  </a:rPr>
                  <a:t>: </a:t>
                </a:r>
                <a:r>
                  <a:rPr lang="ko-KR" altLang="en-US" sz="2000" dirty="0">
                    <a:latin typeface="+mj-ea"/>
                    <a:ea typeface="+mj-ea"/>
                  </a:rPr>
                  <a:t>발생가능한 결과가 정해져 있는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동전을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번 던짐</a:t>
                </a:r>
                <a:r>
                  <a:rPr lang="en-US" altLang="ko-KR" dirty="0">
                    <a:latin typeface="+mj-ea"/>
                    <a:ea typeface="+mj-ea"/>
                  </a:rPr>
                  <a:t>(</a:t>
                </a:r>
                <a:r>
                  <a:rPr lang="ko-KR" altLang="en-US" dirty="0">
                    <a:latin typeface="+mj-ea"/>
                    <a:ea typeface="+mj-ea"/>
                  </a:rPr>
                  <a:t>혹은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dirty="0">
                    <a:latin typeface="+mj-ea"/>
                    <a:ea typeface="+mj-ea"/>
                  </a:rPr>
                  <a:t>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ko-KR" altLang="en-US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sz="2000" dirty="0">
                    <a:latin typeface="+mj-ea"/>
                    <a:ea typeface="+mj-ea"/>
                  </a:rPr>
                  <a:t>(Sample Space) : </a:t>
                </a:r>
                <a:r>
                  <a:rPr lang="ko-KR" altLang="en-US" sz="2000" dirty="0">
                    <a:latin typeface="+mj-ea"/>
                    <a:ea typeface="+mj-ea"/>
                  </a:rPr>
                  <a:t>실험에서 발생하는 모든 경우의 수</a:t>
                </a:r>
                <a:endParaRPr lang="en-US" altLang="ko-KR" sz="20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endParaRPr lang="en-US" altLang="ko-KR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확률변수 정의 </a:t>
                </a:r>
                <a:r>
                  <a:rPr lang="en-US" altLang="ko-KR" sz="2000" dirty="0">
                    <a:latin typeface="+mj-ea"/>
                    <a:ea typeface="+mj-ea"/>
                  </a:rPr>
                  <a:t>: </a:t>
                </a:r>
                <a:r>
                  <a:rPr lang="ko-KR" altLang="en-US" sz="2000" dirty="0">
                    <a:latin typeface="+mj-ea"/>
                    <a:ea typeface="+mj-ea"/>
                  </a:rPr>
                  <a:t>확률실험의 결과</a:t>
                </a:r>
                <a:r>
                  <a:rPr lang="en-US" altLang="ko-KR" sz="2000" dirty="0">
                    <a:latin typeface="+mj-ea"/>
                    <a:ea typeface="+mj-ea"/>
                  </a:rPr>
                  <a:t>(Event)</a:t>
                </a:r>
                <a:r>
                  <a:rPr lang="ko-KR" altLang="en-US" sz="2000" dirty="0">
                    <a:latin typeface="+mj-ea"/>
                    <a:ea typeface="+mj-ea"/>
                  </a:rPr>
                  <a:t>들을 실수로 변환해주는 함수</a:t>
                </a:r>
                <a:endParaRPr lang="en-US" altLang="ko-KR" sz="20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확률변수는 사건 → 숫자 값으로 매핑하는 함수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4248" y="1484784"/>
                <a:ext cx="10225136" cy="4732834"/>
              </a:xfrm>
              <a:prstGeom prst="rect">
                <a:avLst/>
              </a:prstGeom>
              <a:blipFill>
                <a:blip r:embed="rId3"/>
                <a:stretch>
                  <a:fillRect l="-596" b="-11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47546817-2FA8-9C89-8C56-9362F7FBF6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25273" y="2007697"/>
            <a:ext cx="6120680" cy="45013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2D3BE7-4C25-C85D-3506-419B0757094F}"/>
              </a:ext>
            </a:extLst>
          </p:cNvPr>
          <p:cNvSpPr txBox="1"/>
          <p:nvPr/>
        </p:nvSpPr>
        <p:spPr>
          <a:xfrm>
            <a:off x="693812" y="1052736"/>
            <a:ext cx="11089232" cy="141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500"/>
              </a:spcAft>
              <a:buNone/>
            </a:pPr>
            <a:r>
              <a:rPr lang="en-US" altLang="ko-KR" sz="2000" b="0" i="0" dirty="0">
                <a:solidFill>
                  <a:srgbClr val="202122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variable is a function from all possible outcomes to numerical quantities and it is used for defining probability functions.</a:t>
            </a:r>
            <a:b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45740" y="3400962"/>
                <a:ext cx="439248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40" y="3400962"/>
                <a:ext cx="439248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4222204" y="3144705"/>
                <a:ext cx="2398340" cy="11264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4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400" dirty="0"/>
                  <a:t>   </a:t>
                </a:r>
                <a:endParaRPr lang="ko-KR" altLang="en-US" sz="4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204" y="3144705"/>
                <a:ext cx="2398340" cy="11264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608F7D0-B773-D11F-1994-D0C93D3D8818}"/>
              </a:ext>
            </a:extLst>
          </p:cNvPr>
          <p:cNvSpPr txBox="1"/>
          <p:nvPr/>
        </p:nvSpPr>
        <p:spPr>
          <a:xfrm>
            <a:off x="463614" y="1383666"/>
            <a:ext cx="9303206" cy="49449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500"/>
              </a:spcAft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에이스 포커와 로열 스트레이트 플러시 중에서 어느 것의 발생확률이 더 높은가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2E37D284-95E6-99C2-9F6F-D7E1D32977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79F4675-C598-E22C-0ADD-968BDBF9E3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48" y="2254450"/>
            <a:ext cx="2107146" cy="160659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994939-B9DA-EE07-6F21-48DD3B489C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04871" y="4357795"/>
            <a:ext cx="2057687" cy="17909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1AF42AA-30B7-7FCA-DE7B-4D819B567A40}"/>
              </a:ext>
            </a:extLst>
          </p:cNvPr>
          <p:cNvSpPr txBox="1"/>
          <p:nvPr/>
        </p:nvSpPr>
        <p:spPr>
          <a:xfrm>
            <a:off x="9425694" y="2480201"/>
            <a:ext cx="23573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에이스 포커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(Four of a Kind - Aces)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D0D5AC-E76B-0B6F-4CD4-628F6CA2A116}"/>
              </a:ext>
            </a:extLst>
          </p:cNvPr>
          <p:cNvSpPr txBox="1"/>
          <p:nvPr/>
        </p:nvSpPr>
        <p:spPr>
          <a:xfrm>
            <a:off x="9437628" y="4360678"/>
            <a:ext cx="23983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로열 스트레이트 플러시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(Royal Straight Flush)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49FFA72-CDE0-1042-0553-40E2E4C25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B6AEA99-33A7-D646-75E2-8F12BBB0419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5002338"/>
                  </p:ext>
                </p:extLst>
              </p:nvPr>
            </p:nvGraphicFramePr>
            <p:xfrm>
              <a:off x="981844" y="2636913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</a:t>
                          </a:r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빈도</a:t>
                          </a:r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=28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kern="12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확률 </a:t>
                          </a:r>
                          <a:endParaRPr lang="en-US" altLang="ko-KR" sz="1800" b="1" kern="12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1800" b="1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𝑿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5002338"/>
                  </p:ext>
                </p:extLst>
              </p:nvPr>
            </p:nvGraphicFramePr>
            <p:xfrm>
              <a:off x="981844" y="2636913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5645" r="-369399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05645" r="-309697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05645" r="-18627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05645" r="-10151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05645" r="-1515" b="-1298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38365" r="-369399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38365" r="-309697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38365" r="-18627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38365" r="-10151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38365" r="-1515" b="-125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6173628-CC13-B114-9DA6-28C51EA63682}"/>
              </a:ext>
            </a:extLst>
          </p:cNvPr>
          <p:cNvSpPr txBox="1"/>
          <p:nvPr/>
        </p:nvSpPr>
        <p:spPr>
          <a:xfrm>
            <a:off x="784448" y="1484784"/>
            <a:ext cx="10926588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동전 던지기 실험에서 나온 앞면과 뒷면이 나온 순서의 쌍을 확률변수로 설정하고 확률을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확률변수의 확률이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¼(0.25)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아닌 이유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69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동전의 앞과 뒤면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주사위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카드의 종류 등은 수자가 양의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셀 수 있으면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 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(Discrete)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등은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형으로 연속되어 관측하지 못하면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	      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3068960"/>
            <a:ext cx="6108314" cy="3141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504A3-11C6-A4B6-FEB7-9B521201F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A3193A-5C37-1295-0D77-79B1BC12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A5E54ED-270C-EBD6-7186-358A63F3796F}"/>
              </a:ext>
            </a:extLst>
          </p:cNvPr>
          <p:cNvSpPr/>
          <p:nvPr/>
        </p:nvSpPr>
        <p:spPr>
          <a:xfrm>
            <a:off x="765820" y="281951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Wave Particle Duality Explained</a:t>
            </a:r>
            <a:endParaRPr lang="en-US" altLang="ko-KR" sz="2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343D174-FA76-A565-AE83-817FFA5171E8}"/>
              </a:ext>
            </a:extLst>
          </p:cNvPr>
          <p:cNvGrpSpPr/>
          <p:nvPr/>
        </p:nvGrpSpPr>
        <p:grpSpPr>
          <a:xfrm>
            <a:off x="3461256" y="836712"/>
            <a:ext cx="4762255" cy="2951030"/>
            <a:chOff x="2368021" y="2035369"/>
            <a:chExt cx="4568717" cy="224300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C012A9E-82CB-2131-A251-48868C8EF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6200000">
              <a:off x="4867706" y="2209340"/>
              <a:ext cx="2243002" cy="1895062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00FED4F-7CA4-E1E2-4EE5-8A370BABC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68021" y="2035369"/>
              <a:ext cx="2683596" cy="2241355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13A2659-57A1-160B-7F71-392DA19F874D}"/>
              </a:ext>
            </a:extLst>
          </p:cNvPr>
          <p:cNvSpPr txBox="1"/>
          <p:nvPr/>
        </p:nvSpPr>
        <p:spPr>
          <a:xfrm>
            <a:off x="8402331" y="938589"/>
            <a:ext cx="25166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Double Slit Experiment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BBCB4992-A854-50D2-0597-925AFA91D501}"/>
              </a:ext>
            </a:extLst>
          </p:cNvPr>
          <p:cNvGrpSpPr/>
          <p:nvPr/>
        </p:nvGrpSpPr>
        <p:grpSpPr>
          <a:xfrm>
            <a:off x="3456989" y="3694559"/>
            <a:ext cx="4763086" cy="3019425"/>
            <a:chOff x="2374321" y="4472205"/>
            <a:chExt cx="4562417" cy="224465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85251753-1FC5-E322-6D64-8C0D9885B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74321" y="4472205"/>
              <a:ext cx="2721554" cy="2244509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1A9BBBF0-7385-7534-391D-655A4EB6B2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6200000">
              <a:off x="4867706" y="4647824"/>
              <a:ext cx="2243002" cy="1895062"/>
            </a:xfrm>
            <a:prstGeom prst="rect">
              <a:avLst/>
            </a:prstGeom>
          </p:spPr>
        </p:pic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A36015E5-2211-C3C8-0AC6-9F0E846C9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7707911" y="2909786"/>
            <a:ext cx="3965901" cy="203960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A3D0142-B2BB-A8FB-44D8-614DF08C3313}"/>
              </a:ext>
            </a:extLst>
          </p:cNvPr>
          <p:cNvSpPr txBox="1"/>
          <p:nvPr/>
        </p:nvSpPr>
        <p:spPr>
          <a:xfrm>
            <a:off x="795225" y="1484784"/>
            <a:ext cx="11277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Laser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17A8BE-7028-9BD7-1E05-B77A85CFA83B}"/>
              </a:ext>
            </a:extLst>
          </p:cNvPr>
          <p:cNvSpPr txBox="1"/>
          <p:nvPr/>
        </p:nvSpPr>
        <p:spPr>
          <a:xfrm>
            <a:off x="795225" y="4036830"/>
            <a:ext cx="18878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Electron gun</a:t>
            </a:r>
            <a:endParaRPr lang="en-US" altLang="ko-KR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098" name="Picture 2" descr="schoolphysics ::Welcome::">
            <a:extLst>
              <a:ext uri="{FF2B5EF4-FFF2-40B4-BE49-F238E27FC236}">
                <a16:creationId xmlns:a16="http://schemas.microsoft.com/office/drawing/2014/main" id="{970AF06D-1B9B-E5E8-B7EF-AA9A644CD2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069" y="4591971"/>
            <a:ext cx="2564914" cy="72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우주와 은하수 별 복고풍 스타일의 3d 그림에서 광속 줌 여행. 우주와 은하수 스타 복고풍 스타일의 3d 그림에서 광속 줌 여행.">
            <a:extLst>
              <a:ext uri="{FF2B5EF4-FFF2-40B4-BE49-F238E27FC236}">
                <a16:creationId xmlns:a16="http://schemas.microsoft.com/office/drawing/2014/main" id="{CBBB60F5-979B-B075-0424-7877AE3AA2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883" y="1574600"/>
            <a:ext cx="823019" cy="1438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그래픽 22" descr="눈 단색으로 채워진">
            <a:extLst>
              <a:ext uri="{FF2B5EF4-FFF2-40B4-BE49-F238E27FC236}">
                <a16:creationId xmlns:a16="http://schemas.microsoft.com/office/drawing/2014/main" id="{5C08BA10-46C8-D726-64FC-E00593A699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723628" y="510688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414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0A1BE-5319-9B17-AC27-C21C5490B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05A11E-C51B-54E0-6AE8-D2470373F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757F0F-DCD9-2DCB-6113-CB0A8074D20D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EC16F32-1436-4987-9DBA-9A41EB3CF136}"/>
              </a:ext>
            </a:extLst>
          </p:cNvPr>
          <p:cNvSpPr/>
          <p:nvPr/>
        </p:nvSpPr>
        <p:spPr>
          <a:xfrm>
            <a:off x="765820" y="1480069"/>
            <a:ext cx="10813564" cy="5749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당신의 정확한 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 실수형 변수는 알 수가 없다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C9085-109A-009A-A979-332B07FAB49A}"/>
              </a:ext>
            </a:extLst>
          </p:cNvPr>
          <p:cNvSpPr txBox="1"/>
          <p:nvPr/>
        </p:nvSpPr>
        <p:spPr>
          <a:xfrm>
            <a:off x="1845940" y="2492896"/>
            <a:ext cx="12385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0.1</a:t>
            </a:r>
          </a:p>
          <a:p>
            <a:r>
              <a:rPr lang="en-US" altLang="ko-KR" sz="2400" dirty="0"/>
              <a:t>y = 0.2</a:t>
            </a:r>
          </a:p>
          <a:p>
            <a:r>
              <a:rPr lang="en-US" altLang="ko-KR" sz="2400" dirty="0"/>
              <a:t>Z</a:t>
            </a:r>
            <a:r>
              <a:rPr lang="ko-KR" altLang="en-US" sz="2400" dirty="0"/>
              <a:t> </a:t>
            </a:r>
            <a:r>
              <a:rPr lang="en-US" altLang="ko-KR" sz="2400" dirty="0"/>
              <a:t>=</a:t>
            </a:r>
            <a:r>
              <a:rPr lang="ko-KR" altLang="en-US" sz="2400" dirty="0"/>
              <a:t> </a:t>
            </a:r>
            <a:r>
              <a:rPr lang="en-US" altLang="ko-KR" sz="2400" dirty="0"/>
              <a:t>X</a:t>
            </a:r>
            <a:r>
              <a:rPr lang="ko-KR" altLang="en-US" sz="2400" dirty="0"/>
              <a:t> </a:t>
            </a:r>
            <a:r>
              <a:rPr lang="en-US" altLang="ko-KR" sz="2400" dirty="0"/>
              <a:t>+</a:t>
            </a:r>
            <a:r>
              <a:rPr lang="ko-KR" altLang="en-US" sz="2400" dirty="0"/>
              <a:t> </a:t>
            </a:r>
            <a:r>
              <a:rPr lang="en-US" altLang="ko-KR" sz="2400" dirty="0"/>
              <a:t>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57E4D-8854-5028-D6CD-1F0257DFA71A}"/>
              </a:ext>
            </a:extLst>
          </p:cNvPr>
          <p:cNvSpPr txBox="1"/>
          <p:nvPr/>
        </p:nvSpPr>
        <p:spPr>
          <a:xfrm>
            <a:off x="4822948" y="2564904"/>
            <a:ext cx="6096000" cy="73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print(0.1+0.2)</a:t>
            </a:r>
          </a:p>
          <a:p>
            <a:pPr>
              <a:lnSpc>
                <a:spcPts val="1575"/>
              </a:lnSpc>
              <a:buNone/>
            </a:pPr>
            <a:endParaRPr lang="en-US" altLang="ko-KR" sz="2400" dirty="0"/>
          </a:p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# 0.30000000000000004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AD78-BD84-025B-68E3-977E3020D467}"/>
              </a:ext>
            </a:extLst>
          </p:cNvPr>
          <p:cNvSpPr txBox="1"/>
          <p:nvPr/>
        </p:nvSpPr>
        <p:spPr>
          <a:xfrm>
            <a:off x="5492575" y="341007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소수점 아래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번째 자리에서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튀어나온 것을 볼 수 있습니다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자리 근처에서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비트가 표현할 수 있는 한계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정밀도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도달했음을 의미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10진수 0.3을 2진수로 변환하면 0.01001100110011...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처럼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무한 순환 소수가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되어서</a:t>
            </a:r>
            <a:endParaRPr lang="ko-KR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39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5940" y="4553863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1752" y="1846455"/>
            <a:ext cx="6048672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실수형 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(height)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존재하고 관측할 수 있는가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No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분에 버스를 탈 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No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C8450-EB6E-751C-CE3F-07709D4FB308}"/>
              </a:ext>
            </a:extLst>
          </p:cNvPr>
          <p:cNvSpPr txBox="1"/>
          <p:nvPr/>
        </p:nvSpPr>
        <p:spPr>
          <a:xfrm>
            <a:off x="837828" y="1844824"/>
            <a:ext cx="4536504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주사위를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던져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 ~ 6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까지 나오는 빈도를 히스토그램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4868BD-FAB2-A805-D17E-154EA0FDECCE}"/>
              </a:ext>
            </a:extLst>
          </p:cNvPr>
          <p:cNvSpPr txBox="1"/>
          <p:nvPr/>
        </p:nvSpPr>
        <p:spPr>
          <a:xfrm>
            <a:off x="8680520" y="5462005"/>
            <a:ext cx="13182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175.231…………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12" name="그래픽 11" descr="물음표 단색으로 채워진">
            <a:extLst>
              <a:ext uri="{FF2B5EF4-FFF2-40B4-BE49-F238E27FC236}">
                <a16:creationId xmlns:a16="http://schemas.microsoft.com/office/drawing/2014/main" id="{A9341DF1-1021-D53B-A9F0-6C5CADBED2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98668" y="5229200"/>
            <a:ext cx="465610" cy="465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주사위의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합을 확률변수로 가정하여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확률질량함수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Mass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9796" y="1268760"/>
            <a:ext cx="3173120" cy="4202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sns.load_dataset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(“titanic“)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변수로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Histogram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바탕으로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PMF, 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시각화하고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KDE=True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를 사용하여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이산형 변수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fitting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왜 확률이 아닌가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그렇다면 확률은 무엇인가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확률은 특정 구간의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적분이다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92C1C3-7BD6-6C78-DD43-BC315F7BB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6180" y="1268759"/>
            <a:ext cx="7200800" cy="5106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034463F8-063B-AE3C-F94A-CE78D30AC6AF}"/>
              </a:ext>
            </a:extLst>
          </p:cNvPr>
          <p:cNvCxnSpPr/>
          <p:nvPr/>
        </p:nvCxnSpPr>
        <p:spPr>
          <a:xfrm flipV="1">
            <a:off x="618383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7C08847-DED1-FA39-1682-8BE3AAACBB0B}"/>
              </a:ext>
            </a:extLst>
          </p:cNvPr>
          <p:cNvCxnSpPr/>
          <p:nvPr/>
        </p:nvCxnSpPr>
        <p:spPr>
          <a:xfrm flipV="1">
            <a:off x="695850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/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/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6654FE7-FA3E-D7CA-1AA9-57AEAE41A356}"/>
              </a:ext>
            </a:extLst>
          </p:cNvPr>
          <p:cNvCxnSpPr/>
          <p:nvPr/>
        </p:nvCxnSpPr>
        <p:spPr>
          <a:xfrm flipV="1">
            <a:off x="6166420" y="1988840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783FDFE-90EB-3F74-8A5F-57245085A571}"/>
              </a:ext>
            </a:extLst>
          </p:cNvPr>
          <p:cNvCxnSpPr/>
          <p:nvPr/>
        </p:nvCxnSpPr>
        <p:spPr>
          <a:xfrm>
            <a:off x="6183838" y="4869160"/>
            <a:ext cx="77467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달라짐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연속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데이터로 가정하여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무한한 실수에 대해 확률밀도를 예측함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히스토그램과</a:t>
            </a:r>
            <a:r>
              <a:rPr lang="en-US" altLang="ko-KR" sz="3200" b="1" dirty="0"/>
              <a:t> KDE</a:t>
            </a:r>
            <a:endParaRPr lang="ko-KR" altLang="en-US" sz="3200" b="1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9D2C2A6F-AA51-181B-2EE7-B31827536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286185"/>
            <a:ext cx="11321047" cy="375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1956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400168"/>
              </p:ext>
            </p:extLst>
          </p:nvPr>
        </p:nvGraphicFramePr>
        <p:xfrm>
          <a:off x="1557908" y="1916832"/>
          <a:ext cx="10153126" cy="1800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3352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450447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36986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5194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주사위 수자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4696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확률변수 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</a:t>
                      </a:r>
                      <a:r>
                        <a:rPr lang="en-US" altLang="ko-KR" sz="1600" b="0" baseline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 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8111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(Probability)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=1)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=2)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=3)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=4)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=5)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=6)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339" y="4091514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4091514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34" y="2135306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406" y="3028888"/>
            <a:ext cx="5020376" cy="70494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255BAE0-71B0-460B-6D36-535DEC231007}"/>
              </a:ext>
            </a:extLst>
          </p:cNvPr>
          <p:cNvGrpSpPr/>
          <p:nvPr/>
        </p:nvGrpSpPr>
        <p:grpSpPr>
          <a:xfrm>
            <a:off x="827586" y="1212123"/>
            <a:ext cx="5744136" cy="5144228"/>
            <a:chOff x="795052" y="1916832"/>
            <a:chExt cx="4438836" cy="3816424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5052" y="2204864"/>
              <a:ext cx="4438836" cy="3024336"/>
            </a:xfrm>
            <a:prstGeom prst="rect">
              <a:avLst/>
            </a:prstGeom>
          </p:spPr>
        </p:pic>
        <p:cxnSp>
          <p:nvCxnSpPr>
            <p:cNvPr id="12" name="직선 연결선 11"/>
            <p:cNvCxnSpPr/>
            <p:nvPr/>
          </p:nvCxnSpPr>
          <p:spPr>
            <a:xfrm>
              <a:off x="2710428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3790156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>
              <a:off x="2735595" y="5517232"/>
              <a:ext cx="100811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직사각형 18"/>
          <p:cNvSpPr/>
          <p:nvPr/>
        </p:nvSpPr>
        <p:spPr>
          <a:xfrm>
            <a:off x="837828" y="5939988"/>
            <a:ext cx="5872120" cy="338554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185)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135) = 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키가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135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이하인 확률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600" dirty="0">
              <a:solidFill>
                <a:srgbClr val="40404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5DB406-4AFF-BE7F-8019-A998F12969B0}"/>
              </a:ext>
            </a:extLst>
          </p:cNvPr>
          <p:cNvSpPr txBox="1"/>
          <p:nvPr/>
        </p:nvSpPr>
        <p:spPr>
          <a:xfrm>
            <a:off x="7081460" y="4288739"/>
            <a:ext cx="5094313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y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축의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Density(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확률의 의미인가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확률과 밀도는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다른가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밀도를 다 더하면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642D99-FBF5-AEFC-193D-20CA3131F1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788832"/>
              </p:ext>
            </p:extLst>
          </p:nvPr>
        </p:nvGraphicFramePr>
        <p:xfrm>
          <a:off x="1794470" y="3212976"/>
          <a:ext cx="8599884" cy="2743664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2263180">
                  <a:extLst>
                    <a:ext uri="{9D8B030D-6E8A-4147-A177-3AD203B41FA5}">
                      <a16:colId xmlns:a16="http://schemas.microsoft.com/office/drawing/2014/main" val="2796709864"/>
                    </a:ext>
                  </a:extLst>
                </a:gridCol>
                <a:gridCol w="6336704">
                  <a:extLst>
                    <a:ext uri="{9D8B030D-6E8A-4147-A177-3AD203B41FA5}">
                      <a16:colId xmlns:a16="http://schemas.microsoft.com/office/drawing/2014/main" val="2134139185"/>
                    </a:ext>
                  </a:extLst>
                </a:gridCol>
              </a:tblGrid>
              <a:tr h="25864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확률분포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573821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이산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Discrete)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베르누이분포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이항분포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음이항분포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Poisson(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포아송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endParaRPr lang="ko-KR" alt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617388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Continuous)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균일분포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정규분포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카이제곱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t-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F-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 포함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),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베타분포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감마분포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018236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860F45A2-DF52-7961-5A68-876CC4DB03F7}"/>
              </a:ext>
            </a:extLst>
          </p:cNvPr>
          <p:cNvSpPr/>
          <p:nvPr/>
        </p:nvSpPr>
        <p:spPr>
          <a:xfrm>
            <a:off x="765819" y="1345637"/>
            <a:ext cx="10945217" cy="15787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확률분포를 안다는 것은 표본 그 자체를 넘어 표본을 통해 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이해하는 열쇠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표본의 데이터가 어떤 </a:t>
            </a:r>
            <a:r>
              <a:rPr lang="ko-KR" altLang="en-US" sz="1700" dirty="0" err="1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모수</a:t>
            </a:r>
            <a:r>
              <a:rPr lang="en-US" altLang="ko-KR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(Parameter), </a:t>
            </a: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예를 들어 정규분포라면 평균과 표준편차에 의해 정확히 식별 가능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확률분포를 알면 그 데이터를 통해 미래를 예측하거나 의사결정이 가능</a:t>
            </a:r>
            <a:endParaRPr lang="en-US" altLang="ko-KR" sz="1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6598468" y="980728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388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328592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D29AEC-24CA-8B11-B307-9A15642C8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485793" y="2065088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96" y="2492896"/>
            <a:ext cx="4248472" cy="37195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11508916" cy="69705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실험을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1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동전던지기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실험으로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설명하고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(10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던지기 실험을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시각화하는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코드를 제시하라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동전을 한꺼번에 던지기 실험을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수행하고 그 합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(H:1, T:-1)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차감하는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실험과 동일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6340" y="2492896"/>
            <a:ext cx="5413592" cy="3660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F009EE-06A6-8A54-242C-B31D7E2425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확인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 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542" y="1409428"/>
            <a:ext cx="7136311" cy="4940973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4853" y="1403478"/>
            <a:ext cx="1287365" cy="1602133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118748" y="3197708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08FA58-E0E6-EE17-B9B0-C4CB26295C71}"/>
              </a:ext>
            </a:extLst>
          </p:cNvPr>
          <p:cNvSpPr txBox="1"/>
          <p:nvPr/>
        </p:nvSpPr>
        <p:spPr>
          <a:xfrm>
            <a:off x="377313" y="455276"/>
            <a:ext cx="11233248" cy="4431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정규분포와 표준정규분포를 통해 확률을 알 수가 있음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9FF561-0C8D-72AB-7311-E059B5B9E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51152" y="1537628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원자료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Orignal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Data)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92378" y="1537628"/>
            <a:ext cx="18099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평균중심화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(Mean Centering)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0345" y="1537628"/>
            <a:ext cx="17520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표준화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(Standardization)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3200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8928992" cy="41402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원자료를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Z-scores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변경하는 이유와 그 의미는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토론하자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9BC2EC6-7AF8-33B1-DA19-1F4294107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700808"/>
            <a:ext cx="9939333" cy="3927050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43B6103-F76B-2993-97AF-547CED2372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0516" y="924551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62D7B-D5A9-7BAB-09D6-4DCA08A3D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6AB87B8-ACF2-AFF1-3536-877FC4D60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9571D8-054F-0D37-CB96-591F35F1616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BA3E3F-F8F2-1985-C326-AC13D02B7964}"/>
              </a:ext>
            </a:extLst>
          </p:cNvPr>
          <p:cNvSpPr txBox="1"/>
          <p:nvPr/>
        </p:nvSpPr>
        <p:spPr>
          <a:xfrm>
            <a:off x="693812" y="1050968"/>
            <a:ext cx="9289032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코드로 검증하고 확인하라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43D74B-0DAB-8202-1483-AA0C8AC50B6F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3219CE-EFFA-23AF-B60B-6B6A6F1C1B09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AF80B28-3E90-86A4-B1C6-1ED933FEE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9708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83FC-77E3-D439-E109-6220E05E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9620C70-4388-784B-E96F-088F1C9A1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B2D1B-762F-E54A-EBFF-F2E3FABCD47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85B150-C037-D6A6-4888-89073D4169DB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D6FCF-BF3F-BCA4-26F5-3C837B16E992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4458EE-171F-61C5-9CAE-90A01D9DCBDF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480631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9FE5-E00F-90F2-863A-30C2C31CC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5193FF2-FCF8-EAFD-C959-493CF87F1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E646F4-ADCD-9A58-74BE-59E448FC66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140F-8572-3129-4401-849CED078916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DBEFC0-576A-77FA-C6FE-5C224F8FB2C8}"/>
              </a:ext>
            </a:extLst>
          </p:cNvPr>
          <p:cNvSpPr txBox="1"/>
          <p:nvPr/>
        </p:nvSpPr>
        <p:spPr>
          <a:xfrm>
            <a:off x="1125860" y="257050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p_bern = 0.5</a:t>
            </a:r>
          </a:p>
          <a:p>
            <a:r>
              <a:rPr lang="de-DE" altLang="ko-KR" dirty="0"/>
              <a:t>data_bern = bernoulli.</a:t>
            </a:r>
            <a:r>
              <a:rPr lang="de-DE" altLang="ko-KR" b="1" dirty="0"/>
              <a:t>rvs</a:t>
            </a:r>
            <a:r>
              <a:rPr lang="de-DE" altLang="ko-KR" dirty="0"/>
              <a:t>(p_bern,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data_bern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438AD-B5A9-D9D2-47E4-A315FD1DD8B4}"/>
              </a:ext>
            </a:extLst>
          </p:cNvPr>
          <p:cNvSpPr txBox="1"/>
          <p:nvPr/>
        </p:nvSpPr>
        <p:spPr>
          <a:xfrm>
            <a:off x="1125860" y="393305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n_bin, p_bin = 10, 0.5</a:t>
            </a:r>
          </a:p>
          <a:p>
            <a:r>
              <a:rPr lang="de-DE" altLang="ko-KR" dirty="0"/>
              <a:t>data_bin = binom.</a:t>
            </a:r>
            <a:r>
              <a:rPr lang="de-DE" altLang="ko-KR" b="1" dirty="0"/>
              <a:t>rvs</a:t>
            </a:r>
            <a:r>
              <a:rPr lang="de-DE" altLang="ko-KR" dirty="0"/>
              <a:t>(n_bin, p_bin,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data_bin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9E67EF-B1EE-6E30-1485-1545A22C2CAB}"/>
              </a:ext>
            </a:extLst>
          </p:cNvPr>
          <p:cNvSpPr txBox="1"/>
          <p:nvPr/>
        </p:nvSpPr>
        <p:spPr>
          <a:xfrm>
            <a:off x="1125860" y="5385990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en-US" altLang="ko-KR" dirty="0"/>
              <a:t>mu, std = 0, 1</a:t>
            </a:r>
          </a:p>
          <a:p>
            <a:r>
              <a:rPr lang="en-US" altLang="ko-KR" dirty="0" err="1"/>
              <a:t>data_norm</a:t>
            </a:r>
            <a:r>
              <a:rPr lang="en-US" altLang="ko-KR" dirty="0"/>
              <a:t> = </a:t>
            </a:r>
            <a:r>
              <a:rPr lang="en-US" altLang="ko-KR" dirty="0" err="1"/>
              <a:t>norm.</a:t>
            </a:r>
            <a:r>
              <a:rPr lang="en-US" altLang="ko-KR" b="1" dirty="0" err="1"/>
              <a:t>rvs</a:t>
            </a:r>
            <a:r>
              <a:rPr lang="en-US" altLang="ko-KR" dirty="0"/>
              <a:t>(mu, std,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data_norm</a:t>
            </a:r>
            <a:endParaRPr lang="en-US" altLang="ko-KR" dirty="0"/>
          </a:p>
        </p:txBody>
      </p:sp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91128739-5290-7A6A-71D0-1DD8A378F51E}"/>
              </a:ext>
            </a:extLst>
          </p:cNvPr>
          <p:cNvSpPr/>
          <p:nvPr/>
        </p:nvSpPr>
        <p:spPr>
          <a:xfrm>
            <a:off x="7750596" y="3356992"/>
            <a:ext cx="1368152" cy="1944216"/>
          </a:xfrm>
          <a:prstGeom prst="rightArrow">
            <a:avLst>
              <a:gd name="adj1" fmla="val 69366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시각화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확인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63B8586-B9BC-4B03-7921-F6CB2DF0B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5909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9383932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왜 서로 다른 분포인데 결과는 같아지는가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이상치가 있어도 평균은 왜 안정적인가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딥러닝과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A/B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테스트와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경우를 바탕으로 다양한 예를 들어 중심극한정리를 적용하여 시각화하고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머신러닝과의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접목점도 시각화 하고 설명하는 보고서를 제출하라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78538E0-23E4-A86D-1292-242EEF100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E22FDCF-DC6C-3F46-ED1B-7A7098390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763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936104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597588D-E806-B02C-F459-1E6EE33CB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4052" y="2480096"/>
            <a:ext cx="6269971" cy="411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25CCB96-6516-8B28-5A7F-87B5B8070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7416824" cy="48212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+mj-ea"/>
                <a:ea typeface="+mj-ea"/>
              </a:rPr>
              <a:t>지구의 나이가 </a:t>
            </a:r>
            <a:r>
              <a:rPr lang="en-US" altLang="ko-KR" sz="2000" dirty="0">
                <a:latin typeface="+mj-ea"/>
                <a:ea typeface="+mj-ea"/>
              </a:rPr>
              <a:t>45</a:t>
            </a:r>
            <a:r>
              <a:rPr lang="ko-KR" altLang="en-US" sz="2000" dirty="0">
                <a:latin typeface="+mj-ea"/>
                <a:ea typeface="+mj-ea"/>
              </a:rPr>
              <a:t>억 </a:t>
            </a:r>
            <a:r>
              <a:rPr lang="en-US" altLang="ko-KR" sz="2000" dirty="0">
                <a:latin typeface="+mj-ea"/>
                <a:ea typeface="+mj-ea"/>
              </a:rPr>
              <a:t>4</a:t>
            </a:r>
            <a:r>
              <a:rPr lang="ko-KR" altLang="en-US" sz="2000" dirty="0">
                <a:latin typeface="+mj-ea"/>
                <a:ea typeface="+mj-ea"/>
              </a:rPr>
              <a:t>천만년이라면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내일 해가 뜰 확률은</a:t>
            </a:r>
            <a:r>
              <a:rPr lang="en-US" altLang="ko-KR" sz="2000" dirty="0">
                <a:latin typeface="+mj-ea"/>
                <a:ea typeface="+mj-ea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170792-96F2-75E9-8112-7A784CED4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2210192"/>
            <a:ext cx="5655120" cy="36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548AE-6F75-4DDA-684C-2BC854639F3E}"/>
              </a:ext>
            </a:extLst>
          </p:cNvPr>
          <p:cNvSpPr txBox="1"/>
          <p:nvPr/>
        </p:nvSpPr>
        <p:spPr>
          <a:xfrm>
            <a:off x="7174532" y="2210193"/>
            <a:ext cx="3240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400" dirty="0"/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3A450EB-4B72-5B57-CA6B-890A22B1A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/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중앙 육각형 격자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(Joint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변수가 동시에 나타나는 빈도이며 색이 진할수록 해당 데이터 포인트가 많이 몰려 있다는 뜻이며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결합 확률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높은 지점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/</a:t>
                </a: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막대그래프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(Marginal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변수 하나의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주변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 막대는 부리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막대는 날개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blipFill>
                <a:blip r:embed="rId3"/>
                <a:stretch>
                  <a:fillRect l="-418" b="-8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29145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hexbin_with</a:t>
            </a:r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 distribution.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/>
              <p:nvPr/>
            </p:nvSpPr>
            <p:spPr>
              <a:xfrm>
                <a:off x="3214092" y="5229200"/>
                <a:ext cx="10275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4092" y="5229200"/>
                <a:ext cx="1027593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/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blipFill>
                <a:blip r:embed="rId7"/>
                <a:stretch>
                  <a:fillRect r="-8491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/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DCA833E-B55B-A6F6-4B65-00A54D9DAF3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1/2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이등변 삼각형 16">
            <a:extLst>
              <a:ext uri="{FF2B5EF4-FFF2-40B4-BE49-F238E27FC236}">
                <a16:creationId xmlns:a16="http://schemas.microsoft.com/office/drawing/2014/main" id="{36E39909-7DFD-09F1-3547-A6E5059E381B}"/>
              </a:ext>
            </a:extLst>
          </p:cNvPr>
          <p:cNvSpPr/>
          <p:nvPr/>
        </p:nvSpPr>
        <p:spPr>
          <a:xfrm>
            <a:off x="1413892" y="1617684"/>
            <a:ext cx="9361040" cy="947220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2/2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날개의 길이에 대한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조건부확률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644C37A-B7C1-A4D2-7E71-288B4BC39AB7}"/>
              </a:ext>
            </a:extLst>
          </p:cNvPr>
          <p:cNvGrpSpPr/>
          <p:nvPr/>
        </p:nvGrpSpPr>
        <p:grpSpPr>
          <a:xfrm>
            <a:off x="1413892" y="2564904"/>
            <a:ext cx="9361040" cy="3829876"/>
            <a:chOff x="755931" y="2060848"/>
            <a:chExt cx="10110835" cy="4136639"/>
          </a:xfrm>
        </p:grpSpPr>
        <p:pic>
          <p:nvPicPr>
            <p:cNvPr id="6146" name="Picture 2">
              <a:extLst>
                <a:ext uri="{FF2B5EF4-FFF2-40B4-BE49-F238E27FC236}">
                  <a16:creationId xmlns:a16="http://schemas.microsoft.com/office/drawing/2014/main" id="{C2A59E69-1EBF-6473-FA56-31829809BB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5931" y="2060848"/>
              <a:ext cx="10110835" cy="41366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2532C33-E144-4DBB-494D-B9C3FFECC614}"/>
                    </a:ext>
                  </a:extLst>
                </p:cNvPr>
                <p:cNvSpPr txBox="1"/>
                <p:nvPr/>
              </p:nvSpPr>
              <p:spPr>
                <a:xfrm>
                  <a:off x="4111995" y="2530867"/>
                  <a:ext cx="2088232" cy="3989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𝑷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𝑿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|(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𝒀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&lt;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𝟒𝟎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)</m:t>
                        </m:r>
                      </m:oMath>
                    </m:oMathPara>
                  </a14:m>
                  <a:endParaRPr lang="ko-KR" altLang="en-US" b="1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2532C33-E144-4DBB-494D-B9C3FFECC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1995" y="2530867"/>
                  <a:ext cx="2088232" cy="398915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A0FC88-D65A-22FF-DF5B-54B988AEB752}"/>
                    </a:ext>
                  </a:extLst>
                </p:cNvPr>
                <p:cNvSpPr txBox="1"/>
                <p:nvPr/>
              </p:nvSpPr>
              <p:spPr>
                <a:xfrm>
                  <a:off x="6034588" y="2516286"/>
                  <a:ext cx="2088232" cy="3989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𝑷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𝑿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|(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𝒀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&gt;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𝟒𝟎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)</m:t>
                        </m:r>
                      </m:oMath>
                    </m:oMathPara>
                  </a14:m>
                  <a:endParaRPr lang="ko-KR" alt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A0FC88-D65A-22FF-DF5B-54B988AEB7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4588" y="2516286"/>
                  <a:ext cx="2088232" cy="398915"/>
                </a:xfrm>
                <a:prstGeom prst="rect">
                  <a:avLst/>
                </a:prstGeom>
                <a:blipFill>
                  <a:blip r:embed="rId5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B27ED658-D512-B508-1758-40CC52285B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8837" y="1556792"/>
            <a:ext cx="3743847" cy="695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F7F4F-4C66-5C79-57DA-B16A4F68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6427ED6-85A8-D777-FF95-6E6E6E0B2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6048" y="2877923"/>
            <a:ext cx="6819001" cy="3575413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D0E083-68EA-01E8-7806-63208565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309F8D-EFC5-817A-F173-BD0C07583ADB}"/>
              </a:ext>
            </a:extLst>
          </p:cNvPr>
          <p:cNvSpPr txBox="1"/>
          <p:nvPr/>
        </p:nvSpPr>
        <p:spPr>
          <a:xfrm>
            <a:off x="549796" y="986059"/>
            <a:ext cx="11233248" cy="15681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매일 아침 출근시간에 지하철을 타는 남자가 금융 및 보험업에 종사할 확률을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통계청 자료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(KOSIS)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따르면 전체 종업원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(6,246,489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금융 및 보험업에 종사자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(66,014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사전확률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넥타이 착용율은 금융업과 다른 업종 종사자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각각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90%, 15%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라는 새로운 사실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Evidence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새로운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사실에 근거하여 이 남자의 금융 및 보험업에 종사할 사후확률은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F36591-4C41-D85C-1F64-DE57588364E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1F460A-5DE2-6573-C2AD-53241F59FD97}"/>
              </a:ext>
            </a:extLst>
          </p:cNvPr>
          <p:cNvSpPr txBox="1"/>
          <p:nvPr/>
        </p:nvSpPr>
        <p:spPr>
          <a:xfrm>
            <a:off x="2266048" y="4221088"/>
            <a:ext cx="17043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산업별 종사자 수</a:t>
            </a:r>
            <a:endParaRPr lang="ko-KR" altLang="en-US" sz="1600" b="1" dirty="0"/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9B17EF7-974C-F17F-A3E1-3C07DADAC5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614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87DCD-302D-9CE6-CF1A-29A1F798B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239A17B-2AF0-818F-A73D-451C46F56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66AA4D-FC6B-90BE-73F7-96601C63D0D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C163C18-E4BD-3852-BAA6-70931793C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065" y="1412776"/>
            <a:ext cx="5402622" cy="192603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E7BB718-61FE-04FE-B2D1-43C39954AB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361246A-9F8A-8504-DCC6-CDFC9CF6A864}"/>
              </a:ext>
            </a:extLst>
          </p:cNvPr>
          <p:cNvSpPr/>
          <p:nvPr/>
        </p:nvSpPr>
        <p:spPr>
          <a:xfrm>
            <a:off x="1125860" y="1418735"/>
            <a:ext cx="5184576" cy="45775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CF1791C-BFD0-81F6-0238-53A019D300B3}"/>
              </a:ext>
            </a:extLst>
          </p:cNvPr>
          <p:cNvSpPr/>
          <p:nvPr/>
        </p:nvSpPr>
        <p:spPr>
          <a:xfrm>
            <a:off x="1125860" y="5561680"/>
            <a:ext cx="5184576" cy="4596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8FCDD9-2C91-94CC-01AB-D5583E086587}"/>
              </a:ext>
            </a:extLst>
          </p:cNvPr>
          <p:cNvSpPr txBox="1"/>
          <p:nvPr/>
        </p:nvSpPr>
        <p:spPr>
          <a:xfrm>
            <a:off x="4208748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6,246,489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BCEFF2-63C9-7F4C-22C0-5CA67338FE38}"/>
              </a:ext>
            </a:extLst>
          </p:cNvPr>
          <p:cNvSpPr txBox="1"/>
          <p:nvPr/>
        </p:nvSpPr>
        <p:spPr>
          <a:xfrm>
            <a:off x="4582244" y="557994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66,014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FBB397-009A-3A7A-BD3B-7CFE19F66409}"/>
              </a:ext>
            </a:extLst>
          </p:cNvPr>
          <p:cNvSpPr/>
          <p:nvPr/>
        </p:nvSpPr>
        <p:spPr>
          <a:xfrm>
            <a:off x="1125860" y="1412776"/>
            <a:ext cx="1215752" cy="460851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1889CA-535E-080C-37F6-7AF47C310362}"/>
              </a:ext>
            </a:extLst>
          </p:cNvPr>
          <p:cNvSpPr txBox="1"/>
          <p:nvPr/>
        </p:nvSpPr>
        <p:spPr>
          <a:xfrm>
            <a:off x="1197868" y="314096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986,484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005E66E-3339-AA81-D7A5-041A65FD4649}"/>
              </a:ext>
            </a:extLst>
          </p:cNvPr>
          <p:cNvSpPr/>
          <p:nvPr/>
        </p:nvSpPr>
        <p:spPr>
          <a:xfrm>
            <a:off x="1125860" y="5561680"/>
            <a:ext cx="1215752" cy="4596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CA83E4-6418-DD70-4D5D-FA4A6F0B3052}"/>
              </a:ext>
            </a:extLst>
          </p:cNvPr>
          <p:cNvSpPr txBox="1"/>
          <p:nvPr/>
        </p:nvSpPr>
        <p:spPr>
          <a:xfrm>
            <a:off x="1413892" y="5579948"/>
            <a:ext cx="86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59,413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2807C-6FA0-58BD-494F-96F36B7A968B}"/>
              </a:ext>
            </a:extLst>
          </p:cNvPr>
          <p:cNvSpPr txBox="1"/>
          <p:nvPr/>
        </p:nvSpPr>
        <p:spPr>
          <a:xfrm>
            <a:off x="2355957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사업자수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79D222-0C3A-B0EB-4FB1-D22EACF4B9ED}"/>
              </a:ext>
            </a:extLst>
          </p:cNvPr>
          <p:cNvSpPr txBox="1"/>
          <p:nvPr/>
        </p:nvSpPr>
        <p:spPr>
          <a:xfrm>
            <a:off x="2422004" y="5616096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금융업</a:t>
            </a:r>
          </a:p>
        </p:txBody>
      </p:sp>
    </p:spTree>
    <p:extLst>
      <p:ext uri="{BB962C8B-B14F-4D97-AF65-F5344CB8AC3E}">
        <p14:creationId xmlns:p14="http://schemas.microsoft.com/office/powerpoint/2010/main" val="19463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0" grpId="0"/>
      <p:bldP spid="12" grpId="0"/>
      <p:bldP spid="13" grpId="0" animBg="1"/>
      <p:bldP spid="14" grpId="0"/>
      <p:bldP spid="15" grpId="0" animBg="1"/>
      <p:bldP spid="16" grpId="0"/>
      <p:bldP spid="17" grpId="0"/>
      <p:bldP spid="1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621804" y="1988840"/>
            <a:ext cx="11089232" cy="21162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사전지식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도시의 택시 중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녹색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15%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청색입니다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밤에 뺑소니 사고가 났고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목격자가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청색 택시였다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증언했는데 목격자의 판별 정확도는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80%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질문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사고를 낸 택시가 청색일 확률은 얼마일까요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3067AFA-8755-5368-A0AA-D8E719585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4824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1922A-B4E2-9B3B-8884-35141823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E88A9C1-D6C7-C3A5-77FA-2F21FA84E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17A3CA-C4A8-3A86-8700-9BE35E13CAA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CBDCFB8-77BB-C6AF-4736-FC07CFB1C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FCB38759-9120-8BCC-0CA6-3BC87B649AB6}"/>
              </a:ext>
            </a:extLst>
          </p:cNvPr>
          <p:cNvSpPr/>
          <p:nvPr/>
        </p:nvSpPr>
        <p:spPr>
          <a:xfrm>
            <a:off x="837828" y="3429000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8BA668F-32EB-AFEB-A7FE-F40B7612C911}"/>
              </a:ext>
            </a:extLst>
          </p:cNvPr>
          <p:cNvSpPr/>
          <p:nvPr/>
        </p:nvSpPr>
        <p:spPr>
          <a:xfrm>
            <a:off x="3572729" y="2204864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6E9AFB1-718B-D08B-9DD6-9086D7049B63}"/>
              </a:ext>
            </a:extLst>
          </p:cNvPr>
          <p:cNvSpPr/>
          <p:nvPr/>
        </p:nvSpPr>
        <p:spPr>
          <a:xfrm>
            <a:off x="3572729" y="4797152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FC4D389C-AA8A-BA3F-2F93-8D0F092A10A0}"/>
              </a:ext>
            </a:extLst>
          </p:cNvPr>
          <p:cNvSpPr/>
          <p:nvPr/>
        </p:nvSpPr>
        <p:spPr>
          <a:xfrm>
            <a:off x="6454452" y="2787459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76705E5-551A-E4DB-F803-A54E529A4A75}"/>
              </a:ext>
            </a:extLst>
          </p:cNvPr>
          <p:cNvSpPr/>
          <p:nvPr/>
        </p:nvSpPr>
        <p:spPr>
          <a:xfrm>
            <a:off x="6454452" y="1494581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1B1FD1A-BCC3-C270-BBAF-7C1C525CB989}"/>
              </a:ext>
            </a:extLst>
          </p:cNvPr>
          <p:cNvSpPr/>
          <p:nvPr/>
        </p:nvSpPr>
        <p:spPr>
          <a:xfrm>
            <a:off x="6454452" y="4080337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7265CD71-404D-B192-252B-34C63770A173}"/>
              </a:ext>
            </a:extLst>
          </p:cNvPr>
          <p:cNvSpPr/>
          <p:nvPr/>
        </p:nvSpPr>
        <p:spPr>
          <a:xfrm>
            <a:off x="6454452" y="5373216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A0BD02A-D9C9-6A66-C537-95FB5CA6DBE7}"/>
              </a:ext>
            </a:extLst>
          </p:cNvPr>
          <p:cNvCxnSpPr>
            <a:cxnSpLocks/>
            <a:stCxn id="7" idx="6"/>
            <a:endCxn id="8" idx="3"/>
          </p:cNvCxnSpPr>
          <p:nvPr/>
        </p:nvCxnSpPr>
        <p:spPr>
          <a:xfrm flipV="1">
            <a:off x="1269876" y="2573640"/>
            <a:ext cx="2366125" cy="10713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F70A6B3F-7B39-A78F-8983-B1F272AFD149}"/>
              </a:ext>
            </a:extLst>
          </p:cNvPr>
          <p:cNvCxnSpPr>
            <a:cxnSpLocks/>
            <a:stCxn id="7" idx="6"/>
            <a:endCxn id="10" idx="1"/>
          </p:cNvCxnSpPr>
          <p:nvPr/>
        </p:nvCxnSpPr>
        <p:spPr>
          <a:xfrm>
            <a:off x="1269876" y="3645024"/>
            <a:ext cx="2366125" cy="1215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0993C346-3702-BA97-CBF4-E1D6EED12883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004777" y="1710605"/>
            <a:ext cx="2449675" cy="7102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C2329CB7-77EC-60BB-AC7A-27E06630659F}"/>
              </a:ext>
            </a:extLst>
          </p:cNvPr>
          <p:cNvCxnSpPr>
            <a:cxnSpLocks/>
            <a:stCxn id="8" idx="6"/>
            <a:endCxn id="11" idx="2"/>
          </p:cNvCxnSpPr>
          <p:nvPr/>
        </p:nvCxnSpPr>
        <p:spPr>
          <a:xfrm>
            <a:off x="4004777" y="2420888"/>
            <a:ext cx="2449675" cy="5825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84EC6A33-A592-660D-0E92-BE7D25254A99}"/>
              </a:ext>
            </a:extLst>
          </p:cNvPr>
          <p:cNvCxnSpPr>
            <a:cxnSpLocks/>
            <a:stCxn id="10" idx="6"/>
            <a:endCxn id="13" idx="2"/>
          </p:cNvCxnSpPr>
          <p:nvPr/>
        </p:nvCxnSpPr>
        <p:spPr>
          <a:xfrm flipV="1">
            <a:off x="4004777" y="4296361"/>
            <a:ext cx="2449675" cy="71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3366D91C-ACAE-C1DF-C835-B03ABC9A13CC}"/>
              </a:ext>
            </a:extLst>
          </p:cNvPr>
          <p:cNvCxnSpPr>
            <a:cxnSpLocks/>
            <a:stCxn id="10" idx="6"/>
            <a:endCxn id="14" idx="2"/>
          </p:cNvCxnSpPr>
          <p:nvPr/>
        </p:nvCxnSpPr>
        <p:spPr>
          <a:xfrm>
            <a:off x="4004777" y="5013176"/>
            <a:ext cx="2449675" cy="576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A09970E-1881-85BE-180C-F411CC2EC03D}"/>
              </a:ext>
            </a:extLst>
          </p:cNvPr>
          <p:cNvSpPr txBox="1"/>
          <p:nvPr/>
        </p:nvSpPr>
        <p:spPr>
          <a:xfrm>
            <a:off x="1401234" y="2577701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F2C161-ACFE-5430-2505-8EDF3E2F8AA8}"/>
              </a:ext>
            </a:extLst>
          </p:cNvPr>
          <p:cNvSpPr txBox="1"/>
          <p:nvPr/>
        </p:nvSpPr>
        <p:spPr>
          <a:xfrm>
            <a:off x="1401234" y="4484579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3FAF1A-2BA8-939A-E073-E0E171CF72D8}"/>
              </a:ext>
            </a:extLst>
          </p:cNvPr>
          <p:cNvSpPr txBox="1"/>
          <p:nvPr/>
        </p:nvSpPr>
        <p:spPr>
          <a:xfrm>
            <a:off x="4157816" y="1556792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3D6BFA-27A2-5569-7B53-2EF1DA57EAFC}"/>
              </a:ext>
            </a:extLst>
          </p:cNvPr>
          <p:cNvSpPr txBox="1"/>
          <p:nvPr/>
        </p:nvSpPr>
        <p:spPr>
          <a:xfrm>
            <a:off x="4157816" y="4149080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0E19FB1-4677-3261-DB55-1455EC7809EE}"/>
              </a:ext>
            </a:extLst>
          </p:cNvPr>
          <p:cNvSpPr txBox="1"/>
          <p:nvPr/>
        </p:nvSpPr>
        <p:spPr>
          <a:xfrm>
            <a:off x="4157816" y="5410091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DFADE8A-4C8D-B05C-311B-44D3AD84D628}"/>
              </a:ext>
            </a:extLst>
          </p:cNvPr>
          <p:cNvSpPr txBox="1"/>
          <p:nvPr/>
        </p:nvSpPr>
        <p:spPr>
          <a:xfrm>
            <a:off x="9118748" y="1556792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C845BC-2878-3F7D-C224-B0451A2516C3}"/>
              </a:ext>
            </a:extLst>
          </p:cNvPr>
          <p:cNvSpPr txBox="1"/>
          <p:nvPr/>
        </p:nvSpPr>
        <p:spPr>
          <a:xfrm>
            <a:off x="9118748" y="4125658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68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EF398D8-11A1-4FB6-A821-B931B5C47189}"/>
              </a:ext>
            </a:extLst>
          </p:cNvPr>
          <p:cNvSpPr txBox="1"/>
          <p:nvPr/>
        </p:nvSpPr>
        <p:spPr>
          <a:xfrm>
            <a:off x="9118748" y="2841225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FF4949-D289-6B6E-BA92-DEBC08BAD186}"/>
              </a:ext>
            </a:extLst>
          </p:cNvPr>
          <p:cNvSpPr txBox="1"/>
          <p:nvPr/>
        </p:nvSpPr>
        <p:spPr>
          <a:xfrm>
            <a:off x="9118748" y="5410091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34E597-2CEF-D231-F17A-C51165058B07}"/>
              </a:ext>
            </a:extLst>
          </p:cNvPr>
          <p:cNvSpPr txBox="1"/>
          <p:nvPr/>
        </p:nvSpPr>
        <p:spPr>
          <a:xfrm>
            <a:off x="4157816" y="2839048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0C7841-BBD8-85BF-4160-40D3870EAEEF}"/>
              </a:ext>
            </a:extLst>
          </p:cNvPr>
          <p:cNvSpPr txBox="1"/>
          <p:nvPr/>
        </p:nvSpPr>
        <p:spPr>
          <a:xfrm>
            <a:off x="7174532" y="1556792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0.80 = 0.12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A5EB86-1741-06D6-C0A4-F0A188D92FBC}"/>
              </a:ext>
            </a:extLst>
          </p:cNvPr>
          <p:cNvSpPr txBox="1"/>
          <p:nvPr/>
        </p:nvSpPr>
        <p:spPr>
          <a:xfrm>
            <a:off x="7174532" y="5417784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0.20 = 0.17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89E451-258A-B5E7-AD1A-39F3C9713EB2}"/>
              </a:ext>
            </a:extLst>
          </p:cNvPr>
          <p:cNvSpPr txBox="1"/>
          <p:nvPr/>
        </p:nvSpPr>
        <p:spPr>
          <a:xfrm>
            <a:off x="7174532" y="4130786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0.80 = 0.68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E1F854-6031-CCF4-E0FE-3927005C14E6}"/>
              </a:ext>
            </a:extLst>
          </p:cNvPr>
          <p:cNvSpPr txBox="1"/>
          <p:nvPr/>
        </p:nvSpPr>
        <p:spPr>
          <a:xfrm>
            <a:off x="7174532" y="2843789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0.20 = 0.03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625DFF8-FF3F-127A-0F04-D062DC1D19BD}"/>
              </a:ext>
            </a:extLst>
          </p:cNvPr>
          <p:cNvSpPr/>
          <p:nvPr/>
        </p:nvSpPr>
        <p:spPr>
          <a:xfrm>
            <a:off x="7174532" y="1412776"/>
            <a:ext cx="4320480" cy="636361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77D7D5-3A1D-389C-A17A-EDD01D0FB378}"/>
              </a:ext>
            </a:extLst>
          </p:cNvPr>
          <p:cNvSpPr/>
          <p:nvPr/>
        </p:nvSpPr>
        <p:spPr>
          <a:xfrm>
            <a:off x="7174532" y="5245798"/>
            <a:ext cx="4320480" cy="636361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9374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38" grpId="0"/>
      <p:bldP spid="40" grpId="0"/>
      <p:bldP spid="42" grpId="0"/>
      <p:bldP spid="43" grpId="0"/>
      <p:bldP spid="45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7" grpId="0" animBg="1"/>
      <p:bldP spid="5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78D40-FAF8-29DB-7F3A-0DA706D4E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3F4A6F-C4C1-C4F6-DF53-7D1ED5D1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FBF63-9270-C535-65C1-46A8D37BD07A}"/>
              </a:ext>
            </a:extLst>
          </p:cNvPr>
          <p:cNvSpPr txBox="1"/>
          <p:nvPr/>
        </p:nvSpPr>
        <p:spPr>
          <a:xfrm>
            <a:off x="621804" y="1700808"/>
            <a:ext cx="11233248" cy="322428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어느 대학가에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있습니다. 어느 날, 한 학생이 심한 식중독에 걸렸습니다. 이 학생은 어제 점심에 두 식당 중 한 곳에서 식사를 했습니다. 조사 결과 다음과 같은 통계 데이터가 확보되었습니다.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방문 확률: 이 학생은 평소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60%,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40%의 확률로 방문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 발생률: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1%(0.01)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5%(0.05)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학생이 식중독에 걸렸을 때,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식사를 했을 확률은 얼마입니까?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590ABA-84C7-AE0E-B8F3-41CDBD92336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F74882C-CEA3-35B5-AE1D-20AF16677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090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09BA-F6FF-6EB2-7A9D-1D071414D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AF97D6E-E866-A1CB-F98A-72C9C5050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E46B08-E5AA-67CD-1EFC-C9D5B371165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21FB08F-9CA6-F65F-220D-2CA2F16BA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107D7F6-C29B-DD6B-1DE5-0CC99C633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892" y="1268761"/>
            <a:ext cx="3185853" cy="171249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4C23D90-12D1-BD55-91BC-2844E3E386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1921" y="1267096"/>
            <a:ext cx="4485504" cy="171415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382F778-FB31-3C35-FEA5-35F72B3A7A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6867" y="4067833"/>
            <a:ext cx="4470577" cy="202379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00E5B67-E8B8-A213-272F-F155893DE4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6215" y="4067834"/>
            <a:ext cx="3951210" cy="202546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4E14F34-EE84-A0BE-0A5E-8778B43BF960}"/>
              </a:ext>
            </a:extLst>
          </p:cNvPr>
          <p:cNvSpPr txBox="1"/>
          <p:nvPr/>
        </p:nvSpPr>
        <p:spPr>
          <a:xfrm>
            <a:off x="5806380" y="3707471"/>
            <a:ext cx="48965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식중독에 걸렸을 때, 그 원인이 식당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B였을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확률</a:t>
            </a:r>
          </a:p>
        </p:txBody>
      </p:sp>
    </p:spTree>
    <p:extLst>
      <p:ext uri="{BB962C8B-B14F-4D97-AF65-F5344CB8AC3E}">
        <p14:creationId xmlns:p14="http://schemas.microsoft.com/office/powerpoint/2010/main" val="3041034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0225136" cy="84132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손상되었는데도 귀환할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Survivorship bias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 전투상황을 가정하여 여러 전문가와 같이 격추된 비행기 데이터를 모의실험한 결과 증거 데이터를 사용하라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108" y="2199146"/>
            <a:ext cx="4538788" cy="42811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8628" y="2984317"/>
            <a:ext cx="4114765" cy="151409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C12D1DC-6944-0036-5AF1-42A767E80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61" y="2199146"/>
            <a:ext cx="2810671" cy="2540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94C621-CD35-2C99-C748-B3917DFD7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D0E90-8B1F-F573-9B4F-82416D6B647E}"/>
              </a:ext>
            </a:extLst>
          </p:cNvPr>
          <p:cNvSpPr txBox="1"/>
          <p:nvPr/>
        </p:nvSpPr>
        <p:spPr>
          <a:xfrm>
            <a:off x="8920188" y="2499544"/>
            <a:ext cx="2283254" cy="467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모의 실험 결과 자료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/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귀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환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|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동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체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손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상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400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1400" b="1" dirty="0">
                    <a:solidFill>
                      <a:schemeClr val="tx1"/>
                    </a:solidFill>
                  </a:rPr>
                  <a:t>= ?</a:t>
                </a:r>
                <a:endParaRPr lang="ko-KR" alt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blipFill>
                <a:blip r:embed="rId8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8580-0708-FBCC-8A60-FE6EC69E6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39611B1-EB80-E8EA-E3BE-BE1B111B2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17C4E-2BA1-CB46-EEC2-4EB363A328B7}"/>
              </a:ext>
            </a:extLst>
          </p:cNvPr>
          <p:cNvSpPr txBox="1"/>
          <p:nvPr/>
        </p:nvSpPr>
        <p:spPr>
          <a:xfrm>
            <a:off x="765820" y="1196752"/>
            <a:ext cx="10339574" cy="12852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엑셀과 </a:t>
            </a: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모듈로 아래 데이터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정규분포를 가정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훈련데이터로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height (feet)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일 경우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testing data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남성인지 여성인지 분류하라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1CB50-6FE4-C1B7-85CE-E17A5DA627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A064202-E9C2-AC94-1FC5-D4EC13CA5C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636912"/>
            <a:ext cx="4267570" cy="36350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54619E8-5DE8-7A4B-BA6F-E4D2C3C28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6859" y="2636912"/>
            <a:ext cx="4328535" cy="1394581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ED2A77A7-6C63-8D5E-A0A2-0DF4EFFDBF0A}"/>
              </a:ext>
            </a:extLst>
          </p:cNvPr>
          <p:cNvSpPr/>
          <p:nvPr/>
        </p:nvSpPr>
        <p:spPr>
          <a:xfrm>
            <a:off x="5869432" y="4489009"/>
            <a:ext cx="5049516" cy="1546891"/>
          </a:xfrm>
          <a:prstGeom prst="rightArrow">
            <a:avLst>
              <a:gd name="adj1" fmla="val 67118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Excell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naïve bayes classifier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성별을 각각 예측하고 비교하라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44C3FAD-98B6-C1CC-BAEA-7ECF45874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436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84028-5201-06F9-1F7A-3C39BB556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4A6A9FF-A368-0C80-75AA-B198FD8BC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0204C7-5808-E924-0A93-9CD21F2968DA}"/>
              </a:ext>
            </a:extLst>
          </p:cNvPr>
          <p:cNvSpPr txBox="1"/>
          <p:nvPr/>
        </p:nvSpPr>
        <p:spPr>
          <a:xfrm>
            <a:off x="693812" y="836712"/>
            <a:ext cx="8928992" cy="1134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en-US" altLang="ko-KR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765821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F03F1-E2A8-86D9-4A03-9C7FC7A6F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99F1EFF-172D-6EB3-4D57-55EB96902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49CFCC-8A0B-F2DC-78E1-EBD24BD431A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CE9B437-586B-0BC4-8557-5CF4DC9A7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49" y="1115154"/>
            <a:ext cx="4884581" cy="25463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8D7291-019F-2B45-CF51-EA24A441D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49" y="3650708"/>
            <a:ext cx="8696155" cy="28026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D76DC13-0067-2A30-103A-1CDB770A49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6894" y="3038940"/>
            <a:ext cx="5100962" cy="343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D68F726-7013-B76F-BE3D-93ABEA14F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023" y="1983170"/>
            <a:ext cx="4648603" cy="1074513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0446A3C-0C78-F583-9F72-68D1C1DF8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275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FAD1-646A-3732-0B7E-571B1C23F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059ED99-6F8A-3A9A-3B42-9713629E9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E24805-89AB-BFA8-8E48-AC47CAD1E931}"/>
              </a:ext>
            </a:extLst>
          </p:cNvPr>
          <p:cNvSpPr txBox="1"/>
          <p:nvPr/>
        </p:nvSpPr>
        <p:spPr>
          <a:xfrm>
            <a:off x="909836" y="843677"/>
            <a:ext cx="10225136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어떤 사람이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연속으로 카드의 색깔을 맞추었다면 그 사람이 초능력자라고 당신은 얼마나 믿는가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친구 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Stub’, ‘Freq’, ‘Bays’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초능력자라는 믿음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(credibility)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확인해보자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/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고집불통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너무 고집스럽고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빈도주의자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슈퍼맨의 존재를 너무 신봉하는 경향이 있다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은 세상에 초능력자는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 존재한다는 사전확률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(Prior probability)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고수하며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누가 카드 색깔을 맞춘 사실에는 관심이 없고 여전히 초능력자일 확률은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가설이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맞다는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전제하에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5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회 연속 맞출 확률인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p-value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에만 관심이 있어 초능력자라면 전부 맞추겠지만 일반인이기에 운 좋게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3.125%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  <m:sup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로 맞추었을 뿐이라고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즉 이 사람은 저 사람이 초능력자일 확률을 직접 구하기보다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일반인인데 운이 좋았을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계산하여 가설을 기각할지 고민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Bays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5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개를 맞춘 사실을 전제로 초능력자일 확률적 믿음은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3.1%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사전 믿음에 새로운 증거를 결합하여 사후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(Posterior)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５개 색깔을 모두 맞춘 경우 ： 초능력자와 일반인이 맞춘 경우에서 초능력자가 맞출 비율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베이지안은 확률을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고정된 값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이 아니라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새로운 데이터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증거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가 들어올 때마다 업데이트되는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믿음의 정도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’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당신은 어느 유형에 속하는가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? 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통계학에서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Frequentist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Bayesian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설명하는 예제</a:t>
                </a:r>
                <a:endParaRPr lang="en-US" altLang="ko-KR" sz="16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blipFill>
                <a:blip r:embed="rId3"/>
                <a:stretch>
                  <a:fillRect b="-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728162EC-3788-6FC6-7A7D-82BE9419790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517864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35FF-F462-BD3A-A6D7-F8BAE388A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D444E2-86B9-DA4D-3177-ECBFB5D0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A6300-4484-FCA7-41F8-1FF7D48638B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AACC77ED-DB08-8BAD-0896-EC0F1D9819A0}"/>
              </a:ext>
            </a:extLst>
          </p:cNvPr>
          <p:cNvGrpSpPr/>
          <p:nvPr/>
        </p:nvGrpSpPr>
        <p:grpSpPr>
          <a:xfrm>
            <a:off x="909836" y="972594"/>
            <a:ext cx="9695226" cy="5256584"/>
            <a:chOff x="1110500" y="827911"/>
            <a:chExt cx="8949570" cy="485230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D6CC51-5DBA-2191-A91F-88C40BE9CB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0500" y="3683462"/>
              <a:ext cx="8944352" cy="199675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5D54327-C77A-5451-64F4-89840B35ED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0500" y="827911"/>
              <a:ext cx="8208912" cy="2855551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601B954-8524-C070-811E-78EAC25F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40806" y="827911"/>
              <a:ext cx="819264" cy="1971950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9E367A9-DFEF-D3E0-5C8B-960F4F0B1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39830" y="2074398"/>
              <a:ext cx="819264" cy="1971950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6165D0A7-3A95-42C5-3AD7-4923F492F0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8788" y="3472327"/>
            <a:ext cx="1069352" cy="129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27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A6B71-FD27-B2CB-29F5-FAAED35A5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1E3BF63-BCAE-6BD2-203D-377C36A2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E3BCC0-CEFE-7769-66E8-E4106026EB3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A3EA40-0E30-CAB5-979E-6687D658A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12" y="938493"/>
            <a:ext cx="7201945" cy="1792112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C45ED5FF-25E1-AB6E-9374-FFB62E690BB2}"/>
              </a:ext>
            </a:extLst>
          </p:cNvPr>
          <p:cNvGrpSpPr/>
          <p:nvPr/>
        </p:nvGrpSpPr>
        <p:grpSpPr>
          <a:xfrm>
            <a:off x="3574131" y="2823674"/>
            <a:ext cx="4321625" cy="3773677"/>
            <a:chOff x="3646140" y="2884874"/>
            <a:chExt cx="4104456" cy="3607074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C2B54CBD-3000-1060-8EB3-D17780365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46140" y="3224323"/>
              <a:ext cx="4104456" cy="326762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67B6115-5A74-898D-3944-829905F2F23B}"/>
                </a:ext>
              </a:extLst>
            </p:cNvPr>
            <p:cNvSpPr txBox="1"/>
            <p:nvPr/>
          </p:nvSpPr>
          <p:spPr>
            <a:xfrm>
              <a:off x="3646140" y="2884874"/>
              <a:ext cx="410445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ko-KR" sz="2000" b="1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Are you Bayesian or Frequentist?</a:t>
              </a:r>
              <a:endParaRPr lang="ko-KR" altLang="en-US" sz="2000" b="1" dirty="0"/>
            </a:p>
          </p:txBody>
        </p:sp>
      </p:grpSp>
      <p:sp>
        <p:nvSpPr>
          <p:cNvPr id="5" name="AutoShape 2" descr="  Frequentist vs. Bayesian">
            <a:extLst>
              <a:ext uri="{FF2B5EF4-FFF2-40B4-BE49-F238E27FC236}">
                <a16:creationId xmlns:a16="http://schemas.microsoft.com/office/drawing/2014/main" id="{EF5FDAAB-F500-7EC4-62FE-08D2F94C68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657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447168"/>
            <a:ext cx="6048672" cy="19836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변수의 평균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공분산 등을 변경하면서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Bivariate plot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모양의 달라짐을 관찰하고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변수의 상관관계를 구해보아라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586649-46CA-F3B1-8F17-33D69D883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5454" y="1437802"/>
            <a:ext cx="4749518" cy="4569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06F970-32DF-5B0F-5DC0-7AC4F98B635B}"/>
              </a:ext>
            </a:extLst>
          </p:cNvPr>
          <p:cNvSpPr txBox="1"/>
          <p:nvPr/>
        </p:nvSpPr>
        <p:spPr>
          <a:xfrm>
            <a:off x="6310436" y="1074222"/>
            <a:ext cx="3440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Bivariate plot with multiple elements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30A028A-4499-144A-F8F5-32D220A740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4504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42CF9-0B29-1F2A-C07C-195B9C85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2C86D94-E602-8C12-F77D-1B9D7126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4C582-911B-3721-4146-DD084F2310D9}"/>
              </a:ext>
            </a:extLst>
          </p:cNvPr>
          <p:cNvSpPr txBox="1"/>
          <p:nvPr/>
        </p:nvSpPr>
        <p:spPr>
          <a:xfrm>
            <a:off x="278365" y="1478578"/>
            <a:ext cx="6048672" cy="426123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초나라 양춘백설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陽春白雪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주변의 실제 상황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조회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예를 들어라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내용을 파이썬 코드로 모의실험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(simulation)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하여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1️⃣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 조회수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시뮬레이션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2️⃣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부의 불평등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80/20)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 실험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distribution)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3️⃣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네트워크 성장 모델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Barabási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–Albert)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불균형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(Imbalanced data)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인한 학습의 어려움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6DE6-5A9B-A7C4-4CE8-52877D8881F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D1F61AF9-2FB8-8DC0-D682-88FDE5BE0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037" y="1478578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1F9F6C-CAF0-1ACE-0E01-3ED6CD896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26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63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DC4E22-ECC3-116A-0A17-0DCCAC0C1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845D03-0AC9-7720-171E-EF713C8A8E4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091393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2163</TotalTime>
  <Words>4117</Words>
  <Application>Microsoft Office PowerPoint</Application>
  <PresentationFormat>사용자 지정</PresentationFormat>
  <Paragraphs>588</Paragraphs>
  <Slides>63</Slides>
  <Notes>61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63</vt:i4>
      </vt:variant>
    </vt:vector>
  </HeadingPairs>
  <TitlesOfParts>
    <vt:vector size="78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Britannic Bold</vt:lpstr>
      <vt:lpstr>Cambria</vt:lpstr>
      <vt:lpstr>Cambria Math</vt:lpstr>
      <vt:lpstr>Corbel</vt:lpstr>
      <vt:lpstr>PT Sans</vt:lpstr>
      <vt:lpstr>Roboto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92</cp:revision>
  <dcterms:created xsi:type="dcterms:W3CDTF">2024-06-03T06:10:16Z</dcterms:created>
  <dcterms:modified xsi:type="dcterms:W3CDTF">2026-04-02T05:54:57Z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