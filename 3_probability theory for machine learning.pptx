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4"/>
  </p:notesMasterIdLst>
  <p:handoutMasterIdLst>
    <p:handoutMasterId r:id="rId55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9" r:id="rId11"/>
    <p:sldId id="371" r:id="rId12"/>
    <p:sldId id="380" r:id="rId13"/>
    <p:sldId id="362" r:id="rId14"/>
    <p:sldId id="272" r:id="rId15"/>
    <p:sldId id="387" r:id="rId16"/>
    <p:sldId id="276" r:id="rId17"/>
    <p:sldId id="307" r:id="rId18"/>
    <p:sldId id="308" r:id="rId19"/>
    <p:sldId id="363" r:id="rId20"/>
    <p:sldId id="277" r:id="rId21"/>
    <p:sldId id="278" r:id="rId22"/>
    <p:sldId id="340" r:id="rId23"/>
    <p:sldId id="364" r:id="rId24"/>
    <p:sldId id="279" r:id="rId25"/>
    <p:sldId id="284" r:id="rId26"/>
    <p:sldId id="377" r:id="rId27"/>
    <p:sldId id="280" r:id="rId28"/>
    <p:sldId id="281" r:id="rId29"/>
    <p:sldId id="382" r:id="rId30"/>
    <p:sldId id="283" r:id="rId31"/>
    <p:sldId id="383" r:id="rId32"/>
    <p:sldId id="290" r:id="rId33"/>
    <p:sldId id="288" r:id="rId34"/>
    <p:sldId id="286" r:id="rId35"/>
    <p:sldId id="287" r:id="rId36"/>
    <p:sldId id="289" r:id="rId37"/>
    <p:sldId id="291" r:id="rId38"/>
    <p:sldId id="375" r:id="rId39"/>
    <p:sldId id="374" r:id="rId40"/>
    <p:sldId id="365" r:id="rId41"/>
    <p:sldId id="293" r:id="rId42"/>
    <p:sldId id="324" r:id="rId43"/>
    <p:sldId id="338" r:id="rId44"/>
    <p:sldId id="302" r:id="rId45"/>
    <p:sldId id="330" r:id="rId46"/>
    <p:sldId id="327" r:id="rId47"/>
    <p:sldId id="372" r:id="rId48"/>
    <p:sldId id="388" r:id="rId49"/>
    <p:sldId id="301" r:id="rId50"/>
    <p:sldId id="367" r:id="rId51"/>
    <p:sldId id="305" r:id="rId52"/>
    <p:sldId id="304" r:id="rId53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576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020069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2640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7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5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rvivorship_bias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342093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46439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Pascal(1623~1662)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 + ½*½ + ½*½*½ 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½*½*½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Ferma(1607~1665)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0956" y="1196752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확률변수 정의</a:t>
                </a:r>
                <a:endParaRPr lang="en-US" altLang="ko-KR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b="1" dirty="0">
                    <a:latin typeface="+mj-ea"/>
                    <a:ea typeface="+mj-ea"/>
                  </a:rPr>
                  <a:t>사건 → 숫자 값으로 매핑하는 함수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+mj-ea"/>
                    <a:ea typeface="+mj-ea"/>
                  </a:rPr>
                  <a:t>100</a:t>
                </a:r>
                <a:r>
                  <a:rPr lang="ko-KR" altLang="en-US" dirty="0">
                    <a:latin typeface="+mj-ea"/>
                    <a:ea typeface="+mj-ea"/>
                  </a:rPr>
                  <a:t>번 실험에서 나온 빈도를 확률변수로 설정</a:t>
                </a:r>
                <a:endParaRPr lang="en-US" altLang="ko-KR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blipFill>
                <a:blip r:embed="rId3"/>
                <a:stretch>
                  <a:fillRect l="-668" b="-15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25924970"/>
                  </p:ext>
                </p:extLst>
              </p:nvPr>
            </p:nvGraphicFramePr>
            <p:xfrm>
              <a:off x="981844" y="227687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20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b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28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=28</m:t>
                              </m:r>
                            </m:oMath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kern="12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2000" b="1" kern="12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20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25924970"/>
                  </p:ext>
                </p:extLst>
              </p:nvPr>
            </p:nvGraphicFramePr>
            <p:xfrm>
              <a:off x="981844" y="227687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  <a:latin typeface="맑은 고딕" panose="020B0503020000020004" pitchFamily="50" charset="-127"/>
                              <a:ea typeface="맑은 고딕" panose="020B0503020000020004" pitchFamily="50" charset="-127"/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9677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9677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9677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9677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9677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41509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41509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41509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41509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41509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419" y="2852936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40DC3E-0689-87B9-2317-7799DFC49C94}"/>
              </a:ext>
            </a:extLst>
          </p:cNvPr>
          <p:cNvSpPr txBox="1"/>
          <p:nvPr/>
        </p:nvSpPr>
        <p:spPr>
          <a:xfrm>
            <a:off x="8747167" y="4797152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1.0</a:t>
            </a:r>
            <a:endParaRPr lang="ko-KR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05CD0-B828-A721-138C-847AA8FFB2BC}"/>
              </a:ext>
            </a:extLst>
          </p:cNvPr>
          <p:cNvSpPr txBox="1"/>
          <p:nvPr/>
        </p:nvSpPr>
        <p:spPr>
          <a:xfrm>
            <a:off x="1800522" y="4797152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시간과 나이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(age)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744AA534-5EFE-9429-2F64-20D093C87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322" y="2420888"/>
            <a:ext cx="10824714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5028" y="1244332"/>
            <a:ext cx="11166008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density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91227" y="1537628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latin typeface="+mj-ea"/>
                <a:ea typeface="+mj-ea"/>
              </a:rPr>
              <a:t>원자료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en-US" altLang="ko-KR" sz="1400" dirty="0" err="1">
                <a:latin typeface="+mj-ea"/>
                <a:ea typeface="+mj-ea"/>
              </a:rPr>
              <a:t>Orignal</a:t>
            </a:r>
            <a:r>
              <a:rPr lang="en-US" altLang="ko-KR" sz="1400" dirty="0">
                <a:latin typeface="+mj-ea"/>
                <a:ea typeface="+mj-ea"/>
              </a:rPr>
              <a:t> Data)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39603" y="1537628"/>
            <a:ext cx="1715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+mj-ea"/>
                <a:ea typeface="+mj-ea"/>
              </a:rPr>
              <a:t>평균중심화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(Mean Centering)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23014" y="1537628"/>
            <a:ext cx="1686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표준화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(Standardization)</a:t>
            </a:r>
            <a:endParaRPr lang="ko-KR" altLang="en-US" sz="1400" dirty="0">
              <a:latin typeface="+mj-ea"/>
              <a:ea typeface="+mj-ea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11233248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데스트와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1095758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0023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  <m:r>
                      <a:rPr lang="ko-KR" altLang="en-US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를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나타냅니다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002314"/>
              </a:xfrm>
              <a:prstGeom prst="rect">
                <a:avLst/>
              </a:prstGeom>
              <a:blipFill>
                <a:blip r:embed="rId3"/>
                <a:stretch>
                  <a:fillRect l="-4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97804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244" y="1714153"/>
            <a:ext cx="3775370" cy="35610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684" y="4683320"/>
            <a:ext cx="3775370" cy="138920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102" y="1714152"/>
            <a:ext cx="3939657" cy="3561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280281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713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68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94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1383</TotalTime>
  <Words>2143</Words>
  <Application>Microsoft Office PowerPoint</Application>
  <PresentationFormat>사용자 지정</PresentationFormat>
  <Paragraphs>378</Paragraphs>
  <Slides>49</Slides>
  <Notes>47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4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75</cp:revision>
  <dcterms:created xsi:type="dcterms:W3CDTF">2024-06-03T06:10:16Z</dcterms:created>
  <dcterms:modified xsi:type="dcterms:W3CDTF">2026-03-27T08:21:05Z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