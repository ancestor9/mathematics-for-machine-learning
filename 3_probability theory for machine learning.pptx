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4"/>
  </p:notesMasterIdLst>
  <p:handoutMasterIdLst>
    <p:handoutMasterId r:id="rId65"/>
  </p:handoutMasterIdLst>
  <p:sldIdLst>
    <p:sldId id="256" r:id="rId5"/>
    <p:sldId id="314" r:id="rId6"/>
    <p:sldId id="361" r:id="rId7"/>
    <p:sldId id="360" r:id="rId8"/>
    <p:sldId id="371" r:id="rId9"/>
    <p:sldId id="313" r:id="rId10"/>
    <p:sldId id="369" r:id="rId11"/>
    <p:sldId id="370" r:id="rId12"/>
    <p:sldId id="270" r:id="rId13"/>
    <p:sldId id="271" r:id="rId14"/>
    <p:sldId id="273" r:id="rId15"/>
    <p:sldId id="362" r:id="rId16"/>
    <p:sldId id="272" r:id="rId17"/>
    <p:sldId id="276" r:id="rId18"/>
    <p:sldId id="306" r:id="rId19"/>
    <p:sldId id="307" r:id="rId20"/>
    <p:sldId id="303" r:id="rId21"/>
    <p:sldId id="309" r:id="rId22"/>
    <p:sldId id="310" r:id="rId23"/>
    <p:sldId id="311" r:id="rId24"/>
    <p:sldId id="312" r:id="rId25"/>
    <p:sldId id="316" r:id="rId26"/>
    <p:sldId id="308" r:id="rId27"/>
    <p:sldId id="299" r:id="rId28"/>
    <p:sldId id="363" r:id="rId29"/>
    <p:sldId id="277" r:id="rId30"/>
    <p:sldId id="364" r:id="rId31"/>
    <p:sldId id="275" r:id="rId32"/>
    <p:sldId id="279" r:id="rId33"/>
    <p:sldId id="278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8" r:id="rId42"/>
    <p:sldId id="305" r:id="rId43"/>
    <p:sldId id="304" r:id="rId44"/>
    <p:sldId id="287" r:id="rId45"/>
    <p:sldId id="289" r:id="rId46"/>
    <p:sldId id="290" r:id="rId47"/>
    <p:sldId id="291" r:id="rId48"/>
    <p:sldId id="376" r:id="rId49"/>
    <p:sldId id="374" r:id="rId50"/>
    <p:sldId id="375" r:id="rId51"/>
    <p:sldId id="292" r:id="rId52"/>
    <p:sldId id="377" r:id="rId53"/>
    <p:sldId id="365" r:id="rId54"/>
    <p:sldId id="293" r:id="rId55"/>
    <p:sldId id="373" r:id="rId56"/>
    <p:sldId id="372" r:id="rId57"/>
    <p:sldId id="300" r:id="rId58"/>
    <p:sldId id="368" r:id="rId59"/>
    <p:sldId id="367" r:id="rId60"/>
    <p:sldId id="317" r:id="rId61"/>
    <p:sldId id="301" r:id="rId62"/>
    <p:sldId id="359" r:id="rId63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73" autoAdjust="0"/>
    <p:restoredTop sz="94660"/>
  </p:normalViewPr>
  <p:slideViewPr>
    <p:cSldViewPr>
      <p:cViewPr>
        <p:scale>
          <a:sx n="75" d="100"/>
          <a:sy n="75" d="100"/>
        </p:scale>
        <p:origin x="1267" y="27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453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2026-03-24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020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61925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86993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0328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462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6459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76944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8398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6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29F0-A6E4-9F5C-5AE3-D348BAD0D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A5B226-E91B-313B-131C-57E413D69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6DFE73-6C55-E174-70A5-DBFB90DAB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0BF11-3E6B-84B2-1EED-5D580851B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657885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90768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C31F2-4782-718A-5FB7-5A4FFB61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FDA506-7A48-AE3A-BD16-D68B5C02E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FADF75-C648-A546-56DE-41CE7ED06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076BB5-3086-D451-E3A1-8ADF2F0F6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922299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EFE3-73D3-9DD8-CC0B-02DAD6F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A6AB7A-4F1A-F373-9342-044F29B9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DE742-A51D-C802-AC73-A63F1B1AB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A30D-1800-86C7-F3CD-65794497F9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84473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3883-22E2-74B0-638B-F1F6D640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B8F7A6-7066-B0AB-DAD0-5C5710C6F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CBF5FB-FB93-E0CF-F82D-81443BA94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68B9AF-15EA-3736-58A8-36CA7A6D5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9332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224A4-BD79-ADE3-0612-3D0127EEE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3DE38A-05C2-841E-275C-6BF027ECF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397C85-8D51-81C4-DF17-278661B820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156AAA-5B38-B406-3CD6-05BBC3BF5B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248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2026-03-24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learn/nlp-course/chapter1/4?fw=pt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hyperlink" Target="https://en.wikipedia.org/wiki/Naive_Bayes_classifier" TargetMode="External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hyperlink" Target="https://github.com/ancestor9/data/blob/main/human_data.csv" TargetMode="External"/><Relationship Id="rId4" Type="http://schemas.openxmlformats.org/officeDocument/2006/relationships/hyperlink" Target="https://scikit-learn.org/stable/modules/naive_baye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3380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표본의 모든 값은 확률변수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0BC407D-91E4-2891-A0B3-2A3233E7F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61" y="2492895"/>
            <a:ext cx="10057417" cy="402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05895F-567B-D608-321D-5DAF5B5B6D20}"/>
              </a:ext>
            </a:extLst>
          </p:cNvPr>
          <p:cNvSpPr txBox="1"/>
          <p:nvPr/>
        </p:nvSpPr>
        <p:spPr>
          <a:xfrm>
            <a:off x="333772" y="1235759"/>
            <a:ext cx="11017224" cy="7951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53,940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개씩 표본을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비복원추출하여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각 표본의 평균을 구하고 표본평균의 산술식의 의미를 생각하고 확률변수의 의미를 토론하라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64B235-9241-66EE-D823-F543DF70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624" y="2204864"/>
            <a:ext cx="3806372" cy="18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275274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억의 상금이 걸린 게임이 있다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A, 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사람이 라운드마다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50%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확률로 승패 결과가 있는 경우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누구나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6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이기면 게임이 끝나게 된다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현재까지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번의 라운드에서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이겼다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A,B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각각 이길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04891"/>
              </p:ext>
            </p:extLst>
          </p:nvPr>
        </p:nvGraphicFramePr>
        <p:xfrm>
          <a:off x="3502124" y="1916832"/>
          <a:ext cx="763284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343361"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표본</a:t>
                      </a:r>
                      <a:r>
                        <a:rPr lang="en-US" altLang="ko-KR" sz="2000" baseline="0" dirty="0"/>
                        <a:t> </a:t>
                      </a:r>
                      <a:r>
                        <a:rPr lang="ko-KR" altLang="en-US" sz="2000" baseline="0" dirty="0"/>
                        <a:t>공간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HT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TT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사건의</a:t>
                      </a:r>
                      <a:r>
                        <a:rPr lang="en-US" altLang="ko-KR" sz="2000" dirty="0"/>
                        <a:t> </a:t>
                      </a:r>
                      <a:r>
                        <a:rPr lang="ko-KR" altLang="en-US" sz="2000" dirty="0" err="1"/>
                        <a:t>출현빈도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24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21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28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27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2259678"/>
            <a:ext cx="2431702" cy="1602229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669412"/>
              </p:ext>
            </p:extLst>
          </p:nvPr>
        </p:nvGraphicFramePr>
        <p:xfrm>
          <a:off x="3502124" y="3251034"/>
          <a:ext cx="7632845" cy="147138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14713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solidFill>
                            <a:schemeClr val="tx1"/>
                          </a:solidFill>
                        </a:rPr>
                        <a:t>확률변수 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(Random Variable)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24/100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21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21/100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28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28/100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=P(X=27)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27/100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sp>
        <p:nvSpPr>
          <p:cNvPr id="10" name="직사각형 9"/>
          <p:cNvSpPr/>
          <p:nvPr/>
        </p:nvSpPr>
        <p:spPr>
          <a:xfrm>
            <a:off x="509973" y="1844824"/>
            <a:ext cx="27318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두 개의 동전을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100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회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5720"/>
              </p:ext>
            </p:extLst>
          </p:nvPr>
        </p:nvGraphicFramePr>
        <p:xfrm>
          <a:off x="3502124" y="4867906"/>
          <a:ext cx="7632845" cy="57963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508856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</a:tblGrid>
              <a:tr h="579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kern="1200" dirty="0"/>
                        <a:t>확률의 총합은 </a:t>
                      </a:r>
                      <a:r>
                        <a:rPr lang="en-US" altLang="ko-KR" sz="2000" kern="1200" dirty="0"/>
                        <a:t>1</a:t>
                      </a:r>
                      <a:endParaRPr lang="ko-KR" altLang="en-US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P(X=24)</a:t>
                      </a:r>
                      <a:r>
                        <a:rPr lang="en-US" altLang="ko-KR" sz="2000" baseline="0" dirty="0"/>
                        <a:t> + </a:t>
                      </a:r>
                      <a:r>
                        <a:rPr lang="en-US" altLang="ko-KR" sz="2000" dirty="0"/>
                        <a:t>P(X=24) + P(X=24) + P(X=27) =1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990465"/>
              </p:ext>
            </p:extLst>
          </p:nvPr>
        </p:nvGraphicFramePr>
        <p:xfrm>
          <a:off x="2854049" y="2636912"/>
          <a:ext cx="907300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확률변수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</a:t>
                      </a:r>
                      <a:r>
                        <a:rPr lang="en-US" altLang="ko-KR" baseline="0" dirty="0"/>
                        <a:t> 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 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</a:t>
                      </a:r>
                      <a:r>
                        <a:rPr lang="en-US" altLang="ko-KR" dirty="0"/>
                        <a:t>(Probability)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=1)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=2)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=3)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618753"/>
            <a:ext cx="1495634" cy="15813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09973" y="1844824"/>
            <a:ext cx="20286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무한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sp>
        <p:nvSpPr>
          <p:cNvPr id="4" name="직사각형 3"/>
          <p:cNvSpPr/>
          <p:nvPr/>
        </p:nvSpPr>
        <p:spPr>
          <a:xfrm>
            <a:off x="720807" y="4635499"/>
            <a:ext cx="110622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확률 변수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란 표본공간에서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일정한 확률을 가지고 발생하는 사건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(Event)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에 수치를 일대일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(1:1)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대응시킨 함수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(Function)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979171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Sampling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Sample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분포를 알고 모집단의 확률변수를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따라서 확률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(Probability Distribution of 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종류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離散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連續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8134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4ED5F4-1C31-1FD4-F302-EAB4A5670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" y="1035446"/>
            <a:ext cx="11133062" cy="2520280"/>
          </a:xfrm>
          <a:prstGeom prst="rect">
            <a:avLst/>
          </a:prstGeom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709" y="3895604"/>
            <a:ext cx="3612002" cy="2853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658" y="3890051"/>
            <a:ext cx="3528392" cy="283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0CDE06-E314-A126-4F17-CAACB24A8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1" y="3895604"/>
            <a:ext cx="1310754" cy="21947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F59C48F-849A-7E71-1840-89EEB34D7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4767" y="3895404"/>
            <a:ext cx="1508891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1319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646236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97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노인인가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4" name="Picture 4" descr="노인과 그의 10대 초반의 손녀가 모래사장에서 날기 위해 연을 준비하고 있다.">
            <a:extLst>
              <a:ext uri="{FF2B5EF4-FFF2-40B4-BE49-F238E27FC236}">
                <a16:creationId xmlns:a16="http://schemas.microsoft.com/office/drawing/2014/main" id="{AD346533-DB8E-78AA-FCE2-4393B1050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3" y="2381303"/>
            <a:ext cx="1791099" cy="11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41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CD7EF-0328-6311-76C9-0EC2001BF1CA}"/>
              </a:ext>
            </a:extLst>
          </p:cNvPr>
          <p:cNvSpPr txBox="1"/>
          <p:nvPr/>
        </p:nvSpPr>
        <p:spPr>
          <a:xfrm>
            <a:off x="261764" y="1268760"/>
            <a:ext cx="11161240" cy="51815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=PDF(Probability Density Function)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누적확률밀도함수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=CDF(Cumulative Distribution Function)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F50A4-825A-ABD9-B68B-EDE2FC2A6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1988840"/>
            <a:ext cx="9537318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1628800"/>
            <a:ext cx="7776864" cy="343507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669" y="1552313"/>
            <a:ext cx="849748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102524" y="959587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296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832648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" y="1529702"/>
            <a:ext cx="10929188" cy="4608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05980" y="645665"/>
            <a:ext cx="158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 err="1"/>
              <a:t>원자료</a:t>
            </a:r>
            <a:endParaRPr lang="en-US" altLang="ko-KR" b="1" dirty="0"/>
          </a:p>
          <a:p>
            <a:pPr algn="ctr"/>
            <a:r>
              <a:rPr lang="en-US" altLang="ko-KR" b="1" dirty="0"/>
              <a:t>(</a:t>
            </a:r>
            <a:r>
              <a:rPr lang="en-US" altLang="ko-KR" b="1" dirty="0" err="1"/>
              <a:t>Orignal</a:t>
            </a:r>
            <a:r>
              <a:rPr lang="en-US" altLang="ko-KR" b="1" dirty="0"/>
              <a:t> Data)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446340" y="645665"/>
            <a:ext cx="1902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/>
              <a:t>평균중심화</a:t>
            </a:r>
            <a:endParaRPr lang="en-US" altLang="ko-KR" b="1" dirty="0"/>
          </a:p>
          <a:p>
            <a:pPr algn="ctr"/>
            <a:r>
              <a:rPr lang="en-US" altLang="ko-KR" b="1" dirty="0"/>
              <a:t>(Mean Centering)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8902724" y="645665"/>
            <a:ext cx="1927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표준화</a:t>
            </a:r>
            <a:endParaRPr lang="en-US" altLang="ko-KR" b="1" dirty="0"/>
          </a:p>
          <a:p>
            <a:pPr algn="ctr"/>
            <a:r>
              <a:rPr lang="en-US" altLang="ko-KR" b="1" dirty="0"/>
              <a:t>(Standardization)</a:t>
            </a:r>
            <a:endParaRPr lang="ko-KR" altLang="en-US" b="1" dirty="0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978525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968830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4A1AA-AFAC-5B94-F8D9-A6749A05C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9C95ABE-C68C-407A-F518-6CC590BDC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588E66B-26D9-16A6-0DDF-04DD1A248D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921" y="2348880"/>
            <a:ext cx="11206981" cy="3688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58833F-8884-6B6A-15A2-EA9110DD53B5}"/>
              </a:ext>
            </a:extLst>
          </p:cNvPr>
          <p:cNvSpPr txBox="1"/>
          <p:nvPr/>
        </p:nvSpPr>
        <p:spPr>
          <a:xfrm>
            <a:off x="483969" y="990607"/>
            <a:ext cx="11508916" cy="4675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왜 표본의 크기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(Batch size)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커질수록 학습이 안정될까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950098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11508916" cy="1164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왜 서로 다른 분포인데 결과는 같아지는가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이상치가 있어도 평균은 왜 안정적인가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이게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딥러닝과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무슨 관계인가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이게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데스트와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무슨 관계인가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경우를 바탕으로 다양한 예를 들어 중심극한정리를 적용하여 시각화하고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머신러닝과의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접목점도 시각화 하고 설명하는 보고서를 제출하라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515892"/>
            <a:ext cx="8568952" cy="4448777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548680"/>
            <a:ext cx="11089232" cy="875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주사위를 </a:t>
            </a:r>
            <a:r>
              <a:rPr lang="en-US" altLang="ko-KR" b="1" dirty="0"/>
              <a:t>1,000</a:t>
            </a:r>
            <a:r>
              <a:rPr lang="ko-KR" altLang="en-US" b="1" dirty="0"/>
              <a:t>번을 던진 후 전체 주사위 합의 분포를 주사위 </a:t>
            </a:r>
            <a:r>
              <a:rPr lang="en-US" altLang="ko-KR" b="1" dirty="0"/>
              <a:t>1</a:t>
            </a:r>
            <a:r>
              <a:rPr lang="ko-KR" altLang="en-US" b="1" dirty="0"/>
              <a:t>개</a:t>
            </a:r>
            <a:r>
              <a:rPr lang="en-US" altLang="ko-KR" b="1" dirty="0"/>
              <a:t>, 2</a:t>
            </a:r>
            <a:r>
              <a:rPr lang="ko-KR" altLang="en-US" b="1" dirty="0"/>
              <a:t>개</a:t>
            </a:r>
            <a:r>
              <a:rPr lang="en-US" altLang="ko-KR" b="1" dirty="0"/>
              <a:t>, 3</a:t>
            </a:r>
            <a:r>
              <a:rPr lang="ko-KR" altLang="en-US" b="1" dirty="0"/>
              <a:t>개</a:t>
            </a:r>
            <a:r>
              <a:rPr lang="en-US" altLang="ko-KR" b="1" dirty="0"/>
              <a:t>, 10</a:t>
            </a:r>
            <a:r>
              <a:rPr lang="ko-KR" altLang="en-US" b="1" dirty="0"/>
              <a:t>개</a:t>
            </a:r>
            <a:r>
              <a:rPr lang="en-US" altLang="ko-KR" b="1" dirty="0"/>
              <a:t>, 25</a:t>
            </a:r>
            <a:r>
              <a:rPr lang="ko-KR" altLang="en-US" b="1" dirty="0"/>
              <a:t>개</a:t>
            </a:r>
            <a:r>
              <a:rPr lang="en-US" altLang="ko-KR" b="1" dirty="0"/>
              <a:t>, 50</a:t>
            </a:r>
            <a:r>
              <a:rPr lang="ko-KR" altLang="en-US" b="1" dirty="0"/>
              <a:t>개로 </a:t>
            </a:r>
            <a:r>
              <a:rPr lang="ko-KR" altLang="en-US" b="1" dirty="0" err="1"/>
              <a:t>시뮬레이션하라</a:t>
            </a:r>
            <a:endParaRPr lang="ko-KR" alt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2908E4-FB61-3909-CC29-E472642A4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7838" y="6227058"/>
            <a:ext cx="872504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이 분포에서 표본을 여러 번 뽑아 더하거나 평균을 내면, 표본의 개수(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)가 늘어남에 따라(2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3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..., 50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dice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 원래의 균등분포와는 전혀 다른 정규분포(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Normal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Distribution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)의 모양이 나타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남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1461205" y="2528860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2895377"/>
            <a:ext cx="3394663" cy="29720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79515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동전던지기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실험으로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설명하고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(10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던지기 실험을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1490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수행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파이썬으로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시각화하는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코드를 제시하라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동전을 한꺼번에 던지기 실험을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149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회 수행하고 그 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(H:1, T:-1)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차감하는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실험과 동일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0476" y="2867414"/>
            <a:ext cx="4477488" cy="3027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7512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F4F6B-F1E1-1CD6-2C34-31932F74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E3B062-4F28-E4A2-1F59-68A245BF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42E4621-F3BF-0DAE-7299-4F20CA6BA4AD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519FC72-1027-1503-BEC9-C916F75B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37" y="1628800"/>
            <a:ext cx="8846887" cy="3769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007C2B-BA24-599C-99F0-96BD269B9A30}"/>
              </a:ext>
            </a:extLst>
          </p:cNvPr>
          <p:cNvSpPr txBox="1"/>
          <p:nvPr/>
        </p:nvSpPr>
        <p:spPr>
          <a:xfrm>
            <a:off x="1821512" y="5589240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257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5570703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6E8C-3047-0470-498D-41421A6D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FBDF0A5-F981-006E-020D-906837F0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A43B7-5508-E688-5359-700A342EC58F}"/>
              </a:ext>
            </a:extLst>
          </p:cNvPr>
          <p:cNvSpPr txBox="1"/>
          <p:nvPr/>
        </p:nvSpPr>
        <p:spPr>
          <a:xfrm>
            <a:off x="765820" y="1196752"/>
            <a:ext cx="11233248" cy="327134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학생은 </a:t>
            </a: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시험문제에 대해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알고 있다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학생이 실수할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문제당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정도는 산만해서 틀린다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 선다형 문제로 찍어서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맞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출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¼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맞출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틀릴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맞혔다면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 풀었을 확률은</a:t>
            </a:r>
            <a:r>
              <a:rPr lang="en-US" altLang="ko-KR" sz="2000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틀렸다면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알고도 틀렸을 확률</a:t>
            </a:r>
            <a:r>
              <a:rPr lang="en-US" altLang="ko-KR" sz="2000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B289C-E8B8-C97D-4CD8-61207F7E273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2888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D8A3-0388-8113-D2CF-A0414DBC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F37FC-577D-E28A-0EF4-69CA6EF24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34FB6-54F8-A43B-EAFC-A8A9D54A3F0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Monty Hall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A6D30-646E-36BC-7791-0F150C5DE16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4143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7B6-ECBC-9557-4609-3A2333274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1AA98C7-779B-AE4A-7378-DE24D481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AAA39EDD-371F-443B-3908-63C31D2F43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0023817-9FA0-0E66-D30B-AF053C361D23}"/>
              </a:ext>
            </a:extLst>
          </p:cNvPr>
          <p:cNvCxnSpPr/>
          <p:nvPr/>
        </p:nvCxnSpPr>
        <p:spPr>
          <a:xfrm>
            <a:off x="6574303" y="4365104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4E9D014-EFE4-88D1-A634-7ECA91A3B662}"/>
              </a:ext>
            </a:extLst>
          </p:cNvPr>
          <p:cNvSpPr txBox="1"/>
          <p:nvPr/>
        </p:nvSpPr>
        <p:spPr>
          <a:xfrm>
            <a:off x="539248" y="817140"/>
            <a:ext cx="11233248" cy="13786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분석하고 예측하고 과제를 제출하라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참고하여 남녀를 분류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scikit-learn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solidFill>
                  <a:srgbClr val="7EA939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modules/</a:t>
            </a: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사용하여 남녀의 확률을 각각 구하고 성별을 분류하라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51328F-1529-D8C3-9361-2BE0A1B7C6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796305-5C5C-595B-9023-A5C449AFB212}"/>
              </a:ext>
            </a:extLst>
          </p:cNvPr>
          <p:cNvSpPr txBox="1"/>
          <p:nvPr/>
        </p:nvSpPr>
        <p:spPr>
          <a:xfrm>
            <a:off x="6178529" y="2671742"/>
            <a:ext cx="3230992" cy="46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FAAE35-C498-6E70-3C46-DE63A96462F7}"/>
              </a:ext>
            </a:extLst>
          </p:cNvPr>
          <p:cNvSpPr txBox="1"/>
          <p:nvPr/>
        </p:nvSpPr>
        <p:spPr>
          <a:xfrm>
            <a:off x="7750596" y="3718317"/>
            <a:ext cx="3024336" cy="1666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57D76DB-DBAD-99A0-FD74-29C491348A7E}"/>
              </a:ext>
            </a:extLst>
          </p:cNvPr>
          <p:cNvGrpSpPr/>
          <p:nvPr/>
        </p:nvGrpSpPr>
        <p:grpSpPr>
          <a:xfrm>
            <a:off x="1341884" y="2717025"/>
            <a:ext cx="4703341" cy="4015112"/>
            <a:chOff x="526975" y="2706363"/>
            <a:chExt cx="5495430" cy="4078675"/>
          </a:xfrm>
        </p:grpSpPr>
        <p:pic>
          <p:nvPicPr>
            <p:cNvPr id="16388" name="Picture 4">
              <a:extLst>
                <a:ext uri="{FF2B5EF4-FFF2-40B4-BE49-F238E27FC236}">
                  <a16:creationId xmlns:a16="http://schemas.microsoft.com/office/drawing/2014/main" id="{21808676-E4CA-BF4E-0368-E75859E220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5416891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0" name="Picture 6">
              <a:extLst>
                <a:ext uri="{FF2B5EF4-FFF2-40B4-BE49-F238E27FC236}">
                  <a16:creationId xmlns:a16="http://schemas.microsoft.com/office/drawing/2014/main" id="{4E0DF2EE-D7A2-3D46-7D08-D7066514A2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2706363"/>
              <a:ext cx="5495430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2" name="Picture 8">
              <a:extLst>
                <a:ext uri="{FF2B5EF4-FFF2-40B4-BE49-F238E27FC236}">
                  <a16:creationId xmlns:a16="http://schemas.microsoft.com/office/drawing/2014/main" id="{5E64B396-4690-C8F8-087E-665050DE15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4074510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순서도: 추출 13">
            <a:extLst>
              <a:ext uri="{FF2B5EF4-FFF2-40B4-BE49-F238E27FC236}">
                <a16:creationId xmlns:a16="http://schemas.microsoft.com/office/drawing/2014/main" id="{2FC64A56-7667-7708-3E70-34D9CA9F54B3}"/>
              </a:ext>
            </a:extLst>
          </p:cNvPr>
          <p:cNvSpPr/>
          <p:nvPr/>
        </p:nvSpPr>
        <p:spPr>
          <a:xfrm>
            <a:off x="3529285" y="3614502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순서도: 추출 14">
            <a:extLst>
              <a:ext uri="{FF2B5EF4-FFF2-40B4-BE49-F238E27FC236}">
                <a16:creationId xmlns:a16="http://schemas.microsoft.com/office/drawing/2014/main" id="{30DB0BC3-3E8E-57CA-7C44-BD5971E060BB}"/>
              </a:ext>
            </a:extLst>
          </p:cNvPr>
          <p:cNvSpPr/>
          <p:nvPr/>
        </p:nvSpPr>
        <p:spPr>
          <a:xfrm>
            <a:off x="4294212" y="501317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순서도: 추출 15">
            <a:extLst>
              <a:ext uri="{FF2B5EF4-FFF2-40B4-BE49-F238E27FC236}">
                <a16:creationId xmlns:a16="http://schemas.microsoft.com/office/drawing/2014/main" id="{C3BDD512-4DD5-8038-8F2E-BE5457DE5AC8}"/>
              </a:ext>
            </a:extLst>
          </p:cNvPr>
          <p:cNvSpPr/>
          <p:nvPr/>
        </p:nvSpPr>
        <p:spPr>
          <a:xfrm>
            <a:off x="3862164" y="625253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922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971</TotalTime>
  <Words>2215</Words>
  <Application>Microsoft Office PowerPoint</Application>
  <PresentationFormat>사용자 지정</PresentationFormat>
  <Paragraphs>399</Paragraphs>
  <Slides>59</Slides>
  <Notes>56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72" baseType="lpstr">
      <vt:lpstr>-apple-system</vt:lpstr>
      <vt:lpstr>맑은 고딕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64</cp:revision>
  <dcterms:created xsi:type="dcterms:W3CDTF">2024-06-03T06:10:16Z</dcterms:created>
  <dcterms:modified xsi:type="dcterms:W3CDTF">2026-03-24T14:03:48Z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